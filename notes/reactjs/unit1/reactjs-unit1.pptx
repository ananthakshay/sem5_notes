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68" r:id="rId90"/>
    <p:sldId id="345" r:id="rId91"/>
    <p:sldId id="346" r:id="rId92"/>
    <p:sldId id="347" r:id="rId93"/>
    <p:sldId id="348" r:id="rId94"/>
    <p:sldId id="349" r:id="rId95"/>
    <p:sldId id="350" r:id="rId96"/>
    <p:sldId id="369" r:id="rId97"/>
    <p:sldId id="351" r:id="rId98"/>
    <p:sldId id="352" r:id="rId99"/>
    <p:sldId id="370" r:id="rId100"/>
    <p:sldId id="371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18"/>
      <p:bold r:id="rId119"/>
      <p:italic r:id="rId120"/>
      <p:boldItalic r:id="rId1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FC258-6B22-4850-A77E-A7CC5A53800B}" v="9" dt="2026-09-25T04:09:17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1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2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3.fntdata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tha p" userId="3e48045bb329320d" providerId="LiveId" clId="{EC29715A-5399-4B37-A962-695366749B51}"/>
    <pc:docChg chg="undo custSel addSld delSld modSld">
      <pc:chgData name="Anitha p" userId="3e48045bb329320d" providerId="LiveId" clId="{EC29715A-5399-4B37-A962-695366749B51}" dt="2026-09-25T04:32:47.042" v="274" actId="1036"/>
      <pc:docMkLst>
        <pc:docMk/>
      </pc:docMkLst>
      <pc:sldChg chg="modSp mod">
        <pc:chgData name="Anitha p" userId="3e48045bb329320d" providerId="LiveId" clId="{EC29715A-5399-4B37-A962-695366749B51}" dt="2026-08-28T03:40:57.713" v="10" actId="20577"/>
        <pc:sldMkLst>
          <pc:docMk/>
          <pc:sldMk cId="0" sldId="257"/>
        </pc:sldMkLst>
        <pc:spChg chg="mod">
          <ac:chgData name="Anitha p" userId="3e48045bb329320d" providerId="LiveId" clId="{EC29715A-5399-4B37-A962-695366749B51}" dt="2026-08-28T03:40:57.713" v="10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929" v="63" actId="27636"/>
        <pc:sldMkLst>
          <pc:docMk/>
          <pc:sldMk cId="0" sldId="259"/>
        </pc:sldMkLst>
        <pc:spChg chg="mod">
          <ac:chgData name="Anitha p" userId="3e48045bb329320d" providerId="LiveId" clId="{EC29715A-5399-4B37-A962-695366749B51}" dt="2026-09-25T03:47:42.929" v="63" actId="27636"/>
          <ac:spMkLst>
            <pc:docMk/>
            <pc:sldMk cId="0" sldId="259"/>
            <ac:spMk id="7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938" v="64" actId="27636"/>
        <pc:sldMkLst>
          <pc:docMk/>
          <pc:sldMk cId="0" sldId="260"/>
        </pc:sldMkLst>
        <pc:spChg chg="mod">
          <ac:chgData name="Anitha p" userId="3e48045bb329320d" providerId="LiveId" clId="{EC29715A-5399-4B37-A962-695366749B51}" dt="2026-09-25T03:47:42.938" v="64" actId="27636"/>
          <ac:spMkLst>
            <pc:docMk/>
            <pc:sldMk cId="0" sldId="260"/>
            <ac:spMk id="76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965" v="65" actId="27636"/>
        <pc:sldMkLst>
          <pc:docMk/>
          <pc:sldMk cId="0" sldId="262"/>
        </pc:sldMkLst>
        <pc:spChg chg="mod">
          <ac:chgData name="Anitha p" userId="3e48045bb329320d" providerId="LiveId" clId="{EC29715A-5399-4B37-A962-695366749B51}" dt="2026-09-25T03:47:42.965" v="65" actId="27636"/>
          <ac:spMkLst>
            <pc:docMk/>
            <pc:sldMk cId="0" sldId="262"/>
            <ac:spMk id="88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981" v="66" actId="27636"/>
        <pc:sldMkLst>
          <pc:docMk/>
          <pc:sldMk cId="0" sldId="264"/>
        </pc:sldMkLst>
        <pc:spChg chg="mod">
          <ac:chgData name="Anitha p" userId="3e48045bb329320d" providerId="LiveId" clId="{EC29715A-5399-4B37-A962-695366749B51}" dt="2026-09-25T03:47:42.981" v="66" actId="27636"/>
          <ac:spMkLst>
            <pc:docMk/>
            <pc:sldMk cId="0" sldId="264"/>
            <ac:spMk id="99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001" v="67" actId="27636"/>
        <pc:sldMkLst>
          <pc:docMk/>
          <pc:sldMk cId="0" sldId="265"/>
        </pc:sldMkLst>
        <pc:spChg chg="mod">
          <ac:chgData name="Anitha p" userId="3e48045bb329320d" providerId="LiveId" clId="{EC29715A-5399-4B37-A962-695366749B51}" dt="2026-09-25T03:47:43.001" v="67" actId="27636"/>
          <ac:spMkLst>
            <pc:docMk/>
            <pc:sldMk cId="0" sldId="265"/>
            <ac:spMk id="10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012" v="68" actId="27636"/>
        <pc:sldMkLst>
          <pc:docMk/>
          <pc:sldMk cId="0" sldId="266"/>
        </pc:sldMkLst>
        <pc:spChg chg="mod">
          <ac:chgData name="Anitha p" userId="3e48045bb329320d" providerId="LiveId" clId="{EC29715A-5399-4B37-A962-695366749B51}" dt="2026-09-25T03:47:43.012" v="68" actId="27636"/>
          <ac:spMkLst>
            <pc:docMk/>
            <pc:sldMk cId="0" sldId="266"/>
            <ac:spMk id="11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061" v="70" actId="27636"/>
        <pc:sldMkLst>
          <pc:docMk/>
          <pc:sldMk cId="0" sldId="268"/>
        </pc:sldMkLst>
        <pc:spChg chg="mod">
          <ac:chgData name="Anitha p" userId="3e48045bb329320d" providerId="LiveId" clId="{EC29715A-5399-4B37-A962-695366749B51}" dt="2026-09-25T03:47:43.043" v="69" actId="27636"/>
          <ac:spMkLst>
            <pc:docMk/>
            <pc:sldMk cId="0" sldId="268"/>
            <ac:spMk id="122" creationId="{00000000-0000-0000-0000-000000000000}"/>
          </ac:spMkLst>
        </pc:spChg>
        <pc:spChg chg="mod">
          <ac:chgData name="Anitha p" userId="3e48045bb329320d" providerId="LiveId" clId="{EC29715A-5399-4B37-A962-695366749B51}" dt="2026-09-25T03:47:43.061" v="70" actId="27636"/>
          <ac:spMkLst>
            <pc:docMk/>
            <pc:sldMk cId="0" sldId="268"/>
            <ac:spMk id="123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082" v="71" actId="27636"/>
        <pc:sldMkLst>
          <pc:docMk/>
          <pc:sldMk cId="0" sldId="270"/>
        </pc:sldMkLst>
        <pc:spChg chg="mod">
          <ac:chgData name="Anitha p" userId="3e48045bb329320d" providerId="LiveId" clId="{EC29715A-5399-4B37-A962-695366749B51}" dt="2026-09-25T03:47:43.082" v="71" actId="27636"/>
          <ac:spMkLst>
            <pc:docMk/>
            <pc:sldMk cId="0" sldId="270"/>
            <ac:spMk id="13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101" v="72" actId="27636"/>
        <pc:sldMkLst>
          <pc:docMk/>
          <pc:sldMk cId="0" sldId="271"/>
        </pc:sldMkLst>
        <pc:spChg chg="mod">
          <ac:chgData name="Anitha p" userId="3e48045bb329320d" providerId="LiveId" clId="{EC29715A-5399-4B37-A962-695366749B51}" dt="2026-09-25T03:47:43.101" v="72" actId="27636"/>
          <ac:spMkLst>
            <pc:docMk/>
            <pc:sldMk cId="0" sldId="271"/>
            <ac:spMk id="14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120" v="73" actId="27636"/>
        <pc:sldMkLst>
          <pc:docMk/>
          <pc:sldMk cId="0" sldId="273"/>
        </pc:sldMkLst>
        <pc:spChg chg="mod">
          <ac:chgData name="Anitha p" userId="3e48045bb329320d" providerId="LiveId" clId="{EC29715A-5399-4B37-A962-695366749B51}" dt="2026-09-25T03:47:43.120" v="73" actId="27636"/>
          <ac:spMkLst>
            <pc:docMk/>
            <pc:sldMk cId="0" sldId="273"/>
            <ac:spMk id="153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138" v="74" actId="27636"/>
        <pc:sldMkLst>
          <pc:docMk/>
          <pc:sldMk cId="0" sldId="277"/>
        </pc:sldMkLst>
        <pc:spChg chg="mod">
          <ac:chgData name="Anitha p" userId="3e48045bb329320d" providerId="LiveId" clId="{EC29715A-5399-4B37-A962-695366749B51}" dt="2026-09-25T03:47:43.138" v="74" actId="27636"/>
          <ac:spMkLst>
            <pc:docMk/>
            <pc:sldMk cId="0" sldId="277"/>
            <ac:spMk id="174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154" v="75" actId="27636"/>
        <pc:sldMkLst>
          <pc:docMk/>
          <pc:sldMk cId="0" sldId="278"/>
        </pc:sldMkLst>
        <pc:spChg chg="mod">
          <ac:chgData name="Anitha p" userId="3e48045bb329320d" providerId="LiveId" clId="{EC29715A-5399-4B37-A962-695366749B51}" dt="2026-09-25T03:47:43.154" v="75" actId="27636"/>
          <ac:spMkLst>
            <pc:docMk/>
            <pc:sldMk cId="0" sldId="278"/>
            <ac:spMk id="180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186" v="76" actId="27636"/>
        <pc:sldMkLst>
          <pc:docMk/>
          <pc:sldMk cId="0" sldId="279"/>
        </pc:sldMkLst>
        <pc:spChg chg="mod">
          <ac:chgData name="Anitha p" userId="3e48045bb329320d" providerId="LiveId" clId="{EC29715A-5399-4B37-A962-695366749B51}" dt="2026-09-25T03:47:43.186" v="76" actId="27636"/>
          <ac:spMkLst>
            <pc:docMk/>
            <pc:sldMk cId="0" sldId="279"/>
            <ac:spMk id="186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201" v="77" actId="27636"/>
        <pc:sldMkLst>
          <pc:docMk/>
          <pc:sldMk cId="0" sldId="284"/>
        </pc:sldMkLst>
        <pc:spChg chg="mod">
          <ac:chgData name="Anitha p" userId="3e48045bb329320d" providerId="LiveId" clId="{EC29715A-5399-4B37-A962-695366749B51}" dt="2026-09-25T03:47:43.201" v="77" actId="27636"/>
          <ac:spMkLst>
            <pc:docMk/>
            <pc:sldMk cId="0" sldId="284"/>
            <ac:spMk id="216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232" v="78" actId="27636"/>
        <pc:sldMkLst>
          <pc:docMk/>
          <pc:sldMk cId="0" sldId="285"/>
        </pc:sldMkLst>
        <pc:spChg chg="mod">
          <ac:chgData name="Anitha p" userId="3e48045bb329320d" providerId="LiveId" clId="{EC29715A-5399-4B37-A962-695366749B51}" dt="2026-09-25T03:47:43.232" v="78" actId="27636"/>
          <ac:spMkLst>
            <pc:docMk/>
            <pc:sldMk cId="0" sldId="285"/>
            <ac:spMk id="22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255" v="79" actId="27636"/>
        <pc:sldMkLst>
          <pc:docMk/>
          <pc:sldMk cId="0" sldId="292"/>
        </pc:sldMkLst>
        <pc:spChg chg="mod">
          <ac:chgData name="Anitha p" userId="3e48045bb329320d" providerId="LiveId" clId="{EC29715A-5399-4B37-A962-695366749B51}" dt="2026-09-25T03:47:43.255" v="79" actId="27636"/>
          <ac:spMkLst>
            <pc:docMk/>
            <pc:sldMk cId="0" sldId="292"/>
            <ac:spMk id="264" creationId="{00000000-0000-0000-0000-000000000000}"/>
          </ac:spMkLst>
        </pc:spChg>
      </pc:sldChg>
      <pc:sldChg chg="delSp mod">
        <pc:chgData name="Anitha p" userId="3e48045bb329320d" providerId="LiveId" clId="{EC29715A-5399-4B37-A962-695366749B51}" dt="2026-09-17T10:34:27.643" v="13" actId="478"/>
        <pc:sldMkLst>
          <pc:docMk/>
          <pc:sldMk cId="0" sldId="296"/>
        </pc:sldMkLst>
      </pc:sldChg>
      <pc:sldChg chg="modSp mod">
        <pc:chgData name="Anitha p" userId="3e48045bb329320d" providerId="LiveId" clId="{EC29715A-5399-4B37-A962-695366749B51}" dt="2026-09-18T03:43:33.547" v="26" actId="20577"/>
        <pc:sldMkLst>
          <pc:docMk/>
          <pc:sldMk cId="0" sldId="298"/>
        </pc:sldMkLst>
        <pc:spChg chg="mod">
          <ac:chgData name="Anitha p" userId="3e48045bb329320d" providerId="LiveId" clId="{EC29715A-5399-4B37-A962-695366749B51}" dt="2026-09-18T03:43:33.547" v="26" actId="20577"/>
          <ac:spMkLst>
            <pc:docMk/>
            <pc:sldMk cId="0" sldId="298"/>
            <ac:spMk id="300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278" v="80" actId="27636"/>
        <pc:sldMkLst>
          <pc:docMk/>
          <pc:sldMk cId="0" sldId="299"/>
        </pc:sldMkLst>
        <pc:spChg chg="mod">
          <ac:chgData name="Anitha p" userId="3e48045bb329320d" providerId="LiveId" clId="{EC29715A-5399-4B37-A962-695366749B51}" dt="2026-09-25T03:47:43.278" v="80" actId="27636"/>
          <ac:spMkLst>
            <pc:docMk/>
            <pc:sldMk cId="0" sldId="299"/>
            <ac:spMk id="306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296" v="81" actId="27636"/>
        <pc:sldMkLst>
          <pc:docMk/>
          <pc:sldMk cId="0" sldId="301"/>
        </pc:sldMkLst>
        <pc:spChg chg="mod">
          <ac:chgData name="Anitha p" userId="3e48045bb329320d" providerId="LiveId" clId="{EC29715A-5399-4B37-A962-695366749B51}" dt="2026-09-25T03:47:43.296" v="81" actId="27636"/>
          <ac:spMkLst>
            <pc:docMk/>
            <pc:sldMk cId="0" sldId="301"/>
            <ac:spMk id="317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18T04:14:47.403" v="33" actId="20577"/>
        <pc:sldMkLst>
          <pc:docMk/>
          <pc:sldMk cId="0" sldId="302"/>
        </pc:sldMkLst>
        <pc:spChg chg="mod">
          <ac:chgData name="Anitha p" userId="3e48045bb329320d" providerId="LiveId" clId="{EC29715A-5399-4B37-A962-695366749B51}" dt="2026-09-18T04:14:47.403" v="33" actId="20577"/>
          <ac:spMkLst>
            <pc:docMk/>
            <pc:sldMk cId="0" sldId="302"/>
            <ac:spMk id="323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317" v="82" actId="27636"/>
        <pc:sldMkLst>
          <pc:docMk/>
          <pc:sldMk cId="0" sldId="305"/>
        </pc:sldMkLst>
        <pc:spChg chg="mod">
          <ac:chgData name="Anitha p" userId="3e48045bb329320d" providerId="LiveId" clId="{EC29715A-5399-4B37-A962-695366749B51}" dt="2026-09-25T03:47:43.317" v="82" actId="27636"/>
          <ac:spMkLst>
            <pc:docMk/>
            <pc:sldMk cId="0" sldId="305"/>
            <ac:spMk id="340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4:32:47.042" v="274" actId="1036"/>
        <pc:sldMkLst>
          <pc:docMk/>
          <pc:sldMk cId="0" sldId="308"/>
        </pc:sldMkLst>
        <pc:picChg chg="mod">
          <ac:chgData name="Anitha p" userId="3e48045bb329320d" providerId="LiveId" clId="{EC29715A-5399-4B37-A962-695366749B51}" dt="2026-09-25T04:32:47.042" v="274" actId="1036"/>
          <ac:picMkLst>
            <pc:docMk/>
            <pc:sldMk cId="0" sldId="308"/>
            <ac:picMk id="360" creationId="{00000000-0000-0000-0000-000000000000}"/>
          </ac:picMkLst>
        </pc:picChg>
      </pc:sldChg>
      <pc:sldChg chg="modSp mod">
        <pc:chgData name="Anitha p" userId="3e48045bb329320d" providerId="LiveId" clId="{EC29715A-5399-4B37-A962-695366749B51}" dt="2026-09-25T03:47:43.338" v="83" actId="27636"/>
        <pc:sldMkLst>
          <pc:docMk/>
          <pc:sldMk cId="0" sldId="311"/>
        </pc:sldMkLst>
        <pc:spChg chg="mod">
          <ac:chgData name="Anitha p" userId="3e48045bb329320d" providerId="LiveId" clId="{EC29715A-5399-4B37-A962-695366749B51}" dt="2026-09-25T03:47:43.338" v="83" actId="27636"/>
          <ac:spMkLst>
            <pc:docMk/>
            <pc:sldMk cId="0" sldId="311"/>
            <ac:spMk id="377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363" v="84" actId="27636"/>
        <pc:sldMkLst>
          <pc:docMk/>
          <pc:sldMk cId="0" sldId="318"/>
        </pc:sldMkLst>
        <pc:spChg chg="mod">
          <ac:chgData name="Anitha p" userId="3e48045bb329320d" providerId="LiveId" clId="{EC29715A-5399-4B37-A962-695366749B51}" dt="2026-09-25T03:47:43.363" v="84" actId="27636"/>
          <ac:spMkLst>
            <pc:docMk/>
            <pc:sldMk cId="0" sldId="318"/>
            <ac:spMk id="41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18T04:17:18.954" v="44" actId="20577"/>
        <pc:sldMkLst>
          <pc:docMk/>
          <pc:sldMk cId="0" sldId="319"/>
        </pc:sldMkLst>
        <pc:spChg chg="mod">
          <ac:chgData name="Anitha p" userId="3e48045bb329320d" providerId="LiveId" clId="{EC29715A-5399-4B37-A962-695366749B51}" dt="2026-09-18T04:17:18.954" v="44" actId="20577"/>
          <ac:spMkLst>
            <pc:docMk/>
            <pc:sldMk cId="0" sldId="319"/>
            <ac:spMk id="42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382" v="85" actId="27636"/>
        <pc:sldMkLst>
          <pc:docMk/>
          <pc:sldMk cId="0" sldId="320"/>
        </pc:sldMkLst>
        <pc:spChg chg="mod">
          <ac:chgData name="Anitha p" userId="3e48045bb329320d" providerId="LiveId" clId="{EC29715A-5399-4B37-A962-695366749B51}" dt="2026-09-25T03:47:43.382" v="85" actId="27636"/>
          <ac:spMkLst>
            <pc:docMk/>
            <pc:sldMk cId="0" sldId="320"/>
            <ac:spMk id="427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399" v="86" actId="27636"/>
        <pc:sldMkLst>
          <pc:docMk/>
          <pc:sldMk cId="0" sldId="321"/>
        </pc:sldMkLst>
        <pc:spChg chg="mod">
          <ac:chgData name="Anitha p" userId="3e48045bb329320d" providerId="LiveId" clId="{EC29715A-5399-4B37-A962-695366749B51}" dt="2026-09-25T03:47:43.399" v="86" actId="27636"/>
          <ac:spMkLst>
            <pc:docMk/>
            <pc:sldMk cId="0" sldId="321"/>
            <ac:spMk id="432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421" v="87" actId="27636"/>
        <pc:sldMkLst>
          <pc:docMk/>
          <pc:sldMk cId="0" sldId="326"/>
        </pc:sldMkLst>
        <pc:spChg chg="mod">
          <ac:chgData name="Anitha p" userId="3e48045bb329320d" providerId="LiveId" clId="{EC29715A-5399-4B37-A962-695366749B51}" dt="2026-09-25T03:47:43.421" v="87" actId="27636"/>
          <ac:spMkLst>
            <pc:docMk/>
            <pc:sldMk cId="0" sldId="326"/>
            <ac:spMk id="46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437" v="88" actId="27636"/>
        <pc:sldMkLst>
          <pc:docMk/>
          <pc:sldMk cId="0" sldId="327"/>
        </pc:sldMkLst>
        <pc:spChg chg="mod">
          <ac:chgData name="Anitha p" userId="3e48045bb329320d" providerId="LiveId" clId="{EC29715A-5399-4B37-A962-695366749B51}" dt="2026-09-25T03:47:43.437" v="88" actId="27636"/>
          <ac:spMkLst>
            <pc:docMk/>
            <pc:sldMk cId="0" sldId="327"/>
            <ac:spMk id="468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452" v="89" actId="27636"/>
        <pc:sldMkLst>
          <pc:docMk/>
          <pc:sldMk cId="0" sldId="328"/>
        </pc:sldMkLst>
        <pc:spChg chg="mod">
          <ac:chgData name="Anitha p" userId="3e48045bb329320d" providerId="LiveId" clId="{EC29715A-5399-4B37-A962-695366749B51}" dt="2026-09-25T03:47:43.452" v="89" actId="27636"/>
          <ac:spMkLst>
            <pc:docMk/>
            <pc:sldMk cId="0" sldId="328"/>
            <ac:spMk id="473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478" v="90" actId="27636"/>
        <pc:sldMkLst>
          <pc:docMk/>
          <pc:sldMk cId="0" sldId="330"/>
        </pc:sldMkLst>
        <pc:spChg chg="mod">
          <ac:chgData name="Anitha p" userId="3e48045bb329320d" providerId="LiveId" clId="{EC29715A-5399-4B37-A962-695366749B51}" dt="2026-09-25T03:47:43.478" v="90" actId="27636"/>
          <ac:spMkLst>
            <pc:docMk/>
            <pc:sldMk cId="0" sldId="330"/>
            <ac:spMk id="483" creationId="{00000000-0000-0000-0000-000000000000}"/>
          </ac:spMkLst>
        </pc:spChg>
      </pc:sldChg>
      <pc:sldChg chg="delSp modSp mod">
        <pc:chgData name="Anitha p" userId="3e48045bb329320d" providerId="LiveId" clId="{EC29715A-5399-4B37-A962-695366749B51}" dt="2026-09-25T03:44:04.974" v="46" actId="1076"/>
        <pc:sldMkLst>
          <pc:docMk/>
          <pc:sldMk cId="0" sldId="340"/>
        </pc:sldMkLst>
        <pc:spChg chg="del">
          <ac:chgData name="Anitha p" userId="3e48045bb329320d" providerId="LiveId" clId="{EC29715A-5399-4B37-A962-695366749B51}" dt="2026-09-25T03:44:02.224" v="45" actId="478"/>
          <ac:spMkLst>
            <pc:docMk/>
            <pc:sldMk cId="0" sldId="340"/>
            <ac:spMk id="550" creationId="{00000000-0000-0000-0000-000000000000}"/>
          </ac:spMkLst>
        </pc:spChg>
        <pc:spChg chg="mod">
          <ac:chgData name="Anitha p" userId="3e48045bb329320d" providerId="LiveId" clId="{EC29715A-5399-4B37-A962-695366749B51}" dt="2026-09-25T03:44:04.974" v="46" actId="1076"/>
          <ac:spMkLst>
            <pc:docMk/>
            <pc:sldMk cId="0" sldId="340"/>
            <ac:spMk id="55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500" v="91" actId="27636"/>
        <pc:sldMkLst>
          <pc:docMk/>
          <pc:sldMk cId="0" sldId="341"/>
        </pc:sldMkLst>
        <pc:spChg chg="mod">
          <ac:chgData name="Anitha p" userId="3e48045bb329320d" providerId="LiveId" clId="{EC29715A-5399-4B37-A962-695366749B51}" dt="2026-09-25T03:47:43.500" v="91" actId="27636"/>
          <ac:spMkLst>
            <pc:docMk/>
            <pc:sldMk cId="0" sldId="341"/>
            <ac:spMk id="557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3.515" v="92" actId="27636"/>
        <pc:sldMkLst>
          <pc:docMk/>
          <pc:sldMk cId="0" sldId="342"/>
        </pc:sldMkLst>
        <pc:spChg chg="mod">
          <ac:chgData name="Anitha p" userId="3e48045bb329320d" providerId="LiveId" clId="{EC29715A-5399-4B37-A962-695366749B51}" dt="2026-09-25T03:47:43.515" v="92" actId="27636"/>
          <ac:spMkLst>
            <pc:docMk/>
            <pc:sldMk cId="0" sldId="342"/>
            <ac:spMk id="563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679" v="51" actId="27636"/>
        <pc:sldMkLst>
          <pc:docMk/>
          <pc:sldMk cId="0" sldId="345"/>
        </pc:sldMkLst>
        <pc:spChg chg="mod">
          <ac:chgData name="Anitha p" userId="3e48045bb329320d" providerId="LiveId" clId="{EC29715A-5399-4B37-A962-695366749B51}" dt="2026-09-25T03:47:42.679" v="51" actId="27636"/>
          <ac:spMkLst>
            <pc:docMk/>
            <pc:sldMk cId="0" sldId="345"/>
            <ac:spMk id="581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00" v="52" actId="27636"/>
        <pc:sldMkLst>
          <pc:docMk/>
          <pc:sldMk cId="0" sldId="346"/>
        </pc:sldMkLst>
        <pc:spChg chg="mod">
          <ac:chgData name="Anitha p" userId="3e48045bb329320d" providerId="LiveId" clId="{EC29715A-5399-4B37-A962-695366749B51}" dt="2026-09-25T03:47:42.700" v="52" actId="27636"/>
          <ac:spMkLst>
            <pc:docMk/>
            <pc:sldMk cId="0" sldId="346"/>
            <ac:spMk id="588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27" v="53" actId="27636"/>
        <pc:sldMkLst>
          <pc:docMk/>
          <pc:sldMk cId="0" sldId="350"/>
        </pc:sldMkLst>
        <pc:spChg chg="mod">
          <ac:chgData name="Anitha p" userId="3e48045bb329320d" providerId="LiveId" clId="{EC29715A-5399-4B37-A962-695366749B51}" dt="2026-09-25T03:47:42.727" v="53" actId="27636"/>
          <ac:spMkLst>
            <pc:docMk/>
            <pc:sldMk cId="0" sldId="350"/>
            <ac:spMk id="61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44" v="54" actId="27636"/>
        <pc:sldMkLst>
          <pc:docMk/>
          <pc:sldMk cId="0" sldId="352"/>
        </pc:sldMkLst>
        <pc:spChg chg="mod">
          <ac:chgData name="Anitha p" userId="3e48045bb329320d" providerId="LiveId" clId="{EC29715A-5399-4B37-A962-695366749B51}" dt="2026-09-25T03:47:42.744" v="54" actId="27636"/>
          <ac:spMkLst>
            <pc:docMk/>
            <pc:sldMk cId="0" sldId="352"/>
            <ac:spMk id="627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62" v="55" actId="27636"/>
        <pc:sldMkLst>
          <pc:docMk/>
          <pc:sldMk cId="0" sldId="353"/>
        </pc:sldMkLst>
        <pc:spChg chg="mod">
          <ac:chgData name="Anitha p" userId="3e48045bb329320d" providerId="LiveId" clId="{EC29715A-5399-4B37-A962-695366749B51}" dt="2026-09-25T03:47:42.762" v="55" actId="27636"/>
          <ac:spMkLst>
            <pc:docMk/>
            <pc:sldMk cId="0" sldId="353"/>
            <ac:spMk id="634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80" v="56" actId="27636"/>
        <pc:sldMkLst>
          <pc:docMk/>
          <pc:sldMk cId="0" sldId="354"/>
        </pc:sldMkLst>
        <pc:spChg chg="mod">
          <ac:chgData name="Anitha p" userId="3e48045bb329320d" providerId="LiveId" clId="{EC29715A-5399-4B37-A962-695366749B51}" dt="2026-09-25T03:47:42.780" v="56" actId="27636"/>
          <ac:spMkLst>
            <pc:docMk/>
            <pc:sldMk cId="0" sldId="354"/>
            <ac:spMk id="640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790" v="57" actId="27636"/>
        <pc:sldMkLst>
          <pc:docMk/>
          <pc:sldMk cId="0" sldId="355"/>
        </pc:sldMkLst>
        <pc:spChg chg="mod">
          <ac:chgData name="Anitha p" userId="3e48045bb329320d" providerId="LiveId" clId="{EC29715A-5399-4B37-A962-695366749B51}" dt="2026-09-25T03:47:42.790" v="57" actId="27636"/>
          <ac:spMkLst>
            <pc:docMk/>
            <pc:sldMk cId="0" sldId="355"/>
            <ac:spMk id="64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812" v="58" actId="27636"/>
        <pc:sldMkLst>
          <pc:docMk/>
          <pc:sldMk cId="0" sldId="357"/>
        </pc:sldMkLst>
        <pc:spChg chg="mod">
          <ac:chgData name="Anitha p" userId="3e48045bb329320d" providerId="LiveId" clId="{EC29715A-5399-4B37-A962-695366749B51}" dt="2026-09-25T03:47:42.812" v="58" actId="27636"/>
          <ac:spMkLst>
            <pc:docMk/>
            <pc:sldMk cId="0" sldId="357"/>
            <ac:spMk id="655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831" v="59" actId="27636"/>
        <pc:sldMkLst>
          <pc:docMk/>
          <pc:sldMk cId="0" sldId="362"/>
        </pc:sldMkLst>
        <pc:spChg chg="mod">
          <ac:chgData name="Anitha p" userId="3e48045bb329320d" providerId="LiveId" clId="{EC29715A-5399-4B37-A962-695366749B51}" dt="2026-09-25T03:47:42.831" v="59" actId="27636"/>
          <ac:spMkLst>
            <pc:docMk/>
            <pc:sldMk cId="0" sldId="362"/>
            <ac:spMk id="682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847" v="60" actId="27636"/>
        <pc:sldMkLst>
          <pc:docMk/>
          <pc:sldMk cId="0" sldId="363"/>
        </pc:sldMkLst>
        <pc:spChg chg="mod">
          <ac:chgData name="Anitha p" userId="3e48045bb329320d" providerId="LiveId" clId="{EC29715A-5399-4B37-A962-695366749B51}" dt="2026-09-25T03:47:42.847" v="60" actId="27636"/>
          <ac:spMkLst>
            <pc:docMk/>
            <pc:sldMk cId="0" sldId="363"/>
            <ac:spMk id="688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866" v="61" actId="27636"/>
        <pc:sldMkLst>
          <pc:docMk/>
          <pc:sldMk cId="0" sldId="365"/>
        </pc:sldMkLst>
        <pc:spChg chg="mod">
          <ac:chgData name="Anitha p" userId="3e48045bb329320d" providerId="LiveId" clId="{EC29715A-5399-4B37-A962-695366749B51}" dt="2026-09-25T03:47:42.866" v="61" actId="27636"/>
          <ac:spMkLst>
            <pc:docMk/>
            <pc:sldMk cId="0" sldId="365"/>
            <ac:spMk id="699" creationId="{00000000-0000-0000-0000-000000000000}"/>
          </ac:spMkLst>
        </pc:spChg>
      </pc:sldChg>
      <pc:sldChg chg="modSp mod">
        <pc:chgData name="Anitha p" userId="3e48045bb329320d" providerId="LiveId" clId="{EC29715A-5399-4B37-A962-695366749B51}" dt="2026-09-25T03:47:42.885" v="62" actId="27636"/>
        <pc:sldMkLst>
          <pc:docMk/>
          <pc:sldMk cId="0" sldId="367"/>
        </pc:sldMkLst>
        <pc:spChg chg="mod">
          <ac:chgData name="Anitha p" userId="3e48045bb329320d" providerId="LiveId" clId="{EC29715A-5399-4B37-A962-695366749B51}" dt="2026-09-25T03:47:42.885" v="62" actId="27636"/>
          <ac:spMkLst>
            <pc:docMk/>
            <pc:sldMk cId="0" sldId="367"/>
            <ac:spMk id="710" creationId="{00000000-0000-0000-0000-000000000000}"/>
          </ac:spMkLst>
        </pc:spChg>
      </pc:sldChg>
      <pc:sldChg chg="addSp delSp modSp new mod">
        <pc:chgData name="Anitha p" userId="3e48045bb329320d" providerId="LiveId" clId="{EC29715A-5399-4B37-A962-695366749B51}" dt="2026-09-25T03:49:13.467" v="114" actId="6549"/>
        <pc:sldMkLst>
          <pc:docMk/>
          <pc:sldMk cId="1961487918" sldId="368"/>
        </pc:sldMkLst>
        <pc:spChg chg="del mod">
          <ac:chgData name="Anitha p" userId="3e48045bb329320d" providerId="LiveId" clId="{EC29715A-5399-4B37-A962-695366749B51}" dt="2026-09-25T03:47:55.205" v="95" actId="478"/>
          <ac:spMkLst>
            <pc:docMk/>
            <pc:sldMk cId="1961487918" sldId="368"/>
            <ac:spMk id="2" creationId="{DC651A6A-C05E-F8EB-87A8-C444A9138668}"/>
          </ac:spMkLst>
        </pc:spChg>
        <pc:spChg chg="del">
          <ac:chgData name="Anitha p" userId="3e48045bb329320d" providerId="LiveId" clId="{EC29715A-5399-4B37-A962-695366749B51}" dt="2026-09-25T03:47:54.184" v="94" actId="478"/>
          <ac:spMkLst>
            <pc:docMk/>
            <pc:sldMk cId="1961487918" sldId="368"/>
            <ac:spMk id="3" creationId="{0273BD54-4F8C-249D-E245-769A55FD9A74}"/>
          </ac:spMkLst>
        </pc:spChg>
        <pc:spChg chg="add mod">
          <ac:chgData name="Anitha p" userId="3e48045bb329320d" providerId="LiveId" clId="{EC29715A-5399-4B37-A962-695366749B51}" dt="2026-09-25T03:49:13.467" v="114" actId="6549"/>
          <ac:spMkLst>
            <pc:docMk/>
            <pc:sldMk cId="1961487918" sldId="368"/>
            <ac:spMk id="5" creationId="{42934800-F5BB-0CB9-F68F-4307AB83FAAB}"/>
          </ac:spMkLst>
        </pc:spChg>
      </pc:sldChg>
      <pc:sldChg chg="delSp modSp new mod">
        <pc:chgData name="Anitha p" userId="3e48045bb329320d" providerId="LiveId" clId="{EC29715A-5399-4B37-A962-695366749B51}" dt="2026-09-25T04:01:57.271" v="206" actId="20577"/>
        <pc:sldMkLst>
          <pc:docMk/>
          <pc:sldMk cId="2301326047" sldId="369"/>
        </pc:sldMkLst>
        <pc:spChg chg="del">
          <ac:chgData name="Anitha p" userId="3e48045bb329320d" providerId="LiveId" clId="{EC29715A-5399-4B37-A962-695366749B51}" dt="2026-09-25T04:00:05.195" v="116" actId="478"/>
          <ac:spMkLst>
            <pc:docMk/>
            <pc:sldMk cId="2301326047" sldId="369"/>
            <ac:spMk id="2" creationId="{311A64F8-0AFC-6E9C-FF0C-119DBE376715}"/>
          </ac:spMkLst>
        </pc:spChg>
        <pc:spChg chg="mod">
          <ac:chgData name="Anitha p" userId="3e48045bb329320d" providerId="LiveId" clId="{EC29715A-5399-4B37-A962-695366749B51}" dt="2026-09-25T04:01:57.271" v="206" actId="20577"/>
          <ac:spMkLst>
            <pc:docMk/>
            <pc:sldMk cId="2301326047" sldId="369"/>
            <ac:spMk id="3" creationId="{C87C4F85-4BDC-E98A-C347-CAEA6D039B68}"/>
          </ac:spMkLst>
        </pc:spChg>
      </pc:sldChg>
      <pc:sldChg chg="addSp delSp modSp new mod">
        <pc:chgData name="Anitha p" userId="3e48045bb329320d" providerId="LiveId" clId="{EC29715A-5399-4B37-A962-695366749B51}" dt="2026-09-25T04:07:30.936" v="232" actId="14100"/>
        <pc:sldMkLst>
          <pc:docMk/>
          <pc:sldMk cId="3853854377" sldId="370"/>
        </pc:sldMkLst>
        <pc:spChg chg="del">
          <ac:chgData name="Anitha p" userId="3e48045bb329320d" providerId="LiveId" clId="{EC29715A-5399-4B37-A962-695366749B51}" dt="2026-09-25T04:05:56.792" v="211" actId="478"/>
          <ac:spMkLst>
            <pc:docMk/>
            <pc:sldMk cId="3853854377" sldId="370"/>
            <ac:spMk id="2" creationId="{EB04643F-C06A-7179-D345-1541F7A91A22}"/>
          </ac:spMkLst>
        </pc:spChg>
        <pc:spChg chg="mod">
          <ac:chgData name="Anitha p" userId="3e48045bb329320d" providerId="LiveId" clId="{EC29715A-5399-4B37-A962-695366749B51}" dt="2026-09-25T04:07:09.121" v="229"/>
          <ac:spMkLst>
            <pc:docMk/>
            <pc:sldMk cId="3853854377" sldId="370"/>
            <ac:spMk id="3" creationId="{3D783E41-1EC4-0CD3-9480-697D4B531905}"/>
          </ac:spMkLst>
        </pc:spChg>
        <pc:picChg chg="add mod">
          <ac:chgData name="Anitha p" userId="3e48045bb329320d" providerId="LiveId" clId="{EC29715A-5399-4B37-A962-695366749B51}" dt="2026-09-25T04:07:30.936" v="232" actId="14100"/>
          <ac:picMkLst>
            <pc:docMk/>
            <pc:sldMk cId="3853854377" sldId="370"/>
            <ac:picMk id="4" creationId="{917521F3-69CB-088B-F012-3896A485E7F3}"/>
          </ac:picMkLst>
        </pc:picChg>
      </pc:sldChg>
      <pc:sldChg chg="addSp delSp modSp new mod">
        <pc:chgData name="Anitha p" userId="3e48045bb329320d" providerId="LiveId" clId="{EC29715A-5399-4B37-A962-695366749B51}" dt="2026-09-25T04:09:32.041" v="272" actId="14100"/>
        <pc:sldMkLst>
          <pc:docMk/>
          <pc:sldMk cId="608430083" sldId="371"/>
        </pc:sldMkLst>
        <pc:spChg chg="del">
          <ac:chgData name="Anitha p" userId="3e48045bb329320d" providerId="LiveId" clId="{EC29715A-5399-4B37-A962-695366749B51}" dt="2026-09-25T04:08:13.209" v="237" actId="478"/>
          <ac:spMkLst>
            <pc:docMk/>
            <pc:sldMk cId="608430083" sldId="371"/>
            <ac:spMk id="2" creationId="{1B78252E-C29D-4FD7-6331-BF9FC9D214E1}"/>
          </ac:spMkLst>
        </pc:spChg>
        <pc:spChg chg="mod">
          <ac:chgData name="Anitha p" userId="3e48045bb329320d" providerId="LiveId" clId="{EC29715A-5399-4B37-A962-695366749B51}" dt="2026-09-25T04:09:28.062" v="270" actId="20577"/>
          <ac:spMkLst>
            <pc:docMk/>
            <pc:sldMk cId="608430083" sldId="371"/>
            <ac:spMk id="3" creationId="{16D6926A-05B1-1E4B-3D59-278088483272}"/>
          </ac:spMkLst>
        </pc:spChg>
        <pc:picChg chg="add mod">
          <ac:chgData name="Anitha p" userId="3e48045bb329320d" providerId="LiveId" clId="{EC29715A-5399-4B37-A962-695366749B51}" dt="2026-09-25T04:09:32.041" v="272" actId="14100"/>
          <ac:picMkLst>
            <pc:docMk/>
            <pc:sldMk cId="608430083" sldId="371"/>
            <ac:picMk id="4" creationId="{33BF5C0A-FBDC-B2CE-C04A-773A789266DC}"/>
          </ac:picMkLst>
        </pc:picChg>
      </pc:sldChg>
      <pc:sldMasterChg chg="delSldLayout">
        <pc:chgData name="Anitha p" userId="3e48045bb329320d" providerId="LiveId" clId="{EC29715A-5399-4B37-A962-695366749B51}" dt="2026-08-28T03:40:00.180" v="0" actId="47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07217f1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07217f1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07217f1d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07217f1d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07217f1d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07217f1d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07217f1d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07217f1d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07217f1d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07217f1d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07217f1d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07217f1d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07217f1d2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07217f1d2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07217f1d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07217f1d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07217f1d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07217f1d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07217f1d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07217f1d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07217f1d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07217f1d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07217f1d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07217f1d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07217f1d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07217f1d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7217f1d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07217f1d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07217f1d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07217f1d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07217f1d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07217f1d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07217f1d2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07217f1d2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07217f1d2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07217f1d2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07217f1d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07217f1d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07217f1d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07217f1d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07217f1d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07217f1d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07217f1d2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07217f1d2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07217f1d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07217f1d2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07217f1d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07217f1d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07217f1d2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07217f1d2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07217f1d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07217f1d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07217f1d2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07217f1d2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07217f1d2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07217f1d2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07217f1d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07217f1d2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07217f1d2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07217f1d2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07217f1d2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07217f1d2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07217f1d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07217f1d2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07217f1d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07217f1d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07217f1d2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07217f1d2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07217f1d2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07217f1d2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07217f1d2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07217f1d2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07217f1d2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807217f1d2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07217f1d2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07217f1d2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07217f1d2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807217f1d2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07217f1d2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07217f1d2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07217f1d2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807217f1d2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07217f1d2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07217f1d2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07217f1d2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07217f1d2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07217f1d2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07217f1d2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07217f1d2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07217f1d2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07217f1d2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07217f1d2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07217f1d2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07217f1d2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07217f1d2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07217f1d2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07217f1d2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07217f1d2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07217f1d2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07217f1d2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07217f1d2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07217f1d2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07217f1d2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07217f1d2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07217f1d2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07217f1d2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07217f1d2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07217f1d2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07217f1d2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07217f1d2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07217f1d2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07217f1d2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07217f1d2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807217f1d2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29aca810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829aca810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29aca810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829aca810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29aca810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29aca810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829aca810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829aca810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829aca810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829aca810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29aca810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829aca810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829aca810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829aca810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829aca810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829aca8103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29aca810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829aca810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29aca810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829aca810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355b5122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8355b5122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355b5122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355b5122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355b5122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8355b5122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355b5122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355b5122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355b5122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355b5122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8355b5122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8355b5122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8355b5122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8355b5122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4b6b84a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84b6b84a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4b6b84a9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84b6b84a9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84b6b84a9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84b6b84a9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84b6b84a9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84b6b84a9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84b6b84a9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84b6b84a9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84b6b84a90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84b6b84a90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4b6b84a9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84b6b84a9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84b6b84a9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84b6b84a9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84b6b84a9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84b6b84a9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84b6b84a9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84b6b84a9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4b6b84a9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84b6b84a9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84b6b84a9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84b6b84a9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84b6b84a9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84b6b84a9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84b6b84a9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84b6b84a9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4b6b84a9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84b6b84a9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84b6b84a9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84b6b84a9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4b6b84a90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84b6b84a90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84b6b84a90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84b6b84a90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84b6b84a90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84b6b84a90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84b6b84a90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84b6b84a90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84b6b84a9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84b6b84a9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84b6b84a90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84b6b84a90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84b6b84a9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84b6b84a9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4b6b84a90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84b6b84a90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84b6b84a90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84b6b84a90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84b6b84a90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84b6b84a90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4b6b84a90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4b6b84a90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4b6b84a90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84b6b84a90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84b6b84a9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84b6b84a90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84b6b84a90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84b6b84a90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84b6b84a90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84b6b84a90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84b6b84a9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84b6b84a9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84b6b84a9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84b6b84a9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84b6b84a90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84b6b84a90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84b6b84a9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84b6b84a9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84b6b84a9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84b6b84a9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84b6b84a90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84b6b84a90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FF"/>
                </a:solidFill>
              </a:rPr>
              <a:t>The Foundation of React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React is a frontend </a:t>
            </a:r>
            <a:r>
              <a:rPr lang="en" sz="2000" b="1" dirty="0">
                <a:solidFill>
                  <a:schemeClr val="dk1"/>
                </a:solidFill>
              </a:rPr>
              <a:t>JavaScript library</a:t>
            </a:r>
            <a:r>
              <a:rPr lang="en" sz="2000" dirty="0">
                <a:solidFill>
                  <a:schemeClr val="dk1"/>
                </a:solidFill>
              </a:rPr>
              <a:t> for building interactive </a:t>
            </a:r>
            <a:r>
              <a:rPr lang="en" sz="2000" b="1" dirty="0">
                <a:solidFill>
                  <a:schemeClr val="dk1"/>
                </a:solidFill>
              </a:rPr>
              <a:t>user interfaces</a:t>
            </a:r>
            <a:r>
              <a:rPr lang="en" sz="2000" dirty="0">
                <a:solidFill>
                  <a:schemeClr val="dk1"/>
                </a:solidFill>
              </a:rPr>
              <a:t> using components.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 dirty="0">
                <a:solidFill>
                  <a:schemeClr val="dk1"/>
                </a:solidFill>
              </a:rPr>
              <a:t>Created by Facebook (2011):</a:t>
            </a:r>
            <a:r>
              <a:rPr lang="en" sz="2000" dirty="0">
                <a:solidFill>
                  <a:schemeClr val="dk1"/>
                </a:solidFill>
              </a:rPr>
              <a:t> Initially built for Facebook’s newsfeed and Instagram.</a:t>
            </a:r>
            <a:br>
              <a:rPr lang="en" sz="2000" dirty="0">
                <a:solidFill>
                  <a:schemeClr val="dk1"/>
                </a:solidFill>
              </a:rPr>
            </a:b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 dirty="0">
                <a:solidFill>
                  <a:schemeClr val="dk1"/>
                </a:solidFill>
              </a:rPr>
              <a:t>Open Source (2013):</a:t>
            </a:r>
            <a:r>
              <a:rPr lang="en" sz="2000" dirty="0">
                <a:solidFill>
                  <a:schemeClr val="dk1"/>
                </a:solidFill>
              </a:rPr>
              <a:t> First public release.</a:t>
            </a:r>
            <a:br>
              <a:rPr lang="en" sz="2000" dirty="0">
                <a:solidFill>
                  <a:schemeClr val="dk1"/>
                </a:solidFill>
              </a:rPr>
            </a:b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 dirty="0">
                <a:solidFill>
                  <a:schemeClr val="dk1"/>
                </a:solidFill>
              </a:rPr>
              <a:t>Adoption:</a:t>
            </a:r>
            <a:r>
              <a:rPr lang="en" sz="2000" dirty="0">
                <a:solidFill>
                  <a:schemeClr val="dk1"/>
                </a:solidFill>
              </a:rPr>
              <a:t> Now widely used by major companies like </a:t>
            </a:r>
            <a:r>
              <a:rPr lang="en" sz="2000" b="1" dirty="0">
                <a:solidFill>
                  <a:schemeClr val="dk1"/>
                </a:solidFill>
              </a:rPr>
              <a:t>Facebook, Instagram, Netflix, Reddit, Dropbox, Airbnb</a:t>
            </a:r>
            <a:r>
              <a:rPr lang="en" sz="2000" dirty="0">
                <a:solidFill>
                  <a:schemeClr val="dk1"/>
                </a:solidFill>
              </a:rPr>
              <a:t>, and many more.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204300"/>
            <a:ext cx="8520600" cy="48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1. Why it’s called React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React </a:t>
            </a:r>
            <a:r>
              <a:rPr lang="en" sz="1700" i="1">
                <a:solidFill>
                  <a:schemeClr val="dk1"/>
                </a:solidFill>
              </a:rPr>
              <a:t>reacts</a:t>
            </a:r>
            <a:r>
              <a:rPr lang="en" sz="1700">
                <a:solidFill>
                  <a:schemeClr val="dk1"/>
                </a:solidFill>
              </a:rPr>
              <a:t> to changes in data and updates the UI efficiently.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You don’t need to manually update the page—React does it automatically.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9900FF"/>
                </a:solidFill>
              </a:rPr>
              <a:t>Example: when </a:t>
            </a:r>
            <a:r>
              <a:rPr lang="en" sz="1700" b="1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700" b="1">
                <a:solidFill>
                  <a:srgbClr val="9900FF"/>
                </a:solidFill>
              </a:rPr>
              <a:t> changes, React re-renders only the </a:t>
            </a:r>
            <a:r>
              <a:rPr lang="en" sz="1700" b="1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lang="en" sz="1700" b="1">
                <a:solidFill>
                  <a:srgbClr val="9900FF"/>
                </a:solidFill>
              </a:rPr>
              <a:t> part, not the whole page.</a:t>
            </a:r>
            <a:endParaRPr sz="17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2. What a Virtual DOM does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lang="en" sz="1700" b="1">
                <a:solidFill>
                  <a:schemeClr val="dk1"/>
                </a:solidFill>
              </a:rPr>
              <a:t>Virtual DOM</a:t>
            </a:r>
            <a:r>
              <a:rPr lang="en" sz="1700">
                <a:solidFill>
                  <a:schemeClr val="dk1"/>
                </a:solidFill>
              </a:rPr>
              <a:t> is like a </a:t>
            </a:r>
            <a:r>
              <a:rPr lang="en" sz="1700" b="1">
                <a:solidFill>
                  <a:schemeClr val="dk1"/>
                </a:solidFill>
              </a:rPr>
              <a:t>copy</a:t>
            </a:r>
            <a:r>
              <a:rPr lang="en" sz="1700">
                <a:solidFill>
                  <a:schemeClr val="dk1"/>
                </a:solidFill>
              </a:rPr>
              <a:t> of the real DOM kept in memory.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React compares the Virtual DOM with the previous version (“diffing”) and updates only what’s changed.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9900FF"/>
                </a:solidFill>
              </a:rPr>
              <a:t>// Imperative DOM update (Vanilla JS)</a:t>
            </a:r>
            <a:endParaRPr sz="17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9900FF"/>
                </a:solidFill>
              </a:rPr>
              <a:t>document.getElementById("title").innerText = "Hello World";</a:t>
            </a:r>
            <a:endParaRPr sz="17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336500"/>
            <a:ext cx="8520600" cy="45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900FF"/>
                </a:solidFill>
              </a:rPr>
              <a:t>// Declarative update (React)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900FF"/>
                </a:solidFill>
              </a:rPr>
              <a:t>function App() {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900FF"/>
                </a:solidFill>
              </a:rPr>
              <a:t>  return &lt;h1&gt;Hello World&lt;/h1&gt;;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900FF"/>
                </a:solidFill>
              </a:rPr>
              <a:t>}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React figures out </a:t>
            </a:r>
            <a:r>
              <a:rPr lang="en" sz="1900" i="1">
                <a:solidFill>
                  <a:schemeClr val="dk1"/>
                </a:solidFill>
              </a:rPr>
              <a:t>what exactly changed</a:t>
            </a:r>
            <a:r>
              <a:rPr lang="en" sz="1900">
                <a:solidFill>
                  <a:schemeClr val="dk1"/>
                </a:solidFill>
              </a:rPr>
              <a:t> and updates only that in the real DOM.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</a:rPr>
              <a:t>3. Composition vs. Inheritance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Instead of </a:t>
            </a:r>
            <a:r>
              <a:rPr lang="en" sz="1900" b="1">
                <a:solidFill>
                  <a:schemeClr val="dk1"/>
                </a:solidFill>
              </a:rPr>
              <a:t>inheritance</a:t>
            </a:r>
            <a:r>
              <a:rPr lang="en" sz="1900">
                <a:solidFill>
                  <a:schemeClr val="dk1"/>
                </a:solidFill>
              </a:rPr>
              <a:t> (extending classes), React uses </a:t>
            </a:r>
            <a:r>
              <a:rPr lang="en" sz="1900" b="1">
                <a:solidFill>
                  <a:schemeClr val="dk1"/>
                </a:solidFill>
              </a:rPr>
              <a:t>composition</a:t>
            </a:r>
            <a:r>
              <a:rPr lang="en" sz="1900">
                <a:solidFill>
                  <a:schemeClr val="dk1"/>
                </a:solidFill>
              </a:rPr>
              <a:t> (combining components).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900FF"/>
                </a:solidFill>
              </a:rPr>
              <a:t>Example: The </a:t>
            </a:r>
            <a:r>
              <a:rPr lang="en" sz="1900" b="1">
                <a:solidFill>
                  <a:srgbClr val="9900FF"/>
                </a:solidFill>
                <a:latin typeface="Roboto Mono"/>
                <a:ea typeface="Roboto Mono"/>
                <a:cs typeface="Roboto Mono"/>
                <a:sym typeface="Roboto Mono"/>
              </a:rPr>
              <a:t>Card</a:t>
            </a:r>
            <a:r>
              <a:rPr lang="en" sz="1900" b="1">
                <a:solidFill>
                  <a:srgbClr val="9900FF"/>
                </a:solidFill>
              </a:rPr>
              <a:t> component is reused to “wrap” other UI parts.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11700" y="348500"/>
            <a:ext cx="8520600" cy="42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26" b="1">
                <a:solidFill>
                  <a:schemeClr val="dk1"/>
                </a:solidFill>
              </a:rPr>
              <a:t>4. Declarative vs. Imperative Programming</a:t>
            </a:r>
            <a:endParaRPr sz="1726" b="1">
              <a:solidFill>
                <a:schemeClr val="dk1"/>
              </a:solidFill>
            </a:endParaRPr>
          </a:p>
          <a:p>
            <a:pPr marL="457200" lvl="0" indent="-33818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26"/>
              <a:buChar char="●"/>
            </a:pPr>
            <a:r>
              <a:rPr lang="en" sz="1726" b="1">
                <a:solidFill>
                  <a:schemeClr val="dk1"/>
                </a:solidFill>
              </a:rPr>
              <a:t>Declarative (React way):</a:t>
            </a:r>
            <a:r>
              <a:rPr lang="en" sz="1726">
                <a:solidFill>
                  <a:schemeClr val="dk1"/>
                </a:solidFill>
              </a:rPr>
              <a:t> You describe the UI for a given state.</a:t>
            </a:r>
            <a:br>
              <a:rPr lang="en" sz="1726">
                <a:solidFill>
                  <a:schemeClr val="dk1"/>
                </a:solidFill>
              </a:rPr>
            </a:br>
            <a:endParaRPr sz="1726">
              <a:solidFill>
                <a:schemeClr val="dk1"/>
              </a:solidFill>
            </a:endParaRPr>
          </a:p>
          <a:p>
            <a:pPr marL="457200" lvl="0" indent="-33818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6"/>
              <a:buChar char="●"/>
            </a:pPr>
            <a:r>
              <a:rPr lang="en" sz="1726" b="1">
                <a:solidFill>
                  <a:schemeClr val="dk1"/>
                </a:solidFill>
              </a:rPr>
              <a:t>Imperative (traditional JS):</a:t>
            </a:r>
            <a:r>
              <a:rPr lang="en" sz="1726">
                <a:solidFill>
                  <a:schemeClr val="dk1"/>
                </a:solidFill>
              </a:rPr>
              <a:t> You manually tell the DOM how to change step by step.</a:t>
            </a:r>
            <a:br>
              <a:rPr lang="en" sz="1726">
                <a:solidFill>
                  <a:schemeClr val="dk1"/>
                </a:solidFill>
              </a:rPr>
            </a:br>
            <a:endParaRPr sz="172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6" b="1">
                <a:solidFill>
                  <a:srgbClr val="9900FF"/>
                </a:solidFill>
              </a:rPr>
              <a:t>Imperative Example:</a:t>
            </a:r>
            <a:endParaRPr sz="1726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6" b="1">
                <a:solidFill>
                  <a:srgbClr val="9900FF"/>
                </a:solidFill>
              </a:rPr>
              <a:t>const btn = document.createElement("button");</a:t>
            </a:r>
            <a:endParaRPr sz="1726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6" b="1">
                <a:solidFill>
                  <a:srgbClr val="9900FF"/>
                </a:solidFill>
              </a:rPr>
              <a:t>btn.innerText = "Click Me";</a:t>
            </a:r>
            <a:endParaRPr sz="1726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26" b="1">
                <a:solidFill>
                  <a:srgbClr val="9900FF"/>
                </a:solidFill>
              </a:rPr>
              <a:t>btn.onclick = () =&gt; alert("Clicked!");</a:t>
            </a:r>
            <a:endParaRPr sz="1726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26" b="1">
                <a:solidFill>
                  <a:srgbClr val="9900FF"/>
                </a:solidFill>
              </a:rPr>
              <a:t>document.body.appendChild(btn);</a:t>
            </a:r>
            <a:endParaRPr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9900FF"/>
                </a:solidFill>
              </a:rPr>
              <a:t>Declarative Example (React):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900FF"/>
                </a:solidFill>
              </a:rPr>
              <a:t>function App() {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900FF"/>
                </a:solidFill>
              </a:rPr>
              <a:t>  return &lt;button onClick={() =&gt; alert("Clicked!")}&gt;Click Me&lt;/button&gt;;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9900FF"/>
                </a:solidFill>
              </a:rPr>
              <a:t>}</a:t>
            </a:r>
            <a:endParaRPr sz="1900" b="1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In React, you just </a:t>
            </a:r>
            <a:r>
              <a:rPr lang="en" sz="1900" b="1">
                <a:solidFill>
                  <a:schemeClr val="dk1"/>
                </a:solidFill>
              </a:rPr>
              <a:t>declare</a:t>
            </a:r>
            <a:r>
              <a:rPr lang="en" sz="1900">
                <a:solidFill>
                  <a:schemeClr val="dk1"/>
                </a:solidFill>
              </a:rPr>
              <a:t> the UI, and React handles the DOM updates.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5. Idiomatic React</a:t>
            </a:r>
            <a:endParaRPr sz="21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Writing code in the </a:t>
            </a:r>
            <a:r>
              <a:rPr lang="en" sz="1900" b="1">
                <a:solidFill>
                  <a:schemeClr val="dk1"/>
                </a:solidFill>
              </a:rPr>
              <a:t>“React way”</a:t>
            </a:r>
            <a:r>
              <a:rPr lang="en" sz="1900">
                <a:solidFill>
                  <a:schemeClr val="dk1"/>
                </a:solidFill>
              </a:rPr>
              <a:t> means following its principles: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Use </a:t>
            </a:r>
            <a:r>
              <a:rPr lang="en" sz="1900" b="1">
                <a:solidFill>
                  <a:schemeClr val="dk1"/>
                </a:solidFill>
              </a:rPr>
              <a:t>components</a:t>
            </a:r>
            <a:r>
              <a:rPr lang="en" sz="1900">
                <a:solidFill>
                  <a:schemeClr val="dk1"/>
                </a:solidFill>
              </a:rPr>
              <a:t>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Use </a:t>
            </a:r>
            <a:r>
              <a:rPr lang="en" sz="1900" b="1">
                <a:solidFill>
                  <a:schemeClr val="dk1"/>
                </a:solidFill>
              </a:rPr>
              <a:t>state and props</a:t>
            </a:r>
            <a:r>
              <a:rPr lang="en" sz="1900">
                <a:solidFill>
                  <a:schemeClr val="dk1"/>
                </a:solidFill>
              </a:rPr>
              <a:t> for data flow.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900">
                <a:solidFill>
                  <a:schemeClr val="dk1"/>
                </a:solidFill>
              </a:rPr>
              <a:t>Keep data </a:t>
            </a:r>
            <a:r>
              <a:rPr lang="en" sz="1900" b="1">
                <a:solidFill>
                  <a:schemeClr val="dk1"/>
                </a:solidFill>
              </a:rPr>
              <a:t>unidirectional</a:t>
            </a:r>
            <a:r>
              <a:rPr lang="en" sz="1900">
                <a:solidFill>
                  <a:schemeClr val="dk1"/>
                </a:solidFill>
              </a:rPr>
              <a:t> (parent → child).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311700" y="120175"/>
            <a:ext cx="8520600" cy="4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Why “React”?</a:t>
            </a:r>
            <a:endParaRPr sz="17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Facebook built React to handle </a:t>
            </a:r>
            <a:r>
              <a:rPr lang="en" sz="1500" b="1">
                <a:solidFill>
                  <a:schemeClr val="dk1"/>
                </a:solidFill>
              </a:rPr>
              <a:t>frequent UI updates</a:t>
            </a:r>
            <a:r>
              <a:rPr lang="en" sz="1500">
                <a:solidFill>
                  <a:schemeClr val="dk1"/>
                </a:solidFill>
              </a:rPr>
              <a:t> efficiently.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Web applications need to update in response to </a:t>
            </a:r>
            <a:r>
              <a:rPr lang="en" sz="1500" b="1">
                <a:solidFill>
                  <a:schemeClr val="dk1"/>
                </a:solidFill>
              </a:rPr>
              <a:t>events</a:t>
            </a:r>
            <a:r>
              <a:rPr lang="en" sz="1500">
                <a:solidFill>
                  <a:schemeClr val="dk1"/>
                </a:solidFill>
              </a:rPr>
              <a:t> such as: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User input (typing, clicking, scrolling)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New data from APIs or servers (e.g., live chat messages, news feed updates)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Sensor data (e.g., GPS location changes)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Traditionally, web apps used a </a:t>
            </a:r>
            <a:r>
              <a:rPr lang="en" sz="1500" b="1">
                <a:solidFill>
                  <a:schemeClr val="dk1"/>
                </a:solidFill>
              </a:rPr>
              <a:t>refresh or polling model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page refreshes every few seconds to check for new data (</a:t>
            </a:r>
            <a:r>
              <a:rPr lang="en" sz="1500" i="1">
                <a:solidFill>
                  <a:schemeClr val="dk1"/>
                </a:solidFill>
              </a:rPr>
              <a:t>pull</a:t>
            </a:r>
            <a:r>
              <a:rPr lang="en" sz="1500">
                <a:solidFill>
                  <a:schemeClr val="dk1"/>
                </a:solidFill>
              </a:rPr>
              <a:t> model).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React introduced a </a:t>
            </a:r>
            <a:r>
              <a:rPr lang="en" sz="1500" b="1">
                <a:solidFill>
                  <a:schemeClr val="dk1"/>
                </a:solidFill>
              </a:rPr>
              <a:t>reactive model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Instead of refreshing blindly, the UI </a:t>
            </a:r>
            <a:r>
              <a:rPr lang="en" sz="1500" b="1">
                <a:solidFill>
                  <a:schemeClr val="dk1"/>
                </a:solidFill>
              </a:rPr>
              <a:t>reacts</a:t>
            </a:r>
            <a:r>
              <a:rPr lang="en" sz="1500">
                <a:solidFill>
                  <a:schemeClr val="dk1"/>
                </a:solidFill>
              </a:rPr>
              <a:t> immediately to actual data changes (</a:t>
            </a:r>
            <a:r>
              <a:rPr lang="en" sz="1500" i="1">
                <a:solidFill>
                  <a:schemeClr val="dk1"/>
                </a:solidFill>
              </a:rPr>
              <a:t>push</a:t>
            </a:r>
            <a:r>
              <a:rPr lang="en" sz="1500">
                <a:solidFill>
                  <a:schemeClr val="dk1"/>
                </a:solidFill>
              </a:rPr>
              <a:t> model).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This style of updating UIs based on data changes is called </a:t>
            </a:r>
            <a:r>
              <a:rPr lang="en" sz="1500" b="1">
                <a:solidFill>
                  <a:schemeClr val="dk1"/>
                </a:solidFill>
              </a:rPr>
              <a:t>Reactive Programming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7132"/>
              <a:buFont typeface="Arial"/>
              <a:buNone/>
            </a:pPr>
            <a:r>
              <a:rPr lang="en" sz="2334" b="1">
                <a:solidFill>
                  <a:schemeClr val="dk1"/>
                </a:solidFill>
              </a:rPr>
              <a:t>1. User Input </a:t>
            </a:r>
            <a:endParaRPr sz="2334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550"/>
              <a:buFont typeface="Arial"/>
              <a:buNone/>
            </a:pPr>
            <a:r>
              <a:rPr lang="en" sz="2134">
                <a:solidFill>
                  <a:schemeClr val="dk1"/>
                </a:solidFill>
              </a:rPr>
              <a:t>Whenever a user </a:t>
            </a:r>
            <a:r>
              <a:rPr lang="en" sz="2134" b="1">
                <a:solidFill>
                  <a:schemeClr val="dk1"/>
                </a:solidFill>
              </a:rPr>
              <a:t>types, clicks, or scrolls</a:t>
            </a:r>
            <a:r>
              <a:rPr lang="en" sz="2134">
                <a:solidFill>
                  <a:schemeClr val="dk1"/>
                </a:solidFill>
              </a:rPr>
              <a:t>, the website needs to react immediately.</a:t>
            </a:r>
            <a:endParaRPr sz="2134">
              <a:solidFill>
                <a:schemeClr val="dk1"/>
              </a:solidFill>
            </a:endParaRPr>
          </a:p>
          <a:p>
            <a:pPr marL="457200" lvl="0" indent="-34377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34">
                <a:solidFill>
                  <a:schemeClr val="dk1"/>
                </a:solidFill>
              </a:rPr>
              <a:t>Example: When you type in a search box, results show up instantly.</a:t>
            </a:r>
            <a:br>
              <a:rPr lang="en" sz="2134">
                <a:solidFill>
                  <a:schemeClr val="dk1"/>
                </a:solidFill>
              </a:rPr>
            </a:br>
            <a:endParaRPr sz="2134">
              <a:solidFill>
                <a:schemeClr val="dk1"/>
              </a:solidFill>
            </a:endParaRPr>
          </a:p>
          <a:p>
            <a:pPr marL="457200" lvl="0" indent="-3437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34">
                <a:solidFill>
                  <a:schemeClr val="dk1"/>
                </a:solidFill>
              </a:rPr>
              <a:t>Example: When you click a “Like” button, it turns blue without refreshing the whole page.</a:t>
            </a:r>
            <a:br>
              <a:rPr lang="en" sz="2134">
                <a:solidFill>
                  <a:schemeClr val="dk1"/>
                </a:solidFill>
              </a:rPr>
            </a:br>
            <a:endParaRPr sz="2134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550"/>
              <a:buFont typeface="Arial"/>
              <a:buNone/>
            </a:pPr>
            <a:r>
              <a:rPr lang="en" sz="2134">
                <a:solidFill>
                  <a:schemeClr val="dk1"/>
                </a:solidFill>
              </a:rPr>
              <a:t> React updates only the part of the page that changed (the search results or the button), not the entire website.</a:t>
            </a:r>
            <a:endParaRPr sz="2134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634"/>
              <a:buFont typeface="Arial"/>
              <a:buNone/>
            </a:pPr>
            <a:r>
              <a:rPr lang="en" sz="2216" b="1">
                <a:solidFill>
                  <a:schemeClr val="dk1"/>
                </a:solidFill>
              </a:rPr>
              <a:t>2. New Data from APIs or Servers </a:t>
            </a:r>
            <a:endParaRPr sz="2216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558"/>
              <a:buFont typeface="Arial"/>
              <a:buNone/>
            </a:pPr>
            <a:r>
              <a:rPr lang="en" sz="2016">
                <a:solidFill>
                  <a:schemeClr val="dk1"/>
                </a:solidFill>
              </a:rPr>
              <a:t>Websites often need to </a:t>
            </a:r>
            <a:r>
              <a:rPr lang="en" sz="2016" b="1">
                <a:solidFill>
                  <a:schemeClr val="dk1"/>
                </a:solidFill>
              </a:rPr>
              <a:t>fetch new data</a:t>
            </a:r>
            <a:r>
              <a:rPr lang="en" sz="2016">
                <a:solidFill>
                  <a:schemeClr val="dk1"/>
                </a:solidFill>
              </a:rPr>
              <a:t> from the internet.</a:t>
            </a:r>
            <a:endParaRPr sz="2016">
              <a:solidFill>
                <a:schemeClr val="dk1"/>
              </a:solidFill>
            </a:endParaRPr>
          </a:p>
          <a:p>
            <a:pPr marL="457200" lvl="0" indent="-33742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16">
                <a:solidFill>
                  <a:schemeClr val="dk1"/>
                </a:solidFill>
              </a:rPr>
              <a:t>Example: In WhatsApp Web, new chat messages appear automatically.</a:t>
            </a:r>
            <a:br>
              <a:rPr lang="en" sz="2016">
                <a:solidFill>
                  <a:schemeClr val="dk1"/>
                </a:solidFill>
              </a:rPr>
            </a:br>
            <a:endParaRPr sz="2016">
              <a:solidFill>
                <a:schemeClr val="dk1"/>
              </a:solidFill>
            </a:endParaRPr>
          </a:p>
          <a:p>
            <a:pPr marL="457200" lvl="0" indent="-3374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16">
                <a:solidFill>
                  <a:schemeClr val="dk1"/>
                </a:solidFill>
              </a:rPr>
              <a:t>Example: On Facebook/Instagram, the news feed updates when new posts arrive.</a:t>
            </a:r>
            <a:br>
              <a:rPr lang="en" sz="2016">
                <a:solidFill>
                  <a:schemeClr val="dk1"/>
                </a:solidFill>
              </a:rPr>
            </a:br>
            <a:endParaRPr sz="20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558"/>
              <a:buFont typeface="Arial"/>
              <a:buNone/>
            </a:pPr>
            <a:r>
              <a:rPr lang="en" sz="2016">
                <a:solidFill>
                  <a:schemeClr val="dk1"/>
                </a:solidFill>
              </a:rPr>
              <a:t>React makes sure the new data is displayed instantly without reloading the whole page.</a:t>
            </a:r>
            <a:endParaRPr sz="20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196"/>
              <a:buFont typeface="Arial"/>
              <a:buNone/>
            </a:pPr>
            <a:r>
              <a:rPr lang="en" sz="2434" b="1">
                <a:solidFill>
                  <a:schemeClr val="dk1"/>
                </a:solidFill>
              </a:rPr>
              <a:t>3. Sensor Data (like GPS) </a:t>
            </a:r>
            <a:endParaRPr sz="2434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242"/>
              <a:buFont typeface="Arial"/>
              <a:buNone/>
            </a:pPr>
            <a:r>
              <a:rPr lang="en" sz="2234">
                <a:solidFill>
                  <a:schemeClr val="dk1"/>
                </a:solidFill>
              </a:rPr>
              <a:t>Some apps depend on data from your device’s </a:t>
            </a:r>
            <a:r>
              <a:rPr lang="en" sz="2234" b="1">
                <a:solidFill>
                  <a:schemeClr val="dk1"/>
                </a:solidFill>
              </a:rPr>
              <a:t>sensors</a:t>
            </a:r>
            <a:r>
              <a:rPr lang="en" sz="2234">
                <a:solidFill>
                  <a:schemeClr val="dk1"/>
                </a:solidFill>
              </a:rPr>
              <a:t>.</a:t>
            </a:r>
            <a:endParaRPr sz="2234">
              <a:solidFill>
                <a:schemeClr val="dk1"/>
              </a:solidFill>
            </a:endParaRPr>
          </a:p>
          <a:p>
            <a:pPr marL="457200" lvl="0" indent="-33853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34">
                <a:solidFill>
                  <a:schemeClr val="dk1"/>
                </a:solidFill>
              </a:rPr>
              <a:t>Example: Google Maps updates your location in real time when you move.</a:t>
            </a:r>
            <a:br>
              <a:rPr lang="en" sz="2234">
                <a:solidFill>
                  <a:schemeClr val="dk1"/>
                </a:solidFill>
              </a:rPr>
            </a:br>
            <a:endParaRPr sz="2234">
              <a:solidFill>
                <a:schemeClr val="dk1"/>
              </a:solidFill>
            </a:endParaRPr>
          </a:p>
          <a:p>
            <a:pPr marL="457200" lvl="0" indent="-33853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34">
                <a:solidFill>
                  <a:schemeClr val="dk1"/>
                </a:solidFill>
              </a:rPr>
              <a:t>Example: A weather app changes to show weather for your current city.</a:t>
            </a:r>
            <a:br>
              <a:rPr lang="en" sz="2234">
                <a:solidFill>
                  <a:schemeClr val="dk1"/>
                </a:solidFill>
              </a:rPr>
            </a:br>
            <a:endParaRPr sz="2234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242"/>
              <a:buFont typeface="Arial"/>
              <a:buNone/>
            </a:pPr>
            <a:r>
              <a:rPr lang="en" sz="2234">
                <a:solidFill>
                  <a:schemeClr val="dk1"/>
                </a:solidFill>
              </a:rPr>
              <a:t>React reacts to this incoming sensor data and updates only what’s needed on the screen.</a:t>
            </a:r>
            <a:endParaRPr sz="2234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In short: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>
                <a:solidFill>
                  <a:schemeClr val="dk1"/>
                </a:solidFill>
              </a:rPr>
              <a:t>User input →</a:t>
            </a:r>
            <a:r>
              <a:rPr lang="en" sz="2000">
                <a:solidFill>
                  <a:schemeClr val="dk1"/>
                </a:solidFill>
              </a:rPr>
              <a:t> "I did something" → Update the UI.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>
                <a:solidFill>
                  <a:schemeClr val="dk1"/>
                </a:solidFill>
              </a:rPr>
              <a:t>API/server data →</a:t>
            </a:r>
            <a:r>
              <a:rPr lang="en" sz="2000">
                <a:solidFill>
                  <a:schemeClr val="dk1"/>
                </a:solidFill>
              </a:rPr>
              <a:t> "New info came in" → Update the UI.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b="1">
                <a:solidFill>
                  <a:schemeClr val="dk1"/>
                </a:solidFill>
              </a:rPr>
              <a:t>Sensor data →</a:t>
            </a:r>
            <a:r>
              <a:rPr lang="en" sz="2000">
                <a:solidFill>
                  <a:schemeClr val="dk1"/>
                </a:solidFill>
              </a:rPr>
              <a:t> "Device data changed" → Update the UI.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00FF"/>
                </a:solidFill>
              </a:rPr>
              <a:t>React and the UI Layer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3" name="Google Shape;123;p25"/>
          <p:cNvSpPr txBox="1">
            <a:spLocks noGrp="1"/>
          </p:cNvSpPr>
          <p:nvPr>
            <p:ph type="body" idx="1"/>
          </p:nvPr>
        </p:nvSpPr>
        <p:spPr>
          <a:xfrm>
            <a:off x="311700" y="889300"/>
            <a:ext cx="8520600" cy="4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565"/>
              <a:buFont typeface="Arial"/>
              <a:buNone/>
            </a:pPr>
            <a:r>
              <a:rPr lang="en" sz="1816">
                <a:solidFill>
                  <a:schemeClr val="dk1"/>
                </a:solidFill>
              </a:rPr>
              <a:t>Web applications are often structured using the </a:t>
            </a:r>
            <a:r>
              <a:rPr lang="en" sz="1816" b="1">
                <a:solidFill>
                  <a:schemeClr val="dk1"/>
                </a:solidFill>
              </a:rPr>
              <a:t>MVC (Model–View–Controller) pattern</a:t>
            </a:r>
            <a:r>
              <a:rPr lang="en" sz="1816">
                <a:solidFill>
                  <a:schemeClr val="dk1"/>
                </a:solidFill>
              </a:rPr>
              <a:t>:</a:t>
            </a:r>
            <a:endParaRPr sz="1816">
              <a:solidFill>
                <a:schemeClr val="dk1"/>
              </a:solidFill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16" b="1">
                <a:solidFill>
                  <a:schemeClr val="dk1"/>
                </a:solidFill>
              </a:rPr>
              <a:t>Model</a:t>
            </a:r>
            <a:r>
              <a:rPr lang="en" sz="1816">
                <a:solidFill>
                  <a:schemeClr val="dk1"/>
                </a:solidFill>
              </a:rPr>
              <a:t> → Data layer</a:t>
            </a:r>
            <a:br>
              <a:rPr lang="en" sz="1816">
                <a:solidFill>
                  <a:schemeClr val="dk1"/>
                </a:solidFill>
              </a:rPr>
            </a:br>
            <a:endParaRPr sz="1816">
              <a:solidFill>
                <a:schemeClr val="dk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16" b="1">
                <a:solidFill>
                  <a:schemeClr val="dk1"/>
                </a:solidFill>
              </a:rPr>
              <a:t>View</a:t>
            </a:r>
            <a:r>
              <a:rPr lang="en" sz="1816">
                <a:solidFill>
                  <a:schemeClr val="dk1"/>
                </a:solidFill>
              </a:rPr>
              <a:t> → What the user sees (UI)</a:t>
            </a:r>
            <a:br>
              <a:rPr lang="en" sz="1816">
                <a:solidFill>
                  <a:schemeClr val="dk1"/>
                </a:solidFill>
              </a:rPr>
            </a:br>
            <a:endParaRPr sz="1816">
              <a:solidFill>
                <a:schemeClr val="dk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16" b="1">
                <a:solidFill>
                  <a:schemeClr val="dk1"/>
                </a:solidFill>
              </a:rPr>
              <a:t>Controller</a:t>
            </a:r>
            <a:r>
              <a:rPr lang="en" sz="1816">
                <a:solidFill>
                  <a:schemeClr val="dk1"/>
                </a:solidFill>
              </a:rPr>
              <a:t> → Connects View ↔ Model</a:t>
            </a:r>
            <a:br>
              <a:rPr lang="en" sz="1816">
                <a:solidFill>
                  <a:schemeClr val="dk1"/>
                </a:solidFill>
              </a:rPr>
            </a:br>
            <a:endParaRPr sz="18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16">
                <a:solidFill>
                  <a:schemeClr val="dk1"/>
                </a:solidFill>
              </a:rPr>
              <a:t> </a:t>
            </a:r>
            <a:r>
              <a:rPr lang="en" sz="1816" b="1">
                <a:solidFill>
                  <a:schemeClr val="dk1"/>
                </a:solidFill>
              </a:rPr>
              <a:t>React only cares about the “View”</a:t>
            </a:r>
            <a:r>
              <a:rPr lang="en" sz="1816">
                <a:solidFill>
                  <a:schemeClr val="dk1"/>
                </a:solidFill>
              </a:rPr>
              <a:t>.</a:t>
            </a:r>
            <a:endParaRPr sz="1816">
              <a:solidFill>
                <a:schemeClr val="dk1"/>
              </a:solidFill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16">
                <a:solidFill>
                  <a:schemeClr val="dk1"/>
                </a:solidFill>
              </a:rPr>
              <a:t>It takes data (state/props) as input.</a:t>
            </a:r>
            <a:br>
              <a:rPr lang="en" sz="1816">
                <a:solidFill>
                  <a:schemeClr val="dk1"/>
                </a:solidFill>
              </a:rPr>
            </a:br>
            <a:endParaRPr sz="1816">
              <a:solidFill>
                <a:schemeClr val="dk1"/>
              </a:solidFill>
            </a:endParaRPr>
          </a:p>
          <a:p>
            <a:pPr marL="457200" lvl="0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16">
                <a:solidFill>
                  <a:schemeClr val="dk1"/>
                </a:solidFill>
              </a:rPr>
              <a:t>It renders that data as UI.</a:t>
            </a:r>
            <a:endParaRPr sz="18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>
            <a:spLocks noGrp="1"/>
          </p:cNvSpPr>
          <p:nvPr>
            <p:ph type="body" idx="1"/>
          </p:nvPr>
        </p:nvSpPr>
        <p:spPr>
          <a:xfrm>
            <a:off x="311700" y="300450"/>
            <a:ext cx="8520600" cy="46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 an MVC application, the View sends input to the Controller, which passes data between the data layer and the View. React is only concerned with the V in MVC. It takes data as input and presents it to the user in some form.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075" y="1437871"/>
            <a:ext cx="6428050" cy="342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React itself doesn’t care </a:t>
            </a:r>
            <a:r>
              <a:rPr lang="en" sz="2100" b="1">
                <a:solidFill>
                  <a:schemeClr val="dk1"/>
                </a:solidFill>
              </a:rPr>
              <a:t>whether the user is using a mobile phone, a tablet, a desktop web browser, a screen reader, a command-line interface, or any other kind of device or interface that may be invented in the future. 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React just renders </a:t>
            </a:r>
            <a:r>
              <a:rPr lang="en" sz="2100" b="1">
                <a:solidFill>
                  <a:schemeClr val="dk1"/>
                </a:solidFill>
              </a:rPr>
              <a:t>components</a:t>
            </a:r>
            <a:r>
              <a:rPr lang="en" sz="2100">
                <a:solidFill>
                  <a:schemeClr val="dk1"/>
                </a:solidFill>
              </a:rPr>
              <a:t>. How those components get presented to the user is up to a separate library.</a:t>
            </a:r>
            <a:endParaRPr sz="21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library that handles rendering of React components in web browsers is called </a:t>
            </a:r>
            <a:r>
              <a:rPr lang="en" sz="2100" b="1">
                <a:solidFill>
                  <a:schemeClr val="dk1"/>
                </a:solidFill>
              </a:rPr>
              <a:t>ReactDOM</a:t>
            </a:r>
            <a:r>
              <a:rPr lang="en" sz="2100">
                <a:solidFill>
                  <a:schemeClr val="dk1"/>
                </a:solidFill>
              </a:rPr>
              <a:t>. If you want to render React elements to native mobile apps, you use </a:t>
            </a:r>
            <a:r>
              <a:rPr lang="en" sz="2100" b="1">
                <a:solidFill>
                  <a:schemeClr val="dk1"/>
                </a:solidFill>
              </a:rPr>
              <a:t>React Native.</a:t>
            </a:r>
            <a:r>
              <a:rPr lang="en" sz="2100">
                <a:solidFill>
                  <a:schemeClr val="dk1"/>
                </a:solidFill>
              </a:rPr>
              <a:t> If you want to render React components to static HTML, you can use </a:t>
            </a:r>
            <a:r>
              <a:rPr lang="en" sz="2100" b="1">
                <a:solidFill>
                  <a:schemeClr val="dk1"/>
                </a:solidFill>
              </a:rPr>
              <a:t>ReactDOMServer.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8" b="1">
                <a:solidFill>
                  <a:schemeClr val="dk1"/>
                </a:solidFill>
              </a:rPr>
              <a:t>What is ReactDOM?</a:t>
            </a:r>
            <a:endParaRPr sz="2108" b="1">
              <a:solidFill>
                <a:schemeClr val="dk1"/>
              </a:solidFill>
            </a:endParaRPr>
          </a:p>
          <a:p>
            <a:pPr marL="457200" lvl="0" indent="-34976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8"/>
              <a:buChar char="●"/>
            </a:pPr>
            <a:r>
              <a:rPr lang="en" sz="1908">
                <a:solidFill>
                  <a:schemeClr val="dk1"/>
                </a:solidFill>
              </a:rPr>
              <a:t>React by itself just describes </a:t>
            </a:r>
            <a:r>
              <a:rPr lang="en" sz="1908" b="1">
                <a:solidFill>
                  <a:schemeClr val="dk1"/>
                </a:solidFill>
              </a:rPr>
              <a:t>what the UI should look like</a:t>
            </a:r>
            <a:r>
              <a:rPr lang="en" sz="1908">
                <a:solidFill>
                  <a:schemeClr val="dk1"/>
                </a:solidFill>
              </a:rPr>
              <a:t>.</a:t>
            </a:r>
            <a:br>
              <a:rPr lang="en" sz="1908">
                <a:solidFill>
                  <a:schemeClr val="dk1"/>
                </a:solidFill>
              </a:rPr>
            </a:br>
            <a:endParaRPr sz="1908">
              <a:solidFill>
                <a:schemeClr val="dk1"/>
              </a:solidFill>
            </a:endParaRPr>
          </a:p>
          <a:p>
            <a:pPr marL="457200" lvl="0" indent="-349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8"/>
              <a:buChar char="●"/>
            </a:pPr>
            <a:r>
              <a:rPr lang="en" sz="1908">
                <a:solidFill>
                  <a:schemeClr val="dk1"/>
                </a:solidFill>
              </a:rPr>
              <a:t>But React doesn’t know </a:t>
            </a:r>
            <a:r>
              <a:rPr lang="en" sz="1908" i="1">
                <a:solidFill>
                  <a:schemeClr val="dk1"/>
                </a:solidFill>
              </a:rPr>
              <a:t>where</a:t>
            </a:r>
            <a:r>
              <a:rPr lang="en" sz="1908">
                <a:solidFill>
                  <a:schemeClr val="dk1"/>
                </a:solidFill>
              </a:rPr>
              <a:t> to put that UI — it needs help to connect with the </a:t>
            </a:r>
            <a:r>
              <a:rPr lang="en" sz="1908" b="1">
                <a:solidFill>
                  <a:schemeClr val="dk1"/>
                </a:solidFill>
              </a:rPr>
              <a:t>actual browser DOM</a:t>
            </a:r>
            <a:r>
              <a:rPr lang="en" sz="1908">
                <a:solidFill>
                  <a:schemeClr val="dk1"/>
                </a:solidFill>
              </a:rPr>
              <a:t>.</a:t>
            </a:r>
            <a:br>
              <a:rPr lang="en" sz="1908">
                <a:solidFill>
                  <a:schemeClr val="dk1"/>
                </a:solidFill>
              </a:rPr>
            </a:br>
            <a:endParaRPr sz="1908">
              <a:solidFill>
                <a:schemeClr val="dk1"/>
              </a:solidFill>
            </a:endParaRPr>
          </a:p>
          <a:p>
            <a:pPr marL="457200" lvl="0" indent="-3497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8"/>
              <a:buChar char="●"/>
            </a:pPr>
            <a:r>
              <a:rPr lang="en" sz="1908">
                <a:solidFill>
                  <a:schemeClr val="dk1"/>
                </a:solidFill>
              </a:rPr>
              <a:t>That’s the job of </a:t>
            </a:r>
            <a:r>
              <a:rPr lang="en" sz="1908" b="1">
                <a:solidFill>
                  <a:schemeClr val="dk1"/>
                </a:solidFill>
              </a:rPr>
              <a:t>ReactDOM</a:t>
            </a:r>
            <a:r>
              <a:rPr lang="en" sz="1908">
                <a:solidFill>
                  <a:schemeClr val="dk1"/>
                </a:solidFill>
              </a:rPr>
              <a:t>.</a:t>
            </a:r>
            <a:br>
              <a:rPr lang="en" sz="1908">
                <a:solidFill>
                  <a:schemeClr val="dk1"/>
                </a:solidFill>
              </a:rPr>
            </a:br>
            <a:endParaRPr sz="19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8">
                <a:solidFill>
                  <a:schemeClr val="dk1"/>
                </a:solidFill>
              </a:rPr>
              <a:t>Think of React as the </a:t>
            </a:r>
            <a:r>
              <a:rPr lang="en" sz="1908" b="1">
                <a:solidFill>
                  <a:schemeClr val="dk1"/>
                </a:solidFill>
              </a:rPr>
              <a:t>architect</a:t>
            </a:r>
            <a:r>
              <a:rPr lang="en" sz="1908">
                <a:solidFill>
                  <a:schemeClr val="dk1"/>
                </a:solidFill>
              </a:rPr>
              <a:t> (designing components) and ReactDOM as the </a:t>
            </a:r>
            <a:r>
              <a:rPr lang="en" sz="1908" b="1">
                <a:solidFill>
                  <a:schemeClr val="dk1"/>
                </a:solidFill>
              </a:rPr>
              <a:t>builder</a:t>
            </a:r>
            <a:r>
              <a:rPr lang="en" sz="1908">
                <a:solidFill>
                  <a:schemeClr val="dk1"/>
                </a:solidFill>
              </a:rPr>
              <a:t> (actually putting them into the house = browser).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1050"/>
            <a:ext cx="9143999" cy="31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9"/>
          <p:cNvSpPr txBox="1"/>
          <p:nvPr/>
        </p:nvSpPr>
        <p:spPr>
          <a:xfrm>
            <a:off x="108150" y="636925"/>
            <a:ext cx="88929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ReactDOM</a:t>
            </a:r>
            <a:r>
              <a:rPr lang="en" sz="1800">
                <a:solidFill>
                  <a:schemeClr val="dk1"/>
                </a:solidFill>
              </a:rPr>
              <a:t> has a number of functions for interfacing between React and web browsers, but the one that every React application makes use of is called </a:t>
            </a:r>
            <a:r>
              <a:rPr lang="en" sz="1800" b="1">
                <a:solidFill>
                  <a:schemeClr val="dk1"/>
                </a:solidFill>
              </a:rPr>
              <a:t>ReactDOM.render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157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52"/>
              <a:buAutoNum type="arabicPeriod"/>
            </a:pPr>
            <a:r>
              <a:rPr lang="en" sz="2252" b="1">
                <a:solidFill>
                  <a:srgbClr val="000000"/>
                </a:solidFill>
              </a:rPr>
              <a:t>React Component</a:t>
            </a:r>
            <a:endParaRPr sz="2252" b="1">
              <a:solidFill>
                <a:srgbClr val="000000"/>
              </a:solidFill>
            </a:endParaRPr>
          </a:p>
          <a:p>
            <a:pPr marL="457200" lvl="0" indent="-3715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Char char="●"/>
            </a:pPr>
            <a:r>
              <a:rPr lang="en" sz="2252">
                <a:solidFill>
                  <a:srgbClr val="000000"/>
                </a:solidFill>
              </a:rPr>
              <a:t>You write UI as </a:t>
            </a:r>
            <a:r>
              <a:rPr lang="en" sz="2252" b="1">
                <a:solidFill>
                  <a:srgbClr val="000000"/>
                </a:solidFill>
              </a:rPr>
              <a:t>React components</a:t>
            </a:r>
            <a:r>
              <a:rPr lang="en" sz="2252">
                <a:solidFill>
                  <a:srgbClr val="000000"/>
                </a:solidFill>
              </a:rPr>
              <a:t> (functions or classes).</a:t>
            </a:r>
            <a:br>
              <a:rPr lang="en" sz="2252">
                <a:solidFill>
                  <a:srgbClr val="000000"/>
                </a:solidFill>
              </a:rPr>
            </a:br>
            <a:endParaRPr sz="2252">
              <a:solidFill>
                <a:srgbClr val="000000"/>
              </a:solidFill>
            </a:endParaRPr>
          </a:p>
          <a:p>
            <a:pPr marL="457200" lvl="0" indent="-3715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2"/>
              <a:buChar char="●"/>
            </a:pPr>
            <a:r>
              <a:rPr lang="en" sz="2252" b="1">
                <a:solidFill>
                  <a:srgbClr val="000000"/>
                </a:solidFill>
              </a:rPr>
              <a:t>Example:</a:t>
            </a:r>
            <a:endParaRPr sz="225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52">
                <a:solidFill>
                  <a:srgbClr val="000000"/>
                </a:solidFill>
              </a:rPr>
              <a:t>function App() {</a:t>
            </a:r>
            <a:endParaRPr sz="225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52">
                <a:solidFill>
                  <a:srgbClr val="000000"/>
                </a:solidFill>
              </a:rPr>
              <a:t>  return &lt;h1&gt;Hello, React!&lt;/h1&gt;;</a:t>
            </a:r>
            <a:endParaRPr sz="225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52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body" idx="1"/>
          </p:nvPr>
        </p:nvSpPr>
        <p:spPr>
          <a:xfrm>
            <a:off x="311700" y="384550"/>
            <a:ext cx="8520600" cy="46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2. React.render() → Virtual DOM</a:t>
            </a:r>
            <a:endParaRPr b="1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React takes the component and creates a </a:t>
            </a:r>
            <a:r>
              <a:rPr lang="en" b="1">
                <a:solidFill>
                  <a:srgbClr val="000000"/>
                </a:solidFill>
              </a:rPr>
              <a:t>Virtual DOM</a:t>
            </a:r>
            <a:r>
              <a:rPr lang="en">
                <a:solidFill>
                  <a:srgbClr val="000000"/>
                </a:solidFill>
              </a:rPr>
              <a:t> (a lightweight, in-memory copy of the actual DOM).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Virtual DOM is just a </a:t>
            </a:r>
            <a:r>
              <a:rPr lang="en" b="1">
                <a:solidFill>
                  <a:srgbClr val="000000"/>
                </a:solidFill>
              </a:rPr>
              <a:t>JavaScript object representation</a:t>
            </a:r>
            <a:r>
              <a:rPr lang="en">
                <a:solidFill>
                  <a:srgbClr val="000000"/>
                </a:solidFill>
              </a:rPr>
              <a:t> of what the UI should look like.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(conceptually, not exact code):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{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  type: "h1",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  props: { children: "Hello, React!" }</a:t>
            </a:r>
            <a:endParaRPr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}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>
            <a:spLocks noGrp="1"/>
          </p:cNvSpPr>
          <p:nvPr>
            <p:ph type="body" idx="1"/>
          </p:nvPr>
        </p:nvSpPr>
        <p:spPr>
          <a:xfrm>
            <a:off x="311700" y="336500"/>
            <a:ext cx="8520600" cy="46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 startAt="3"/>
            </a:pPr>
            <a:r>
              <a:rPr lang="en" sz="1700" b="1">
                <a:solidFill>
                  <a:srgbClr val="000000"/>
                </a:solidFill>
              </a:rPr>
              <a:t>ReactDOM.render() → DOM</a:t>
            </a:r>
            <a:br>
              <a:rPr lang="en" sz="1700" b="1">
                <a:solidFill>
                  <a:srgbClr val="000000"/>
                </a:solidFill>
              </a:rPr>
            </a:br>
            <a:endParaRPr sz="1700" b="1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ReactDOM compares the </a:t>
            </a:r>
            <a:r>
              <a:rPr lang="en" sz="1700" b="1">
                <a:solidFill>
                  <a:srgbClr val="000000"/>
                </a:solidFill>
              </a:rPr>
              <a:t>Virtual DOM</a:t>
            </a:r>
            <a:r>
              <a:rPr lang="en" sz="1700">
                <a:solidFill>
                  <a:srgbClr val="000000"/>
                </a:solidFill>
              </a:rPr>
              <a:t> with the real DOM.</a:t>
            </a:r>
            <a:br>
              <a:rPr lang="en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It then updates only the parts of the </a:t>
            </a:r>
            <a:r>
              <a:rPr lang="en" sz="1700" b="1">
                <a:solidFill>
                  <a:srgbClr val="000000"/>
                </a:solidFill>
              </a:rPr>
              <a:t>real DOM</a:t>
            </a:r>
            <a:r>
              <a:rPr lang="en" sz="1700">
                <a:solidFill>
                  <a:srgbClr val="000000"/>
                </a:solidFill>
              </a:rPr>
              <a:t> that need changes.</a:t>
            </a:r>
            <a:br>
              <a:rPr lang="en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This makes updates </a:t>
            </a:r>
            <a:r>
              <a:rPr lang="en" sz="1700" b="1">
                <a:solidFill>
                  <a:srgbClr val="000000"/>
                </a:solidFill>
              </a:rPr>
              <a:t>fast and efficient</a:t>
            </a:r>
            <a:r>
              <a:rPr lang="en" sz="1700">
                <a:solidFill>
                  <a:srgbClr val="000000"/>
                </a:solidFill>
              </a:rPr>
              <a:t> (instead of reloading the whole page).</a:t>
            </a:r>
            <a:endParaRPr sz="1700">
              <a:solidFill>
                <a:srgbClr val="000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 startAt="4"/>
            </a:pPr>
            <a:r>
              <a:rPr lang="en" sz="1700" b="1">
                <a:solidFill>
                  <a:srgbClr val="000000"/>
                </a:solidFill>
              </a:rPr>
              <a:t>DOM → &lt;div id="app"&gt;&lt;/div&gt;</a:t>
            </a:r>
            <a:br>
              <a:rPr lang="en" sz="1700" b="1">
                <a:solidFill>
                  <a:srgbClr val="000000"/>
                </a:solidFill>
              </a:rPr>
            </a:br>
            <a:endParaRPr sz="1700" b="1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Finally, ReactDOM renders the component into the actual HTML page.</a:t>
            </a:r>
            <a:br>
              <a:rPr lang="en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Typically, you have an empty &lt;div id="app"&gt;&lt;/div&gt; (or "root") in your HTML file.</a:t>
            </a:r>
            <a:br>
              <a:rPr lang="en" sz="1700">
                <a:solidFill>
                  <a:srgbClr val="000000"/>
                </a:solidFill>
              </a:rPr>
            </a:br>
            <a:endParaRPr sz="1700">
              <a:solidFill>
                <a:srgbClr val="000000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</a:pPr>
            <a:r>
              <a:rPr lang="en" sz="1700">
                <a:solidFill>
                  <a:srgbClr val="000000"/>
                </a:solidFill>
              </a:rPr>
              <a:t>React fills this div with your components.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>
            <a:spLocks noGrp="1"/>
          </p:cNvSpPr>
          <p:nvPr>
            <p:ph type="body" idx="1"/>
          </p:nvPr>
        </p:nvSpPr>
        <p:spPr>
          <a:xfrm>
            <a:off x="311700" y="228325"/>
            <a:ext cx="8520600" cy="44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Example: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&lt;body&gt;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  &lt;div id="app"&gt;&lt;/div&gt;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  &lt;script src="bundle.js"&gt;&lt;/script&gt;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&lt;/body&gt;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After </a:t>
            </a:r>
            <a:r>
              <a:rPr lang="en" b="1">
                <a:solidFill>
                  <a:srgbClr val="0000FF"/>
                </a:solidFill>
              </a:rPr>
              <a:t>ReactDOM.render(&lt;App /&gt;, document.getElementById("app"));,</a:t>
            </a:r>
            <a:r>
              <a:rPr lang="en">
                <a:solidFill>
                  <a:srgbClr val="000000"/>
                </a:solidFill>
              </a:rPr>
              <a:t> the &lt;div&gt; will now contain: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&lt;div id="app"&gt;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&lt;h1&gt;Hello, React!&lt;/h1&gt;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&lt;/div&gt;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00000"/>
                </a:solidFill>
              </a:rPr>
              <a:t>In Short</a:t>
            </a:r>
            <a:endParaRPr sz="1900" b="1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 b="1">
                <a:solidFill>
                  <a:srgbClr val="000000"/>
                </a:solidFill>
              </a:rPr>
              <a:t>React Component</a:t>
            </a:r>
            <a:r>
              <a:rPr lang="en" sz="1900">
                <a:solidFill>
                  <a:srgbClr val="000000"/>
                </a:solidFill>
              </a:rPr>
              <a:t> → Written by developer.</a:t>
            </a:r>
            <a:br>
              <a:rPr lang="en" sz="1900">
                <a:solidFill>
                  <a:srgbClr val="000000"/>
                </a:solidFill>
              </a:rPr>
            </a:b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 b="1">
                <a:solidFill>
                  <a:srgbClr val="000000"/>
                </a:solidFill>
              </a:rPr>
              <a:t>Virtual DOM</a:t>
            </a:r>
            <a:r>
              <a:rPr lang="en" sz="1900">
                <a:solidFill>
                  <a:srgbClr val="000000"/>
                </a:solidFill>
              </a:rPr>
              <a:t> → Internal React representation.</a:t>
            </a:r>
            <a:br>
              <a:rPr lang="en" sz="1900">
                <a:solidFill>
                  <a:srgbClr val="000000"/>
                </a:solidFill>
              </a:rPr>
            </a:b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 b="1">
                <a:solidFill>
                  <a:srgbClr val="000000"/>
                </a:solidFill>
              </a:rPr>
              <a:t>ReactDOM.render()</a:t>
            </a:r>
            <a:r>
              <a:rPr lang="en" sz="1900">
                <a:solidFill>
                  <a:srgbClr val="000000"/>
                </a:solidFill>
              </a:rPr>
              <a:t> → Syncs Virtual DOM with Real DOM.</a:t>
            </a:r>
            <a:br>
              <a:rPr lang="en" sz="1900">
                <a:solidFill>
                  <a:srgbClr val="000000"/>
                </a:solidFill>
              </a:rPr>
            </a:b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 b="1">
                <a:solidFill>
                  <a:srgbClr val="000000"/>
                </a:solidFill>
              </a:rPr>
              <a:t>Real DOM</a:t>
            </a:r>
            <a:r>
              <a:rPr lang="en" sz="1900">
                <a:solidFill>
                  <a:srgbClr val="000000"/>
                </a:solidFill>
              </a:rPr>
              <a:t> → Browser updates only what changed.</a:t>
            </a:r>
            <a:br>
              <a:rPr lang="en" sz="1900">
                <a:solidFill>
                  <a:srgbClr val="000000"/>
                </a:solidFill>
              </a:rPr>
            </a:br>
            <a:endParaRPr sz="1900">
              <a:solidFill>
                <a:srgbClr val="000000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 b="1">
                <a:solidFill>
                  <a:srgbClr val="000000"/>
                </a:solidFill>
              </a:rPr>
              <a:t>Result</a:t>
            </a:r>
            <a:r>
              <a:rPr lang="en" sz="1900">
                <a:solidFill>
                  <a:srgbClr val="000000"/>
                </a:solidFill>
              </a:rPr>
              <a:t> → Efficient, dynamic UI inside &lt;div id="app"&gt;.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>
            <a:spLocks noGrp="1"/>
          </p:cNvSpPr>
          <p:nvPr>
            <p:ph type="title"/>
          </p:nvPr>
        </p:nvSpPr>
        <p:spPr>
          <a:xfrm>
            <a:off x="311700" y="108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Example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80" name="Google Shape;180;p35"/>
          <p:cNvSpPr txBox="1">
            <a:spLocks noGrp="1"/>
          </p:cNvSpPr>
          <p:nvPr>
            <p:ph type="body" idx="1"/>
          </p:nvPr>
        </p:nvSpPr>
        <p:spPr>
          <a:xfrm>
            <a:off x="311700" y="681225"/>
            <a:ext cx="8520600" cy="43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function Counter()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const [count, setCount] = React.useState(0);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return 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&lt;h1&gt;Count: {count}&lt;/h1&gt;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&lt;button onClick={() =&gt; setCount(count + 1)}&gt;Increase&lt;/button&gt;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FF"/>
                </a:solidFill>
              </a:rPr>
              <a:t>React Creates a Virtual DOM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186" name="Google Shape;18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{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  type: "div",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  children: [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    { type: "h1", children: "Count: 0" },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    { type: "button", children: "Increase" }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  ]</a:t>
            </a:r>
            <a:endParaRPr sz="262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962"/>
              <a:buFont typeface="Arial"/>
              <a:buNone/>
            </a:pPr>
            <a:r>
              <a:rPr lang="en" sz="2621" dirty="0">
                <a:solidFill>
                  <a:srgbClr val="000000"/>
                </a:solidFill>
              </a:rPr>
              <a:t>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>
            <a:spLocks noGrp="1"/>
          </p:cNvSpPr>
          <p:nvPr>
            <p:ph type="body" idx="1"/>
          </p:nvPr>
        </p:nvSpPr>
        <p:spPr>
          <a:xfrm>
            <a:off x="311700" y="276400"/>
            <a:ext cx="8520600" cy="47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{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type: "div",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children: [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  { type: "h1", children: "Count: 1" },   // only this part changed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  { type: "button", children: "Increase" }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  ]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}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2" name="Google Shape;192;p37"/>
          <p:cNvSpPr/>
          <p:nvPr/>
        </p:nvSpPr>
        <p:spPr>
          <a:xfrm>
            <a:off x="2812100" y="204300"/>
            <a:ext cx="5720400" cy="150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click </a:t>
            </a:r>
            <a:r>
              <a:rPr lang="en" sz="1800" b="1"/>
              <a:t>Increase</a:t>
            </a:r>
            <a:r>
              <a:rPr lang="en" sz="1800"/>
              <a:t>.</a:t>
            </a:r>
            <a:br>
              <a:rPr lang="en" sz="1800"/>
            </a:b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The 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800"/>
              <a:t> state changes from 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800"/>
              <a:t> → 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1800"/>
              <a:t>.</a:t>
            </a:r>
            <a:br>
              <a:rPr lang="en" sz="1800"/>
            </a:b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React </a:t>
            </a:r>
            <a:r>
              <a:rPr lang="en" sz="1800" b="1"/>
              <a:t>re-renders</a:t>
            </a:r>
            <a:r>
              <a:rPr lang="en" sz="1800"/>
              <a:t> the Virtual DOM with the new data.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000000"/>
                </a:solidFill>
              </a:rPr>
              <a:t>ReactDOM Updates the Real DOM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React compares the </a:t>
            </a:r>
            <a:r>
              <a:rPr lang="en" sz="2000" b="1">
                <a:solidFill>
                  <a:srgbClr val="000000"/>
                </a:solidFill>
              </a:rPr>
              <a:t>old Virtual DOM</a:t>
            </a:r>
            <a:r>
              <a:rPr lang="en" sz="2000">
                <a:solidFill>
                  <a:srgbClr val="000000"/>
                </a:solidFill>
              </a:rPr>
              <a:t> with the </a:t>
            </a:r>
            <a:r>
              <a:rPr lang="en" sz="2000" b="1">
                <a:solidFill>
                  <a:srgbClr val="000000"/>
                </a:solidFill>
              </a:rPr>
              <a:t>new Virtual DOM</a:t>
            </a:r>
            <a:r>
              <a:rPr lang="en" sz="2000">
                <a:solidFill>
                  <a:srgbClr val="000000"/>
                </a:solidFill>
              </a:rPr>
              <a:t>.</a:t>
            </a:r>
            <a:br>
              <a:rPr lang="en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It finds that only the text in &lt;h1&gt; changed (Count: 0 → Count: 1).</a:t>
            </a:r>
            <a:br>
              <a:rPr lang="en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ReactDOM updates </a:t>
            </a:r>
            <a:r>
              <a:rPr lang="en" sz="2000" b="1">
                <a:solidFill>
                  <a:srgbClr val="000000"/>
                </a:solidFill>
              </a:rPr>
              <a:t>just that part</a:t>
            </a:r>
            <a:r>
              <a:rPr lang="en" sz="2000">
                <a:solidFill>
                  <a:srgbClr val="000000"/>
                </a:solidFill>
              </a:rPr>
              <a:t> in the real DOM.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5" name="Google Shape;2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425" y="0"/>
            <a:ext cx="70422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THE PHILOSOPHY OF REACT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11" name="Google Shape;211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>
                <a:solidFill>
                  <a:schemeClr val="dk1"/>
                </a:solidFill>
              </a:rPr>
              <a:t>1. Thinking in Components</a:t>
            </a:r>
            <a:endParaRPr sz="25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React apps are built from </a:t>
            </a:r>
            <a:r>
              <a:rPr lang="en" sz="1900" b="1">
                <a:solidFill>
                  <a:schemeClr val="dk1"/>
                </a:solidFill>
              </a:rPr>
              <a:t>components</a:t>
            </a:r>
            <a:r>
              <a:rPr lang="en" sz="1900">
                <a:solidFill>
                  <a:schemeClr val="dk1"/>
                </a:solidFill>
              </a:rPr>
              <a:t> (small reusable pieces of UI).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Each component should have </a:t>
            </a:r>
            <a:r>
              <a:rPr lang="en" sz="1900" b="1">
                <a:solidFill>
                  <a:schemeClr val="dk1"/>
                </a:solidFill>
              </a:rPr>
              <a:t>one responsibility</a:t>
            </a:r>
            <a:r>
              <a:rPr lang="en" sz="1900">
                <a:solidFill>
                  <a:schemeClr val="dk1"/>
                </a:solidFill>
              </a:rPr>
              <a:t> (Single Responsibility Principle).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>
            <a:spLocks noGrp="1"/>
          </p:cNvSpPr>
          <p:nvPr>
            <p:ph type="body" idx="1"/>
          </p:nvPr>
        </p:nvSpPr>
        <p:spPr>
          <a:xfrm>
            <a:off x="311700" y="733075"/>
            <a:ext cx="8520600" cy="3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// A general Button component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function Button(props)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return &lt;button onClick={props.handleClick}&gt;{props.label}&lt;/button&gt;;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// A Submit button (special case, using the same Button)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function SubmitButton()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return &lt;Button label="Submit" handleClick={() =&gt; alert("Form Submitted!")} /&gt;;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>
            <a:spLocks noGrp="1"/>
          </p:cNvSpPr>
          <p:nvPr>
            <p:ph type="body" idx="1"/>
          </p:nvPr>
        </p:nvSpPr>
        <p:spPr>
          <a:xfrm>
            <a:off x="151254" y="123753"/>
            <a:ext cx="8681046" cy="4923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5663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16"/>
              <a:buChar char="●"/>
            </a:pPr>
            <a:r>
              <a:rPr lang="en" sz="2016" dirty="0">
                <a:solidFill>
                  <a:srgbClr val="000000"/>
                </a:solidFill>
              </a:rPr>
              <a:t>Button is a </a:t>
            </a:r>
            <a:r>
              <a:rPr lang="en" sz="2016" b="1" dirty="0">
                <a:solidFill>
                  <a:srgbClr val="000000"/>
                </a:solidFill>
              </a:rPr>
              <a:t>reusable component</a:t>
            </a:r>
            <a:r>
              <a:rPr lang="en" sz="2016" dirty="0">
                <a:solidFill>
                  <a:srgbClr val="000000"/>
                </a:solidFill>
              </a:rPr>
              <a:t>.</a:t>
            </a:r>
            <a:br>
              <a:rPr lang="en" sz="2016" dirty="0">
                <a:solidFill>
                  <a:srgbClr val="000000"/>
                </a:solidFill>
              </a:rPr>
            </a:br>
            <a:endParaRPr sz="2016" dirty="0">
              <a:solidFill>
                <a:srgbClr val="000000"/>
              </a:solidFill>
            </a:endParaRPr>
          </a:p>
          <a:p>
            <a:pPr marL="457200" lvl="0" indent="-35663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6"/>
              <a:buChar char="●"/>
            </a:pPr>
            <a:r>
              <a:rPr lang="en" sz="2016" dirty="0">
                <a:solidFill>
                  <a:srgbClr val="000000"/>
                </a:solidFill>
              </a:rPr>
              <a:t>It takes </a:t>
            </a:r>
            <a:r>
              <a:rPr lang="en" sz="2016" b="1" dirty="0">
                <a:solidFill>
                  <a:srgbClr val="000000"/>
                </a:solidFill>
              </a:rPr>
              <a:t>props</a:t>
            </a:r>
            <a:r>
              <a:rPr lang="en" sz="2016" dirty="0">
                <a:solidFill>
                  <a:srgbClr val="000000"/>
                </a:solidFill>
              </a:rPr>
              <a:t> (parameters) from outside:</a:t>
            </a:r>
            <a:br>
              <a:rPr lang="en" sz="2016" dirty="0">
                <a:solidFill>
                  <a:srgbClr val="000000"/>
                </a:solidFill>
              </a:rPr>
            </a:br>
            <a:endParaRPr sz="2016" dirty="0">
              <a:solidFill>
                <a:srgbClr val="000000"/>
              </a:solidFill>
            </a:endParaRPr>
          </a:p>
          <a:p>
            <a:pPr marL="914400" lvl="1" indent="-35663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6"/>
              <a:buChar char="○"/>
            </a:pPr>
            <a:r>
              <a:rPr lang="en" sz="2016" dirty="0">
                <a:solidFill>
                  <a:srgbClr val="000000"/>
                </a:solidFill>
              </a:rPr>
              <a:t>props.label → what text should appear inside the button.</a:t>
            </a:r>
            <a:br>
              <a:rPr lang="en" sz="2016" dirty="0">
                <a:solidFill>
                  <a:srgbClr val="000000"/>
                </a:solidFill>
              </a:rPr>
            </a:br>
            <a:endParaRPr sz="2016" dirty="0">
              <a:solidFill>
                <a:srgbClr val="000000"/>
              </a:solidFill>
            </a:endParaRPr>
          </a:p>
          <a:p>
            <a:pPr marL="914400" lvl="1" indent="-35663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6"/>
              <a:buChar char="○"/>
            </a:pPr>
            <a:r>
              <a:rPr lang="en" sz="2016" dirty="0">
                <a:solidFill>
                  <a:srgbClr val="000000"/>
                </a:solidFill>
              </a:rPr>
              <a:t>props.handleClick → what function should run when the button is clicked.</a:t>
            </a:r>
            <a:br>
              <a:rPr lang="en" sz="2016" dirty="0">
                <a:solidFill>
                  <a:srgbClr val="000000"/>
                </a:solidFill>
              </a:rPr>
            </a:br>
            <a:endParaRPr sz="2016" dirty="0">
              <a:solidFill>
                <a:srgbClr val="000000"/>
              </a:solidFill>
            </a:endParaRPr>
          </a:p>
          <a:p>
            <a:pPr marL="457200" lvl="0" indent="-35663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6"/>
              <a:buChar char="●"/>
            </a:pPr>
            <a:r>
              <a:rPr lang="en" sz="2016" b="1" dirty="0">
                <a:solidFill>
                  <a:srgbClr val="000000"/>
                </a:solidFill>
              </a:rPr>
              <a:t>Example:</a:t>
            </a:r>
            <a:br>
              <a:rPr lang="en" sz="2016" dirty="0">
                <a:solidFill>
                  <a:srgbClr val="000000"/>
                </a:solidFill>
              </a:rPr>
            </a:br>
            <a:endParaRPr sz="2016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16" b="1" dirty="0">
                <a:solidFill>
                  <a:srgbClr val="9900FF"/>
                </a:solidFill>
              </a:rPr>
              <a:t>&lt;Button label="Cancel" handleClick={() =&gt; alert("Cancelled!")} /&gt;</a:t>
            </a:r>
            <a:endParaRPr sz="2016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16" dirty="0">
                <a:solidFill>
                  <a:srgbClr val="000000"/>
                </a:solidFill>
              </a:rPr>
              <a:t> This would create a button that says </a:t>
            </a:r>
            <a:r>
              <a:rPr lang="en" sz="2016" b="1" dirty="0">
                <a:solidFill>
                  <a:srgbClr val="000000"/>
                </a:solidFill>
              </a:rPr>
              <a:t>Cancel</a:t>
            </a:r>
            <a:r>
              <a:rPr lang="en" sz="2016" dirty="0">
                <a:solidFill>
                  <a:srgbClr val="000000"/>
                </a:solidFill>
              </a:rPr>
              <a:t> and shows an alert when clicked.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>
            <a:spLocks noGrp="1"/>
          </p:cNvSpPr>
          <p:nvPr>
            <p:ph type="body" idx="1"/>
          </p:nvPr>
        </p:nvSpPr>
        <p:spPr>
          <a:xfrm>
            <a:off x="311700" y="360525"/>
            <a:ext cx="8520600" cy="45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Submit Button Component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function SubmitButton()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return &lt;Button label="Submit" handleClick={() =&gt; alert("Form Submitted!")} /&gt;;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Here, instead of writing a </a:t>
            </a:r>
            <a:r>
              <a:rPr lang="en" b="1">
                <a:solidFill>
                  <a:srgbClr val="000000"/>
                </a:solidFill>
              </a:rPr>
              <a:t>new button from scratch</a:t>
            </a:r>
            <a:r>
              <a:rPr lang="en">
                <a:solidFill>
                  <a:srgbClr val="000000"/>
                </a:solidFill>
              </a:rPr>
              <a:t>, we reuse the Button component.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We </a:t>
            </a:r>
            <a:r>
              <a:rPr lang="en" b="1">
                <a:solidFill>
                  <a:srgbClr val="000000"/>
                </a:solidFill>
              </a:rPr>
              <a:t>pass specific props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label="Submit" → text on the button is </a:t>
            </a:r>
            <a:r>
              <a:rPr lang="en" b="1">
                <a:solidFill>
                  <a:srgbClr val="000000"/>
                </a:solidFill>
              </a:rPr>
              <a:t>Submit</a:t>
            </a:r>
            <a:r>
              <a:rPr lang="en">
                <a:solidFill>
                  <a:srgbClr val="000000"/>
                </a:solidFill>
              </a:rPr>
              <a:t>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handleClick={() =&gt; alert("Form Submitted!")} → when clicked, it shows “Form Submitted!”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00"/>
                </a:solidFill>
              </a:rPr>
              <a:t>Without React, you’d probably write a new &lt;button&gt; every time with its own logic.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00"/>
                </a:solidFill>
              </a:rPr>
              <a:t>With React, you make </a:t>
            </a:r>
            <a:r>
              <a:rPr lang="en" sz="1900" b="1">
                <a:solidFill>
                  <a:srgbClr val="000000"/>
                </a:solidFill>
              </a:rPr>
              <a:t>one general Button</a:t>
            </a:r>
            <a:r>
              <a:rPr lang="en" sz="1900">
                <a:solidFill>
                  <a:srgbClr val="000000"/>
                </a:solidFill>
              </a:rPr>
              <a:t> → then reuse it by passing </a:t>
            </a:r>
            <a:r>
              <a:rPr lang="en" sz="1900" b="1">
                <a:solidFill>
                  <a:srgbClr val="000000"/>
                </a:solidFill>
              </a:rPr>
              <a:t>different props.</a:t>
            </a:r>
            <a:endParaRPr sz="19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00"/>
                </a:solidFill>
              </a:rPr>
              <a:t>This follows the </a:t>
            </a:r>
            <a:r>
              <a:rPr lang="en" sz="1900" b="1">
                <a:solidFill>
                  <a:srgbClr val="000000"/>
                </a:solidFill>
              </a:rPr>
              <a:t>composition philosophy</a:t>
            </a:r>
            <a:r>
              <a:rPr lang="en" sz="1900">
                <a:solidFill>
                  <a:srgbClr val="000000"/>
                </a:solidFill>
              </a:rPr>
              <a:t> → build specific components by reusing general ones.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>
            <a:spLocks noGrp="1"/>
          </p:cNvSpPr>
          <p:nvPr>
            <p:ph type="title"/>
          </p:nvPr>
        </p:nvSpPr>
        <p:spPr>
          <a:xfrm>
            <a:off x="311700" y="48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Composition vs. Inheritance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38" name="Google Shape;238;p45"/>
          <p:cNvSpPr txBox="1">
            <a:spLocks noGrp="1"/>
          </p:cNvSpPr>
          <p:nvPr>
            <p:ph type="body" idx="1"/>
          </p:nvPr>
        </p:nvSpPr>
        <p:spPr>
          <a:xfrm>
            <a:off x="311700" y="621150"/>
            <a:ext cx="8761500" cy="4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lang="en" b="1">
                <a:solidFill>
                  <a:schemeClr val="dk1"/>
                </a:solidFill>
              </a:rPr>
              <a:t>Object-Oriented Programming (OOP)</a:t>
            </a:r>
            <a:r>
              <a:rPr lang="en">
                <a:solidFill>
                  <a:schemeClr val="dk1"/>
                </a:solidFill>
              </a:rPr>
              <a:t>, we often use </a:t>
            </a:r>
            <a:r>
              <a:rPr lang="en" b="1">
                <a:solidFill>
                  <a:schemeClr val="dk1"/>
                </a:solidFill>
              </a:rPr>
              <a:t>inheritance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Example in pseudo-code (Java / C++ style):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 Button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void render()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System.out.println("General Button");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39" name="Google Shape;239;p45"/>
          <p:cNvSpPr txBox="1"/>
          <p:nvPr/>
        </p:nvSpPr>
        <p:spPr>
          <a:xfrm>
            <a:off x="4554650" y="1862725"/>
            <a:ext cx="4386300" cy="3088500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class SubmitButton extends Button {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void render() {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System.out.println("Submit Button");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}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Imagine you are building a website with many types of buttons:</a:t>
            </a:r>
            <a:endParaRPr dirty="0"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>
                <a:solidFill>
                  <a:srgbClr val="000000"/>
                </a:solidFill>
              </a:rPr>
              <a:t>Submit button</a:t>
            </a:r>
            <a:br>
              <a:rPr lang="en" dirty="0">
                <a:solidFill>
                  <a:srgbClr val="000000"/>
                </a:solidFill>
              </a:rPr>
            </a:br>
            <a:endParaRPr dirty="0"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>
                <a:solidFill>
                  <a:srgbClr val="000000"/>
                </a:solidFill>
              </a:rPr>
              <a:t>Cancel button</a:t>
            </a:r>
            <a:br>
              <a:rPr lang="en" dirty="0">
                <a:solidFill>
                  <a:srgbClr val="000000"/>
                </a:solidFill>
              </a:rPr>
            </a:br>
            <a:endParaRPr dirty="0"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>
                <a:solidFill>
                  <a:srgbClr val="000000"/>
                </a:solidFill>
              </a:rPr>
              <a:t>Login button</a:t>
            </a:r>
            <a:br>
              <a:rPr lang="en" dirty="0">
                <a:solidFill>
                  <a:srgbClr val="000000"/>
                </a:solidFill>
              </a:rPr>
            </a:br>
            <a:endParaRPr dirty="0"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dirty="0">
                <a:solidFill>
                  <a:srgbClr val="000000"/>
                </a:solidFill>
              </a:rPr>
              <a:t>Logout button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46" name="Google Shape;246;p46"/>
          <p:cNvSpPr txBox="1"/>
          <p:nvPr/>
        </p:nvSpPr>
        <p:spPr>
          <a:xfrm>
            <a:off x="2655875" y="1766575"/>
            <a:ext cx="6044700" cy="3100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You have to make a </a:t>
            </a:r>
            <a:r>
              <a:rPr lang="en" sz="1800" b="1">
                <a:solidFill>
                  <a:schemeClr val="dk1"/>
                </a:solidFill>
              </a:rPr>
              <a:t>new child class</a:t>
            </a:r>
            <a:r>
              <a:rPr lang="en" sz="1800">
                <a:solidFill>
                  <a:schemeClr val="dk1"/>
                </a:solidFill>
              </a:rPr>
              <a:t> for every different type of button.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If you want to add one more (e.g., “Download Button”), you must create another class.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</a:rPr>
              <a:t>This becomes </a:t>
            </a:r>
            <a:r>
              <a:rPr lang="en" sz="1800" b="1">
                <a:solidFill>
                  <a:schemeClr val="dk1"/>
                </a:solidFill>
              </a:rPr>
              <a:t>too many files, too much repetition</a:t>
            </a:r>
            <a:r>
              <a:rPr lang="en" sz="1800">
                <a:solidFill>
                  <a:schemeClr val="dk1"/>
                </a:solidFill>
              </a:rPr>
              <a:t>, and is </a:t>
            </a:r>
            <a:r>
              <a:rPr lang="en" sz="1800" b="1">
                <a:solidFill>
                  <a:schemeClr val="dk1"/>
                </a:solidFill>
              </a:rPr>
              <a:t>hard to maintain</a:t>
            </a:r>
            <a:r>
              <a:rPr lang="en" sz="18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>
                <a:solidFill>
                  <a:schemeClr val="dk1"/>
                </a:solidFill>
              </a:rPr>
              <a:t>The React Way (Composition + Props)</a:t>
            </a:r>
            <a:endParaRPr sz="2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React avoids this problem. Instead of creating a </a:t>
            </a:r>
            <a:r>
              <a:rPr lang="en" sz="1900" b="1">
                <a:solidFill>
                  <a:schemeClr val="dk1"/>
                </a:solidFill>
              </a:rPr>
              <a:t>new child class every time</a:t>
            </a:r>
            <a:r>
              <a:rPr lang="en" sz="1900">
                <a:solidFill>
                  <a:schemeClr val="dk1"/>
                </a:solidFill>
              </a:rPr>
              <a:t>, you just make </a:t>
            </a:r>
            <a:r>
              <a:rPr lang="en" sz="1900" b="1">
                <a:solidFill>
                  <a:schemeClr val="dk1"/>
                </a:solidFill>
              </a:rPr>
              <a:t>one general Button</a:t>
            </a:r>
            <a:r>
              <a:rPr lang="en" sz="1900">
                <a:solidFill>
                  <a:schemeClr val="dk1"/>
                </a:solidFill>
              </a:rPr>
              <a:t> and customize it using </a:t>
            </a:r>
            <a:r>
              <a:rPr lang="en" sz="1900" b="1">
                <a:solidFill>
                  <a:schemeClr val="dk1"/>
                </a:solidFill>
              </a:rPr>
              <a:t>props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>
            <a:spLocks noGrp="1"/>
          </p:cNvSpPr>
          <p:nvPr>
            <p:ph type="body" idx="1"/>
          </p:nvPr>
        </p:nvSpPr>
        <p:spPr>
          <a:xfrm>
            <a:off x="311700" y="252375"/>
            <a:ext cx="8520600" cy="47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function Button(props) {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return &lt;button onClick={props.handleClick}&gt;{props.label}&lt;/button&gt;;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}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// Specific cases using the same Button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function App() {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return (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&lt;div&gt;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  &lt;Button label="Submit" handleClick={() =&gt; alert("Form Submitted!")} /&gt;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  &lt;Button label="Cancel" handleClick={() =&gt; alert("Cancelled!")} /&gt;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  &lt;Button label="Login" handleClick={() =&gt; alert("Logged In!")} /&gt;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  &lt;Button label="Logout" handleClick={() =&gt; alert("Logged Out!")} /&gt;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  &lt;/div&gt;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358"/>
              <a:buFont typeface="Arial"/>
              <a:buNone/>
            </a:pPr>
            <a:r>
              <a:rPr lang="en" sz="2142" b="1">
                <a:solidFill>
                  <a:srgbClr val="000000"/>
                </a:solidFill>
              </a:rPr>
              <a:t>  );</a:t>
            </a:r>
            <a:endParaRPr sz="2142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42" b="1">
                <a:solidFill>
                  <a:srgbClr val="000000"/>
                </a:solidFill>
              </a:rPr>
              <a:t>}</a:t>
            </a:r>
            <a:endParaRPr b="1"/>
          </a:p>
        </p:txBody>
      </p:sp>
      <p:sp>
        <p:nvSpPr>
          <p:cNvPr id="258" name="Google Shape;258;p48"/>
          <p:cNvSpPr txBox="1"/>
          <p:nvPr/>
        </p:nvSpPr>
        <p:spPr>
          <a:xfrm>
            <a:off x="3521125" y="997450"/>
            <a:ext cx="5191500" cy="1321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Only </a:t>
            </a:r>
            <a:r>
              <a:rPr lang="en" b="1">
                <a:solidFill>
                  <a:schemeClr val="dk1"/>
                </a:solidFill>
              </a:rPr>
              <a:t>one Button component</a:t>
            </a:r>
            <a:r>
              <a:rPr lang="en">
                <a:solidFill>
                  <a:schemeClr val="dk1"/>
                </a:solidFill>
              </a:rPr>
              <a:t> exists.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Different types (Submit, Cancel, Login, Logout) are created by </a:t>
            </a:r>
            <a:r>
              <a:rPr lang="en" b="1">
                <a:solidFill>
                  <a:schemeClr val="dk1"/>
                </a:solidFill>
              </a:rPr>
              <a:t>changing props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duplicate classes. No huge inheritance tree. Easy to maintain.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React Is Declarative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4" name="Google Shape;264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Imperative Programming (Step by Step Instructions)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In imperative programming, you tell the computer </a:t>
            </a:r>
            <a:r>
              <a:rPr lang="en" b="1">
                <a:solidFill>
                  <a:srgbClr val="000000"/>
                </a:solidFill>
              </a:rPr>
              <a:t>exactly how to do something</a:t>
            </a:r>
            <a:r>
              <a:rPr lang="en">
                <a:solidFill>
                  <a:srgbClr val="000000"/>
                </a:solidFill>
              </a:rPr>
              <a:t>, step by step.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 Example with jQuery: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&lt;p id="para1"&gt;Old text&lt;/p&gt;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&lt;script&gt;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// Imperative approach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$('#para1').html('&lt;p&gt;This is the new paragraph.&lt;/p&gt;');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&lt;/script&gt;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0"/>
          <p:cNvSpPr txBox="1">
            <a:spLocks noGrp="1"/>
          </p:cNvSpPr>
          <p:nvPr>
            <p:ph type="body" idx="1"/>
          </p:nvPr>
        </p:nvSpPr>
        <p:spPr>
          <a:xfrm>
            <a:off x="311700" y="324475"/>
            <a:ext cx="8520600" cy="47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rgbClr val="000000"/>
                </a:solidFill>
              </a:rPr>
              <a:t>Explanation: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You tell the browser:</a:t>
            </a:r>
            <a:endParaRPr sz="1500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en" sz="1500">
                <a:solidFill>
                  <a:srgbClr val="000000"/>
                </a:solidFill>
              </a:rPr>
              <a:t>Go find the element with id="para1".</a:t>
            </a:r>
            <a:endParaRPr sz="1500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en" sz="1500">
                <a:solidFill>
                  <a:srgbClr val="000000"/>
                </a:solidFill>
              </a:rPr>
              <a:t>Replace its inner HTML with new text.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You (the programmer) are in charge of </a:t>
            </a:r>
            <a:r>
              <a:rPr lang="en" sz="1500" b="1">
                <a:solidFill>
                  <a:srgbClr val="000000"/>
                </a:solidFill>
              </a:rPr>
              <a:t>how</a:t>
            </a:r>
            <a:r>
              <a:rPr lang="en" sz="1500">
                <a:solidFill>
                  <a:srgbClr val="000000"/>
                </a:solidFill>
              </a:rPr>
              <a:t> the DOM changes.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This is like telling a robot: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Walk to the bread.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Open the bag.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Take out two slices.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Find a knife… etc.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chemeClr val="dk1"/>
                </a:solidFill>
              </a:rPr>
              <a:t>Declarative Programming (Describe the End Result)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In declarative programming, you just </a:t>
            </a:r>
            <a:r>
              <a:rPr lang="en" sz="1600" b="1">
                <a:solidFill>
                  <a:schemeClr val="dk1"/>
                </a:solidFill>
              </a:rPr>
              <a:t>describe what you want</a:t>
            </a:r>
            <a:r>
              <a:rPr lang="en" sz="1600">
                <a:solidFill>
                  <a:schemeClr val="dk1"/>
                </a:solidFill>
              </a:rPr>
              <a:t>, not how to do it.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The system (React in this case) figures out the steps.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Example with </a:t>
            </a:r>
            <a:r>
              <a:rPr lang="en" sz="1600" b="1">
                <a:solidFill>
                  <a:schemeClr val="dk1"/>
                </a:solidFill>
              </a:rPr>
              <a:t>React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function App() {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return &lt;p&gt;This is the new paragraph.&lt;/p&gt;;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Explanation: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don’t manually find the paragraph or replace text.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just say: </a:t>
            </a:r>
            <a:r>
              <a:rPr lang="en" sz="1500" b="1">
                <a:solidFill>
                  <a:schemeClr val="dk1"/>
                </a:solidFill>
              </a:rPr>
              <a:t>“The UI should look like this.”</a:t>
            </a:r>
            <a:br>
              <a:rPr lang="en" sz="1500" b="1">
                <a:solidFill>
                  <a:schemeClr val="dk1"/>
                </a:solidFill>
              </a:rPr>
            </a:b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React compares old UI vs new UI using the </a:t>
            </a:r>
            <a:r>
              <a:rPr lang="en" sz="1500" b="1">
                <a:solidFill>
                  <a:schemeClr val="dk1"/>
                </a:solidFill>
              </a:rPr>
              <a:t>Virtual DOM</a:t>
            </a:r>
            <a:r>
              <a:rPr lang="en" sz="1500">
                <a:solidFill>
                  <a:schemeClr val="dk1"/>
                </a:solidFill>
              </a:rPr>
              <a:t> and updates only what’s changed.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This is like telling a robot: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“Make me a peanut butter sandwich.”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The robot already knows the steps, so you don’t have to explain them.</a:t>
            </a:r>
            <a:endParaRPr sz="2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8" name="Google Shape;28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3346"/>
            <a:ext cx="9144001" cy="3696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FF"/>
                </a:solidFill>
              </a:rPr>
              <a:t>React Is Idiomatic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294" name="Google Shape;29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React is </a:t>
            </a:r>
            <a:r>
              <a:rPr lang="en" sz="1900" b="1">
                <a:solidFill>
                  <a:schemeClr val="dk1"/>
                </a:solidFill>
              </a:rPr>
              <a:t>just JavaScript</a:t>
            </a:r>
            <a:r>
              <a:rPr lang="en" sz="1900">
                <a:solidFill>
                  <a:schemeClr val="dk1"/>
                </a:solidFill>
              </a:rPr>
              <a:t> with a small set of extra tools.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If you already know JavaScript, React won’t feel alien — it uses familiar patterns.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The more </a:t>
            </a:r>
            <a:r>
              <a:rPr lang="en" sz="1900" b="1">
                <a:solidFill>
                  <a:schemeClr val="dk1"/>
                </a:solidFill>
              </a:rPr>
              <a:t>JavaScript features</a:t>
            </a:r>
            <a:r>
              <a:rPr lang="en" sz="1900">
                <a:solidFill>
                  <a:schemeClr val="dk1"/>
                </a:solidFill>
              </a:rPr>
              <a:t> you learn (functions, objects, ES6+, arrow functions, destructuring, classes), the better you get at React.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5"/>
          <p:cNvSpPr txBox="1">
            <a:spLocks noGrp="1"/>
          </p:cNvSpPr>
          <p:nvPr>
            <p:ph type="title"/>
          </p:nvPr>
        </p:nvSpPr>
        <p:spPr>
          <a:xfrm>
            <a:off x="311700" y="120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sp>
        <p:nvSpPr>
          <p:cNvPr id="300" name="Google Shape;300;p55"/>
          <p:cNvSpPr txBox="1">
            <a:spLocks noGrp="1"/>
          </p:cNvSpPr>
          <p:nvPr>
            <p:ph type="body" idx="1"/>
          </p:nvPr>
        </p:nvSpPr>
        <p:spPr>
          <a:xfrm>
            <a:off x="263625" y="611675"/>
            <a:ext cx="8520600" cy="4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function greet(name) {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  return "Hello, " + name;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}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console.log(greet(“Anitha")); // Hello, Anitha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00000"/>
                </a:solidFill>
              </a:rPr>
              <a:t>React component (same idea, just returns JSX):</a:t>
            </a:r>
            <a:endParaRPr sz="21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function Greet(props) {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  return &lt;h1&gt;Hello, {props.name}&lt;/h1&gt;;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}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34">
                <a:solidFill>
                  <a:srgbClr val="000000"/>
                </a:solidFill>
              </a:rPr>
              <a:t>Both are </a:t>
            </a:r>
            <a:r>
              <a:rPr lang="en" sz="1834" b="1">
                <a:solidFill>
                  <a:srgbClr val="000000"/>
                </a:solidFill>
              </a:rPr>
              <a:t>functions</a:t>
            </a:r>
            <a:r>
              <a:rPr lang="en" sz="1834">
                <a:solidFill>
                  <a:srgbClr val="000000"/>
                </a:solidFill>
              </a:rPr>
              <a:t>.</a:t>
            </a:r>
            <a:endParaRPr sz="1834">
              <a:solidFill>
                <a:srgbClr val="000000"/>
              </a:solidFill>
            </a:endParaRPr>
          </a:p>
          <a:p>
            <a:pPr marL="457200" lvl="0" indent="-3450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34"/>
              <a:buChar char="●"/>
            </a:pPr>
            <a:r>
              <a:rPr lang="en" sz="1834">
                <a:solidFill>
                  <a:srgbClr val="000000"/>
                </a:solidFill>
              </a:rPr>
              <a:t>One returns a </a:t>
            </a:r>
            <a:r>
              <a:rPr lang="en" sz="1834" b="1">
                <a:solidFill>
                  <a:srgbClr val="000000"/>
                </a:solidFill>
              </a:rPr>
              <a:t>string</a:t>
            </a:r>
            <a:r>
              <a:rPr lang="en" sz="1834">
                <a:solidFill>
                  <a:srgbClr val="000000"/>
                </a:solidFill>
              </a:rPr>
              <a:t> ("Hello, Shruti") → normal JS.</a:t>
            </a:r>
            <a:br>
              <a:rPr lang="en" sz="1834">
                <a:solidFill>
                  <a:srgbClr val="000000"/>
                </a:solidFill>
              </a:rPr>
            </a:br>
            <a:endParaRPr sz="1834">
              <a:solidFill>
                <a:srgbClr val="000000"/>
              </a:solidFill>
            </a:endParaRPr>
          </a:p>
          <a:p>
            <a:pPr marL="457200" lvl="0" indent="-3450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Char char="●"/>
            </a:pPr>
            <a:r>
              <a:rPr lang="en" sz="1834">
                <a:solidFill>
                  <a:srgbClr val="000000"/>
                </a:solidFill>
              </a:rPr>
              <a:t>One returns </a:t>
            </a:r>
            <a:r>
              <a:rPr lang="en" sz="1834" b="1">
                <a:solidFill>
                  <a:srgbClr val="000000"/>
                </a:solidFill>
              </a:rPr>
              <a:t>JSX</a:t>
            </a:r>
            <a:r>
              <a:rPr lang="en" sz="1834">
                <a:solidFill>
                  <a:srgbClr val="000000"/>
                </a:solidFill>
              </a:rPr>
              <a:t> (&lt;h1&gt;Hello, Shruti&lt;/h1&gt;) → React.</a:t>
            </a:r>
            <a:br>
              <a:rPr lang="en" sz="1834">
                <a:solidFill>
                  <a:srgbClr val="000000"/>
                </a:solidFill>
              </a:rPr>
            </a:br>
            <a:endParaRPr sz="1834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34">
                <a:solidFill>
                  <a:srgbClr val="000000"/>
                </a:solidFill>
              </a:rPr>
              <a:t>So, React components are </a:t>
            </a:r>
            <a:r>
              <a:rPr lang="en" sz="1834" b="1">
                <a:solidFill>
                  <a:srgbClr val="000000"/>
                </a:solidFill>
              </a:rPr>
              <a:t>just functions in JavaScript</a:t>
            </a:r>
            <a:r>
              <a:rPr lang="en" sz="1834">
                <a:solidFill>
                  <a:srgbClr val="000000"/>
                </a:solidFill>
              </a:rPr>
              <a:t>.</a:t>
            </a:r>
            <a:br>
              <a:rPr lang="en" sz="1834">
                <a:solidFill>
                  <a:srgbClr val="000000"/>
                </a:solidFill>
              </a:rPr>
            </a:br>
            <a:r>
              <a:rPr lang="en" sz="1834">
                <a:solidFill>
                  <a:srgbClr val="000000"/>
                </a:solidFill>
              </a:rPr>
              <a:t> That’s why it’s called </a:t>
            </a:r>
            <a:r>
              <a:rPr lang="en" sz="1834" b="1">
                <a:solidFill>
                  <a:srgbClr val="000000"/>
                </a:solidFill>
              </a:rPr>
              <a:t>idiomatic</a:t>
            </a:r>
            <a:r>
              <a:rPr lang="en" sz="1834">
                <a:solidFill>
                  <a:srgbClr val="000000"/>
                </a:solidFill>
              </a:rPr>
              <a:t> → looks natural if you already know JS.</a:t>
            </a:r>
            <a:endParaRPr sz="1834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React vs Angular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12" name="Google Shape;312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1. Library vs Framework</a:t>
            </a:r>
            <a:endParaRPr sz="20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: Just a </a:t>
            </a:r>
            <a:r>
              <a:rPr lang="en" b="1">
                <a:solidFill>
                  <a:schemeClr val="dk1"/>
                </a:solidFill>
              </a:rPr>
              <a:t>library</a:t>
            </a:r>
            <a:r>
              <a:rPr lang="en">
                <a:solidFill>
                  <a:schemeClr val="dk1"/>
                </a:solidFill>
              </a:rPr>
              <a:t> (a tool) for building UI with components.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Like Lego blocks — you choose what other tools you need.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Angular</a:t>
            </a:r>
            <a:r>
              <a:rPr lang="en">
                <a:solidFill>
                  <a:schemeClr val="dk1"/>
                </a:solidFill>
              </a:rPr>
              <a:t>: A </a:t>
            </a:r>
            <a:r>
              <a:rPr lang="en" b="1">
                <a:solidFill>
                  <a:schemeClr val="dk1"/>
                </a:solidFill>
              </a:rPr>
              <a:t>framework</a:t>
            </a:r>
            <a:r>
              <a:rPr lang="en">
                <a:solidFill>
                  <a:schemeClr val="dk1"/>
                </a:solidFill>
              </a:rPr>
              <a:t> (full system) with everything built-in (routing, forms, HTTP, etc.).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Like a full Lego kit — you get everything, but it’s heavier and has rules.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8"/>
          <p:cNvSpPr txBox="1">
            <a:spLocks noGrp="1"/>
          </p:cNvSpPr>
          <p:nvPr>
            <p:ph type="body" idx="1"/>
          </p:nvPr>
        </p:nvSpPr>
        <p:spPr>
          <a:xfrm>
            <a:off x="311700" y="396575"/>
            <a:ext cx="8520600" cy="4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2. Learning Curve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: Easier to start (just JavaScript + JSX).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Angular</a:t>
            </a:r>
            <a:r>
              <a:rPr lang="en">
                <a:solidFill>
                  <a:schemeClr val="dk1"/>
                </a:solidFill>
              </a:rPr>
              <a:t>: Harder to start → you must also learn </a:t>
            </a:r>
            <a:r>
              <a:rPr lang="en" b="1">
                <a:solidFill>
                  <a:schemeClr val="dk1"/>
                </a:solidFill>
              </a:rPr>
              <a:t>TypeScript</a:t>
            </a:r>
            <a:r>
              <a:rPr lang="en">
                <a:solidFill>
                  <a:schemeClr val="dk1"/>
                </a:solidFill>
              </a:rPr>
              <a:t> and Angular’s rules.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3. DOM Handling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: Uses </a:t>
            </a:r>
            <a:r>
              <a:rPr lang="en" b="1">
                <a:solidFill>
                  <a:schemeClr val="dk1"/>
                </a:solidFill>
              </a:rPr>
              <a:t>Virtual DOM</a:t>
            </a:r>
            <a:r>
              <a:rPr lang="en">
                <a:solidFill>
                  <a:schemeClr val="dk1"/>
                </a:solidFill>
              </a:rPr>
              <a:t> (makes updates fast).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Angular</a:t>
            </a:r>
            <a:r>
              <a:rPr lang="en">
                <a:solidFill>
                  <a:schemeClr val="dk1"/>
                </a:solidFill>
              </a:rPr>
              <a:t>: Uses </a:t>
            </a:r>
            <a:r>
              <a:rPr lang="en" b="1">
                <a:solidFill>
                  <a:schemeClr val="dk1"/>
                </a:solidFill>
              </a:rPr>
              <a:t>Real DOM + Change Detection</a:t>
            </a:r>
            <a:r>
              <a:rPr lang="en">
                <a:solidFill>
                  <a:schemeClr val="dk1"/>
                </a:solidFill>
              </a:rPr>
              <a:t> (updates directly but can be slower).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9"/>
          <p:cNvSpPr txBox="1">
            <a:spLocks noGrp="1"/>
          </p:cNvSpPr>
          <p:nvPr>
            <p:ph type="body" idx="1"/>
          </p:nvPr>
        </p:nvSpPr>
        <p:spPr>
          <a:xfrm>
            <a:off x="311700" y="300450"/>
            <a:ext cx="8520600" cy="47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000000"/>
                </a:solidFill>
              </a:rPr>
              <a:t>With Angular (Real DOM + Change Detection):</a:t>
            </a:r>
            <a:endParaRPr sz="19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dirty="0">
                <a:solidFill>
                  <a:srgbClr val="000000"/>
                </a:solidFill>
              </a:rPr>
              <a:t>Angular makes this automatic using </a:t>
            </a:r>
            <a:r>
              <a:rPr lang="en" sz="1900" b="1" dirty="0">
                <a:solidFill>
                  <a:srgbClr val="000000"/>
                </a:solidFill>
              </a:rPr>
              <a:t>two-way data binding</a:t>
            </a:r>
            <a:r>
              <a:rPr lang="en" sz="1900" dirty="0">
                <a:solidFill>
                  <a:srgbClr val="000000"/>
                </a:solidFill>
              </a:rPr>
              <a:t> ([(ngModel)]).</a:t>
            </a:r>
            <a:endParaRPr sz="19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9900FF"/>
                </a:solidFill>
              </a:rPr>
              <a:t>&lt;input [(ngModel)]="username" placeholder="Type your name"&gt;</a:t>
            </a:r>
            <a:endParaRPr sz="1900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9900FF"/>
                </a:solidFill>
              </a:rPr>
              <a:t>&lt;p&gt;Hello {{username}}&lt;/p&gt;</a:t>
            </a:r>
            <a:endParaRPr sz="1900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000000"/>
                </a:solidFill>
              </a:rPr>
              <a:t>And in Angular’s component code:</a:t>
            </a:r>
            <a:endParaRPr sz="19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9900FF"/>
                </a:solidFill>
              </a:rPr>
              <a:t>export class AppComponent {</a:t>
            </a:r>
            <a:endParaRPr sz="1900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9900FF"/>
                </a:solidFill>
              </a:rPr>
              <a:t>  username: string = "";</a:t>
            </a:r>
            <a:endParaRPr sz="1900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9900FF"/>
                </a:solidFill>
              </a:rPr>
              <a:t>}</a:t>
            </a:r>
            <a:endParaRPr sz="1900" b="1" dirty="0">
              <a:solidFill>
                <a:srgbClr val="99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23" name="Google Shape;323;p59"/>
          <p:cNvSpPr txBox="1"/>
          <p:nvPr/>
        </p:nvSpPr>
        <p:spPr>
          <a:xfrm>
            <a:off x="4470525" y="2355425"/>
            <a:ext cx="4590600" cy="2667900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dirty="0">
                <a:solidFill>
                  <a:schemeClr val="dk1"/>
                </a:solidFill>
              </a:rPr>
              <a:t>Angular watches (detects changes) in the username variable.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dirty="0">
                <a:solidFill>
                  <a:schemeClr val="dk1"/>
                </a:solidFill>
              </a:rPr>
              <a:t>If the </a:t>
            </a:r>
            <a:r>
              <a:rPr lang="en" sz="1500" b="1" dirty="0">
                <a:solidFill>
                  <a:schemeClr val="dk1"/>
                </a:solidFill>
              </a:rPr>
              <a:t>model changes</a:t>
            </a:r>
            <a:r>
              <a:rPr lang="en" sz="1500" dirty="0">
                <a:solidFill>
                  <a:schemeClr val="dk1"/>
                </a:solidFill>
              </a:rPr>
              <a:t> (username = “Anitha"), Angular updates the &lt;p&gt; automatically.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 dirty="0">
                <a:solidFill>
                  <a:schemeClr val="dk1"/>
                </a:solidFill>
              </a:rPr>
              <a:t>If the </a:t>
            </a:r>
            <a:r>
              <a:rPr lang="en" sz="1500" b="1" dirty="0">
                <a:solidFill>
                  <a:schemeClr val="dk1"/>
                </a:solidFill>
              </a:rPr>
              <a:t>user types</a:t>
            </a:r>
            <a:r>
              <a:rPr lang="en" sz="1500" dirty="0">
                <a:solidFill>
                  <a:schemeClr val="dk1"/>
                </a:solidFill>
              </a:rPr>
              <a:t> in the input, Angular updates the variable username.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</a:rPr>
              <a:t>This is called </a:t>
            </a:r>
            <a:r>
              <a:rPr lang="en" sz="1500" b="1" dirty="0">
                <a:solidFill>
                  <a:schemeClr val="dk1"/>
                </a:solidFill>
              </a:rPr>
              <a:t>Change Detection</a:t>
            </a:r>
            <a:r>
              <a:rPr lang="en" sz="1500" dirty="0">
                <a:solidFill>
                  <a:schemeClr val="dk1"/>
                </a:solidFill>
              </a:rPr>
              <a:t>. Angular checks the </a:t>
            </a:r>
            <a:r>
              <a:rPr lang="en" sz="1500" b="1" dirty="0">
                <a:solidFill>
                  <a:schemeClr val="dk1"/>
                </a:solidFill>
              </a:rPr>
              <a:t>real DOM</a:t>
            </a:r>
            <a:r>
              <a:rPr lang="en" sz="1500" dirty="0">
                <a:solidFill>
                  <a:schemeClr val="dk1"/>
                </a:solidFill>
              </a:rPr>
              <a:t> for changes and keeps the UI + data in sync.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0"/>
          <p:cNvSpPr txBox="1">
            <a:spLocks noGrp="1"/>
          </p:cNvSpPr>
          <p:nvPr>
            <p:ph type="body" idx="1"/>
          </p:nvPr>
        </p:nvSpPr>
        <p:spPr>
          <a:xfrm>
            <a:off x="311700" y="180275"/>
            <a:ext cx="8520600" cy="48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4. Data Flow</a:t>
            </a:r>
            <a:endParaRPr b="1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>
                <a:solidFill>
                  <a:srgbClr val="000000"/>
                </a:solidFill>
              </a:rPr>
              <a:t>React</a:t>
            </a:r>
            <a:r>
              <a:rPr lang="en">
                <a:solidFill>
                  <a:srgbClr val="000000"/>
                </a:solidFill>
              </a:rPr>
              <a:t>: </a:t>
            </a:r>
            <a:r>
              <a:rPr lang="en" b="1">
                <a:solidFill>
                  <a:srgbClr val="000000"/>
                </a:solidFill>
              </a:rPr>
              <a:t>One-way data flow</a:t>
            </a:r>
            <a:br>
              <a:rPr lang="en" b="1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Data goes </a:t>
            </a:r>
            <a:r>
              <a:rPr lang="en" sz="1800" b="1">
                <a:solidFill>
                  <a:srgbClr val="000000"/>
                </a:solidFill>
              </a:rPr>
              <a:t>one direction</a:t>
            </a:r>
            <a:r>
              <a:rPr lang="en" sz="1800">
                <a:solidFill>
                  <a:srgbClr val="000000"/>
                </a:solidFill>
              </a:rPr>
              <a:t>: from parent → child.</a:t>
            </a:r>
            <a:br>
              <a:rPr lang="en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Example: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function Child({ message })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return &lt;p&gt;{message}&lt;/p&gt;;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function Parent()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return &lt;Child message="Hello from Parent!" /&gt;;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9" name="Google Shape;329;p60"/>
          <p:cNvSpPr txBox="1"/>
          <p:nvPr/>
        </p:nvSpPr>
        <p:spPr>
          <a:xfrm>
            <a:off x="3485075" y="1946850"/>
            <a:ext cx="5371800" cy="2235300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Child gets data from Parent. If Parent changes, Child updates.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But Child </a:t>
            </a:r>
            <a:r>
              <a:rPr lang="en" sz="1900" b="1">
                <a:solidFill>
                  <a:schemeClr val="dk1"/>
                </a:solidFill>
              </a:rPr>
              <a:t>cannot directly change Parent’s data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>
                <a:solidFill>
                  <a:srgbClr val="000000"/>
                </a:solidFill>
              </a:rPr>
              <a:t>Angular</a:t>
            </a:r>
            <a:r>
              <a:rPr lang="en">
                <a:solidFill>
                  <a:srgbClr val="000000"/>
                </a:solidFill>
              </a:rPr>
              <a:t>: </a:t>
            </a:r>
            <a:r>
              <a:rPr lang="en" b="1">
                <a:solidFill>
                  <a:srgbClr val="000000"/>
                </a:solidFill>
              </a:rPr>
              <a:t>Two-way data binding</a:t>
            </a:r>
            <a:br>
              <a:rPr lang="en" b="1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Data flows </a:t>
            </a:r>
            <a:r>
              <a:rPr lang="en" sz="1800" b="1">
                <a:solidFill>
                  <a:srgbClr val="000000"/>
                </a:solidFill>
              </a:rPr>
              <a:t>both ways</a:t>
            </a:r>
            <a:r>
              <a:rPr lang="en" sz="1800">
                <a:solidFill>
                  <a:srgbClr val="000000"/>
                </a:solidFill>
              </a:rPr>
              <a:t>: View ↔ Model.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Example (Angular style with [(ngModel)]):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 &lt;input [(ngModel)]="username"&gt;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&lt;p&gt;Hello {{username}}&lt;/p&gt;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  If user types in the input, the username variable changes.</a:t>
            </a:r>
            <a:br>
              <a:rPr lang="en" sz="1800">
                <a:solidFill>
                  <a:srgbClr val="000000"/>
                </a:solidFill>
              </a:rPr>
            </a:br>
            <a:r>
              <a:rPr lang="en" sz="1800">
                <a:solidFill>
                  <a:srgbClr val="000000"/>
                </a:solidFill>
              </a:rPr>
              <a:t>  If the code changes username, the input updates automatically.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2"/>
          <p:cNvSpPr txBox="1">
            <a:spLocks noGrp="1"/>
          </p:cNvSpPr>
          <p:nvPr>
            <p:ph type="body" idx="1"/>
          </p:nvPr>
        </p:nvSpPr>
        <p:spPr>
          <a:xfrm>
            <a:off x="311700" y="576850"/>
            <a:ext cx="8520600" cy="44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040"/>
              <a:buFont typeface="Arial"/>
              <a:buNone/>
            </a:pPr>
            <a:r>
              <a:rPr lang="en" sz="1963" b="1">
                <a:solidFill>
                  <a:schemeClr val="dk1"/>
                </a:solidFill>
              </a:rPr>
              <a:t>React (one-way data flow)</a:t>
            </a:r>
            <a:r>
              <a:rPr lang="en" sz="1963">
                <a:solidFill>
                  <a:schemeClr val="dk1"/>
                </a:solidFill>
              </a:rPr>
              <a:t>:</a:t>
            </a:r>
            <a:br>
              <a:rPr lang="en" sz="1963">
                <a:solidFill>
                  <a:schemeClr val="dk1"/>
                </a:solidFill>
              </a:rPr>
            </a:br>
            <a:r>
              <a:rPr lang="en" sz="1963">
                <a:solidFill>
                  <a:schemeClr val="dk1"/>
                </a:solidFill>
              </a:rPr>
              <a:t> Like giving instructions to your assistant:</a:t>
            </a:r>
            <a:endParaRPr sz="1963">
              <a:solidFill>
                <a:schemeClr val="dk1"/>
              </a:solidFill>
            </a:endParaRPr>
          </a:p>
          <a:p>
            <a:pPr marL="457200" lvl="0" indent="-34389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63" i="1">
                <a:solidFill>
                  <a:schemeClr val="dk1"/>
                </a:solidFill>
              </a:rPr>
              <a:t>You tell them what to do → they do it.</a:t>
            </a:r>
            <a:br>
              <a:rPr lang="en" sz="1963" i="1">
                <a:solidFill>
                  <a:schemeClr val="dk1"/>
                </a:solidFill>
              </a:rPr>
            </a:br>
            <a:endParaRPr sz="1963" i="1">
              <a:solidFill>
                <a:schemeClr val="dk1"/>
              </a:solidFill>
            </a:endParaRPr>
          </a:p>
          <a:p>
            <a:pPr marL="457200" lvl="0" indent="-34389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63">
                <a:solidFill>
                  <a:schemeClr val="dk1"/>
                </a:solidFill>
              </a:rPr>
              <a:t>If you change your mind, you give new instructions.</a:t>
            </a:r>
            <a:br>
              <a:rPr lang="en" sz="1963">
                <a:solidFill>
                  <a:schemeClr val="dk1"/>
                </a:solidFill>
              </a:rPr>
            </a:br>
            <a:endParaRPr sz="1963">
              <a:solidFill>
                <a:schemeClr val="dk1"/>
              </a:solidFill>
            </a:endParaRPr>
          </a:p>
          <a:p>
            <a:pPr marL="457200" lvl="0" indent="-34389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63">
                <a:solidFill>
                  <a:schemeClr val="dk1"/>
                </a:solidFill>
              </a:rPr>
              <a:t>The assistant never changes your mind on their own.</a:t>
            </a:r>
            <a:endParaRPr sz="196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6040"/>
              <a:buFont typeface="Arial"/>
              <a:buNone/>
            </a:pPr>
            <a:r>
              <a:rPr lang="en" sz="1963" b="1">
                <a:solidFill>
                  <a:schemeClr val="dk1"/>
                </a:solidFill>
              </a:rPr>
              <a:t>Angular (two-way binding)</a:t>
            </a:r>
            <a:r>
              <a:rPr lang="en" sz="1963">
                <a:solidFill>
                  <a:schemeClr val="dk1"/>
                </a:solidFill>
              </a:rPr>
              <a:t>:</a:t>
            </a:r>
            <a:br>
              <a:rPr lang="en" sz="1963">
                <a:solidFill>
                  <a:schemeClr val="dk1"/>
                </a:solidFill>
              </a:rPr>
            </a:br>
            <a:r>
              <a:rPr lang="en" sz="1963">
                <a:solidFill>
                  <a:schemeClr val="dk1"/>
                </a:solidFill>
              </a:rPr>
              <a:t> Like a walkie-talkie conversation:</a:t>
            </a:r>
            <a:endParaRPr sz="1963">
              <a:solidFill>
                <a:schemeClr val="dk1"/>
              </a:solidFill>
            </a:endParaRPr>
          </a:p>
          <a:p>
            <a:pPr marL="457200" lvl="0" indent="-34389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63" i="1">
                <a:solidFill>
                  <a:schemeClr val="dk1"/>
                </a:solidFill>
              </a:rPr>
              <a:t>You talk, and they reply at the same time.</a:t>
            </a:r>
            <a:br>
              <a:rPr lang="en" sz="1963" i="1">
                <a:solidFill>
                  <a:schemeClr val="dk1"/>
                </a:solidFill>
              </a:rPr>
            </a:br>
            <a:endParaRPr sz="1963" i="1">
              <a:solidFill>
                <a:schemeClr val="dk1"/>
              </a:solidFill>
            </a:endParaRPr>
          </a:p>
          <a:p>
            <a:pPr marL="457200" lvl="0" indent="-34389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63">
                <a:solidFill>
                  <a:schemeClr val="dk1"/>
                </a:solidFill>
              </a:rPr>
              <a:t>Both sides can change the situation directly.</a:t>
            </a:r>
            <a:endParaRPr sz="196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47" name="Google Shape;34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6154"/>
            <a:ext cx="9144001" cy="3991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9900FF"/>
                </a:solidFill>
              </a:rPr>
              <a:t>Similarities (React &amp; Vue)</a:t>
            </a:r>
            <a:endParaRPr sz="2300" b="1">
              <a:solidFill>
                <a:srgbClr val="9900FF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are used to build </a:t>
            </a:r>
            <a:r>
              <a:rPr lang="en" sz="1700" b="1">
                <a:solidFill>
                  <a:schemeClr val="dk1"/>
                </a:solidFill>
              </a:rPr>
              <a:t>modern, dynamic user interfaces</a:t>
            </a:r>
            <a:r>
              <a:rPr lang="en" sz="1700">
                <a:solidFill>
                  <a:schemeClr val="dk1"/>
                </a:solidFill>
              </a:rPr>
              <a:t>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use </a:t>
            </a:r>
            <a:r>
              <a:rPr lang="en" sz="1700" b="1">
                <a:solidFill>
                  <a:schemeClr val="dk1"/>
                </a:solidFill>
              </a:rPr>
              <a:t>components</a:t>
            </a:r>
            <a:r>
              <a:rPr lang="en" sz="1700">
                <a:solidFill>
                  <a:schemeClr val="dk1"/>
                </a:solidFill>
              </a:rPr>
              <a:t> (small reusable UI pieces).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support </a:t>
            </a:r>
            <a:r>
              <a:rPr lang="en" sz="1700" b="1">
                <a:solidFill>
                  <a:schemeClr val="dk1"/>
                </a:solidFill>
              </a:rPr>
              <a:t>props (data passing)</a:t>
            </a:r>
            <a:r>
              <a:rPr lang="en" sz="1700">
                <a:solidFill>
                  <a:schemeClr val="dk1"/>
                </a:solidFill>
              </a:rPr>
              <a:t> and </a:t>
            </a:r>
            <a:r>
              <a:rPr lang="en" sz="1700" b="1">
                <a:solidFill>
                  <a:schemeClr val="dk1"/>
                </a:solidFill>
              </a:rPr>
              <a:t>state (data storage)</a:t>
            </a:r>
            <a:r>
              <a:rPr lang="en" sz="1700">
                <a:solidFill>
                  <a:schemeClr val="dk1"/>
                </a:solidFill>
              </a:rPr>
              <a:t>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Both are </a:t>
            </a:r>
            <a:r>
              <a:rPr lang="en" sz="1700" b="1">
                <a:solidFill>
                  <a:schemeClr val="dk1"/>
                </a:solidFill>
              </a:rPr>
              <a:t>fast</a:t>
            </a:r>
            <a:r>
              <a:rPr lang="en" sz="1700">
                <a:solidFill>
                  <a:schemeClr val="dk1"/>
                </a:solidFill>
              </a:rPr>
              <a:t>, thanks to Virtual DOM.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0" name="Google Shape;3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283"/>
            <a:ext cx="9144001" cy="5000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What React Is Not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66" name="Google Shape;366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React is </a:t>
            </a:r>
            <a:r>
              <a:rPr lang="en" sz="2000" b="1">
                <a:solidFill>
                  <a:schemeClr val="dk1"/>
                </a:solidFill>
              </a:rPr>
              <a:t>a front-end library for building user interfaces</a:t>
            </a:r>
            <a:r>
              <a:rPr lang="en" sz="2000">
                <a:solidFill>
                  <a:schemeClr val="dk1"/>
                </a:solidFill>
              </a:rPr>
              <a:t>, running entirely in the browser. It </a:t>
            </a:r>
            <a:r>
              <a:rPr lang="en" sz="2000" b="1">
                <a:solidFill>
                  <a:schemeClr val="dk1"/>
                </a:solidFill>
              </a:rPr>
              <a:t>does not replace servers, databases, or development tools</a:t>
            </a:r>
            <a:r>
              <a:rPr lang="en" sz="2000">
                <a:solidFill>
                  <a:schemeClr val="dk1"/>
                </a:solidFill>
              </a:rPr>
              <a:t>, and it is </a:t>
            </a:r>
            <a:r>
              <a:rPr lang="en" sz="2000" b="1">
                <a:solidFill>
                  <a:schemeClr val="dk1"/>
                </a:solidFill>
              </a:rPr>
              <a:t>not a one-size-fits-all solution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7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React Is Not a Web Server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cannot handle HTTP requests or serve web pages.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web server sends React (and other JS/CSS/HTML files) to the browser, but React itself cannot act as the server.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only runs </a:t>
            </a:r>
            <a:r>
              <a:rPr lang="en" b="1">
                <a:solidFill>
                  <a:schemeClr val="dk1"/>
                </a:solidFill>
              </a:rPr>
              <a:t>in the browser</a:t>
            </a:r>
            <a:r>
              <a:rPr lang="en">
                <a:solidFill>
                  <a:schemeClr val="dk1"/>
                </a:solidFill>
              </a:rPr>
              <a:t> and interacts with it via JavaScript APIs.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8"/>
          <p:cNvSpPr txBox="1">
            <a:spLocks noGrp="1"/>
          </p:cNvSpPr>
          <p:nvPr>
            <p:ph type="body" idx="1"/>
          </p:nvPr>
        </p:nvSpPr>
        <p:spPr>
          <a:xfrm>
            <a:off x="311700" y="384550"/>
            <a:ext cx="8520600" cy="46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Example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Suppose you visit </a:t>
            </a:r>
            <a:r>
              <a:rPr lang="en" b="1">
                <a:solidFill>
                  <a:srgbClr val="000000"/>
                </a:solidFill>
              </a:rPr>
              <a:t>www.example.com.</a:t>
            </a:r>
            <a:endParaRPr b="1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 b="1">
                <a:solidFill>
                  <a:srgbClr val="000000"/>
                </a:solidFill>
              </a:rPr>
              <a:t>web server </a:t>
            </a:r>
            <a:r>
              <a:rPr lang="en">
                <a:solidFill>
                  <a:srgbClr val="000000"/>
                </a:solidFill>
              </a:rPr>
              <a:t>sends you: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index.html (the structure)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style.css (the styling)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app.js (React library and your React code)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Your browser opens these files.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React runs in the browser and dynamically updates the page: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Shows a list of products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Changes the content when you click a button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But </a:t>
            </a:r>
            <a:r>
              <a:rPr lang="en" b="1">
                <a:solidFill>
                  <a:srgbClr val="000000"/>
                </a:solidFill>
              </a:rPr>
              <a:t>React cannot serve new pages to other people on its own; that’s the server’s job.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9"/>
          <p:cNvSpPr txBox="1">
            <a:spLocks noGrp="1"/>
          </p:cNvSpPr>
          <p:nvPr>
            <p:ph type="body" idx="1"/>
          </p:nvPr>
        </p:nvSpPr>
        <p:spPr>
          <a:xfrm>
            <a:off x="311700" y="144200"/>
            <a:ext cx="8520600" cy="47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lang="en" sz="1808" b="1">
                <a:solidFill>
                  <a:schemeClr val="dk1"/>
                </a:solidFill>
              </a:rPr>
              <a:t>React Is Not a Programming Language</a:t>
            </a:r>
            <a:endParaRPr sz="1808" b="1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React is a </a:t>
            </a:r>
            <a:r>
              <a:rPr lang="en" sz="1808" b="1">
                <a:solidFill>
                  <a:schemeClr val="dk1"/>
                </a:solidFill>
              </a:rPr>
              <a:t>JavaScript library</a:t>
            </a:r>
            <a:r>
              <a:rPr lang="en" sz="1808">
                <a:solidFill>
                  <a:schemeClr val="dk1"/>
                </a:solidFill>
              </a:rPr>
              <a:t>, not a language.</a:t>
            </a:r>
            <a:br>
              <a:rPr lang="en" sz="1808">
                <a:solidFill>
                  <a:schemeClr val="dk1"/>
                </a:solidFill>
              </a:rPr>
            </a:br>
            <a:endParaRPr sz="1808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It’s a collection of pre-written JavaScript functions to simplify creating dynamic user interfaces.</a:t>
            </a:r>
            <a:br>
              <a:rPr lang="en" sz="1808">
                <a:solidFill>
                  <a:schemeClr val="dk1"/>
                </a:solidFill>
              </a:rPr>
            </a:br>
            <a:endParaRPr sz="1808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You could, in theory, write React functionality yourself purely in JavaScript, but the library saves you time.</a:t>
            </a:r>
            <a:br>
              <a:rPr lang="en" sz="1808">
                <a:solidFill>
                  <a:schemeClr val="dk1"/>
                </a:solidFill>
              </a:rPr>
            </a:br>
            <a:endParaRPr sz="1808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0837"/>
              <a:buFont typeface="Arial"/>
              <a:buNone/>
            </a:pPr>
            <a:r>
              <a:rPr lang="en" sz="1808" b="1">
                <a:solidFill>
                  <a:schemeClr val="dk1"/>
                </a:solidFill>
              </a:rPr>
              <a:t>React Is Not a Database Server</a:t>
            </a:r>
            <a:endParaRPr sz="1808" b="1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React cannot store data permanently or securely.</a:t>
            </a:r>
            <a:br>
              <a:rPr lang="en" sz="1808">
                <a:solidFill>
                  <a:schemeClr val="dk1"/>
                </a:solidFill>
              </a:rPr>
            </a:br>
            <a:endParaRPr sz="1808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Dynamic data in a React UI (like session data) is temporary.</a:t>
            </a:r>
            <a:br>
              <a:rPr lang="en" sz="1808">
                <a:solidFill>
                  <a:schemeClr val="dk1"/>
                </a:solidFill>
              </a:rPr>
            </a:br>
            <a:endParaRPr sz="1808">
              <a:solidFill>
                <a:schemeClr val="dk1"/>
              </a:solidFill>
            </a:endParaRPr>
          </a:p>
          <a:p>
            <a:pPr marL="457200" lvl="0" indent="-33480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808">
                <a:solidFill>
                  <a:schemeClr val="dk1"/>
                </a:solidFill>
              </a:rPr>
              <a:t>Persistent data must be handled via server-side databases, APIs, or browser storage (cookies/local storage).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0"/>
          <p:cNvSpPr txBox="1">
            <a:spLocks noGrp="1"/>
          </p:cNvSpPr>
          <p:nvPr>
            <p:ph type="body" idx="1"/>
          </p:nvPr>
        </p:nvSpPr>
        <p:spPr>
          <a:xfrm>
            <a:off x="60100" y="60100"/>
            <a:ext cx="9013200" cy="47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React Is Not a Development Environment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React does not require any specific tools or IDEs.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You can write React code with any text editor or toolchain.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Common tools (like Node.js, npm, or Vite) are optional; they just make development easier.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 React is just a library. You </a:t>
            </a:r>
            <a:r>
              <a:rPr lang="en" sz="1700" b="1">
                <a:solidFill>
                  <a:schemeClr val="dk1"/>
                </a:solidFill>
              </a:rPr>
              <a:t>can run it in a plain HTML file</a:t>
            </a:r>
            <a:r>
              <a:rPr lang="en" sz="1700">
                <a:solidFill>
                  <a:schemeClr val="dk1"/>
                </a:solidFill>
              </a:rPr>
              <a:t> or use </a:t>
            </a:r>
            <a:r>
              <a:rPr lang="en" sz="1700" b="1">
                <a:solidFill>
                  <a:schemeClr val="dk1"/>
                </a:solidFill>
              </a:rPr>
              <a:t>modern tools</a:t>
            </a:r>
            <a:r>
              <a:rPr lang="en" sz="1700">
                <a:solidFill>
                  <a:schemeClr val="dk1"/>
                </a:solidFill>
              </a:rPr>
              <a:t> to improve development speed and workflow.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React Is Not the Perfect Solution for Everything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React is great for many applications, but it’s not ideal for all situations(Simple, Static Websites, Heavy Backend Processing Apps, Non-Web Applications,etc)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Knowing other languages and libraries helps you choose the best tool for the job rather than defaulting to React.</a:t>
            </a:r>
            <a:endParaRPr sz="17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JSX is not HTML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93" name="Google Shape;393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function Login(){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  const handleSubmit = (e) =&gt; {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    e.preventDefault();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    console.log(`logging in ${e.target[0].value}`);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    // do something else here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  }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2"/>
          <p:cNvSpPr txBox="1">
            <a:spLocks noGrp="1"/>
          </p:cNvSpPr>
          <p:nvPr>
            <p:ph type="body" idx="1"/>
          </p:nvPr>
        </p:nvSpPr>
        <p:spPr>
          <a:xfrm>
            <a:off x="311700" y="336500"/>
            <a:ext cx="8520600" cy="45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return 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&lt;form id="login-form" onSubmit={handleSubmit}&gt;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&lt;input type="email" id="email" placeholder="E-Mail Address"/&gt;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&lt;input type="password" id="password"/&gt;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&lt;button&gt;Login&lt;/button&gt;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&lt;/form&gt;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export default Login;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The function Login() is a </a:t>
            </a:r>
            <a:r>
              <a:rPr lang="en" sz="2100" b="1">
                <a:solidFill>
                  <a:srgbClr val="000000"/>
                </a:solidFill>
              </a:rPr>
              <a:t>React component</a:t>
            </a:r>
            <a:r>
              <a:rPr lang="en" sz="2100">
                <a:solidFill>
                  <a:srgbClr val="000000"/>
                </a:solidFill>
              </a:rPr>
              <a:t>.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Inside the return, it looks like you’re returning HTML, but it’s actually </a:t>
            </a:r>
            <a:r>
              <a:rPr lang="en" sz="2100" b="1">
                <a:solidFill>
                  <a:srgbClr val="000000"/>
                </a:solidFill>
              </a:rPr>
              <a:t>JSX</a:t>
            </a:r>
            <a:r>
              <a:rPr lang="en" sz="2100">
                <a:solidFill>
                  <a:srgbClr val="000000"/>
                </a:solidFill>
              </a:rPr>
              <a:t>.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JSX allows you to </a:t>
            </a:r>
            <a:r>
              <a:rPr lang="en" sz="2100" b="1">
                <a:solidFill>
                  <a:srgbClr val="000000"/>
                </a:solidFill>
              </a:rPr>
              <a:t>write XML-like syntax in JavaScript</a:t>
            </a:r>
            <a:r>
              <a:rPr lang="en" sz="2100">
                <a:solidFill>
                  <a:srgbClr val="000000"/>
                </a:solidFill>
              </a:rPr>
              <a:t>, which React then </a:t>
            </a:r>
            <a:r>
              <a:rPr lang="en" sz="2100" b="1">
                <a:solidFill>
                  <a:srgbClr val="000000"/>
                </a:solidFill>
              </a:rPr>
              <a:t>compiles into regular JavaScript</a:t>
            </a:r>
            <a:r>
              <a:rPr lang="en" sz="2100">
                <a:solidFill>
                  <a:srgbClr val="000000"/>
                </a:solidFill>
              </a:rPr>
              <a:t> (calls to React.createElement) under the hood.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chemeClr val="dk1"/>
                </a:solidFill>
              </a:rPr>
              <a:t>What is JSX?</a:t>
            </a:r>
            <a:endParaRPr sz="23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JSX</a:t>
            </a:r>
            <a:r>
              <a:rPr lang="en" sz="2100">
                <a:solidFill>
                  <a:schemeClr val="dk1"/>
                </a:solidFill>
              </a:rPr>
              <a:t> stands for </a:t>
            </a:r>
            <a:r>
              <a:rPr lang="en" sz="2100" b="1">
                <a:solidFill>
                  <a:schemeClr val="dk1"/>
                </a:solidFill>
              </a:rPr>
              <a:t>JavaScript XML</a:t>
            </a:r>
            <a:r>
              <a:rPr lang="en" sz="2100">
                <a:solidFill>
                  <a:schemeClr val="dk1"/>
                </a:solidFill>
              </a:rPr>
              <a:t>.</a:t>
            </a:r>
            <a:br>
              <a:rPr lang="e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It is an </a:t>
            </a:r>
            <a:r>
              <a:rPr lang="en" sz="2100" b="1">
                <a:solidFill>
                  <a:schemeClr val="dk1"/>
                </a:solidFill>
              </a:rPr>
              <a:t>XML-like syntax that you can write inside JavaScript</a:t>
            </a:r>
            <a:r>
              <a:rPr lang="en" sz="2100">
                <a:solidFill>
                  <a:schemeClr val="dk1"/>
                </a:solidFill>
              </a:rPr>
              <a:t>.</a:t>
            </a:r>
            <a:br>
              <a:rPr lang="e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It allows you to </a:t>
            </a:r>
            <a:r>
              <a:rPr lang="en" sz="2100" b="1">
                <a:solidFill>
                  <a:schemeClr val="dk1"/>
                </a:solidFill>
              </a:rPr>
              <a:t>describe what your UI should look like in a syntax that resembles HTML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5"/>
          <p:cNvSpPr txBox="1">
            <a:spLocks noGrp="1"/>
          </p:cNvSpPr>
          <p:nvPr>
            <p:ph type="body" idx="1"/>
          </p:nvPr>
        </p:nvSpPr>
        <p:spPr>
          <a:xfrm>
            <a:off x="311700" y="276400"/>
            <a:ext cx="8520600" cy="46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634"/>
              <a:buFont typeface="Arial"/>
              <a:buNone/>
            </a:pPr>
            <a:r>
              <a:rPr lang="en" sz="2216" b="1">
                <a:solidFill>
                  <a:srgbClr val="000000"/>
                </a:solidFill>
              </a:rPr>
              <a:t>Why it’s not HTML</a:t>
            </a:r>
            <a:endParaRPr sz="2216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558"/>
              <a:buFont typeface="Arial"/>
              <a:buNone/>
            </a:pPr>
            <a:r>
              <a:rPr lang="en" sz="2016">
                <a:solidFill>
                  <a:srgbClr val="000000"/>
                </a:solidFill>
              </a:rPr>
              <a:t>Even though it looks like HTML:</a:t>
            </a:r>
            <a:endParaRPr sz="2016">
              <a:solidFill>
                <a:srgbClr val="000000"/>
              </a:solidFill>
            </a:endParaRPr>
          </a:p>
          <a:p>
            <a:pPr marL="457200" lvl="0" indent="-347028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16">
                <a:solidFill>
                  <a:srgbClr val="000000"/>
                </a:solidFill>
              </a:rPr>
              <a:t>It’s embedded in JavaScript, so you can’t just paste raw HTML in a JS file.</a:t>
            </a:r>
            <a:br>
              <a:rPr lang="en" sz="2016">
                <a:solidFill>
                  <a:srgbClr val="000000"/>
                </a:solidFill>
              </a:rPr>
            </a:br>
            <a:endParaRPr sz="2016">
              <a:solidFill>
                <a:srgbClr val="000000"/>
              </a:solidFill>
            </a:endParaRPr>
          </a:p>
          <a:p>
            <a:pPr marL="457200" lvl="0" indent="-3470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16">
                <a:solidFill>
                  <a:srgbClr val="000000"/>
                </a:solidFill>
              </a:rPr>
              <a:t>Every JSX element </a:t>
            </a:r>
            <a:r>
              <a:rPr lang="en" sz="2016" b="1">
                <a:solidFill>
                  <a:srgbClr val="000000"/>
                </a:solidFill>
              </a:rPr>
              <a:t>must be closed</a:t>
            </a:r>
            <a:r>
              <a:rPr lang="en" sz="2016">
                <a:solidFill>
                  <a:srgbClr val="000000"/>
                </a:solidFill>
              </a:rPr>
              <a:t>, even &lt;input /&gt; or &lt;br /&gt;.</a:t>
            </a:r>
            <a:br>
              <a:rPr lang="en" sz="2016">
                <a:solidFill>
                  <a:srgbClr val="000000"/>
                </a:solidFill>
              </a:rPr>
            </a:br>
            <a:endParaRPr sz="2016">
              <a:solidFill>
                <a:srgbClr val="000000"/>
              </a:solidFill>
            </a:endParaRPr>
          </a:p>
          <a:p>
            <a:pPr marL="457200" lvl="0" indent="-3470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2016">
                <a:solidFill>
                  <a:srgbClr val="000000"/>
                </a:solidFill>
              </a:rPr>
              <a:t>Some attribute names are different:</a:t>
            </a:r>
            <a:br>
              <a:rPr lang="en" sz="2016">
                <a:solidFill>
                  <a:srgbClr val="000000"/>
                </a:solidFill>
              </a:rPr>
            </a:br>
            <a:endParaRPr sz="2016">
              <a:solidFill>
                <a:srgbClr val="000000"/>
              </a:solidFill>
            </a:endParaRPr>
          </a:p>
          <a:p>
            <a:pPr marL="914400" lvl="1" indent="-3470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16" b="1">
                <a:solidFill>
                  <a:srgbClr val="000000"/>
                </a:solidFill>
              </a:rPr>
              <a:t>class → className</a:t>
            </a:r>
            <a:br>
              <a:rPr lang="en" sz="2016" b="1">
                <a:solidFill>
                  <a:srgbClr val="000000"/>
                </a:solidFill>
              </a:rPr>
            </a:br>
            <a:endParaRPr sz="2016" b="1">
              <a:solidFill>
                <a:srgbClr val="000000"/>
              </a:solidFill>
            </a:endParaRPr>
          </a:p>
          <a:p>
            <a:pPr marL="914400" lvl="1" indent="-3470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en" sz="2016" b="1">
                <a:solidFill>
                  <a:srgbClr val="000000"/>
                </a:solidFill>
              </a:rPr>
              <a:t>for → htmlFor</a:t>
            </a:r>
            <a:br>
              <a:rPr lang="en" sz="2016">
                <a:solidFill>
                  <a:srgbClr val="000000"/>
                </a:solidFill>
              </a:rPr>
            </a:br>
            <a:endParaRPr sz="2016">
              <a:solidFill>
                <a:srgbClr val="000000"/>
              </a:solidFill>
            </a:endParaRPr>
          </a:p>
          <a:p>
            <a:pPr marL="457200" lvl="0" indent="-33480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678"/>
              <a:buChar char="●"/>
            </a:pPr>
            <a:r>
              <a:rPr lang="en" sz="2016">
                <a:solidFill>
                  <a:srgbClr val="000000"/>
                </a:solidFill>
              </a:rPr>
              <a:t>You can embed </a:t>
            </a:r>
            <a:r>
              <a:rPr lang="en" sz="2016" b="1">
                <a:solidFill>
                  <a:srgbClr val="000000"/>
                </a:solidFill>
              </a:rPr>
              <a:t>JavaScript expressions</a:t>
            </a:r>
            <a:r>
              <a:rPr lang="en" sz="2016">
                <a:solidFill>
                  <a:srgbClr val="000000"/>
                </a:solidFill>
              </a:rPr>
              <a:t> inside JSX using {} braces.</a:t>
            </a:r>
            <a:br>
              <a:rPr lang="en" sz="1808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rgbClr val="000000"/>
                </a:solidFill>
              </a:rPr>
              <a:t>For example:</a:t>
            </a: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0000"/>
                </a:solidFill>
              </a:rPr>
              <a:t>const username </a:t>
            </a:r>
            <a:r>
              <a:rPr lang="en" sz="2200">
                <a:solidFill>
                  <a:srgbClr val="000000"/>
                </a:solidFill>
              </a:rPr>
              <a:t>= “React";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000000"/>
                </a:solidFill>
              </a:rPr>
              <a:t>return &lt;p&gt;Hello, {username}!&lt;/p&gt;;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rgbClr val="000000"/>
                </a:solidFill>
              </a:rPr>
              <a:t>This will render: </a:t>
            </a:r>
            <a:r>
              <a:rPr lang="en" sz="2200" b="1" dirty="0">
                <a:solidFill>
                  <a:srgbClr val="000000"/>
                </a:solidFill>
              </a:rPr>
              <a:t>Hello, React!</a:t>
            </a: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rgbClr val="000000"/>
                </a:solidFill>
              </a:rPr>
              <a:t>The JSX you wrote:</a:t>
            </a:r>
            <a:endParaRPr sz="22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&lt;form id="login-form" onSubmit={handleSubmit}&gt;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  &lt;input type="email" id="email" placeholder="E-Mail Address"/&gt;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  &lt;input type="password" id="password"/&gt;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  &lt;button&gt;Login&lt;/button&gt;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&lt;/form&gt;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8"/>
          <p:cNvSpPr txBox="1">
            <a:spLocks noGrp="1"/>
          </p:cNvSpPr>
          <p:nvPr>
            <p:ph type="body" idx="1"/>
          </p:nvPr>
        </p:nvSpPr>
        <p:spPr>
          <a:xfrm>
            <a:off x="311700" y="264375"/>
            <a:ext cx="8520600" cy="46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Gets compiled by React into something like this: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React.createElement(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"form",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{ id: "login-form", onSubmit: handleSubmit },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React.createElement("input", { type: "email", id: "email", placeholder: "E-Mail Address" }),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React.createElement("input", { type: "password", id: "password" }),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React.createElement("button", null, "Login")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So, it </a:t>
            </a:r>
            <a:r>
              <a:rPr lang="en" b="1">
                <a:solidFill>
                  <a:srgbClr val="000000"/>
                </a:solidFill>
              </a:rPr>
              <a:t>becomes pure JavaScript</a:t>
            </a:r>
            <a:r>
              <a:rPr lang="en">
                <a:solidFill>
                  <a:srgbClr val="000000"/>
                </a:solidFill>
              </a:rPr>
              <a:t>, which the browser can execute.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JSX = JavaScript + HTML-like syntax.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It </a:t>
            </a:r>
            <a:r>
              <a:rPr lang="en" sz="2100" b="1">
                <a:solidFill>
                  <a:schemeClr val="dk1"/>
                </a:solidFill>
              </a:rPr>
              <a:t>cannot run directly as HTML</a:t>
            </a:r>
            <a:r>
              <a:rPr lang="en" sz="2100">
                <a:solidFill>
                  <a:schemeClr val="dk1"/>
                </a:solidFill>
              </a:rPr>
              <a:t>, but React transforms it into JavaScript that manipulates the DOM.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This makes </a:t>
            </a:r>
            <a:r>
              <a:rPr lang="en" sz="2100" b="1">
                <a:solidFill>
                  <a:schemeClr val="dk1"/>
                </a:solidFill>
              </a:rPr>
              <a:t>React components declarative and readable</a:t>
            </a:r>
            <a:r>
              <a:rPr lang="en" sz="2100">
                <a:solidFill>
                  <a:schemeClr val="dk1"/>
                </a:solidFill>
              </a:rPr>
              <a:t>, letting you visualize UI while staying in JavaScript.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JSX Syntax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444" name="Google Shape;444;p80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45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JSX ≠ HTML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JSX </a:t>
            </a:r>
            <a:r>
              <a:rPr lang="en" sz="1700" b="1">
                <a:solidFill>
                  <a:schemeClr val="dk1"/>
                </a:solidFill>
              </a:rPr>
              <a:t>looks like HTML</a:t>
            </a:r>
            <a:r>
              <a:rPr lang="en" sz="1700">
                <a:solidFill>
                  <a:schemeClr val="dk1"/>
                </a:solidFill>
              </a:rPr>
              <a:t> but it's actually </a:t>
            </a:r>
            <a:r>
              <a:rPr lang="en" sz="1700" b="1">
                <a:solidFill>
                  <a:schemeClr val="dk1"/>
                </a:solidFill>
              </a:rPr>
              <a:t>JavaScript XML</a:t>
            </a:r>
            <a:r>
              <a:rPr lang="en" sz="1700">
                <a:solidFill>
                  <a:schemeClr val="dk1"/>
                </a:solidFill>
              </a:rPr>
              <a:t> — which means it has stricter rules than HTML.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XML-Like Rules in JSX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b="1">
                <a:solidFill>
                  <a:schemeClr val="dk1"/>
                </a:solidFill>
              </a:rPr>
              <a:t>All elements must be closed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&lt;br /&gt; ✅   &lt;br&gt; ❌  Since JSX is JavaScript, </a:t>
            </a:r>
            <a:r>
              <a:rPr lang="en" sz="1700" b="1">
                <a:solidFill>
                  <a:schemeClr val="dk1"/>
                </a:solidFill>
              </a:rPr>
              <a:t>every tag needs to be properly closed</a:t>
            </a:r>
            <a:r>
              <a:rPr lang="en" sz="1700">
                <a:solidFill>
                  <a:schemeClr val="dk1"/>
                </a:solidFill>
              </a:rPr>
              <a:t>. This ensures that the code is syntactically correct when it's converted to JavaScript.</a:t>
            </a:r>
            <a:endParaRPr sz="23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en" sz="1500" b="1">
                <a:solidFill>
                  <a:srgbClr val="000000"/>
                </a:solidFill>
              </a:rPr>
              <a:t>Empty elements need a self-closing slash- </a:t>
            </a:r>
            <a:r>
              <a:rPr lang="en" sz="1500">
                <a:solidFill>
                  <a:srgbClr val="000000"/>
                </a:solidFill>
              </a:rPr>
              <a:t>Certain HTML elements don’t have children, and these are known as "empty elements." Examples include &lt;img&gt;, &lt;br&gt;, &lt;input&gt;, &lt;link&gt;, etc. In HTML, you might write them without a closing tag (e.g., &lt;br&gt;), but in JSX, </a:t>
            </a:r>
            <a:r>
              <a:rPr lang="en" sz="1500" b="1">
                <a:solidFill>
                  <a:srgbClr val="000000"/>
                </a:solidFill>
              </a:rPr>
              <a:t>they must be self-closed</a:t>
            </a:r>
            <a:r>
              <a:rPr lang="en" sz="1500">
                <a:solidFill>
                  <a:srgbClr val="000000"/>
                </a:solidFill>
              </a:rPr>
              <a:t> with a slash (/).</a:t>
            </a:r>
            <a:r>
              <a:rPr lang="en" sz="1500" b="1">
                <a:solidFill>
                  <a:srgbClr val="FF0000"/>
                </a:solidFill>
              </a:rPr>
              <a:t>&lt;img src="image.jpg" alt="description" /&gt;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 b="1">
                <a:solidFill>
                  <a:srgbClr val="0000FF"/>
                </a:solidFill>
              </a:rPr>
              <a:t>Non-empty elements</a:t>
            </a:r>
            <a:endParaRPr sz="2020" b="1">
              <a:solidFill>
                <a:srgbClr val="0000FF"/>
              </a:solidFill>
            </a:endParaRPr>
          </a:p>
        </p:txBody>
      </p:sp>
      <p:sp>
        <p:nvSpPr>
          <p:cNvPr id="450" name="Google Shape;450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890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7"/>
              <a:buAutoNum type="alphaLcParenR"/>
            </a:pPr>
            <a:r>
              <a:rPr lang="en" sz="1737">
                <a:solidFill>
                  <a:schemeClr val="dk1"/>
                </a:solidFill>
              </a:rPr>
              <a:t>&lt;div&gt;</a:t>
            </a:r>
            <a:endParaRPr sz="1737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37">
                <a:solidFill>
                  <a:schemeClr val="dk1"/>
                </a:solidFill>
              </a:rPr>
              <a:t>  &lt;h1&gt;Welcome to my site&lt;/h1&gt;</a:t>
            </a:r>
            <a:endParaRPr sz="1737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37">
                <a:solidFill>
                  <a:schemeClr val="dk1"/>
                </a:solidFill>
              </a:rPr>
              <a:t>  &lt;p&gt;This is a paragraph inside a div.&lt;/p&gt;</a:t>
            </a:r>
            <a:endParaRPr sz="1737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37">
                <a:solidFill>
                  <a:schemeClr val="dk1"/>
                </a:solidFill>
              </a:rPr>
              <a:t>&lt;/div&gt;</a:t>
            </a:r>
            <a:endParaRPr sz="1737">
              <a:solidFill>
                <a:schemeClr val="dk1"/>
              </a:solidFill>
            </a:endParaRPr>
          </a:p>
          <a:p>
            <a:pPr marL="457200" lvl="0" indent="-338906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37"/>
              <a:buAutoNum type="alphaLcParenR"/>
            </a:pPr>
            <a:r>
              <a:rPr lang="en" sz="1737">
                <a:solidFill>
                  <a:schemeClr val="dk1"/>
                </a:solidFill>
              </a:rPr>
              <a:t>&lt;p&gt;This is a paragraph.&lt;/p&gt;</a:t>
            </a:r>
            <a:endParaRPr sz="1737">
              <a:solidFill>
                <a:schemeClr val="dk1"/>
              </a:solidFill>
            </a:endParaRPr>
          </a:p>
          <a:p>
            <a:pPr marL="457200" lvl="0" indent="-33890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7"/>
              <a:buAutoNum type="alphaLcParenR"/>
            </a:pPr>
            <a:r>
              <a:rPr lang="en" sz="1737">
                <a:solidFill>
                  <a:schemeClr val="dk1"/>
                </a:solidFill>
              </a:rPr>
              <a:t>&lt;h1&gt;This is a main heading&lt;/h1&gt;</a:t>
            </a:r>
            <a:endParaRPr sz="1737">
              <a:solidFill>
                <a:schemeClr val="dk1"/>
              </a:solidFill>
            </a:endParaRPr>
          </a:p>
          <a:p>
            <a:pPr marL="457200" lvl="0" indent="-33890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7"/>
              <a:buAutoNum type="alphaLcParenR"/>
            </a:pPr>
            <a:r>
              <a:rPr lang="en" sz="1737">
                <a:solidFill>
                  <a:schemeClr val="dk1"/>
                </a:solidFill>
              </a:rPr>
              <a:t>&lt;a href="https://www.example.com"&gt;Click here to visit Example&lt;/a&gt;</a:t>
            </a:r>
            <a:endParaRPr sz="1737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2"/>
          <p:cNvSpPr txBox="1">
            <a:spLocks noGrp="1"/>
          </p:cNvSpPr>
          <p:nvPr>
            <p:ph type="body" idx="1"/>
          </p:nvPr>
        </p:nvSpPr>
        <p:spPr>
          <a:xfrm>
            <a:off x="311700" y="449950"/>
            <a:ext cx="8520600" cy="41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3. String attributes must be in quotes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&lt;input type="text" name="username" /&gt;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4. HTML tags must be lowercase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&lt;div&gt;&lt;/div&gt; ✅   &lt;Div&gt;&lt;/Div&gt; ❌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</a:rPr>
              <a:t>5. Reserved HTML Attribute Names (due to JS conflicts)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&lt;label htmlFor="username"&gt;Username&lt;/label&gt;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JS: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F0000"/>
                </a:solidFill>
              </a:rPr>
              <a:t>&lt;label for="username"&gt;Username&lt;/label&gt;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56" name="Google Shape;45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300" y="2524300"/>
            <a:ext cx="220980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3"/>
          <p:cNvSpPr txBox="1">
            <a:spLocks noGrp="1"/>
          </p:cNvSpPr>
          <p:nvPr>
            <p:ph type="body" idx="1"/>
          </p:nvPr>
        </p:nvSpPr>
        <p:spPr>
          <a:xfrm>
            <a:off x="311700" y="211750"/>
            <a:ext cx="8520600" cy="46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6. camelCase for Multi-Word Attributes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In JSX, multi-word HTML attributes are </a:t>
            </a:r>
            <a:r>
              <a:rPr lang="en" sz="1600" b="1">
                <a:solidFill>
                  <a:schemeClr val="dk1"/>
                </a:solidFill>
              </a:rPr>
              <a:t>camelCased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7. </a:t>
            </a:r>
            <a:r>
              <a:rPr lang="en" sz="1600" b="1">
                <a:solidFill>
                  <a:srgbClr val="000000"/>
                </a:solidFill>
              </a:rPr>
              <a:t>Custom Attributes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 For Built-in DOM Elements</a:t>
            </a:r>
            <a:endParaRPr sz="1600" b="1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Before React 16: Use data- prefix. </a:t>
            </a:r>
            <a:r>
              <a:rPr lang="en" sz="1600" b="1">
                <a:solidFill>
                  <a:srgbClr val="000000"/>
                </a:solidFill>
              </a:rPr>
              <a:t>&lt;div data-color="blue" data-size="large"&gt;My Item&lt;/div&gt;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React 16+: Can use any attribute name (though still not best practice).</a:t>
            </a:r>
            <a:endParaRPr sz="1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0000"/>
                </a:solidFill>
              </a:rPr>
              <a:t>&lt;div color="blue" size="large"&gt;My Item&lt;/div&gt;</a:t>
            </a:r>
            <a:endParaRPr sz="15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62" name="Google Shape;46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588" y="1071963"/>
            <a:ext cx="200977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000000"/>
                </a:solidFill>
              </a:rPr>
              <a:t>For User-Defined Components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00"/>
                </a:solidFill>
              </a:rPr>
              <a:t>Custom attributes = </a:t>
            </a:r>
            <a:r>
              <a:rPr lang="en" sz="1600" b="1">
                <a:solidFill>
                  <a:srgbClr val="000000"/>
                </a:solidFill>
              </a:rPr>
              <a:t>props</a:t>
            </a:r>
            <a:r>
              <a:rPr lang="en" sz="1600">
                <a:solidFill>
                  <a:srgbClr val="000000"/>
                </a:solidFill>
              </a:rPr>
              <a:t> for components:</a:t>
            </a:r>
            <a:endParaRPr sz="1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FF0000"/>
                </a:solidFill>
              </a:rPr>
              <a:t>&lt;MyWidget widgetSize="large" color="blue" /&gt;</a:t>
            </a:r>
            <a:endParaRPr sz="16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8. Boolean Attributes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You can omit the value or pass true: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&lt;input disabled /&gt;        // ✅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00"/>
                </a:solidFill>
              </a:rPr>
              <a:t>&lt;input disabled={true} /&gt; // ✅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5"/>
          <p:cNvSpPr txBox="1">
            <a:spLocks noGrp="1"/>
          </p:cNvSpPr>
          <p:nvPr>
            <p:ph type="body" idx="1"/>
          </p:nvPr>
        </p:nvSpPr>
        <p:spPr>
          <a:xfrm>
            <a:off x="311700" y="202925"/>
            <a:ext cx="8520600" cy="46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9. Embedding JavaScript: Use {}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For values that are dynamic (like variables or functions), wrap in curly braces: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FF0000"/>
                </a:solidFill>
              </a:rPr>
              <a:t>&lt;input value={props.term} onChange={(e) =&gt; props.onChange(e.target.value)} /&gt;</a:t>
            </a:r>
            <a:endParaRPr sz="16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26" b="1">
                <a:solidFill>
                  <a:schemeClr val="dk1"/>
                </a:solidFill>
              </a:rPr>
              <a:t>10. Object Literals = Double Curly Braces</a:t>
            </a:r>
            <a:endParaRPr sz="1626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26">
                <a:solidFill>
                  <a:schemeClr val="dk1"/>
                </a:solidFill>
              </a:rPr>
              <a:t>Use double braces for inline style objects:</a:t>
            </a:r>
            <a:endParaRPr sz="1626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26" b="1">
                <a:solidFill>
                  <a:srgbClr val="FF0000"/>
                </a:solidFill>
              </a:rPr>
              <a:t>&lt;h1 style={{ fontSize: "24px", color: "blue" }}&gt;Hello&lt;/h1&gt;</a:t>
            </a:r>
            <a:endParaRPr sz="1626" b="1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first pair of curly braces {} is for JSX to evaluate the JavaScript expression. The second pair {} is for the </a:t>
            </a:r>
            <a:r>
              <a:rPr lang="en" sz="1600" b="1">
                <a:solidFill>
                  <a:schemeClr val="dk1"/>
                </a:solidFill>
              </a:rPr>
              <a:t>object literal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2126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11. Comments in JSX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Use JavaScript block comments, wrapped in {}: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b="1">
                <a:solidFill>
                  <a:srgbClr val="FF0000"/>
                </a:solidFill>
              </a:rPr>
              <a:t>{/* This is a comment */}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6"/>
          <p:cNvSpPr txBox="1">
            <a:spLocks noGrp="1"/>
          </p:cNvSpPr>
          <p:nvPr>
            <p:ph type="body" idx="1"/>
          </p:nvPr>
        </p:nvSpPr>
        <p:spPr>
          <a:xfrm>
            <a:off x="311700" y="397000"/>
            <a:ext cx="8520600" cy="47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function MyComponent(props) {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return (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  &lt;div className="container"&gt;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    {/* This is a header */}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    &lt;h1 style={{ fontSize: "20px", color: "green" }}&gt;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      Hello, {props.username}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0000"/>
                </a:solidFill>
              </a:rPr>
              <a:t>      &lt;/h1&gt;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7"/>
          <p:cNvSpPr txBox="1">
            <a:spLocks noGrp="1"/>
          </p:cNvSpPr>
          <p:nvPr>
            <p:ph type="body" idx="1"/>
          </p:nvPr>
        </p:nvSpPr>
        <p:spPr>
          <a:xfrm>
            <a:off x="311700" y="564650"/>
            <a:ext cx="8520600" cy="4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&lt;input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  type="text"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  name="search"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  value={props.searchTerm}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  onChange={(e) =&gt; props.onChange(e.target.value)}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  disabled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/&gt;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Install Node.js</a:t>
            </a:r>
            <a:r>
              <a:rPr lang="en" sz="2000">
                <a:solidFill>
                  <a:schemeClr val="dk1"/>
                </a:solidFill>
              </a:rPr>
              <a:t> (if you don’t already have it). - </a:t>
            </a:r>
            <a:r>
              <a:rPr lang="en" sz="2000" b="1">
                <a:solidFill>
                  <a:srgbClr val="0000FF"/>
                </a:solidFill>
              </a:rPr>
              <a:t>https://nodejs.org/en/download</a:t>
            </a: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npx create-react-app my-app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# OR (faster)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npm create vite@latest my-app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cd my-app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npm install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96" name="Google Shape;49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6" y="0"/>
            <a:ext cx="90653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03" name="Google Shape;50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685" y="12018"/>
            <a:ext cx="68126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0" name="Google Shape;51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6117"/>
            <a:ext cx="9144003" cy="4411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7" name="Google Shape;51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938" y="0"/>
            <a:ext cx="69021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24" name="Google Shape;52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327" y="0"/>
            <a:ext cx="714534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31" name="Google Shape;53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252" y="24035"/>
            <a:ext cx="73354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38" name="Google Shape;53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202" y="0"/>
            <a:ext cx="648959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45" name="Google Shape;54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49" y="0"/>
            <a:ext cx="81389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7"/>
          <p:cNvSpPr txBox="1">
            <a:spLocks noGrp="1"/>
          </p:cNvSpPr>
          <p:nvPr>
            <p:ph type="body" idx="1"/>
          </p:nvPr>
        </p:nvSpPr>
        <p:spPr>
          <a:xfrm>
            <a:off x="180027" y="50873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solidFill>
                  <a:schemeClr val="dk1"/>
                </a:solidFill>
              </a:rPr>
              <a:t>What is Conditional Rendering?</a:t>
            </a:r>
            <a:endParaRPr sz="2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It means:</a:t>
            </a: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 “Show this </a:t>
            </a:r>
            <a:r>
              <a:rPr lang="en" sz="2000" b="1" dirty="0">
                <a:solidFill>
                  <a:schemeClr val="dk1"/>
                </a:solidFill>
              </a:rPr>
              <a:t>only if</a:t>
            </a:r>
            <a:r>
              <a:rPr lang="en" sz="2000" dirty="0">
                <a:solidFill>
                  <a:schemeClr val="dk1"/>
                </a:solidFill>
              </a:rPr>
              <a:t> some condition is true.”</a:t>
            </a: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 Or: “Show </a:t>
            </a:r>
            <a:r>
              <a:rPr lang="en" sz="2000" b="1" dirty="0">
                <a:solidFill>
                  <a:schemeClr val="dk1"/>
                </a:solidFill>
              </a:rPr>
              <a:t>A</a:t>
            </a:r>
            <a:r>
              <a:rPr lang="en" sz="2000" dirty="0">
                <a:solidFill>
                  <a:schemeClr val="dk1"/>
                </a:solidFill>
              </a:rPr>
              <a:t> if condition is true, otherwise show </a:t>
            </a:r>
            <a:r>
              <a:rPr lang="en" sz="2000" b="1" dirty="0">
                <a:solidFill>
                  <a:schemeClr val="dk1"/>
                </a:solidFill>
              </a:rPr>
              <a:t>B</a:t>
            </a:r>
            <a:r>
              <a:rPr lang="en" sz="2000" dirty="0">
                <a:solidFill>
                  <a:schemeClr val="dk1"/>
                </a:solidFill>
              </a:rPr>
              <a:t>.”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In React, we often need this when showing different UI for </a:t>
            </a:r>
            <a:r>
              <a:rPr lang="en" sz="2000" b="1" dirty="0">
                <a:solidFill>
                  <a:schemeClr val="dk1"/>
                </a:solidFill>
              </a:rPr>
              <a:t>logged in</a:t>
            </a:r>
            <a:r>
              <a:rPr lang="en" sz="2000" dirty="0">
                <a:solidFill>
                  <a:schemeClr val="dk1"/>
                </a:solidFill>
              </a:rPr>
              <a:t> vs </a:t>
            </a:r>
            <a:r>
              <a:rPr lang="en" sz="2000" b="1" dirty="0">
                <a:solidFill>
                  <a:schemeClr val="dk1"/>
                </a:solidFill>
              </a:rPr>
              <a:t>logged out</a:t>
            </a:r>
            <a:r>
              <a:rPr lang="en" sz="2000" dirty="0">
                <a:solidFill>
                  <a:schemeClr val="dk1"/>
                </a:solidFill>
              </a:rPr>
              <a:t> users, error messages, loading screens, etc.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000000"/>
                </a:solidFill>
              </a:rPr>
              <a:t>1. Conditional Rendering with if/else + element variables</a:t>
            </a:r>
            <a:endParaRPr sz="4200" b="1">
              <a:solidFill>
                <a:srgbClr val="000000"/>
              </a:solidFill>
            </a:endParaRPr>
          </a:p>
        </p:txBody>
      </p:sp>
      <p:sp>
        <p:nvSpPr>
          <p:cNvPr id="557" name="Google Shape;557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import Header from './Header';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import Login from './Login';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function Welcome({ loggedIn }) {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  let content;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  if (loggedIn) {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    content = &lt;Header /&gt;;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  } else {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092"/>
              <a:buFont typeface="Arial"/>
              <a:buNone/>
            </a:pPr>
            <a:r>
              <a:rPr lang="en" sz="2072">
                <a:solidFill>
                  <a:srgbClr val="000000"/>
                </a:solidFill>
              </a:rPr>
              <a:t>    content = &lt;Login /&gt;;</a:t>
            </a:r>
            <a:endParaRPr sz="2072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72">
                <a:solidFill>
                  <a:srgbClr val="000000"/>
                </a:solidFill>
              </a:rPr>
              <a:t>  }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return 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{content}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export default Welcome;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64" name="Google Shape;564;p99"/>
          <p:cNvSpPr txBox="1"/>
          <p:nvPr/>
        </p:nvSpPr>
        <p:spPr>
          <a:xfrm>
            <a:off x="3136575" y="1430075"/>
            <a:ext cx="5588100" cy="1802700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What happens: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If </a:t>
            </a:r>
            <a:r>
              <a:rPr lang="en" sz="1900">
                <a:solidFill>
                  <a:srgbClr val="188038"/>
                </a:solidFill>
              </a:rPr>
              <a:t>loggedIn = true</a:t>
            </a:r>
            <a:r>
              <a:rPr lang="en" sz="1900">
                <a:solidFill>
                  <a:schemeClr val="dk1"/>
                </a:solidFill>
              </a:rPr>
              <a:t> → </a:t>
            </a:r>
            <a:r>
              <a:rPr lang="en" sz="1900">
                <a:solidFill>
                  <a:srgbClr val="188038"/>
                </a:solidFill>
              </a:rPr>
              <a:t>&lt;Header /&gt;</a:t>
            </a:r>
            <a:r>
              <a:rPr lang="en" sz="1900">
                <a:solidFill>
                  <a:schemeClr val="dk1"/>
                </a:solidFill>
              </a:rPr>
              <a:t> is shown.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If </a:t>
            </a:r>
            <a:r>
              <a:rPr lang="en" sz="1900">
                <a:solidFill>
                  <a:srgbClr val="188038"/>
                </a:solidFill>
              </a:rPr>
              <a:t>loggedIn = false</a:t>
            </a:r>
            <a:r>
              <a:rPr lang="en" sz="1900">
                <a:solidFill>
                  <a:schemeClr val="dk1"/>
                </a:solidFill>
              </a:rPr>
              <a:t> → </a:t>
            </a:r>
            <a:r>
              <a:rPr lang="en" sz="1900">
                <a:solidFill>
                  <a:srgbClr val="188038"/>
                </a:solidFill>
              </a:rPr>
              <a:t>&lt;Login /&gt;</a:t>
            </a:r>
            <a:r>
              <a:rPr lang="en" sz="1900">
                <a:solidFill>
                  <a:schemeClr val="dk1"/>
                </a:solidFill>
              </a:rPr>
              <a:t> is shown.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0"/>
          <p:cNvSpPr txBox="1">
            <a:spLocks noGrp="1"/>
          </p:cNvSpPr>
          <p:nvPr>
            <p:ph type="body" idx="1"/>
          </p:nvPr>
        </p:nvSpPr>
        <p:spPr>
          <a:xfrm>
            <a:off x="311700" y="192275"/>
            <a:ext cx="8520600" cy="48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function Welcome({ loggedIn }) {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let message;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if (loggedIn) {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  message = &lt;h2&gt;Welcome back!&lt;/h2&gt;;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} else {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  message = &lt;h2&gt;Please log in&lt;/h2&gt;;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3">
                <a:solidFill>
                  <a:schemeClr val="dk1"/>
                </a:solidFill>
              </a:rPr>
              <a:t>  }</a:t>
            </a:r>
            <a:endParaRPr sz="24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  return (</a:t>
            </a:r>
            <a:endParaRPr sz="21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    &lt;div&gt;</a:t>
            </a:r>
            <a:endParaRPr sz="21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      {message}</a:t>
            </a:r>
            <a:endParaRPr sz="21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    &lt;/div&gt;</a:t>
            </a:r>
            <a:endParaRPr sz="21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  );</a:t>
            </a:r>
            <a:endParaRPr sz="210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3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934800-F5BB-0CB9-F68F-4307AB83FAAB}"/>
              </a:ext>
            </a:extLst>
          </p:cNvPr>
          <p:cNvSpPr txBox="1"/>
          <p:nvPr/>
        </p:nvSpPr>
        <p:spPr>
          <a:xfrm>
            <a:off x="482803" y="146305"/>
            <a:ext cx="6375197" cy="449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function App() {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let </a:t>
            </a:r>
            <a:r>
              <a:rPr lang="en-IN" sz="2000" dirty="0" err="1"/>
              <a:t>isLoggedIn</a:t>
            </a:r>
            <a:r>
              <a:rPr lang="en-IN" sz="2000" dirty="0"/>
              <a:t> = true;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if (</a:t>
            </a:r>
            <a:r>
              <a:rPr lang="en-IN" sz="2000" dirty="0" err="1"/>
              <a:t>isLoggedIn</a:t>
            </a:r>
            <a:r>
              <a:rPr lang="en-IN" sz="2000" dirty="0"/>
              <a:t>) {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return &lt;h1&gt;Welcome, User!&lt;/h1&gt;;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}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else {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return &lt;h1&gt;Please Login&lt;/h1&gt;;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}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}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export default App;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4879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2"/>
          <p:cNvSpPr txBox="1">
            <a:spLocks noGrp="1"/>
          </p:cNvSpPr>
          <p:nvPr>
            <p:ph type="title"/>
          </p:nvPr>
        </p:nvSpPr>
        <p:spPr>
          <a:xfrm>
            <a:off x="311700" y="72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2489"/>
              <a:buFont typeface="Arial"/>
              <a:buNone/>
            </a:pPr>
            <a:r>
              <a:rPr lang="en" sz="2589" b="1">
                <a:solidFill>
                  <a:srgbClr val="000000"/>
                </a:solidFill>
              </a:rPr>
              <a:t>2. Conditional Rendering with </a:t>
            </a:r>
            <a:r>
              <a:rPr lang="en" sz="2589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n" sz="2589" b="1">
                <a:solidFill>
                  <a:srgbClr val="000000"/>
                </a:solidFill>
              </a:rPr>
              <a:t> (logical AND)</a:t>
            </a:r>
            <a:endParaRPr sz="2589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02"/>
          <p:cNvSpPr txBox="1">
            <a:spLocks noGrp="1"/>
          </p:cNvSpPr>
          <p:nvPr>
            <p:ph type="body" idx="1"/>
          </p:nvPr>
        </p:nvSpPr>
        <p:spPr>
          <a:xfrm>
            <a:off x="311700" y="645200"/>
            <a:ext cx="8520600" cy="44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import Header from './Header';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function Welcome({ loggedIn })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return 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{loggedIn &amp;&amp; &lt;Header /&gt;}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Note: if you don't see the header, you're not logged in.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export default Welcome;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82" name="Google Shape;582;p102"/>
          <p:cNvSpPr txBox="1"/>
          <p:nvPr/>
        </p:nvSpPr>
        <p:spPr>
          <a:xfrm>
            <a:off x="3737450" y="901150"/>
            <a:ext cx="5323200" cy="19590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How it works: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/>
              <a:t>loggedIn &amp;&amp; &lt;Header /&gt; means: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/>
              <a:t>If loggedIn = true → show &lt;Header /&gt;.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/>
              <a:t>If loggedIn = false → show nothing.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3"/>
          <p:cNvSpPr txBox="1">
            <a:spLocks noGrp="1"/>
          </p:cNvSpPr>
          <p:nvPr>
            <p:ph type="title"/>
          </p:nvPr>
        </p:nvSpPr>
        <p:spPr>
          <a:xfrm>
            <a:off x="311700" y="132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000000"/>
                </a:solidFill>
              </a:rPr>
              <a:t>3. Conditional Rendering with ? : (Ternary Operator)</a:t>
            </a:r>
            <a:endParaRPr sz="4200" b="1">
              <a:solidFill>
                <a:srgbClr val="000000"/>
              </a:solidFill>
            </a:endParaRPr>
          </a:p>
        </p:txBody>
      </p:sp>
      <p:sp>
        <p:nvSpPr>
          <p:cNvPr id="588" name="Google Shape;588;p103"/>
          <p:cNvSpPr txBox="1">
            <a:spLocks noGrp="1"/>
          </p:cNvSpPr>
          <p:nvPr>
            <p:ph type="body" idx="1"/>
          </p:nvPr>
        </p:nvSpPr>
        <p:spPr>
          <a:xfrm>
            <a:off x="311700" y="705275"/>
            <a:ext cx="8520600" cy="4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import Header from './Header';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import Login from './Login';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function Welcome({ loggedIn }) {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return 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  {loggedIn ? &lt;Header /&gt; : &lt;Login /&gt;}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  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export default Welcome;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89" name="Google Shape;589;p103"/>
          <p:cNvSpPr txBox="1"/>
          <p:nvPr/>
        </p:nvSpPr>
        <p:spPr>
          <a:xfrm>
            <a:off x="4879125" y="1550250"/>
            <a:ext cx="3401100" cy="26199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How it works: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If </a:t>
            </a:r>
            <a:r>
              <a:rPr lang="en" sz="2100">
                <a:solidFill>
                  <a:srgbClr val="188038"/>
                </a:solidFill>
              </a:rPr>
              <a:t>loggedIn = true</a:t>
            </a:r>
            <a:r>
              <a:rPr lang="en" sz="2100">
                <a:solidFill>
                  <a:schemeClr val="dk1"/>
                </a:solidFill>
              </a:rPr>
              <a:t> → show </a:t>
            </a:r>
            <a:r>
              <a:rPr lang="en" sz="2100">
                <a:solidFill>
                  <a:srgbClr val="188038"/>
                </a:solidFill>
              </a:rPr>
              <a:t>&lt;Header /&gt;</a:t>
            </a:r>
            <a:r>
              <a:rPr lang="en" sz="2100">
                <a:solidFill>
                  <a:schemeClr val="dk1"/>
                </a:solidFill>
              </a:rPr>
              <a:t>.</a:t>
            </a:r>
            <a:br>
              <a:rPr lang="e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If </a:t>
            </a:r>
            <a:r>
              <a:rPr lang="en" sz="2100">
                <a:solidFill>
                  <a:srgbClr val="188038"/>
                </a:solidFill>
              </a:rPr>
              <a:t>loggedIn = false</a:t>
            </a:r>
            <a:r>
              <a:rPr lang="en" sz="2100">
                <a:solidFill>
                  <a:schemeClr val="dk1"/>
                </a:solidFill>
              </a:rPr>
              <a:t> → show </a:t>
            </a:r>
            <a:r>
              <a:rPr lang="en" sz="2100">
                <a:solidFill>
                  <a:srgbClr val="188038"/>
                </a:solidFill>
              </a:rPr>
              <a:t>&lt;Login /&gt;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0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96" name="Google Shape;59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520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03" name="Google Shape;60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16" y="0"/>
            <a:ext cx="767636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FF"/>
                </a:solidFill>
              </a:rPr>
              <a:t>Expressions in JSX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609" name="Google Shape;609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solidFill>
                  <a:schemeClr val="dk1"/>
                </a:solidFill>
              </a:rPr>
              <a:t>What can go inside { }?</a:t>
            </a:r>
            <a:endParaRPr sz="2600" b="1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 dirty="0">
                <a:solidFill>
                  <a:schemeClr val="dk1"/>
                </a:solidFill>
              </a:rPr>
              <a:t>Numbers: {1+1} → shows 2</a:t>
            </a:r>
            <a:endParaRPr sz="2600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 dirty="0">
                <a:solidFill>
                  <a:schemeClr val="dk1"/>
                </a:solidFill>
              </a:rPr>
              <a:t>Strings: {"Hello " + "World"} → shows Hello World</a:t>
            </a:r>
            <a:endParaRPr sz="2600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 dirty="0">
                <a:solidFill>
                  <a:schemeClr val="dk1"/>
                </a:solidFill>
              </a:rPr>
              <a:t>Variables: {username}</a:t>
            </a:r>
            <a:endParaRPr sz="2600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 dirty="0">
                <a:solidFill>
                  <a:schemeClr val="dk1"/>
                </a:solidFill>
              </a:rPr>
              <a:t>Function calls: {myFunction()}</a:t>
            </a:r>
            <a:endParaRPr sz="2600" dirty="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 dirty="0">
                <a:solidFill>
                  <a:schemeClr val="dk1"/>
                </a:solidFill>
              </a:rPr>
              <a:t>Immediately invoked functions: {(() =&gt; "value")()}</a:t>
            </a:r>
            <a:endParaRPr sz="2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0000"/>
                </a:solidFill>
              </a:rPr>
              <a:t>What cannot go directly inside { }?</a:t>
            </a:r>
            <a:endParaRPr sz="2300" b="1">
              <a:solidFill>
                <a:srgbClr val="000000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if statements</a:t>
            </a:r>
            <a:br>
              <a:rPr lang="en" sz="2100">
                <a:solidFill>
                  <a:srgbClr val="000000"/>
                </a:solidFill>
              </a:rPr>
            </a:br>
            <a:endParaRPr sz="2100">
              <a:solidFill>
                <a:srgbClr val="00000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for loops</a:t>
            </a:r>
            <a:br>
              <a:rPr lang="en" sz="2100">
                <a:solidFill>
                  <a:srgbClr val="000000"/>
                </a:solidFill>
              </a:rPr>
            </a:br>
            <a:endParaRPr sz="2100">
              <a:solidFill>
                <a:srgbClr val="00000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Function declarations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These don’t produce a </a:t>
            </a:r>
            <a:r>
              <a:rPr lang="en" sz="2100" b="1">
                <a:solidFill>
                  <a:srgbClr val="000000"/>
                </a:solidFill>
              </a:rPr>
              <a:t>value</a:t>
            </a:r>
            <a:r>
              <a:rPr lang="en" sz="2100">
                <a:solidFill>
                  <a:srgbClr val="000000"/>
                </a:solidFill>
              </a:rPr>
              <a:t> directly, so you must run them </a:t>
            </a:r>
            <a:r>
              <a:rPr lang="en" sz="2100" i="1">
                <a:solidFill>
                  <a:srgbClr val="000000"/>
                </a:solidFill>
              </a:rPr>
              <a:t>outside</a:t>
            </a:r>
            <a:r>
              <a:rPr lang="en" sz="2100">
                <a:solidFill>
                  <a:srgbClr val="000000"/>
                </a:solidFill>
              </a:rPr>
              <a:t> JSX.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C4F85-4BDC-E98A-C347-CAEA6D039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" y="51206"/>
            <a:ext cx="8751833" cy="4517669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Examples:</a:t>
            </a:r>
          </a:p>
          <a:p>
            <a:pPr>
              <a:buFont typeface="+mj-lt"/>
              <a:buAutoNum type="arabicPeriod"/>
            </a:pPr>
            <a:r>
              <a:rPr lang="en-IN" dirty="0"/>
              <a:t>&lt;h1&gt;{1 + 1}&lt;/h1&gt;</a:t>
            </a:r>
          </a:p>
          <a:p>
            <a:pPr>
              <a:buFont typeface="+mj-lt"/>
              <a:buAutoNum type="arabicPeriod"/>
            </a:pPr>
            <a:r>
              <a:rPr lang="en-IN" dirty="0"/>
              <a:t>function App() { </a:t>
            </a:r>
          </a:p>
          <a:p>
            <a:pPr marL="114300" indent="0">
              <a:buNone/>
            </a:pPr>
            <a:r>
              <a:rPr lang="en-IN" dirty="0"/>
              <a:t>	return ( </a:t>
            </a:r>
          </a:p>
          <a:p>
            <a:pPr marL="114300" indent="0">
              <a:buNone/>
            </a:pPr>
            <a:r>
              <a:rPr lang="en-IN" dirty="0"/>
              <a:t>	   &lt;div&gt; </a:t>
            </a:r>
          </a:p>
          <a:p>
            <a:pPr marL="114300" indent="0">
              <a:buNone/>
            </a:pPr>
            <a:r>
              <a:rPr lang="en-IN" dirty="0"/>
              <a:t>	      &lt;h1&gt;{1 + 1}&lt;/h1&gt; </a:t>
            </a:r>
          </a:p>
          <a:p>
            <a:pPr marL="114300" indent="0">
              <a:buNone/>
            </a:pPr>
            <a:r>
              <a:rPr lang="en-IN" dirty="0"/>
              <a:t>	      &lt;h1&gt;{10 * 5}&lt;/h1&gt; </a:t>
            </a:r>
          </a:p>
          <a:p>
            <a:pPr marL="114300" indent="0">
              <a:buNone/>
            </a:pPr>
            <a:r>
              <a:rPr lang="en-IN" dirty="0"/>
              <a:t>	      &lt;h1&gt;{100 / 4}&lt;/h1&gt; </a:t>
            </a:r>
          </a:p>
          <a:p>
            <a:pPr marL="114300" indent="0">
              <a:buNone/>
            </a:pPr>
            <a:r>
              <a:rPr lang="en-IN" dirty="0"/>
              <a:t>	      &lt;/div&gt; ); } </a:t>
            </a:r>
          </a:p>
          <a:p>
            <a:pPr marL="114300" indent="0">
              <a:buNone/>
            </a:pPr>
            <a:r>
              <a:rPr lang="en-IN" dirty="0"/>
              <a:t>    export default App;</a:t>
            </a:r>
          </a:p>
          <a:p>
            <a:pPr marL="114300" indent="0">
              <a:buNone/>
            </a:pPr>
            <a:r>
              <a:rPr lang="en-IN" dirty="0"/>
              <a:t>3. &lt;p&gt;My age is {20 + 5}&lt;/p&gt;</a:t>
            </a:r>
          </a:p>
          <a:p>
            <a:pPr marL="114300" indent="0">
              <a:buNone/>
            </a:pPr>
            <a:r>
              <a:rPr lang="en-IN" dirty="0"/>
              <a:t>4. &lt;h1&gt;{"Hello " + "World"}&lt;/h1&gt;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3260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"/>
          <p:cNvSpPr txBox="1">
            <a:spLocks noGrp="1"/>
          </p:cNvSpPr>
          <p:nvPr>
            <p:ph type="body" idx="1"/>
          </p:nvPr>
        </p:nvSpPr>
        <p:spPr>
          <a:xfrm>
            <a:off x="311700" y="96150"/>
            <a:ext cx="8520600" cy="49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import { useState } from "react";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function CountUp() {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const [count, setCount] = useState(0);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return (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&lt;div&gt;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  {/* Button calls a function (expression) on click */}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  &lt;button onClick={() =&gt; setCount(count + 1)}&gt;Add One&lt;/button&gt;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  {/* Expression: shows the value of count */}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  {count}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  &lt;/div&gt;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  );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 b="1">
                <a:solidFill>
                  <a:srgbClr val="000000"/>
                </a:solidFill>
              </a:rPr>
              <a:t>}</a:t>
            </a:r>
            <a:endParaRPr sz="163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630" b="1">
                <a:solidFill>
                  <a:srgbClr val="000000"/>
                </a:solidFill>
              </a:rPr>
              <a:t>export default CountUp;</a:t>
            </a:r>
            <a:endParaRPr sz="1630" b="1">
              <a:solidFill>
                <a:srgbClr val="000000"/>
              </a:solidFill>
            </a:endParaRPr>
          </a:p>
        </p:txBody>
      </p:sp>
      <p:sp>
        <p:nvSpPr>
          <p:cNvPr id="621" name="Google Shape;621;p108"/>
          <p:cNvSpPr txBox="1"/>
          <p:nvPr/>
        </p:nvSpPr>
        <p:spPr>
          <a:xfrm>
            <a:off x="1586325" y="3328850"/>
            <a:ext cx="7955700" cy="1430100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Here: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/>
              <a:t>onClick={() =&gt; setCount(count+1)} is an </a:t>
            </a:r>
            <a:r>
              <a:rPr lang="en" sz="1800" b="1"/>
              <a:t>arrow function</a:t>
            </a:r>
            <a:r>
              <a:rPr lang="en" sz="1800"/>
              <a:t> (expression).</a:t>
            </a:r>
            <a:endParaRPr sz="18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800"/>
              <a:t>{count} is also an </a:t>
            </a:r>
            <a:r>
              <a:rPr lang="en" sz="1800" b="1"/>
              <a:t>expression</a:t>
            </a:r>
            <a:r>
              <a:rPr lang="en" sz="1800"/>
              <a:t> (value of the variable count).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9"/>
          <p:cNvSpPr txBox="1">
            <a:spLocks noGrp="1"/>
          </p:cNvSpPr>
          <p:nvPr>
            <p:ph type="title"/>
          </p:nvPr>
        </p:nvSpPr>
        <p:spPr>
          <a:xfrm>
            <a:off x="311700" y="8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Example 2: Immediately Invoked Function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27" name="Google Shape;627;p109"/>
          <p:cNvSpPr txBox="1">
            <a:spLocks noGrp="1"/>
          </p:cNvSpPr>
          <p:nvPr>
            <p:ph type="body" idx="1"/>
          </p:nvPr>
        </p:nvSpPr>
        <p:spPr>
          <a:xfrm>
            <a:off x="311700" y="657200"/>
            <a:ext cx="8520600" cy="42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function ImmediateInvoke() {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 return (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   &lt;div&gt;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     {(() =&gt; &lt;h1&gt;The Header&lt;/h1&gt;)()}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   &lt;/div&gt;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  );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}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export default ImmediateInvoke;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628" name="Google Shape;628;p109"/>
          <p:cNvSpPr txBox="1"/>
          <p:nvPr/>
        </p:nvSpPr>
        <p:spPr>
          <a:xfrm>
            <a:off x="4867100" y="901325"/>
            <a:ext cx="4062000" cy="4013700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Here: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Inside { }, we create a function:</a:t>
            </a:r>
            <a:br>
              <a:rPr lang="en" sz="1900"/>
            </a:br>
            <a:r>
              <a:rPr lang="en" sz="1900"/>
              <a:t> () =&gt; &lt;h1&gt;The Header&lt;/h1&gt;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/>
              <a:t>Then </a:t>
            </a:r>
            <a:r>
              <a:rPr lang="en" sz="1900" b="1"/>
              <a:t>immediately call it</a:t>
            </a:r>
            <a:r>
              <a:rPr lang="en" sz="1900"/>
              <a:t> with ().</a:t>
            </a:r>
            <a:endParaRPr sz="1900"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/>
              <a:t>So it returns &lt;h1&gt;The Header&lt;/h1&gt; which JSX can render.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83E41-1EC4-0CD3-9480-697D4B531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" y="65837"/>
            <a:ext cx="8851392" cy="4974335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1600" b="1" dirty="0"/>
              <a:t>Why would we use an IIFE in JSX?</a:t>
            </a:r>
          </a:p>
          <a:p>
            <a:r>
              <a:rPr lang="en-IN" sz="1600" dirty="0"/>
              <a:t>It can be useful when you need </a:t>
            </a:r>
            <a:r>
              <a:rPr lang="en-IN" sz="1600" b="1" dirty="0"/>
              <a:t>several JavaScript statements or a small calculation</a:t>
            </a:r>
            <a:r>
              <a:rPr lang="en-IN" sz="1600" dirty="0"/>
              <a:t> inside JSX.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function App() {</a:t>
            </a:r>
          </a:p>
          <a:p>
            <a:pPr marL="114300" indent="0">
              <a:buNone/>
            </a:pPr>
            <a:r>
              <a:rPr lang="en-IN" sz="1600" dirty="0"/>
              <a:t>  return (</a:t>
            </a:r>
          </a:p>
          <a:p>
            <a:pPr marL="114300" indent="0">
              <a:buNone/>
            </a:pPr>
            <a:r>
              <a:rPr lang="en-IN" sz="1600" dirty="0"/>
              <a:t>    &lt;div&gt;</a:t>
            </a:r>
          </a:p>
          <a:p>
            <a:pPr marL="114300" indent="0">
              <a:buNone/>
            </a:pPr>
            <a:r>
              <a:rPr lang="en-IN" sz="1600" dirty="0"/>
              <a:t>      {(() =&gt; {</a:t>
            </a:r>
          </a:p>
          <a:p>
            <a:pPr marL="114300" indent="0">
              <a:buNone/>
            </a:pPr>
            <a:r>
              <a:rPr lang="en-IN" sz="1600" dirty="0"/>
              <a:t>        let a = 10;</a:t>
            </a:r>
          </a:p>
          <a:p>
            <a:pPr marL="114300" indent="0">
              <a:buNone/>
            </a:pPr>
            <a:r>
              <a:rPr lang="en-IN" sz="1600" dirty="0"/>
              <a:t>        let b = 20;</a:t>
            </a:r>
          </a:p>
          <a:p>
            <a:pPr marL="114300" indent="0">
              <a:buNone/>
            </a:pPr>
            <a:r>
              <a:rPr lang="en-IN" sz="1600" dirty="0"/>
              <a:t>        let result = a + b;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        return &lt;h1&gt;Result: {result}&lt;/h1&gt;;</a:t>
            </a:r>
          </a:p>
          <a:p>
            <a:pPr marL="114300" indent="0">
              <a:buNone/>
            </a:pPr>
            <a:r>
              <a:rPr lang="en-IN" sz="1600" dirty="0"/>
              <a:t>      })()}</a:t>
            </a:r>
          </a:p>
          <a:p>
            <a:pPr marL="114300" indent="0">
              <a:buNone/>
            </a:pPr>
            <a:r>
              <a:rPr lang="en-IN" sz="1600" dirty="0"/>
              <a:t>    &lt;/div&gt;</a:t>
            </a:r>
          </a:p>
          <a:p>
            <a:pPr marL="114300" indent="0">
              <a:buNone/>
            </a:pPr>
            <a:r>
              <a:rPr lang="en-IN" sz="1600" dirty="0"/>
              <a:t>  );</a:t>
            </a:r>
          </a:p>
          <a:p>
            <a:pPr marL="114300" indent="0">
              <a:buNone/>
            </a:pPr>
            <a:r>
              <a:rPr lang="en-IN" sz="1600" dirty="0"/>
              <a:t>}</a:t>
            </a:r>
          </a:p>
          <a:p>
            <a:pPr marL="114300" indent="0">
              <a:buNone/>
            </a:pP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export default App;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521F3-69CB-088B-F012-3896A485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496" y="1123642"/>
            <a:ext cx="2220290" cy="128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5437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6926A-05B1-1E4B-3D59-278088483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413" y="-58522"/>
            <a:ext cx="8729887" cy="4627397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2600" b="1" dirty="0"/>
              <a:t>Using all five together:				output:</a:t>
            </a:r>
          </a:p>
          <a:p>
            <a:pPr marL="11430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114300" indent="0">
              <a:buNone/>
            </a:pPr>
            <a:r>
              <a:rPr lang="en-IN" dirty="0"/>
              <a:t>  return "Hello from function!";</a:t>
            </a:r>
          </a:p>
          <a:p>
            <a:pPr marL="114300" indent="0">
              <a:buNone/>
            </a:pPr>
            <a:r>
              <a:rPr lang="en-IN" dirty="0"/>
              <a:t>}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function App() {</a:t>
            </a:r>
          </a:p>
          <a:p>
            <a:pPr marL="114300" indent="0">
              <a:buNone/>
            </a:pPr>
            <a:r>
              <a:rPr lang="en-IN" dirty="0"/>
              <a:t>  let username = "Anitha";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return (</a:t>
            </a:r>
          </a:p>
          <a:p>
            <a:pPr marL="114300" indent="0">
              <a:buNone/>
            </a:pPr>
            <a:r>
              <a:rPr lang="en-IN" dirty="0"/>
              <a:t>    &lt;div&gt;</a:t>
            </a:r>
          </a:p>
          <a:p>
            <a:pPr marL="114300" indent="0">
              <a:buNone/>
            </a:pPr>
            <a:r>
              <a:rPr lang="en-IN" dirty="0"/>
              <a:t>      &lt;h1&gt;Expressions in JSX&lt;/h1&gt;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&lt;p&gt;Number: {1 + 1}&lt;/p&gt;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&lt;p&gt;String: {"Hello " + "World"}&lt;/p&gt;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&lt;p&gt;Variable: {username}&lt;/p&gt;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&lt;p&gt;Function: {</a:t>
            </a:r>
            <a:r>
              <a:rPr lang="en-IN" dirty="0" err="1"/>
              <a:t>myFunction</a:t>
            </a:r>
            <a:r>
              <a:rPr lang="en-IN" dirty="0"/>
              <a:t>()}&lt;/p&gt;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&lt;p&gt;IIFE: {(() =&gt; "value")()}&lt;/p&gt;</a:t>
            </a:r>
          </a:p>
          <a:p>
            <a:pPr marL="114300" indent="0">
              <a:buNone/>
            </a:pPr>
            <a:r>
              <a:rPr lang="en-IN" dirty="0"/>
              <a:t>    &lt;/div&gt;</a:t>
            </a:r>
          </a:p>
          <a:p>
            <a:pPr marL="114300" indent="0">
              <a:buNone/>
            </a:pPr>
            <a:r>
              <a:rPr lang="en-IN" dirty="0"/>
              <a:t>  );</a:t>
            </a:r>
          </a:p>
          <a:p>
            <a:pPr marL="114300" indent="0">
              <a:buNone/>
            </a:pPr>
            <a:r>
              <a:rPr lang="en-IN" dirty="0"/>
              <a:t>}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export default App;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F5C0A-FBDC-B2CE-C04A-773A78926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30" y="553289"/>
            <a:ext cx="2228816" cy="234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300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>
            <a:spLocks noGrp="1"/>
          </p:cNvSpPr>
          <p:nvPr>
            <p:ph type="title"/>
          </p:nvPr>
        </p:nvSpPr>
        <p:spPr>
          <a:xfrm>
            <a:off x="311700" y="108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Using Children in JSX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34" name="Google Shape;634;p110"/>
          <p:cNvSpPr txBox="1">
            <a:spLocks noGrp="1"/>
          </p:cNvSpPr>
          <p:nvPr>
            <p:ph type="body" idx="1"/>
          </p:nvPr>
        </p:nvSpPr>
        <p:spPr>
          <a:xfrm>
            <a:off x="311700" y="681225"/>
            <a:ext cx="8520600" cy="4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000000"/>
                </a:solidFill>
              </a:rPr>
              <a:t>The rule</a:t>
            </a:r>
            <a:endParaRPr sz="20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A React component’s </a:t>
            </a:r>
            <a:r>
              <a:rPr lang="en" sz="2000" b="1">
                <a:solidFill>
                  <a:srgbClr val="000000"/>
                </a:solidFill>
              </a:rPr>
              <a:t>return statement must return only one “thing”</a:t>
            </a:r>
            <a:r>
              <a:rPr lang="en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That “thing” can be: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 string: "Hello"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 number: 123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 Boolean: true or false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An array: [&lt;A /&gt;, &lt;B /&gt;]</a:t>
            </a:r>
            <a:endParaRPr sz="200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A </a:t>
            </a:r>
            <a:r>
              <a:rPr lang="en" sz="2000" b="1">
                <a:solidFill>
                  <a:srgbClr val="000000"/>
                </a:solidFill>
              </a:rPr>
              <a:t>single JSX element</a:t>
            </a:r>
            <a:endParaRPr sz="20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Even if you want to show </a:t>
            </a:r>
            <a:r>
              <a:rPr lang="en" sz="2000" b="1">
                <a:solidFill>
                  <a:srgbClr val="000000"/>
                </a:solidFill>
              </a:rPr>
              <a:t>multiple elements</a:t>
            </a:r>
            <a:r>
              <a:rPr lang="en" sz="2000">
                <a:solidFill>
                  <a:srgbClr val="000000"/>
                </a:solidFill>
              </a:rPr>
              <a:t>, they must be </a:t>
            </a:r>
            <a:r>
              <a:rPr lang="en" sz="2000" b="1">
                <a:solidFill>
                  <a:srgbClr val="000000"/>
                </a:solidFill>
              </a:rPr>
              <a:t>inside a single parent element</a:t>
            </a:r>
            <a:r>
              <a:rPr lang="en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816"/>
              <a:buFont typeface="Arial"/>
              <a:buNone/>
            </a:pPr>
            <a:r>
              <a:rPr lang="en" sz="2208" b="1" dirty="0">
                <a:solidFill>
                  <a:srgbClr val="000000"/>
                </a:solidFill>
              </a:rPr>
              <a:t>Example of invalid JSX</a:t>
            </a:r>
            <a:endParaRPr sz="2208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8" dirty="0">
                <a:solidFill>
                  <a:srgbClr val="000000"/>
                </a:solidFill>
              </a:rPr>
              <a:t>return(</a:t>
            </a:r>
            <a:endParaRPr sz="220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8" dirty="0">
                <a:solidFill>
                  <a:srgbClr val="000000"/>
                </a:solidFill>
              </a:rPr>
              <a:t>  &lt;MyComponent /&gt;</a:t>
            </a:r>
            <a:endParaRPr sz="220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8" dirty="0">
                <a:solidFill>
                  <a:srgbClr val="000000"/>
                </a:solidFill>
              </a:rPr>
              <a:t>  &lt;MyOtherComponent /&gt;</a:t>
            </a:r>
            <a:endParaRPr sz="220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8" dirty="0">
                <a:solidFill>
                  <a:srgbClr val="000000"/>
                </a:solidFill>
              </a:rPr>
              <a:t>);</a:t>
            </a:r>
            <a:endParaRPr sz="220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816"/>
              <a:buFont typeface="Arial"/>
              <a:buNone/>
            </a:pPr>
            <a:r>
              <a:rPr lang="en" sz="2208" dirty="0">
                <a:solidFill>
                  <a:srgbClr val="000000"/>
                </a:solidFill>
              </a:rPr>
              <a:t> This is </a:t>
            </a:r>
            <a:r>
              <a:rPr lang="en" sz="2208" b="1" dirty="0">
                <a:solidFill>
                  <a:srgbClr val="000000"/>
                </a:solidFill>
              </a:rPr>
              <a:t>wrong</a:t>
            </a:r>
            <a:r>
              <a:rPr lang="en" sz="2208" dirty="0">
                <a:solidFill>
                  <a:srgbClr val="000000"/>
                </a:solidFill>
              </a:rPr>
              <a:t> because there are </a:t>
            </a:r>
            <a:r>
              <a:rPr lang="en" sz="2208" b="1" dirty="0">
                <a:solidFill>
                  <a:srgbClr val="000000"/>
                </a:solidFill>
              </a:rPr>
              <a:t>two sibling elements</a:t>
            </a:r>
            <a:r>
              <a:rPr lang="en" sz="2208" dirty="0">
                <a:solidFill>
                  <a:srgbClr val="000000"/>
                </a:solidFill>
              </a:rPr>
              <a:t> at the top level.</a:t>
            </a:r>
            <a:br>
              <a:rPr lang="en" sz="2208" dirty="0">
                <a:solidFill>
                  <a:srgbClr val="000000"/>
                </a:solidFill>
              </a:rPr>
            </a:br>
            <a:r>
              <a:rPr lang="en" sz="2208" dirty="0">
                <a:solidFill>
                  <a:srgbClr val="000000"/>
                </a:solidFill>
              </a:rPr>
              <a:t> React doesn’t know which one to return.</a:t>
            </a:r>
            <a:endParaRPr sz="2208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2"/>
          <p:cNvSpPr txBox="1">
            <a:spLocks noGrp="1"/>
          </p:cNvSpPr>
          <p:nvPr>
            <p:ph type="body" idx="1"/>
          </p:nvPr>
        </p:nvSpPr>
        <p:spPr>
          <a:xfrm>
            <a:off x="311700" y="228325"/>
            <a:ext cx="8520600" cy="47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0000"/>
                </a:solidFill>
              </a:rPr>
              <a:t>Fix: Wrap with a parent element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return(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&lt;div&gt;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&lt;MyComponent /&gt;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 &lt;MyOtherComponent /&gt;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&lt;/div&gt;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it’s valid JSX because: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is </a:t>
            </a:r>
            <a:r>
              <a:rPr lang="en" b="1">
                <a:solidFill>
                  <a:schemeClr val="dk1"/>
                </a:solidFill>
              </a:rPr>
              <a:t>one parent </a:t>
            </a:r>
            <a:r>
              <a:rPr lang="en" b="1">
                <a:solidFill>
                  <a:srgbClr val="188038"/>
                </a:solidFill>
              </a:rPr>
              <a:t>&lt;div&gt;</a:t>
            </a:r>
            <a:r>
              <a:rPr lang="en">
                <a:solidFill>
                  <a:schemeClr val="dk1"/>
                </a:solidFill>
              </a:rPr>
              <a:t> wrapping the children.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sees </a:t>
            </a:r>
            <a:r>
              <a:rPr lang="en" b="1">
                <a:solidFill>
                  <a:schemeClr val="dk1"/>
                </a:solidFill>
              </a:rPr>
              <a:t>one element</a:t>
            </a:r>
            <a:r>
              <a:rPr lang="en">
                <a:solidFill>
                  <a:schemeClr val="dk1"/>
                </a:solidFill>
              </a:rPr>
              <a:t> being returned, but inside it can have </a:t>
            </a:r>
            <a:r>
              <a:rPr lang="en" b="1">
                <a:solidFill>
                  <a:schemeClr val="dk1"/>
                </a:solidFill>
              </a:rPr>
              <a:t>many children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9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3"/>
          <p:cNvSpPr txBox="1">
            <a:spLocks noGrp="1"/>
          </p:cNvSpPr>
          <p:nvPr>
            <p:ph type="body" idx="1"/>
          </p:nvPr>
        </p:nvSpPr>
        <p:spPr>
          <a:xfrm>
            <a:off x="311700" y="204300"/>
            <a:ext cx="8520600" cy="47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000000"/>
                </a:solidFill>
              </a:rPr>
              <a:t>Alternative: Using React Fragments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0000"/>
                </a:solidFill>
              </a:rPr>
              <a:t>If you </a:t>
            </a:r>
            <a:r>
              <a:rPr lang="en" sz="1600" b="1">
                <a:solidFill>
                  <a:srgbClr val="000000"/>
                </a:solidFill>
              </a:rPr>
              <a:t>don’t want an extra &lt;div&gt;</a:t>
            </a:r>
            <a:r>
              <a:rPr lang="en" sz="1600">
                <a:solidFill>
                  <a:srgbClr val="000000"/>
                </a:solidFill>
              </a:rPr>
              <a:t>, you can use </a:t>
            </a:r>
            <a:r>
              <a:rPr lang="en" sz="1600" b="1">
                <a:solidFill>
                  <a:srgbClr val="000000"/>
                </a:solidFill>
              </a:rPr>
              <a:t>React Fragment</a:t>
            </a:r>
            <a:r>
              <a:rPr lang="en" sz="1600">
                <a:solidFill>
                  <a:srgbClr val="000000"/>
                </a:solidFill>
              </a:rPr>
              <a:t>: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return(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  &lt;&gt;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    &lt;MyComponent /&gt;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    &lt;MyOtherComponent /&gt;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  &lt;/&gt;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);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&lt;&gt; ... &lt;/&gt; is a </a:t>
            </a:r>
            <a:r>
              <a:rPr lang="en" sz="1600" b="1">
                <a:solidFill>
                  <a:srgbClr val="000000"/>
                </a:solidFill>
              </a:rPr>
              <a:t>special tag that won’t render extra HTML</a:t>
            </a:r>
            <a:r>
              <a:rPr lang="en" sz="1600">
                <a:solidFill>
                  <a:srgbClr val="000000"/>
                </a:solidFill>
              </a:rPr>
              <a:t>.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It still allows </a:t>
            </a:r>
            <a:r>
              <a:rPr lang="en" sz="1600" b="1">
                <a:solidFill>
                  <a:srgbClr val="000000"/>
                </a:solidFill>
              </a:rPr>
              <a:t>multiple children</a:t>
            </a:r>
            <a:r>
              <a:rPr lang="en" sz="1600">
                <a:solidFill>
                  <a:srgbClr val="000000"/>
                </a:solidFill>
              </a:rPr>
              <a:t> to be returned.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4"/>
          <p:cNvSpPr txBox="1">
            <a:spLocks noGrp="1"/>
          </p:cNvSpPr>
          <p:nvPr>
            <p:ph type="body" idx="1"/>
          </p:nvPr>
        </p:nvSpPr>
        <p:spPr>
          <a:xfrm>
            <a:off x="311700" y="240350"/>
            <a:ext cx="8520600" cy="46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000FF"/>
                </a:solidFill>
              </a:rPr>
              <a:t>What are React Fragments?</a:t>
            </a:r>
            <a:endParaRPr sz="19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When you return </a:t>
            </a:r>
            <a:r>
              <a:rPr lang="en" sz="1900" b="1">
                <a:solidFill>
                  <a:schemeClr val="dk1"/>
                </a:solidFill>
              </a:rPr>
              <a:t>multiple JSX elements</a:t>
            </a:r>
            <a:r>
              <a:rPr lang="en" sz="1900">
                <a:solidFill>
                  <a:schemeClr val="dk1"/>
                </a:solidFill>
              </a:rPr>
              <a:t> from a component, React requires </a:t>
            </a:r>
            <a:r>
              <a:rPr lang="en" sz="1900" b="1">
                <a:solidFill>
                  <a:schemeClr val="dk1"/>
                </a:solidFill>
              </a:rPr>
              <a:t>one parent element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Sometimes people wrap them in &lt;div&gt;…&lt;/div&gt; just to satisfy this rule.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But adding extra &lt;div&gt;s </a:t>
            </a:r>
            <a:r>
              <a:rPr lang="en" sz="1900" b="1">
                <a:solidFill>
                  <a:schemeClr val="dk1"/>
                </a:solidFill>
              </a:rPr>
              <a:t>creates unnecessary HTML</a:t>
            </a:r>
            <a:r>
              <a:rPr lang="en" sz="1900">
                <a:solidFill>
                  <a:schemeClr val="dk1"/>
                </a:solidFill>
              </a:rPr>
              <a:t>, which can make your HTML messy and affect styling or accessibility.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dk1"/>
                </a:solidFill>
              </a:rPr>
              <a:t>React Fragment</a:t>
            </a:r>
            <a:r>
              <a:rPr lang="en" sz="1900">
                <a:solidFill>
                  <a:schemeClr val="dk1"/>
                </a:solidFill>
              </a:rPr>
              <a:t> solves this problem: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It </a:t>
            </a:r>
            <a:r>
              <a:rPr lang="en" sz="1900" b="1">
                <a:solidFill>
                  <a:schemeClr val="dk1"/>
                </a:solidFill>
              </a:rPr>
              <a:t>wraps multiple elements</a:t>
            </a:r>
            <a:r>
              <a:rPr lang="en" sz="1900">
                <a:solidFill>
                  <a:schemeClr val="dk1"/>
                </a:solidFill>
              </a:rPr>
              <a:t> into a single JSX element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 b="1">
                <a:solidFill>
                  <a:schemeClr val="dk1"/>
                </a:solidFill>
              </a:rPr>
              <a:t>But doesn’t create extra HTML</a:t>
            </a:r>
            <a:r>
              <a:rPr lang="en" sz="1900">
                <a:solidFill>
                  <a:schemeClr val="dk1"/>
                </a:solidFill>
              </a:rPr>
              <a:t> in the DOM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5"/>
          <p:cNvSpPr txBox="1">
            <a:spLocks noGrp="1"/>
          </p:cNvSpPr>
          <p:nvPr>
            <p:ph type="body" idx="1"/>
          </p:nvPr>
        </p:nvSpPr>
        <p:spPr>
          <a:xfrm>
            <a:off x="311700" y="96150"/>
            <a:ext cx="8520600" cy="4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000000"/>
                </a:solidFill>
              </a:rPr>
              <a:t>How to use React.Fragment  :    </a:t>
            </a:r>
            <a:r>
              <a:rPr lang="en" sz="1600" b="1" dirty="0">
                <a:solidFill>
                  <a:srgbClr val="FF0000"/>
                </a:solidFill>
              </a:rPr>
              <a:t>Using &lt;React.Fragment&gt;</a:t>
            </a:r>
            <a:endParaRPr sz="1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import React from "react";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function MyComponent() {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return (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  &lt;React.Fragment&gt;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    &lt;h1&gt;The heading&lt;/h1&gt;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    &lt;h2&gt;The subheading&lt;/h2&gt;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  &lt;/React.Fragment&gt;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  );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}</a:t>
            </a: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solidFill>
                  <a:srgbClr val="000000"/>
                </a:solidFill>
              </a:rPr>
              <a:t>export default MyComponent;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661" name="Google Shape;661;p115"/>
          <p:cNvSpPr txBox="1"/>
          <p:nvPr/>
        </p:nvSpPr>
        <p:spPr>
          <a:xfrm>
            <a:off x="3581225" y="636925"/>
            <a:ext cx="53358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Here &lt;h1&gt; and &lt;h2&gt; are children of &lt;React.Fragment&gt;.</a:t>
            </a:r>
            <a:br>
              <a:rPr lang="en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 b="1">
                <a:solidFill>
                  <a:schemeClr val="dk1"/>
                </a:solidFill>
              </a:rPr>
              <a:t>No extra &lt;div&gt; is added</a:t>
            </a:r>
            <a:r>
              <a:rPr lang="en" sz="2200">
                <a:solidFill>
                  <a:schemeClr val="dk1"/>
                </a:solidFill>
              </a:rPr>
              <a:t> in the HTML.</a:t>
            </a:r>
            <a:endParaRPr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6"/>
          <p:cNvSpPr txBox="1">
            <a:spLocks noGrp="1"/>
          </p:cNvSpPr>
          <p:nvPr>
            <p:ph type="body" idx="1"/>
          </p:nvPr>
        </p:nvSpPr>
        <p:spPr>
          <a:xfrm>
            <a:off x="311700" y="144200"/>
            <a:ext cx="8520600" cy="49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Using Fragment from React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import { Fragment } from "react";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function MyComponent() {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return (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&lt;Fragment&gt;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  &lt;h1&gt;The heading&lt;/h1&gt;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  &lt;h2&gt;The subheading&lt;/h2&gt;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&lt;/Fragment&gt;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);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}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export default MyComponent;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17"/>
          <p:cNvSpPr txBox="1">
            <a:spLocks noGrp="1"/>
          </p:cNvSpPr>
          <p:nvPr>
            <p:ph type="body" idx="1"/>
          </p:nvPr>
        </p:nvSpPr>
        <p:spPr>
          <a:xfrm>
            <a:off x="311700" y="312450"/>
            <a:ext cx="8520600" cy="46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00000"/>
                </a:solidFill>
              </a:rPr>
              <a:t>Short syntax: &lt;&gt; &lt;/&gt;</a:t>
            </a:r>
            <a:endParaRPr sz="19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function MyComponent() {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return (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  &lt;&gt;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    &lt;h1&gt;The heading&lt;/h1&gt;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    &lt;h2&gt;The subheading&lt;/h2&gt;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  &lt;/&gt;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  );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}</a:t>
            </a:r>
            <a:endParaRPr sz="19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export default MyComponent;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672" name="Google Shape;672;p117"/>
          <p:cNvSpPr txBox="1"/>
          <p:nvPr/>
        </p:nvSpPr>
        <p:spPr>
          <a:xfrm>
            <a:off x="4037900" y="709025"/>
            <a:ext cx="4458600" cy="1922700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Shortest and cleanest way.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 b="1">
                <a:solidFill>
                  <a:schemeClr val="dk1"/>
                </a:solidFill>
              </a:rPr>
              <a:t>No import needed</a:t>
            </a:r>
            <a:r>
              <a:rPr lang="en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Works exactly the same as &lt;Fragment&gt;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18"/>
          <p:cNvSpPr txBox="1">
            <a:spLocks noGrp="1"/>
          </p:cNvSpPr>
          <p:nvPr>
            <p:ph type="body" idx="1"/>
          </p:nvPr>
        </p:nvSpPr>
        <p:spPr>
          <a:xfrm>
            <a:off x="311700" y="396575"/>
            <a:ext cx="8520600" cy="41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00000"/>
                </a:solidFill>
              </a:rPr>
              <a:t>What is JSX Transform?</a:t>
            </a:r>
            <a:endParaRPr sz="28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JSX is </a:t>
            </a:r>
            <a:r>
              <a:rPr lang="en" sz="2200" b="1">
                <a:solidFill>
                  <a:srgbClr val="000000"/>
                </a:solidFill>
              </a:rPr>
              <a:t>not valid JavaScript</a:t>
            </a:r>
            <a:r>
              <a:rPr lang="en" sz="2200">
                <a:solidFill>
                  <a:srgbClr val="000000"/>
                </a:solidFill>
              </a:rPr>
              <a:t> on its own. Browsers cannot understand it.</a:t>
            </a:r>
            <a:br>
              <a:rPr lang="en" sz="2200">
                <a:solidFill>
                  <a:srgbClr val="000000"/>
                </a:solidFill>
              </a:rPr>
            </a:br>
            <a:r>
              <a:rPr lang="en" sz="2200">
                <a:solidFill>
                  <a:srgbClr val="000000"/>
                </a:solidFill>
              </a:rPr>
              <a:t> The </a:t>
            </a:r>
            <a:r>
              <a:rPr lang="en" sz="2200" b="1">
                <a:solidFill>
                  <a:srgbClr val="000000"/>
                </a:solidFill>
              </a:rPr>
              <a:t>JSX transform</a:t>
            </a:r>
            <a:r>
              <a:rPr lang="en" sz="2200">
                <a:solidFill>
                  <a:srgbClr val="000000"/>
                </a:solidFill>
              </a:rPr>
              <a:t> is the </a:t>
            </a:r>
            <a:r>
              <a:rPr lang="en" sz="2200" b="1">
                <a:solidFill>
                  <a:srgbClr val="000000"/>
                </a:solidFill>
              </a:rPr>
              <a:t>process of converting JSX into plain JavaScript</a:t>
            </a:r>
            <a:r>
              <a:rPr lang="en" sz="2200">
                <a:solidFill>
                  <a:srgbClr val="000000"/>
                </a:solidFill>
              </a:rPr>
              <a:t> that browsers can run.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00000"/>
                </a:solidFill>
              </a:rPr>
              <a:t>🔹 Example</a:t>
            </a:r>
            <a:endParaRPr sz="24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JSX code: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</a:rPr>
              <a:t>const element = &lt;h1 className="title"&gt;Hello, React!&lt;/h1&gt;;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9"/>
          <p:cNvSpPr txBox="1">
            <a:spLocks noGrp="1"/>
          </p:cNvSpPr>
          <p:nvPr>
            <p:ph type="body" idx="1"/>
          </p:nvPr>
        </p:nvSpPr>
        <p:spPr>
          <a:xfrm>
            <a:off x="311700" y="312450"/>
            <a:ext cx="8520600" cy="4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16">
                <a:solidFill>
                  <a:schemeClr val="dk1"/>
                </a:solidFill>
              </a:rPr>
              <a:t>After </a:t>
            </a:r>
            <a:r>
              <a:rPr lang="en" sz="1916" b="1">
                <a:solidFill>
                  <a:schemeClr val="dk1"/>
                </a:solidFill>
              </a:rPr>
              <a:t>JSX transform</a:t>
            </a:r>
            <a:r>
              <a:rPr lang="en" sz="1916">
                <a:solidFill>
                  <a:schemeClr val="dk1"/>
                </a:solidFill>
              </a:rPr>
              <a:t> (by Babel):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const element = React.createElement(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  "h1",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  { className: "title" },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  "Hello, React!"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);</a:t>
            </a:r>
            <a:endParaRPr sz="1916">
              <a:solidFill>
                <a:schemeClr val="dk1"/>
              </a:solidFill>
            </a:endParaRPr>
          </a:p>
          <a:p>
            <a:pPr marL="457200" lvl="0" indent="-3502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16"/>
              <a:buChar char="●"/>
            </a:pPr>
            <a:r>
              <a:rPr lang="en" sz="1916">
                <a:solidFill>
                  <a:schemeClr val="dk1"/>
                </a:solidFill>
              </a:rPr>
              <a:t>&lt;h1&gt; → "h1" (type)</a:t>
            </a:r>
            <a:br>
              <a:rPr lang="en" sz="1916">
                <a:solidFill>
                  <a:schemeClr val="dk1"/>
                </a:solidFill>
              </a:rPr>
            </a:br>
            <a:endParaRPr sz="1916">
              <a:solidFill>
                <a:schemeClr val="dk1"/>
              </a:solidFill>
            </a:endParaRPr>
          </a:p>
          <a:p>
            <a:pPr marL="457200" lvl="0" indent="-350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16"/>
              <a:buChar char="●"/>
            </a:pPr>
            <a:r>
              <a:rPr lang="en" sz="1916">
                <a:solidFill>
                  <a:schemeClr val="dk1"/>
                </a:solidFill>
              </a:rPr>
              <a:t>className="title" → { className: "title" } (props)</a:t>
            </a:r>
            <a:br>
              <a:rPr lang="en" sz="1916">
                <a:solidFill>
                  <a:schemeClr val="dk1"/>
                </a:solidFill>
              </a:rPr>
            </a:br>
            <a:endParaRPr sz="1916">
              <a:solidFill>
                <a:schemeClr val="dk1"/>
              </a:solidFill>
            </a:endParaRPr>
          </a:p>
          <a:p>
            <a:pPr marL="457200" lvl="0" indent="-350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16"/>
              <a:buChar char="●"/>
            </a:pPr>
            <a:r>
              <a:rPr lang="en" sz="1916">
                <a:solidFill>
                  <a:schemeClr val="dk1"/>
                </a:solidFill>
              </a:rPr>
              <a:t>"Hello, React!" → child of the element</a:t>
            </a:r>
            <a:endParaRPr sz="1916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16">
                <a:solidFill>
                  <a:schemeClr val="dk1"/>
                </a:solidFill>
              </a:rPr>
              <a:t>This is </a:t>
            </a:r>
            <a:r>
              <a:rPr lang="en" sz="1916" b="1">
                <a:solidFill>
                  <a:schemeClr val="dk1"/>
                </a:solidFill>
              </a:rPr>
              <a:t>plain JavaScript</a:t>
            </a:r>
            <a:r>
              <a:rPr lang="en" sz="1916">
                <a:solidFill>
                  <a:schemeClr val="dk1"/>
                </a:solidFill>
              </a:rPr>
              <a:t>, which the browser can execute.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Why JSX Transform is needed</a:t>
            </a:r>
            <a:endParaRPr sz="2400" b="1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" sz="2200">
                <a:solidFill>
                  <a:schemeClr val="dk1"/>
                </a:solidFill>
              </a:rPr>
              <a:t>JSX looks like HTML but is </a:t>
            </a:r>
            <a:r>
              <a:rPr lang="en" sz="2200" b="1">
                <a:solidFill>
                  <a:schemeClr val="dk1"/>
                </a:solidFill>
              </a:rPr>
              <a:t>not JavaScript</a:t>
            </a:r>
            <a:r>
              <a:rPr lang="en" sz="2200">
                <a:solidFill>
                  <a:schemeClr val="dk1"/>
                </a:solidFill>
              </a:rPr>
              <a:t>.</a:t>
            </a:r>
            <a:br>
              <a:rPr lang="en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" sz="2200">
                <a:solidFill>
                  <a:schemeClr val="dk1"/>
                </a:solidFill>
              </a:rPr>
              <a:t>React needs </a:t>
            </a:r>
            <a:r>
              <a:rPr lang="en" sz="2200" b="1">
                <a:solidFill>
                  <a:schemeClr val="dk1"/>
                </a:solidFill>
              </a:rPr>
              <a:t>React.createElement</a:t>
            </a:r>
            <a:r>
              <a:rPr lang="en" sz="2200">
                <a:solidFill>
                  <a:schemeClr val="dk1"/>
                </a:solidFill>
              </a:rPr>
              <a:t> calls to build elements.</a:t>
            </a:r>
            <a:br>
              <a:rPr lang="en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" sz="2200">
                <a:solidFill>
                  <a:schemeClr val="dk1"/>
                </a:solidFill>
              </a:rPr>
              <a:t>Babel or another compiler </a:t>
            </a:r>
            <a:r>
              <a:rPr lang="en" sz="2200" b="1">
                <a:solidFill>
                  <a:schemeClr val="dk1"/>
                </a:solidFill>
              </a:rPr>
              <a:t>transforms JSX → JS</a:t>
            </a:r>
            <a:r>
              <a:rPr lang="en" sz="2200">
                <a:solidFill>
                  <a:schemeClr val="dk1"/>
                </a:solidFill>
              </a:rPr>
              <a:t> automatically.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chemeClr val="dk1"/>
                </a:solidFill>
              </a:rPr>
              <a:t>What is Babel?</a:t>
            </a:r>
            <a:endParaRPr sz="1900" b="1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Babel is a </a:t>
            </a:r>
            <a:r>
              <a:rPr lang="en" sz="1900" b="1">
                <a:solidFill>
                  <a:schemeClr val="dk1"/>
                </a:solidFill>
              </a:rPr>
              <a:t>JavaScript compiler</a:t>
            </a:r>
            <a:r>
              <a:rPr lang="en" sz="1900">
                <a:solidFill>
                  <a:schemeClr val="dk1"/>
                </a:solidFill>
              </a:rPr>
              <a:t>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It allows you to write </a:t>
            </a:r>
            <a:r>
              <a:rPr lang="en" sz="1900" b="1">
                <a:solidFill>
                  <a:schemeClr val="dk1"/>
                </a:solidFill>
              </a:rPr>
              <a:t>modern JavaScript and JSX</a:t>
            </a:r>
            <a:r>
              <a:rPr lang="en" sz="1900">
                <a:solidFill>
                  <a:schemeClr val="dk1"/>
                </a:solidFill>
              </a:rPr>
              <a:t> and converts it into </a:t>
            </a:r>
            <a:r>
              <a:rPr lang="en" sz="1900" b="1">
                <a:solidFill>
                  <a:schemeClr val="dk1"/>
                </a:solidFill>
              </a:rPr>
              <a:t>browser-compatible JavaScript</a:t>
            </a:r>
            <a:r>
              <a:rPr lang="en" sz="1900">
                <a:solidFill>
                  <a:schemeClr val="dk1"/>
                </a:solidFill>
              </a:rPr>
              <a:t>.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Browsers </a:t>
            </a:r>
            <a:r>
              <a:rPr lang="en" sz="1900" b="1">
                <a:solidFill>
                  <a:schemeClr val="dk1"/>
                </a:solidFill>
              </a:rPr>
              <a:t>cannot understand JSX</a:t>
            </a:r>
            <a:r>
              <a:rPr lang="en" sz="1900">
                <a:solidFill>
                  <a:schemeClr val="dk1"/>
                </a:solidFill>
              </a:rPr>
              <a:t> directly. Babel turns JSX into plain JavaScript.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22"/>
          <p:cNvSpPr txBox="1">
            <a:spLocks noGrp="1"/>
          </p:cNvSpPr>
          <p:nvPr>
            <p:ph type="body" idx="1"/>
          </p:nvPr>
        </p:nvSpPr>
        <p:spPr>
          <a:xfrm>
            <a:off x="311700" y="324475"/>
            <a:ext cx="8520600" cy="4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Why we need Babel with React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React code often looks like this: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function App() {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return &lt;h1&gt;Hello, World!&lt;/h1&gt;;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&lt;h1&gt;Hello, World!&lt;/h1&gt; is </a:t>
            </a:r>
            <a:r>
              <a:rPr lang="en" sz="2000" b="1">
                <a:solidFill>
                  <a:schemeClr val="dk1"/>
                </a:solidFill>
              </a:rPr>
              <a:t>JSX</a:t>
            </a:r>
            <a:r>
              <a:rPr lang="en" sz="2000">
                <a:solidFill>
                  <a:schemeClr val="dk1"/>
                </a:solidFill>
              </a:rPr>
              <a:t>, not valid JavaScript.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Browsers don’t understand JSX.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2000">
                <a:solidFill>
                  <a:schemeClr val="dk1"/>
                </a:solidFill>
              </a:rPr>
              <a:t>Babel compiles it to this: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0000"/>
                </a:solidFill>
              </a:rPr>
              <a:t>function App() {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0000"/>
                </a:solidFill>
              </a:rPr>
              <a:t>  return React.createElement("h1", null, "Hello, World!");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0000"/>
                </a:solidFill>
              </a:rPr>
              <a:t>}</a:t>
            </a:r>
            <a:endParaRPr sz="2300">
              <a:solidFill>
                <a:srgbClr val="000000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2100">
                <a:solidFill>
                  <a:schemeClr val="dk1"/>
                </a:solidFill>
              </a:rPr>
              <a:t>Now the browser can run it because it’s </a:t>
            </a:r>
            <a:r>
              <a:rPr lang="en" sz="2100" b="1">
                <a:solidFill>
                  <a:schemeClr val="dk1"/>
                </a:solidFill>
              </a:rPr>
              <a:t>plain JS</a:t>
            </a:r>
            <a:r>
              <a:rPr lang="en" sz="2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24"/>
          <p:cNvSpPr txBox="1">
            <a:spLocks noGrp="1"/>
          </p:cNvSpPr>
          <p:nvPr>
            <p:ph type="body" idx="1"/>
          </p:nvPr>
        </p:nvSpPr>
        <p:spPr>
          <a:xfrm>
            <a:off x="311700" y="240350"/>
            <a:ext cx="8520600" cy="46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>
                <a:solidFill>
                  <a:srgbClr val="000000"/>
                </a:solidFill>
              </a:rPr>
              <a:t> Example with JSX and Babel</a:t>
            </a:r>
            <a:endParaRPr sz="2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0000"/>
                </a:solidFill>
              </a:rPr>
              <a:t>Input (JSX):</a:t>
            </a:r>
            <a:endParaRPr sz="23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const element = &lt;h1&gt;Hello React!&lt;/h1&gt;;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>
                <a:solidFill>
                  <a:srgbClr val="000000"/>
                </a:solidFill>
              </a:rPr>
              <a:t>Compiled by Babel (JavaScript):</a:t>
            </a:r>
            <a:endParaRPr sz="23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</a:rPr>
              <a:t>const element = React.createElement("h1", null, "Hello React!");</a:t>
            </a:r>
            <a:endParaRPr sz="2300">
              <a:solidFill>
                <a:srgbClr val="000000"/>
              </a:solidFill>
            </a:endParaRPr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React.createElement → React’s way to create DOM elements.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" sz="2300">
                <a:solidFill>
                  <a:srgbClr val="000000"/>
                </a:solidFill>
              </a:rPr>
              <a:t>Every JSX tag is converted to a React.createElement call.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6855</Words>
  <Application>Microsoft Office PowerPoint</Application>
  <PresentationFormat>On-screen Show (16:9)</PresentationFormat>
  <Paragraphs>783</Paragraphs>
  <Slides>115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Roboto Mono</vt:lpstr>
      <vt:lpstr>Arial</vt:lpstr>
      <vt:lpstr>Simple Light</vt:lpstr>
      <vt:lpstr>The Foundation of 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 and the UI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React Creates a Virtual DOM</vt:lpstr>
      <vt:lpstr>PowerPoint Presentation</vt:lpstr>
      <vt:lpstr>PowerPoint Presentation</vt:lpstr>
      <vt:lpstr>PowerPoint Presentation</vt:lpstr>
      <vt:lpstr>THE PHILOSOPHY OF REACT</vt:lpstr>
      <vt:lpstr>PowerPoint Presentation</vt:lpstr>
      <vt:lpstr>PowerPoint Presentation</vt:lpstr>
      <vt:lpstr>PowerPoint Presentation</vt:lpstr>
      <vt:lpstr>PowerPoint Presentation</vt:lpstr>
      <vt:lpstr>Composition vs. Inheritance</vt:lpstr>
      <vt:lpstr>PowerPoint Presentation</vt:lpstr>
      <vt:lpstr>PowerPoint Presentation</vt:lpstr>
      <vt:lpstr>PowerPoint Presentation</vt:lpstr>
      <vt:lpstr>React Is Declarative</vt:lpstr>
      <vt:lpstr>PowerPoint Presentation</vt:lpstr>
      <vt:lpstr>PowerPoint Presentation</vt:lpstr>
      <vt:lpstr>PowerPoint Presentation</vt:lpstr>
      <vt:lpstr>PowerPoint Presentation</vt:lpstr>
      <vt:lpstr>React Is Idiomatic</vt:lpstr>
      <vt:lpstr>Javascript</vt:lpstr>
      <vt:lpstr>PowerPoint Presentation</vt:lpstr>
      <vt:lpstr>React vs Angular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React Is Not</vt:lpstr>
      <vt:lpstr>PowerPoint Presentation</vt:lpstr>
      <vt:lpstr>PowerPoint Presentation</vt:lpstr>
      <vt:lpstr>PowerPoint Presentation</vt:lpstr>
      <vt:lpstr>PowerPoint Presentation</vt:lpstr>
      <vt:lpstr>JSX is not 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JSX Syntax</vt:lpstr>
      <vt:lpstr>Non-empty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Conditional Rendering with if/else + element variables</vt:lpstr>
      <vt:lpstr>PowerPoint Presentation</vt:lpstr>
      <vt:lpstr>PowerPoint Presentation</vt:lpstr>
      <vt:lpstr>PowerPoint Presentation</vt:lpstr>
      <vt:lpstr>PowerPoint Presentation</vt:lpstr>
      <vt:lpstr>2. Conditional Rendering with &amp;&amp; (logical AND) </vt:lpstr>
      <vt:lpstr>3. Conditional Rendering with ? : (Ternary Operator)</vt:lpstr>
      <vt:lpstr>PowerPoint Presentation</vt:lpstr>
      <vt:lpstr>PowerPoint Presentation</vt:lpstr>
      <vt:lpstr>Expressions in JSX</vt:lpstr>
      <vt:lpstr>PowerPoint Presentation</vt:lpstr>
      <vt:lpstr>PowerPoint Presentation</vt:lpstr>
      <vt:lpstr>PowerPoint Presentation</vt:lpstr>
      <vt:lpstr>Example 2: Immediately Invoked Function</vt:lpstr>
      <vt:lpstr>PowerPoint Presentation</vt:lpstr>
      <vt:lpstr>PowerPoint Presentation</vt:lpstr>
      <vt:lpstr>Using Children in JSX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Anitha p</cp:lastModifiedBy>
  <cp:revision>1</cp:revision>
  <dcterms:modified xsi:type="dcterms:W3CDTF">2026-09-25T04:32:57Z</dcterms:modified>
</cp:coreProperties>
</file>