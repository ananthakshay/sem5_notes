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75"/>
  </p:notesMasterIdLst>
  <p:sldIdLst>
    <p:sldId id="906" r:id="rId2"/>
    <p:sldId id="1004" r:id="rId3"/>
    <p:sldId id="1005" r:id="rId4"/>
    <p:sldId id="1006" r:id="rId5"/>
    <p:sldId id="1009" r:id="rId6"/>
    <p:sldId id="1012" r:id="rId7"/>
    <p:sldId id="1013" r:id="rId8"/>
    <p:sldId id="1035" r:id="rId9"/>
    <p:sldId id="1014" r:id="rId10"/>
    <p:sldId id="1016" r:id="rId11"/>
    <p:sldId id="1017" r:id="rId12"/>
    <p:sldId id="1018" r:id="rId13"/>
    <p:sldId id="1020" r:id="rId14"/>
    <p:sldId id="892" r:id="rId15"/>
    <p:sldId id="535" r:id="rId16"/>
    <p:sldId id="927" r:id="rId17"/>
    <p:sldId id="1021" r:id="rId18"/>
    <p:sldId id="873" r:id="rId19"/>
    <p:sldId id="874" r:id="rId20"/>
    <p:sldId id="875" r:id="rId21"/>
    <p:sldId id="1022" r:id="rId22"/>
    <p:sldId id="928" r:id="rId23"/>
    <p:sldId id="1023" r:id="rId24"/>
    <p:sldId id="836" r:id="rId25"/>
    <p:sldId id="876" r:id="rId26"/>
    <p:sldId id="905" r:id="rId27"/>
    <p:sldId id="868" r:id="rId28"/>
    <p:sldId id="939" r:id="rId29"/>
    <p:sldId id="936" r:id="rId30"/>
    <p:sldId id="862" r:id="rId31"/>
    <p:sldId id="933" r:id="rId32"/>
    <p:sldId id="941" r:id="rId33"/>
    <p:sldId id="877" r:id="rId34"/>
    <p:sldId id="972" r:id="rId35"/>
    <p:sldId id="859" r:id="rId36"/>
    <p:sldId id="860" r:id="rId37"/>
    <p:sldId id="942" r:id="rId38"/>
    <p:sldId id="943" r:id="rId39"/>
    <p:sldId id="944" r:id="rId40"/>
    <p:sldId id="945" r:id="rId41"/>
    <p:sldId id="946" r:id="rId42"/>
    <p:sldId id="947" r:id="rId43"/>
    <p:sldId id="973" r:id="rId44"/>
    <p:sldId id="974" r:id="rId45"/>
    <p:sldId id="975" r:id="rId46"/>
    <p:sldId id="977" r:id="rId47"/>
    <p:sldId id="976" r:id="rId48"/>
    <p:sldId id="1037" r:id="rId49"/>
    <p:sldId id="978" r:id="rId50"/>
    <p:sldId id="979" r:id="rId51"/>
    <p:sldId id="980" r:id="rId52"/>
    <p:sldId id="1036" r:id="rId53"/>
    <p:sldId id="1038" r:id="rId54"/>
    <p:sldId id="981" r:id="rId55"/>
    <p:sldId id="982" r:id="rId56"/>
    <p:sldId id="959" r:id="rId57"/>
    <p:sldId id="960" r:id="rId58"/>
    <p:sldId id="961" r:id="rId59"/>
    <p:sldId id="962" r:id="rId60"/>
    <p:sldId id="963" r:id="rId61"/>
    <p:sldId id="964" r:id="rId62"/>
    <p:sldId id="1028" r:id="rId63"/>
    <p:sldId id="965" r:id="rId64"/>
    <p:sldId id="1001" r:id="rId65"/>
    <p:sldId id="1026" r:id="rId66"/>
    <p:sldId id="1027" r:id="rId67"/>
    <p:sldId id="1024" r:id="rId68"/>
    <p:sldId id="1025" r:id="rId69"/>
    <p:sldId id="966" r:id="rId70"/>
    <p:sldId id="967" r:id="rId71"/>
    <p:sldId id="968" r:id="rId72"/>
    <p:sldId id="969" r:id="rId73"/>
    <p:sldId id="970" r:id="rId7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3200" b="1" kern="1200" baseline="-180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66FF"/>
    <a:srgbClr val="660066"/>
    <a:srgbClr val="00CC00"/>
    <a:srgbClr val="996633"/>
    <a:srgbClr val="6666FF"/>
    <a:srgbClr val="CCFF99"/>
    <a:srgbClr val="99FF33"/>
    <a:srgbClr val="00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695" autoAdjust="0"/>
    <p:restoredTop sz="94680" autoAdjust="0"/>
  </p:normalViewPr>
  <p:slideViewPr>
    <p:cSldViewPr>
      <p:cViewPr varScale="1">
        <p:scale>
          <a:sx n="69" d="100"/>
          <a:sy n="69" d="100"/>
        </p:scale>
        <p:origin x="129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5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9625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625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 b="0" baseline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625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b="0" baseline="0" smtClean="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B8DB6C87-4FAC-499E-959D-62AAE06DFB5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0"/>
              </a:spcBef>
            </a:pPr>
            <a:fld id="{DDC6E2B0-7097-4065-8C5E-919D8B7BC3A6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EE0FDE0-6048-4012-9F28-B0D07C79D99F}" type="slidenum">
              <a:rPr lang="en-US" altLang="en-US" sz="1200" b="0" smtClean="0">
                <a:latin typeface="Times New Roman" panose="02020603050405020304" pitchFamily="18" charset="0"/>
              </a:rPr>
              <a:pPr/>
              <a:t>3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411535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61DF0F-CB95-49AC-8166-D46E2184B77B}" type="slidenum">
              <a:rPr lang="en-US" altLang="en-US" sz="1200" b="0" smtClean="0">
                <a:latin typeface="Times New Roman" panose="02020603050405020304" pitchFamily="18" charset="0"/>
              </a:rPr>
              <a:pPr/>
              <a:t>4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733308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61DF0F-CB95-49AC-8166-D46E2184B77B}" type="slidenum">
              <a:rPr lang="en-US" altLang="en-US" sz="1200" b="0" smtClean="0">
                <a:latin typeface="Times New Roman" panose="02020603050405020304" pitchFamily="18" charset="0"/>
              </a:rPr>
              <a:pPr/>
              <a:t>5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19003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61DF0F-CB95-49AC-8166-D46E2184B77B}" type="slidenum">
              <a:rPr lang="en-US" altLang="en-US" sz="1200" b="0" smtClean="0">
                <a:latin typeface="Times New Roman" panose="02020603050405020304" pitchFamily="18" charset="0"/>
              </a:rPr>
              <a:pPr/>
              <a:t>6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5859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61DF0F-CB95-49AC-8166-D46E2184B77B}" type="slidenum">
              <a:rPr lang="en-US" altLang="en-US" sz="1200" b="0" smtClean="0">
                <a:latin typeface="Times New Roman" panose="02020603050405020304" pitchFamily="18" charset="0"/>
              </a:rPr>
              <a:pPr/>
              <a:t>7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77643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5E0D3B-538E-4FA5-6C72-2B12118F68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>
            <a:extLst>
              <a:ext uri="{FF2B5EF4-FFF2-40B4-BE49-F238E27FC236}">
                <a16:creationId xmlns:a16="http://schemas.microsoft.com/office/drawing/2014/main" id="{A29B71E9-B4E8-69A7-5806-ED67299419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61DF0F-CB95-49AC-8166-D46E2184B77B}" type="slidenum">
              <a:rPr lang="en-US" altLang="en-US" sz="1200" b="0" smtClean="0">
                <a:latin typeface="Times New Roman" panose="02020603050405020304" pitchFamily="18" charset="0"/>
              </a:rPr>
              <a:pPr/>
              <a:t>8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>
            <a:extLst>
              <a:ext uri="{FF2B5EF4-FFF2-40B4-BE49-F238E27FC236}">
                <a16:creationId xmlns:a16="http://schemas.microsoft.com/office/drawing/2014/main" id="{4CA4E313-6521-6358-17B5-90DF01CB239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>
            <a:extLst>
              <a:ext uri="{FF2B5EF4-FFF2-40B4-BE49-F238E27FC236}">
                <a16:creationId xmlns:a16="http://schemas.microsoft.com/office/drawing/2014/main" id="{AA706126-2A62-BA74-CD89-FF858A3FBEE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091042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61DF0F-CB95-49AC-8166-D46E2184B77B}" type="slidenum">
              <a:rPr lang="en-US" altLang="en-US" sz="1200" b="0" smtClean="0">
                <a:latin typeface="Times New Roman" panose="02020603050405020304" pitchFamily="18" charset="0"/>
              </a:rPr>
              <a:pPr/>
              <a:t>9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778710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61DF0F-CB95-49AC-8166-D46E2184B77B}" type="slidenum">
              <a:rPr lang="en-US" altLang="en-US" sz="1200" b="0" smtClean="0">
                <a:latin typeface="Times New Roman" panose="02020603050405020304" pitchFamily="18" charset="0"/>
              </a:rPr>
              <a:pPr/>
              <a:t>10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601257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61DF0F-CB95-49AC-8166-D46E2184B77B}" type="slidenum">
              <a:rPr lang="en-US" altLang="en-US" sz="1200" b="0" smtClean="0">
                <a:latin typeface="Times New Roman" panose="02020603050405020304" pitchFamily="18" charset="0"/>
              </a:rPr>
              <a:pPr/>
              <a:t>11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0032691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261DF0F-CB95-49AC-8166-D46E2184B77B}" type="slidenum">
              <a:rPr lang="en-US" altLang="en-US" sz="1200" b="0" smtClean="0">
                <a:latin typeface="Times New Roman" panose="02020603050405020304" pitchFamily="18" charset="0"/>
              </a:rPr>
              <a:pPr/>
              <a:t>12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0219972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A174AD1-0323-4D4B-B36F-7CB2E272D644}" type="slidenum">
              <a:rPr lang="en-US" altLang="en-US" sz="1200" b="0" baseline="0">
                <a:latin typeface="Times New Roman" panose="02020603050405020304" pitchFamily="18" charset="0"/>
              </a:rPr>
              <a:pPr/>
              <a:t>14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53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B184308A-59FB-4DD4-851D-C507652964B6}" type="slidenum">
              <a:rPr lang="en-US" altLang="en-US" sz="1200" b="0" baseline="0">
                <a:latin typeface="Times New Roman" panose="02020603050405020304" pitchFamily="18" charset="0"/>
              </a:rPr>
              <a:pPr/>
              <a:t>15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84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22F960D-EA58-41AA-9C6F-94182BD284CA}" type="slidenum">
              <a:rPr lang="en-US" altLang="en-US" sz="1200" b="0" baseline="0">
                <a:latin typeface="Times New Roman" panose="02020603050405020304" pitchFamily="18" charset="0"/>
              </a:rPr>
              <a:pPr/>
              <a:t>18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E0728F-3BB1-4D0E-B62F-3D6F4E6F3397}" type="slidenum">
              <a:rPr lang="en-US" altLang="en-US" sz="1200" b="0" baseline="0">
                <a:latin typeface="Times New Roman" panose="02020603050405020304" pitchFamily="18" charset="0"/>
              </a:rPr>
              <a:pPr/>
              <a:t>19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F1DC3136-27C5-4806-AF46-79D5505C7F19}" type="slidenum">
              <a:rPr lang="en-US" altLang="en-US" sz="1200" b="0" baseline="0">
                <a:latin typeface="Times New Roman" panose="02020603050405020304" pitchFamily="18" charset="0"/>
              </a:rPr>
              <a:pPr/>
              <a:t>20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B739C64-5E84-4B1E-AC47-A5BF1F0D6098}" type="slidenum">
              <a:rPr lang="en-US" altLang="en-US" sz="1200" b="0" baseline="0">
                <a:latin typeface="Times New Roman" panose="02020603050405020304" pitchFamily="18" charset="0"/>
              </a:rPr>
              <a:pPr/>
              <a:t>24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286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616019B-62FD-42C8-9FA0-EFDCEE6AD6F2}" type="slidenum">
              <a:rPr lang="en-US" altLang="en-US" sz="1200" b="0" baseline="0">
                <a:latin typeface="Times New Roman" panose="02020603050405020304" pitchFamily="18" charset="0"/>
              </a:rPr>
              <a:pPr/>
              <a:t>25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337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FD07FE-F5D0-46CC-A847-101445A84413}" type="slidenum">
              <a:rPr lang="en-US" altLang="en-US" sz="1200" b="0" baseline="0">
                <a:latin typeface="Times New Roman" panose="02020603050405020304" pitchFamily="18" charset="0"/>
              </a:rPr>
              <a:pPr/>
              <a:t>27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368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9832572-0FE8-4F11-9936-084B372AB55F}" type="slidenum">
              <a:rPr lang="en-US" altLang="en-US" sz="1200" b="0" baseline="0">
                <a:latin typeface="Times New Roman" panose="02020603050405020304" pitchFamily="18" charset="0"/>
              </a:rPr>
              <a:pPr/>
              <a:t>28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399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3E23C1E-12E3-449C-B433-A92AE80160B6}" type="slidenum">
              <a:rPr lang="en-US" altLang="en-US" sz="1200" b="0" baseline="0">
                <a:latin typeface="Times New Roman" panose="02020603050405020304" pitchFamily="18" charset="0"/>
              </a:rPr>
              <a:pPr/>
              <a:t>29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450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82C8784D-0BAF-47E1-A891-610D2B6FD632}" type="slidenum">
              <a:rPr lang="en-US" altLang="en-US" sz="1200" b="0" baseline="0">
                <a:latin typeface="Times New Roman" panose="02020603050405020304" pitchFamily="18" charset="0"/>
              </a:rPr>
              <a:pPr/>
              <a:t>30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471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E52EAB-32AB-47EC-8A90-419FD29F3A75}" type="slidenum">
              <a:rPr lang="en-US" altLang="en-US" sz="1200" b="0" baseline="0">
                <a:latin typeface="Times New Roman" panose="02020603050405020304" pitchFamily="18" charset="0"/>
              </a:rPr>
              <a:pPr/>
              <a:t>33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512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58D2840-43B7-4C55-BACE-2CE2C66BCF4F}" type="slidenum">
              <a:rPr lang="en-US" altLang="en-US" sz="1200" b="0" baseline="0">
                <a:latin typeface="Times New Roman" panose="02020603050405020304" pitchFamily="18" charset="0"/>
              </a:rPr>
              <a:pPr/>
              <a:t>35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5427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427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7883CF8-25DD-426A-A8F7-4BE0B5C241D9}" type="slidenum">
              <a:rPr lang="en-US" altLang="en-US" sz="1200" b="0" baseline="0">
                <a:latin typeface="Times New Roman" panose="02020603050405020304" pitchFamily="18" charset="0"/>
              </a:rPr>
              <a:pPr/>
              <a:t>36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563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63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E6A7F077-4349-4937-B235-EDAB40E8145F}" type="slidenum">
              <a:rPr lang="en-US" altLang="en-US" sz="1200" b="0" baseline="0">
                <a:latin typeface="Times New Roman" panose="02020603050405020304" pitchFamily="18" charset="0"/>
              </a:rPr>
              <a:pPr/>
              <a:t>37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583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83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6329E0B-F0E1-4553-8D6D-6ED98F6854AA}" type="slidenum">
              <a:rPr lang="en-US" altLang="en-US" sz="1200" b="0" baseline="0">
                <a:latin typeface="Times New Roman" panose="02020603050405020304" pitchFamily="18" charset="0"/>
              </a:rPr>
              <a:pPr/>
              <a:t>38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EC99F1-BC22-45A8-AFD6-2726F39B5D1E}" type="slidenum">
              <a:rPr lang="en-US" altLang="en-US" sz="1200" b="0" baseline="0">
                <a:latin typeface="Times New Roman" panose="02020603050405020304" pitchFamily="18" charset="0"/>
              </a:rPr>
              <a:pPr/>
              <a:t>39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624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027ACE57-C212-4649-AE3A-8707AD226CCF}" type="slidenum">
              <a:rPr lang="en-US" altLang="en-US" sz="1200" b="0" baseline="0">
                <a:latin typeface="Times New Roman" panose="02020603050405020304" pitchFamily="18" charset="0"/>
              </a:rPr>
              <a:pPr/>
              <a:t>40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BDCE6C-D2DF-43FD-BE6B-BF0D54598689}" type="slidenum">
              <a:rPr lang="en-US" altLang="en-US" sz="1200" b="0" baseline="0">
                <a:latin typeface="Times New Roman" panose="02020603050405020304" pitchFamily="18" charset="0"/>
              </a:rPr>
              <a:pPr/>
              <a:t>41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665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94663BB-6F26-4173-9A01-1D6604FABE58}" type="slidenum">
              <a:rPr lang="en-US" altLang="en-US" sz="1200" b="0" baseline="0">
                <a:latin typeface="Times New Roman" panose="02020603050405020304" pitchFamily="18" charset="0"/>
              </a:rPr>
              <a:pPr/>
              <a:t>42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686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B014676-47AB-4BA2-B0D9-6160420C3C49}" type="slidenum">
              <a:rPr lang="en-US" altLang="en-US" sz="1200" b="0" baseline="0">
                <a:latin typeface="Times New Roman" panose="02020603050405020304" pitchFamily="18" charset="0"/>
              </a:rPr>
              <a:pPr/>
              <a:t>43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706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F9C1BF-CBB2-41EF-821F-04D8E8393462}" type="slidenum">
              <a:rPr lang="en-US" altLang="en-US" sz="1200" b="0" baseline="0">
                <a:latin typeface="Times New Roman" panose="02020603050405020304" pitchFamily="18" charset="0"/>
              </a:rPr>
              <a:pPr/>
              <a:t>44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727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85FCE99-751B-4C0A-9A16-0CCF72B33984}" type="slidenum">
              <a:rPr lang="en-US" altLang="en-US" sz="1200" b="0" baseline="0">
                <a:latin typeface="Times New Roman" panose="02020603050405020304" pitchFamily="18" charset="0"/>
              </a:rPr>
              <a:pPr/>
              <a:t>45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252D1BF-3551-4D38-A43F-4FBC9F983B77}" type="slidenum">
              <a:rPr lang="en-US" altLang="en-US" sz="1200" b="0" baseline="0">
                <a:latin typeface="Times New Roman" panose="02020603050405020304" pitchFamily="18" charset="0"/>
              </a:rPr>
              <a:pPr/>
              <a:t>49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5342E51A-E6C4-47F1-90DB-491E0A214EE9}" type="slidenum">
              <a:rPr lang="en-US" altLang="en-US" sz="1200" b="0" baseline="0">
                <a:latin typeface="Times New Roman" panose="02020603050405020304" pitchFamily="18" charset="0"/>
              </a:rPr>
              <a:pPr/>
              <a:t>50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936C9CD-264E-4C1F-9696-EF39DEF4FD7F}" type="slidenum">
              <a:rPr lang="en-US" altLang="en-US" sz="1200" b="0" baseline="0">
                <a:latin typeface="Times New Roman" panose="02020603050405020304" pitchFamily="18" charset="0"/>
              </a:rPr>
              <a:pPr/>
              <a:t>51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1E3641E-98B8-45B3-916C-D8239ABA4CAE}" type="slidenum">
              <a:rPr lang="en-US" altLang="en-US" sz="1200" b="0" baseline="0">
                <a:latin typeface="Times New Roman" panose="02020603050405020304" pitchFamily="18" charset="0"/>
              </a:rPr>
              <a:pPr/>
              <a:t>54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20ED47E-F3DB-4841-A653-CC3BB30E1F4E}" type="slidenum">
              <a:rPr lang="en-US" altLang="en-US" sz="1200" b="0" baseline="0">
                <a:latin typeface="Times New Roman" panose="02020603050405020304" pitchFamily="18" charset="0"/>
              </a:rPr>
              <a:pPr/>
              <a:t>55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772F6B65-8CC3-42C8-88C1-8446CD7566F4}" type="slidenum">
              <a:rPr lang="en-US" altLang="en-US" sz="1200" b="0" baseline="0">
                <a:latin typeface="Times New Roman" panose="02020603050405020304" pitchFamily="18" charset="0"/>
              </a:rPr>
              <a:pPr/>
              <a:t>56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9B5110C-1B3E-40FB-9C34-10CF9CE497A2}" type="slidenum">
              <a:rPr lang="en-US" altLang="en-US" sz="1200" b="0" baseline="0">
                <a:latin typeface="Times New Roman" panose="02020603050405020304" pitchFamily="18" charset="0"/>
              </a:rPr>
              <a:pPr/>
              <a:t>57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A309D16-CDC1-40DC-869D-E439FA3C3573}" type="slidenum">
              <a:rPr lang="en-US" altLang="en-US" sz="1200" b="0" baseline="0">
                <a:latin typeface="Times New Roman" panose="02020603050405020304" pitchFamily="18" charset="0"/>
              </a:rPr>
              <a:pPr/>
              <a:t>58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291DB564-7B2F-4E82-B5B0-E89377083FBC}" type="slidenum">
              <a:rPr lang="en-US" altLang="en-US" sz="1200" b="0" baseline="0">
                <a:latin typeface="Times New Roman" panose="02020603050405020304" pitchFamily="18" charset="0"/>
              </a:rPr>
              <a:pPr/>
              <a:t>59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972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72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D22BB4F-1DD4-43A6-8705-5C3C777B05F9}" type="slidenum">
              <a:rPr lang="en-US" altLang="en-US" sz="1200" b="0" baseline="0">
                <a:latin typeface="Times New Roman" panose="02020603050405020304" pitchFamily="18" charset="0"/>
              </a:rPr>
              <a:pPr/>
              <a:t>60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9933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933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EB91291-BDA2-4591-BD8C-7AF17A0328BE}" type="slidenum">
              <a:rPr lang="en-US" altLang="en-US" sz="1200" b="0" baseline="0">
                <a:latin typeface="Times New Roman" panose="02020603050405020304" pitchFamily="18" charset="0"/>
              </a:rPr>
              <a:pPr/>
              <a:t>61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013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13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8E8D08-48B7-442F-9A37-BB42977C8EE1}" type="slidenum">
              <a:rPr lang="en-US" altLang="en-US" sz="1200" b="0" baseline="0">
                <a:latin typeface="Times New Roman" panose="02020603050405020304" pitchFamily="18" charset="0"/>
              </a:rPr>
              <a:pPr/>
              <a:t>62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26139207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690B446-A79D-4404-8E57-AF45C1DC8218}" type="slidenum">
              <a:rPr lang="en-US" altLang="en-US" sz="1200" b="0" baseline="0">
                <a:latin typeface="Times New Roman" panose="02020603050405020304" pitchFamily="18" charset="0"/>
              </a:rPr>
              <a:pPr/>
              <a:t>63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034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34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D08E8D08-48B7-442F-9A37-BB42977C8EE1}" type="slidenum">
              <a:rPr lang="en-US" altLang="en-US" sz="1200" b="0" baseline="0">
                <a:latin typeface="Times New Roman" panose="02020603050405020304" pitchFamily="18" charset="0"/>
              </a:rPr>
              <a:pPr/>
              <a:t>64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B8DB6C87-4FAC-499E-959D-62AAE06DFB58}" type="slidenum">
              <a:rPr lang="en-US" altLang="en-US" smtClean="0"/>
              <a:pPr>
                <a:defRPr/>
              </a:pPr>
              <a:t>66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0563338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C681C95-B224-4CEC-84D1-72F14AA73EC2}" type="slidenum">
              <a:rPr lang="en-US" altLang="en-US" sz="1200" b="0" baseline="0">
                <a:latin typeface="Times New Roman" panose="02020603050405020304" pitchFamily="18" charset="0"/>
              </a:rPr>
              <a:pPr/>
              <a:t>69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1366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36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651E8484-5864-414B-8CD8-99DA9EFCB19C}" type="slidenum">
              <a:rPr lang="en-US" altLang="en-US" sz="1200" b="0" baseline="0">
                <a:latin typeface="Times New Roman" panose="02020603050405020304" pitchFamily="18" charset="0"/>
              </a:rPr>
              <a:pPr/>
              <a:t>70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157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57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A1F4CECE-3480-4CCF-B542-A3CCC76F1DE1}" type="slidenum">
              <a:rPr lang="en-US" altLang="en-US" sz="1200" b="0" baseline="0">
                <a:latin typeface="Times New Roman" panose="02020603050405020304" pitchFamily="18" charset="0"/>
              </a:rPr>
              <a:pPr/>
              <a:t>71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177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77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43706823-5AF9-4522-99E1-6EB78F09ABA3}" type="slidenum">
              <a:rPr lang="en-US" altLang="en-US" sz="1200" b="0" baseline="0">
                <a:latin typeface="Times New Roman" panose="02020603050405020304" pitchFamily="18" charset="0"/>
              </a:rPr>
              <a:pPr/>
              <a:t>72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198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98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fld id="{187B2121-779F-4AD2-9CB6-C9BC1A354267}" type="slidenum">
              <a:rPr lang="en-US" altLang="en-US" sz="1200" b="0" baseline="0">
                <a:latin typeface="Times New Roman" panose="02020603050405020304" pitchFamily="18" charset="0"/>
              </a:rPr>
              <a:pPr/>
              <a:t>73</a:t>
            </a:fld>
            <a:endParaRPr lang="en-US" altLang="en-US" sz="1200" b="0" baseline="0">
              <a:latin typeface="Times New Roman" panose="02020603050405020304" pitchFamily="18" charset="0"/>
            </a:endParaRPr>
          </a:p>
        </p:txBody>
      </p:sp>
      <p:sp>
        <p:nvSpPr>
          <p:cNvPr id="1218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18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5" name="Group 3"/>
            <p:cNvGrpSpPr>
              <a:grpSpLocks/>
            </p:cNvGrpSpPr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12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3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grpSp>
          <p:nvGrpSpPr>
            <p:cNvPr id="6" name="Group 6"/>
            <p:cNvGrpSpPr>
              <a:grpSpLocks/>
            </p:cNvGrpSpPr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10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  <p:sp>
            <p:nvSpPr>
              <p:cNvPr id="11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3200" b="1" baseline="-18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endParaRPr lang="en-US" altLang="en-US"/>
              </a:p>
            </p:txBody>
          </p:sp>
        </p:grpSp>
        <p:sp>
          <p:nvSpPr>
            <p:cNvPr id="7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8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  <p:sp>
          <p:nvSpPr>
            <p:cNvPr id="9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endParaRPr lang="en-US" altLang="en-US"/>
            </a:p>
          </p:txBody>
        </p:sp>
      </p:grpSp>
      <p:sp>
        <p:nvSpPr>
          <p:cNvPr id="14" name="Text Box 17"/>
          <p:cNvSpPr txBox="1">
            <a:spLocks noChangeArrowheads="1"/>
          </p:cNvSpPr>
          <p:nvPr userDrawn="1"/>
        </p:nvSpPr>
        <p:spPr bwMode="auto">
          <a:xfrm>
            <a:off x="0" y="6553200"/>
            <a:ext cx="2209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lang="en-US" altLang="en-US" sz="1400" b="0" baseline="0">
                <a:latin typeface="McGrawHill-Italic" pitchFamily="2" charset="0"/>
              </a:rPr>
              <a:t>McGraw-Hill</a:t>
            </a:r>
            <a:endParaRPr lang="en-US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15" name="Text Box 18"/>
          <p:cNvSpPr txBox="1">
            <a:spLocks noChangeArrowheads="1"/>
          </p:cNvSpPr>
          <p:nvPr userDrawn="1"/>
        </p:nvSpPr>
        <p:spPr bwMode="auto">
          <a:xfrm>
            <a:off x="4572000" y="6553200"/>
            <a:ext cx="45720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 eaLnBrk="1" hangingPunct="1">
              <a:spcBef>
                <a:spcPct val="50000"/>
              </a:spcBef>
              <a:buFontTx/>
              <a:buChar char="©"/>
            </a:pPr>
            <a:r>
              <a:rPr lang="en-US" altLang="en-US" sz="1400" b="0" baseline="0">
                <a:latin typeface="McGrawHill-Italic" pitchFamily="2" charset="0"/>
              </a:rPr>
              <a:t>The McGraw-Hill Companies, Inc., 2000</a:t>
            </a:r>
            <a:endParaRPr lang="en-US" altLang="en-US" sz="2400" b="0" baseline="0">
              <a:latin typeface="Times New Roman" panose="02020603050405020304" pitchFamily="18" charset="0"/>
            </a:endParaRPr>
          </a:p>
        </p:txBody>
      </p:sp>
      <p:sp>
        <p:nvSpPr>
          <p:cNvPr id="210956" name="Rectangle 12"/>
          <p:cNvSpPr>
            <a:spLocks noGrp="1" noChangeArrowheads="1"/>
          </p:cNvSpPr>
          <p:nvPr>
            <p:ph type="ctrTitle"/>
          </p:nvPr>
        </p:nvSpPr>
        <p:spPr bwMode="auto">
          <a:xfrm>
            <a:off x="990600" y="1676400"/>
            <a:ext cx="7772400" cy="146208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10957" name="Rectangle 1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371600" y="3886200"/>
            <a:ext cx="6400800" cy="175260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>
              <a:buFont typeface="Wingdings" pitchFamily="2" charset="2"/>
              <a:buNone/>
              <a:defRPr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6" name="Date Placeholder 15"/>
          <p:cNvSpPr>
            <a:spLocks noGrp="1" noChangeArrowheads="1"/>
          </p:cNvSpPr>
          <p:nvPr>
            <p:ph type="dt" sz="half" idx="10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 b="0" baseline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7" name="Footer Placeholder 16"/>
          <p:cNvSpPr>
            <a:spLocks noGrp="1" noChangeArrowheads="1"/>
          </p:cNvSpPr>
          <p:nvPr>
            <p:ph type="ftr" sz="quarter" idx="11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 b="0" baseline="0">
                <a:solidFill>
                  <a:schemeClr val="bg2"/>
                </a:solidFill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8" name="Slide Number Placeholder 17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858000" y="6248400"/>
            <a:ext cx="1905000" cy="457200"/>
          </a:xfrm>
        </p:spPr>
        <p:txBody>
          <a:bodyPr/>
          <a:lstStyle>
            <a:lvl1pPr algn="r">
              <a:defRPr sz="1400" b="0" smtClean="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439304EC-244F-4DD8-9E1A-8DF8CCCA49C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009564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19.</a:t>
            </a:r>
            <a:fld id="{DD2E19D5-1A79-4FB4-8053-55F8A82654B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9043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19.</a:t>
            </a:r>
            <a:fld id="{803A0B88-9331-4EFF-9AC1-AB9E8B95B2E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34656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19.</a:t>
            </a:r>
            <a:fld id="{2AA80B81-2361-490F-8066-FB1D842768E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7652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19.</a:t>
            </a:r>
            <a:fld id="{04A39FB7-C75A-445D-BDB4-1EDBA52DF11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514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19.</a:t>
            </a:r>
            <a:fld id="{75984371-1F79-4848-BC20-44466A15018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93904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19.</a:t>
            </a:r>
            <a:fld id="{094642AF-8E63-41D5-B327-00485410A4C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525012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19.</a:t>
            </a:r>
            <a:fld id="{D138E7A3-2CE9-4405-82DE-72168A6674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2912368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19.</a:t>
            </a:r>
            <a:fld id="{F5A32CD5-80B4-4173-9D11-F6043D5CAA5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745478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19.</a:t>
            </a:r>
            <a:fld id="{81FE0F32-AAD7-4067-997C-EC9B781A131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20719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19.</a:t>
            </a:r>
            <a:fld id="{DA0590E2-D0B4-4109-AC02-2E446B4CC6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42741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1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/>
              <a:t>19.</a:t>
            </a:r>
            <a:fld id="{4EF87736-F86C-41C5-BD0C-944DEFC670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0359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36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-76200" y="64008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2000" baseline="0" smtClean="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r>
              <a:rPr lang="en-US" altLang="en-US"/>
              <a:t>19.</a:t>
            </a:r>
            <a:fld id="{F7685766-6EED-476C-A452-A4DA326D0E5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12" r:id="rId1"/>
    <p:sldLayoutId id="2147484001" r:id="rId2"/>
    <p:sldLayoutId id="2147484002" r:id="rId3"/>
    <p:sldLayoutId id="2147484003" r:id="rId4"/>
    <p:sldLayoutId id="2147484004" r:id="rId5"/>
    <p:sldLayoutId id="2147484005" r:id="rId6"/>
    <p:sldLayoutId id="2147484006" r:id="rId7"/>
    <p:sldLayoutId id="2147484007" r:id="rId8"/>
    <p:sldLayoutId id="2147484008" r:id="rId9"/>
    <p:sldLayoutId id="2147484009" r:id="rId10"/>
    <p:sldLayoutId id="2147484010" r:id="rId11"/>
    <p:sldLayoutId id="2147484011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6.w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w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w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w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wmf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6.png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wmf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wmf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wmf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wmf"/><Relationship Id="rId4" Type="http://schemas.openxmlformats.org/officeDocument/2006/relationships/image" Target="../media/image39.wmf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wmf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142" t="23293" r="9271" b="18291"/>
          <a:stretch>
            <a:fillRect/>
          </a:stretch>
        </p:blipFill>
        <p:spPr bwMode="auto">
          <a:xfrm>
            <a:off x="609600" y="457200"/>
            <a:ext cx="4343400" cy="1395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9" name="Rectangle 4"/>
          <p:cNvSpPr>
            <a:spLocks noChangeArrowheads="1"/>
          </p:cNvSpPr>
          <p:nvPr/>
        </p:nvSpPr>
        <p:spPr bwMode="auto">
          <a:xfrm>
            <a:off x="1219200" y="2209800"/>
            <a:ext cx="7086600" cy="407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5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Information Science &amp; Engineering</a:t>
            </a:r>
          </a:p>
          <a:p>
            <a:pPr>
              <a:lnSpc>
                <a:spcPct val="150000"/>
              </a:lnSpc>
            </a:pP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Term: </a:t>
            </a:r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10th Sep 2025 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</a:t>
            </a:r>
            <a:r>
              <a:rPr lang="en-US" alt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31st Dec 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</a:p>
          <a:p>
            <a:pPr>
              <a:lnSpc>
                <a:spcPct val="150000"/>
              </a:lnSpc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Semester: 5</a:t>
            </a:r>
          </a:p>
          <a:p>
            <a:pPr>
              <a:lnSpc>
                <a:spcPct val="150000"/>
              </a:lnSpc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Code: IS53		Credits: 4:0:0</a:t>
            </a:r>
          </a:p>
          <a:p>
            <a:pPr>
              <a:lnSpc>
                <a:spcPct val="150000"/>
              </a:lnSpc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 Name: Computer Networks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3"/>
          <p:cNvSpPr>
            <a:spLocks noChangeArrowheads="1"/>
          </p:cNvSpPr>
          <p:nvPr/>
        </p:nvSpPr>
        <p:spPr bwMode="auto">
          <a:xfrm>
            <a:off x="838200" y="2014538"/>
            <a:ext cx="7467600" cy="25130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endParaRPr lang="en-US" altLang="en-US" sz="2000" dirty="0">
              <a:solidFill>
                <a:schemeClr val="tx2"/>
              </a:solidFill>
              <a:latin typeface="Arial" charset="0"/>
            </a:endParaRPr>
          </a:p>
          <a:p>
            <a:pPr algn="ctr" eaLnBrk="1" hangingPunct="1">
              <a:defRPr/>
            </a:pPr>
            <a:r>
              <a:rPr lang="en-US" sz="6000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UNIT 3</a:t>
            </a:r>
          </a:p>
          <a:p>
            <a:pPr algn="ctr">
              <a:defRPr/>
            </a:pPr>
            <a:endParaRPr lang="en-US" sz="6000" dirty="0">
              <a:solidFill>
                <a:srgbClr val="3366FF"/>
              </a:solidFill>
              <a:latin typeface="Arial" charset="0"/>
            </a:endParaRPr>
          </a:p>
          <a:p>
            <a:pPr algn="ctr" eaLnBrk="1" hangingPunct="1">
              <a:defRPr/>
            </a:pPr>
            <a:r>
              <a:rPr lang="en-US" sz="6000" cap="all" dirty="0">
                <a:solidFill>
                  <a:schemeClr val="tx2"/>
                </a:solidFill>
                <a:latin typeface="+mj-lt"/>
                <a:ea typeface="+mj-ea"/>
                <a:cs typeface="+mj-cs"/>
              </a:rPr>
              <a:t>NETWORK Layer</a:t>
            </a:r>
          </a:p>
          <a:p>
            <a:pPr algn="ctr">
              <a:defRPr/>
            </a:pPr>
            <a:endParaRPr lang="en-US" sz="3600" dirty="0">
              <a:latin typeface="Arial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8914" name="Rectangle 2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effectLst>
                <a:outerShdw blurRad="38100" dist="38100" dir="2700000" algn="tl">
                  <a:srgbClr val="FFFFFF"/>
                </a:outerShdw>
              </a:effectLst>
            </a:endParaRPr>
          </a:p>
        </p:txBody>
      </p:sp>
      <p:sp>
        <p:nvSpPr>
          <p:cNvPr id="678915" name="Text Box 3"/>
          <p:cNvSpPr txBox="1">
            <a:spLocks noChangeArrowheads="1"/>
          </p:cNvSpPr>
          <p:nvPr/>
        </p:nvSpPr>
        <p:spPr bwMode="auto">
          <a:xfrm>
            <a:off x="228600" y="76200"/>
            <a:ext cx="4032707" cy="6052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sz="500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NETWORK LAYER</a:t>
            </a:r>
          </a:p>
        </p:txBody>
      </p:sp>
      <p:sp>
        <p:nvSpPr>
          <p:cNvPr id="100356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>
              <a:latin typeface="Times New Roman" panose="02020603050405020304" pitchFamily="18" charset="0"/>
            </a:endParaRPr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auto">
          <a:xfrm>
            <a:off x="304800" y="914400"/>
            <a:ext cx="8610600" cy="19389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571500" indent="-571500" algn="just"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link layer operates on the same network(link)</a:t>
            </a:r>
          </a:p>
          <a:p>
            <a:pPr marL="571500" indent="-571500" algn="just"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layer operates on different networks(links)</a:t>
            </a:r>
          </a:p>
          <a:p>
            <a:pPr marL="571500" indent="-571500" algn="just" eaLnBrk="1" hangingPunct="1">
              <a:spcBef>
                <a:spcPts val="1200"/>
              </a:spcBef>
              <a:spcAft>
                <a:spcPts val="1200"/>
              </a:spcAft>
              <a:buFont typeface="Wingdings" panose="05000000000000000000" pitchFamily="2" charset="2"/>
              <a:buChar char="ü"/>
            </a:pP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Responsible for source to destination delivery</a:t>
            </a:r>
          </a:p>
        </p:txBody>
      </p:sp>
      <p:sp>
        <p:nvSpPr>
          <p:cNvPr id="100358" name="Rectangle 11"/>
          <p:cNvSpPr>
            <a:spLocks noChangeArrowheads="1"/>
          </p:cNvSpPr>
          <p:nvPr/>
        </p:nvSpPr>
        <p:spPr bwMode="auto">
          <a:xfrm>
            <a:off x="533400" y="3136900"/>
            <a:ext cx="8077200" cy="1323439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dirty="0">
                <a:latin typeface="Times New Roman" panose="02020603050405020304" pitchFamily="18" charset="0"/>
              </a:rPr>
              <a:t>The network layer is responsible for the </a:t>
            </a:r>
            <a:br>
              <a:rPr lang="en-US" altLang="en-US" sz="4000" dirty="0">
                <a:latin typeface="Times New Roman" panose="02020603050405020304" pitchFamily="18" charset="0"/>
              </a:rPr>
            </a:br>
            <a:r>
              <a:rPr lang="en-US" altLang="en-US" sz="4000" dirty="0">
                <a:latin typeface="Times New Roman" panose="02020603050405020304" pitchFamily="18" charset="0"/>
              </a:rPr>
              <a:t>delivery of individual packets from </a:t>
            </a:r>
          </a:p>
          <a:p>
            <a:pPr algn="ctr"/>
            <a:r>
              <a:rPr lang="en-US" altLang="en-US" sz="4000" dirty="0">
                <a:latin typeface="Times New Roman" panose="02020603050405020304" pitchFamily="18" charset="0"/>
              </a:rPr>
              <a:t>the source host to the destination host.</a:t>
            </a:r>
          </a:p>
        </p:txBody>
      </p:sp>
      <p:pic>
        <p:nvPicPr>
          <p:cNvPr id="100359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47800" y="4529137"/>
            <a:ext cx="6256338" cy="210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726539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610600" cy="50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Responsibilities / Functions / Services of Network Layer</a:t>
            </a:r>
            <a:endParaRPr lang="en-US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102405" name="Line 5"/>
          <p:cNvSpPr>
            <a:spLocks noChangeShapeType="1"/>
          </p:cNvSpPr>
          <p:nvPr/>
        </p:nvSpPr>
        <p:spPr bwMode="auto">
          <a:xfrm>
            <a:off x="152400" y="6172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036637"/>
            <a:ext cx="8229600" cy="4525963"/>
          </a:xfrm>
        </p:spPr>
        <p:txBody>
          <a:bodyPr/>
          <a:lstStyle/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Source to destination delivery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Logical addressing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Packetizing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Routing and Forwarding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Other  services</a:t>
            </a:r>
            <a:endParaRPr lang="en-US" altLang="en-US" sz="2000" b="1" kern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Error Control , Flow control</a:t>
            </a: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Congestion control, Quality of service</a:t>
            </a: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Security</a:t>
            </a: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400" b="1" kern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106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610600" cy="5027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000" dirty="0">
                <a:solidFill>
                  <a:schemeClr val="folHlink"/>
                </a:solidFill>
                <a:latin typeface="Times New Roman" panose="02020603050405020304" pitchFamily="18" charset="0"/>
              </a:rPr>
              <a:t>PACKET SWITCHING</a:t>
            </a:r>
            <a:endParaRPr lang="en-US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102405" name="Line 5"/>
          <p:cNvSpPr>
            <a:spLocks noChangeShapeType="1"/>
          </p:cNvSpPr>
          <p:nvPr/>
        </p:nvSpPr>
        <p:spPr bwMode="auto">
          <a:xfrm>
            <a:off x="152400" y="61722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036637"/>
            <a:ext cx="8229600" cy="4525963"/>
          </a:xfrm>
        </p:spPr>
        <p:txBody>
          <a:bodyPr/>
          <a:lstStyle/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0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Datagram Approach – Connection less service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endParaRPr lang="en-US" altLang="en-US" sz="3000" b="1" kern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30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Virtual Circuit Approach – Connection Oriented service</a:t>
            </a:r>
          </a:p>
          <a:p>
            <a:pPr marL="800100" lvl="2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5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Setup Phase (Request packet &amp; ACK packet)</a:t>
            </a:r>
          </a:p>
          <a:p>
            <a:pPr marL="800100" lvl="2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5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Data Transfer Phase</a:t>
            </a:r>
          </a:p>
          <a:p>
            <a:pPr marL="800100" lvl="2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5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Tear down / Termination phase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endParaRPr lang="en-US" altLang="en-US" sz="2400" kern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5882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610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baseline="0" dirty="0"/>
              <a:t>NETWORK-LAYER PERFORMANCE</a:t>
            </a:r>
            <a:endParaRPr lang="en-US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036637"/>
            <a:ext cx="8229600" cy="4525963"/>
          </a:xfrm>
        </p:spPr>
        <p:txBody>
          <a:bodyPr/>
          <a:lstStyle/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Delay</a:t>
            </a: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Transmission delay</a:t>
            </a: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Propagation delay</a:t>
            </a: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Processing delay</a:t>
            </a: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Queuing delay</a:t>
            </a: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Total delay – Sum of the above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Throughput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Packet </a:t>
            </a:r>
            <a:r>
              <a:rPr lang="en-US" altLang="en-US" sz="2800" b="1" kern="12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loss </a:t>
            </a:r>
            <a:endParaRPr lang="en-US" altLang="en-US" sz="2800" b="1" kern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8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Congestion </a:t>
            </a:r>
            <a:endParaRPr lang="en-US" altLang="en-US" sz="2400" b="1" kern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400" b="1" kern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2967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610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IN" baseline="0" dirty="0"/>
              <a:t>DELAY</a:t>
            </a:r>
            <a:endParaRPr lang="en-US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304800" y="1036637"/>
            <a:ext cx="8382000" cy="4525963"/>
          </a:xfrm>
        </p:spPr>
        <p:txBody>
          <a:bodyPr/>
          <a:lstStyle/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Transmission delay: </a:t>
            </a:r>
            <a:r>
              <a:rPr lang="en-US" altLang="en-US" sz="2200" kern="1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Delay</a:t>
            </a:r>
            <a:r>
              <a:rPr lang="en-US" altLang="en-US" sz="2200" kern="12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</a:t>
            </a:r>
            <a:r>
              <a:rPr lang="en-US" altLang="en-US" sz="2200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= (Packet length) / (Transmission rate)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Propagation delay: </a:t>
            </a:r>
            <a:r>
              <a:rPr lang="en-US" altLang="en-US" sz="2200" kern="1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Delay</a:t>
            </a:r>
            <a:r>
              <a:rPr lang="en-US" altLang="en-US" sz="2200" kern="12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pg</a:t>
            </a:r>
            <a:r>
              <a:rPr lang="en-US" altLang="en-US" sz="2200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= (Distance) / (Propagation speed)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Processing delay: </a:t>
            </a:r>
            <a:r>
              <a:rPr lang="en-US" altLang="en-US" sz="2400" kern="1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Delay</a:t>
            </a:r>
            <a:r>
              <a:rPr lang="en-US" altLang="en-US" sz="2400" kern="12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</a:t>
            </a:r>
            <a:r>
              <a:rPr lang="en-US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= Time required to process a packet in a router or a destination host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Queuing delay: </a:t>
            </a:r>
            <a:r>
              <a:rPr lang="en-US" altLang="en-US" sz="2400" kern="1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Delay</a:t>
            </a:r>
            <a:r>
              <a:rPr lang="en-US" altLang="en-US" sz="2400" kern="12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qu</a:t>
            </a:r>
            <a:r>
              <a:rPr lang="en-US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= The time a packet waits in input and output queues in a router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altLang="en-US" sz="2400" b="1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Total delay: </a:t>
            </a:r>
            <a:r>
              <a:rPr lang="en-US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Sum of the above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Total delay = (n+1) (</a:t>
            </a:r>
            <a:r>
              <a:rPr lang="en-US" altLang="en-US" sz="2400" kern="1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Delay</a:t>
            </a:r>
            <a:r>
              <a:rPr lang="en-US" altLang="en-US" sz="2400" kern="12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tr</a:t>
            </a:r>
            <a:r>
              <a:rPr lang="en-US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+ </a:t>
            </a:r>
            <a:r>
              <a:rPr lang="en-US" altLang="en-US" sz="2400" kern="1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Delay</a:t>
            </a:r>
            <a:r>
              <a:rPr lang="en-US" altLang="en-US" sz="2400" kern="12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pg</a:t>
            </a:r>
            <a:r>
              <a:rPr lang="en-US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 + </a:t>
            </a:r>
            <a:r>
              <a:rPr lang="en-US" altLang="en-US" sz="2400" kern="1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Delay</a:t>
            </a:r>
            <a:r>
              <a:rPr lang="en-US" altLang="en-US" sz="2400" kern="12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pr</a:t>
            </a:r>
            <a:r>
              <a:rPr lang="en-US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) + (n) (</a:t>
            </a:r>
            <a:r>
              <a:rPr lang="en-US" altLang="en-US" sz="2400" kern="12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Delay</a:t>
            </a:r>
            <a:r>
              <a:rPr lang="en-US" altLang="en-US" sz="2400" kern="1200" baseline="-25000" dirty="0" err="1">
                <a:solidFill>
                  <a:srgbClr val="000000"/>
                </a:solidFill>
                <a:latin typeface="Times New Roman" panose="02020603050405020304" pitchFamily="18" charset="0"/>
              </a:rPr>
              <a:t>qu</a:t>
            </a:r>
            <a:r>
              <a:rPr lang="en-US" altLang="en-US" sz="2400" kern="1200" dirty="0">
                <a:solidFill>
                  <a:srgbClr val="000000"/>
                </a:solidFill>
                <a:latin typeface="Times New Roman" panose="02020603050405020304" pitchFamily="18" charset="0"/>
              </a:rPr>
              <a:t>)</a:t>
            </a:r>
          </a:p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400" b="1" kern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endParaRPr lang="en-US" altLang="en-US" sz="2400" b="1" kern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281235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947A28-2D19-32E3-40A2-A181387FBA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Line 2">
            <a:extLst>
              <a:ext uri="{FF2B5EF4-FFF2-40B4-BE49-F238E27FC236}">
                <a16:creationId xmlns:a16="http://schemas.microsoft.com/office/drawing/2014/main" id="{59CA4D37-CADB-DF85-358B-029D0C75B28D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3" name="Line 3">
            <a:extLst>
              <a:ext uri="{FF2B5EF4-FFF2-40B4-BE49-F238E27FC236}">
                <a16:creationId xmlns:a16="http://schemas.microsoft.com/office/drawing/2014/main" id="{9A601335-ED36-0B75-4D6E-352733CABE03}"/>
              </a:ext>
            </a:extLst>
          </p:cNvPr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4" name="Text Box 4">
            <a:extLst>
              <a:ext uri="{FF2B5EF4-FFF2-40B4-BE49-F238E27FC236}">
                <a16:creationId xmlns:a16="http://schemas.microsoft.com/office/drawing/2014/main" id="{55F8C716-5C29-584E-E51C-FC29807C4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381000"/>
            <a:ext cx="861060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000" baseline="0" dirty="0">
                <a:latin typeface="Times New Roman" panose="02020603050405020304" pitchFamily="18" charset="0"/>
              </a:rPr>
              <a:t>T</a:t>
            </a:r>
            <a:r>
              <a:rPr lang="en-IN" altLang="en-US" sz="4000" baseline="0" dirty="0">
                <a:latin typeface="Times New Roman" panose="02020603050405020304" pitchFamily="18" charset="0"/>
              </a:rPr>
              <a:t>HROUGHPUT</a:t>
            </a:r>
            <a:endParaRPr lang="en-US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FABE868-C9B2-721F-E6E9-46102B1AE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3249885"/>
            <a:ext cx="8382000" cy="707886"/>
          </a:xfrm>
        </p:spPr>
        <p:txBody>
          <a:bodyPr/>
          <a:lstStyle/>
          <a:p>
            <a:pPr marL="0" lvl="0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Font typeface="Wingdings" panose="05000000000000000000" pitchFamily="2" charset="2"/>
              <a:buChar char="Ø"/>
            </a:pPr>
            <a:r>
              <a:rPr lang="en-US" sz="2800" b="1" i="0" u="none" strike="noStrike" baseline="0" dirty="0">
                <a:latin typeface="Times-Bold"/>
              </a:rPr>
              <a:t>Throughput </a:t>
            </a:r>
            <a:r>
              <a:rPr lang="en-US" sz="2800" b="0" i="0" u="none" strike="noStrike" baseline="0" dirty="0">
                <a:latin typeface="Symbol" panose="05050102010706020507" pitchFamily="18" charset="2"/>
              </a:rPr>
              <a:t>= </a:t>
            </a:r>
            <a:r>
              <a:rPr lang="en-US" sz="2800" b="1" i="0" u="none" strike="noStrike" baseline="0" dirty="0">
                <a:latin typeface="Times-Bold"/>
              </a:rPr>
              <a:t>minimum {TR1, TR2, </a:t>
            </a:r>
            <a:r>
              <a:rPr lang="en-US" sz="2800" b="0" i="0" u="none" strike="noStrike" baseline="0" dirty="0">
                <a:latin typeface="Symbol" panose="05050102010706020507" pitchFamily="18" charset="2"/>
              </a:rPr>
              <a:t>. . . </a:t>
            </a:r>
            <a:r>
              <a:rPr lang="en-US" sz="2800" b="1" i="0" u="none" strike="noStrike" baseline="0" dirty="0" err="1">
                <a:latin typeface="Times-Bold"/>
              </a:rPr>
              <a:t>TRn</a:t>
            </a:r>
            <a:r>
              <a:rPr lang="en-US" sz="2800" b="1" i="0" u="none" strike="noStrike" baseline="0" dirty="0">
                <a:latin typeface="Times-Bold"/>
              </a:rPr>
              <a:t>}.</a:t>
            </a:r>
            <a:endParaRPr lang="en-US" altLang="en-US" sz="2800" kern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400050" lvl="1" indent="0" algn="just" eaLnBrk="1" hangingPunct="1">
              <a:lnSpc>
                <a:spcPct val="150000"/>
              </a:lnSpc>
              <a:spcBef>
                <a:spcPct val="0"/>
              </a:spcBef>
              <a:buClrTx/>
              <a:buSzTx/>
              <a:buNone/>
            </a:pPr>
            <a:endParaRPr lang="en-US" altLang="en-US" b="1" kern="12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8F2A7D8-AE2F-B022-8746-046DC3FB3B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7882" y="1097442"/>
            <a:ext cx="6564435" cy="20298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53D72107-5C0A-2A0A-C59B-88F5D75D7DB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582" y="4183182"/>
            <a:ext cx="6564435" cy="211150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05EAF6DE-98CC-ED7A-A345-8DD4E2F8165E}"/>
              </a:ext>
            </a:extLst>
          </p:cNvPr>
          <p:cNvSpPr txBox="1"/>
          <p:nvPr/>
        </p:nvSpPr>
        <p:spPr>
          <a:xfrm>
            <a:off x="2133600" y="6380946"/>
            <a:ext cx="54102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500" u="none" strike="noStrike" baseline="0" dirty="0">
                <a:latin typeface="Times" panose="02020603050405020304" pitchFamily="18" charset="0"/>
                <a:cs typeface="Times" panose="02020603050405020304" pitchFamily="18" charset="0"/>
              </a:rPr>
              <a:t>Effect of throughput in shared links</a:t>
            </a:r>
            <a:endParaRPr lang="en-IN" sz="2500" dirty="0"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9055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610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aseline="0" dirty="0"/>
              <a:t>Congestion Control</a:t>
            </a:r>
            <a:endParaRPr lang="en-US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19100" y="1066800"/>
            <a:ext cx="8229600" cy="4525963"/>
          </a:xfrm>
        </p:spPr>
        <p:txBody>
          <a:bodyPr/>
          <a:lstStyle/>
          <a:p>
            <a:pPr eaLnBrk="1" hangingPunct="1">
              <a:defRPr/>
            </a:pPr>
            <a:r>
              <a:rPr lang="en-US" altLang="ko-KR" sz="2200" b="1" dirty="0"/>
              <a:t>Congestion</a:t>
            </a:r>
            <a:r>
              <a:rPr lang="en-US" altLang="ko-KR" sz="2200" dirty="0"/>
              <a:t>: </a:t>
            </a:r>
          </a:p>
          <a:p>
            <a:pPr lvl="1" eaLnBrk="1" hangingPunct="1">
              <a:defRPr/>
            </a:pPr>
            <a:r>
              <a:rPr lang="en-US" altLang="ko-KR" sz="2200" dirty="0"/>
              <a:t>the load on the network is greater than the capacity of the network</a:t>
            </a:r>
          </a:p>
          <a:p>
            <a:pPr lvl="1" eaLnBrk="1" hangingPunct="1">
              <a:buFontTx/>
              <a:buNone/>
              <a:defRPr/>
            </a:pPr>
            <a:endParaRPr lang="en-US" altLang="ko-KR" sz="1200" dirty="0"/>
          </a:p>
          <a:p>
            <a:pPr eaLnBrk="1" hangingPunct="1">
              <a:defRPr/>
            </a:pPr>
            <a:r>
              <a:rPr lang="en-US" altLang="ko-KR" sz="2200" b="1" dirty="0"/>
              <a:t>Congestion control</a:t>
            </a:r>
            <a:r>
              <a:rPr lang="en-US" altLang="ko-KR" sz="2200" dirty="0"/>
              <a:t>: </a:t>
            </a:r>
          </a:p>
          <a:p>
            <a:pPr lvl="1" eaLnBrk="1" hangingPunct="1">
              <a:defRPr/>
            </a:pPr>
            <a:r>
              <a:rPr lang="en-US" altLang="ko-KR" sz="2200" dirty="0"/>
              <a:t>the mechanisms to control the congestion and keep the load below the capacity</a:t>
            </a:r>
          </a:p>
          <a:p>
            <a:pPr lvl="1" eaLnBrk="1" hangingPunct="1">
              <a:buFontTx/>
              <a:buNone/>
              <a:defRPr/>
            </a:pPr>
            <a:endParaRPr lang="en-US" altLang="ko-KR" sz="1200" dirty="0"/>
          </a:p>
          <a:p>
            <a:pPr eaLnBrk="1" hangingPunct="1">
              <a:defRPr/>
            </a:pPr>
            <a:r>
              <a:rPr lang="en-US" altLang="ko-KR" sz="2200" dirty="0"/>
              <a:t>Congestion happens in any system that involves waiting</a:t>
            </a:r>
          </a:p>
          <a:p>
            <a:pPr eaLnBrk="1" hangingPunct="1">
              <a:buFontTx/>
              <a:buNone/>
              <a:defRPr/>
            </a:pPr>
            <a:endParaRPr lang="en-US" altLang="ko-KR" sz="1200" dirty="0"/>
          </a:p>
          <a:p>
            <a:pPr eaLnBrk="1" hangingPunct="1">
              <a:defRPr/>
            </a:pPr>
            <a:r>
              <a:rPr lang="en-US" altLang="ko-KR" sz="2200" dirty="0"/>
              <a:t>Congestion occurs because routers and switches have queues/buffers that hold the packets before and after processing</a:t>
            </a:r>
          </a:p>
        </p:txBody>
      </p:sp>
    </p:spTree>
    <p:extLst>
      <p:ext uri="{BB962C8B-B14F-4D97-AF65-F5344CB8AC3E}">
        <p14:creationId xmlns:p14="http://schemas.microsoft.com/office/powerpoint/2010/main" val="11814912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610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aseline="0" dirty="0"/>
              <a:t>Congestion Control</a:t>
            </a:r>
            <a:endParaRPr lang="en-US" altLang="en-US" sz="4000" dirty="0">
              <a:latin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813" y="1609725"/>
            <a:ext cx="7643812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Rectangle 4"/>
          <p:cNvSpPr txBox="1">
            <a:spLocks noChangeArrowheads="1"/>
          </p:cNvSpPr>
          <p:nvPr/>
        </p:nvSpPr>
        <p:spPr bwMode="auto">
          <a:xfrm>
            <a:off x="457200" y="4286250"/>
            <a:ext cx="8229600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ea"/>
                <a:ea typeface="+mn-ea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•"/>
              <a:defRPr kumimoji="1" sz="1600">
                <a:solidFill>
                  <a:schemeClr val="tx1"/>
                </a:solidFill>
                <a:latin typeface="+mn-ea"/>
                <a:ea typeface="+mn-ea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–"/>
              <a:defRPr kumimoji="1" sz="1400">
                <a:solidFill>
                  <a:schemeClr val="tx1"/>
                </a:solidFill>
                <a:latin typeface="+mn-ea"/>
                <a:ea typeface="+mn-ea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ea"/>
                <a:ea typeface="+mn-ea"/>
              </a:defRPr>
            </a:lvl5pPr>
            <a:lvl6pPr marL="25146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ea"/>
                <a:ea typeface="+mn-ea"/>
              </a:defRPr>
            </a:lvl6pPr>
            <a:lvl7pPr marL="29718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ea"/>
                <a:ea typeface="+mn-ea"/>
              </a:defRPr>
            </a:lvl7pPr>
            <a:lvl8pPr marL="34290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ea"/>
                <a:ea typeface="+mn-ea"/>
              </a:defRPr>
            </a:lvl8pPr>
            <a:lvl9pPr marL="3886200" indent="-228600" algn="l" rtl="0" fontAlgn="base" latinLnBrk="1">
              <a:spcBef>
                <a:spcPct val="20000"/>
              </a:spcBef>
              <a:spcAft>
                <a:spcPct val="0"/>
              </a:spcAft>
              <a:buChar char="»"/>
              <a:defRPr kumimoji="1" sz="1200">
                <a:solidFill>
                  <a:schemeClr val="tx1"/>
                </a:solidFill>
                <a:latin typeface="+mn-ea"/>
                <a:ea typeface="+mn-ea"/>
              </a:defRPr>
            </a:lvl9pPr>
          </a:lstStyle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ko-KR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굴림"/>
                <a:cs typeface="+mn-cs"/>
              </a:rPr>
              <a:t>Two Issues</a:t>
            </a: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굴림"/>
                <a:cs typeface="+mn-cs"/>
              </a:rPr>
              <a:t>The rate of packet arrival &gt; packet processing rate 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굴림"/>
                <a:cs typeface="+mn-cs"/>
                <a:sym typeface="Wingdings" panose="05000000000000000000" pitchFamily="2" charset="2"/>
              </a:rPr>
              <a:t>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굴림"/>
                <a:cs typeface="+mn-cs"/>
              </a:rPr>
              <a:t> affects input queue</a:t>
            </a:r>
          </a:p>
          <a:p>
            <a:pPr marL="342900" marR="0" lvl="0" indent="-342900" algn="l" defTabSz="914400" rtl="0" eaLnBrk="1" fontAlgn="base" latinLnBrk="1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Char char="•"/>
              <a:tabLst/>
              <a:defRPr/>
            </a:pP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굴림"/>
                <a:cs typeface="+mn-cs"/>
              </a:rPr>
              <a:t>The packet departure rate &lt; packet processing rate </a:t>
            </a:r>
            <a:r>
              <a:rPr kumimoji="1" lang="en-US" altLang="ko-KR" sz="20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굴림"/>
                <a:cs typeface="+mn-cs"/>
                <a:sym typeface="Wingdings" panose="05000000000000000000" pitchFamily="2" charset="2"/>
              </a:rPr>
              <a:t> affects output queue</a:t>
            </a:r>
            <a:endParaRPr kumimoji="1" lang="en-US" altLang="ko-KR" sz="20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굴림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0681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6533204"/>
              </p:ext>
            </p:extLst>
          </p:nvPr>
        </p:nvGraphicFramePr>
        <p:xfrm>
          <a:off x="457200" y="2667000"/>
          <a:ext cx="8301074" cy="3581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5" name="Bitmap Image" r:id="rId4" imgW="3879720" imgH="1638360" progId="Paint.Picture">
                  <p:embed/>
                </p:oleObj>
              </mc:Choice>
              <mc:Fallback>
                <p:oleObj name="Bitmap Image" r:id="rId4" imgW="3879720" imgH="1638360" progId="Paint.Pictur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457200" y="2667000"/>
                        <a:ext cx="8301074" cy="35814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4"/>
          <p:cNvSpPr txBox="1">
            <a:spLocks noChangeArrowheads="1"/>
          </p:cNvSpPr>
          <p:nvPr/>
        </p:nvSpPr>
        <p:spPr>
          <a:xfrm>
            <a:off x="457200" y="457200"/>
            <a:ext cx="8229600" cy="18288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/>
            <a:r>
              <a:rPr lang="en-US" altLang="ko-KR" sz="2200" b="0" kern="0" baseline="0" dirty="0"/>
              <a:t>Congestion control involves two factors that measure the performance of a network - Delay and throughput</a:t>
            </a:r>
          </a:p>
          <a:p>
            <a:pPr eaLnBrk="1" hangingPunct="1"/>
            <a:r>
              <a:rPr lang="en-US" altLang="ko-KR" sz="2200" b="0" kern="0" baseline="0" dirty="0"/>
              <a:t>Delay is composed of propagation delay and processing delay</a:t>
            </a:r>
          </a:p>
          <a:p>
            <a:pPr eaLnBrk="1" hangingPunct="1"/>
            <a:r>
              <a:rPr lang="en-US" altLang="ko-KR" sz="2200" b="0" kern="0" baseline="0" dirty="0"/>
              <a:t>Throughput: the number of packets passing through the network in a unit of time</a:t>
            </a:r>
          </a:p>
        </p:txBody>
      </p:sp>
    </p:spTree>
    <p:extLst>
      <p:ext uri="{BB962C8B-B14F-4D97-AF65-F5344CB8AC3E}">
        <p14:creationId xmlns:p14="http://schemas.microsoft.com/office/powerpoint/2010/main" val="31052107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02404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61060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aseline="0" dirty="0"/>
              <a:t>Congestion Control</a:t>
            </a:r>
            <a:endParaRPr lang="en-US" altLang="en-US" sz="4000" dirty="0">
              <a:latin typeface="Times New Roman" panose="02020603050405020304" pitchFamily="18" charset="0"/>
            </a:endParaRPr>
          </a:p>
        </p:txBody>
      </p:sp>
      <p:sp>
        <p:nvSpPr>
          <p:cNvPr id="8" name="Rectangle 3"/>
          <p:cNvSpPr txBox="1">
            <a:spLocks noChangeArrowheads="1"/>
          </p:cNvSpPr>
          <p:nvPr/>
        </p:nvSpPr>
        <p:spPr>
          <a:xfrm>
            <a:off x="395288" y="1143000"/>
            <a:ext cx="8229600" cy="1944688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ko-KR" sz="2200" b="0" kern="0" baseline="0"/>
              <a:t>Congestion control refers to techniques and mechanisms that can either prevent congestion or remove congestion.</a:t>
            </a:r>
          </a:p>
          <a:p>
            <a:pPr eaLnBrk="1" hangingPunct="1">
              <a:spcBef>
                <a:spcPts val="1200"/>
              </a:spcBef>
              <a:spcAft>
                <a:spcPts val="1000"/>
              </a:spcAft>
            </a:pPr>
            <a:r>
              <a:rPr lang="en-US" altLang="ko-KR" sz="2200" b="0" kern="0" baseline="0"/>
              <a:t>Two broad categories: </a:t>
            </a:r>
            <a:r>
              <a:rPr lang="en-US" altLang="ko-KR" sz="2200" b="1" kern="0" baseline="0"/>
              <a:t>open-loop congestion control </a:t>
            </a:r>
            <a:r>
              <a:rPr lang="en-US" altLang="ko-KR" sz="2200" b="0" kern="0" baseline="0"/>
              <a:t>(prevention) and </a:t>
            </a:r>
            <a:r>
              <a:rPr lang="en-US" altLang="ko-KR" sz="2200" b="1" kern="0" baseline="0"/>
              <a:t>closed-loop congestion control</a:t>
            </a:r>
            <a:r>
              <a:rPr lang="en-US" altLang="ko-KR" sz="2200" b="0" kern="0" baseline="0"/>
              <a:t> (removal).</a:t>
            </a:r>
            <a:endParaRPr lang="en-US" altLang="ko-KR" sz="2200" b="0" kern="0" baseline="0" dirty="0"/>
          </a:p>
        </p:txBody>
      </p:sp>
      <p:pic>
        <p:nvPicPr>
          <p:cNvPr id="9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7250" y="3471863"/>
            <a:ext cx="7600950" cy="292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07196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609600" y="381000"/>
            <a:ext cx="2256259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000"/>
              </a:spcAft>
            </a:pPr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 pressure</a:t>
            </a: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7532967" cy="1474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6"/>
          <p:cNvSpPr/>
          <p:nvPr/>
        </p:nvSpPr>
        <p:spPr>
          <a:xfrm>
            <a:off x="609600" y="3276600"/>
            <a:ext cx="2210862" cy="50270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spcAft>
                <a:spcPts val="1000"/>
              </a:spcAft>
            </a:pPr>
            <a:r>
              <a:rPr lang="en-US" altLang="ko-KR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Choke Packet</a:t>
            </a: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114800"/>
            <a:ext cx="7626857" cy="170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249601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ChangeArrowheads="1"/>
          </p:cNvSpPr>
          <p:nvPr/>
        </p:nvSpPr>
        <p:spPr bwMode="auto">
          <a:xfrm>
            <a:off x="838200" y="2020888"/>
            <a:ext cx="7543800" cy="13234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000" baseline="0" dirty="0">
              <a:solidFill>
                <a:schemeClr val="tx2"/>
              </a:solidFill>
            </a:endParaRPr>
          </a:p>
          <a:p>
            <a:pPr algn="ctr"/>
            <a:r>
              <a:rPr lang="en-US" altLang="en-US" sz="6000" baseline="0" dirty="0"/>
              <a:t>IPv4 ADDRESSES</a:t>
            </a:r>
          </a:p>
        </p:txBody>
      </p:sp>
      <p:pic>
        <p:nvPicPr>
          <p:cNvPr id="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793" y="3344327"/>
            <a:ext cx="3376613" cy="2057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250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65251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350202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IPv4 ADDRESSES</a:t>
            </a:r>
          </a:p>
        </p:txBody>
      </p:sp>
      <p:sp>
        <p:nvSpPr>
          <p:cNvPr id="17412" name="Text Box 4"/>
          <p:cNvSpPr txBox="1">
            <a:spLocks noChangeArrowheads="1"/>
          </p:cNvSpPr>
          <p:nvPr/>
        </p:nvSpPr>
        <p:spPr bwMode="auto">
          <a:xfrm>
            <a:off x="8229600" y="6400800"/>
            <a:ext cx="18415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endParaRPr lang="en-US" altLang="en-US" sz="1800" baseline="0">
              <a:latin typeface="Times New Roman" panose="02020603050405020304" pitchFamily="18" charset="0"/>
            </a:endParaRPr>
          </a:p>
        </p:txBody>
      </p:sp>
      <p:sp>
        <p:nvSpPr>
          <p:cNvPr id="17413" name="Rectangle 5"/>
          <p:cNvSpPr>
            <a:spLocks noChangeArrowheads="1"/>
          </p:cNvSpPr>
          <p:nvPr/>
        </p:nvSpPr>
        <p:spPr bwMode="auto">
          <a:xfrm>
            <a:off x="304800" y="1066800"/>
            <a:ext cx="8229600" cy="2062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i="1" baseline="0">
                <a:latin typeface="Times New Roman" panose="02020603050405020304" pitchFamily="18" charset="0"/>
              </a:rPr>
              <a:t>An </a:t>
            </a:r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IPv4 address</a:t>
            </a:r>
            <a:r>
              <a:rPr lang="en-US" altLang="en-US" i="1" baseline="0">
                <a:latin typeface="Times New Roman" panose="02020603050405020304" pitchFamily="18" charset="0"/>
              </a:rPr>
              <a:t> is a </a:t>
            </a:r>
            <a:r>
              <a:rPr lang="en-US" altLang="en-US" i="1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32-bit</a:t>
            </a:r>
            <a:r>
              <a:rPr lang="en-US" altLang="en-US" i="1" baseline="0">
                <a:latin typeface="Times New Roman" panose="02020603050405020304" pitchFamily="18" charset="0"/>
              </a:rPr>
              <a:t> address that uniquely and universally defines the connection of a device (for example, a computer or a router) to the Internet.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495300" y="3416300"/>
            <a:ext cx="8077200" cy="283210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An IPv4 address is 32 bits long</a:t>
            </a:r>
          </a:p>
          <a:p>
            <a:pPr algn="ctr"/>
            <a:endParaRPr lang="en-US" altLang="en-US" sz="25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The IPv4 addresses are unique and universal</a:t>
            </a:r>
          </a:p>
          <a:p>
            <a:pPr algn="ctr"/>
            <a:endParaRPr lang="en-US" altLang="en-US" sz="25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 space of IPv4 is 2</a:t>
            </a:r>
            <a:r>
              <a:rPr lang="en-US" altLang="en-US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r>
              <a:rPr lang="en-US" altLang="en-US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 or 4,294,967,296 (4 billion+)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52784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IPv4 ADDRESS NOTATION</a:t>
            </a:r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152400" y="914400"/>
            <a:ext cx="86106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i="1" u="sng" baseline="0">
                <a:latin typeface="Times New Roman" panose="02020603050405020304" pitchFamily="18" charset="0"/>
              </a:rPr>
              <a:t>Binary Notation </a:t>
            </a:r>
            <a:r>
              <a:rPr lang="en-US" altLang="en-US" i="1" baseline="0">
                <a:latin typeface="Times New Roman" panose="02020603050405020304" pitchFamily="18" charset="0"/>
              </a:rPr>
              <a:t>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Address is displayed as 32 bits.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Referred to as 32-bit address or 4-byte address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01110101 10010101 00011101 00000010</a:t>
            </a:r>
            <a:endParaRPr lang="en-US" altLang="en-US" sz="2800" b="0" i="1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/>
            <a:endParaRPr lang="en-US" altLang="en-US" sz="2000" i="1" baseline="0">
              <a:latin typeface="Times New Roman" panose="02020603050405020304" pitchFamily="18" charset="0"/>
            </a:endParaRPr>
          </a:p>
          <a:p>
            <a:pPr algn="just" eaLnBrk="1" hangingPunct="1"/>
            <a:r>
              <a:rPr lang="en-US" altLang="en-US" i="1" u="sng" baseline="0">
                <a:latin typeface="Times New Roman" panose="02020603050405020304" pitchFamily="18" charset="0"/>
              </a:rPr>
              <a:t>Dotted Decimal Notation </a:t>
            </a:r>
            <a:r>
              <a:rPr lang="en-US" altLang="en-US" i="1" baseline="0">
                <a:latin typeface="Times New Roman" panose="02020603050405020304" pitchFamily="18" charset="0"/>
              </a:rPr>
              <a:t>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More compact and easier to read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117.149.29.2</a:t>
            </a:r>
          </a:p>
        </p:txBody>
      </p:sp>
      <p:pic>
        <p:nvPicPr>
          <p:cNvPr id="9" name="Picture 8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4800600"/>
            <a:ext cx="7650163" cy="179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5278438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IPv4 ADDRESS NOTATION</a:t>
            </a:r>
          </a:p>
        </p:txBody>
      </p:sp>
      <p:sp>
        <p:nvSpPr>
          <p:cNvPr id="19460" name="Rectangle 5"/>
          <p:cNvSpPr>
            <a:spLocks noChangeArrowheads="1"/>
          </p:cNvSpPr>
          <p:nvPr/>
        </p:nvSpPr>
        <p:spPr bwMode="auto">
          <a:xfrm>
            <a:off x="152400" y="915650"/>
            <a:ext cx="8610600" cy="144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/>
            <a:r>
              <a:rPr lang="en-US" altLang="en-US" i="1" u="sng" baseline="0" dirty="0">
                <a:latin typeface="Times New Roman" panose="02020603050405020304" pitchFamily="18" charset="0"/>
              </a:rPr>
              <a:t>Hexadecimal Notation </a:t>
            </a:r>
            <a:r>
              <a:rPr lang="en-US" altLang="en-US" i="1" baseline="0" dirty="0">
                <a:latin typeface="Times New Roman" panose="02020603050405020304" pitchFamily="18" charset="0"/>
              </a:rPr>
              <a:t>: 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 hexadecimal digits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80 0B 03 1F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743200"/>
            <a:ext cx="6858000" cy="3781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6106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3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4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5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6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7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8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0489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Change the following IPv4 addresses from binary notation to dotted-decimal notation.</a:t>
            </a:r>
          </a:p>
        </p:txBody>
      </p:sp>
      <p:sp>
        <p:nvSpPr>
          <p:cNvPr id="20490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97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1</a:t>
            </a:r>
          </a:p>
        </p:txBody>
      </p:sp>
      <p:pic>
        <p:nvPicPr>
          <p:cNvPr id="20491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" y="2362200"/>
            <a:ext cx="771525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53" name="Rectangle 13"/>
          <p:cNvSpPr>
            <a:spLocks noChangeArrowheads="1"/>
          </p:cNvSpPr>
          <p:nvPr/>
        </p:nvSpPr>
        <p:spPr bwMode="auto">
          <a:xfrm>
            <a:off x="228600" y="3581400"/>
            <a:ext cx="8686800" cy="1384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We replace each group of 8 bits with its equivalent decimal number and add dots for separation.</a:t>
            </a:r>
          </a:p>
        </p:txBody>
      </p:sp>
      <p:pic>
        <p:nvPicPr>
          <p:cNvPr id="10254" name="Picture 1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5257800"/>
            <a:ext cx="3071813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0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2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3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4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5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6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2537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94615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Change the following IPv4 addresses from dotted-decimal notation to binary notation.</a:t>
            </a:r>
          </a:p>
        </p:txBody>
      </p:sp>
      <p:sp>
        <p:nvSpPr>
          <p:cNvPr id="22538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97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2</a:t>
            </a:r>
          </a:p>
        </p:txBody>
      </p:sp>
      <p:pic>
        <p:nvPicPr>
          <p:cNvPr id="22539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2209800"/>
            <a:ext cx="2870200" cy="876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77" name="Rectangle 12"/>
          <p:cNvSpPr>
            <a:spLocks noChangeArrowheads="1"/>
          </p:cNvSpPr>
          <p:nvPr/>
        </p:nvSpPr>
        <p:spPr bwMode="auto">
          <a:xfrm>
            <a:off x="228600" y="32766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sz="2800" i="1" baseline="0" dirty="0">
                <a:latin typeface="Times New Roman" panose="02020603050405020304" pitchFamily="18" charset="0"/>
              </a:rPr>
              <a:t>We replace each decimal number with its binary equivalent</a:t>
            </a:r>
          </a:p>
        </p:txBody>
      </p:sp>
      <p:pic>
        <p:nvPicPr>
          <p:cNvPr id="11278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" y="4821238"/>
            <a:ext cx="7277100" cy="1046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2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77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79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1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3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4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24585" name="Rectangle 9"/>
          <p:cNvSpPr>
            <a:spLocks noChangeArrowheads="1"/>
          </p:cNvSpPr>
          <p:nvPr/>
        </p:nvSpPr>
        <p:spPr bwMode="auto">
          <a:xfrm>
            <a:off x="228600" y="990600"/>
            <a:ext cx="8686800" cy="51911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Find the error, if any, in the following IPv4 addresses.</a:t>
            </a: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97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3</a:t>
            </a:r>
          </a:p>
        </p:txBody>
      </p:sp>
      <p:pic>
        <p:nvPicPr>
          <p:cNvPr id="24587" name="Picture 11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163" y="1447800"/>
            <a:ext cx="3602037" cy="207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301" name="Rectangle 12"/>
          <p:cNvSpPr>
            <a:spLocks noChangeArrowheads="1"/>
          </p:cNvSpPr>
          <p:nvPr/>
        </p:nvSpPr>
        <p:spPr bwMode="auto">
          <a:xfrm>
            <a:off x="304800" y="3657600"/>
            <a:ext cx="8686800" cy="2654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There must be no leading zero (045).</a:t>
            </a:r>
          </a:p>
          <a:p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There can be no more than four numbers.</a:t>
            </a:r>
          </a:p>
          <a:p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Each number needs to be less than or equal to 255.</a:t>
            </a:r>
          </a:p>
          <a:p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d.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A mixture of binary notation and dotted-decimal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notation is not allowed.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3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30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30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30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605544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HIERARCHY IN ADDRESSING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9027" y="1600200"/>
            <a:ext cx="7390573" cy="4309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89986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600075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lang="en-US" baseline="0" dirty="0">
                <a:effectLst>
                  <a:outerShdw blurRad="38100" dist="38100" dir="2700000" algn="tl">
                    <a:srgbClr val="C0C0C0"/>
                  </a:outerShdw>
                </a:effectLst>
                <a:latin typeface="Times" pitchFamily="18" charset="0"/>
              </a:rPr>
              <a:t>IPv4 CLASSFUL ADDRESSING</a:t>
            </a:r>
          </a:p>
        </p:txBody>
      </p:sp>
      <p:sp>
        <p:nvSpPr>
          <p:cNvPr id="8" name="Rectangle 5"/>
          <p:cNvSpPr>
            <a:spLocks noChangeArrowheads="1"/>
          </p:cNvSpPr>
          <p:nvPr/>
        </p:nvSpPr>
        <p:spPr bwMode="auto">
          <a:xfrm>
            <a:off x="381000" y="1096963"/>
            <a:ext cx="8382000" cy="4032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In classful addressing, the address space is divided into five classes: A, B, C, D, and E.</a:t>
            </a:r>
          </a:p>
          <a:p>
            <a:endParaRPr lang="en-US" altLang="en-US" b="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Each IP address consists of 4 bytes, defining three fields :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en-US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Class Type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en-US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NetID (network identifier) </a:t>
            </a:r>
          </a:p>
          <a:p>
            <a:pPr lvl="3">
              <a:buFont typeface="Wingdings" panose="05000000000000000000" pitchFamily="2" charset="2"/>
              <a:buChar char="ü"/>
            </a:pPr>
            <a:r>
              <a:rPr lang="en-US" altLang="en-US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HostID (host identifier) </a:t>
            </a:r>
          </a:p>
        </p:txBody>
      </p:sp>
      <p:pic>
        <p:nvPicPr>
          <p:cNvPr id="1536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5257800"/>
            <a:ext cx="7532688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53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52400"/>
            <a:ext cx="7924800" cy="467614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0" y="4630926"/>
            <a:ext cx="3309938" cy="21318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35730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51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27652" name="Text Box 4"/>
          <p:cNvSpPr txBox="1">
            <a:spLocks noChangeArrowheads="1"/>
          </p:cNvSpPr>
          <p:nvPr/>
        </p:nvSpPr>
        <p:spPr bwMode="auto">
          <a:xfrm>
            <a:off x="228600" y="381000"/>
            <a:ext cx="87074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i="1" baseline="0">
                <a:latin typeface="Times New Roman" panose="02020603050405020304" pitchFamily="18" charset="0"/>
              </a:rPr>
              <a:t>Finding the classes in binary and dotted-decimal notation</a:t>
            </a:r>
          </a:p>
        </p:txBody>
      </p:sp>
      <p:sp>
        <p:nvSpPr>
          <p:cNvPr id="27653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765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0" y="1447800"/>
            <a:ext cx="8458200" cy="434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1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3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5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6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32777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2227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Find the class of each address.</a:t>
            </a: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  </a:t>
            </a:r>
            <a:r>
              <a:rPr lang="en-US" altLang="en-US" sz="2800" b="0" baseline="0">
                <a:latin typeface="Times New Roman" panose="02020603050405020304" pitchFamily="18" charset="0"/>
              </a:rPr>
              <a:t>00000001 00001011 00001011 11101111</a:t>
            </a: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  </a:t>
            </a:r>
            <a:r>
              <a:rPr lang="en-US" altLang="en-US" sz="2800" b="0" baseline="0">
                <a:latin typeface="Times New Roman" panose="02020603050405020304" pitchFamily="18" charset="0"/>
              </a:rPr>
              <a:t>11000001 10000011 00011011 11111111</a:t>
            </a: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  </a:t>
            </a:r>
            <a:r>
              <a:rPr lang="en-US" altLang="en-US" sz="2800" b="0" baseline="0">
                <a:latin typeface="Times New Roman" panose="02020603050405020304" pitchFamily="18" charset="0"/>
              </a:rPr>
              <a:t>14.23.120.8</a:t>
            </a: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d.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  </a:t>
            </a:r>
            <a:r>
              <a:rPr lang="en-US" altLang="en-US" sz="2800" b="0" baseline="0">
                <a:latin typeface="Times New Roman" panose="02020603050405020304" pitchFamily="18" charset="0"/>
              </a:rPr>
              <a:t>252.5.15.111</a:t>
            </a:r>
          </a:p>
        </p:txBody>
      </p:sp>
      <p:sp>
        <p:nvSpPr>
          <p:cNvPr id="30730" name="Rectangle 11"/>
          <p:cNvSpPr>
            <a:spLocks noChangeArrowheads="1"/>
          </p:cNvSpPr>
          <p:nvPr/>
        </p:nvSpPr>
        <p:spPr bwMode="auto">
          <a:xfrm>
            <a:off x="228600" y="3657600"/>
            <a:ext cx="8686800" cy="2654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i="1" baseline="0">
                <a:latin typeface="Times New Roman" panose="02020603050405020304" pitchFamily="18" charset="0"/>
              </a:rPr>
              <a:t>Solution</a:t>
            </a:r>
          </a:p>
          <a:p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first bit is 0. This is a class A address.</a:t>
            </a:r>
          </a:p>
          <a:p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first 2 bits are 1; the third bit is 0. This is a class C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address.</a:t>
            </a:r>
          </a:p>
          <a:p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first byte is 14; the class is A.</a:t>
            </a:r>
          </a:p>
          <a:p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d.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first byte is 252; the class is E.</a:t>
            </a:r>
          </a:p>
        </p:txBody>
      </p:sp>
      <p:sp>
        <p:nvSpPr>
          <p:cNvPr id="32779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97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4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07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307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307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307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1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457200"/>
            <a:ext cx="8382000" cy="6019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Text Box 2"/>
          <p:cNvSpPr txBox="1">
            <a:spLocks noChangeArrowheads="1"/>
          </p:cNvSpPr>
          <p:nvPr/>
        </p:nvSpPr>
        <p:spPr bwMode="auto">
          <a:xfrm>
            <a:off x="533400" y="446088"/>
            <a:ext cx="8229600" cy="10779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latin typeface="Times New Roman" panose="02020603050405020304" pitchFamily="18" charset="0"/>
              </a:rPr>
              <a:t>Number of blocks and block size in classful IPv4 addressing</a:t>
            </a:r>
          </a:p>
        </p:txBody>
      </p:sp>
      <p:pic>
        <p:nvPicPr>
          <p:cNvPr id="3584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" y="1912938"/>
            <a:ext cx="8458200" cy="3649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5"/>
          <p:cNvSpPr>
            <a:spLocks noChangeArrowheads="1"/>
          </p:cNvSpPr>
          <p:nvPr/>
        </p:nvSpPr>
        <p:spPr bwMode="auto">
          <a:xfrm>
            <a:off x="228600" y="200025"/>
            <a:ext cx="8763000" cy="6124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600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A address: </a:t>
            </a:r>
            <a:r>
              <a:rPr lang="en-US" altLang="en-US" sz="26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large organizations with a large number of attached hosts or routers. (wasted &amp; not used)</a:t>
            </a:r>
          </a:p>
          <a:p>
            <a:endParaRPr lang="en-US" altLang="en-US" sz="20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600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B address: </a:t>
            </a:r>
            <a:r>
              <a:rPr lang="en-US" altLang="en-US" sz="26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midsize organizations with ten of thousands of attached hosts or routers( too large for many organizations)</a:t>
            </a:r>
          </a:p>
          <a:p>
            <a:endParaRPr lang="en-US" altLang="en-US" sz="20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600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C address: </a:t>
            </a:r>
            <a:r>
              <a:rPr lang="en-US" altLang="en-US" sz="26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small organizations with a small number of attached hosts or routers.(too small for many organizations)</a:t>
            </a:r>
          </a:p>
          <a:p>
            <a:endParaRPr lang="en-US" altLang="en-US" sz="20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600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D address: </a:t>
            </a:r>
            <a:r>
              <a:rPr lang="en-US" altLang="en-US" sz="26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multicasting (waste of addresses)</a:t>
            </a:r>
          </a:p>
          <a:p>
            <a:endParaRPr lang="en-US" altLang="en-US" sz="20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en-US" sz="2600" baseline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 E address: </a:t>
            </a:r>
            <a:r>
              <a:rPr lang="en-US" altLang="en-US" sz="26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reserved for future use (waste of addresses)</a:t>
            </a:r>
            <a:endParaRPr lang="en-US" altLang="en-US" sz="26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4035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4036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4037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4038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4039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4040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4041" name="Rectangle 11"/>
          <p:cNvSpPr>
            <a:spLocks noChangeArrowheads="1"/>
          </p:cNvSpPr>
          <p:nvPr/>
        </p:nvSpPr>
        <p:spPr bwMode="auto">
          <a:xfrm>
            <a:off x="533400" y="1327150"/>
            <a:ext cx="8077200" cy="4540250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endParaRPr lang="en-US" altLang="en-US" sz="25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4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Subnetting</a:t>
            </a:r>
          </a:p>
          <a:p>
            <a:pPr algn="ctr"/>
            <a:endParaRPr lang="en-US" altLang="en-US" sz="4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4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Address Depletion</a:t>
            </a:r>
          </a:p>
          <a:p>
            <a:pPr algn="ctr"/>
            <a:endParaRPr lang="en-US" altLang="en-US" sz="4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altLang="en-US" sz="44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Supernetting</a:t>
            </a:r>
          </a:p>
          <a:p>
            <a:pPr algn="ctr"/>
            <a:endParaRPr lang="en-US" altLang="en-US" sz="440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3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4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5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6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7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8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6089" name="Rectangle 11"/>
          <p:cNvSpPr>
            <a:spLocks noChangeArrowheads="1"/>
          </p:cNvSpPr>
          <p:nvPr/>
        </p:nvSpPr>
        <p:spPr bwMode="auto">
          <a:xfrm>
            <a:off x="533400" y="2895600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Classful addressing, which is almost obsolete, is replaced with classless addressing.</a:t>
            </a:r>
          </a:p>
        </p:txBody>
      </p:sp>
      <p:grpSp>
        <p:nvGrpSpPr>
          <p:cNvPr id="46090" name="Group 12"/>
          <p:cNvGrpSpPr>
            <a:grpSpLocks/>
          </p:cNvGrpSpPr>
          <p:nvPr/>
        </p:nvGrpSpPr>
        <p:grpSpPr bwMode="auto">
          <a:xfrm>
            <a:off x="914400" y="1752600"/>
            <a:ext cx="1143000" cy="566738"/>
            <a:chOff x="1200" y="1248"/>
            <a:chExt cx="720" cy="357"/>
          </a:xfrm>
        </p:grpSpPr>
        <p:pic>
          <p:nvPicPr>
            <p:cNvPr id="46091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6092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8131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6553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CLASSLESS ADDRESSING</a:t>
            </a:r>
          </a:p>
        </p:txBody>
      </p:sp>
      <p:sp>
        <p:nvSpPr>
          <p:cNvPr id="48132" name="Rectangle 5"/>
          <p:cNvSpPr>
            <a:spLocks noChangeArrowheads="1"/>
          </p:cNvSpPr>
          <p:nvPr/>
        </p:nvSpPr>
        <p:spPr bwMode="auto">
          <a:xfrm>
            <a:off x="304800" y="1066800"/>
            <a:ext cx="8610600" cy="39703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Serves as the solution for address depletion but does not remove it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classes but the address are still granted in blocks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size of the block( the number of addresses) varies based on the nature and size of the entity.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Household: 2 addresses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organization: thousands of addresses.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ISP: thousands or hundreds of thousands based on the number of customers it may serve.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9155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65532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CLASSLESS ADDRESSING</a:t>
            </a:r>
          </a:p>
        </p:txBody>
      </p:sp>
      <p:sp>
        <p:nvSpPr>
          <p:cNvPr id="38916" name="Rectangle 5"/>
          <p:cNvSpPr>
            <a:spLocks noChangeArrowheads="1"/>
          </p:cNvSpPr>
          <p:nvPr/>
        </p:nvSpPr>
        <p:spPr bwMode="auto">
          <a:xfrm>
            <a:off x="304800" y="1066800"/>
            <a:ext cx="8610600" cy="5124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u="sng" baseline="0" dirty="0">
                <a:latin typeface="Times New Roman" pitchFamily="18" charset="0"/>
                <a:cs typeface="Times New Roman" pitchFamily="18" charset="0"/>
              </a:rPr>
              <a:t>Restriction</a:t>
            </a:r>
            <a:endParaRPr lang="en-US" sz="2800" b="0" u="sng" baseline="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1500" b="0" baseline="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Internet authorities impose three restrictions on classless address blocks: </a:t>
            </a:r>
          </a:p>
          <a:p>
            <a:pPr>
              <a:defRPr/>
            </a:pPr>
            <a:endParaRPr lang="en-US" sz="2000" b="0" baseline="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Tx/>
              <a:buAutoNum type="arabicPeriod"/>
              <a:defRPr/>
            </a:pP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The addresses in a block must be contiguous, one after another. </a:t>
            </a:r>
          </a:p>
          <a:p>
            <a:pPr marL="514350" indent="-514350">
              <a:defRPr/>
            </a:pPr>
            <a:endParaRPr lang="en-US" sz="2000" b="0" baseline="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defRPr/>
            </a:pP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2. The number of addresses in a block must be a power of 2 (1, 2, 4, 8, ... ). </a:t>
            </a:r>
          </a:p>
          <a:p>
            <a:pPr marL="514350" indent="-514350">
              <a:defRPr/>
            </a:pPr>
            <a:endParaRPr lang="en-US" sz="2000" b="0" baseline="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defRPr/>
            </a:pP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3. The first address must be evenly divisible by the number of addresses. 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0179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0180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0181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0182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0183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0184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0185" name="Text Box 10"/>
          <p:cNvSpPr txBox="1">
            <a:spLocks noChangeArrowheads="1"/>
          </p:cNvSpPr>
          <p:nvPr/>
        </p:nvSpPr>
        <p:spPr bwMode="auto">
          <a:xfrm>
            <a:off x="1143000" y="0"/>
            <a:ext cx="615021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Classless Address Block – </a:t>
            </a:r>
            <a:r>
              <a:rPr lang="en-US" altLang="en-US" i="1" baseline="0" dirty="0" smtClean="0">
                <a:solidFill>
                  <a:schemeClr val="hlink"/>
                </a:solidFill>
                <a:latin typeface="Times New Roman" panose="02020603050405020304" pitchFamily="18" charset="0"/>
              </a:rPr>
              <a:t>Example</a:t>
            </a:r>
            <a:endParaRPr lang="en-US" altLang="en-US" i="1" baseline="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5018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0850" y="706438"/>
            <a:ext cx="8235950" cy="2341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457200" y="3300413"/>
            <a:ext cx="8305800" cy="314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The restrictions are applied to this block: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The addresses are contiguous.</a:t>
            </a:r>
          </a:p>
          <a:p>
            <a:endParaRPr lang="en-US" altLang="en-US" sz="1500" b="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 of addresses is a power of 2 (2</a:t>
            </a:r>
            <a:r>
              <a:rPr lang="en-US" altLang="en-US" sz="2800" b="0" baseline="3000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=16)</a:t>
            </a:r>
          </a:p>
          <a:p>
            <a:endParaRPr lang="en-US" altLang="en-US" sz="1500" b="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address is divisible by 16. The first address, when converted to a decimal number is 3,440,387,360 which when divided by 16 results in 215,024,210.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52227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8520113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MASK - CLASSLESS ADDRESSING</a:t>
            </a:r>
          </a:p>
        </p:txBody>
      </p:sp>
      <p:sp>
        <p:nvSpPr>
          <p:cNvPr id="52228" name="Rectangle 5"/>
          <p:cNvSpPr>
            <a:spLocks noChangeArrowheads="1"/>
          </p:cNvSpPr>
          <p:nvPr/>
        </p:nvSpPr>
        <p:spPr bwMode="auto">
          <a:xfrm>
            <a:off x="304800" y="1263908"/>
            <a:ext cx="8610600" cy="483209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Mask: 32- bit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 leftmost bits are 1s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32-n rightmost bits are 0s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Prefix length – slash notation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CIDR, n has a value from 0 to 32 and used to show the mask in the form /n.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address and the /n notation define the whole address block: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address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Last address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en-US" altLang="en-US" sz="2800" b="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 of address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3253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3254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3255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3256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3257" name="Line 9"/>
          <p:cNvSpPr>
            <a:spLocks noChangeShapeType="1"/>
          </p:cNvSpPr>
          <p:nvPr/>
        </p:nvSpPr>
        <p:spPr bwMode="auto">
          <a:xfrm>
            <a:off x="457200" y="1905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58" name="Line 10"/>
          <p:cNvSpPr>
            <a:spLocks noChangeShapeType="1"/>
          </p:cNvSpPr>
          <p:nvPr/>
        </p:nvSpPr>
        <p:spPr bwMode="auto">
          <a:xfrm>
            <a:off x="458788" y="57912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3259" name="Rectangle 11"/>
          <p:cNvSpPr>
            <a:spLocks noChangeArrowheads="1"/>
          </p:cNvSpPr>
          <p:nvPr/>
        </p:nvSpPr>
        <p:spPr bwMode="auto">
          <a:xfrm>
            <a:off x="495300" y="1997075"/>
            <a:ext cx="8077200" cy="36623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In IPv4 classless addressing, a block of </a:t>
            </a:r>
            <a:br>
              <a:rPr lang="en-US" altLang="en-US" baseline="0"/>
            </a:br>
            <a:r>
              <a:rPr lang="en-US" altLang="en-US" baseline="0"/>
              <a:t>addresses can be defined as</a:t>
            </a:r>
          </a:p>
          <a:p>
            <a:pPr algn="ctr"/>
            <a:r>
              <a:rPr lang="en-US" altLang="en-US" baseline="0"/>
              <a:t>x.y.z.t /</a:t>
            </a:r>
            <a:r>
              <a:rPr lang="en-US" altLang="en-US" i="1" baseline="0"/>
              <a:t>n</a:t>
            </a:r>
          </a:p>
          <a:p>
            <a:pPr algn="ctr"/>
            <a:r>
              <a:rPr lang="en-US" altLang="en-US" baseline="0"/>
              <a:t>in which x.y.z.t defines one of the addresses and the /</a:t>
            </a:r>
            <a:r>
              <a:rPr lang="en-US" altLang="en-US" i="1" baseline="0"/>
              <a:t>n</a:t>
            </a:r>
            <a:r>
              <a:rPr lang="en-US" altLang="en-US" baseline="0"/>
              <a:t> defines the mask.</a:t>
            </a:r>
          </a:p>
          <a:p>
            <a:pPr algn="ctr"/>
            <a:endParaRPr lang="en-US" altLang="en-US" baseline="0"/>
          </a:p>
          <a:p>
            <a:pPr algn="ctr"/>
            <a:r>
              <a:rPr lang="en-US" altLang="en-US" baseline="0">
                <a:solidFill>
                  <a:srgbClr val="FF0000"/>
                </a:solidFill>
              </a:rPr>
              <a:t>Example: 172.31.1.2 </a:t>
            </a:r>
            <a:r>
              <a:rPr lang="en-US" altLang="en-US" sz="4000" baseline="0">
                <a:solidFill>
                  <a:srgbClr val="FF0000"/>
                </a:solidFill>
              </a:rPr>
              <a:t>/</a:t>
            </a:r>
            <a:r>
              <a:rPr lang="en-US" altLang="en-US" baseline="0">
                <a:solidFill>
                  <a:srgbClr val="FF0000"/>
                </a:solidFill>
              </a:rPr>
              <a:t> 25</a:t>
            </a:r>
          </a:p>
        </p:txBody>
      </p:sp>
      <p:grpSp>
        <p:nvGrpSpPr>
          <p:cNvPr id="53260" name="Group 12"/>
          <p:cNvGrpSpPr>
            <a:grpSpLocks/>
          </p:cNvGrpSpPr>
          <p:nvPr/>
        </p:nvGrpSpPr>
        <p:grpSpPr bwMode="auto">
          <a:xfrm>
            <a:off x="457200" y="1219200"/>
            <a:ext cx="1143000" cy="566738"/>
            <a:chOff x="1200" y="1248"/>
            <a:chExt cx="720" cy="357"/>
          </a:xfrm>
        </p:grpSpPr>
        <p:pic>
          <p:nvPicPr>
            <p:cNvPr id="53261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3262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299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0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1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2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3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4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5305" name="Rectangle 11"/>
          <p:cNvSpPr>
            <a:spLocks noChangeArrowheads="1"/>
          </p:cNvSpPr>
          <p:nvPr/>
        </p:nvSpPr>
        <p:spPr bwMode="auto">
          <a:xfrm>
            <a:off x="495300" y="960438"/>
            <a:ext cx="8077200" cy="1554162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The first address in the block can be found by setting the rightmost </a:t>
            </a:r>
            <a:br>
              <a:rPr lang="en-US" altLang="en-US" baseline="0"/>
            </a:br>
            <a:r>
              <a:rPr lang="en-US" altLang="en-US" baseline="0"/>
              <a:t>32 − </a:t>
            </a:r>
            <a:r>
              <a:rPr lang="en-US" altLang="en-US" i="1" baseline="0"/>
              <a:t>n</a:t>
            </a:r>
            <a:r>
              <a:rPr lang="en-US" altLang="en-US" baseline="0"/>
              <a:t> bits to 0s.</a:t>
            </a:r>
          </a:p>
        </p:txBody>
      </p:sp>
      <p:grpSp>
        <p:nvGrpSpPr>
          <p:cNvPr id="55306" name="Group 12"/>
          <p:cNvGrpSpPr>
            <a:grpSpLocks/>
          </p:cNvGrpSpPr>
          <p:nvPr/>
        </p:nvGrpSpPr>
        <p:grpSpPr bwMode="auto">
          <a:xfrm>
            <a:off x="1066800" y="304800"/>
            <a:ext cx="1143000" cy="566738"/>
            <a:chOff x="1200" y="1248"/>
            <a:chExt cx="720" cy="357"/>
          </a:xfrm>
        </p:grpSpPr>
        <p:pic>
          <p:nvPicPr>
            <p:cNvPr id="55309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5310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  <p:pic>
        <p:nvPicPr>
          <p:cNvPr id="43022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2667000"/>
            <a:ext cx="7011988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11"/>
          <p:cNvSpPr>
            <a:spLocks noChangeArrowheads="1"/>
          </p:cNvSpPr>
          <p:nvPr/>
        </p:nvSpPr>
        <p:spPr bwMode="auto">
          <a:xfrm>
            <a:off x="533400" y="5029200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The first address in the block can be found by AND - ing the given address with the mask.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3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7347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7348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7349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7350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7351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7352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7353" name="Rectangle 9"/>
          <p:cNvSpPr>
            <a:spLocks noChangeArrowheads="1"/>
          </p:cNvSpPr>
          <p:nvPr/>
        </p:nvSpPr>
        <p:spPr bwMode="auto">
          <a:xfrm>
            <a:off x="228600" y="838200"/>
            <a:ext cx="8686800" cy="5694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A block of addresses is granted to a small organization. We know that one of the addresses is 205.16.37.39/28. What is the first address in the block?</a:t>
            </a:r>
          </a:p>
          <a:p>
            <a:pPr algn="just"/>
            <a:endParaRPr lang="en-US" altLang="en-US" sz="2800" i="1" baseline="0">
              <a:latin typeface="Times New Roman" panose="02020603050405020304" pitchFamily="18" charset="0"/>
            </a:endParaRP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The binary representation of the given address is</a:t>
            </a:r>
          </a:p>
          <a:p>
            <a:pPr algn="ctr"/>
            <a:r>
              <a:rPr lang="en-US" altLang="en-US" sz="2800" i="1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11001101   00010000   00100101   00100111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If we set 32−28 rightmost bits to 0, we get </a:t>
            </a:r>
          </a:p>
          <a:p>
            <a:pPr algn="ctr"/>
            <a:r>
              <a:rPr lang="en-US" altLang="en-US" sz="2800" i="1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11001101    00010000    00100101   0010000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en-US" sz="2800" i="1" baseline="0">
                <a:latin typeface="Times New Roman" panose="02020603050405020304" pitchFamily="18" charset="0"/>
              </a:rPr>
              <a:t>or 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205.16.37.32/28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This is the one shown in the classless address block example.</a:t>
            </a:r>
          </a:p>
        </p:txBody>
      </p:sp>
      <p:sp>
        <p:nvSpPr>
          <p:cNvPr id="57354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97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9395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9396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9397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9398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9399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9400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59401" name="Line 9"/>
          <p:cNvSpPr>
            <a:spLocks noChangeShapeType="1"/>
          </p:cNvSpPr>
          <p:nvPr/>
        </p:nvSpPr>
        <p:spPr bwMode="auto">
          <a:xfrm>
            <a:off x="457200" y="1752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02" name="Line 10"/>
          <p:cNvSpPr>
            <a:spLocks noChangeShapeType="1"/>
          </p:cNvSpPr>
          <p:nvPr/>
        </p:nvSpPr>
        <p:spPr bwMode="auto">
          <a:xfrm>
            <a:off x="458788" y="5943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59403" name="Rectangle 11"/>
          <p:cNvSpPr>
            <a:spLocks noChangeArrowheads="1"/>
          </p:cNvSpPr>
          <p:nvPr/>
        </p:nvSpPr>
        <p:spPr bwMode="auto">
          <a:xfrm>
            <a:off x="495300" y="1844675"/>
            <a:ext cx="8077200" cy="1570038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The last address in the block can be found by setting the rightmost </a:t>
            </a:r>
            <a:br>
              <a:rPr lang="en-US" altLang="en-US" baseline="0"/>
            </a:br>
            <a:r>
              <a:rPr lang="en-US" altLang="en-US" baseline="0"/>
              <a:t>32 − n bits to 1s.</a:t>
            </a:r>
          </a:p>
        </p:txBody>
      </p:sp>
      <p:grpSp>
        <p:nvGrpSpPr>
          <p:cNvPr id="59404" name="Group 12"/>
          <p:cNvGrpSpPr>
            <a:grpSpLocks/>
          </p:cNvGrpSpPr>
          <p:nvPr/>
        </p:nvGrpSpPr>
        <p:grpSpPr bwMode="auto">
          <a:xfrm>
            <a:off x="457200" y="1066800"/>
            <a:ext cx="1143000" cy="566738"/>
            <a:chOff x="1200" y="1248"/>
            <a:chExt cx="720" cy="357"/>
          </a:xfrm>
        </p:grpSpPr>
        <p:pic>
          <p:nvPicPr>
            <p:cNvPr id="59406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9407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  <p:sp>
        <p:nvSpPr>
          <p:cNvPr id="59405" name="Rectangle 11"/>
          <p:cNvSpPr>
            <a:spLocks noChangeArrowheads="1"/>
          </p:cNvSpPr>
          <p:nvPr/>
        </p:nvSpPr>
        <p:spPr bwMode="auto">
          <a:xfrm>
            <a:off x="457200" y="4221163"/>
            <a:ext cx="8077200" cy="1570037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The last address in the block can be found by OR - ing the given address with the complement of the mask.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1443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1444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1445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1446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1447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1448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1449" name="Rectangle 9"/>
          <p:cNvSpPr>
            <a:spLocks noChangeArrowheads="1"/>
          </p:cNvSpPr>
          <p:nvPr/>
        </p:nvSpPr>
        <p:spPr bwMode="auto">
          <a:xfrm>
            <a:off x="228600" y="533400"/>
            <a:ext cx="8686800" cy="612457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A block of addresses is granted to a small organization. We know that one of the addresses is 205.16.37.39/28. What is the last address in the block?</a:t>
            </a:r>
          </a:p>
          <a:p>
            <a:pPr algn="just"/>
            <a:endParaRPr lang="en-US" altLang="en-US" sz="2800" i="1" baseline="0">
              <a:latin typeface="Times New Roman" panose="02020603050405020304" pitchFamily="18" charset="0"/>
            </a:endParaRPr>
          </a:p>
          <a:p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The binary representation of the given address is</a:t>
            </a:r>
          </a:p>
          <a:p>
            <a:pPr algn="ctr"/>
            <a:r>
              <a:rPr lang="en-US" altLang="en-US" sz="2800" i="1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11001101    00010000    00100101    00100111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If we set 32 − 28 rightmost bits to 1, we get </a:t>
            </a:r>
          </a:p>
          <a:p>
            <a:pPr algn="ctr"/>
            <a:r>
              <a:rPr lang="en-US" altLang="en-US" sz="2800" i="1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11001101 00010000 00100101 00101111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</a:t>
            </a:r>
          </a:p>
          <a:p>
            <a:pPr algn="ctr"/>
            <a:r>
              <a:rPr lang="en-US" altLang="en-US" sz="2800" i="1" baseline="0">
                <a:latin typeface="Times New Roman" panose="02020603050405020304" pitchFamily="18" charset="0"/>
              </a:rPr>
              <a:t>or </a:t>
            </a:r>
          </a:p>
          <a:p>
            <a:pPr algn="ctr"/>
            <a:r>
              <a:rPr lang="en-US" altLang="en-US" sz="2800" i="1" baseline="0">
                <a:solidFill>
                  <a:schemeClr val="folHlink"/>
                </a:solidFill>
                <a:latin typeface="Times New Roman" panose="02020603050405020304" pitchFamily="18" charset="0"/>
              </a:rPr>
              <a:t>205.16.37.47/28</a:t>
            </a:r>
          </a:p>
          <a:p>
            <a:pPr algn="ctr"/>
            <a:endParaRPr lang="en-US" altLang="en-US" sz="2800" i="1" baseline="0">
              <a:solidFill>
                <a:schemeClr val="folHlink"/>
              </a:solidFill>
              <a:latin typeface="Times New Roman" panose="02020603050405020304" pitchFamily="18" charset="0"/>
            </a:endParaRP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This is the one shown in the classless address block example.</a:t>
            </a:r>
            <a:endParaRPr lang="en-US" altLang="en-US" sz="2800" i="1" baseline="0">
              <a:solidFill>
                <a:schemeClr val="fol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61450" name="Text Box 10"/>
          <p:cNvSpPr txBox="1">
            <a:spLocks noChangeArrowheads="1"/>
          </p:cNvSpPr>
          <p:nvPr/>
        </p:nvSpPr>
        <p:spPr bwMode="auto">
          <a:xfrm>
            <a:off x="1143000" y="0"/>
            <a:ext cx="19970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7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3491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3492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3493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3494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3495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3496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3497" name="Line 9"/>
          <p:cNvSpPr>
            <a:spLocks noChangeShapeType="1"/>
          </p:cNvSpPr>
          <p:nvPr/>
        </p:nvSpPr>
        <p:spPr bwMode="auto">
          <a:xfrm>
            <a:off x="457200" y="26670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3498" name="Line 10"/>
          <p:cNvSpPr>
            <a:spLocks noChangeShapeType="1"/>
          </p:cNvSpPr>
          <p:nvPr/>
        </p:nvSpPr>
        <p:spPr bwMode="auto">
          <a:xfrm>
            <a:off x="458788" y="4419600"/>
            <a:ext cx="8153400" cy="0"/>
          </a:xfrm>
          <a:prstGeom prst="line">
            <a:avLst/>
          </a:prstGeom>
          <a:noFill/>
          <a:ln w="76200">
            <a:solidFill>
              <a:srgbClr val="00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63499" name="Rectangle 11"/>
          <p:cNvSpPr>
            <a:spLocks noChangeArrowheads="1"/>
          </p:cNvSpPr>
          <p:nvPr/>
        </p:nvSpPr>
        <p:spPr bwMode="auto">
          <a:xfrm>
            <a:off x="495300" y="2759075"/>
            <a:ext cx="8077200" cy="1554163"/>
          </a:xfrm>
          <a:prstGeom prst="rect">
            <a:avLst/>
          </a:prstGeom>
          <a:solidFill>
            <a:srgbClr val="99FF33"/>
          </a:solidFill>
          <a:ln>
            <a:noFill/>
          </a:ln>
          <a:extLst>
            <a:ext uri="{91240B29-F687-4F45-9708-019B960494DF}">
              <a14:hiddenLine xmlns:a14="http://schemas.microsoft.com/office/drawing/2010/main" w="762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baseline="0"/>
              <a:t>The number of addresses in the block can be found by using the formula </a:t>
            </a:r>
            <a:br>
              <a:rPr lang="en-US" altLang="en-US" baseline="0"/>
            </a:br>
            <a:r>
              <a:rPr lang="en-US" altLang="en-US" baseline="0"/>
              <a:t>2</a:t>
            </a:r>
            <a:r>
              <a:rPr lang="en-US" altLang="en-US" baseline="30000"/>
              <a:t>32−n</a:t>
            </a:r>
            <a:r>
              <a:rPr lang="en-US" altLang="en-US" baseline="0"/>
              <a:t>.</a:t>
            </a:r>
          </a:p>
        </p:txBody>
      </p:sp>
      <p:grpSp>
        <p:nvGrpSpPr>
          <p:cNvPr id="63500" name="Group 12"/>
          <p:cNvGrpSpPr>
            <a:grpSpLocks/>
          </p:cNvGrpSpPr>
          <p:nvPr/>
        </p:nvGrpSpPr>
        <p:grpSpPr bwMode="auto">
          <a:xfrm>
            <a:off x="457200" y="1981200"/>
            <a:ext cx="1143000" cy="566738"/>
            <a:chOff x="1200" y="1248"/>
            <a:chExt cx="720" cy="357"/>
          </a:xfrm>
        </p:grpSpPr>
        <p:pic>
          <p:nvPicPr>
            <p:cNvPr id="63501" name="Picture 1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00" y="1248"/>
              <a:ext cx="720" cy="3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3502" name="Text Box 14"/>
            <p:cNvSpPr txBox="1">
              <a:spLocks noChangeArrowheads="1"/>
            </p:cNvSpPr>
            <p:nvPr/>
          </p:nvSpPr>
          <p:spPr bwMode="auto">
            <a:xfrm>
              <a:off x="1284" y="1248"/>
              <a:ext cx="55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3200" b="1" baseline="-18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r>
                <a:rPr lang="en-US" altLang="en-US" sz="2800" i="1" baseline="0">
                  <a:solidFill>
                    <a:schemeClr val="hlink"/>
                  </a:solidFill>
                  <a:latin typeface="Times New Roman" panose="02020603050405020304" pitchFamily="18" charset="0"/>
                </a:rPr>
                <a:t>Note</a:t>
              </a: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5539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5540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5541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5542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5543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5544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5545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1384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A block of addresses is granted to a small organization. We know that one of the addresses is 205.16.37.39/28. Find the number of addresses in the block ?</a:t>
            </a:r>
          </a:p>
        </p:txBody>
      </p:sp>
      <p:sp>
        <p:nvSpPr>
          <p:cNvPr id="65546" name="Text Box 10"/>
          <p:cNvSpPr txBox="1">
            <a:spLocks noChangeArrowheads="1"/>
          </p:cNvSpPr>
          <p:nvPr/>
        </p:nvSpPr>
        <p:spPr bwMode="auto">
          <a:xfrm>
            <a:off x="1143000" y="0"/>
            <a:ext cx="1792478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 </a:t>
            </a:r>
          </a:p>
        </p:txBody>
      </p:sp>
      <p:sp>
        <p:nvSpPr>
          <p:cNvPr id="65547" name="Rectangle 11"/>
          <p:cNvSpPr>
            <a:spLocks noChangeArrowheads="1"/>
          </p:cNvSpPr>
          <p:nvPr/>
        </p:nvSpPr>
        <p:spPr bwMode="auto">
          <a:xfrm>
            <a:off x="228600" y="38100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The value of n is 28, which means that number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of addresses is 2 </a:t>
            </a:r>
            <a:r>
              <a:rPr lang="en-US" altLang="en-US" sz="2800" i="1" baseline="30000">
                <a:latin typeface="Times New Roman" panose="02020603050405020304" pitchFamily="18" charset="0"/>
              </a:rPr>
              <a:t>32−28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or 16.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7587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7588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7589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7590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7591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7592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228600" y="1436688"/>
            <a:ext cx="8686800" cy="267811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 dirty="0">
                <a:latin typeface="Times New Roman" panose="02020603050405020304" pitchFamily="18" charset="0"/>
              </a:rPr>
              <a:t>A block of addresses is granted to a small organization. We know that one of the addresses is 205.16.37.39/28.</a:t>
            </a:r>
          </a:p>
          <a:p>
            <a:pPr algn="just"/>
            <a:r>
              <a:rPr lang="en-US" altLang="en-US" sz="2800" i="1" baseline="0" dirty="0">
                <a:latin typeface="Times New Roman" panose="02020603050405020304" pitchFamily="18" charset="0"/>
              </a:rPr>
              <a:t>Find</a:t>
            </a:r>
          </a:p>
          <a:p>
            <a:pPr algn="just"/>
            <a:r>
              <a:rPr lang="en-US" altLang="en-US" sz="28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The first address</a:t>
            </a:r>
          </a:p>
          <a:p>
            <a:pPr algn="just"/>
            <a:r>
              <a:rPr lang="en-US" altLang="en-US" sz="28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The last address</a:t>
            </a:r>
          </a:p>
          <a:p>
            <a:pPr algn="just"/>
            <a:r>
              <a:rPr lang="en-US" altLang="en-US" sz="28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The number of addresses.</a:t>
            </a:r>
          </a:p>
        </p:txBody>
      </p:sp>
      <p:sp>
        <p:nvSpPr>
          <p:cNvPr id="67594" name="Text Box 10"/>
          <p:cNvSpPr txBox="1">
            <a:spLocks noChangeArrowheads="1"/>
          </p:cNvSpPr>
          <p:nvPr/>
        </p:nvSpPr>
        <p:spPr bwMode="auto">
          <a:xfrm>
            <a:off x="673100" y="0"/>
            <a:ext cx="7056438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 </a:t>
            </a:r>
            <a:r>
              <a:rPr lang="en-US" altLang="en-US" i="1" baseline="0" dirty="0" smtClean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– with mask </a:t>
            </a:r>
            <a:r>
              <a:rPr lang="en-US" altLang="en-US" i="1" baseline="0" dirty="0" err="1">
                <a:solidFill>
                  <a:schemeClr val="hlink"/>
                </a:solidFill>
                <a:latin typeface="Times New Roman" panose="02020603050405020304" pitchFamily="18" charset="0"/>
              </a:rPr>
              <a:t>ANDing</a:t>
            </a:r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 , </a:t>
            </a:r>
            <a:r>
              <a:rPr lang="en-US" altLang="en-US" i="1" baseline="0" dirty="0" err="1">
                <a:solidFill>
                  <a:schemeClr val="hlink"/>
                </a:solidFill>
                <a:latin typeface="Times New Roman" panose="02020603050405020304" pitchFamily="18" charset="0"/>
              </a:rPr>
              <a:t>ORing</a:t>
            </a:r>
            <a:endParaRPr lang="en-US" altLang="en-US" i="1" baseline="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9635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9636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9637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9638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9639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9640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9641" name="Rectangle 9"/>
          <p:cNvSpPr>
            <a:spLocks noChangeArrowheads="1"/>
          </p:cNvSpPr>
          <p:nvPr/>
        </p:nvSpPr>
        <p:spPr bwMode="auto">
          <a:xfrm>
            <a:off x="228600" y="1295400"/>
            <a:ext cx="8686800" cy="2227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Solution</a:t>
            </a:r>
          </a:p>
          <a:p>
            <a:pPr algn="just"/>
            <a:r>
              <a:rPr lang="en-US" altLang="en-US" sz="2800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The first address can be found by </a:t>
            </a:r>
            <a:r>
              <a:rPr lang="en-US" altLang="en-US" sz="2800" i="1" baseline="0" dirty="0" err="1">
                <a:latin typeface="Times New Roman" panose="02020603050405020304" pitchFamily="18" charset="0"/>
              </a:rPr>
              <a:t>ANDing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the given</a:t>
            </a:r>
            <a:br>
              <a:rPr lang="en-US" altLang="en-US" sz="2800" i="1" baseline="0" dirty="0">
                <a:latin typeface="Times New Roman" panose="02020603050405020304" pitchFamily="18" charset="0"/>
              </a:rPr>
            </a:br>
            <a:r>
              <a:rPr lang="en-US" altLang="en-US" sz="2800" i="1" baseline="0" dirty="0">
                <a:latin typeface="Times New Roman" panose="02020603050405020304" pitchFamily="18" charset="0"/>
              </a:rPr>
              <a:t>     addresses with the mask. </a:t>
            </a:r>
            <a:r>
              <a:rPr lang="en-US" altLang="en-US" sz="2800" i="1" baseline="0" dirty="0" err="1">
                <a:latin typeface="Times New Roman" panose="02020603050405020304" pitchFamily="18" charset="0"/>
              </a:rPr>
              <a:t>ANDing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here is done bit by</a:t>
            </a:r>
            <a:br>
              <a:rPr lang="en-US" altLang="en-US" sz="2800" i="1" baseline="0" dirty="0">
                <a:latin typeface="Times New Roman" panose="02020603050405020304" pitchFamily="18" charset="0"/>
              </a:rPr>
            </a:br>
            <a:r>
              <a:rPr lang="en-US" altLang="en-US" sz="2800" i="1" baseline="0" dirty="0">
                <a:latin typeface="Times New Roman" panose="02020603050405020304" pitchFamily="18" charset="0"/>
              </a:rPr>
              <a:t>     bit. The result of </a:t>
            </a:r>
            <a:r>
              <a:rPr lang="en-US" altLang="en-US" sz="2800" i="1" baseline="0" dirty="0" err="1">
                <a:latin typeface="Times New Roman" panose="02020603050405020304" pitchFamily="18" charset="0"/>
              </a:rPr>
              <a:t>ANDing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2 bits is 1 if both bits are 1s;</a:t>
            </a:r>
            <a:br>
              <a:rPr lang="en-US" altLang="en-US" sz="2800" i="1" baseline="0" dirty="0">
                <a:latin typeface="Times New Roman" panose="02020603050405020304" pitchFamily="18" charset="0"/>
              </a:rPr>
            </a:br>
            <a:r>
              <a:rPr lang="en-US" altLang="en-US" sz="2800" i="1" baseline="0" dirty="0">
                <a:latin typeface="Times New Roman" panose="02020603050405020304" pitchFamily="18" charset="0"/>
              </a:rPr>
              <a:t>     the result is 0 otherwise.</a:t>
            </a:r>
          </a:p>
        </p:txBody>
      </p:sp>
      <p:sp>
        <p:nvSpPr>
          <p:cNvPr id="69642" name="Text Box 10"/>
          <p:cNvSpPr txBox="1">
            <a:spLocks noChangeArrowheads="1"/>
          </p:cNvSpPr>
          <p:nvPr/>
        </p:nvSpPr>
        <p:spPr bwMode="auto">
          <a:xfrm>
            <a:off x="1143000" y="0"/>
            <a:ext cx="385394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 </a:t>
            </a:r>
            <a:r>
              <a:rPr lang="en-US" altLang="en-US" i="1" baseline="0" dirty="0" smtClean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(continued)</a:t>
            </a:r>
          </a:p>
        </p:txBody>
      </p:sp>
      <p:pic>
        <p:nvPicPr>
          <p:cNvPr id="69643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663" y="3857625"/>
            <a:ext cx="8034337" cy="13239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1683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1684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1685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1686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1687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1688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1689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2654300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last address can be found by ORing the given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addresses with the complement of the mask. ORing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here is done bit by bit. The result of ORing 2 bits is 0 if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both bits are 0s; the result is 1 otherwise. The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complement of a number is found by changing each 1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to 0 and each 0 to 1.</a:t>
            </a:r>
          </a:p>
        </p:txBody>
      </p:sp>
      <p:sp>
        <p:nvSpPr>
          <p:cNvPr id="71690" name="Text Box 10"/>
          <p:cNvSpPr txBox="1">
            <a:spLocks noChangeArrowheads="1"/>
          </p:cNvSpPr>
          <p:nvPr/>
        </p:nvSpPr>
        <p:spPr bwMode="auto">
          <a:xfrm>
            <a:off x="1143000" y="0"/>
            <a:ext cx="385394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 </a:t>
            </a:r>
            <a:r>
              <a:rPr lang="en-US" altLang="en-US" i="1" baseline="0" dirty="0" smtClean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(continued)</a:t>
            </a:r>
          </a:p>
        </p:txBody>
      </p:sp>
      <p:pic>
        <p:nvPicPr>
          <p:cNvPr id="71691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4086225"/>
            <a:ext cx="8702675" cy="13239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3731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3732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3733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3734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3735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3736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3737" name="Rectangle 9"/>
          <p:cNvSpPr>
            <a:spLocks noChangeArrowheads="1"/>
          </p:cNvSpPr>
          <p:nvPr/>
        </p:nvSpPr>
        <p:spPr bwMode="auto">
          <a:xfrm>
            <a:off x="228600" y="1295400"/>
            <a:ext cx="8686800" cy="1373188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number of addresses can be found by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  complementing the mask, interpreting it as a  decimal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  number, and adding 1 to it.</a:t>
            </a:r>
          </a:p>
        </p:txBody>
      </p:sp>
      <p:sp>
        <p:nvSpPr>
          <p:cNvPr id="73738" name="Text Box 10"/>
          <p:cNvSpPr txBox="1">
            <a:spLocks noChangeArrowheads="1"/>
          </p:cNvSpPr>
          <p:nvPr/>
        </p:nvSpPr>
        <p:spPr bwMode="auto">
          <a:xfrm>
            <a:off x="1143000" y="0"/>
            <a:ext cx="385394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Example </a:t>
            </a:r>
            <a:r>
              <a:rPr lang="en-US" altLang="en-US" i="1" baseline="0" dirty="0" smtClean="0">
                <a:solidFill>
                  <a:schemeClr val="hlink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(continued)</a:t>
            </a:r>
          </a:p>
        </p:txBody>
      </p:sp>
      <p:pic>
        <p:nvPicPr>
          <p:cNvPr id="73739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7663" y="2971800"/>
            <a:ext cx="8491537" cy="8159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228600" y="152400"/>
            <a:ext cx="54133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NETWORK ADDRESS</a:t>
            </a:r>
          </a:p>
        </p:txBody>
      </p:sp>
      <p:sp>
        <p:nvSpPr>
          <p:cNvPr id="75780" name="Rectangle 5"/>
          <p:cNvSpPr>
            <a:spLocks noChangeArrowheads="1"/>
          </p:cNvSpPr>
          <p:nvPr/>
        </p:nvSpPr>
        <p:spPr bwMode="auto">
          <a:xfrm>
            <a:off x="533400" y="952500"/>
            <a:ext cx="8229600" cy="552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A very important concept in IP addressing is the network address. </a:t>
            </a:r>
          </a:p>
          <a:p>
            <a:pPr algn="just"/>
            <a:endParaRPr lang="en-US" altLang="en-US" sz="1500" b="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When an organization is given a block of addresses, the first address in the block is normally treated as a special address. </a:t>
            </a:r>
          </a:p>
          <a:p>
            <a:pPr algn="just"/>
            <a:endParaRPr lang="en-US" altLang="en-US" sz="1500" b="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The first address is called the network address and defines the organization network.</a:t>
            </a:r>
          </a:p>
          <a:p>
            <a:pPr algn="just"/>
            <a:endParaRPr lang="en-US" altLang="en-US" sz="1500" b="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Not assigned to any hosts or devices</a:t>
            </a:r>
          </a:p>
          <a:p>
            <a:pPr algn="just"/>
            <a:endParaRPr lang="en-US" altLang="en-US" sz="1500" b="0" baseline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The network address represents the organization </a:t>
            </a:r>
            <a:b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28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to the rest of the world.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80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743200"/>
            <a:ext cx="8229600" cy="3505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6803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401638"/>
            <a:ext cx="7848600" cy="1960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77" y="685800"/>
            <a:ext cx="7965503" cy="51815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1620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7827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7828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7829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7830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7831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77832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49162" name="Rectangle 9"/>
          <p:cNvSpPr>
            <a:spLocks noChangeArrowheads="1"/>
          </p:cNvSpPr>
          <p:nvPr/>
        </p:nvSpPr>
        <p:spPr bwMode="auto">
          <a:xfrm>
            <a:off x="228600" y="681038"/>
            <a:ext cx="8686800" cy="569277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defRPr/>
            </a:pPr>
            <a:r>
              <a:rPr lang="en-US" sz="2800" i="1" baseline="0" dirty="0">
                <a:latin typeface="Times New Roman" pitchFamily="18" charset="0"/>
              </a:rPr>
              <a:t>Given the following </a:t>
            </a:r>
            <a:r>
              <a:rPr lang="en-US" sz="2800" i="1" baseline="0" dirty="0" err="1">
                <a:latin typeface="Times New Roman" pitchFamily="18" charset="0"/>
              </a:rPr>
              <a:t>classful</a:t>
            </a:r>
            <a:r>
              <a:rPr lang="en-US" sz="2800" i="1" baseline="0" dirty="0">
                <a:latin typeface="Times New Roman" pitchFamily="18" charset="0"/>
              </a:rPr>
              <a:t> address, find the network address?</a:t>
            </a:r>
          </a:p>
          <a:p>
            <a:pPr algn="just">
              <a:defRPr/>
            </a:pPr>
            <a:r>
              <a:rPr lang="en-US" sz="2800" i="1" baseline="0" dirty="0">
                <a:latin typeface="Times New Roman" pitchFamily="18" charset="0"/>
              </a:rPr>
              <a:t>	a.	132.6.17.85 </a:t>
            </a:r>
          </a:p>
          <a:p>
            <a:pPr algn="just">
              <a:defRPr/>
            </a:pPr>
            <a:r>
              <a:rPr lang="en-US" sz="2800" i="1" baseline="0" dirty="0">
                <a:latin typeface="Times New Roman" pitchFamily="18" charset="0"/>
              </a:rPr>
              <a:t>	b.	23.56.7.91</a:t>
            </a:r>
          </a:p>
          <a:p>
            <a:pPr algn="just">
              <a:defRPr/>
            </a:pPr>
            <a:endParaRPr lang="en-US" sz="2800" i="1" baseline="0" dirty="0">
              <a:latin typeface="Times New Roman" pitchFamily="18" charset="0"/>
            </a:endParaRPr>
          </a:p>
          <a:p>
            <a:pPr algn="just">
              <a:defRPr/>
            </a:pPr>
            <a:r>
              <a:rPr lang="en-US" sz="2800" i="1" baseline="0" dirty="0">
                <a:solidFill>
                  <a:srgbClr val="3366FF"/>
                </a:solidFill>
                <a:latin typeface="Times New Roman" pitchFamily="18" charset="0"/>
              </a:rPr>
              <a:t>Solution</a:t>
            </a:r>
          </a:p>
          <a:p>
            <a:pPr marL="514350" indent="-514350" algn="just">
              <a:defRPr/>
            </a:pPr>
            <a:r>
              <a:rPr lang="en-US" sz="2800" i="1" baseline="0" dirty="0">
                <a:solidFill>
                  <a:srgbClr val="FF0000"/>
                </a:solidFill>
                <a:latin typeface="Times New Roman" pitchFamily="18" charset="0"/>
              </a:rPr>
              <a:t>a.</a:t>
            </a:r>
            <a:r>
              <a:rPr lang="en-US" sz="2800" i="1" baseline="0" dirty="0">
                <a:latin typeface="Times New Roman" pitchFamily="18" charset="0"/>
              </a:rPr>
              <a:t>	The class is B. The first 2 bytes defines the </a:t>
            </a:r>
            <a:r>
              <a:rPr lang="en-US" sz="2800" i="1" baseline="0" dirty="0" err="1">
                <a:latin typeface="Times New Roman" pitchFamily="18" charset="0"/>
              </a:rPr>
              <a:t>netid</a:t>
            </a:r>
            <a:r>
              <a:rPr lang="en-US" sz="2800" i="1" baseline="0" dirty="0">
                <a:latin typeface="Times New Roman" pitchFamily="18" charset="0"/>
              </a:rPr>
              <a:t>. We can find the network address by replacing the </a:t>
            </a:r>
            <a:r>
              <a:rPr lang="en-US" sz="2800" i="1" baseline="0" dirty="0" err="1">
                <a:latin typeface="Times New Roman" pitchFamily="18" charset="0"/>
              </a:rPr>
              <a:t>hostid</a:t>
            </a:r>
            <a:r>
              <a:rPr lang="en-US" sz="2800" i="1" baseline="0" dirty="0">
                <a:latin typeface="Times New Roman" pitchFamily="18" charset="0"/>
              </a:rPr>
              <a:t> bytes (17.85) with 0s. </a:t>
            </a:r>
            <a:r>
              <a:rPr lang="en-US" sz="2800" i="1" baseline="0" dirty="0">
                <a:solidFill>
                  <a:srgbClr val="FF0000"/>
                </a:solidFill>
                <a:latin typeface="Times New Roman" pitchFamily="18" charset="0"/>
              </a:rPr>
              <a:t>132.6.0.0</a:t>
            </a:r>
            <a:r>
              <a:rPr lang="en-US" sz="2800" i="1" baseline="0" dirty="0">
                <a:latin typeface="Times New Roman" pitchFamily="18" charset="0"/>
              </a:rPr>
              <a:t>.</a:t>
            </a:r>
          </a:p>
          <a:p>
            <a:pPr marL="514350" indent="-514350" algn="just">
              <a:defRPr/>
            </a:pPr>
            <a:endParaRPr lang="en-US" sz="2800" i="1" baseline="0" dirty="0">
              <a:latin typeface="Times New Roman" pitchFamily="18" charset="0"/>
            </a:endParaRPr>
          </a:p>
          <a:p>
            <a:pPr marL="514350" indent="-514350" algn="just">
              <a:defRPr/>
            </a:pPr>
            <a:r>
              <a:rPr lang="en-US" sz="2800" i="1" baseline="0" dirty="0">
                <a:solidFill>
                  <a:srgbClr val="FF0000"/>
                </a:solidFill>
                <a:latin typeface="Times New Roman" pitchFamily="18" charset="0"/>
              </a:rPr>
              <a:t>b.</a:t>
            </a:r>
            <a:r>
              <a:rPr lang="en-US" sz="2800" i="1" baseline="0" dirty="0">
                <a:latin typeface="Times New Roman" pitchFamily="18" charset="0"/>
              </a:rPr>
              <a:t>	The class is A. Only the first byte defines the </a:t>
            </a:r>
            <a:r>
              <a:rPr lang="en-US" sz="2800" i="1" baseline="0" dirty="0" err="1">
                <a:latin typeface="Times New Roman" pitchFamily="18" charset="0"/>
              </a:rPr>
              <a:t>netid</a:t>
            </a:r>
            <a:r>
              <a:rPr lang="en-US" sz="2800" i="1" baseline="0" dirty="0">
                <a:latin typeface="Times New Roman" pitchFamily="18" charset="0"/>
              </a:rPr>
              <a:t>. We can find the network address by replacing the </a:t>
            </a:r>
            <a:r>
              <a:rPr lang="en-US" sz="2800" i="1" baseline="0" dirty="0" err="1">
                <a:latin typeface="Times New Roman" pitchFamily="18" charset="0"/>
              </a:rPr>
              <a:t>hostid</a:t>
            </a:r>
            <a:r>
              <a:rPr lang="en-US" sz="2800" i="1" baseline="0" dirty="0">
                <a:latin typeface="Times New Roman" pitchFamily="18" charset="0"/>
              </a:rPr>
              <a:t> bytes (56.7.91) with 0s. </a:t>
            </a:r>
            <a:r>
              <a:rPr lang="en-US" sz="2800" i="1" baseline="0" dirty="0">
                <a:solidFill>
                  <a:srgbClr val="FF0000"/>
                </a:solidFill>
                <a:latin typeface="Times New Roman" pitchFamily="18" charset="0"/>
              </a:rPr>
              <a:t>23.0.0.0</a:t>
            </a:r>
            <a:r>
              <a:rPr lang="en-US" sz="2800" i="1" baseline="0" dirty="0">
                <a:latin typeface="Times New Roman" pitchFamily="18" charset="0"/>
              </a:rPr>
              <a:t>.</a:t>
            </a:r>
          </a:p>
        </p:txBody>
      </p:sp>
      <p:sp>
        <p:nvSpPr>
          <p:cNvPr id="77834" name="Text Box 10"/>
          <p:cNvSpPr txBox="1">
            <a:spLocks noChangeArrowheads="1"/>
          </p:cNvSpPr>
          <p:nvPr/>
        </p:nvSpPr>
        <p:spPr bwMode="auto">
          <a:xfrm>
            <a:off x="673100" y="0"/>
            <a:ext cx="1689886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 dirty="0" smtClean="0">
                <a:solidFill>
                  <a:schemeClr val="hlink"/>
                </a:solidFill>
                <a:latin typeface="Times New Roman" panose="02020603050405020304" pitchFamily="18" charset="0"/>
              </a:rPr>
              <a:t>Example</a:t>
            </a:r>
            <a:endParaRPr lang="en-US" altLang="en-US" i="1" baseline="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916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4916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1923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1924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1925" name="Text Box 4"/>
          <p:cNvSpPr txBox="1">
            <a:spLocks noChangeArrowheads="1"/>
          </p:cNvSpPr>
          <p:nvPr/>
        </p:nvSpPr>
        <p:spPr bwMode="auto">
          <a:xfrm>
            <a:off x="609600" y="304800"/>
            <a:ext cx="8145463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400" i="1" baseline="0">
                <a:latin typeface="Times New Roman" panose="02020603050405020304" pitchFamily="18" charset="0"/>
              </a:rPr>
              <a:t>Hierarchy in Classless Addressing</a:t>
            </a:r>
          </a:p>
        </p:txBody>
      </p:sp>
      <p:sp>
        <p:nvSpPr>
          <p:cNvPr id="81926" name="Rectangle 8"/>
          <p:cNvSpPr>
            <a:spLocks noChangeArrowheads="1"/>
          </p:cNvSpPr>
          <p:nvPr/>
        </p:nvSpPr>
        <p:spPr bwMode="auto">
          <a:xfrm>
            <a:off x="457200" y="1130300"/>
            <a:ext cx="8305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Two Level Hierarchy – No Subnetting</a:t>
            </a:r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000" y="3810000"/>
            <a:ext cx="6804025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2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133600"/>
            <a:ext cx="7924800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71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72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83973" name="Text Box 4"/>
          <p:cNvSpPr txBox="1">
            <a:spLocks noChangeArrowheads="1"/>
          </p:cNvSpPr>
          <p:nvPr/>
        </p:nvSpPr>
        <p:spPr bwMode="auto">
          <a:xfrm>
            <a:off x="609600" y="304800"/>
            <a:ext cx="8145463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4400" i="1" baseline="0">
                <a:latin typeface="Times New Roman" panose="02020603050405020304" pitchFamily="18" charset="0"/>
              </a:rPr>
              <a:t>Hierarchy in Classless Addressing</a:t>
            </a:r>
          </a:p>
        </p:txBody>
      </p:sp>
      <p:sp>
        <p:nvSpPr>
          <p:cNvPr id="83974" name="Rectangle 9"/>
          <p:cNvSpPr>
            <a:spLocks noChangeArrowheads="1"/>
          </p:cNvSpPr>
          <p:nvPr/>
        </p:nvSpPr>
        <p:spPr bwMode="auto">
          <a:xfrm>
            <a:off x="609600" y="1092200"/>
            <a:ext cx="83058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30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Three Level Hierarchy – Subnetting</a:t>
            </a:r>
          </a:p>
        </p:txBody>
      </p:sp>
      <p:pic>
        <p:nvPicPr>
          <p:cNvPr id="8397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76400"/>
            <a:ext cx="80010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46435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590800"/>
            <a:ext cx="6096000" cy="23860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381000" y="5283200"/>
            <a:ext cx="8534400" cy="554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buFont typeface="Wingdings" panose="05000000000000000000" pitchFamily="2" charset="2"/>
              <a:buChar char="ü"/>
            </a:pPr>
            <a:r>
              <a:rPr lang="en-US" altLang="en-US" sz="3000" b="0" baseline="0">
                <a:latin typeface="Times New Roman" panose="02020603050405020304" pitchFamily="18" charset="0"/>
                <a:cs typeface="Times New Roman" panose="02020603050405020304" pitchFamily="18" charset="0"/>
              </a:rPr>
              <a:t>More Levels of Hierarchy – Subnets within subnet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6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110C5-1C1B-340A-69DE-E30A8A65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46E76DF-5B4E-1522-BA33-DF6B64DD9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1C1263DE-85BD-6A60-B718-F8F732DB0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613" y="152400"/>
            <a:ext cx="558518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</a:t>
            </a:r>
            <a:r>
              <a:rPr lang="en-US" altLang="en-US" sz="400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SUBNETS</a:t>
            </a:r>
            <a:endParaRPr lang="en-US" altLang="en-US" sz="400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6" name="Rectangle 5">
            <a:extLst>
              <a:ext uri="{FF2B5EF4-FFF2-40B4-BE49-F238E27FC236}">
                <a16:creationId xmlns:a16="http://schemas.microsoft.com/office/drawing/2014/main" id="{12B49DD0-6B17-2014-4EB7-EE85B6526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1314511"/>
            <a:ext cx="8610600" cy="48320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 marL="457200" indent="-457200">
              <a:buFont typeface="Wingdings" panose="05000000000000000000" pitchFamily="2" charset="2"/>
              <a:buChar char="ü"/>
              <a:defRPr/>
            </a:pP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The subnetworks in a network should be </a:t>
            </a: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carefully designed 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to enable the routing of packets</a:t>
            </a: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457200" indent="-457200">
              <a:buFont typeface="Wingdings" panose="05000000000000000000" pitchFamily="2" charset="2"/>
              <a:buChar char="ü"/>
              <a:defRPr/>
            </a:pPr>
            <a:endParaRPr lang="en-US" sz="2800" b="0" baseline="0" dirty="0">
              <a:latin typeface="Times New Roman" pitchFamily="18" charset="0"/>
              <a:cs typeface="Times New Roman" pitchFamily="18" charset="0"/>
            </a:endParaRPr>
          </a:p>
          <a:p>
            <a:pPr marL="457200" indent="-457200">
              <a:buFont typeface="Wingdings" panose="05000000000000000000" pitchFamily="2" charset="2"/>
              <a:buChar char="ü"/>
              <a:defRPr/>
            </a:pP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Lets 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assume </a:t>
            </a: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-</a:t>
            </a:r>
          </a:p>
          <a:p>
            <a:pPr marL="1371600" lvl="2" indent="-457200">
              <a:buFont typeface="Wingdings" panose="05000000000000000000" pitchFamily="2" charset="2"/>
              <a:buChar char="ü"/>
              <a:defRPr/>
            </a:pP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Total 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number of addresses granted to the organization is N, </a:t>
            </a:r>
            <a:endParaRPr lang="en-US" sz="2800" b="0" baseline="0" dirty="0" smtClean="0"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ü"/>
              <a:defRPr/>
            </a:pP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Prefix length 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is n</a:t>
            </a: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,</a:t>
            </a:r>
          </a:p>
          <a:p>
            <a:pPr marL="1371600" lvl="2" indent="-457200">
              <a:buFont typeface="Wingdings" panose="05000000000000000000" pitchFamily="2" charset="2"/>
              <a:buChar char="ü"/>
              <a:defRPr/>
            </a:pP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Assigned 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number of addresses to each subnetwork is </a:t>
            </a:r>
            <a:r>
              <a:rPr lang="en-US" sz="2800" b="0" baseline="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b="0" baseline="-25000" dirty="0" err="1">
                <a:latin typeface="Times New Roman" pitchFamily="18" charset="0"/>
                <a:cs typeface="Times New Roman" pitchFamily="18" charset="0"/>
              </a:rPr>
              <a:t>sub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, </a:t>
            </a:r>
            <a:endParaRPr lang="en-US" sz="2800" b="0" baseline="0" dirty="0" smtClean="0">
              <a:latin typeface="Times New Roman" pitchFamily="18" charset="0"/>
              <a:cs typeface="Times New Roman" pitchFamily="18" charset="0"/>
            </a:endParaRPr>
          </a:p>
          <a:p>
            <a:pPr marL="1371600" lvl="2" indent="-457200">
              <a:buFont typeface="Wingdings" panose="05000000000000000000" pitchFamily="2" charset="2"/>
              <a:buChar char="ü"/>
              <a:defRPr/>
            </a:pP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Prefix length 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for each subnetwork is </a:t>
            </a:r>
            <a:r>
              <a:rPr lang="en-US" sz="2800" b="0" baseline="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b="0" baseline="-25000" dirty="0" err="1">
                <a:latin typeface="Times New Roman" pitchFamily="18" charset="0"/>
                <a:cs typeface="Times New Roman" pitchFamily="18" charset="0"/>
              </a:rPr>
              <a:t>sub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. </a:t>
            </a:r>
            <a:endParaRPr lang="en-US" sz="2800" b="0" baseline="0" dirty="0" smtClean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800" b="0" baseline="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4252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110C5-1C1B-340A-69DE-E30A8A6515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46E76DF-5B4E-1522-BA33-DF6B64DD93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1C1263DE-85BD-6A60-B718-F8F732DB03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613" y="152400"/>
            <a:ext cx="558518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DESIGNING </a:t>
            </a:r>
            <a:r>
              <a:rPr lang="en-US" altLang="en-US" sz="4000" baseline="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SUBNETS</a:t>
            </a:r>
            <a:endParaRPr lang="en-US" altLang="en-US" sz="400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916" name="Rectangle 5">
            <a:extLst>
              <a:ext uri="{FF2B5EF4-FFF2-40B4-BE49-F238E27FC236}">
                <a16:creationId xmlns:a16="http://schemas.microsoft.com/office/drawing/2014/main" id="{12B49DD0-6B17-2014-4EB7-EE85B65269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" y="914400"/>
            <a:ext cx="8610600" cy="56323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>
            <a:spAutoFit/>
          </a:bodyPr>
          <a:lstStyle/>
          <a:p>
            <a:pPr>
              <a:defRPr/>
            </a:pPr>
            <a:r>
              <a:rPr lang="en-US" sz="2800" b="0" u="sng" baseline="0" dirty="0">
                <a:latin typeface="Times New Roman" pitchFamily="18" charset="0"/>
                <a:cs typeface="Times New Roman" pitchFamily="18" charset="0"/>
              </a:rPr>
              <a:t>Key </a:t>
            </a:r>
            <a:r>
              <a:rPr lang="en-US" sz="2800" b="0" u="sng" baseline="0" dirty="0" smtClean="0">
                <a:latin typeface="Times New Roman" pitchFamily="18" charset="0"/>
                <a:cs typeface="Times New Roman" pitchFamily="18" charset="0"/>
              </a:rPr>
              <a:t>requirements – Steps to follow</a:t>
            </a:r>
            <a:endParaRPr lang="en-US" sz="2800" b="0" baseline="0" dirty="0">
              <a:latin typeface="Times New Roman" pitchFamily="18" charset="0"/>
              <a:cs typeface="Times New Roman" pitchFamily="18" charset="0"/>
            </a:endParaRPr>
          </a:p>
          <a:p>
            <a:pPr>
              <a:defRPr/>
            </a:pPr>
            <a:endParaRPr lang="en-US" sz="2000" b="0" baseline="0" dirty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buFontTx/>
              <a:buAutoNum type="arabicPeriod"/>
              <a:defRPr/>
            </a:pP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The addresses in a block must be contiguous, one after another. </a:t>
            </a:r>
          </a:p>
          <a:p>
            <a:pPr marL="514350" indent="-514350">
              <a:defRPr/>
            </a:pPr>
            <a:endParaRPr lang="en-US" sz="2000" b="0" baseline="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defRPr/>
            </a:pP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. The number of addresses in a block must be a power of 2 (1, 2, 4, 8, ... ). </a:t>
            </a:r>
          </a:p>
          <a:p>
            <a:pPr marL="514350" indent="-514350">
              <a:defRPr/>
            </a:pPr>
            <a:endParaRPr lang="en-US" sz="2000" b="0" baseline="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defRPr/>
            </a:pP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. Prefix length for each subnet is calculated using the formula: </a:t>
            </a:r>
          </a:p>
          <a:p>
            <a:pPr marL="514350" indent="-514350">
              <a:defRPr/>
            </a:pP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                         </a:t>
            </a:r>
            <a:r>
              <a:rPr lang="en-US" sz="2800" b="0" baseline="0" dirty="0" err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b="0" baseline="-25000" dirty="0" err="1">
                <a:latin typeface="Times New Roman" pitchFamily="18" charset="0"/>
                <a:cs typeface="Times New Roman" pitchFamily="18" charset="0"/>
              </a:rPr>
              <a:t>sub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 = 32 − log</a:t>
            </a:r>
            <a:r>
              <a:rPr lang="en-US" sz="2800" b="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800" b="0" baseline="-25000" dirty="0">
                <a:latin typeface="Times New Roman" pitchFamily="18" charset="0"/>
                <a:cs typeface="Times New Roman" pitchFamily="18" charset="0"/>
              </a:rPr>
              <a:t>sub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marL="514350" indent="-514350">
              <a:defRPr/>
            </a:pPr>
            <a:endParaRPr lang="en-US" sz="2000" b="0" baseline="0" dirty="0" smtClean="0">
              <a:latin typeface="Times New Roman" pitchFamily="18" charset="0"/>
              <a:cs typeface="Times New Roman" pitchFamily="18" charset="0"/>
            </a:endParaRPr>
          </a:p>
          <a:p>
            <a:pPr marL="514350" indent="-514350">
              <a:defRPr/>
            </a:pPr>
            <a:r>
              <a:rPr lang="en-US" sz="2800" b="0" baseline="0" dirty="0" smtClean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sz="2800" b="0" baseline="0" dirty="0">
                <a:latin typeface="Times New Roman" pitchFamily="18" charset="0"/>
                <a:cs typeface="Times New Roman" pitchFamily="18" charset="0"/>
              </a:rPr>
              <a:t>. The first address must be evenly divisible by the number of addresses. </a:t>
            </a:r>
          </a:p>
        </p:txBody>
      </p:sp>
    </p:spTree>
    <p:extLst>
      <p:ext uri="{BB962C8B-B14F-4D97-AF65-F5344CB8AC3E}">
        <p14:creationId xmlns:p14="http://schemas.microsoft.com/office/powerpoint/2010/main" val="220509237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6019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6020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6021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6022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6023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6024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6025" name="Text Box 10"/>
          <p:cNvSpPr txBox="1">
            <a:spLocks noChangeArrowheads="1"/>
          </p:cNvSpPr>
          <p:nvPr/>
        </p:nvSpPr>
        <p:spPr bwMode="auto">
          <a:xfrm>
            <a:off x="1143000" y="0"/>
            <a:ext cx="218021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 dirty="0" smtClean="0">
                <a:solidFill>
                  <a:schemeClr val="hlink"/>
                </a:solidFill>
                <a:latin typeface="Times New Roman" panose="02020603050405020304" pitchFamily="18" charset="0"/>
              </a:rPr>
              <a:t>Example 11</a:t>
            </a:r>
            <a:endParaRPr lang="en-US" altLang="en-US" i="1" baseline="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" name="Rectangle 9"/>
          <p:cNvSpPr>
            <a:spLocks noChangeArrowheads="1"/>
          </p:cNvSpPr>
          <p:nvPr/>
        </p:nvSpPr>
        <p:spPr bwMode="auto">
          <a:xfrm>
            <a:off x="228600" y="609600"/>
            <a:ext cx="8686800" cy="56943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 dirty="0">
                <a:latin typeface="Times New Roman" panose="02020603050405020304" pitchFamily="18" charset="0"/>
              </a:rPr>
              <a:t>Suppose an organization is given the block 17.12.14.0/26, which contains 64 address. The organization has three offices and needs to divide the address into three </a:t>
            </a:r>
            <a:r>
              <a:rPr lang="en-US" altLang="en-US" sz="2800" i="1" baseline="0" dirty="0" err="1">
                <a:latin typeface="Times New Roman" panose="02020603050405020304" pitchFamily="18" charset="0"/>
              </a:rPr>
              <a:t>subblocks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of 32, 16 and 16 address. Design the configuration of the </a:t>
            </a:r>
            <a:r>
              <a:rPr lang="en-US" altLang="en-US" sz="2800" i="1" baseline="0" dirty="0" err="1">
                <a:latin typeface="Times New Roman" panose="02020603050405020304" pitchFamily="18" charset="0"/>
              </a:rPr>
              <a:t>subnetted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 network.</a:t>
            </a:r>
          </a:p>
          <a:p>
            <a:pPr algn="just"/>
            <a:endParaRPr lang="en-US" altLang="en-US" sz="2800" i="1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sz="2800" i="1" baseline="0" dirty="0">
                <a:solidFill>
                  <a:srgbClr val="3366FF"/>
                </a:solidFill>
                <a:latin typeface="Times New Roman" panose="02020603050405020304" pitchFamily="18" charset="0"/>
              </a:rPr>
              <a:t>Solution:</a:t>
            </a:r>
          </a:p>
          <a:p>
            <a:pPr algn="just"/>
            <a:endParaRPr lang="en-US" altLang="en-US" sz="2800" i="1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sz="2800" i="1" baseline="0" dirty="0">
                <a:latin typeface="Times New Roman" panose="02020603050405020304" pitchFamily="18" charset="0"/>
              </a:rPr>
              <a:t>Subnet 1: 17.12.14.0/27 to 17.12.14.31/27</a:t>
            </a:r>
          </a:p>
          <a:p>
            <a:pPr algn="just"/>
            <a:endParaRPr lang="en-US" altLang="en-US" sz="2800" i="1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sz="2800" i="1" baseline="0" dirty="0">
                <a:latin typeface="Times New Roman" panose="02020603050405020304" pitchFamily="18" charset="0"/>
              </a:rPr>
              <a:t>Subnet 2: 17.12.14.32/28 to 17.12.14.47/28</a:t>
            </a:r>
          </a:p>
          <a:p>
            <a:pPr algn="just"/>
            <a:endParaRPr lang="en-US" altLang="en-US" sz="2800" i="1" baseline="0" dirty="0">
              <a:latin typeface="Times New Roman" panose="02020603050405020304" pitchFamily="18" charset="0"/>
            </a:endParaRPr>
          </a:p>
          <a:p>
            <a:pPr algn="just"/>
            <a:r>
              <a:rPr lang="en-US" altLang="en-US" sz="2800" i="1" baseline="0" dirty="0">
                <a:latin typeface="Times New Roman" panose="02020603050405020304" pitchFamily="18" charset="0"/>
              </a:rPr>
              <a:t>Subnet 3: 17.12.14.48/28 to 17.12.14.63/28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6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8067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8068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8069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8070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8071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8072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88073" name="Text Box 10"/>
          <p:cNvSpPr txBox="1">
            <a:spLocks noChangeArrowheads="1"/>
          </p:cNvSpPr>
          <p:nvPr/>
        </p:nvSpPr>
        <p:spPr bwMode="auto">
          <a:xfrm>
            <a:off x="1143000" y="0"/>
            <a:ext cx="42418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11 (continued)</a:t>
            </a:r>
          </a:p>
        </p:txBody>
      </p:sp>
      <p:pic>
        <p:nvPicPr>
          <p:cNvPr id="88074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219200"/>
            <a:ext cx="7543800" cy="50022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14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0115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0116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0117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0118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0119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0120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0121" name="Rectangle 9"/>
          <p:cNvSpPr>
            <a:spLocks noChangeArrowheads="1"/>
          </p:cNvSpPr>
          <p:nvPr/>
        </p:nvSpPr>
        <p:spPr bwMode="auto">
          <a:xfrm>
            <a:off x="228600" y="1143000"/>
            <a:ext cx="8686800" cy="52165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An ISP is granted a block of addresses starting with 190.100.0.0/16 (65,536 addresses). The ISP needs to distribute these addresses to three groups of customers as follows:</a:t>
            </a: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a.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first group has 64 customers; each needs 256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addresses.</a:t>
            </a: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b.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second group has 128 customers; each needs 128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addresses.</a:t>
            </a:r>
          </a:p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c.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The third group has 128 customers; each needs 64</a:t>
            </a:r>
            <a:br>
              <a:rPr lang="en-US" altLang="en-US" sz="2800" i="1" baseline="0">
                <a:latin typeface="Times New Roman" panose="02020603050405020304" pitchFamily="18" charset="0"/>
              </a:rPr>
            </a:br>
            <a:r>
              <a:rPr lang="en-US" altLang="en-US" sz="2800" i="1" baseline="0">
                <a:latin typeface="Times New Roman" panose="02020603050405020304" pitchFamily="18" charset="0"/>
              </a:rPr>
              <a:t>     addresses.</a:t>
            </a:r>
          </a:p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Design the subblocks and find out how many addresses are still available after these allocations.</a:t>
            </a:r>
          </a:p>
        </p:txBody>
      </p:sp>
      <p:sp>
        <p:nvSpPr>
          <p:cNvPr id="90122" name="Text Box 10"/>
          <p:cNvSpPr txBox="1">
            <a:spLocks noChangeArrowheads="1"/>
          </p:cNvSpPr>
          <p:nvPr/>
        </p:nvSpPr>
        <p:spPr bwMode="auto">
          <a:xfrm>
            <a:off x="1143000" y="0"/>
            <a:ext cx="57197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12 - Address Allocation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2163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2164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2165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2166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2167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2168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2169" name="Text Box 10"/>
          <p:cNvSpPr txBox="1">
            <a:spLocks noChangeArrowheads="1"/>
          </p:cNvSpPr>
          <p:nvPr/>
        </p:nvSpPr>
        <p:spPr bwMode="auto">
          <a:xfrm>
            <a:off x="1143000" y="0"/>
            <a:ext cx="4264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12 (continued)</a:t>
            </a:r>
          </a:p>
        </p:txBody>
      </p:sp>
      <p:sp>
        <p:nvSpPr>
          <p:cNvPr id="92170" name="Rectangle 12"/>
          <p:cNvSpPr>
            <a:spLocks noChangeArrowheads="1"/>
          </p:cNvSpPr>
          <p:nvPr/>
        </p:nvSpPr>
        <p:spPr bwMode="auto">
          <a:xfrm>
            <a:off x="152400" y="1354138"/>
            <a:ext cx="8686800" cy="2227262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Group 1</a:t>
            </a:r>
          </a:p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For this group, each customer needs 256 addresses. This means that 8 (log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2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256) bits are needed to define each host. The prefix length is then 32 − 8 = 24. The addresses are</a:t>
            </a:r>
          </a:p>
        </p:txBody>
      </p:sp>
      <p:pic>
        <p:nvPicPr>
          <p:cNvPr id="92171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0775" y="4038600"/>
            <a:ext cx="6902450" cy="1871663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4211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4212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4213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4214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4215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4216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4217" name="Text Box 10"/>
          <p:cNvSpPr txBox="1">
            <a:spLocks noChangeArrowheads="1"/>
          </p:cNvSpPr>
          <p:nvPr/>
        </p:nvSpPr>
        <p:spPr bwMode="auto">
          <a:xfrm>
            <a:off x="1143000" y="0"/>
            <a:ext cx="4264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12 (continued)</a:t>
            </a:r>
          </a:p>
        </p:txBody>
      </p:sp>
      <p:sp>
        <p:nvSpPr>
          <p:cNvPr id="94218" name="Rectangle 11"/>
          <p:cNvSpPr>
            <a:spLocks noChangeArrowheads="1"/>
          </p:cNvSpPr>
          <p:nvPr/>
        </p:nvSpPr>
        <p:spPr bwMode="auto">
          <a:xfrm>
            <a:off x="152400" y="1295400"/>
            <a:ext cx="8686800" cy="22272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Group 2</a:t>
            </a:r>
          </a:p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For this group, each customer needs 128 addresses. This means that 7 (log</a:t>
            </a:r>
            <a:r>
              <a:rPr lang="en-US" altLang="en-US" sz="2800" i="1" baseline="-25000">
                <a:latin typeface="Times New Roman" panose="02020603050405020304" pitchFamily="18" charset="0"/>
              </a:rPr>
              <a:t>2</a:t>
            </a:r>
            <a:r>
              <a:rPr lang="en-US" altLang="en-US" sz="2800" i="1" baseline="0">
                <a:latin typeface="Times New Roman" panose="02020603050405020304" pitchFamily="18" charset="0"/>
              </a:rPr>
              <a:t> 128) bits are needed to define each host. The prefix length is then 32 − 7 = 25. The addresses are</a:t>
            </a:r>
          </a:p>
        </p:txBody>
      </p:sp>
      <p:pic>
        <p:nvPicPr>
          <p:cNvPr id="94219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9675" y="3730625"/>
            <a:ext cx="6723063" cy="1908175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6259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6260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6261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6262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6263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6264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96265" name="Text Box 9"/>
          <p:cNvSpPr txBox="1">
            <a:spLocks noChangeArrowheads="1"/>
          </p:cNvSpPr>
          <p:nvPr/>
        </p:nvSpPr>
        <p:spPr bwMode="auto">
          <a:xfrm>
            <a:off x="1143000" y="0"/>
            <a:ext cx="42640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12 (continued)</a:t>
            </a:r>
          </a:p>
        </p:txBody>
      </p:sp>
      <p:sp>
        <p:nvSpPr>
          <p:cNvPr id="96266" name="Rectangle 10"/>
          <p:cNvSpPr>
            <a:spLocks noChangeArrowheads="1"/>
          </p:cNvSpPr>
          <p:nvPr/>
        </p:nvSpPr>
        <p:spPr bwMode="auto">
          <a:xfrm>
            <a:off x="152400" y="838200"/>
            <a:ext cx="8686800" cy="1800225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Group 3</a:t>
            </a:r>
          </a:p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For this group, each customer needs 64 addresses. This means that 6 (log</a:t>
            </a:r>
            <a:r>
              <a:rPr lang="en-US" altLang="en-US" sz="2800" i="1" baseline="-16000">
                <a:latin typeface="Times New Roman" panose="02020603050405020304" pitchFamily="18" charset="0"/>
              </a:rPr>
              <a:t>2 </a:t>
            </a:r>
            <a:r>
              <a:rPr lang="en-US" altLang="en-US" sz="2800" i="1" baseline="0">
                <a:latin typeface="Times New Roman" panose="02020603050405020304" pitchFamily="18" charset="0"/>
              </a:rPr>
              <a:t>64) bits are needed to each host. The prefix length is then 32 − 6 = 26. The addresses are</a:t>
            </a:r>
          </a:p>
        </p:txBody>
      </p:sp>
      <p:pic>
        <p:nvPicPr>
          <p:cNvPr id="96267" name="Picture 1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55700" y="2843213"/>
            <a:ext cx="6831013" cy="1881187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6268" name="Rectangle 13"/>
          <p:cNvSpPr>
            <a:spLocks noChangeArrowheads="1"/>
          </p:cNvSpPr>
          <p:nvPr/>
        </p:nvSpPr>
        <p:spPr bwMode="auto">
          <a:xfrm>
            <a:off x="152400" y="4875213"/>
            <a:ext cx="8686800" cy="13731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Number of granted addresses to the ISP: 65,536</a:t>
            </a:r>
          </a:p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Number of allocated addresses by the ISP: 40,960</a:t>
            </a:r>
          </a:p>
          <a:p>
            <a:pPr algn="just"/>
            <a:r>
              <a:rPr lang="en-US" altLang="en-US" sz="2800" i="1" baseline="0">
                <a:latin typeface="Times New Roman" panose="02020603050405020304" pitchFamily="18" charset="0"/>
              </a:rPr>
              <a:t>Number of available addresses: 24,576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8307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98308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32432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400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Example 12 (continued)</a:t>
            </a:r>
          </a:p>
        </p:txBody>
      </p:sp>
      <p:sp>
        <p:nvSpPr>
          <p:cNvPr id="98309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98310" name="Picture 7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2563" y="1524000"/>
            <a:ext cx="8428037" cy="4111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0355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0356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0357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0358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0359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0360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67593" name="Rectangle 9"/>
          <p:cNvSpPr>
            <a:spLocks noChangeArrowheads="1"/>
          </p:cNvSpPr>
          <p:nvPr/>
        </p:nvSpPr>
        <p:spPr bwMode="auto">
          <a:xfrm>
            <a:off x="228600" y="533400"/>
            <a:ext cx="8686800" cy="3539430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800" i="1" baseline="0" dirty="0">
                <a:latin typeface="Times New Roman" pitchFamily="18" charset="0"/>
              </a:rPr>
              <a:t>An organization is granted the block 211.17.180.0/24. The administrator wants to create 32 subnets.</a:t>
            </a:r>
          </a:p>
          <a:p>
            <a:pPr>
              <a:defRPr/>
            </a:pPr>
            <a:r>
              <a:rPr lang="en-US" sz="2800" i="1" baseline="0" dirty="0">
                <a:latin typeface="Times New Roman" pitchFamily="18" charset="0"/>
              </a:rPr>
              <a:t>a. Find the subnet mask.</a:t>
            </a:r>
          </a:p>
          <a:p>
            <a:pPr>
              <a:defRPr/>
            </a:pPr>
            <a:r>
              <a:rPr lang="en-US" sz="2800" i="1" baseline="0" dirty="0">
                <a:latin typeface="Times New Roman" pitchFamily="18" charset="0"/>
              </a:rPr>
              <a:t>b. Find the number of addresses in each subnet.</a:t>
            </a:r>
          </a:p>
          <a:p>
            <a:pPr>
              <a:defRPr/>
            </a:pPr>
            <a:r>
              <a:rPr lang="en-US" sz="2800" i="1" baseline="0" dirty="0">
                <a:latin typeface="Times New Roman" pitchFamily="18" charset="0"/>
              </a:rPr>
              <a:t>c. Find the first and last addresses in subnet 1.</a:t>
            </a:r>
          </a:p>
          <a:p>
            <a:pPr>
              <a:defRPr/>
            </a:pPr>
            <a:r>
              <a:rPr lang="en-US" sz="2800" i="1" baseline="0" dirty="0">
                <a:latin typeface="Times New Roman" pitchFamily="18" charset="0"/>
              </a:rPr>
              <a:t>d. Find the first and last addresses in subnet 32.</a:t>
            </a:r>
          </a:p>
          <a:p>
            <a:pPr algn="just">
              <a:defRPr/>
            </a:pPr>
            <a:r>
              <a:rPr lang="en-US" sz="2800" i="1" baseline="0" dirty="0">
                <a:latin typeface="Times New Roman" pitchFamily="18" charset="0"/>
              </a:rPr>
              <a:t>Design the </a:t>
            </a:r>
            <a:r>
              <a:rPr lang="en-US" sz="2800" i="1" baseline="0" dirty="0" err="1">
                <a:latin typeface="Times New Roman" pitchFamily="18" charset="0"/>
              </a:rPr>
              <a:t>subblocks</a:t>
            </a:r>
            <a:r>
              <a:rPr lang="en-US" sz="2800" i="1" baseline="0" dirty="0">
                <a:latin typeface="Times New Roman" pitchFamily="18" charset="0"/>
              </a:rPr>
              <a:t>.</a:t>
            </a:r>
          </a:p>
          <a:p>
            <a:pPr algn="just">
              <a:defRPr/>
            </a:pPr>
            <a:endParaRPr lang="en-US" sz="2800" i="1" baseline="0" dirty="0">
              <a:latin typeface="Times New Roman" pitchFamily="18" charset="0"/>
            </a:endParaRPr>
          </a:p>
        </p:txBody>
      </p:sp>
      <p:sp>
        <p:nvSpPr>
          <p:cNvPr id="100362" name="Text Box 10"/>
          <p:cNvSpPr txBox="1">
            <a:spLocks noChangeArrowheads="1"/>
          </p:cNvSpPr>
          <p:nvPr/>
        </p:nvSpPr>
        <p:spPr bwMode="auto">
          <a:xfrm>
            <a:off x="1143000" y="0"/>
            <a:ext cx="55292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Address Allocation – Problem 1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595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597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598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599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600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601" name="Rectangle 9"/>
          <p:cNvSpPr>
            <a:spLocks noChangeArrowheads="1"/>
          </p:cNvSpPr>
          <p:nvPr/>
        </p:nvSpPr>
        <p:spPr bwMode="auto">
          <a:xfrm>
            <a:off x="304800" y="609600"/>
            <a:ext cx="8686800" cy="310854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sz="2800" i="1" baseline="0" dirty="0">
                <a:latin typeface="Times New Roman" pitchFamily="18" charset="0"/>
              </a:rPr>
              <a:t>An organization is granted a block of addresses with the beginning address 14.24.74.0/24. The organization needs to have 3 </a:t>
            </a:r>
            <a:r>
              <a:rPr lang="en-US" sz="2800" i="1" baseline="0" dirty="0" err="1">
                <a:latin typeface="Times New Roman" pitchFamily="18" charset="0"/>
              </a:rPr>
              <a:t>subblocks</a:t>
            </a:r>
            <a:r>
              <a:rPr lang="en-US" sz="2800" i="1" baseline="0" dirty="0">
                <a:latin typeface="Times New Roman" pitchFamily="18" charset="0"/>
              </a:rPr>
              <a:t> of addresses to use in its three subnets: one </a:t>
            </a:r>
            <a:r>
              <a:rPr lang="en-US" sz="2800" i="1" baseline="0" dirty="0" err="1">
                <a:latin typeface="Times New Roman" pitchFamily="18" charset="0"/>
              </a:rPr>
              <a:t>subblock</a:t>
            </a:r>
            <a:r>
              <a:rPr lang="en-US" sz="2800" i="1" baseline="0" dirty="0">
                <a:latin typeface="Times New Roman" pitchFamily="18" charset="0"/>
              </a:rPr>
              <a:t> of 10 addresses, one </a:t>
            </a:r>
            <a:r>
              <a:rPr lang="en-US" sz="2800" i="1" baseline="0" dirty="0" err="1">
                <a:latin typeface="Times New Roman" pitchFamily="18" charset="0"/>
              </a:rPr>
              <a:t>subblock</a:t>
            </a:r>
            <a:r>
              <a:rPr lang="en-US" sz="2800" i="1" baseline="0" dirty="0">
                <a:latin typeface="Times New Roman" pitchFamily="18" charset="0"/>
              </a:rPr>
              <a:t> of 60 addresses, and one </a:t>
            </a:r>
            <a:r>
              <a:rPr lang="en-US" sz="2800" i="1" baseline="0" dirty="0" err="1">
                <a:latin typeface="Times New Roman" pitchFamily="18" charset="0"/>
              </a:rPr>
              <a:t>subblock</a:t>
            </a:r>
            <a:r>
              <a:rPr lang="en-US" sz="2800" i="1" baseline="0" dirty="0">
                <a:latin typeface="Times New Roman" pitchFamily="18" charset="0"/>
              </a:rPr>
              <a:t> of 120 addresses. Design the </a:t>
            </a:r>
            <a:r>
              <a:rPr lang="en-US" sz="2800" i="1" baseline="0" dirty="0" err="1">
                <a:latin typeface="Times New Roman" pitchFamily="18" charset="0"/>
              </a:rPr>
              <a:t>subblocks</a:t>
            </a:r>
            <a:r>
              <a:rPr lang="en-US" sz="2800" i="1" baseline="0" dirty="0">
                <a:latin typeface="Times New Roman" pitchFamily="18" charset="0"/>
              </a:rPr>
              <a:t>.</a:t>
            </a:r>
          </a:p>
          <a:p>
            <a:endParaRPr lang="en-US" sz="2800" i="1" baseline="0" dirty="0">
              <a:latin typeface="Times New Roman" pitchFamily="18" charset="0"/>
            </a:endParaRPr>
          </a:p>
        </p:txBody>
      </p:sp>
      <p:sp>
        <p:nvSpPr>
          <p:cNvPr id="110602" name="Text Box 10"/>
          <p:cNvSpPr txBox="1">
            <a:spLocks noChangeArrowheads="1"/>
          </p:cNvSpPr>
          <p:nvPr/>
        </p:nvSpPr>
        <p:spPr bwMode="auto">
          <a:xfrm>
            <a:off x="1143000" y="0"/>
            <a:ext cx="5461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Address Allocation - Problem 2</a:t>
            </a:r>
          </a:p>
        </p:txBody>
      </p:sp>
    </p:spTree>
    <p:extLst>
      <p:ext uri="{BB962C8B-B14F-4D97-AF65-F5344CB8AC3E}">
        <p14:creationId xmlns:p14="http://schemas.microsoft.com/office/powerpoint/2010/main" val="2973224695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02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2403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2404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2405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2406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2407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2408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02409" name="Rectangle 9"/>
          <p:cNvSpPr>
            <a:spLocks noChangeArrowheads="1"/>
          </p:cNvSpPr>
          <p:nvPr/>
        </p:nvSpPr>
        <p:spPr bwMode="auto">
          <a:xfrm>
            <a:off x="228600" y="838200"/>
            <a:ext cx="8686800" cy="52625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i="1" baseline="0">
                <a:latin typeface="Times New Roman" panose="02020603050405020304" pitchFamily="18" charset="0"/>
              </a:rPr>
              <a:t>An ISP is granted a block of addresses starting with 150.80.0.0/16. The ISP wants to distribute these blocks to 2600 customers as follows.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a. The first group has 200 medium-size businesses; each needs 16 addresses.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b. The second group has 400 small businesses; each needs 8 addresses.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c. The third group has 2000 households; each needs 4 addresses.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Design the subblocks and give the slash notation for each subblock. Find out how many addresses are still available after these allocations.</a:t>
            </a:r>
          </a:p>
        </p:txBody>
      </p:sp>
      <p:sp>
        <p:nvSpPr>
          <p:cNvPr id="102410" name="Text Box 10"/>
          <p:cNvSpPr txBox="1">
            <a:spLocks noChangeArrowheads="1"/>
          </p:cNvSpPr>
          <p:nvPr/>
        </p:nvSpPr>
        <p:spPr bwMode="auto">
          <a:xfrm>
            <a:off x="1143000" y="0"/>
            <a:ext cx="5461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Address Allocation - Problem 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ChangeArrowheads="1"/>
          </p:cNvSpPr>
          <p:nvPr/>
        </p:nvSpPr>
        <p:spPr bwMode="ltGray">
          <a:xfrm>
            <a:off x="366713" y="107950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595" name="Rectangle 3"/>
          <p:cNvSpPr>
            <a:spLocks noChangeArrowheads="1"/>
          </p:cNvSpPr>
          <p:nvPr/>
        </p:nvSpPr>
        <p:spPr bwMode="ltGray">
          <a:xfrm>
            <a:off x="749300" y="107950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596" name="Rectangle 4"/>
          <p:cNvSpPr>
            <a:spLocks noChangeArrowheads="1"/>
          </p:cNvSpPr>
          <p:nvPr/>
        </p:nvSpPr>
        <p:spPr bwMode="ltGray">
          <a:xfrm>
            <a:off x="490538" y="530225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597" name="Rectangle 5"/>
          <p:cNvSpPr>
            <a:spLocks noChangeArrowheads="1"/>
          </p:cNvSpPr>
          <p:nvPr/>
        </p:nvSpPr>
        <p:spPr bwMode="ltGray">
          <a:xfrm>
            <a:off x="860425" y="530225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598" name="Rectangle 6"/>
          <p:cNvSpPr>
            <a:spLocks noChangeArrowheads="1"/>
          </p:cNvSpPr>
          <p:nvPr/>
        </p:nvSpPr>
        <p:spPr bwMode="ltGray">
          <a:xfrm>
            <a:off x="76200" y="45720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599" name="Rectangle 7"/>
          <p:cNvSpPr>
            <a:spLocks noChangeArrowheads="1"/>
          </p:cNvSpPr>
          <p:nvPr/>
        </p:nvSpPr>
        <p:spPr bwMode="gray">
          <a:xfrm>
            <a:off x="711200" y="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600" name="Rectangle 8"/>
          <p:cNvSpPr>
            <a:spLocks noChangeArrowheads="1"/>
          </p:cNvSpPr>
          <p:nvPr/>
        </p:nvSpPr>
        <p:spPr bwMode="gray">
          <a:xfrm>
            <a:off x="442913" y="53340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endParaRPr kumimoji="1" lang="en-US" altLang="en-US" sz="2400" b="0" baseline="0">
              <a:latin typeface="Tahoma" panose="020B0604030504040204" pitchFamily="34" charset="0"/>
            </a:endParaRPr>
          </a:p>
        </p:txBody>
      </p:sp>
      <p:sp>
        <p:nvSpPr>
          <p:cNvPr id="110601" name="Rectangle 9"/>
          <p:cNvSpPr>
            <a:spLocks noChangeArrowheads="1"/>
          </p:cNvSpPr>
          <p:nvPr/>
        </p:nvSpPr>
        <p:spPr bwMode="auto">
          <a:xfrm>
            <a:off x="228600" y="838200"/>
            <a:ext cx="8686800" cy="52625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i="1" baseline="0">
                <a:latin typeface="Times New Roman" panose="02020603050405020304" pitchFamily="18" charset="0"/>
              </a:rPr>
              <a:t>An ISP is granted a block of addresses starting with 150.80.0.0/16. The ISP wants to distribute these blocks to 2600 customers as follows.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a. The first group has 200 medium-size businesses; each needs 128 addresses.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b. The second group has 400 small businesses; each needs 16 addresses.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c. The third group has 2000 households; each needs 4 addresses.</a:t>
            </a:r>
          </a:p>
          <a:p>
            <a:r>
              <a:rPr lang="en-US" altLang="en-US" sz="2800" i="1" baseline="0">
                <a:latin typeface="Times New Roman" panose="02020603050405020304" pitchFamily="18" charset="0"/>
              </a:rPr>
              <a:t>Design the subblocks and give the slash notation for each subblock. Find out how many addresses are still available after these allocations.</a:t>
            </a:r>
          </a:p>
        </p:txBody>
      </p:sp>
      <p:sp>
        <p:nvSpPr>
          <p:cNvPr id="110602" name="Text Box 10"/>
          <p:cNvSpPr txBox="1">
            <a:spLocks noChangeArrowheads="1"/>
          </p:cNvSpPr>
          <p:nvPr/>
        </p:nvSpPr>
        <p:spPr bwMode="auto">
          <a:xfrm>
            <a:off x="1143000" y="0"/>
            <a:ext cx="5461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 dirty="0">
                <a:solidFill>
                  <a:schemeClr val="hlink"/>
                </a:solidFill>
                <a:latin typeface="Times New Roman" panose="02020603050405020304" pitchFamily="18" charset="0"/>
              </a:rPr>
              <a:t>Address Allocation - Problem </a:t>
            </a:r>
            <a:r>
              <a:rPr lang="en-US" altLang="en-US" i="1" baseline="0" dirty="0" smtClean="0">
                <a:solidFill>
                  <a:schemeClr val="hlink"/>
                </a:solidFill>
                <a:latin typeface="Times New Roman" panose="02020603050405020304" pitchFamily="18" charset="0"/>
              </a:rPr>
              <a:t>4</a:t>
            </a:r>
            <a:endParaRPr lang="en-US" altLang="en-US" i="1" baseline="0" dirty="0">
              <a:solidFill>
                <a:schemeClr val="hlink"/>
              </a:solidFill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80626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239980" y="152400"/>
            <a:ext cx="72276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AGGREGATION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25" y="1671637"/>
            <a:ext cx="7923575" cy="396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82186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80626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239980" y="152400"/>
            <a:ext cx="722762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ADDRESSES AGGREGATION</a:t>
            </a:r>
          </a:p>
        </p:txBody>
      </p:sp>
      <p:pic>
        <p:nvPicPr>
          <p:cNvPr id="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01" y="1066800"/>
            <a:ext cx="4343400" cy="1295400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1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6800" y="1066800"/>
            <a:ext cx="3962400" cy="1253647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19400" y="2568714"/>
            <a:ext cx="4213023" cy="1160221"/>
          </a:xfrm>
          <a:prstGeom prst="rect">
            <a:avLst/>
          </a:prstGeom>
          <a:noFill/>
          <a:ln w="57150" cmpd="thickThin">
            <a:solidFill>
              <a:schemeClr val="folHlink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 bwMode="auto">
          <a:xfrm>
            <a:off x="7631380" y="2512197"/>
            <a:ext cx="1207820" cy="40308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Group2</a:t>
            </a:r>
            <a:endParaRPr kumimoji="0" lang="en-IN" sz="3200" b="1" i="0" u="none" strike="noStrike" cap="none" normalizeH="0" baseline="-18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9" name="Rectangle 8"/>
          <p:cNvSpPr/>
          <p:nvPr/>
        </p:nvSpPr>
        <p:spPr bwMode="auto">
          <a:xfrm>
            <a:off x="331840" y="2551563"/>
            <a:ext cx="1207820" cy="40308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Group1</a:t>
            </a:r>
            <a:endParaRPr kumimoji="0" lang="en-IN" sz="3200" b="1" i="0" u="none" strike="noStrike" cap="none" normalizeH="0" baseline="-18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ectangle 9"/>
          <p:cNvSpPr/>
          <p:nvPr/>
        </p:nvSpPr>
        <p:spPr bwMode="auto">
          <a:xfrm>
            <a:off x="1535380" y="3254514"/>
            <a:ext cx="1207820" cy="403086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32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Group3</a:t>
            </a:r>
            <a:endParaRPr kumimoji="0" lang="en-IN" sz="3200" b="1" i="0" u="none" strike="noStrike" cap="none" normalizeH="0" baseline="-18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/>
          <p:cNvSpPr/>
          <p:nvPr/>
        </p:nvSpPr>
        <p:spPr bwMode="auto">
          <a:xfrm>
            <a:off x="685800" y="3962400"/>
            <a:ext cx="7772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Group1: 190.100.0.0/18 to 190.100.63.255/18</a:t>
            </a:r>
            <a:endParaRPr kumimoji="0" lang="en-IN" sz="4000" b="1" i="0" u="none" strike="noStrike" cap="none" normalizeH="0" baseline="-18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4" name="Rectangle 13"/>
          <p:cNvSpPr/>
          <p:nvPr/>
        </p:nvSpPr>
        <p:spPr bwMode="auto">
          <a:xfrm>
            <a:off x="685800" y="4648200"/>
            <a:ext cx="7772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Group2: 190.100.64.0/18 to 190.100.127.255/18</a:t>
            </a:r>
            <a:endParaRPr kumimoji="0" lang="en-IN" sz="4000" b="1" i="0" u="none" strike="noStrike" cap="none" normalizeH="0" baseline="-18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5" name="Rectangle 14"/>
          <p:cNvSpPr/>
          <p:nvPr/>
        </p:nvSpPr>
        <p:spPr bwMode="auto">
          <a:xfrm>
            <a:off x="685800" y="5334000"/>
            <a:ext cx="7772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Group3: 190.100.128.0/19 to 190.100.159.255/19</a:t>
            </a:r>
            <a:endParaRPr kumimoji="0" lang="en-IN" sz="4000" b="1" i="0" u="none" strike="noStrike" cap="none" normalizeH="0" baseline="-18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/>
          <p:cNvSpPr/>
          <p:nvPr/>
        </p:nvSpPr>
        <p:spPr bwMode="auto">
          <a:xfrm>
            <a:off x="703006" y="6056671"/>
            <a:ext cx="7772400" cy="60960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4000" dirty="0">
                <a:latin typeface="Arial" charset="0"/>
              </a:rPr>
              <a:t>Final</a:t>
            </a:r>
            <a:r>
              <a:rPr kumimoji="0" lang="en-US" sz="4000" b="1" i="0" u="none" strike="noStrike" cap="none" normalizeH="0" baseline="-1800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: 190.100.0.0/16 to 190.100.255.255/16</a:t>
            </a:r>
            <a:endParaRPr kumimoji="0" lang="en-IN" sz="4000" b="1" i="0" u="none" strike="noStrike" cap="none" normalizeH="0" baseline="-18000" dirty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0163458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80626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597828" y="152400"/>
            <a:ext cx="54981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ADDRESSES</a:t>
            </a:r>
          </a:p>
        </p:txBody>
      </p:sp>
      <p:sp>
        <p:nvSpPr>
          <p:cNvPr id="75780" name="Rectangle 5"/>
          <p:cNvSpPr>
            <a:spLocks noChangeArrowheads="1"/>
          </p:cNvSpPr>
          <p:nvPr/>
        </p:nvSpPr>
        <p:spPr bwMode="auto">
          <a:xfrm>
            <a:off x="304800" y="888623"/>
            <a:ext cx="8534400" cy="58169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IN" i="1" baseline="0" dirty="0"/>
              <a:t>This-host Address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2800" baseline="0" dirty="0"/>
              <a:t>0.0.0.0</a:t>
            </a:r>
            <a:r>
              <a:rPr lang="en-US" sz="2800" b="0" baseline="0" dirty="0"/>
              <a:t>/</a:t>
            </a:r>
            <a:r>
              <a:rPr lang="en-US" sz="2800" baseline="0" dirty="0"/>
              <a:t>32 </a:t>
            </a:r>
            <a:r>
              <a:rPr lang="en-US" sz="2800" b="0" baseline="0" dirty="0"/>
              <a:t>(Only address in the block)</a:t>
            </a:r>
            <a:r>
              <a:rPr lang="en-US" sz="2800" baseline="0" dirty="0"/>
              <a:t> - </a:t>
            </a:r>
            <a:r>
              <a:rPr lang="en-US" sz="2800" b="0" baseline="0" dirty="0"/>
              <a:t>It is used when-ever a host needs to send an IP datagram but it does not know its own address to use as </a:t>
            </a:r>
            <a:r>
              <a:rPr lang="en-IN" sz="2800" b="0" baseline="0" dirty="0"/>
              <a:t>the source address.</a:t>
            </a:r>
            <a:endParaRPr lang="en-IN" sz="2800" i="1" baseline="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i="1" baseline="0" dirty="0"/>
              <a:t>Limited-broadcast Address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IN" sz="2800" baseline="0" dirty="0"/>
              <a:t>255.255.255.255</a:t>
            </a:r>
            <a:r>
              <a:rPr lang="en-IN" sz="2800" b="0" baseline="0" dirty="0"/>
              <a:t>/</a:t>
            </a:r>
            <a:r>
              <a:rPr lang="en-IN" sz="2800" baseline="0" dirty="0"/>
              <a:t>32 </a:t>
            </a:r>
            <a:r>
              <a:rPr lang="en-US" sz="2800" b="0" baseline="0" dirty="0"/>
              <a:t>(Only address in the block)</a:t>
            </a:r>
            <a:r>
              <a:rPr lang="en-US" sz="2800" baseline="0" dirty="0"/>
              <a:t> </a:t>
            </a:r>
            <a:r>
              <a:rPr lang="en-IN" sz="2800" baseline="0" dirty="0"/>
              <a:t>- </a:t>
            </a:r>
            <a:r>
              <a:rPr lang="en-US" sz="2800" b="0" baseline="0" dirty="0"/>
              <a:t>It is used whenever a router or a host needs to send a datagram to all devices in a network. The routers in the network, however, block the packet having this address as the destination; the packet cannot travel outside the network.</a:t>
            </a:r>
            <a:endParaRPr lang="en-IN" sz="2800" i="1" baseline="0" dirty="0"/>
          </a:p>
        </p:txBody>
      </p:sp>
    </p:spTree>
    <p:extLst>
      <p:ext uri="{BB962C8B-B14F-4D97-AF65-F5344CB8AC3E}">
        <p14:creationId xmlns:p14="http://schemas.microsoft.com/office/powerpoint/2010/main" val="154215807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>
            <a:spLocks noChangeArrowheads="1"/>
          </p:cNvSpPr>
          <p:nvPr/>
        </p:nvSpPr>
        <p:spPr bwMode="auto">
          <a:xfrm>
            <a:off x="0" y="0"/>
            <a:ext cx="9144000" cy="990600"/>
          </a:xfrm>
          <a:prstGeom prst="rect">
            <a:avLst/>
          </a:prstGeom>
          <a:solidFill>
            <a:srgbClr val="33CCFF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 baseline="0">
              <a:effectLst>
                <a:outerShdw blurRad="38100" dist="38100" dir="2700000" algn="tl">
                  <a:srgbClr val="FFFFFF"/>
                </a:outerShdw>
              </a:effectLst>
              <a:latin typeface="Times New Roman" pitchFamily="18" charset="0"/>
            </a:endParaRPr>
          </a:p>
        </p:txBody>
      </p:sp>
      <p:sp>
        <p:nvSpPr>
          <p:cNvPr id="75779" name="Text Box 3"/>
          <p:cNvSpPr txBox="1">
            <a:spLocks noChangeArrowheads="1"/>
          </p:cNvSpPr>
          <p:nvPr/>
        </p:nvSpPr>
        <p:spPr bwMode="auto">
          <a:xfrm>
            <a:off x="597828" y="152400"/>
            <a:ext cx="5498172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en-US" altLang="en-US" sz="4000" baseline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SPECIAL ADDRESSES</a:t>
            </a:r>
          </a:p>
        </p:txBody>
      </p:sp>
      <p:sp>
        <p:nvSpPr>
          <p:cNvPr id="75780" name="Rectangle 5"/>
          <p:cNvSpPr>
            <a:spLocks noChangeArrowheads="1"/>
          </p:cNvSpPr>
          <p:nvPr/>
        </p:nvSpPr>
        <p:spPr bwMode="auto">
          <a:xfrm>
            <a:off x="304800" y="1058644"/>
            <a:ext cx="8534400" cy="55707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buFont typeface="Wingdings" panose="05000000000000000000" pitchFamily="2" charset="2"/>
              <a:buChar char="ü"/>
            </a:pPr>
            <a:r>
              <a:rPr lang="en-IN" i="1" baseline="0" dirty="0"/>
              <a:t>Loopback Address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IN" sz="2800" b="0" baseline="0" dirty="0"/>
              <a:t>The block </a:t>
            </a:r>
            <a:r>
              <a:rPr lang="en-IN" sz="2800" baseline="0" dirty="0"/>
              <a:t>127.0.0.0</a:t>
            </a:r>
            <a:r>
              <a:rPr lang="en-IN" sz="2800" b="0" baseline="0" dirty="0"/>
              <a:t>/</a:t>
            </a:r>
            <a:r>
              <a:rPr lang="en-IN" sz="2800" baseline="0" dirty="0"/>
              <a:t>8 - </a:t>
            </a:r>
            <a:r>
              <a:rPr lang="en-US" sz="2800" b="0" baseline="0" dirty="0"/>
              <a:t>A packet with one of the addresses in this block as the destination address never leaves the host; it will remain in </a:t>
            </a:r>
            <a:r>
              <a:rPr lang="en-IN" sz="2800" b="0" baseline="0" dirty="0"/>
              <a:t>the host.</a:t>
            </a:r>
            <a:endParaRPr lang="en-IN" sz="2800" i="1" baseline="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i="1" baseline="0" dirty="0"/>
              <a:t>Private Addresses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2800" b="0" baseline="0" dirty="0"/>
              <a:t>Four blocks are assigned as private addresses: </a:t>
            </a:r>
            <a:r>
              <a:rPr lang="en-US" sz="2800" baseline="0" dirty="0"/>
              <a:t>10.0.0.0/8</a:t>
            </a:r>
            <a:r>
              <a:rPr lang="en-US" sz="2800" b="0" baseline="0" dirty="0"/>
              <a:t>, </a:t>
            </a:r>
            <a:r>
              <a:rPr lang="en-US" sz="2800" baseline="0" dirty="0"/>
              <a:t>172.16.0.0/12</a:t>
            </a:r>
            <a:r>
              <a:rPr lang="en-US" sz="2800" b="0" baseline="0" dirty="0"/>
              <a:t>, </a:t>
            </a:r>
            <a:r>
              <a:rPr lang="en-US" sz="2800" baseline="0" dirty="0"/>
              <a:t>192.168.0.0/16</a:t>
            </a:r>
            <a:r>
              <a:rPr lang="en-US" sz="2800" b="0" baseline="0" dirty="0"/>
              <a:t>, </a:t>
            </a:r>
            <a:r>
              <a:rPr lang="en-IN" sz="2800" b="0" baseline="0" dirty="0"/>
              <a:t>and </a:t>
            </a:r>
            <a:r>
              <a:rPr lang="en-IN" sz="2800" baseline="0" dirty="0"/>
              <a:t>169.254.0.0/16</a:t>
            </a:r>
            <a:r>
              <a:rPr lang="en-IN" sz="2800" b="0" baseline="0" dirty="0"/>
              <a:t>.</a:t>
            </a:r>
            <a:endParaRPr lang="en-IN" sz="2800" i="1" baseline="0" dirty="0"/>
          </a:p>
          <a:p>
            <a:pPr algn="just">
              <a:buFont typeface="Wingdings" panose="05000000000000000000" pitchFamily="2" charset="2"/>
              <a:buChar char="ü"/>
            </a:pPr>
            <a:r>
              <a:rPr lang="en-IN" i="1" baseline="0" dirty="0"/>
              <a:t>Multicast Addresses</a:t>
            </a:r>
          </a:p>
          <a:p>
            <a:pPr lvl="2" algn="just">
              <a:buFont typeface="Wingdings" panose="05000000000000000000" pitchFamily="2" charset="2"/>
              <a:buChar char="ü"/>
            </a:pPr>
            <a:r>
              <a:rPr lang="en-US" sz="2800" b="0" baseline="0" dirty="0"/>
              <a:t>The block </a:t>
            </a:r>
            <a:r>
              <a:rPr lang="en-US" sz="2800" baseline="0" dirty="0"/>
              <a:t>224.0.0.0/4 </a:t>
            </a:r>
            <a:r>
              <a:rPr lang="en-US" sz="2800" b="0" baseline="0" dirty="0"/>
              <a:t>is reserved for multicast addresses</a:t>
            </a:r>
            <a:endParaRPr lang="en-US" altLang="en-US" sz="2800" b="0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6270038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Text Box 2"/>
          <p:cNvSpPr txBox="1">
            <a:spLocks noChangeArrowheads="1"/>
          </p:cNvSpPr>
          <p:nvPr/>
        </p:nvSpPr>
        <p:spPr bwMode="auto">
          <a:xfrm>
            <a:off x="1504950" y="2057400"/>
            <a:ext cx="47164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i="1" baseline="0">
                <a:latin typeface="Times New Roman" panose="02020603050405020304" pitchFamily="18" charset="0"/>
              </a:rPr>
              <a:t>Addresses for private networks</a:t>
            </a:r>
          </a:p>
        </p:txBody>
      </p:sp>
      <p:pic>
        <p:nvPicPr>
          <p:cNvPr id="11264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54138" y="2590800"/>
            <a:ext cx="6434137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44" name="Text Box 10"/>
          <p:cNvSpPr txBox="1">
            <a:spLocks noChangeArrowheads="1"/>
          </p:cNvSpPr>
          <p:nvPr/>
        </p:nvSpPr>
        <p:spPr bwMode="auto">
          <a:xfrm>
            <a:off x="1143000" y="787400"/>
            <a:ext cx="51276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i="1" baseline="0">
                <a:solidFill>
                  <a:schemeClr val="hlink"/>
                </a:solidFill>
                <a:latin typeface="Times New Roman" panose="02020603050405020304" pitchFamily="18" charset="0"/>
              </a:rPr>
              <a:t>Network Address Translation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691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4692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3284538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i="1" baseline="0">
                <a:latin typeface="Times New Roman" panose="02020603050405020304" pitchFamily="18" charset="0"/>
              </a:rPr>
              <a:t>NAT implementation</a:t>
            </a:r>
          </a:p>
        </p:txBody>
      </p:sp>
      <p:sp>
        <p:nvSpPr>
          <p:cNvPr id="114693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000" y="1873250"/>
            <a:ext cx="8688400" cy="307975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6739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31051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i="1" baseline="0">
                <a:latin typeface="Times New Roman" panose="02020603050405020304" pitchFamily="18" charset="0"/>
              </a:rPr>
              <a:t>Addresses in a NAT</a:t>
            </a:r>
          </a:p>
        </p:txBody>
      </p:sp>
      <p:sp>
        <p:nvSpPr>
          <p:cNvPr id="116741" name="Line 5"/>
          <p:cNvSpPr>
            <a:spLocks noChangeShapeType="1"/>
          </p:cNvSpPr>
          <p:nvPr/>
        </p:nvSpPr>
        <p:spPr bwMode="auto">
          <a:xfrm>
            <a:off x="152400" y="6248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465" y="1833716"/>
            <a:ext cx="8640575" cy="2814484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Line 2"/>
          <p:cNvSpPr>
            <a:spLocks noChangeShapeType="1"/>
          </p:cNvSpPr>
          <p:nvPr/>
        </p:nvSpPr>
        <p:spPr bwMode="auto">
          <a:xfrm>
            <a:off x="152400" y="1524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8787" name="Line 3"/>
          <p:cNvSpPr>
            <a:spLocks noChangeShapeType="1"/>
          </p:cNvSpPr>
          <p:nvPr/>
        </p:nvSpPr>
        <p:spPr bwMode="auto">
          <a:xfrm>
            <a:off x="152400" y="990600"/>
            <a:ext cx="8763000" cy="0"/>
          </a:xfrm>
          <a:prstGeom prst="line">
            <a:avLst/>
          </a:prstGeom>
          <a:noFill/>
          <a:ln w="1905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sp>
        <p:nvSpPr>
          <p:cNvPr id="118788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7157729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i="1" baseline="0" dirty="0">
                <a:latin typeface="Times New Roman" panose="02020603050405020304" pitchFamily="18" charset="0"/>
              </a:rPr>
              <a:t>NAT address translation Using One IP Address</a:t>
            </a:r>
          </a:p>
        </p:txBody>
      </p:sp>
      <p:sp>
        <p:nvSpPr>
          <p:cNvPr id="118789" name="Line 5"/>
          <p:cNvSpPr>
            <a:spLocks noChangeShapeType="1"/>
          </p:cNvSpPr>
          <p:nvPr/>
        </p:nvSpPr>
        <p:spPr bwMode="auto">
          <a:xfrm>
            <a:off x="152400" y="6324600"/>
            <a:ext cx="8763000" cy="0"/>
          </a:xfrm>
          <a:prstGeom prst="line">
            <a:avLst/>
          </a:prstGeom>
          <a:noFill/>
          <a:ln w="76200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372" y="1145738"/>
            <a:ext cx="8517828" cy="4950262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4" name="Text Box 2"/>
          <p:cNvSpPr txBox="1">
            <a:spLocks noChangeArrowheads="1"/>
          </p:cNvSpPr>
          <p:nvPr/>
        </p:nvSpPr>
        <p:spPr bwMode="auto">
          <a:xfrm>
            <a:off x="990600" y="2895600"/>
            <a:ext cx="7181838" cy="9541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r>
              <a:rPr lang="en-US" altLang="en-US" sz="2800" i="1" baseline="0" dirty="0">
                <a:latin typeface="Times New Roman" panose="02020603050405020304" pitchFamily="18" charset="0"/>
              </a:rPr>
              <a:t>Using Both IP Addresses and Port </a:t>
            </a:r>
            <a:r>
              <a:rPr lang="en-US" altLang="en-US" sz="2800" i="1" baseline="0" dirty="0" smtClean="0">
                <a:latin typeface="Times New Roman" panose="02020603050405020304" pitchFamily="18" charset="0"/>
              </a:rPr>
              <a:t>Addresses - </a:t>
            </a:r>
          </a:p>
          <a:p>
            <a:r>
              <a:rPr lang="en-US" altLang="en-US" sz="2800" i="1" baseline="0" dirty="0" smtClean="0">
                <a:latin typeface="Times New Roman" panose="02020603050405020304" pitchFamily="18" charset="0"/>
              </a:rPr>
              <a:t>Five-column 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translation table</a:t>
            </a:r>
          </a:p>
        </p:txBody>
      </p:sp>
      <p:pic>
        <p:nvPicPr>
          <p:cNvPr id="120835" name="Picture 5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3886200"/>
            <a:ext cx="7659687" cy="2366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 Box 4"/>
          <p:cNvSpPr txBox="1">
            <a:spLocks noChangeArrowheads="1"/>
          </p:cNvSpPr>
          <p:nvPr/>
        </p:nvSpPr>
        <p:spPr bwMode="auto">
          <a:xfrm>
            <a:off x="304800" y="381000"/>
            <a:ext cx="8398518" cy="18158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3200" b="1" baseline="-18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457200" indent="-457200">
              <a:buFont typeface="Wingdings" panose="05000000000000000000" pitchFamily="2" charset="2"/>
              <a:buChar char="ü"/>
            </a:pPr>
            <a:r>
              <a:rPr lang="en-US" altLang="en-US" sz="2800" i="1" baseline="0" dirty="0">
                <a:latin typeface="Times New Roman" panose="02020603050405020304" pitchFamily="18" charset="0"/>
              </a:rPr>
              <a:t>NAT address translation Using </a:t>
            </a:r>
            <a:endParaRPr lang="en-US" altLang="en-US" sz="2800" i="1" baseline="0" dirty="0" smtClean="0">
              <a:latin typeface="Times New Roman" panose="02020603050405020304" pitchFamily="18" charset="0"/>
            </a:endParaRPr>
          </a:p>
          <a:p>
            <a:pPr marL="1600200" lvl="2" indent="-457200">
              <a:buFont typeface="Wingdings" panose="05000000000000000000" pitchFamily="2" charset="2"/>
              <a:buChar char="ü"/>
            </a:pPr>
            <a:r>
              <a:rPr lang="en-US" altLang="en-US" sz="2800" i="1" baseline="0" dirty="0" smtClean="0">
                <a:latin typeface="Times New Roman" panose="02020603050405020304" pitchFamily="18" charset="0"/>
              </a:rPr>
              <a:t>One </a:t>
            </a:r>
            <a:r>
              <a:rPr lang="en-US" altLang="en-US" sz="2800" i="1" baseline="0" dirty="0">
                <a:latin typeface="Times New Roman" panose="02020603050405020304" pitchFamily="18" charset="0"/>
              </a:rPr>
              <a:t>IP </a:t>
            </a:r>
            <a:r>
              <a:rPr lang="en-US" altLang="en-US" sz="2800" i="1" baseline="0" dirty="0" smtClean="0">
                <a:latin typeface="Times New Roman" panose="02020603050405020304" pitchFamily="18" charset="0"/>
              </a:rPr>
              <a:t>Address</a:t>
            </a:r>
          </a:p>
          <a:p>
            <a:pPr marL="1600200" lvl="2" indent="-457200">
              <a:buFont typeface="Wingdings" panose="05000000000000000000" pitchFamily="2" charset="2"/>
              <a:buChar char="ü"/>
            </a:pPr>
            <a:r>
              <a:rPr lang="en-US" altLang="en-US" sz="2800" i="1" baseline="0" dirty="0">
                <a:latin typeface="Times New Roman" panose="02020603050405020304" pitchFamily="18" charset="0"/>
              </a:rPr>
              <a:t>Using a Pool of IP </a:t>
            </a:r>
            <a:r>
              <a:rPr lang="en-US" altLang="en-US" sz="2800" i="1" baseline="0" dirty="0" smtClean="0">
                <a:latin typeface="Times New Roman" panose="02020603050405020304" pitchFamily="18" charset="0"/>
              </a:rPr>
              <a:t>Addresses</a:t>
            </a:r>
          </a:p>
          <a:p>
            <a:pPr marL="1600200" lvl="2" indent="-457200">
              <a:buFont typeface="Wingdings" panose="05000000000000000000" pitchFamily="2" charset="2"/>
              <a:buChar char="ü"/>
            </a:pPr>
            <a:r>
              <a:rPr lang="en-US" altLang="en-US" sz="2800" i="1" baseline="0" dirty="0">
                <a:latin typeface="Times New Roman" panose="02020603050405020304" pitchFamily="18" charset="0"/>
              </a:rPr>
              <a:t>Using Both IP Addresses and Port Addresses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-18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3200" b="1" i="0" u="none" strike="noStrike" cap="none" normalizeH="0" baseline="-1800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9637</TotalTime>
  <Words>2686</Words>
  <Application>Microsoft Office PowerPoint</Application>
  <PresentationFormat>On-screen Show (4:3)</PresentationFormat>
  <Paragraphs>416</Paragraphs>
  <Slides>73</Slides>
  <Notes>55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73</vt:i4>
      </vt:variant>
    </vt:vector>
  </HeadingPairs>
  <TitlesOfParts>
    <vt:vector size="84" baseType="lpstr">
      <vt:lpstr>Arial</vt:lpstr>
      <vt:lpstr>굴림</vt:lpstr>
      <vt:lpstr>McGrawHill-Italic</vt:lpstr>
      <vt:lpstr>Symbol</vt:lpstr>
      <vt:lpstr>Tahoma</vt:lpstr>
      <vt:lpstr>Times</vt:lpstr>
      <vt:lpstr>Times New Roman</vt:lpstr>
      <vt:lpstr>Times-Bold</vt:lpstr>
      <vt:lpstr>Wingdings</vt:lpstr>
      <vt:lpstr>Blends</vt:lpstr>
      <vt:lpstr>Bitmap Image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Valued Gateway Client</dc:creator>
  <cp:lastModifiedBy>Admin</cp:lastModifiedBy>
  <cp:revision>334</cp:revision>
  <dcterms:created xsi:type="dcterms:W3CDTF">2000-01-15T04:50:39Z</dcterms:created>
  <dcterms:modified xsi:type="dcterms:W3CDTF">2025-11-05T05:33:46Z</dcterms:modified>
</cp:coreProperties>
</file>