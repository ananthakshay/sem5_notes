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26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21" r:id="rId66"/>
    <p:sldId id="322" r:id="rId67"/>
    <p:sldId id="323" r:id="rId68"/>
    <p:sldId id="324" r:id="rId69"/>
    <p:sldId id="325" r:id="rId7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3289" y="13207"/>
            <a:ext cx="526542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196" y="1229105"/>
            <a:ext cx="10817606" cy="3268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0815" y="196088"/>
            <a:ext cx="40811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Carlito"/>
                <a:cs typeface="Carlito"/>
              </a:rPr>
              <a:t>ENERGY</a:t>
            </a:r>
            <a:r>
              <a:rPr spc="-75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7283195" y="2958096"/>
            <a:ext cx="3387852" cy="3607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15439" y="3660647"/>
            <a:ext cx="3884676" cy="2575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934" y="450850"/>
            <a:ext cx="15748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latin typeface="Carlito"/>
                <a:cs typeface="Carlito"/>
              </a:rPr>
              <a:t>Energy</a:t>
            </a:r>
          </a:p>
        </p:txBody>
      </p:sp>
      <p:sp>
        <p:nvSpPr>
          <p:cNvPr id="3" name="object 3"/>
          <p:cNvSpPr/>
          <p:nvPr/>
        </p:nvSpPr>
        <p:spPr>
          <a:xfrm>
            <a:off x="8270747" y="4163567"/>
            <a:ext cx="3817620" cy="2540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035" y="1778330"/>
            <a:ext cx="10828655" cy="38150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spc="-10" dirty="0">
                <a:latin typeface="Times New Roman"/>
                <a:cs typeface="Times New Roman"/>
              </a:rPr>
              <a:t>the capacity </a:t>
            </a:r>
            <a:r>
              <a:rPr sz="2800" spc="-5" dirty="0">
                <a:latin typeface="Times New Roman"/>
                <a:cs typeface="Times New Roman"/>
              </a:rPr>
              <a:t>of a </a:t>
            </a:r>
            <a:r>
              <a:rPr sz="2800" spc="-10" dirty="0">
                <a:latin typeface="Times New Roman"/>
                <a:cs typeface="Times New Roman"/>
              </a:rPr>
              <a:t>physical system to </a:t>
            </a:r>
            <a:r>
              <a:rPr sz="2800" spc="-5" dirty="0">
                <a:latin typeface="Times New Roman"/>
                <a:cs typeface="Times New Roman"/>
              </a:rPr>
              <a:t>perform </a:t>
            </a:r>
            <a:r>
              <a:rPr sz="2800" dirty="0">
                <a:latin typeface="Times New Roman"/>
                <a:cs typeface="Times New Roman"/>
              </a:rPr>
              <a:t>work.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10" dirty="0">
                <a:latin typeface="Times New Roman"/>
                <a:cs typeface="Times New Roman"/>
              </a:rPr>
              <a:t>exists  in several </a:t>
            </a:r>
            <a:r>
              <a:rPr sz="2800" spc="-5" dirty="0">
                <a:latin typeface="Times New Roman"/>
                <a:cs typeface="Times New Roman"/>
              </a:rPr>
              <a:t>forms </a:t>
            </a:r>
            <a:r>
              <a:rPr sz="2800" spc="-10" dirty="0">
                <a:latin typeface="Times New Roman"/>
                <a:cs typeface="Times New Roman"/>
              </a:rPr>
              <a:t>such </a:t>
            </a:r>
            <a:r>
              <a:rPr sz="2800" spc="-15" dirty="0">
                <a:latin typeface="Times New Roman"/>
                <a:cs typeface="Times New Roman"/>
              </a:rPr>
              <a:t>as </a:t>
            </a:r>
            <a:r>
              <a:rPr sz="2800" spc="-10" dirty="0">
                <a:latin typeface="Times New Roman"/>
                <a:cs typeface="Times New Roman"/>
              </a:rPr>
              <a:t>heat, kinetic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10" dirty="0">
                <a:latin typeface="Times New Roman"/>
                <a:cs typeface="Times New Roman"/>
              </a:rPr>
              <a:t>mechanical </a:t>
            </a:r>
            <a:r>
              <a:rPr sz="2800" spc="-40" dirty="0">
                <a:latin typeface="Times New Roman"/>
                <a:cs typeface="Times New Roman"/>
              </a:rPr>
              <a:t>energy, </a:t>
            </a:r>
            <a:r>
              <a:rPr sz="2800" spc="-5" dirty="0">
                <a:latin typeface="Times New Roman"/>
                <a:cs typeface="Times New Roman"/>
              </a:rPr>
              <a:t>light, </a:t>
            </a:r>
            <a:r>
              <a:rPr sz="2800" spc="-10" dirty="0">
                <a:latin typeface="Times New Roman"/>
                <a:cs typeface="Times New Roman"/>
              </a:rPr>
              <a:t>potential  </a:t>
            </a:r>
            <a:r>
              <a:rPr sz="2800" spc="-35" dirty="0">
                <a:latin typeface="Times New Roman"/>
                <a:cs typeface="Times New Roman"/>
              </a:rPr>
              <a:t>energy, </a:t>
            </a:r>
            <a:r>
              <a:rPr sz="2800" spc="-10" dirty="0">
                <a:latin typeface="Times New Roman"/>
                <a:cs typeface="Times New Roman"/>
              </a:rPr>
              <a:t>electrical, or </a:t>
            </a:r>
            <a:r>
              <a:rPr sz="2800" spc="-5" dirty="0">
                <a:latin typeface="Times New Roman"/>
                <a:cs typeface="Times New Roman"/>
              </a:rPr>
              <a:t>other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forms.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>
              <a:latin typeface="Times New Roman"/>
              <a:cs typeface="Times New Roman"/>
            </a:endParaRPr>
          </a:p>
          <a:p>
            <a:pPr marL="42545" algn="just">
              <a:lnSpc>
                <a:spcPct val="100000"/>
              </a:lnSpc>
            </a:pPr>
            <a:r>
              <a:rPr sz="2800" b="1" spc="-15" dirty="0">
                <a:latin typeface="Times New Roman"/>
                <a:cs typeface="Times New Roman"/>
              </a:rPr>
              <a:t>Sources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Energy: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386080" indent="-343535">
              <a:lnSpc>
                <a:spcPct val="100000"/>
              </a:lnSpc>
              <a:buAutoNum type="arabicPeriod"/>
              <a:tabLst>
                <a:tab pos="386080" algn="l"/>
              </a:tabLst>
            </a:pPr>
            <a:r>
              <a:rPr sz="2800" dirty="0">
                <a:latin typeface="Times New Roman"/>
                <a:cs typeface="Times New Roman"/>
              </a:rPr>
              <a:t>Conventional/Non </a:t>
            </a:r>
            <a:r>
              <a:rPr sz="2800" spc="-5" dirty="0">
                <a:latin typeface="Times New Roman"/>
                <a:cs typeface="Times New Roman"/>
              </a:rPr>
              <a:t>Renewable </a:t>
            </a:r>
            <a:r>
              <a:rPr sz="2800" spc="-10" dirty="0">
                <a:latin typeface="Times New Roman"/>
                <a:cs typeface="Times New Roman"/>
              </a:rPr>
              <a:t>Energy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Sources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2900">
              <a:latin typeface="Times New Roman"/>
              <a:cs typeface="Times New Roman"/>
            </a:endParaRPr>
          </a:p>
          <a:p>
            <a:pPr marL="386080" indent="-343535">
              <a:lnSpc>
                <a:spcPct val="100000"/>
              </a:lnSpc>
              <a:buAutoNum type="arabicPeriod"/>
              <a:tabLst>
                <a:tab pos="386080" algn="l"/>
              </a:tabLst>
            </a:pPr>
            <a:r>
              <a:rPr sz="2800" spc="-5" dirty="0">
                <a:latin typeface="Times New Roman"/>
                <a:cs typeface="Times New Roman"/>
              </a:rPr>
              <a:t>Renewable </a:t>
            </a:r>
            <a:r>
              <a:rPr sz="2800" spc="-10" dirty="0">
                <a:latin typeface="Times New Roman"/>
                <a:cs typeface="Times New Roman"/>
              </a:rPr>
              <a:t>Energy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Sources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02992" y="649098"/>
            <a:ext cx="9094081" cy="5952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0535" y="685800"/>
            <a:ext cx="10669764" cy="41237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1272" y="450850"/>
            <a:ext cx="6580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latin typeface="Carlito"/>
                <a:cs typeface="Carlito"/>
              </a:rPr>
              <a:t>Conventional Energy</a:t>
            </a:r>
            <a:r>
              <a:rPr spc="-75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035" y="1611629"/>
            <a:ext cx="10825480" cy="4331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The term "Conventional" </a:t>
            </a:r>
            <a:r>
              <a:rPr sz="2800" spc="-15" dirty="0">
                <a:latin typeface="Times New Roman"/>
                <a:cs typeface="Times New Roman"/>
              </a:rPr>
              <a:t>means </a:t>
            </a:r>
            <a:r>
              <a:rPr sz="2800" spc="-5" dirty="0">
                <a:latin typeface="Times New Roman"/>
                <a:cs typeface="Times New Roman"/>
              </a:rPr>
              <a:t>"not unusual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extreme </a:t>
            </a:r>
            <a:r>
              <a:rPr sz="2800" spc="10" dirty="0">
                <a:latin typeface="Times New Roman"/>
                <a:cs typeface="Times New Roman"/>
              </a:rPr>
              <a:t>or</a:t>
            </a:r>
            <a:r>
              <a:rPr sz="2800" spc="72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ordinary."  </a:t>
            </a:r>
            <a:r>
              <a:rPr sz="2800" spc="-10" dirty="0">
                <a:latin typeface="Times New Roman"/>
                <a:cs typeface="Times New Roman"/>
              </a:rPr>
              <a:t>Conventional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10" dirty="0">
                <a:latin typeface="Times New Roman"/>
                <a:cs typeface="Times New Roman"/>
              </a:rPr>
              <a:t>sources </a:t>
            </a:r>
            <a:r>
              <a:rPr sz="2800" spc="-5" dirty="0">
                <a:latin typeface="Times New Roman"/>
                <a:cs typeface="Times New Roman"/>
              </a:rPr>
              <a:t>are the traditional </a:t>
            </a:r>
            <a:r>
              <a:rPr sz="2800" spc="-10" dirty="0">
                <a:latin typeface="Times New Roman"/>
                <a:cs typeface="Times New Roman"/>
              </a:rPr>
              <a:t>sources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10" dirty="0">
                <a:latin typeface="Times New Roman"/>
                <a:cs typeface="Times New Roman"/>
              </a:rPr>
              <a:t>like </a:t>
            </a:r>
            <a:r>
              <a:rPr sz="2800" spc="-15" dirty="0">
                <a:latin typeface="Times New Roman"/>
                <a:cs typeface="Times New Roman"/>
              </a:rPr>
              <a:t>coal  </a:t>
            </a:r>
            <a:r>
              <a:rPr sz="2800" spc="-5" dirty="0">
                <a:latin typeface="Times New Roman"/>
                <a:cs typeface="Times New Roman"/>
              </a:rPr>
              <a:t>and petroleum. Conventional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sources are </a:t>
            </a:r>
            <a:r>
              <a:rPr sz="2800" dirty="0">
                <a:latin typeface="Times New Roman"/>
                <a:cs typeface="Times New Roman"/>
              </a:rPr>
              <a:t>finite. </a:t>
            </a:r>
            <a:r>
              <a:rPr sz="2800" spc="-15" dirty="0">
                <a:latin typeface="Times New Roman"/>
                <a:cs typeface="Times New Roman"/>
              </a:rPr>
              <a:t>They </a:t>
            </a:r>
            <a:r>
              <a:rPr sz="2800" spc="-10" dirty="0">
                <a:latin typeface="Times New Roman"/>
                <a:cs typeface="Times New Roman"/>
              </a:rPr>
              <a:t>will not </a:t>
            </a:r>
            <a:r>
              <a:rPr sz="2800" spc="-5" dirty="0">
                <a:latin typeface="Times New Roman"/>
                <a:cs typeface="Times New Roman"/>
              </a:rPr>
              <a:t>last  </a:t>
            </a:r>
            <a:r>
              <a:rPr sz="2800" spc="-20" dirty="0">
                <a:latin typeface="Times New Roman"/>
                <a:cs typeface="Times New Roman"/>
              </a:rPr>
              <a:t>forever.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latin typeface="Times New Roman"/>
                <a:cs typeface="Times New Roman"/>
              </a:rPr>
              <a:t>Natural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Gas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Natural </a:t>
            </a:r>
            <a:r>
              <a:rPr sz="2800" spc="-10" dirty="0">
                <a:latin typeface="Times New Roman"/>
                <a:cs typeface="Times New Roman"/>
              </a:rPr>
              <a:t>gas </a:t>
            </a:r>
            <a:r>
              <a:rPr sz="2800" spc="-15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its </a:t>
            </a:r>
            <a:r>
              <a:rPr sz="2800" spc="-5" dirty="0">
                <a:latin typeface="Times New Roman"/>
                <a:cs typeface="Times New Roman"/>
              </a:rPr>
              <a:t>purest form </a:t>
            </a:r>
            <a:r>
              <a:rPr sz="2800" spc="-1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pure </a:t>
            </a:r>
            <a:r>
              <a:rPr sz="2800" spc="-10" dirty="0">
                <a:latin typeface="Times New Roman"/>
                <a:cs typeface="Times New Roman"/>
              </a:rPr>
              <a:t>methane </a:t>
            </a:r>
            <a:r>
              <a:rPr sz="2800" dirty="0">
                <a:latin typeface="Times New Roman"/>
                <a:cs typeface="Times New Roman"/>
              </a:rPr>
              <a:t>but </a:t>
            </a:r>
            <a:r>
              <a:rPr sz="2800" spc="-5" dirty="0">
                <a:latin typeface="Times New Roman"/>
                <a:cs typeface="Times New Roman"/>
              </a:rPr>
              <a:t>before it </a:t>
            </a:r>
            <a:r>
              <a:rPr sz="2800" spc="-10" dirty="0">
                <a:latin typeface="Times New Roman"/>
                <a:cs typeface="Times New Roman"/>
              </a:rPr>
              <a:t>is refined, </a:t>
            </a:r>
            <a:r>
              <a:rPr sz="2800" spc="-15" dirty="0">
                <a:latin typeface="Times New Roman"/>
                <a:cs typeface="Times New Roman"/>
              </a:rPr>
              <a:t>it  </a:t>
            </a:r>
            <a:r>
              <a:rPr sz="2800" spc="-10" dirty="0">
                <a:latin typeface="Times New Roman"/>
                <a:cs typeface="Times New Roman"/>
              </a:rPr>
              <a:t>also contains varying amount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ethane, </a:t>
            </a:r>
            <a:r>
              <a:rPr sz="2800" spc="-5" dirty="0">
                <a:latin typeface="Times New Roman"/>
                <a:cs typeface="Times New Roman"/>
              </a:rPr>
              <a:t>propane, butane </a:t>
            </a:r>
            <a:r>
              <a:rPr sz="2800" spc="-10" dirty="0">
                <a:latin typeface="Times New Roman"/>
                <a:cs typeface="Times New Roman"/>
              </a:rPr>
              <a:t>and carbon  dioxide. </a:t>
            </a:r>
            <a:r>
              <a:rPr sz="2800" spc="-5" dirty="0">
                <a:latin typeface="Times New Roman"/>
                <a:cs typeface="Times New Roman"/>
              </a:rPr>
              <a:t>When refined, </a:t>
            </a:r>
            <a:r>
              <a:rPr sz="2800" spc="-10" dirty="0">
                <a:latin typeface="Times New Roman"/>
                <a:cs typeface="Times New Roman"/>
              </a:rPr>
              <a:t>it is colorless and odorless </a:t>
            </a:r>
            <a:r>
              <a:rPr sz="2800" spc="-5" dirty="0">
                <a:latin typeface="Times New Roman"/>
                <a:cs typeface="Times New Roman"/>
              </a:rPr>
              <a:t>but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spc="-5" dirty="0">
                <a:latin typeface="Times New Roman"/>
                <a:cs typeface="Times New Roman"/>
              </a:rPr>
              <a:t>be burned </a:t>
            </a:r>
            <a:r>
              <a:rPr sz="2800" spc="-30" dirty="0">
                <a:latin typeface="Times New Roman"/>
                <a:cs typeface="Times New Roman"/>
              </a:rPr>
              <a:t>to  </a:t>
            </a:r>
            <a:r>
              <a:rPr sz="2800" spc="-5" dirty="0">
                <a:latin typeface="Times New Roman"/>
                <a:cs typeface="Times New Roman"/>
              </a:rPr>
              <a:t>release </a:t>
            </a:r>
            <a:r>
              <a:rPr sz="2800" spc="-20" dirty="0">
                <a:latin typeface="Times New Roman"/>
                <a:cs typeface="Times New Roman"/>
              </a:rPr>
              <a:t>large </a:t>
            </a:r>
            <a:r>
              <a:rPr sz="2800" spc="-5" dirty="0">
                <a:latin typeface="Times New Roman"/>
                <a:cs typeface="Times New Roman"/>
              </a:rPr>
              <a:t>amounts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energy.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3672" y="603250"/>
            <a:ext cx="6581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Carlito"/>
                <a:cs typeface="Carlito"/>
              </a:rPr>
              <a:t>Conventional Energy</a:t>
            </a:r>
            <a:r>
              <a:rPr spc="-155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892" y="1777412"/>
            <a:ext cx="9230995" cy="457708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400" b="1" spc="-5" dirty="0">
                <a:latin typeface="Times New Roman"/>
                <a:cs typeface="Times New Roman"/>
              </a:rPr>
              <a:t>Coal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7797800" algn="l"/>
              </a:tabLst>
            </a:pPr>
            <a:r>
              <a:rPr sz="2600" dirty="0">
                <a:latin typeface="Times New Roman"/>
                <a:cs typeface="Times New Roman"/>
              </a:rPr>
              <a:t>Coal</a:t>
            </a:r>
            <a:r>
              <a:rPr sz="2600" spc="1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releases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large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amounts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energy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when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burned	</a:t>
            </a:r>
            <a:r>
              <a:rPr sz="2600" spc="-10" dirty="0">
                <a:latin typeface="Times New Roman"/>
                <a:cs typeface="Times New Roman"/>
              </a:rPr>
              <a:t>because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of</a:t>
            </a:r>
            <a:endParaRPr sz="2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6000"/>
              </a:lnSpc>
              <a:spcBef>
                <a:spcPts val="5"/>
              </a:spcBef>
            </a:pP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density </a:t>
            </a:r>
            <a:r>
              <a:rPr sz="2600" spc="-5" dirty="0">
                <a:latin typeface="Times New Roman"/>
                <a:cs typeface="Times New Roman"/>
              </a:rPr>
              <a:t>of hydrocarbons in the </a:t>
            </a:r>
            <a:r>
              <a:rPr sz="2600" spc="-10" dirty="0">
                <a:latin typeface="Times New Roman"/>
                <a:cs typeface="Times New Roman"/>
              </a:rPr>
              <a:t>material. </a:t>
            </a:r>
            <a:r>
              <a:rPr sz="2600" spc="-5" dirty="0">
                <a:latin typeface="Times New Roman"/>
                <a:cs typeface="Times New Roman"/>
              </a:rPr>
              <a:t>Coal is </a:t>
            </a:r>
            <a:r>
              <a:rPr sz="2600" spc="-10" dirty="0">
                <a:latin typeface="Times New Roman"/>
                <a:cs typeface="Times New Roman"/>
              </a:rPr>
              <a:t>formed </a:t>
            </a:r>
            <a:r>
              <a:rPr sz="2600" spc="-5" dirty="0">
                <a:latin typeface="Times New Roman"/>
                <a:cs typeface="Times New Roman"/>
              </a:rPr>
              <a:t>by dead  plants </a:t>
            </a:r>
            <a:r>
              <a:rPr sz="2600" spc="-10" dirty="0">
                <a:latin typeface="Times New Roman"/>
                <a:cs typeface="Times New Roman"/>
              </a:rPr>
              <a:t>being </a:t>
            </a:r>
            <a:r>
              <a:rPr sz="2600" dirty="0">
                <a:latin typeface="Times New Roman"/>
                <a:cs typeface="Times New Roman"/>
              </a:rPr>
              <a:t>put </a:t>
            </a:r>
            <a:r>
              <a:rPr sz="2600" spc="-5" dirty="0">
                <a:latin typeface="Times New Roman"/>
                <a:cs typeface="Times New Roman"/>
              </a:rPr>
              <a:t>under </a:t>
            </a:r>
            <a:r>
              <a:rPr sz="2600" spc="-10" dirty="0">
                <a:latin typeface="Times New Roman"/>
                <a:cs typeface="Times New Roman"/>
              </a:rPr>
              <a:t>significant </a:t>
            </a:r>
            <a:r>
              <a:rPr sz="2600" spc="-5" dirty="0">
                <a:latin typeface="Times New Roman"/>
                <a:cs typeface="Times New Roman"/>
              </a:rPr>
              <a:t>pressure and </a:t>
            </a:r>
            <a:r>
              <a:rPr sz="2600" spc="-10" dirty="0">
                <a:latin typeface="Times New Roman"/>
                <a:cs typeface="Times New Roman"/>
              </a:rPr>
              <a:t>temperature </a:t>
            </a:r>
            <a:r>
              <a:rPr sz="2600" dirty="0">
                <a:latin typeface="Times New Roman"/>
                <a:cs typeface="Times New Roman"/>
              </a:rPr>
              <a:t>for  </a:t>
            </a:r>
            <a:r>
              <a:rPr sz="2600" spc="-5" dirty="0">
                <a:latin typeface="Times New Roman"/>
                <a:cs typeface="Times New Roman"/>
              </a:rPr>
              <a:t>millions of years. There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-5" dirty="0">
                <a:latin typeface="Times New Roman"/>
                <a:cs typeface="Times New Roman"/>
              </a:rPr>
              <a:t>four grades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coal: lignite,  subbituminous, bituminous coal and </a:t>
            </a:r>
            <a:r>
              <a:rPr sz="2600" spc="-10" dirty="0">
                <a:latin typeface="Times New Roman"/>
                <a:cs typeface="Times New Roman"/>
              </a:rPr>
              <a:t>anthracite. </a:t>
            </a:r>
            <a:r>
              <a:rPr sz="2600" spc="-5" dirty="0">
                <a:latin typeface="Times New Roman"/>
                <a:cs typeface="Times New Roman"/>
              </a:rPr>
              <a:t>Bituminous </a:t>
            </a:r>
            <a:r>
              <a:rPr sz="2600" spc="-10" dirty="0">
                <a:latin typeface="Times New Roman"/>
                <a:cs typeface="Times New Roman"/>
              </a:rPr>
              <a:t>coal </a:t>
            </a:r>
            <a:r>
              <a:rPr sz="2600" spc="5" dirty="0">
                <a:latin typeface="Times New Roman"/>
                <a:cs typeface="Times New Roman"/>
              </a:rPr>
              <a:t>is 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best </a:t>
            </a:r>
            <a:r>
              <a:rPr sz="2600" spc="-10" dirty="0">
                <a:latin typeface="Times New Roman"/>
                <a:cs typeface="Times New Roman"/>
              </a:rPr>
              <a:t>for releasing </a:t>
            </a:r>
            <a:r>
              <a:rPr sz="2600" spc="-20" dirty="0">
                <a:latin typeface="Times New Roman"/>
                <a:cs typeface="Times New Roman"/>
              </a:rPr>
              <a:t>energy </a:t>
            </a:r>
            <a:r>
              <a:rPr sz="2600" spc="-5" dirty="0">
                <a:latin typeface="Times New Roman"/>
                <a:cs typeface="Times New Roman"/>
              </a:rPr>
              <a:t>and is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most </a:t>
            </a:r>
            <a:r>
              <a:rPr sz="2600" spc="-5" dirty="0">
                <a:latin typeface="Times New Roman"/>
                <a:cs typeface="Times New Roman"/>
              </a:rPr>
              <a:t>commonly </a:t>
            </a:r>
            <a:r>
              <a:rPr sz="2600" spc="-10" dirty="0">
                <a:latin typeface="Times New Roman"/>
                <a:cs typeface="Times New Roman"/>
              </a:rPr>
              <a:t>mined </a:t>
            </a:r>
            <a:r>
              <a:rPr sz="2600" spc="-5" dirty="0">
                <a:latin typeface="Times New Roman"/>
                <a:cs typeface="Times New Roman"/>
              </a:rPr>
              <a:t>type  </a:t>
            </a:r>
            <a:r>
              <a:rPr sz="2600" dirty="0">
                <a:latin typeface="Times New Roman"/>
                <a:cs typeface="Times New Roman"/>
              </a:rPr>
              <a:t>of coal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46081" y="1411224"/>
            <a:ext cx="2515235" cy="2456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85576" y="4007320"/>
            <a:ext cx="2699086" cy="26807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3672" y="603250"/>
            <a:ext cx="6581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Carlito"/>
                <a:cs typeface="Carlito"/>
              </a:rPr>
              <a:t>Conventional Energy</a:t>
            </a:r>
            <a:r>
              <a:rPr spc="-155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9824" y="1713103"/>
            <a:ext cx="1129030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Petroleum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Petroleum is </a:t>
            </a:r>
            <a:r>
              <a:rPr sz="2400" spc="-5" dirty="0">
                <a:latin typeface="Times New Roman"/>
                <a:cs typeface="Times New Roman"/>
              </a:rPr>
              <a:t>formed from </a:t>
            </a:r>
            <a:r>
              <a:rPr sz="2400" dirty="0">
                <a:latin typeface="Times New Roman"/>
                <a:cs typeface="Times New Roman"/>
              </a:rPr>
              <a:t>the compression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animal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plant </a:t>
            </a:r>
            <a:r>
              <a:rPr sz="2400" spc="-10" dirty="0">
                <a:latin typeface="Times New Roman"/>
                <a:cs typeface="Times New Roman"/>
              </a:rPr>
              <a:t>remains </a:t>
            </a:r>
            <a:r>
              <a:rPr sz="2400" spc="-5" dirty="0">
                <a:latin typeface="Times New Roman"/>
                <a:cs typeface="Times New Roman"/>
              </a:rPr>
              <a:t>over </a:t>
            </a:r>
            <a:r>
              <a:rPr sz="2400" spc="-10" dirty="0">
                <a:latin typeface="Times New Roman"/>
                <a:cs typeface="Times New Roman"/>
              </a:rPr>
              <a:t>millions </a:t>
            </a:r>
            <a:r>
              <a:rPr sz="2400" spc="-5" dirty="0">
                <a:latin typeface="Times New Roman"/>
                <a:cs typeface="Times New Roman"/>
              </a:rPr>
              <a:t>of  </a:t>
            </a:r>
            <a:r>
              <a:rPr sz="2400" dirty="0">
                <a:latin typeface="Times New Roman"/>
                <a:cs typeface="Times New Roman"/>
              </a:rPr>
              <a:t>years. </a:t>
            </a:r>
            <a:r>
              <a:rPr sz="2400" spc="-5" dirty="0">
                <a:latin typeface="Times New Roman"/>
                <a:cs typeface="Times New Roman"/>
              </a:rPr>
              <a:t>Petroleum has </a:t>
            </a:r>
            <a:r>
              <a:rPr sz="2400" dirty="0">
                <a:latin typeface="Times New Roman"/>
                <a:cs typeface="Times New Roman"/>
              </a:rPr>
              <a:t>to be </a:t>
            </a:r>
            <a:r>
              <a:rPr sz="2400" spc="-10" dirty="0">
                <a:latin typeface="Times New Roman"/>
                <a:cs typeface="Times New Roman"/>
              </a:rPr>
              <a:t>drilled </a:t>
            </a:r>
            <a:r>
              <a:rPr sz="2400" spc="-15" dirty="0">
                <a:latin typeface="Times New Roman"/>
                <a:cs typeface="Times New Roman"/>
              </a:rPr>
              <a:t>for </a:t>
            </a:r>
            <a:r>
              <a:rPr sz="2400" spc="-10" dirty="0">
                <a:latin typeface="Times New Roman"/>
                <a:cs typeface="Times New Roman"/>
              </a:rPr>
              <a:t>because </a:t>
            </a:r>
            <a:r>
              <a:rPr sz="2400" spc="-5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usually located </a:t>
            </a:r>
            <a:r>
              <a:rPr sz="2400" spc="-5" dirty="0">
                <a:latin typeface="Times New Roman"/>
                <a:cs typeface="Times New Roman"/>
              </a:rPr>
              <a:t>deep below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earth's  surface </a:t>
            </a:r>
            <a:r>
              <a:rPr sz="2400" dirty="0">
                <a:latin typeface="Times New Roman"/>
                <a:cs typeface="Times New Roman"/>
              </a:rPr>
              <a:t>and is then </a:t>
            </a:r>
            <a:r>
              <a:rPr sz="2400" spc="-5" dirty="0">
                <a:latin typeface="Times New Roman"/>
                <a:cs typeface="Times New Roman"/>
              </a:rPr>
              <a:t>refined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produce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20" dirty="0">
                <a:latin typeface="Times New Roman"/>
                <a:cs typeface="Times New Roman"/>
              </a:rPr>
              <a:t>different </a:t>
            </a:r>
            <a:r>
              <a:rPr sz="2400" dirty="0">
                <a:latin typeface="Times New Roman"/>
                <a:cs typeface="Times New Roman"/>
              </a:rPr>
              <a:t>products </a:t>
            </a:r>
            <a:r>
              <a:rPr sz="2400" spc="-10" dirty="0">
                <a:latin typeface="Times New Roman"/>
                <a:cs typeface="Times New Roman"/>
              </a:rPr>
              <a:t>including gasoline,  </a:t>
            </a:r>
            <a:r>
              <a:rPr sz="2400" dirty="0">
                <a:latin typeface="Times New Roman"/>
                <a:cs typeface="Times New Roman"/>
              </a:rPr>
              <a:t>heavy fuel oil and </a:t>
            </a:r>
            <a:r>
              <a:rPr sz="2400" spc="-5" dirty="0">
                <a:latin typeface="Times New Roman"/>
                <a:cs typeface="Times New Roman"/>
              </a:rPr>
              <a:t>diesel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fuel.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21923" y="83819"/>
            <a:ext cx="1188720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6883" y="3800855"/>
            <a:ext cx="3869436" cy="29230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20511" y="3380228"/>
            <a:ext cx="6108192" cy="34396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3672" y="603250"/>
            <a:ext cx="6581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Carlito"/>
                <a:cs typeface="Carlito"/>
              </a:rPr>
              <a:t>Conventional Energy</a:t>
            </a:r>
            <a:r>
              <a:rPr spc="-155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007" y="1963360"/>
            <a:ext cx="7696834" cy="399796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95"/>
              </a:spcBef>
            </a:pPr>
            <a:r>
              <a:rPr sz="2400" b="1" spc="-5" dirty="0">
                <a:latin typeface="Times New Roman"/>
                <a:cs typeface="Times New Roman"/>
              </a:rPr>
              <a:t>Advantages of Conventional Energy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Sources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00"/>
              </a:spcBef>
            </a:pPr>
            <a:r>
              <a:rPr sz="2600" spc="-10" dirty="0">
                <a:latin typeface="Times New Roman"/>
                <a:cs typeface="Times New Roman"/>
              </a:rPr>
              <a:t>Conventional </a:t>
            </a:r>
            <a:r>
              <a:rPr sz="2600" spc="-20" dirty="0">
                <a:latin typeface="Times New Roman"/>
                <a:cs typeface="Times New Roman"/>
              </a:rPr>
              <a:t>energy </a:t>
            </a:r>
            <a:r>
              <a:rPr sz="2600" spc="-10" dirty="0">
                <a:latin typeface="Times New Roman"/>
                <a:cs typeface="Times New Roman"/>
              </a:rPr>
              <a:t>sources </a:t>
            </a:r>
            <a:r>
              <a:rPr sz="2600" spc="-5" dirty="0">
                <a:latin typeface="Times New Roman"/>
                <a:cs typeface="Times New Roman"/>
              </a:rPr>
              <a:t>are proven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technologies</a:t>
            </a:r>
            <a:endParaRPr sz="2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6000"/>
              </a:lnSpc>
              <a:spcBef>
                <a:spcPts val="5"/>
              </a:spcBef>
            </a:pPr>
            <a:r>
              <a:rPr sz="2600" spc="-10" dirty="0">
                <a:latin typeface="Times New Roman"/>
                <a:cs typeface="Times New Roman"/>
              </a:rPr>
              <a:t>which can </a:t>
            </a:r>
            <a:r>
              <a:rPr sz="2600" spc="-5" dirty="0">
                <a:latin typeface="Times New Roman"/>
                <a:cs typeface="Times New Roman"/>
              </a:rPr>
              <a:t>provide </a:t>
            </a:r>
            <a:r>
              <a:rPr sz="2600" spc="-20" dirty="0">
                <a:latin typeface="Times New Roman"/>
                <a:cs typeface="Times New Roman"/>
              </a:rPr>
              <a:t>energy </a:t>
            </a:r>
            <a:r>
              <a:rPr sz="2600" spc="-10" dirty="0">
                <a:latin typeface="Times New Roman"/>
                <a:cs typeface="Times New Roman"/>
              </a:rPr>
              <a:t>regardless </a:t>
            </a:r>
            <a:r>
              <a:rPr sz="2600" dirty="0">
                <a:latin typeface="Times New Roman"/>
                <a:cs typeface="Times New Roman"/>
              </a:rPr>
              <a:t>of the </a:t>
            </a:r>
            <a:r>
              <a:rPr sz="2600" spc="-5" dirty="0">
                <a:latin typeface="Times New Roman"/>
                <a:cs typeface="Times New Roman"/>
              </a:rPr>
              <a:t>weather  </a:t>
            </a:r>
            <a:r>
              <a:rPr sz="2600" dirty="0">
                <a:latin typeface="Times New Roman"/>
                <a:cs typeface="Times New Roman"/>
              </a:rPr>
              <a:t>conditions </a:t>
            </a:r>
            <a:r>
              <a:rPr sz="2600" spc="-5" dirty="0">
                <a:latin typeface="Times New Roman"/>
                <a:cs typeface="Times New Roman"/>
              </a:rPr>
              <a:t>unlike </a:t>
            </a:r>
            <a:r>
              <a:rPr sz="2600" dirty="0">
                <a:latin typeface="Times New Roman"/>
                <a:cs typeface="Times New Roman"/>
              </a:rPr>
              <a:t>solar </a:t>
            </a:r>
            <a:r>
              <a:rPr sz="2600" spc="-5" dirty="0">
                <a:latin typeface="Times New Roman"/>
                <a:cs typeface="Times New Roman"/>
              </a:rPr>
              <a:t>and wind power which </a:t>
            </a:r>
            <a:r>
              <a:rPr sz="2600" spc="-15" dirty="0">
                <a:latin typeface="Times New Roman"/>
                <a:cs typeface="Times New Roman"/>
              </a:rPr>
              <a:t>may </a:t>
            </a:r>
            <a:r>
              <a:rPr sz="2600" spc="-10" dirty="0">
                <a:latin typeface="Times New Roman"/>
                <a:cs typeface="Times New Roman"/>
              </a:rPr>
              <a:t>go  </a:t>
            </a:r>
            <a:r>
              <a:rPr sz="2600" dirty="0">
                <a:latin typeface="Times New Roman"/>
                <a:cs typeface="Times New Roman"/>
              </a:rPr>
              <a:t>for days without </a:t>
            </a:r>
            <a:r>
              <a:rPr sz="2600" spc="-5" dirty="0">
                <a:latin typeface="Times New Roman"/>
                <a:cs typeface="Times New Roman"/>
              </a:rPr>
              <a:t>being able to </a:t>
            </a:r>
            <a:r>
              <a:rPr sz="2600" spc="-10" dirty="0">
                <a:latin typeface="Times New Roman"/>
                <a:cs typeface="Times New Roman"/>
              </a:rPr>
              <a:t>produce substantial  </a:t>
            </a:r>
            <a:r>
              <a:rPr sz="2600" spc="-5" dirty="0">
                <a:latin typeface="Times New Roman"/>
                <a:cs typeface="Times New Roman"/>
              </a:rPr>
              <a:t>amounts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0" dirty="0">
                <a:latin typeface="Times New Roman"/>
                <a:cs typeface="Times New Roman"/>
              </a:rPr>
              <a:t>power. </a:t>
            </a:r>
            <a:r>
              <a:rPr sz="2600" spc="-40" dirty="0">
                <a:latin typeface="Times New Roman"/>
                <a:cs typeface="Times New Roman"/>
              </a:rPr>
              <a:t>Currently,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financial costs are much  </a:t>
            </a:r>
            <a:r>
              <a:rPr sz="2600" dirty="0">
                <a:latin typeface="Times New Roman"/>
                <a:cs typeface="Times New Roman"/>
              </a:rPr>
              <a:t>lower than </a:t>
            </a:r>
            <a:r>
              <a:rPr sz="2600" spc="-5" dirty="0">
                <a:latin typeface="Times New Roman"/>
                <a:cs typeface="Times New Roman"/>
              </a:rPr>
              <a:t>alternative </a:t>
            </a:r>
            <a:r>
              <a:rPr sz="2600" spc="-20" dirty="0">
                <a:latin typeface="Times New Roman"/>
                <a:cs typeface="Times New Roman"/>
              </a:rPr>
              <a:t>energy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sources.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5507" y="2253995"/>
            <a:ext cx="3813048" cy="3802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3672" y="603250"/>
            <a:ext cx="6581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Carlito"/>
                <a:cs typeface="Carlito"/>
              </a:rPr>
              <a:t>Conventional Energy</a:t>
            </a:r>
            <a:r>
              <a:rPr spc="-155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446" y="1695120"/>
            <a:ext cx="7237095" cy="497776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10"/>
              </a:spcBef>
            </a:pPr>
            <a:r>
              <a:rPr sz="2800" b="1" spc="-5" dirty="0">
                <a:latin typeface="Times New Roman"/>
                <a:cs typeface="Times New Roman"/>
              </a:rPr>
              <a:t>Disadvantages of </a:t>
            </a:r>
            <a:r>
              <a:rPr sz="2800" b="1" dirty="0">
                <a:latin typeface="Times New Roman"/>
                <a:cs typeface="Times New Roman"/>
              </a:rPr>
              <a:t>Conventional </a:t>
            </a:r>
            <a:r>
              <a:rPr sz="2800" b="1" spc="-5" dirty="0">
                <a:latin typeface="Times New Roman"/>
                <a:cs typeface="Times New Roman"/>
              </a:rPr>
              <a:t>Energy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Sources</a:t>
            </a:r>
            <a:endParaRPr sz="2800">
              <a:latin typeface="Times New Roman"/>
              <a:cs typeface="Times New Roman"/>
            </a:endParaRPr>
          </a:p>
          <a:p>
            <a:pPr marL="469900" marR="6350" indent="-457200" algn="just">
              <a:lnSpc>
                <a:spcPct val="100000"/>
              </a:lnSpc>
              <a:spcBef>
                <a:spcPts val="1010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spc="-10" dirty="0">
                <a:latin typeface="Times New Roman"/>
                <a:cs typeface="Times New Roman"/>
              </a:rPr>
              <a:t>Petroleum, gas and </a:t>
            </a:r>
            <a:r>
              <a:rPr sz="2800" spc="-15" dirty="0">
                <a:latin typeface="Times New Roman"/>
                <a:cs typeface="Times New Roman"/>
              </a:rPr>
              <a:t>coal </a:t>
            </a: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non </a:t>
            </a:r>
            <a:r>
              <a:rPr sz="2800" spc="-10" dirty="0">
                <a:latin typeface="Times New Roman"/>
                <a:cs typeface="Times New Roman"/>
              </a:rPr>
              <a:t>renewable  </a:t>
            </a:r>
            <a:r>
              <a:rPr sz="2800" spc="-20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sources </a:t>
            </a:r>
            <a:r>
              <a:rPr sz="2800" spc="-10" dirty="0">
                <a:latin typeface="Times New Roman"/>
                <a:cs typeface="Times New Roman"/>
              </a:rPr>
              <a:t>which means that they will  </a:t>
            </a:r>
            <a:r>
              <a:rPr sz="2800" spc="-5" dirty="0">
                <a:latin typeface="Times New Roman"/>
                <a:cs typeface="Times New Roman"/>
              </a:rPr>
              <a:t>eventually run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out.</a:t>
            </a:r>
            <a:endParaRPr sz="280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spc="-10" dirty="0">
                <a:latin typeface="Times New Roman"/>
                <a:cs typeface="Times New Roman"/>
              </a:rPr>
              <a:t>These </a:t>
            </a:r>
            <a:r>
              <a:rPr sz="2800" spc="-30" dirty="0">
                <a:latin typeface="Times New Roman"/>
                <a:cs typeface="Times New Roman"/>
              </a:rPr>
              <a:t>energy </a:t>
            </a:r>
            <a:r>
              <a:rPr sz="2800" spc="-10" dirty="0">
                <a:latin typeface="Times New Roman"/>
                <a:cs typeface="Times New Roman"/>
              </a:rPr>
              <a:t>sources also release greenhouse  gases like carbon dioxide into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atmosphere  </a:t>
            </a:r>
            <a:r>
              <a:rPr sz="2800" spc="-5" dirty="0">
                <a:latin typeface="Times New Roman"/>
                <a:cs typeface="Times New Roman"/>
              </a:rPr>
              <a:t>which </a:t>
            </a:r>
            <a:r>
              <a:rPr sz="2800" dirty="0">
                <a:latin typeface="Times New Roman"/>
                <a:cs typeface="Times New Roman"/>
              </a:rPr>
              <a:t>contribute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dirty="0">
                <a:latin typeface="Times New Roman"/>
                <a:cs typeface="Times New Roman"/>
              </a:rPr>
              <a:t>global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warming.</a:t>
            </a:r>
            <a:endParaRPr sz="2800">
              <a:latin typeface="Times New Roman"/>
              <a:cs typeface="Times New Roman"/>
            </a:endParaRPr>
          </a:p>
          <a:p>
            <a:pPr marL="469900" marR="8890" indent="-457200">
              <a:lnSpc>
                <a:spcPct val="100000"/>
              </a:lnSpc>
              <a:buFont typeface="Wingdings"/>
              <a:buChar char=""/>
              <a:tabLst>
                <a:tab pos="469265" algn="l"/>
                <a:tab pos="469900" algn="l"/>
                <a:tab pos="1432560" algn="l"/>
                <a:tab pos="2983230" algn="l"/>
                <a:tab pos="4293870" algn="l"/>
                <a:tab pos="5491480" algn="l"/>
                <a:tab pos="5874385" algn="l"/>
                <a:tab pos="6709409" algn="l"/>
              </a:tabLst>
            </a:pPr>
            <a:r>
              <a:rPr sz="2800" spc="-5" dirty="0">
                <a:latin typeface="Times New Roman"/>
                <a:cs typeface="Times New Roman"/>
              </a:rPr>
              <a:t>Ot</a:t>
            </a:r>
            <a:r>
              <a:rPr sz="2800" spc="-15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er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spc="-20" dirty="0">
                <a:latin typeface="Times New Roman"/>
                <a:cs typeface="Times New Roman"/>
              </a:rPr>
              <a:t>oll</a:t>
            </a:r>
            <a:r>
              <a:rPr sz="2800" spc="-5" dirty="0">
                <a:latin typeface="Times New Roman"/>
                <a:cs typeface="Times New Roman"/>
              </a:rPr>
              <a:t>ut</a:t>
            </a: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nts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spc="-20" dirty="0">
                <a:latin typeface="Times New Roman"/>
                <a:cs typeface="Times New Roman"/>
              </a:rPr>
              <a:t>el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spc="-3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cl</a:t>
            </a:r>
            <a:r>
              <a:rPr sz="2800" spc="-5" dirty="0">
                <a:latin typeface="Times New Roman"/>
                <a:cs typeface="Times New Roman"/>
              </a:rPr>
              <a:t>ude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spc="-25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spc="-15" dirty="0">
                <a:latin typeface="Times New Roman"/>
                <a:cs typeface="Times New Roman"/>
              </a:rPr>
              <a:t>hu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nd  </a:t>
            </a:r>
            <a:r>
              <a:rPr sz="2800" spc="-10" dirty="0">
                <a:latin typeface="Times New Roman"/>
                <a:cs typeface="Times New Roman"/>
              </a:rPr>
              <a:t>nitrogen oxide, which </a:t>
            </a:r>
            <a:r>
              <a:rPr sz="2800" spc="-20" dirty="0">
                <a:latin typeface="Times New Roman"/>
                <a:cs typeface="Times New Roman"/>
              </a:rPr>
              <a:t>can </a:t>
            </a:r>
            <a:r>
              <a:rPr sz="2800" spc="-15" dirty="0">
                <a:latin typeface="Times New Roman"/>
                <a:cs typeface="Times New Roman"/>
              </a:rPr>
              <a:t>lead </a:t>
            </a:r>
            <a:r>
              <a:rPr sz="2800" spc="-10" dirty="0">
                <a:latin typeface="Times New Roman"/>
                <a:cs typeface="Times New Roman"/>
              </a:rPr>
              <a:t>to </a:t>
            </a:r>
            <a:r>
              <a:rPr sz="2800" spc="-15" dirty="0">
                <a:latin typeface="Times New Roman"/>
                <a:cs typeface="Times New Roman"/>
              </a:rPr>
              <a:t>acid </a:t>
            </a:r>
            <a:r>
              <a:rPr sz="2800" spc="-5" dirty="0">
                <a:latin typeface="Times New Roman"/>
                <a:cs typeface="Times New Roman"/>
              </a:rPr>
              <a:t>rain </a:t>
            </a:r>
            <a:r>
              <a:rPr sz="2800" spc="-15" dirty="0">
                <a:latin typeface="Times New Roman"/>
                <a:cs typeface="Times New Roman"/>
              </a:rPr>
              <a:t>and  </a:t>
            </a:r>
            <a:r>
              <a:rPr sz="2800" spc="-50" dirty="0">
                <a:latin typeface="Times New Roman"/>
                <a:cs typeface="Times New Roman"/>
              </a:rPr>
              <a:t>mercury, </a:t>
            </a:r>
            <a:r>
              <a:rPr sz="2800" spc="-5" dirty="0">
                <a:latin typeface="Times New Roman"/>
                <a:cs typeface="Times New Roman"/>
              </a:rPr>
              <a:t>which is harmful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humans	when  ingested.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68995" y="1487424"/>
            <a:ext cx="4028440" cy="5114925"/>
            <a:chOff x="7968995" y="1487424"/>
            <a:chExt cx="4028440" cy="5114925"/>
          </a:xfrm>
        </p:grpSpPr>
        <p:sp>
          <p:nvSpPr>
            <p:cNvPr id="5" name="object 5"/>
            <p:cNvSpPr/>
            <p:nvPr/>
          </p:nvSpPr>
          <p:spPr>
            <a:xfrm>
              <a:off x="7968995" y="4085844"/>
              <a:ext cx="4027932" cy="7432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84235" y="1487424"/>
              <a:ext cx="3997452" cy="26090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16923" y="4379975"/>
              <a:ext cx="2132076" cy="22219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6635" y="450850"/>
            <a:ext cx="6090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latin typeface="Carlito"/>
                <a:cs typeface="Carlito"/>
              </a:rPr>
              <a:t>Renewable </a:t>
            </a:r>
            <a:r>
              <a:rPr spc="-10" dirty="0">
                <a:latin typeface="Carlito"/>
                <a:cs typeface="Carlito"/>
              </a:rPr>
              <a:t>Energy</a:t>
            </a:r>
            <a:r>
              <a:rPr spc="-13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7807" y="1949957"/>
            <a:ext cx="11116945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8255" indent="-457200" algn="just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Renewable energy </a:t>
            </a:r>
            <a:r>
              <a:rPr sz="2800" spc="-5" dirty="0">
                <a:latin typeface="Arial"/>
                <a:cs typeface="Arial"/>
              </a:rPr>
              <a:t>is natural </a:t>
            </a:r>
            <a:r>
              <a:rPr sz="2800" dirty="0">
                <a:latin typeface="Arial"/>
                <a:cs typeface="Arial"/>
              </a:rPr>
              <a:t>energy </a:t>
            </a:r>
            <a:r>
              <a:rPr sz="2800" spc="-5" dirty="0">
                <a:latin typeface="Arial"/>
                <a:cs typeface="Arial"/>
              </a:rPr>
              <a:t>which does </a:t>
            </a:r>
            <a:r>
              <a:rPr sz="2800" dirty="0">
                <a:latin typeface="Arial"/>
                <a:cs typeface="Arial"/>
              </a:rPr>
              <a:t>not have </a:t>
            </a:r>
            <a:r>
              <a:rPr sz="2800" spc="-5" dirty="0">
                <a:latin typeface="Arial"/>
                <a:cs typeface="Arial"/>
              </a:rPr>
              <a:t>a limited  </a:t>
            </a:r>
            <a:r>
              <a:rPr sz="2800" spc="-55" dirty="0">
                <a:latin typeface="Arial"/>
                <a:cs typeface="Arial"/>
              </a:rPr>
              <a:t>supply. </a:t>
            </a:r>
            <a:r>
              <a:rPr sz="2800" spc="-5" dirty="0">
                <a:latin typeface="Arial"/>
                <a:cs typeface="Arial"/>
              </a:rPr>
              <a:t>Renewable </a:t>
            </a:r>
            <a:r>
              <a:rPr sz="2800" dirty="0">
                <a:latin typeface="Arial"/>
                <a:cs typeface="Arial"/>
              </a:rPr>
              <a:t>energy </a:t>
            </a:r>
            <a:r>
              <a:rPr sz="2800" spc="-5" dirty="0">
                <a:latin typeface="Arial"/>
                <a:cs typeface="Arial"/>
              </a:rPr>
              <a:t>can be used again </a:t>
            </a:r>
            <a:r>
              <a:rPr sz="2800" dirty="0">
                <a:latin typeface="Arial"/>
                <a:cs typeface="Arial"/>
              </a:rPr>
              <a:t>and again, and </a:t>
            </a:r>
            <a:r>
              <a:rPr sz="2800" spc="-5" dirty="0">
                <a:latin typeface="Arial"/>
                <a:cs typeface="Arial"/>
              </a:rPr>
              <a:t>will  </a:t>
            </a:r>
            <a:r>
              <a:rPr sz="2800" dirty="0">
                <a:latin typeface="Arial"/>
                <a:cs typeface="Arial"/>
              </a:rPr>
              <a:t>never </a:t>
            </a:r>
            <a:r>
              <a:rPr sz="2800" spc="-5" dirty="0">
                <a:latin typeface="Arial"/>
                <a:cs typeface="Arial"/>
              </a:rPr>
              <a:t>run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out.</a:t>
            </a:r>
            <a:endParaRPr sz="28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Renewable </a:t>
            </a:r>
            <a:r>
              <a:rPr sz="2800" spc="-5" dirty="0">
                <a:latin typeface="Arial"/>
                <a:cs typeface="Arial"/>
              </a:rPr>
              <a:t>energy </a:t>
            </a:r>
            <a:r>
              <a:rPr sz="2800" spc="-10" dirty="0">
                <a:latin typeface="Arial"/>
                <a:cs typeface="Arial"/>
              </a:rPr>
              <a:t>is </a:t>
            </a:r>
            <a:r>
              <a:rPr sz="2800" spc="-5" dirty="0">
                <a:latin typeface="Arial"/>
                <a:cs typeface="Arial"/>
              </a:rPr>
              <a:t>energy which comes from </a:t>
            </a:r>
            <a:r>
              <a:rPr sz="2800" dirty="0">
                <a:latin typeface="Arial"/>
                <a:cs typeface="Arial"/>
              </a:rPr>
              <a:t>natural </a:t>
            </a:r>
            <a:r>
              <a:rPr sz="2800" spc="-5" dirty="0">
                <a:latin typeface="Arial"/>
                <a:cs typeface="Arial"/>
              </a:rPr>
              <a:t>resources  </a:t>
            </a:r>
            <a:r>
              <a:rPr sz="2800" dirty="0">
                <a:latin typeface="Arial"/>
                <a:cs typeface="Arial"/>
              </a:rPr>
              <a:t>such as </a:t>
            </a:r>
            <a:r>
              <a:rPr sz="2800" spc="-5" dirty="0">
                <a:latin typeface="Arial"/>
                <a:cs typeface="Arial"/>
              </a:rPr>
              <a:t>sunlight, wind, </a:t>
            </a:r>
            <a:r>
              <a:rPr sz="2800" dirty="0">
                <a:latin typeface="Arial"/>
                <a:cs typeface="Arial"/>
              </a:rPr>
              <a:t>rain, </a:t>
            </a:r>
            <a:r>
              <a:rPr sz="2800" spc="-5" dirty="0">
                <a:latin typeface="Arial"/>
                <a:cs typeface="Arial"/>
              </a:rPr>
              <a:t>tides and geothermal heat, which are  renewable </a:t>
            </a:r>
            <a:r>
              <a:rPr sz="2800" dirty="0">
                <a:latin typeface="Arial"/>
                <a:cs typeface="Arial"/>
              </a:rPr>
              <a:t>(naturally</a:t>
            </a:r>
            <a:r>
              <a:rPr sz="2800" spc="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replenished.)</a:t>
            </a:r>
            <a:endParaRPr sz="2800">
              <a:latin typeface="Arial"/>
              <a:cs typeface="Arial"/>
            </a:endParaRPr>
          </a:p>
          <a:p>
            <a:pPr marL="469900" marR="8890" indent="-45720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Renewable energy </a:t>
            </a:r>
            <a:r>
              <a:rPr sz="2800" spc="-10" dirty="0">
                <a:latin typeface="Arial"/>
                <a:cs typeface="Arial"/>
              </a:rPr>
              <a:t>is </a:t>
            </a:r>
            <a:r>
              <a:rPr sz="2800" spc="-5" dirty="0">
                <a:latin typeface="Arial"/>
                <a:cs typeface="Arial"/>
              </a:rPr>
              <a:t>an </a:t>
            </a:r>
            <a:r>
              <a:rPr sz="2800" dirty="0">
                <a:latin typeface="Arial"/>
                <a:cs typeface="Arial"/>
              </a:rPr>
              <a:t>alternative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dirty="0">
                <a:latin typeface="Arial"/>
                <a:cs typeface="Arial"/>
              </a:rPr>
              <a:t>fossil fuels </a:t>
            </a:r>
            <a:r>
              <a:rPr sz="2800" spc="-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nuclear  </a:t>
            </a:r>
            <a:r>
              <a:rPr sz="2800" spc="-50" dirty="0">
                <a:latin typeface="Arial"/>
                <a:cs typeface="Arial"/>
              </a:rPr>
              <a:t>power, </a:t>
            </a:r>
            <a:r>
              <a:rPr sz="2800" dirty="0">
                <a:latin typeface="Arial"/>
                <a:cs typeface="Arial"/>
              </a:rPr>
              <a:t>and </a:t>
            </a:r>
            <a:r>
              <a:rPr sz="2800" spc="-5" dirty="0">
                <a:latin typeface="Arial"/>
                <a:cs typeface="Arial"/>
              </a:rPr>
              <a:t>was commonly called </a:t>
            </a:r>
            <a:r>
              <a:rPr sz="2800" dirty="0">
                <a:latin typeface="Arial"/>
                <a:cs typeface="Arial"/>
              </a:rPr>
              <a:t>alternative</a:t>
            </a:r>
            <a:r>
              <a:rPr sz="2800" spc="10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energy.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6635" y="450850"/>
            <a:ext cx="6090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latin typeface="Carlito"/>
                <a:cs typeface="Carlito"/>
              </a:rPr>
              <a:t>Renewable </a:t>
            </a:r>
            <a:r>
              <a:rPr spc="-10" dirty="0">
                <a:latin typeface="Carlito"/>
                <a:cs typeface="Carlito"/>
              </a:rPr>
              <a:t>Energy</a:t>
            </a:r>
            <a:r>
              <a:rPr spc="-13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136" y="1284478"/>
            <a:ext cx="830516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list of </a:t>
            </a:r>
            <a:r>
              <a:rPr sz="2400" spc="-5" dirty="0">
                <a:latin typeface="Times New Roman"/>
                <a:cs typeface="Times New Roman"/>
              </a:rPr>
              <a:t>renewable </a:t>
            </a:r>
            <a:r>
              <a:rPr sz="2400" spc="-10" dirty="0">
                <a:latin typeface="Times New Roman"/>
                <a:cs typeface="Times New Roman"/>
              </a:rPr>
              <a:t>energy</a:t>
            </a:r>
            <a:r>
              <a:rPr sz="2400" spc="-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sources:</a:t>
            </a:r>
            <a:endParaRPr sz="2400">
              <a:latin typeface="Times New Roman"/>
              <a:cs typeface="Times New Roman"/>
            </a:endParaRPr>
          </a:p>
          <a:p>
            <a:pPr marL="1840864" indent="-285115">
              <a:lnSpc>
                <a:spcPct val="100000"/>
              </a:lnSpc>
              <a:buChar char="•"/>
              <a:tabLst>
                <a:tab pos="1840864" algn="l"/>
                <a:tab pos="1841500" algn="l"/>
              </a:tabLst>
            </a:pPr>
            <a:r>
              <a:rPr sz="2400" spc="-5" dirty="0">
                <a:latin typeface="Times New Roman"/>
                <a:cs typeface="Times New Roman"/>
              </a:rPr>
              <a:t>Biomass</a:t>
            </a:r>
            <a:endParaRPr sz="2400">
              <a:latin typeface="Times New Roman"/>
              <a:cs typeface="Times New Roman"/>
            </a:endParaRPr>
          </a:p>
          <a:p>
            <a:pPr marL="1840864" indent="-285115">
              <a:lnSpc>
                <a:spcPct val="100000"/>
              </a:lnSpc>
              <a:buChar char="•"/>
              <a:tabLst>
                <a:tab pos="1840864" algn="l"/>
                <a:tab pos="1841500" algn="l"/>
              </a:tabLst>
            </a:pPr>
            <a:r>
              <a:rPr sz="2400" dirty="0">
                <a:latin typeface="Times New Roman"/>
                <a:cs typeface="Times New Roman"/>
              </a:rPr>
              <a:t>Hydro</a:t>
            </a:r>
            <a:endParaRPr sz="2400">
              <a:latin typeface="Times New Roman"/>
              <a:cs typeface="Times New Roman"/>
            </a:endParaRPr>
          </a:p>
          <a:p>
            <a:pPr marL="1840864" indent="-285115">
              <a:lnSpc>
                <a:spcPct val="100000"/>
              </a:lnSpc>
              <a:buChar char="•"/>
              <a:tabLst>
                <a:tab pos="1840864" algn="l"/>
                <a:tab pos="1841500" algn="l"/>
              </a:tabLst>
            </a:pPr>
            <a:r>
              <a:rPr sz="2400" spc="-5" dirty="0">
                <a:latin typeface="Times New Roman"/>
                <a:cs typeface="Times New Roman"/>
              </a:rPr>
              <a:t>Geothermal</a:t>
            </a:r>
            <a:endParaRPr sz="2400">
              <a:latin typeface="Times New Roman"/>
              <a:cs typeface="Times New Roman"/>
            </a:endParaRPr>
          </a:p>
          <a:p>
            <a:pPr marL="1840864" indent="-285115">
              <a:lnSpc>
                <a:spcPct val="100000"/>
              </a:lnSpc>
              <a:buChar char="•"/>
              <a:tabLst>
                <a:tab pos="1840864" algn="l"/>
                <a:tab pos="1841500" algn="l"/>
              </a:tabLst>
            </a:pPr>
            <a:r>
              <a:rPr sz="2400" dirty="0">
                <a:latin typeface="Times New Roman"/>
                <a:cs typeface="Times New Roman"/>
              </a:rPr>
              <a:t>Solar</a:t>
            </a:r>
            <a:endParaRPr sz="2400">
              <a:latin typeface="Times New Roman"/>
              <a:cs typeface="Times New Roman"/>
            </a:endParaRPr>
          </a:p>
          <a:p>
            <a:pPr marL="1840864" indent="-285115">
              <a:lnSpc>
                <a:spcPct val="100000"/>
              </a:lnSpc>
              <a:buChar char="•"/>
              <a:tabLst>
                <a:tab pos="1840864" algn="l"/>
                <a:tab pos="1841500" algn="l"/>
              </a:tabLst>
            </a:pPr>
            <a:r>
              <a:rPr sz="2400" spc="-40" dirty="0">
                <a:latin typeface="Times New Roman"/>
                <a:cs typeface="Times New Roman"/>
              </a:rPr>
              <a:t>Tidal</a:t>
            </a:r>
            <a:endParaRPr sz="2400">
              <a:latin typeface="Times New Roman"/>
              <a:cs typeface="Times New Roman"/>
            </a:endParaRPr>
          </a:p>
          <a:p>
            <a:pPr marL="1840864" indent="-285115">
              <a:lnSpc>
                <a:spcPct val="100000"/>
              </a:lnSpc>
              <a:buChar char="•"/>
              <a:tabLst>
                <a:tab pos="1840864" algn="l"/>
                <a:tab pos="1841500" algn="l"/>
              </a:tabLst>
            </a:pPr>
            <a:r>
              <a:rPr sz="2400" spc="-75" dirty="0">
                <a:latin typeface="Times New Roman"/>
                <a:cs typeface="Times New Roman"/>
              </a:rPr>
              <a:t>Wave</a:t>
            </a:r>
            <a:endParaRPr sz="2400">
              <a:latin typeface="Times New Roman"/>
              <a:cs typeface="Times New Roman"/>
            </a:endParaRPr>
          </a:p>
          <a:p>
            <a:pPr marL="1840864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1840864" algn="l"/>
                <a:tab pos="1841500" algn="l"/>
              </a:tabLst>
            </a:pPr>
            <a:r>
              <a:rPr sz="2400" spc="-30" dirty="0">
                <a:latin typeface="Times New Roman"/>
                <a:cs typeface="Times New Roman"/>
              </a:rPr>
              <a:t>Wind</a:t>
            </a:r>
            <a:endParaRPr sz="2400">
              <a:latin typeface="Times New Roman"/>
              <a:cs typeface="Times New Roman"/>
            </a:endParaRPr>
          </a:p>
          <a:p>
            <a:pPr marL="1840864" indent="-285115">
              <a:lnSpc>
                <a:spcPct val="100000"/>
              </a:lnSpc>
              <a:buChar char="•"/>
              <a:tabLst>
                <a:tab pos="1840864" algn="l"/>
                <a:tab pos="1841500" algn="l"/>
              </a:tabLst>
            </a:pPr>
            <a:r>
              <a:rPr sz="2400" spc="-65" dirty="0">
                <a:latin typeface="Times New Roman"/>
                <a:cs typeface="Times New Roman"/>
              </a:rPr>
              <a:t>Wood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Renewable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spc="-5" dirty="0">
                <a:latin typeface="Times New Roman"/>
                <a:cs typeface="Times New Roman"/>
              </a:rPr>
              <a:t>replaces conventional </a:t>
            </a:r>
            <a:r>
              <a:rPr sz="2400" dirty="0">
                <a:latin typeface="Times New Roman"/>
                <a:cs typeface="Times New Roman"/>
              </a:rPr>
              <a:t>fuels in four distinct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areas: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power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generation,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hot </a:t>
            </a:r>
            <a:r>
              <a:rPr sz="2400" spc="-5" dirty="0">
                <a:latin typeface="Times New Roman"/>
                <a:cs typeface="Times New Roman"/>
              </a:rPr>
              <a:t>water/ </a:t>
            </a:r>
            <a:r>
              <a:rPr sz="2400" dirty="0">
                <a:latin typeface="Times New Roman"/>
                <a:cs typeface="Times New Roman"/>
              </a:rPr>
              <a:t>space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heating,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transport </a:t>
            </a:r>
            <a:r>
              <a:rPr sz="2400" dirty="0">
                <a:latin typeface="Times New Roman"/>
                <a:cs typeface="Times New Roman"/>
              </a:rPr>
              <a:t>fuels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rural </a:t>
            </a:r>
            <a:r>
              <a:rPr sz="2400" spc="-10" dirty="0">
                <a:latin typeface="Times New Roman"/>
                <a:cs typeface="Times New Roman"/>
              </a:rPr>
              <a:t>(off-grid) energy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services.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79591" y="1987295"/>
            <a:ext cx="5974079" cy="2436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9571" y="450850"/>
            <a:ext cx="3308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WIND</a:t>
            </a:r>
            <a:r>
              <a:rPr spc="-165" dirty="0">
                <a:latin typeface="Carlito"/>
                <a:cs typeface="Carlito"/>
              </a:rPr>
              <a:t> </a:t>
            </a:r>
            <a:r>
              <a:rPr spc="-20" dirty="0">
                <a:latin typeface="Carlito"/>
                <a:cs typeface="Carlito"/>
              </a:rPr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674" y="1818513"/>
            <a:ext cx="6764655" cy="3860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600" b="1" spc="-15" dirty="0">
                <a:latin typeface="Times New Roman"/>
                <a:cs typeface="Times New Roman"/>
              </a:rPr>
              <a:t>Wind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power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ts val="3400"/>
              </a:lnSpc>
              <a:spcBef>
                <a:spcPts val="25"/>
              </a:spcBef>
              <a:buFont typeface="Wingdings"/>
              <a:buChar char=""/>
              <a:tabLst>
                <a:tab pos="356235" algn="l"/>
              </a:tabLst>
            </a:pPr>
            <a:r>
              <a:rPr sz="2600" spc="-10" dirty="0">
                <a:latin typeface="Times New Roman"/>
                <a:cs typeface="Times New Roman"/>
              </a:rPr>
              <a:t>Airflows </a:t>
            </a:r>
            <a:r>
              <a:rPr sz="2600" spc="-5" dirty="0">
                <a:latin typeface="Times New Roman"/>
                <a:cs typeface="Times New Roman"/>
              </a:rPr>
              <a:t>can </a:t>
            </a:r>
            <a:r>
              <a:rPr sz="2600" dirty="0">
                <a:latin typeface="Times New Roman"/>
                <a:cs typeface="Times New Roman"/>
              </a:rPr>
              <a:t>be </a:t>
            </a:r>
            <a:r>
              <a:rPr sz="2600" spc="-5" dirty="0">
                <a:latin typeface="Times New Roman"/>
                <a:cs typeface="Times New Roman"/>
              </a:rPr>
              <a:t>used </a:t>
            </a:r>
            <a:r>
              <a:rPr sz="2600" spc="-10" dirty="0">
                <a:latin typeface="Times New Roman"/>
                <a:cs typeface="Times New Roman"/>
              </a:rPr>
              <a:t>to </a:t>
            </a:r>
            <a:r>
              <a:rPr sz="2600" spc="-5" dirty="0">
                <a:latin typeface="Times New Roman"/>
                <a:cs typeface="Times New Roman"/>
              </a:rPr>
              <a:t>run wind turbines.  </a:t>
            </a:r>
            <a:r>
              <a:rPr sz="2600" spc="-10" dirty="0">
                <a:latin typeface="Times New Roman"/>
                <a:cs typeface="Times New Roman"/>
              </a:rPr>
              <a:t>Modern </a:t>
            </a:r>
            <a:r>
              <a:rPr sz="2600" spc="-5" dirty="0">
                <a:latin typeface="Times New Roman"/>
                <a:cs typeface="Times New Roman"/>
              </a:rPr>
              <a:t>wind turbines </a:t>
            </a:r>
            <a:r>
              <a:rPr sz="2600" spc="-10" dirty="0">
                <a:latin typeface="Times New Roman"/>
                <a:cs typeface="Times New Roman"/>
              </a:rPr>
              <a:t>range from around </a:t>
            </a:r>
            <a:r>
              <a:rPr sz="2600" spc="-5" dirty="0">
                <a:latin typeface="Times New Roman"/>
                <a:cs typeface="Times New Roman"/>
              </a:rPr>
              <a:t>600  </a:t>
            </a:r>
            <a:r>
              <a:rPr sz="2600" dirty="0">
                <a:latin typeface="Times New Roman"/>
                <a:cs typeface="Times New Roman"/>
              </a:rPr>
              <a:t>kW </a:t>
            </a:r>
            <a:r>
              <a:rPr sz="2600" spc="-10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5 MW of </a:t>
            </a:r>
            <a:r>
              <a:rPr sz="2600" spc="-5" dirty="0">
                <a:latin typeface="Times New Roman"/>
                <a:cs typeface="Times New Roman"/>
              </a:rPr>
              <a:t>rated </a:t>
            </a:r>
            <a:r>
              <a:rPr sz="2600" spc="-50" dirty="0">
                <a:latin typeface="Times New Roman"/>
                <a:cs typeface="Times New Roman"/>
              </a:rPr>
              <a:t>power,</a:t>
            </a:r>
            <a:r>
              <a:rPr sz="2600" spc="3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although</a:t>
            </a:r>
            <a:endParaRPr sz="2600">
              <a:latin typeface="Times New Roman"/>
              <a:cs typeface="Times New Roman"/>
            </a:endParaRPr>
          </a:p>
          <a:p>
            <a:pPr marL="355600" marR="5080" algn="just">
              <a:lnSpc>
                <a:spcPts val="3400"/>
              </a:lnSpc>
            </a:pPr>
            <a:r>
              <a:rPr sz="2600" dirty="0">
                <a:latin typeface="Times New Roman"/>
                <a:cs typeface="Times New Roman"/>
              </a:rPr>
              <a:t>turbines </a:t>
            </a:r>
            <a:r>
              <a:rPr sz="2600" spc="-5" dirty="0">
                <a:latin typeface="Times New Roman"/>
                <a:cs typeface="Times New Roman"/>
              </a:rPr>
              <a:t>with </a:t>
            </a:r>
            <a:r>
              <a:rPr sz="2600" spc="-10" dirty="0">
                <a:latin typeface="Times New Roman"/>
                <a:cs typeface="Times New Roman"/>
              </a:rPr>
              <a:t>rated </a:t>
            </a:r>
            <a:r>
              <a:rPr sz="2600" dirty="0">
                <a:latin typeface="Times New Roman"/>
                <a:cs typeface="Times New Roman"/>
              </a:rPr>
              <a:t>output </a:t>
            </a:r>
            <a:r>
              <a:rPr sz="2600" spc="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1.5–3 </a:t>
            </a:r>
            <a:r>
              <a:rPr sz="2600" spc="-5" dirty="0">
                <a:latin typeface="Times New Roman"/>
                <a:cs typeface="Times New Roman"/>
              </a:rPr>
              <a:t>MW </a:t>
            </a:r>
            <a:r>
              <a:rPr sz="2600" dirty="0">
                <a:latin typeface="Times New Roman"/>
                <a:cs typeface="Times New Roman"/>
              </a:rPr>
              <a:t>have  </a:t>
            </a:r>
            <a:r>
              <a:rPr sz="2600" spc="-5" dirty="0">
                <a:latin typeface="Times New Roman"/>
                <a:cs typeface="Times New Roman"/>
              </a:rPr>
              <a:t>become the </a:t>
            </a:r>
            <a:r>
              <a:rPr sz="2600" dirty="0">
                <a:latin typeface="Times New Roman"/>
                <a:cs typeface="Times New Roman"/>
              </a:rPr>
              <a:t>most </a:t>
            </a:r>
            <a:r>
              <a:rPr sz="2600" spc="-10" dirty="0">
                <a:latin typeface="Times New Roman"/>
                <a:cs typeface="Times New Roman"/>
              </a:rPr>
              <a:t>common for </a:t>
            </a:r>
            <a:r>
              <a:rPr sz="2600" spc="-5" dirty="0">
                <a:latin typeface="Times New Roman"/>
                <a:cs typeface="Times New Roman"/>
              </a:rPr>
              <a:t>commercial </a:t>
            </a:r>
            <a:r>
              <a:rPr sz="2600" dirty="0">
                <a:latin typeface="Times New Roman"/>
                <a:cs typeface="Times New Roman"/>
              </a:rPr>
              <a:t>use; 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4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power</a:t>
            </a:r>
            <a:r>
              <a:rPr sz="2600" spc="3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output</a:t>
            </a:r>
            <a:r>
              <a:rPr sz="2600" spc="4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of</a:t>
            </a:r>
            <a:r>
              <a:rPr sz="2600" spc="4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409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turbine</a:t>
            </a:r>
            <a:r>
              <a:rPr sz="2600" spc="4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4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4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function</a:t>
            </a:r>
            <a:r>
              <a:rPr sz="2600" spc="409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of</a:t>
            </a:r>
            <a:endParaRPr sz="2600">
              <a:latin typeface="Times New Roman"/>
              <a:cs typeface="Times New Roman"/>
            </a:endParaRPr>
          </a:p>
          <a:p>
            <a:pPr marL="355600" marR="6350" algn="just">
              <a:lnSpc>
                <a:spcPts val="3400"/>
              </a:lnSpc>
              <a:spcBef>
                <a:spcPts val="5"/>
              </a:spcBef>
            </a:pP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cube </a:t>
            </a:r>
            <a:r>
              <a:rPr sz="2600" spc="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wind speed, so </a:t>
            </a:r>
            <a:r>
              <a:rPr sz="2600" dirty="0">
                <a:latin typeface="Times New Roman"/>
                <a:cs typeface="Times New Roman"/>
              </a:rPr>
              <a:t>as </a:t>
            </a:r>
            <a:r>
              <a:rPr sz="2600" spc="-5" dirty="0">
                <a:latin typeface="Times New Roman"/>
                <a:cs typeface="Times New Roman"/>
              </a:rPr>
              <a:t>wind speed  </a:t>
            </a:r>
            <a:r>
              <a:rPr sz="2600" dirty="0">
                <a:latin typeface="Times New Roman"/>
                <a:cs typeface="Times New Roman"/>
              </a:rPr>
              <a:t>increases, power </a:t>
            </a:r>
            <a:r>
              <a:rPr sz="2600" spc="5" dirty="0">
                <a:latin typeface="Times New Roman"/>
                <a:cs typeface="Times New Roman"/>
              </a:rPr>
              <a:t>output </a:t>
            </a:r>
            <a:r>
              <a:rPr sz="2600" dirty="0">
                <a:latin typeface="Times New Roman"/>
                <a:cs typeface="Times New Roman"/>
              </a:rPr>
              <a:t>increases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dramatically.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78040" y="2394204"/>
            <a:ext cx="4789932" cy="3334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1195" y="2039111"/>
            <a:ext cx="5519928" cy="3957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1691" y="2342133"/>
            <a:ext cx="5949315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Areas where </a:t>
            </a:r>
            <a:r>
              <a:rPr sz="2800" dirty="0">
                <a:latin typeface="Arial"/>
                <a:cs typeface="Arial"/>
              </a:rPr>
              <a:t>winds are stronger  and more </a:t>
            </a:r>
            <a:r>
              <a:rPr sz="2800" spc="-5" dirty="0">
                <a:latin typeface="Arial"/>
                <a:cs typeface="Arial"/>
              </a:rPr>
              <a:t>constant, such </a:t>
            </a:r>
            <a:r>
              <a:rPr sz="2800" dirty="0">
                <a:latin typeface="Arial"/>
                <a:cs typeface="Arial"/>
              </a:rPr>
              <a:t>as  </a:t>
            </a:r>
            <a:r>
              <a:rPr sz="2800" spc="-15" dirty="0">
                <a:latin typeface="Arial"/>
                <a:cs typeface="Arial"/>
              </a:rPr>
              <a:t>offshore </a:t>
            </a:r>
            <a:r>
              <a:rPr sz="2800" dirty="0">
                <a:latin typeface="Arial"/>
                <a:cs typeface="Arial"/>
              </a:rPr>
              <a:t>and high altitude </a:t>
            </a:r>
            <a:r>
              <a:rPr sz="2800" spc="-5" dirty="0">
                <a:latin typeface="Arial"/>
                <a:cs typeface="Arial"/>
              </a:rPr>
              <a:t>sites, </a:t>
            </a:r>
            <a:r>
              <a:rPr sz="2800" dirty="0">
                <a:latin typeface="Arial"/>
                <a:cs typeface="Arial"/>
              </a:rPr>
              <a:t>are  preferred </a:t>
            </a:r>
            <a:r>
              <a:rPr sz="2800" spc="-5" dirty="0">
                <a:latin typeface="Arial"/>
                <a:cs typeface="Arial"/>
              </a:rPr>
              <a:t>locations for wind farms.  </a:t>
            </a:r>
            <a:r>
              <a:rPr sz="2800" spc="-45" dirty="0">
                <a:latin typeface="Arial"/>
                <a:cs typeface="Arial"/>
              </a:rPr>
              <a:t>Typical </a:t>
            </a:r>
            <a:r>
              <a:rPr sz="2800" spc="-5" dirty="0">
                <a:latin typeface="Arial"/>
                <a:cs typeface="Arial"/>
              </a:rPr>
              <a:t>capacity factors are 20-  40%, </a:t>
            </a:r>
            <a:r>
              <a:rPr sz="2800" spc="-10" dirty="0">
                <a:latin typeface="Arial"/>
                <a:cs typeface="Arial"/>
              </a:rPr>
              <a:t>with </a:t>
            </a:r>
            <a:r>
              <a:rPr sz="2800" spc="-5" dirty="0">
                <a:latin typeface="Arial"/>
                <a:cs typeface="Arial"/>
              </a:rPr>
              <a:t>values </a:t>
            </a:r>
            <a:r>
              <a:rPr sz="2800" dirty="0">
                <a:latin typeface="Arial"/>
                <a:cs typeface="Arial"/>
              </a:rPr>
              <a:t>at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upper end  of </a:t>
            </a:r>
            <a:r>
              <a:rPr sz="2800" spc="-5" dirty="0">
                <a:latin typeface="Arial"/>
                <a:cs typeface="Arial"/>
              </a:rPr>
              <a:t>the range in particularly  </a:t>
            </a:r>
            <a:r>
              <a:rPr sz="2800" dirty="0">
                <a:latin typeface="Arial"/>
                <a:cs typeface="Arial"/>
              </a:rPr>
              <a:t>favorable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sites.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01971" y="603250"/>
            <a:ext cx="33089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WIND</a:t>
            </a:r>
            <a:r>
              <a:rPr spc="-160" dirty="0">
                <a:latin typeface="Carlito"/>
                <a:cs typeface="Carlito"/>
              </a:rPr>
              <a:t> </a:t>
            </a:r>
            <a:r>
              <a:rPr spc="-20" dirty="0">
                <a:latin typeface="Carlito"/>
                <a:cs typeface="Carlito"/>
              </a:rPr>
              <a:t>ENERGY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6860" y="1556003"/>
            <a:ext cx="8870192" cy="5167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1971" y="603250"/>
            <a:ext cx="33089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WIND</a:t>
            </a:r>
            <a:r>
              <a:rPr spc="-160" dirty="0">
                <a:latin typeface="Carlito"/>
                <a:cs typeface="Carlito"/>
              </a:rPr>
              <a:t> </a:t>
            </a:r>
            <a:r>
              <a:rPr spc="-20" dirty="0">
                <a:latin typeface="Carlito"/>
                <a:cs typeface="Carlito"/>
              </a:rPr>
              <a:t>ENERGY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9571" y="450850"/>
            <a:ext cx="3308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WIND</a:t>
            </a:r>
            <a:r>
              <a:rPr spc="-165" dirty="0">
                <a:latin typeface="Carlito"/>
                <a:cs typeface="Carlito"/>
              </a:rPr>
              <a:t> </a:t>
            </a:r>
            <a:r>
              <a:rPr spc="-20" dirty="0">
                <a:latin typeface="Carlito"/>
                <a:cs typeface="Carlito"/>
              </a:rPr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0984" y="2290063"/>
            <a:ext cx="1132459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45" dirty="0">
                <a:latin typeface="Arial"/>
                <a:cs typeface="Arial"/>
              </a:rPr>
              <a:t>Globally,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long-term technical potential of </a:t>
            </a:r>
            <a:r>
              <a:rPr sz="2800" spc="-5" dirty="0">
                <a:latin typeface="Arial"/>
                <a:cs typeface="Arial"/>
              </a:rPr>
              <a:t>wind </a:t>
            </a:r>
            <a:r>
              <a:rPr sz="2800" dirty="0">
                <a:latin typeface="Arial"/>
                <a:cs typeface="Arial"/>
              </a:rPr>
              <a:t>energy </a:t>
            </a:r>
            <a:r>
              <a:rPr sz="2800" spc="-10" dirty="0">
                <a:latin typeface="Arial"/>
                <a:cs typeface="Arial"/>
              </a:rPr>
              <a:t>is </a:t>
            </a:r>
            <a:r>
              <a:rPr sz="2800" spc="-5" dirty="0">
                <a:latin typeface="Arial"/>
                <a:cs typeface="Arial"/>
              </a:rPr>
              <a:t>believed  to be </a:t>
            </a:r>
            <a:r>
              <a:rPr sz="2800" spc="-10" dirty="0">
                <a:latin typeface="Arial"/>
                <a:cs typeface="Arial"/>
              </a:rPr>
              <a:t>five </a:t>
            </a:r>
            <a:r>
              <a:rPr sz="2800" spc="-5" dirty="0">
                <a:latin typeface="Arial"/>
                <a:cs typeface="Arial"/>
              </a:rPr>
              <a:t>times total </a:t>
            </a:r>
            <a:r>
              <a:rPr sz="2800" dirty="0">
                <a:latin typeface="Arial"/>
                <a:cs typeface="Arial"/>
              </a:rPr>
              <a:t>current </a:t>
            </a:r>
            <a:r>
              <a:rPr sz="2800" spc="-5" dirty="0">
                <a:latin typeface="Arial"/>
                <a:cs typeface="Arial"/>
              </a:rPr>
              <a:t>global </a:t>
            </a:r>
            <a:r>
              <a:rPr sz="2800" dirty="0">
                <a:latin typeface="Arial"/>
                <a:cs typeface="Arial"/>
              </a:rPr>
              <a:t>energy </a:t>
            </a:r>
            <a:r>
              <a:rPr sz="2800" spc="-5" dirty="0">
                <a:latin typeface="Arial"/>
                <a:cs typeface="Arial"/>
              </a:rPr>
              <a:t>production, </a:t>
            </a:r>
            <a:r>
              <a:rPr sz="2800" dirty="0">
                <a:latin typeface="Arial"/>
                <a:cs typeface="Arial"/>
              </a:rPr>
              <a:t>or </a:t>
            </a:r>
            <a:r>
              <a:rPr sz="2800" spc="-5" dirty="0">
                <a:latin typeface="Arial"/>
                <a:cs typeface="Arial"/>
              </a:rPr>
              <a:t>40 times  </a:t>
            </a:r>
            <a:r>
              <a:rPr sz="2800" dirty="0">
                <a:latin typeface="Arial"/>
                <a:cs typeface="Arial"/>
              </a:rPr>
              <a:t>current electricity demand. </a:t>
            </a:r>
            <a:r>
              <a:rPr sz="2800" spc="-5" dirty="0">
                <a:latin typeface="Arial"/>
                <a:cs typeface="Arial"/>
              </a:rPr>
              <a:t>This could </a:t>
            </a:r>
            <a:r>
              <a:rPr sz="2800" dirty="0">
                <a:latin typeface="Arial"/>
                <a:cs typeface="Arial"/>
              </a:rPr>
              <a:t>require wind turbines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dirty="0">
                <a:latin typeface="Arial"/>
                <a:cs typeface="Arial"/>
              </a:rPr>
              <a:t>be  installed</a:t>
            </a:r>
            <a:r>
              <a:rPr sz="2800" spc="4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over</a:t>
            </a:r>
            <a:r>
              <a:rPr sz="2800" spc="4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large</a:t>
            </a:r>
            <a:r>
              <a:rPr sz="2800" spc="5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areas,</a:t>
            </a:r>
            <a:r>
              <a:rPr sz="2800" spc="4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particularly</a:t>
            </a:r>
            <a:r>
              <a:rPr sz="2800" spc="48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in</a:t>
            </a:r>
            <a:r>
              <a:rPr sz="2800" spc="4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areas</a:t>
            </a:r>
            <a:r>
              <a:rPr sz="2800" spc="4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4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higher</a:t>
            </a:r>
            <a:r>
              <a:rPr sz="2800" spc="484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wind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496" y="3997197"/>
            <a:ext cx="1013269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resources. </a:t>
            </a:r>
            <a:r>
              <a:rPr sz="2800" spc="-20" dirty="0">
                <a:latin typeface="Arial"/>
                <a:cs typeface="Arial"/>
              </a:rPr>
              <a:t>Offshore </a:t>
            </a:r>
            <a:r>
              <a:rPr sz="2800" dirty="0">
                <a:latin typeface="Arial"/>
                <a:cs typeface="Arial"/>
              </a:rPr>
              <a:t>resources experience </a:t>
            </a:r>
            <a:r>
              <a:rPr sz="2800" spc="-5" dirty="0">
                <a:latin typeface="Arial"/>
                <a:cs typeface="Arial"/>
              </a:rPr>
              <a:t>mean wind </a:t>
            </a:r>
            <a:r>
              <a:rPr sz="2800" dirty="0">
                <a:latin typeface="Arial"/>
                <a:cs typeface="Arial"/>
              </a:rPr>
              <a:t>speeds</a:t>
            </a:r>
            <a:r>
              <a:rPr sz="2800" spc="290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of</a:t>
            </a:r>
            <a:endParaRPr sz="2800">
              <a:latin typeface="Arial"/>
              <a:cs typeface="Arial"/>
            </a:endParaRPr>
          </a:p>
          <a:p>
            <a:pPr marL="12700" marR="238125">
              <a:lnSpc>
                <a:spcPct val="100000"/>
              </a:lnSpc>
              <a:tabLst>
                <a:tab pos="1214755" algn="l"/>
                <a:tab pos="2626360" algn="l"/>
                <a:tab pos="3601720" algn="l"/>
                <a:tab pos="4476750" algn="l"/>
                <a:tab pos="5057140" algn="l"/>
                <a:tab pos="6111875" algn="l"/>
                <a:tab pos="6771005" algn="l"/>
                <a:tab pos="8322309" algn="l"/>
              </a:tabLst>
            </a:pPr>
            <a:r>
              <a:rPr sz="2800" spc="-10" dirty="0">
                <a:latin typeface="Arial"/>
                <a:cs typeface="Arial"/>
              </a:rPr>
              <a:t>~</a:t>
            </a:r>
            <a:r>
              <a:rPr sz="2800" dirty="0">
                <a:latin typeface="Arial"/>
                <a:cs typeface="Arial"/>
              </a:rPr>
              <a:t>90</a:t>
            </a:r>
            <a:r>
              <a:rPr sz="2800" spc="-5" dirty="0">
                <a:latin typeface="Arial"/>
                <a:cs typeface="Arial"/>
              </a:rPr>
              <a:t>%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gre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" dirty="0">
                <a:latin typeface="Arial"/>
                <a:cs typeface="Arial"/>
              </a:rPr>
              <a:t>ter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than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th</a:t>
            </a:r>
            <a:r>
              <a:rPr sz="2800" spc="5" dirty="0">
                <a:latin typeface="Arial"/>
                <a:cs typeface="Arial"/>
              </a:rPr>
              <a:t>a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00" dirty="0">
                <a:latin typeface="Arial"/>
                <a:cs typeface="Arial"/>
              </a:rPr>
              <a:t>	o</a:t>
            </a:r>
            <a:r>
              <a:rPr sz="2800" spc="-5" dirty="0">
                <a:latin typeface="Arial"/>
                <a:cs typeface="Arial"/>
              </a:rPr>
              <a:t>f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l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" dirty="0">
                <a:latin typeface="Arial"/>
                <a:cs typeface="Arial"/>
              </a:rPr>
              <a:t>n</a:t>
            </a:r>
            <a:r>
              <a:rPr sz="2800" dirty="0">
                <a:latin typeface="Arial"/>
                <a:cs typeface="Arial"/>
              </a:rPr>
              <a:t>d</a:t>
            </a:r>
            <a:r>
              <a:rPr sz="2800" spc="-5" dirty="0">
                <a:latin typeface="Arial"/>
                <a:cs typeface="Arial"/>
              </a:rPr>
              <a:t>,</a:t>
            </a:r>
            <a:r>
              <a:rPr sz="2800" dirty="0">
                <a:latin typeface="Arial"/>
                <a:cs typeface="Arial"/>
              </a:rPr>
              <a:t>	s</a:t>
            </a:r>
            <a:r>
              <a:rPr sz="2800" spc="-5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o</a:t>
            </a:r>
            <a:r>
              <a:rPr sz="2800" spc="-70" dirty="0">
                <a:latin typeface="Arial"/>
                <a:cs typeface="Arial"/>
              </a:rPr>
              <a:t>f</a:t>
            </a:r>
            <a:r>
              <a:rPr sz="2800" spc="-15" dirty="0">
                <a:latin typeface="Arial"/>
                <a:cs typeface="Arial"/>
              </a:rPr>
              <a:t>f</a:t>
            </a:r>
            <a:r>
              <a:rPr sz="2800" spc="-2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h</a:t>
            </a:r>
            <a:r>
              <a:rPr sz="2800" spc="-20" dirty="0">
                <a:latin typeface="Arial"/>
                <a:cs typeface="Arial"/>
              </a:rPr>
              <a:t>o</a:t>
            </a:r>
            <a:r>
              <a:rPr sz="2800" spc="-5" dirty="0">
                <a:latin typeface="Arial"/>
                <a:cs typeface="Arial"/>
              </a:rPr>
              <a:t>re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r</a:t>
            </a:r>
            <a:r>
              <a:rPr sz="2800" dirty="0">
                <a:latin typeface="Arial"/>
                <a:cs typeface="Arial"/>
              </a:rPr>
              <a:t>e</a:t>
            </a:r>
            <a:r>
              <a:rPr sz="2800" spc="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u</a:t>
            </a:r>
            <a:r>
              <a:rPr sz="2800" spc="-5" dirty="0">
                <a:latin typeface="Arial"/>
                <a:cs typeface="Arial"/>
              </a:rPr>
              <a:t>r</a:t>
            </a:r>
            <a:r>
              <a:rPr sz="2800" dirty="0">
                <a:latin typeface="Arial"/>
                <a:cs typeface="Arial"/>
              </a:rPr>
              <a:t>c</a:t>
            </a:r>
            <a:r>
              <a:rPr sz="2800" spc="-5" dirty="0">
                <a:latin typeface="Arial"/>
                <a:cs typeface="Arial"/>
              </a:rPr>
              <a:t>es  </a:t>
            </a:r>
            <a:r>
              <a:rPr sz="2800" dirty="0">
                <a:latin typeface="Arial"/>
                <a:cs typeface="Arial"/>
              </a:rPr>
              <a:t>contribute substantially </a:t>
            </a:r>
            <a:r>
              <a:rPr sz="2800" spc="-5" dirty="0">
                <a:latin typeface="Arial"/>
                <a:cs typeface="Arial"/>
              </a:rPr>
              <a:t>more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energy.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7700" y="4423917"/>
            <a:ext cx="87439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could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6902" y="0"/>
            <a:ext cx="28536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Carlito"/>
                <a:cs typeface="Carlito"/>
              </a:rPr>
              <a:t>Hydropower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597534"/>
            <a:ext cx="11456035" cy="5984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spc="-15" dirty="0">
                <a:latin typeface="Times New Roman"/>
                <a:cs typeface="Times New Roman"/>
              </a:rPr>
              <a:t>Energy </a:t>
            </a:r>
            <a:r>
              <a:rPr sz="2600" spc="-10" dirty="0">
                <a:latin typeface="Times New Roman"/>
                <a:cs typeface="Times New Roman"/>
              </a:rPr>
              <a:t>in water </a:t>
            </a:r>
            <a:r>
              <a:rPr sz="2600" spc="-15" dirty="0">
                <a:latin typeface="Times New Roman"/>
                <a:cs typeface="Times New Roman"/>
              </a:rPr>
              <a:t>can </a:t>
            </a:r>
            <a:r>
              <a:rPr sz="2600" spc="-5" dirty="0">
                <a:latin typeface="Times New Roman"/>
                <a:cs typeface="Times New Roman"/>
              </a:rPr>
              <a:t>be </a:t>
            </a:r>
            <a:r>
              <a:rPr sz="2600" spc="-10" dirty="0">
                <a:latin typeface="Times New Roman"/>
                <a:cs typeface="Times New Roman"/>
              </a:rPr>
              <a:t>harnessed </a:t>
            </a:r>
            <a:r>
              <a:rPr sz="2600" spc="-5" dirty="0">
                <a:latin typeface="Times New Roman"/>
                <a:cs typeface="Times New Roman"/>
              </a:rPr>
              <a:t>and used. Since </a:t>
            </a:r>
            <a:r>
              <a:rPr sz="2600" spc="-10" dirty="0">
                <a:latin typeface="Times New Roman"/>
                <a:cs typeface="Times New Roman"/>
              </a:rPr>
              <a:t>water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spc="-10" dirty="0">
                <a:latin typeface="Times New Roman"/>
                <a:cs typeface="Times New Roman"/>
              </a:rPr>
              <a:t>about </a:t>
            </a:r>
            <a:r>
              <a:rPr sz="2600" spc="-5" dirty="0">
                <a:latin typeface="Times New Roman"/>
                <a:cs typeface="Times New Roman"/>
              </a:rPr>
              <a:t>800 times denser  </a:t>
            </a:r>
            <a:r>
              <a:rPr sz="2600" spc="-10" dirty="0">
                <a:latin typeface="Times New Roman"/>
                <a:cs typeface="Times New Roman"/>
              </a:rPr>
              <a:t>than </a:t>
            </a:r>
            <a:r>
              <a:rPr sz="2600" spc="-60" dirty="0">
                <a:latin typeface="Times New Roman"/>
                <a:cs typeface="Times New Roman"/>
              </a:rPr>
              <a:t>air, </a:t>
            </a:r>
            <a:r>
              <a:rPr sz="2600" spc="-10" dirty="0">
                <a:latin typeface="Times New Roman"/>
                <a:cs typeface="Times New Roman"/>
              </a:rPr>
              <a:t>even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slow </a:t>
            </a:r>
            <a:r>
              <a:rPr sz="2600" dirty="0">
                <a:latin typeface="Times New Roman"/>
                <a:cs typeface="Times New Roman"/>
              </a:rPr>
              <a:t>flowing </a:t>
            </a:r>
            <a:r>
              <a:rPr sz="2600" spc="-5" dirty="0">
                <a:latin typeface="Times New Roman"/>
                <a:cs typeface="Times New Roman"/>
              </a:rPr>
              <a:t>stream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45" dirty="0">
                <a:latin typeface="Times New Roman"/>
                <a:cs typeface="Times New Roman"/>
              </a:rPr>
              <a:t>water, </a:t>
            </a:r>
            <a:r>
              <a:rPr sz="2600" spc="-5" dirty="0">
                <a:latin typeface="Times New Roman"/>
                <a:cs typeface="Times New Roman"/>
              </a:rPr>
              <a:t>or </a:t>
            </a:r>
            <a:r>
              <a:rPr sz="2600" spc="-10" dirty="0">
                <a:latin typeface="Times New Roman"/>
                <a:cs typeface="Times New Roman"/>
              </a:rPr>
              <a:t>moderate </a:t>
            </a:r>
            <a:r>
              <a:rPr sz="2600" spc="-5" dirty="0">
                <a:latin typeface="Times New Roman"/>
                <a:cs typeface="Times New Roman"/>
              </a:rPr>
              <a:t>sea swell, </a:t>
            </a:r>
            <a:r>
              <a:rPr sz="2600" spc="-10" dirty="0">
                <a:latin typeface="Times New Roman"/>
                <a:cs typeface="Times New Roman"/>
              </a:rPr>
              <a:t>can yield  </a:t>
            </a:r>
            <a:r>
              <a:rPr sz="2600" spc="-5" dirty="0">
                <a:latin typeface="Times New Roman"/>
                <a:cs typeface="Times New Roman"/>
              </a:rPr>
              <a:t>considerable amounts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energy.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Times New Roman"/>
                <a:cs typeface="Times New Roman"/>
              </a:rPr>
              <a:t>There are </a:t>
            </a:r>
            <a:r>
              <a:rPr sz="2600" spc="-5" dirty="0">
                <a:latin typeface="Times New Roman"/>
                <a:cs typeface="Times New Roman"/>
              </a:rPr>
              <a:t>many forms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water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energy: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spc="-10" dirty="0">
                <a:latin typeface="Times New Roman"/>
                <a:cs typeface="Times New Roman"/>
              </a:rPr>
              <a:t>Micro </a:t>
            </a:r>
            <a:r>
              <a:rPr sz="2600" spc="-5" dirty="0">
                <a:latin typeface="Times New Roman"/>
                <a:cs typeface="Times New Roman"/>
              </a:rPr>
              <a:t>hydro systems are hydroelectric power </a:t>
            </a:r>
            <a:r>
              <a:rPr sz="2600" spc="-10" dirty="0">
                <a:latin typeface="Times New Roman"/>
                <a:cs typeface="Times New Roman"/>
              </a:rPr>
              <a:t>installations </a:t>
            </a:r>
            <a:r>
              <a:rPr sz="2600" dirty="0">
                <a:latin typeface="Times New Roman"/>
                <a:cs typeface="Times New Roman"/>
              </a:rPr>
              <a:t>that </a:t>
            </a:r>
            <a:r>
              <a:rPr sz="2600" spc="-10" dirty="0">
                <a:latin typeface="Times New Roman"/>
                <a:cs typeface="Times New Roman"/>
              </a:rPr>
              <a:t>typically </a:t>
            </a:r>
            <a:r>
              <a:rPr sz="2600" spc="-5" dirty="0">
                <a:latin typeface="Times New Roman"/>
                <a:cs typeface="Times New Roman"/>
              </a:rPr>
              <a:t>produce </a:t>
            </a:r>
            <a:r>
              <a:rPr sz="2600" spc="-10" dirty="0">
                <a:latin typeface="Times New Roman"/>
                <a:cs typeface="Times New Roman"/>
              </a:rPr>
              <a:t>up  </a:t>
            </a:r>
            <a:r>
              <a:rPr sz="2600" spc="-5" dirty="0">
                <a:latin typeface="Times New Roman"/>
                <a:cs typeface="Times New Roman"/>
              </a:rPr>
              <a:t>to 100 kW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0" dirty="0">
                <a:latin typeface="Times New Roman"/>
                <a:cs typeface="Times New Roman"/>
              </a:rPr>
              <a:t>power. </a:t>
            </a:r>
            <a:r>
              <a:rPr sz="2600" spc="-10" dirty="0">
                <a:latin typeface="Times New Roman"/>
                <a:cs typeface="Times New Roman"/>
              </a:rPr>
              <a:t>They </a:t>
            </a:r>
            <a:r>
              <a:rPr sz="2600" spc="-5" dirty="0">
                <a:latin typeface="Times New Roman"/>
                <a:cs typeface="Times New Roman"/>
              </a:rPr>
              <a:t>are </a:t>
            </a:r>
            <a:r>
              <a:rPr sz="2600" spc="-10" dirty="0">
                <a:latin typeface="Times New Roman"/>
                <a:cs typeface="Times New Roman"/>
              </a:rPr>
              <a:t>often used in water rich areas </a:t>
            </a:r>
            <a:r>
              <a:rPr sz="2600" spc="-5" dirty="0">
                <a:latin typeface="Times New Roman"/>
                <a:cs typeface="Times New Roman"/>
              </a:rPr>
              <a:t>as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10" dirty="0">
                <a:latin typeface="Times New Roman"/>
                <a:cs typeface="Times New Roman"/>
              </a:rPr>
              <a:t>remote-area power  </a:t>
            </a:r>
            <a:r>
              <a:rPr sz="2600" spc="-5" dirty="0">
                <a:latin typeface="Times New Roman"/>
                <a:cs typeface="Times New Roman"/>
              </a:rPr>
              <a:t>supply </a:t>
            </a:r>
            <a:r>
              <a:rPr sz="2600" dirty="0">
                <a:latin typeface="Times New Roman"/>
                <a:cs typeface="Times New Roman"/>
              </a:rPr>
              <a:t>(RAPS). </a:t>
            </a:r>
            <a:r>
              <a:rPr sz="2600" spc="-10" dirty="0">
                <a:latin typeface="Times New Roman"/>
                <a:cs typeface="Times New Roman"/>
              </a:rPr>
              <a:t>There </a:t>
            </a:r>
            <a:r>
              <a:rPr sz="2600" spc="-5" dirty="0">
                <a:latin typeface="Times New Roman"/>
                <a:cs typeface="Times New Roman"/>
              </a:rPr>
              <a:t>are many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these installations around the </a:t>
            </a:r>
            <a:r>
              <a:rPr sz="2600" dirty="0">
                <a:latin typeface="Times New Roman"/>
                <a:cs typeface="Times New Roman"/>
              </a:rPr>
              <a:t>world, </a:t>
            </a:r>
            <a:r>
              <a:rPr sz="2600" spc="-5" dirty="0">
                <a:latin typeface="Times New Roman"/>
                <a:cs typeface="Times New Roman"/>
              </a:rPr>
              <a:t>including  several delivering </a:t>
            </a:r>
            <a:r>
              <a:rPr sz="2600" dirty="0">
                <a:latin typeface="Times New Roman"/>
                <a:cs typeface="Times New Roman"/>
              </a:rPr>
              <a:t>around 50 </a:t>
            </a:r>
            <a:r>
              <a:rPr sz="2600" spc="5" dirty="0">
                <a:latin typeface="Times New Roman"/>
                <a:cs typeface="Times New Roman"/>
              </a:rPr>
              <a:t>kW </a:t>
            </a:r>
            <a:r>
              <a:rPr sz="2600" spc="-5" dirty="0">
                <a:latin typeface="Times New Roman"/>
                <a:cs typeface="Times New Roman"/>
              </a:rPr>
              <a:t>in </a:t>
            </a:r>
            <a:r>
              <a:rPr sz="2600" dirty="0">
                <a:latin typeface="Times New Roman"/>
                <a:cs typeface="Times New Roman"/>
              </a:rPr>
              <a:t>the Solomon</a:t>
            </a:r>
            <a:r>
              <a:rPr sz="2600" spc="-1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Islands.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  <a:spcBef>
                <a:spcPts val="5"/>
              </a:spcBef>
            </a:pPr>
            <a:r>
              <a:rPr sz="2600" spc="-5" dirty="0">
                <a:latin typeface="Times New Roman"/>
                <a:cs typeface="Times New Roman"/>
              </a:rPr>
              <a:t>Damless </a:t>
            </a:r>
            <a:r>
              <a:rPr sz="2600" spc="-10" dirty="0">
                <a:latin typeface="Times New Roman"/>
                <a:cs typeface="Times New Roman"/>
              </a:rPr>
              <a:t>hydro systems </a:t>
            </a:r>
            <a:r>
              <a:rPr sz="2600" spc="-5" dirty="0">
                <a:latin typeface="Times New Roman"/>
                <a:cs typeface="Times New Roman"/>
              </a:rPr>
              <a:t>derive kinetic </a:t>
            </a:r>
            <a:r>
              <a:rPr sz="2600" spc="-15" dirty="0">
                <a:latin typeface="Times New Roman"/>
                <a:cs typeface="Times New Roman"/>
              </a:rPr>
              <a:t>energy </a:t>
            </a:r>
            <a:r>
              <a:rPr sz="2600" dirty="0">
                <a:latin typeface="Times New Roman"/>
                <a:cs typeface="Times New Roman"/>
              </a:rPr>
              <a:t>from </a:t>
            </a:r>
            <a:r>
              <a:rPr sz="2600" spc="-5" dirty="0">
                <a:latin typeface="Times New Roman"/>
                <a:cs typeface="Times New Roman"/>
              </a:rPr>
              <a:t>rivers and oceans without using </a:t>
            </a:r>
            <a:r>
              <a:rPr sz="2600" dirty="0">
                <a:latin typeface="Times New Roman"/>
                <a:cs typeface="Times New Roman"/>
              </a:rPr>
              <a:t>a  </a:t>
            </a:r>
            <a:r>
              <a:rPr sz="2600" spc="-5" dirty="0">
                <a:latin typeface="Times New Roman"/>
                <a:cs typeface="Times New Roman"/>
              </a:rPr>
              <a:t>dam. </a:t>
            </a:r>
            <a:r>
              <a:rPr sz="2600" spc="-10" dirty="0">
                <a:latin typeface="Times New Roman"/>
                <a:cs typeface="Times New Roman"/>
              </a:rPr>
              <a:t>Ocean energy describes </a:t>
            </a:r>
            <a:r>
              <a:rPr sz="2600" spc="-5" dirty="0">
                <a:latin typeface="Times New Roman"/>
                <a:cs typeface="Times New Roman"/>
              </a:rPr>
              <a:t>all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technologies to harness </a:t>
            </a:r>
            <a:r>
              <a:rPr sz="2600" spc="-15" dirty="0">
                <a:latin typeface="Times New Roman"/>
                <a:cs typeface="Times New Roman"/>
              </a:rPr>
              <a:t>energy </a:t>
            </a:r>
            <a:r>
              <a:rPr sz="2600" spc="-5" dirty="0">
                <a:latin typeface="Times New Roman"/>
                <a:cs typeface="Times New Roman"/>
              </a:rPr>
              <a:t>from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ocean  </a:t>
            </a:r>
            <a:r>
              <a:rPr sz="2600" spc="-5" dirty="0">
                <a:latin typeface="Times New Roman"/>
                <a:cs typeface="Times New Roman"/>
              </a:rPr>
              <a:t>and the </a:t>
            </a:r>
            <a:r>
              <a:rPr sz="2600" spc="-10" dirty="0">
                <a:latin typeface="Times New Roman"/>
                <a:cs typeface="Times New Roman"/>
              </a:rPr>
              <a:t>sea. </a:t>
            </a:r>
            <a:r>
              <a:rPr sz="2600" dirty="0">
                <a:latin typeface="Times New Roman"/>
                <a:cs typeface="Times New Roman"/>
              </a:rPr>
              <a:t>This </a:t>
            </a:r>
            <a:r>
              <a:rPr sz="2600" spc="-5" dirty="0">
                <a:latin typeface="Times New Roman"/>
                <a:cs typeface="Times New Roman"/>
              </a:rPr>
              <a:t>includes marine current </a:t>
            </a:r>
            <a:r>
              <a:rPr sz="2600" spc="-45" dirty="0">
                <a:latin typeface="Times New Roman"/>
                <a:cs typeface="Times New Roman"/>
              </a:rPr>
              <a:t>power, </a:t>
            </a:r>
            <a:r>
              <a:rPr sz="2600" spc="-10" dirty="0">
                <a:latin typeface="Times New Roman"/>
                <a:cs typeface="Times New Roman"/>
              </a:rPr>
              <a:t>ocean </a:t>
            </a:r>
            <a:r>
              <a:rPr sz="2600" spc="-5" dirty="0">
                <a:latin typeface="Times New Roman"/>
                <a:cs typeface="Times New Roman"/>
              </a:rPr>
              <a:t>thermal </a:t>
            </a:r>
            <a:r>
              <a:rPr sz="2600" spc="-10" dirty="0">
                <a:latin typeface="Times New Roman"/>
                <a:cs typeface="Times New Roman"/>
              </a:rPr>
              <a:t>energy conversion,  </a:t>
            </a:r>
            <a:r>
              <a:rPr sz="2600" dirty="0">
                <a:latin typeface="Times New Roman"/>
                <a:cs typeface="Times New Roman"/>
              </a:rPr>
              <a:t>and </a:t>
            </a:r>
            <a:r>
              <a:rPr sz="2600" spc="-5" dirty="0">
                <a:latin typeface="Times New Roman"/>
                <a:cs typeface="Times New Roman"/>
              </a:rPr>
              <a:t>tidal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power.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044" y="1626107"/>
            <a:ext cx="9639300" cy="5003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27778" y="603250"/>
            <a:ext cx="2853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latin typeface="Carlito"/>
                <a:cs typeface="Carlito"/>
              </a:rPr>
              <a:t>Hydropower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7778" y="603250"/>
            <a:ext cx="2853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latin typeface="Carlito"/>
                <a:cs typeface="Carlito"/>
              </a:rPr>
              <a:t>Hydropower</a:t>
            </a:r>
          </a:p>
        </p:txBody>
      </p:sp>
      <p:sp>
        <p:nvSpPr>
          <p:cNvPr id="3" name="object 3"/>
          <p:cNvSpPr/>
          <p:nvPr/>
        </p:nvSpPr>
        <p:spPr>
          <a:xfrm>
            <a:off x="1723644" y="1722120"/>
            <a:ext cx="8523732" cy="4934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3873" y="603250"/>
            <a:ext cx="28441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Solar</a:t>
            </a:r>
            <a:r>
              <a:rPr spc="-14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091" y="1359788"/>
            <a:ext cx="6531609" cy="48996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17500" marR="422275" indent="-304800">
              <a:lnSpc>
                <a:spcPct val="96900"/>
              </a:lnSpc>
              <a:spcBef>
                <a:spcPts val="200"/>
              </a:spcBef>
              <a:buFont typeface="Wingdings"/>
              <a:buChar char=""/>
              <a:tabLst>
                <a:tab pos="355600" algn="l"/>
                <a:tab pos="1044575" algn="l"/>
                <a:tab pos="1213485" algn="l"/>
                <a:tab pos="1670050" algn="l"/>
                <a:tab pos="2292350" algn="l"/>
                <a:tab pos="2658110" algn="l"/>
                <a:tab pos="3006725" algn="l"/>
                <a:tab pos="3228340" algn="l"/>
                <a:tab pos="3731895" algn="l"/>
                <a:tab pos="4305935" algn="l"/>
                <a:tab pos="4642485" algn="l"/>
                <a:tab pos="5198745" algn="l"/>
                <a:tab pos="5456555" algn="l"/>
              </a:tabLst>
            </a:pPr>
            <a:r>
              <a:rPr dirty="0"/>
              <a:t>	</a:t>
            </a:r>
            <a:r>
              <a:rPr sz="2600" dirty="0">
                <a:latin typeface="Times New Roman"/>
                <a:cs typeface="Times New Roman"/>
              </a:rPr>
              <a:t>Solar	</a:t>
            </a:r>
            <a:r>
              <a:rPr sz="2600" spc="-10" dirty="0">
                <a:latin typeface="Times New Roman"/>
                <a:cs typeface="Times New Roman"/>
              </a:rPr>
              <a:t>energy	is	</a:t>
            </a:r>
            <a:r>
              <a:rPr sz="2600" dirty="0">
                <a:latin typeface="Times New Roman"/>
                <a:cs typeface="Times New Roman"/>
              </a:rPr>
              <a:t>the	</a:t>
            </a:r>
            <a:r>
              <a:rPr sz="2600" spc="-15" dirty="0">
                <a:latin typeface="Times New Roman"/>
                <a:cs typeface="Times New Roman"/>
              </a:rPr>
              <a:t>energy 		</a:t>
            </a:r>
            <a:r>
              <a:rPr sz="2600" dirty="0">
                <a:latin typeface="Times New Roman"/>
                <a:cs typeface="Times New Roman"/>
              </a:rPr>
              <a:t> derived	from</a:t>
            </a:r>
            <a:r>
              <a:rPr sz="3900" spc="22" baseline="1068" dirty="0">
                <a:latin typeface="Times New Roman"/>
                <a:cs typeface="Times New Roman"/>
              </a:rPr>
              <a:t> </a:t>
            </a:r>
            <a:r>
              <a:rPr sz="3900" baseline="1068" dirty="0">
                <a:latin typeface="Times New Roman"/>
                <a:cs typeface="Times New Roman"/>
              </a:rPr>
              <a:t>the	sun	</a:t>
            </a:r>
            <a:r>
              <a:rPr sz="2600" spc="-5" dirty="0">
                <a:latin typeface="Times New Roman"/>
                <a:cs typeface="Times New Roman"/>
              </a:rPr>
              <a:t>through	the	</a:t>
            </a:r>
            <a:r>
              <a:rPr sz="2600" dirty="0">
                <a:latin typeface="Times New Roman"/>
                <a:cs typeface="Times New Roman"/>
              </a:rPr>
              <a:t>form	of	</a:t>
            </a:r>
            <a:r>
              <a:rPr sz="2600" spc="-5" dirty="0">
                <a:latin typeface="Times New Roman"/>
                <a:cs typeface="Times New Roman"/>
              </a:rPr>
              <a:t>solar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radiation.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3500">
              <a:latin typeface="Times New Roman"/>
              <a:cs typeface="Times New Roman"/>
            </a:endParaRPr>
          </a:p>
          <a:p>
            <a:pPr marL="495300" marR="6350" lvl="1" indent="-342900">
              <a:lnSpc>
                <a:spcPct val="100000"/>
              </a:lnSpc>
              <a:buFont typeface="Wingdings"/>
              <a:buChar char=""/>
              <a:tabLst>
                <a:tab pos="495934" algn="l"/>
                <a:tab pos="3489325" algn="l"/>
              </a:tabLst>
            </a:pPr>
            <a:r>
              <a:rPr sz="2600" spc="-5" dirty="0">
                <a:latin typeface="Times New Roman"/>
                <a:cs typeface="Times New Roman"/>
              </a:rPr>
              <a:t>Solar powered </a:t>
            </a:r>
            <a:r>
              <a:rPr sz="2600" spc="-10" dirty="0">
                <a:latin typeface="Times New Roman"/>
                <a:cs typeface="Times New Roman"/>
              </a:rPr>
              <a:t>electrical Generation relies on  </a:t>
            </a:r>
            <a:r>
              <a:rPr sz="2600" spc="-5" dirty="0">
                <a:latin typeface="Times New Roman"/>
                <a:cs typeface="Times New Roman"/>
              </a:rPr>
              <a:t>photovoltaic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heat	</a:t>
            </a:r>
            <a:r>
              <a:rPr sz="2600" spc="-5" dirty="0">
                <a:latin typeface="Times New Roman"/>
                <a:cs typeface="Times New Roman"/>
              </a:rPr>
              <a:t>engines.</a:t>
            </a:r>
            <a:endParaRPr sz="2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2850">
              <a:latin typeface="Times New Roman"/>
              <a:cs typeface="Times New Roman"/>
            </a:endParaRPr>
          </a:p>
          <a:p>
            <a:pPr marL="165100" marR="5080" lvl="1" indent="-1270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95934" algn="l"/>
              </a:tabLst>
            </a:pP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partial </a:t>
            </a:r>
            <a:r>
              <a:rPr sz="2600" spc="-10" dirty="0">
                <a:latin typeface="Times New Roman"/>
                <a:cs typeface="Times New Roman"/>
              </a:rPr>
              <a:t>list </a:t>
            </a:r>
            <a:r>
              <a:rPr sz="2600" spc="-5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other solar applications  </a:t>
            </a:r>
            <a:r>
              <a:rPr sz="2600" spc="-5" dirty="0">
                <a:latin typeface="Times New Roman"/>
                <a:cs typeface="Times New Roman"/>
              </a:rPr>
              <a:t>includes </a:t>
            </a:r>
            <a:r>
              <a:rPr sz="2600" spc="-10" dirty="0">
                <a:latin typeface="Times New Roman"/>
                <a:cs typeface="Times New Roman"/>
              </a:rPr>
              <a:t>space heating </a:t>
            </a:r>
            <a:r>
              <a:rPr sz="2600" spc="-5" dirty="0">
                <a:latin typeface="Times New Roman"/>
                <a:cs typeface="Times New Roman"/>
              </a:rPr>
              <a:t>and cooling </a:t>
            </a:r>
            <a:r>
              <a:rPr sz="2600" spc="-10" dirty="0">
                <a:latin typeface="Times New Roman"/>
                <a:cs typeface="Times New Roman"/>
              </a:rPr>
              <a:t>through  </a:t>
            </a:r>
            <a:r>
              <a:rPr sz="2600" spc="-5" dirty="0">
                <a:latin typeface="Times New Roman"/>
                <a:cs typeface="Times New Roman"/>
              </a:rPr>
              <a:t>solar architecture, </a:t>
            </a:r>
            <a:r>
              <a:rPr sz="2600" spc="-10" dirty="0">
                <a:latin typeface="Times New Roman"/>
                <a:cs typeface="Times New Roman"/>
              </a:rPr>
              <a:t>day </a:t>
            </a:r>
            <a:r>
              <a:rPr sz="2600" spc="-5" dirty="0">
                <a:latin typeface="Times New Roman"/>
                <a:cs typeface="Times New Roman"/>
              </a:rPr>
              <a:t>lighting, </a:t>
            </a:r>
            <a:r>
              <a:rPr sz="2600" spc="-10" dirty="0">
                <a:latin typeface="Times New Roman"/>
                <a:cs typeface="Times New Roman"/>
              </a:rPr>
              <a:t>solar </a:t>
            </a:r>
            <a:r>
              <a:rPr sz="2600" dirty="0">
                <a:latin typeface="Times New Roman"/>
                <a:cs typeface="Times New Roman"/>
              </a:rPr>
              <a:t>hot </a:t>
            </a:r>
            <a:r>
              <a:rPr sz="2600" spc="-45" dirty="0">
                <a:latin typeface="Times New Roman"/>
                <a:cs typeface="Times New Roman"/>
              </a:rPr>
              <a:t>water,  </a:t>
            </a:r>
            <a:r>
              <a:rPr sz="2600" spc="-5" dirty="0">
                <a:latin typeface="Times New Roman"/>
                <a:cs typeface="Times New Roman"/>
              </a:rPr>
              <a:t>solar cooking, and high </a:t>
            </a:r>
            <a:r>
              <a:rPr sz="2600" spc="-10" dirty="0">
                <a:latin typeface="Times New Roman"/>
                <a:cs typeface="Times New Roman"/>
              </a:rPr>
              <a:t>temperature process  </a:t>
            </a:r>
            <a:r>
              <a:rPr sz="2600" dirty="0">
                <a:latin typeface="Times New Roman"/>
                <a:cs typeface="Times New Roman"/>
              </a:rPr>
              <a:t>heat for </a:t>
            </a:r>
            <a:r>
              <a:rPr sz="2600" spc="-5" dirty="0">
                <a:latin typeface="Times New Roman"/>
                <a:cs typeface="Times New Roman"/>
              </a:rPr>
              <a:t>industrial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purposes.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4200" y="1924811"/>
            <a:ext cx="5073396" cy="4529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2350" y="620013"/>
            <a:ext cx="2846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Solar</a:t>
            </a:r>
            <a:r>
              <a:rPr spc="-155" dirty="0"/>
              <a:t> </a:t>
            </a:r>
            <a:r>
              <a:rPr spc="-15" dirty="0"/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7807" y="2001977"/>
            <a:ext cx="11279505" cy="3645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720" algn="l"/>
              </a:tabLst>
            </a:pPr>
            <a:r>
              <a:rPr sz="2600" dirty="0">
                <a:latin typeface="Times New Roman"/>
                <a:cs typeface="Times New Roman"/>
              </a:rPr>
              <a:t>Solar </a:t>
            </a:r>
            <a:r>
              <a:rPr sz="2600" spc="-5" dirty="0">
                <a:latin typeface="Times New Roman"/>
                <a:cs typeface="Times New Roman"/>
              </a:rPr>
              <a:t>technologies are broadly characterized </a:t>
            </a:r>
            <a:r>
              <a:rPr sz="2600" spc="-10" dirty="0">
                <a:latin typeface="Times New Roman"/>
                <a:cs typeface="Times New Roman"/>
              </a:rPr>
              <a:t>as either </a:t>
            </a:r>
            <a:r>
              <a:rPr sz="2600" spc="-5" dirty="0">
                <a:latin typeface="Times New Roman"/>
                <a:cs typeface="Times New Roman"/>
              </a:rPr>
              <a:t>passive solar or </a:t>
            </a:r>
            <a:r>
              <a:rPr sz="2600" spc="-10" dirty="0">
                <a:latin typeface="Times New Roman"/>
                <a:cs typeface="Times New Roman"/>
              </a:rPr>
              <a:t>active </a:t>
            </a:r>
            <a:r>
              <a:rPr sz="2600" spc="-5" dirty="0">
                <a:latin typeface="Times New Roman"/>
                <a:cs typeface="Times New Roman"/>
              </a:rPr>
              <a:t>solar  depending </a:t>
            </a:r>
            <a:r>
              <a:rPr sz="2600" dirty="0">
                <a:latin typeface="Times New Roman"/>
                <a:cs typeface="Times New Roman"/>
              </a:rPr>
              <a:t>on the way they capture, convert and </a:t>
            </a:r>
            <a:r>
              <a:rPr sz="2600" spc="-5" dirty="0">
                <a:latin typeface="Times New Roman"/>
                <a:cs typeface="Times New Roman"/>
              </a:rPr>
              <a:t>distribute </a:t>
            </a:r>
            <a:r>
              <a:rPr sz="2600" dirty="0">
                <a:latin typeface="Times New Roman"/>
                <a:cs typeface="Times New Roman"/>
              </a:rPr>
              <a:t>solar</a:t>
            </a:r>
            <a:r>
              <a:rPr sz="2600" spc="-28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energy.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2850">
              <a:latin typeface="Times New Roman"/>
              <a:cs typeface="Times New Roman"/>
            </a:endParaRPr>
          </a:p>
          <a:p>
            <a:pPr marL="299085" marR="7620" indent="-287020" algn="just">
              <a:lnSpc>
                <a:spcPct val="100000"/>
              </a:lnSpc>
              <a:buFont typeface="Wingdings"/>
              <a:buChar char=""/>
              <a:tabLst>
                <a:tab pos="299720" algn="l"/>
              </a:tabLst>
            </a:pPr>
            <a:r>
              <a:rPr sz="2600" spc="-10" dirty="0">
                <a:latin typeface="Times New Roman"/>
                <a:cs typeface="Times New Roman"/>
              </a:rPr>
              <a:t>Active </a:t>
            </a:r>
            <a:r>
              <a:rPr sz="2600" spc="-5" dirty="0">
                <a:latin typeface="Times New Roman"/>
                <a:cs typeface="Times New Roman"/>
              </a:rPr>
              <a:t>solar techniques include the use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photovoltaic </a:t>
            </a:r>
            <a:r>
              <a:rPr sz="2600" spc="-5" dirty="0">
                <a:latin typeface="Times New Roman"/>
                <a:cs typeface="Times New Roman"/>
              </a:rPr>
              <a:t>panels and solar thermal  collectors to harness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energy.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2850">
              <a:latin typeface="Times New Roman"/>
              <a:cs typeface="Times New Roman"/>
            </a:endParaRPr>
          </a:p>
          <a:p>
            <a:pPr marL="299085" marR="5715" indent="-287020" algn="just">
              <a:lnSpc>
                <a:spcPct val="100000"/>
              </a:lnSpc>
              <a:buFont typeface="Wingdings"/>
              <a:buChar char=""/>
              <a:tabLst>
                <a:tab pos="299720" algn="l"/>
              </a:tabLst>
            </a:pPr>
            <a:r>
              <a:rPr sz="2600" spc="-5" dirty="0">
                <a:latin typeface="Times New Roman"/>
                <a:cs typeface="Times New Roman"/>
              </a:rPr>
              <a:t>Passive solar techniques include orienting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building to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Sun, </a:t>
            </a:r>
            <a:r>
              <a:rPr sz="2600" spc="-10" dirty="0">
                <a:latin typeface="Times New Roman"/>
                <a:cs typeface="Times New Roman"/>
              </a:rPr>
              <a:t>selecting  materials </a:t>
            </a:r>
            <a:r>
              <a:rPr sz="2600" dirty="0">
                <a:latin typeface="Times New Roman"/>
                <a:cs typeface="Times New Roman"/>
              </a:rPr>
              <a:t>with </a:t>
            </a:r>
            <a:r>
              <a:rPr sz="2600" spc="-10" dirty="0">
                <a:latin typeface="Times New Roman"/>
                <a:cs typeface="Times New Roman"/>
              </a:rPr>
              <a:t>favorable </a:t>
            </a:r>
            <a:r>
              <a:rPr sz="2600" spc="-5" dirty="0">
                <a:latin typeface="Times New Roman"/>
                <a:cs typeface="Times New Roman"/>
              </a:rPr>
              <a:t>thermal mass </a:t>
            </a:r>
            <a:r>
              <a:rPr sz="2600" dirty="0">
                <a:latin typeface="Times New Roman"/>
                <a:cs typeface="Times New Roman"/>
              </a:rPr>
              <a:t>or light </a:t>
            </a:r>
            <a:r>
              <a:rPr sz="2600" spc="-5" dirty="0">
                <a:latin typeface="Times New Roman"/>
                <a:cs typeface="Times New Roman"/>
              </a:rPr>
              <a:t>dispersing </a:t>
            </a:r>
            <a:r>
              <a:rPr sz="2600" spc="-10" dirty="0">
                <a:latin typeface="Times New Roman"/>
                <a:cs typeface="Times New Roman"/>
              </a:rPr>
              <a:t>properties, </a:t>
            </a:r>
            <a:r>
              <a:rPr sz="2600" spc="-5" dirty="0">
                <a:latin typeface="Times New Roman"/>
                <a:cs typeface="Times New Roman"/>
              </a:rPr>
              <a:t>and  </a:t>
            </a:r>
            <a:r>
              <a:rPr sz="2600" dirty="0">
                <a:latin typeface="Times New Roman"/>
                <a:cs typeface="Times New Roman"/>
              </a:rPr>
              <a:t>designing </a:t>
            </a:r>
            <a:r>
              <a:rPr sz="2600" spc="-5" dirty="0">
                <a:latin typeface="Times New Roman"/>
                <a:cs typeface="Times New Roman"/>
              </a:rPr>
              <a:t>spaces </a:t>
            </a:r>
            <a:r>
              <a:rPr sz="2600" dirty="0">
                <a:latin typeface="Times New Roman"/>
                <a:cs typeface="Times New Roman"/>
              </a:rPr>
              <a:t>that </a:t>
            </a:r>
            <a:r>
              <a:rPr sz="2600" spc="-5" dirty="0">
                <a:latin typeface="Times New Roman"/>
                <a:cs typeface="Times New Roman"/>
              </a:rPr>
              <a:t>naturally circulate </a:t>
            </a:r>
            <a:r>
              <a:rPr sz="2600" spc="-65" dirty="0">
                <a:latin typeface="Times New Roman"/>
                <a:cs typeface="Times New Roman"/>
              </a:rPr>
              <a:t>air.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9046" y="1359788"/>
            <a:ext cx="10720070" cy="4282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Biomass (plant </a:t>
            </a:r>
            <a:r>
              <a:rPr sz="2600" spc="-5" dirty="0">
                <a:latin typeface="Times New Roman"/>
                <a:cs typeface="Times New Roman"/>
              </a:rPr>
              <a:t>material) is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renewable </a:t>
            </a:r>
            <a:r>
              <a:rPr sz="2600" spc="-10" dirty="0">
                <a:latin typeface="Times New Roman"/>
                <a:cs typeface="Times New Roman"/>
              </a:rPr>
              <a:t>energy </a:t>
            </a:r>
            <a:r>
              <a:rPr sz="2600" spc="-5" dirty="0">
                <a:latin typeface="Times New Roman"/>
                <a:cs typeface="Times New Roman"/>
              </a:rPr>
              <a:t>source </a:t>
            </a:r>
            <a:r>
              <a:rPr sz="2600" spc="-10" dirty="0">
                <a:latin typeface="Times New Roman"/>
                <a:cs typeface="Times New Roman"/>
              </a:rPr>
              <a:t>because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15" dirty="0">
                <a:latin typeface="Times New Roman"/>
                <a:cs typeface="Times New Roman"/>
              </a:rPr>
              <a:t>energy </a:t>
            </a:r>
            <a:r>
              <a:rPr sz="2600" spc="-30" dirty="0">
                <a:latin typeface="Times New Roman"/>
                <a:cs typeface="Times New Roman"/>
              </a:rPr>
              <a:t>it  </a:t>
            </a:r>
            <a:r>
              <a:rPr sz="2600" spc="-5" dirty="0">
                <a:latin typeface="Times New Roman"/>
                <a:cs typeface="Times New Roman"/>
              </a:rPr>
              <a:t>contains comes from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sun. </a:t>
            </a:r>
            <a:r>
              <a:rPr sz="2600" spc="-10" dirty="0">
                <a:latin typeface="Times New Roman"/>
                <a:cs typeface="Times New Roman"/>
              </a:rPr>
              <a:t>Through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process </a:t>
            </a:r>
            <a:r>
              <a:rPr sz="2600" spc="-5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photosynthesis, </a:t>
            </a:r>
            <a:r>
              <a:rPr sz="2600" spc="-5" dirty="0">
                <a:latin typeface="Times New Roman"/>
                <a:cs typeface="Times New Roman"/>
              </a:rPr>
              <a:t>plants  </a:t>
            </a:r>
            <a:r>
              <a:rPr sz="2600" spc="-10" dirty="0">
                <a:latin typeface="Times New Roman"/>
                <a:cs typeface="Times New Roman"/>
              </a:rPr>
              <a:t>capture </a:t>
            </a:r>
            <a:r>
              <a:rPr sz="2600" spc="-5" dirty="0">
                <a:latin typeface="Times New Roman"/>
                <a:cs typeface="Times New Roman"/>
              </a:rPr>
              <a:t>the sun's </a:t>
            </a:r>
            <a:r>
              <a:rPr sz="2600" spc="-60" dirty="0">
                <a:latin typeface="Times New Roman"/>
                <a:cs typeface="Times New Roman"/>
              </a:rPr>
              <a:t>energy. </a:t>
            </a:r>
            <a:r>
              <a:rPr sz="2600" spc="-10" dirty="0">
                <a:latin typeface="Times New Roman"/>
                <a:cs typeface="Times New Roman"/>
              </a:rPr>
              <a:t>When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plants </a:t>
            </a:r>
            <a:r>
              <a:rPr sz="2600" spc="-5" dirty="0">
                <a:latin typeface="Times New Roman"/>
                <a:cs typeface="Times New Roman"/>
              </a:rPr>
              <a:t>are </a:t>
            </a:r>
            <a:r>
              <a:rPr sz="2600" spc="-10" dirty="0">
                <a:latin typeface="Times New Roman"/>
                <a:cs typeface="Times New Roman"/>
              </a:rPr>
              <a:t>burned, </a:t>
            </a:r>
            <a:r>
              <a:rPr sz="2600" spc="-5" dirty="0">
                <a:latin typeface="Times New Roman"/>
                <a:cs typeface="Times New Roman"/>
              </a:rPr>
              <a:t>they </a:t>
            </a:r>
            <a:r>
              <a:rPr sz="2600" spc="-10" dirty="0">
                <a:latin typeface="Times New Roman"/>
                <a:cs typeface="Times New Roman"/>
              </a:rPr>
              <a:t>release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sun's  </a:t>
            </a:r>
            <a:r>
              <a:rPr sz="2600" spc="-15" dirty="0">
                <a:latin typeface="Times New Roman"/>
                <a:cs typeface="Times New Roman"/>
              </a:rPr>
              <a:t>energy </a:t>
            </a:r>
            <a:r>
              <a:rPr sz="2600" spc="-5" dirty="0">
                <a:latin typeface="Times New Roman"/>
                <a:cs typeface="Times New Roman"/>
              </a:rPr>
              <a:t>they </a:t>
            </a:r>
            <a:r>
              <a:rPr sz="2600" spc="-10" dirty="0">
                <a:latin typeface="Times New Roman"/>
                <a:cs typeface="Times New Roman"/>
              </a:rPr>
              <a:t>contain. In </a:t>
            </a:r>
            <a:r>
              <a:rPr sz="2600" dirty="0">
                <a:latin typeface="Times New Roman"/>
                <a:cs typeface="Times New Roman"/>
              </a:rPr>
              <a:t>this </a:t>
            </a:r>
            <a:r>
              <a:rPr sz="2600" spc="-80" dirty="0">
                <a:latin typeface="Times New Roman"/>
                <a:cs typeface="Times New Roman"/>
              </a:rPr>
              <a:t>way, </a:t>
            </a:r>
            <a:r>
              <a:rPr sz="2600" spc="-5" dirty="0">
                <a:latin typeface="Times New Roman"/>
                <a:cs typeface="Times New Roman"/>
              </a:rPr>
              <a:t>biomass functions as </a:t>
            </a:r>
            <a:r>
              <a:rPr sz="2600" dirty="0">
                <a:latin typeface="Times New Roman"/>
                <a:cs typeface="Times New Roman"/>
              </a:rPr>
              <a:t>a sort of </a:t>
            </a:r>
            <a:r>
              <a:rPr sz="2600" spc="-10" dirty="0">
                <a:latin typeface="Times New Roman"/>
                <a:cs typeface="Times New Roman"/>
              </a:rPr>
              <a:t>natural </a:t>
            </a:r>
            <a:r>
              <a:rPr sz="2600" spc="-5" dirty="0">
                <a:latin typeface="Times New Roman"/>
                <a:cs typeface="Times New Roman"/>
              </a:rPr>
              <a:t>battery 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10" dirty="0">
                <a:latin typeface="Times New Roman"/>
                <a:cs typeface="Times New Roman"/>
              </a:rPr>
              <a:t>storing </a:t>
            </a:r>
            <a:r>
              <a:rPr sz="2600" dirty="0">
                <a:latin typeface="Times New Roman"/>
                <a:cs typeface="Times New Roman"/>
              </a:rPr>
              <a:t>solar </a:t>
            </a:r>
            <a:r>
              <a:rPr sz="2600" spc="-60" dirty="0">
                <a:latin typeface="Times New Roman"/>
                <a:cs typeface="Times New Roman"/>
              </a:rPr>
              <a:t>energy. </a:t>
            </a:r>
            <a:r>
              <a:rPr sz="2600" dirty="0">
                <a:latin typeface="Times New Roman"/>
                <a:cs typeface="Times New Roman"/>
              </a:rPr>
              <a:t>As </a:t>
            </a:r>
            <a:r>
              <a:rPr sz="2600" spc="-5" dirty="0">
                <a:latin typeface="Times New Roman"/>
                <a:cs typeface="Times New Roman"/>
              </a:rPr>
              <a:t>long as biomass is </a:t>
            </a:r>
            <a:r>
              <a:rPr sz="2600" spc="-10" dirty="0">
                <a:latin typeface="Times New Roman"/>
                <a:cs typeface="Times New Roman"/>
              </a:rPr>
              <a:t>produced </a:t>
            </a:r>
            <a:r>
              <a:rPr sz="2600" spc="-40" dirty="0">
                <a:latin typeface="Times New Roman"/>
                <a:cs typeface="Times New Roman"/>
              </a:rPr>
              <a:t>sustainably, </a:t>
            </a:r>
            <a:r>
              <a:rPr sz="2600" dirty="0">
                <a:latin typeface="Times New Roman"/>
                <a:cs typeface="Times New Roman"/>
              </a:rPr>
              <a:t>with only  </a:t>
            </a:r>
            <a:r>
              <a:rPr sz="2600" spc="-5" dirty="0">
                <a:latin typeface="Times New Roman"/>
                <a:cs typeface="Times New Roman"/>
              </a:rPr>
              <a:t>as much </a:t>
            </a:r>
            <a:r>
              <a:rPr sz="2600" dirty="0">
                <a:latin typeface="Times New Roman"/>
                <a:cs typeface="Times New Roman"/>
              </a:rPr>
              <a:t>used </a:t>
            </a:r>
            <a:r>
              <a:rPr sz="2600" spc="-5" dirty="0">
                <a:latin typeface="Times New Roman"/>
                <a:cs typeface="Times New Roman"/>
              </a:rPr>
              <a:t>as is </a:t>
            </a:r>
            <a:r>
              <a:rPr sz="2600" dirty="0">
                <a:latin typeface="Times New Roman"/>
                <a:cs typeface="Times New Roman"/>
              </a:rPr>
              <a:t>grown, the </a:t>
            </a:r>
            <a:r>
              <a:rPr sz="2600" spc="-5" dirty="0">
                <a:latin typeface="Times New Roman"/>
                <a:cs typeface="Times New Roman"/>
              </a:rPr>
              <a:t>battery </a:t>
            </a:r>
            <a:r>
              <a:rPr sz="2600" dirty="0">
                <a:latin typeface="Times New Roman"/>
                <a:cs typeface="Times New Roman"/>
              </a:rPr>
              <a:t>will </a:t>
            </a:r>
            <a:r>
              <a:rPr sz="2600" spc="-5" dirty="0">
                <a:latin typeface="Times New Roman"/>
                <a:cs typeface="Times New Roman"/>
              </a:rPr>
              <a:t>last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indefinitely.</a:t>
            </a:r>
            <a:endParaRPr sz="26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  <a:spcBef>
                <a:spcPts val="2305"/>
              </a:spcBef>
            </a:pPr>
            <a:r>
              <a:rPr sz="2600" dirty="0">
                <a:latin typeface="Times New Roman"/>
                <a:cs typeface="Times New Roman"/>
              </a:rPr>
              <a:t>In </a:t>
            </a:r>
            <a:r>
              <a:rPr sz="2600" spc="-10" dirty="0">
                <a:latin typeface="Times New Roman"/>
                <a:cs typeface="Times New Roman"/>
              </a:rPr>
              <a:t>general there are </a:t>
            </a:r>
            <a:r>
              <a:rPr sz="2600" spc="-5" dirty="0">
                <a:latin typeface="Times New Roman"/>
                <a:cs typeface="Times New Roman"/>
              </a:rPr>
              <a:t>two </a:t>
            </a:r>
            <a:r>
              <a:rPr sz="2600" spc="-10" dirty="0">
                <a:latin typeface="Times New Roman"/>
                <a:cs typeface="Times New Roman"/>
              </a:rPr>
              <a:t>main </a:t>
            </a:r>
            <a:r>
              <a:rPr sz="2600" spc="-5" dirty="0">
                <a:latin typeface="Times New Roman"/>
                <a:cs typeface="Times New Roman"/>
              </a:rPr>
              <a:t>approaches </a:t>
            </a:r>
            <a:r>
              <a:rPr sz="2600" dirty="0">
                <a:latin typeface="Times New Roman"/>
                <a:cs typeface="Times New Roman"/>
              </a:rPr>
              <a:t>to </a:t>
            </a:r>
            <a:r>
              <a:rPr sz="2600" spc="-5" dirty="0">
                <a:latin typeface="Times New Roman"/>
                <a:cs typeface="Times New Roman"/>
              </a:rPr>
              <a:t>using plants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15" dirty="0">
                <a:latin typeface="Times New Roman"/>
                <a:cs typeface="Times New Roman"/>
              </a:rPr>
              <a:t>energy </a:t>
            </a:r>
            <a:r>
              <a:rPr sz="2600" spc="-10" dirty="0">
                <a:latin typeface="Times New Roman"/>
                <a:cs typeface="Times New Roman"/>
              </a:rPr>
              <a:t>production:  </a:t>
            </a:r>
            <a:r>
              <a:rPr sz="2600" spc="-5" dirty="0">
                <a:latin typeface="Times New Roman"/>
                <a:cs typeface="Times New Roman"/>
              </a:rPr>
              <a:t>growing plants </a:t>
            </a:r>
            <a:r>
              <a:rPr sz="2600" spc="-10" dirty="0">
                <a:latin typeface="Times New Roman"/>
                <a:cs typeface="Times New Roman"/>
              </a:rPr>
              <a:t>specifically for </a:t>
            </a:r>
            <a:r>
              <a:rPr sz="2600" spc="-15" dirty="0">
                <a:latin typeface="Times New Roman"/>
                <a:cs typeface="Times New Roman"/>
              </a:rPr>
              <a:t>energy </a:t>
            </a:r>
            <a:r>
              <a:rPr sz="2600" dirty="0">
                <a:latin typeface="Times New Roman"/>
                <a:cs typeface="Times New Roman"/>
              </a:rPr>
              <a:t>use, </a:t>
            </a:r>
            <a:r>
              <a:rPr sz="2600" spc="-5" dirty="0">
                <a:latin typeface="Times New Roman"/>
                <a:cs typeface="Times New Roman"/>
              </a:rPr>
              <a:t>and using the </a:t>
            </a:r>
            <a:r>
              <a:rPr sz="2600" spc="-10" dirty="0">
                <a:latin typeface="Times New Roman"/>
                <a:cs typeface="Times New Roman"/>
              </a:rPr>
              <a:t>residues </a:t>
            </a:r>
            <a:r>
              <a:rPr sz="2600" dirty="0">
                <a:latin typeface="Times New Roman"/>
                <a:cs typeface="Times New Roman"/>
              </a:rPr>
              <a:t>from </a:t>
            </a:r>
            <a:r>
              <a:rPr sz="2600" spc="-5" dirty="0">
                <a:latin typeface="Times New Roman"/>
                <a:cs typeface="Times New Roman"/>
              </a:rPr>
              <a:t>plants  </a:t>
            </a:r>
            <a:r>
              <a:rPr sz="2600" dirty="0">
                <a:latin typeface="Times New Roman"/>
                <a:cs typeface="Times New Roman"/>
              </a:rPr>
              <a:t>that are </a:t>
            </a:r>
            <a:r>
              <a:rPr sz="2600" spc="-10" dirty="0">
                <a:latin typeface="Times New Roman"/>
                <a:cs typeface="Times New Roman"/>
              </a:rPr>
              <a:t>used for </a:t>
            </a:r>
            <a:r>
              <a:rPr sz="2600" spc="-5" dirty="0">
                <a:latin typeface="Times New Roman"/>
                <a:cs typeface="Times New Roman"/>
              </a:rPr>
              <a:t>other </a:t>
            </a:r>
            <a:r>
              <a:rPr sz="2600" dirty="0">
                <a:latin typeface="Times New Roman"/>
                <a:cs typeface="Times New Roman"/>
              </a:rPr>
              <a:t>things.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best </a:t>
            </a:r>
            <a:r>
              <a:rPr sz="2600" spc="-5" dirty="0">
                <a:latin typeface="Times New Roman"/>
                <a:cs typeface="Times New Roman"/>
              </a:rPr>
              <a:t>approaches vary from region to </a:t>
            </a:r>
            <a:r>
              <a:rPr sz="2600" spc="-10" dirty="0">
                <a:latin typeface="Times New Roman"/>
                <a:cs typeface="Times New Roman"/>
              </a:rPr>
              <a:t>region  </a:t>
            </a:r>
            <a:r>
              <a:rPr sz="2600" spc="-5" dirty="0">
                <a:latin typeface="Times New Roman"/>
                <a:cs typeface="Times New Roman"/>
              </a:rPr>
              <a:t>according </a:t>
            </a:r>
            <a:r>
              <a:rPr sz="2600" dirty="0">
                <a:latin typeface="Times New Roman"/>
                <a:cs typeface="Times New Roman"/>
              </a:rPr>
              <a:t>to </a:t>
            </a:r>
            <a:r>
              <a:rPr sz="2600" spc="-5" dirty="0">
                <a:latin typeface="Times New Roman"/>
                <a:cs typeface="Times New Roman"/>
              </a:rPr>
              <a:t>climate, soils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geography.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6228" y="467613"/>
            <a:ext cx="195198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Biomass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9088" y="450850"/>
            <a:ext cx="19069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Biom</a:t>
            </a:r>
            <a:r>
              <a:rPr spc="10" dirty="0">
                <a:latin typeface="Carlito"/>
                <a:cs typeface="Carlito"/>
              </a:rPr>
              <a:t>a</a:t>
            </a:r>
            <a:r>
              <a:rPr spc="-5" dirty="0">
                <a:latin typeface="Carlito"/>
                <a:cs typeface="Carlito"/>
              </a:rPr>
              <a:t>ss</a:t>
            </a:r>
          </a:p>
        </p:txBody>
      </p:sp>
      <p:sp>
        <p:nvSpPr>
          <p:cNvPr id="3" name="object 3"/>
          <p:cNvSpPr/>
          <p:nvPr/>
        </p:nvSpPr>
        <p:spPr>
          <a:xfrm>
            <a:off x="1804416" y="1249680"/>
            <a:ext cx="8240268" cy="5330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9088" y="450850"/>
            <a:ext cx="19069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Biom</a:t>
            </a:r>
            <a:r>
              <a:rPr spc="10" dirty="0">
                <a:latin typeface="Carlito"/>
                <a:cs typeface="Carlito"/>
              </a:rPr>
              <a:t>a</a:t>
            </a:r>
            <a:r>
              <a:rPr spc="-5" dirty="0">
                <a:latin typeface="Carlito"/>
                <a:cs typeface="Carlito"/>
              </a:rPr>
              <a:t>ss</a:t>
            </a:r>
          </a:p>
        </p:txBody>
      </p:sp>
      <p:sp>
        <p:nvSpPr>
          <p:cNvPr id="3" name="object 3"/>
          <p:cNvSpPr/>
          <p:nvPr/>
        </p:nvSpPr>
        <p:spPr>
          <a:xfrm>
            <a:off x="1873056" y="1653080"/>
            <a:ext cx="8089262" cy="45236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0810" y="450850"/>
            <a:ext cx="2785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Carlito"/>
                <a:cs typeface="Carlito"/>
              </a:rPr>
              <a:t>Tidal</a:t>
            </a:r>
            <a:r>
              <a:rPr spc="-110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892" y="1987875"/>
            <a:ext cx="4921885" cy="4074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3550" marR="5080" indent="-451484" algn="just">
              <a:lnSpc>
                <a:spcPct val="146000"/>
              </a:lnSpc>
              <a:spcBef>
                <a:spcPts val="95"/>
              </a:spcBef>
              <a:buFont typeface="Wingdings"/>
              <a:buChar char=""/>
              <a:tabLst>
                <a:tab pos="464184" algn="l"/>
              </a:tabLst>
            </a:pPr>
            <a:r>
              <a:rPr sz="2600" dirty="0">
                <a:latin typeface="Times New Roman"/>
                <a:cs typeface="Times New Roman"/>
              </a:rPr>
              <a:t>This </a:t>
            </a:r>
            <a:r>
              <a:rPr sz="2600" spc="-5" dirty="0">
                <a:latin typeface="Times New Roman"/>
                <a:cs typeface="Times New Roman"/>
              </a:rPr>
              <a:t>is another unlimited and  </a:t>
            </a:r>
            <a:r>
              <a:rPr sz="2600" spc="-10" dirty="0">
                <a:latin typeface="Times New Roman"/>
                <a:cs typeface="Times New Roman"/>
              </a:rPr>
              <a:t>inexhaustible </a:t>
            </a:r>
            <a:r>
              <a:rPr sz="2600" dirty="0">
                <a:latin typeface="Times New Roman"/>
                <a:cs typeface="Times New Roman"/>
              </a:rPr>
              <a:t>source of </a:t>
            </a:r>
            <a:r>
              <a:rPr sz="2600" spc="-60" dirty="0">
                <a:latin typeface="Times New Roman"/>
                <a:cs typeface="Times New Roman"/>
              </a:rPr>
              <a:t>energy. 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Gulfs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Kutch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spc="-10" dirty="0">
                <a:latin typeface="Times New Roman"/>
                <a:cs typeface="Times New Roman"/>
              </a:rPr>
              <a:t>preferably  suited </a:t>
            </a:r>
            <a:r>
              <a:rPr sz="2600" spc="-5" dirty="0">
                <a:latin typeface="Times New Roman"/>
                <a:cs typeface="Times New Roman"/>
              </a:rPr>
              <a:t>to build up </a:t>
            </a:r>
            <a:r>
              <a:rPr sz="2600" spc="-10" dirty="0">
                <a:latin typeface="Times New Roman"/>
                <a:cs typeface="Times New Roman"/>
              </a:rPr>
              <a:t>electricity  </a:t>
            </a:r>
            <a:r>
              <a:rPr sz="2600" dirty="0">
                <a:latin typeface="Times New Roman"/>
                <a:cs typeface="Times New Roman"/>
              </a:rPr>
              <a:t>from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spc="-20" dirty="0">
                <a:latin typeface="Times New Roman"/>
                <a:cs typeface="Times New Roman"/>
              </a:rPr>
              <a:t>energy </a:t>
            </a:r>
            <a:r>
              <a:rPr sz="2600" spc="-10" dirty="0">
                <a:latin typeface="Times New Roman"/>
                <a:cs typeface="Times New Roman"/>
              </a:rPr>
              <a:t>produced by  </a:t>
            </a:r>
            <a:r>
              <a:rPr sz="2600" dirty="0">
                <a:latin typeface="Times New Roman"/>
                <a:cs typeface="Times New Roman"/>
              </a:rPr>
              <a:t>high </a:t>
            </a:r>
            <a:r>
              <a:rPr sz="2600" spc="-5" dirty="0">
                <a:latin typeface="Times New Roman"/>
                <a:cs typeface="Times New Roman"/>
              </a:rPr>
              <a:t>and lofty tides </a:t>
            </a:r>
            <a:r>
              <a:rPr sz="2600" spc="-10" dirty="0">
                <a:latin typeface="Times New Roman"/>
                <a:cs typeface="Times New Roman"/>
              </a:rPr>
              <a:t>entering into  </a:t>
            </a:r>
            <a:r>
              <a:rPr sz="2600" dirty="0">
                <a:latin typeface="Times New Roman"/>
                <a:cs typeface="Times New Roman"/>
              </a:rPr>
              <a:t>slender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creeks.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52288" y="1854707"/>
            <a:ext cx="6710171" cy="4774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0810" y="450850"/>
            <a:ext cx="2785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Carlito"/>
                <a:cs typeface="Carlito"/>
              </a:rPr>
              <a:t>Tidal</a:t>
            </a:r>
            <a:r>
              <a:rPr spc="-110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Energy</a:t>
            </a:r>
          </a:p>
        </p:txBody>
      </p:sp>
      <p:sp>
        <p:nvSpPr>
          <p:cNvPr id="3" name="object 3"/>
          <p:cNvSpPr/>
          <p:nvPr/>
        </p:nvSpPr>
        <p:spPr>
          <a:xfrm>
            <a:off x="1057655" y="1417319"/>
            <a:ext cx="10076688" cy="5279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0810" y="450850"/>
            <a:ext cx="2785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Carlito"/>
                <a:cs typeface="Carlito"/>
              </a:rPr>
              <a:t>Tidal</a:t>
            </a:r>
            <a:r>
              <a:rPr spc="-110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Energy</a:t>
            </a:r>
          </a:p>
        </p:txBody>
      </p:sp>
      <p:sp>
        <p:nvSpPr>
          <p:cNvPr id="3" name="object 3"/>
          <p:cNvSpPr/>
          <p:nvPr/>
        </p:nvSpPr>
        <p:spPr>
          <a:xfrm>
            <a:off x="1877567" y="1322832"/>
            <a:ext cx="7684008" cy="53461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0565" y="0"/>
            <a:ext cx="16256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Biofu</a:t>
            </a:r>
            <a:r>
              <a:rPr spc="5" dirty="0">
                <a:latin typeface="Carlito"/>
                <a:cs typeface="Carlito"/>
              </a:rPr>
              <a:t>e</a:t>
            </a:r>
            <a:r>
              <a:rPr dirty="0">
                <a:latin typeface="Carlito"/>
                <a:cs typeface="Carlito"/>
              </a:rPr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435" y="827659"/>
            <a:ext cx="11287125" cy="519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  <a:tab pos="10036810" algn="l"/>
              </a:tabLst>
            </a:pPr>
            <a:r>
              <a:rPr sz="2400" dirty="0">
                <a:latin typeface="Times New Roman"/>
                <a:cs typeface="Times New Roman"/>
              </a:rPr>
              <a:t>Liquid biofuel is usually </a:t>
            </a:r>
            <a:r>
              <a:rPr sz="2400" spc="-5" dirty="0">
                <a:latin typeface="Times New Roman"/>
                <a:cs typeface="Times New Roman"/>
              </a:rPr>
              <a:t>either </a:t>
            </a:r>
            <a:r>
              <a:rPr sz="2400" dirty="0">
                <a:latin typeface="Times New Roman"/>
                <a:cs typeface="Times New Roman"/>
              </a:rPr>
              <a:t>bio </a:t>
            </a:r>
            <a:r>
              <a:rPr sz="2400" spc="-5" dirty="0">
                <a:latin typeface="Times New Roman"/>
                <a:cs typeface="Times New Roman"/>
              </a:rPr>
              <a:t>alcohol </a:t>
            </a:r>
            <a:r>
              <a:rPr sz="2400" dirty="0">
                <a:latin typeface="Times New Roman"/>
                <a:cs typeface="Times New Roman"/>
              </a:rPr>
              <a:t>such </a:t>
            </a:r>
            <a:r>
              <a:rPr sz="2400" spc="-5" dirty="0">
                <a:latin typeface="Times New Roman"/>
                <a:cs typeface="Times New Roman"/>
              </a:rPr>
              <a:t>as bioethanol </a:t>
            </a:r>
            <a:r>
              <a:rPr sz="2400" dirty="0">
                <a:latin typeface="Times New Roman"/>
                <a:cs typeface="Times New Roman"/>
              </a:rPr>
              <a:t>or an oil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	</a:t>
            </a:r>
            <a:r>
              <a:rPr sz="2400" dirty="0">
                <a:latin typeface="Times New Roman"/>
                <a:cs typeface="Times New Roman"/>
              </a:rPr>
              <a:t>biodiesel.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"/>
            </a:pPr>
            <a:endParaRPr sz="265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Bioethanol </a:t>
            </a:r>
            <a:r>
              <a:rPr sz="2400" spc="-1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an </a:t>
            </a:r>
            <a:r>
              <a:rPr sz="2400" spc="-10" dirty="0">
                <a:latin typeface="Times New Roman"/>
                <a:cs typeface="Times New Roman"/>
              </a:rPr>
              <a:t>alcohol made by fermenting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sugar </a:t>
            </a:r>
            <a:r>
              <a:rPr sz="2400" spc="-5" dirty="0">
                <a:latin typeface="Times New Roman"/>
                <a:cs typeface="Times New Roman"/>
              </a:rPr>
              <a:t>components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plant </a:t>
            </a:r>
            <a:r>
              <a:rPr sz="2400" spc="-10" dirty="0">
                <a:latin typeface="Times New Roman"/>
                <a:cs typeface="Times New Roman"/>
              </a:rPr>
              <a:t>materials  </a:t>
            </a:r>
            <a:r>
              <a:rPr sz="2400" spc="-5" dirty="0">
                <a:latin typeface="Times New Roman"/>
                <a:cs typeface="Times New Roman"/>
              </a:rPr>
              <a:t>and 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made </a:t>
            </a:r>
            <a:r>
              <a:rPr sz="2400" spc="-10" dirty="0">
                <a:latin typeface="Times New Roman"/>
                <a:cs typeface="Times New Roman"/>
              </a:rPr>
              <a:t>mostly </a:t>
            </a:r>
            <a:r>
              <a:rPr sz="2400" spc="-5" dirty="0">
                <a:latin typeface="Times New Roman"/>
                <a:cs typeface="Times New Roman"/>
              </a:rPr>
              <a:t>from sugar and </a:t>
            </a:r>
            <a:r>
              <a:rPr sz="2400" spc="-10" dirty="0">
                <a:latin typeface="Times New Roman"/>
                <a:cs typeface="Times New Roman"/>
              </a:rPr>
              <a:t>starch </a:t>
            </a:r>
            <a:r>
              <a:rPr sz="2400" spc="-5" dirty="0">
                <a:latin typeface="Times New Roman"/>
                <a:cs typeface="Times New Roman"/>
              </a:rPr>
              <a:t>crops. </a:t>
            </a:r>
            <a:r>
              <a:rPr sz="2400" spc="-3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advanced </a:t>
            </a:r>
            <a:r>
              <a:rPr sz="2400" spc="-10" dirty="0">
                <a:latin typeface="Times New Roman"/>
                <a:cs typeface="Times New Roman"/>
              </a:rPr>
              <a:t>technology being  </a:t>
            </a:r>
            <a:r>
              <a:rPr sz="2400" spc="-5" dirty="0">
                <a:latin typeface="Times New Roman"/>
                <a:cs typeface="Times New Roman"/>
              </a:rPr>
              <a:t>developed, </a:t>
            </a:r>
            <a:r>
              <a:rPr sz="2400" spc="-10" dirty="0">
                <a:latin typeface="Times New Roman"/>
                <a:cs typeface="Times New Roman"/>
              </a:rPr>
              <a:t>cellulosic </a:t>
            </a:r>
            <a:r>
              <a:rPr sz="2400" spc="-5" dirty="0">
                <a:latin typeface="Times New Roman"/>
                <a:cs typeface="Times New Roman"/>
              </a:rPr>
              <a:t>biomass, </a:t>
            </a:r>
            <a:r>
              <a:rPr sz="2400" dirty="0">
                <a:latin typeface="Times New Roman"/>
                <a:cs typeface="Times New Roman"/>
              </a:rPr>
              <a:t>such as trees </a:t>
            </a:r>
            <a:r>
              <a:rPr sz="2400" spc="-15" dirty="0">
                <a:latin typeface="Times New Roman"/>
                <a:cs typeface="Times New Roman"/>
              </a:rPr>
              <a:t>and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grasses, </a:t>
            </a:r>
            <a:r>
              <a:rPr sz="2400" spc="-1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also used </a:t>
            </a:r>
            <a:r>
              <a:rPr sz="2400" dirty="0">
                <a:latin typeface="Times New Roman"/>
                <a:cs typeface="Times New Roman"/>
              </a:rPr>
              <a:t>as </a:t>
            </a:r>
            <a:r>
              <a:rPr sz="2400" spc="-5" dirty="0">
                <a:latin typeface="Times New Roman"/>
                <a:cs typeface="Times New Roman"/>
              </a:rPr>
              <a:t>feedstock for  ethanol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"/>
            </a:pPr>
            <a:endParaRPr sz="265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Ethanol </a:t>
            </a:r>
            <a:r>
              <a:rPr sz="2400" spc="-5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10" dirty="0">
                <a:latin typeface="Times New Roman"/>
                <a:cs typeface="Times New Roman"/>
              </a:rPr>
              <a:t>used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fuel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10" dirty="0">
                <a:latin typeface="Times New Roman"/>
                <a:cs typeface="Times New Roman"/>
              </a:rPr>
              <a:t>vehicles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its pure form, but 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usually </a:t>
            </a:r>
            <a:r>
              <a:rPr sz="2400" dirty="0">
                <a:latin typeface="Times New Roman"/>
                <a:cs typeface="Times New Roman"/>
              </a:rPr>
              <a:t>used </a:t>
            </a:r>
            <a:r>
              <a:rPr sz="2400" spc="-10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 gasoline </a:t>
            </a:r>
            <a:r>
              <a:rPr sz="2400" spc="-5" dirty="0">
                <a:latin typeface="Times New Roman"/>
                <a:cs typeface="Times New Roman"/>
              </a:rPr>
              <a:t>additive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increase octane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improve vehicle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emissions.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5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Biodiesel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made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10" dirty="0">
                <a:latin typeface="Times New Roman"/>
                <a:cs typeface="Times New Roman"/>
              </a:rPr>
              <a:t>vegetable oils, animal fats or recycled </a:t>
            </a:r>
            <a:r>
              <a:rPr sz="2400" dirty="0">
                <a:latin typeface="Times New Roman"/>
                <a:cs typeface="Times New Roman"/>
              </a:rPr>
              <a:t>greases. </a:t>
            </a:r>
            <a:r>
              <a:rPr sz="2400" spc="-10" dirty="0">
                <a:latin typeface="Times New Roman"/>
                <a:cs typeface="Times New Roman"/>
              </a:rPr>
              <a:t>Biodiesel </a:t>
            </a:r>
            <a:r>
              <a:rPr sz="2400" dirty="0">
                <a:latin typeface="Times New Roman"/>
                <a:cs typeface="Times New Roman"/>
              </a:rPr>
              <a:t>can be  </a:t>
            </a:r>
            <a:r>
              <a:rPr sz="2400" spc="-5" dirty="0">
                <a:latin typeface="Times New Roman"/>
                <a:cs typeface="Times New Roman"/>
              </a:rPr>
              <a:t>used 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fuel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10" dirty="0">
                <a:latin typeface="Times New Roman"/>
                <a:cs typeface="Times New Roman"/>
              </a:rPr>
              <a:t>vehicles </a:t>
            </a:r>
            <a:r>
              <a:rPr sz="2400" spc="-5" dirty="0">
                <a:latin typeface="Times New Roman"/>
                <a:cs typeface="Times New Roman"/>
              </a:rPr>
              <a:t>in its pure form, but it </a:t>
            </a:r>
            <a:r>
              <a:rPr sz="2400" spc="-10" dirty="0">
                <a:latin typeface="Times New Roman"/>
                <a:cs typeface="Times New Roman"/>
              </a:rPr>
              <a:t>is usually </a:t>
            </a:r>
            <a:r>
              <a:rPr sz="2400" spc="-5" dirty="0">
                <a:latin typeface="Times New Roman"/>
                <a:cs typeface="Times New Roman"/>
              </a:rPr>
              <a:t>used 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diesel </a:t>
            </a:r>
            <a:r>
              <a:rPr sz="2400" spc="-10" dirty="0">
                <a:latin typeface="Times New Roman"/>
                <a:cs typeface="Times New Roman"/>
              </a:rPr>
              <a:t>additive </a:t>
            </a:r>
            <a:r>
              <a:rPr sz="2400" spc="5" dirty="0">
                <a:latin typeface="Times New Roman"/>
                <a:cs typeface="Times New Roman"/>
              </a:rPr>
              <a:t>to  </a:t>
            </a:r>
            <a:r>
              <a:rPr sz="2400" spc="-5" dirty="0">
                <a:latin typeface="Times New Roman"/>
                <a:cs typeface="Times New Roman"/>
              </a:rPr>
              <a:t>reduce levels of </a:t>
            </a:r>
            <a:r>
              <a:rPr sz="2400" spc="-10" dirty="0">
                <a:latin typeface="Times New Roman"/>
                <a:cs typeface="Times New Roman"/>
              </a:rPr>
              <a:t>particulates, </a:t>
            </a:r>
            <a:r>
              <a:rPr sz="2400" spc="-5" dirty="0">
                <a:latin typeface="Times New Roman"/>
                <a:cs typeface="Times New Roman"/>
              </a:rPr>
              <a:t>carbon monoxide, </a:t>
            </a:r>
            <a:r>
              <a:rPr sz="2400" spc="-10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hydrocarbons </a:t>
            </a:r>
            <a:r>
              <a:rPr sz="2400" spc="-5" dirty="0">
                <a:latin typeface="Times New Roman"/>
                <a:cs typeface="Times New Roman"/>
              </a:rPr>
              <a:t>from diesel-powered  </a:t>
            </a:r>
            <a:r>
              <a:rPr sz="2400" dirty="0">
                <a:latin typeface="Times New Roman"/>
                <a:cs typeface="Times New Roman"/>
              </a:rPr>
              <a:t>vehicles. Biodiesel is </a:t>
            </a:r>
            <a:r>
              <a:rPr sz="2400" spc="-5" dirty="0">
                <a:latin typeface="Times New Roman"/>
                <a:cs typeface="Times New Roman"/>
              </a:rPr>
              <a:t>produced </a:t>
            </a:r>
            <a:r>
              <a:rPr sz="2400" dirty="0">
                <a:latin typeface="Times New Roman"/>
                <a:cs typeface="Times New Roman"/>
              </a:rPr>
              <a:t>from oils or </a:t>
            </a:r>
            <a:r>
              <a:rPr sz="2400" spc="-5" dirty="0">
                <a:latin typeface="Times New Roman"/>
                <a:cs typeface="Times New Roman"/>
              </a:rPr>
              <a:t>fats </a:t>
            </a:r>
            <a:r>
              <a:rPr sz="2400" dirty="0">
                <a:latin typeface="Times New Roman"/>
                <a:cs typeface="Times New Roman"/>
              </a:rPr>
              <a:t>using trans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esterification.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1073" y="450850"/>
            <a:ext cx="1625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Biofu</a:t>
            </a:r>
            <a:r>
              <a:rPr spc="5" dirty="0">
                <a:latin typeface="Carlito"/>
                <a:cs typeface="Carlito"/>
              </a:rPr>
              <a:t>e</a:t>
            </a:r>
            <a:r>
              <a:rPr dirty="0">
                <a:latin typeface="Carlito"/>
                <a:cs typeface="Carlito"/>
              </a:rPr>
              <a:t>l</a:t>
            </a:r>
          </a:p>
        </p:txBody>
      </p:sp>
      <p:sp>
        <p:nvSpPr>
          <p:cNvPr id="3" name="object 3"/>
          <p:cNvSpPr/>
          <p:nvPr/>
        </p:nvSpPr>
        <p:spPr>
          <a:xfrm>
            <a:off x="1946148" y="1322832"/>
            <a:ext cx="8299704" cy="5241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9446" y="467613"/>
            <a:ext cx="43040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Geothermal</a:t>
            </a:r>
            <a:r>
              <a:rPr spc="-170" dirty="0"/>
              <a:t> </a:t>
            </a:r>
            <a:r>
              <a:rPr spc="-15" dirty="0"/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102" y="1940763"/>
            <a:ext cx="54254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720" algn="l"/>
                <a:tab pos="3978275" algn="l"/>
              </a:tabLst>
            </a:pPr>
            <a:r>
              <a:rPr sz="2400" spc="-5" dirty="0">
                <a:latin typeface="Times New Roman"/>
                <a:cs typeface="Times New Roman"/>
              </a:rPr>
              <a:t>Geothermal </a:t>
            </a:r>
            <a:r>
              <a:rPr sz="2400" spc="-10" dirty="0">
                <a:latin typeface="Times New Roman"/>
                <a:cs typeface="Times New Roman"/>
              </a:rPr>
              <a:t>energy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energy	</a:t>
            </a:r>
            <a:r>
              <a:rPr sz="2400" spc="-5" dirty="0">
                <a:latin typeface="Times New Roman"/>
                <a:cs typeface="Times New Roman"/>
              </a:rPr>
              <a:t>obtained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919" y="2306828"/>
            <a:ext cx="28746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68350" algn="l"/>
                <a:tab pos="2219325" algn="l"/>
              </a:tabLst>
            </a:pPr>
            <a:r>
              <a:rPr sz="2400" spc="-5" dirty="0">
                <a:latin typeface="Times New Roman"/>
                <a:cs typeface="Times New Roman"/>
              </a:rPr>
              <a:t>tapping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heat </a:t>
            </a:r>
            <a:r>
              <a:rPr sz="2400" dirty="0">
                <a:latin typeface="Times New Roman"/>
                <a:cs typeface="Times New Roman"/>
              </a:rPr>
              <a:t>of the  from	</a:t>
            </a:r>
            <a:r>
              <a:rPr sz="2400" spc="-5" dirty="0">
                <a:latin typeface="Times New Roman"/>
                <a:cs typeface="Times New Roman"/>
              </a:rPr>
              <a:t>kilometers	</a:t>
            </a:r>
            <a:r>
              <a:rPr sz="2400" spc="-10" dirty="0">
                <a:latin typeface="Times New Roman"/>
                <a:cs typeface="Times New Roman"/>
              </a:rPr>
              <a:t>deep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8511" y="2306828"/>
            <a:ext cx="207263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  <a:tabLst>
                <a:tab pos="692150" algn="l"/>
                <a:tab pos="1226820" algn="l"/>
              </a:tabLst>
            </a:pPr>
            <a:r>
              <a:rPr sz="2400" spc="-5" dirty="0">
                <a:latin typeface="Times New Roman"/>
                <a:cs typeface="Times New Roman"/>
              </a:rPr>
              <a:t>earth </a:t>
            </a:r>
            <a:r>
              <a:rPr sz="2400" spc="-10" dirty="0">
                <a:latin typeface="Times New Roman"/>
                <a:cs typeface="Times New Roman"/>
              </a:rPr>
              <a:t>itself, </a:t>
            </a:r>
            <a:r>
              <a:rPr sz="2400" spc="-5" dirty="0">
                <a:latin typeface="Times New Roman"/>
                <a:cs typeface="Times New Roman"/>
              </a:rPr>
              <a:t>both 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to	t</a:t>
            </a:r>
            <a:r>
              <a:rPr sz="2400" spc="-2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rth</a:t>
            </a:r>
            <a:r>
              <a:rPr sz="2400" spc="-20" dirty="0">
                <a:latin typeface="Times New Roman"/>
                <a:cs typeface="Times New Roman"/>
              </a:rPr>
              <a:t>'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102" y="3038347"/>
            <a:ext cx="5426710" cy="3330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crust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volcanically active locations </a:t>
            </a:r>
            <a:r>
              <a:rPr sz="2400" dirty="0">
                <a:latin typeface="Times New Roman"/>
                <a:cs typeface="Times New Roman"/>
              </a:rPr>
              <a:t>of  the </a:t>
            </a:r>
            <a:r>
              <a:rPr sz="2400" spc="-5" dirty="0">
                <a:latin typeface="Times New Roman"/>
                <a:cs typeface="Times New Roman"/>
              </a:rPr>
              <a:t>globe </a:t>
            </a:r>
            <a:r>
              <a:rPr sz="2400" spc="-1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from shallow depths, </a:t>
            </a:r>
            <a:r>
              <a:rPr sz="2400" dirty="0">
                <a:latin typeface="Times New Roman"/>
                <a:cs typeface="Times New Roman"/>
              </a:rPr>
              <a:t>as in  </a:t>
            </a:r>
            <a:r>
              <a:rPr sz="2400" spc="-10" dirty="0">
                <a:latin typeface="Times New Roman"/>
                <a:cs typeface="Times New Roman"/>
              </a:rPr>
              <a:t>geothermal </a:t>
            </a:r>
            <a:r>
              <a:rPr sz="2400" spc="-5" dirty="0">
                <a:latin typeface="Times New Roman"/>
                <a:cs typeface="Times New Roman"/>
              </a:rPr>
              <a:t>heat pumps in </a:t>
            </a:r>
            <a:r>
              <a:rPr sz="2400" spc="-10" dirty="0">
                <a:latin typeface="Times New Roman"/>
                <a:cs typeface="Times New Roman"/>
              </a:rPr>
              <a:t>most locations 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planet.</a:t>
            </a:r>
            <a:endParaRPr sz="24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99720" algn="l"/>
              </a:tabLst>
            </a:pPr>
            <a:r>
              <a:rPr sz="2400" spc="-5" dirty="0">
                <a:latin typeface="Times New Roman"/>
                <a:cs typeface="Times New Roman"/>
              </a:rPr>
              <a:t>It </a:t>
            </a:r>
            <a:r>
              <a:rPr sz="2400" spc="-1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expensive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build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power </a:t>
            </a:r>
            <a:r>
              <a:rPr sz="2400" spc="-10" dirty="0">
                <a:latin typeface="Times New Roman"/>
                <a:cs typeface="Times New Roman"/>
              </a:rPr>
              <a:t>station  </a:t>
            </a:r>
            <a:r>
              <a:rPr sz="2400" spc="-5" dirty="0">
                <a:latin typeface="Times New Roman"/>
                <a:cs typeface="Times New Roman"/>
              </a:rPr>
              <a:t>but operating costs </a:t>
            </a:r>
            <a:r>
              <a:rPr sz="2400" dirty="0">
                <a:latin typeface="Times New Roman"/>
                <a:cs typeface="Times New Roman"/>
              </a:rPr>
              <a:t>are low </a:t>
            </a:r>
            <a:r>
              <a:rPr sz="2400" spc="-5" dirty="0">
                <a:latin typeface="Times New Roman"/>
                <a:cs typeface="Times New Roman"/>
              </a:rPr>
              <a:t>resulting </a:t>
            </a:r>
            <a:r>
              <a:rPr sz="2400" dirty="0">
                <a:latin typeface="Times New Roman"/>
                <a:cs typeface="Times New Roman"/>
              </a:rPr>
              <a:t>in  </a:t>
            </a:r>
            <a:r>
              <a:rPr sz="2400" spc="-5" dirty="0">
                <a:latin typeface="Times New Roman"/>
                <a:cs typeface="Times New Roman"/>
              </a:rPr>
              <a:t>low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spc="-5" dirty="0">
                <a:latin typeface="Times New Roman"/>
                <a:cs typeface="Times New Roman"/>
              </a:rPr>
              <a:t>costs </a:t>
            </a:r>
            <a:r>
              <a:rPr sz="2400" spc="-1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suitable </a:t>
            </a:r>
            <a:r>
              <a:rPr sz="2400" spc="-10" dirty="0">
                <a:latin typeface="Times New Roman"/>
                <a:cs typeface="Times New Roman"/>
              </a:rPr>
              <a:t>sites.  </a:t>
            </a:r>
            <a:r>
              <a:rPr sz="2400" spc="-40" dirty="0">
                <a:latin typeface="Times New Roman"/>
                <a:cs typeface="Times New Roman"/>
              </a:rPr>
              <a:t>Ultimately, </a:t>
            </a:r>
            <a:r>
              <a:rPr sz="2400" dirty="0">
                <a:latin typeface="Times New Roman"/>
                <a:cs typeface="Times New Roman"/>
              </a:rPr>
              <a:t>this </a:t>
            </a:r>
            <a:r>
              <a:rPr sz="2400" spc="-15" dirty="0">
                <a:latin typeface="Times New Roman"/>
                <a:cs typeface="Times New Roman"/>
              </a:rPr>
              <a:t>energy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derives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heat  </a:t>
            </a:r>
            <a:r>
              <a:rPr sz="2400" dirty="0">
                <a:latin typeface="Times New Roman"/>
                <a:cs typeface="Times New Roman"/>
              </a:rPr>
              <a:t>in the </a:t>
            </a:r>
            <a:r>
              <a:rPr sz="2400" spc="-5" dirty="0">
                <a:latin typeface="Times New Roman"/>
                <a:cs typeface="Times New Roman"/>
              </a:rPr>
              <a:t>Earth's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23203" y="1924811"/>
            <a:ext cx="6265163" cy="4543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6321" y="0"/>
            <a:ext cx="4304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Geothermal</a:t>
            </a:r>
            <a:r>
              <a:rPr spc="-175" dirty="0"/>
              <a:t> </a:t>
            </a:r>
            <a:r>
              <a:rPr spc="-15" dirty="0"/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752043"/>
            <a:ext cx="11328400" cy="5986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720" algn="l"/>
              </a:tabLst>
            </a:pPr>
            <a:r>
              <a:rPr sz="2300" dirty="0">
                <a:latin typeface="Times New Roman"/>
                <a:cs typeface="Times New Roman"/>
              </a:rPr>
              <a:t>Three types of power plants are used to </a:t>
            </a:r>
            <a:r>
              <a:rPr sz="2300" spc="-5" dirty="0">
                <a:latin typeface="Times New Roman"/>
                <a:cs typeface="Times New Roman"/>
              </a:rPr>
              <a:t>generate </a:t>
            </a:r>
            <a:r>
              <a:rPr sz="2300" dirty="0">
                <a:latin typeface="Times New Roman"/>
                <a:cs typeface="Times New Roman"/>
              </a:rPr>
              <a:t>power from </a:t>
            </a:r>
            <a:r>
              <a:rPr sz="2300" spc="-5" dirty="0">
                <a:latin typeface="Times New Roman"/>
                <a:cs typeface="Times New Roman"/>
              </a:rPr>
              <a:t>geothermal </a:t>
            </a:r>
            <a:r>
              <a:rPr sz="2300" spc="-10" dirty="0">
                <a:latin typeface="Times New Roman"/>
                <a:cs typeface="Times New Roman"/>
              </a:rPr>
              <a:t>energy:</a:t>
            </a:r>
            <a:r>
              <a:rPr sz="2300" spc="-25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dry</a:t>
            </a:r>
            <a:endParaRPr sz="23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300" spc="-5" dirty="0">
                <a:latin typeface="Times New Roman"/>
                <a:cs typeface="Times New Roman"/>
              </a:rPr>
              <a:t>steam, </a:t>
            </a:r>
            <a:r>
              <a:rPr sz="2300" dirty="0">
                <a:latin typeface="Times New Roman"/>
                <a:cs typeface="Times New Roman"/>
              </a:rPr>
              <a:t>flash, and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spc="-40" dirty="0">
                <a:latin typeface="Times New Roman"/>
                <a:cs typeface="Times New Roman"/>
              </a:rPr>
              <a:t>binary.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"/>
              <a:tabLst>
                <a:tab pos="299720" algn="l"/>
                <a:tab pos="11180445" algn="l"/>
              </a:tabLst>
            </a:pPr>
            <a:r>
              <a:rPr sz="2300" dirty="0">
                <a:latin typeface="Times New Roman"/>
                <a:cs typeface="Times New Roman"/>
              </a:rPr>
              <a:t>Dry </a:t>
            </a:r>
            <a:r>
              <a:rPr sz="2300" spc="-19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</a:t>
            </a:r>
            <a:r>
              <a:rPr sz="2300" dirty="0">
                <a:latin typeface="Times New Roman"/>
                <a:cs typeface="Times New Roman"/>
              </a:rPr>
              <a:t>t</a:t>
            </a:r>
            <a:r>
              <a:rPr sz="2300" spc="-10" dirty="0">
                <a:latin typeface="Times New Roman"/>
                <a:cs typeface="Times New Roman"/>
              </a:rPr>
              <a:t>e</a:t>
            </a:r>
            <a:r>
              <a:rPr sz="2300" dirty="0">
                <a:latin typeface="Times New Roman"/>
                <a:cs typeface="Times New Roman"/>
              </a:rPr>
              <a:t>am </a:t>
            </a:r>
            <a:r>
              <a:rPr sz="2300" spc="-225" dirty="0">
                <a:latin typeface="Times New Roman"/>
                <a:cs typeface="Times New Roman"/>
              </a:rPr>
              <a:t> </a:t>
            </a:r>
            <a:r>
              <a:rPr sz="2300" spc="-15" dirty="0">
                <a:latin typeface="Times New Roman"/>
                <a:cs typeface="Times New Roman"/>
              </a:rPr>
              <a:t>p</a:t>
            </a:r>
            <a:r>
              <a:rPr sz="2300" dirty="0">
                <a:latin typeface="Times New Roman"/>
                <a:cs typeface="Times New Roman"/>
              </a:rPr>
              <a:t>l</a:t>
            </a:r>
            <a:r>
              <a:rPr sz="2300" spc="-10" dirty="0">
                <a:latin typeface="Times New Roman"/>
                <a:cs typeface="Times New Roman"/>
              </a:rPr>
              <a:t>a</a:t>
            </a:r>
            <a:r>
              <a:rPr sz="2300" dirty="0">
                <a:latin typeface="Times New Roman"/>
                <a:cs typeface="Times New Roman"/>
              </a:rPr>
              <a:t>n</a:t>
            </a:r>
            <a:r>
              <a:rPr sz="2300" spc="-20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s </a:t>
            </a:r>
            <a:r>
              <a:rPr sz="2300" spc="-2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</a:t>
            </a:r>
            <a:r>
              <a:rPr sz="2300" spc="-10" dirty="0">
                <a:latin typeface="Times New Roman"/>
                <a:cs typeface="Times New Roman"/>
              </a:rPr>
              <a:t>a</a:t>
            </a:r>
            <a:r>
              <a:rPr sz="2300" dirty="0">
                <a:latin typeface="Times New Roman"/>
                <a:cs typeface="Times New Roman"/>
              </a:rPr>
              <a:t>ke 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</a:t>
            </a:r>
            <a:r>
              <a:rPr sz="2300" spc="-15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eam 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spc="-15" dirty="0">
                <a:latin typeface="Times New Roman"/>
                <a:cs typeface="Times New Roman"/>
              </a:rPr>
              <a:t>o</a:t>
            </a:r>
            <a:r>
              <a:rPr sz="2300" dirty="0">
                <a:latin typeface="Times New Roman"/>
                <a:cs typeface="Times New Roman"/>
              </a:rPr>
              <a:t>ut 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-15" dirty="0">
                <a:latin typeface="Times New Roman"/>
                <a:cs typeface="Times New Roman"/>
              </a:rPr>
              <a:t>o</a:t>
            </a:r>
            <a:r>
              <a:rPr sz="2300" dirty="0">
                <a:latin typeface="Times New Roman"/>
                <a:cs typeface="Times New Roman"/>
              </a:rPr>
              <a:t>f 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spc="-15" dirty="0">
                <a:latin typeface="Times New Roman"/>
                <a:cs typeface="Times New Roman"/>
              </a:rPr>
              <a:t>f</a:t>
            </a:r>
            <a:r>
              <a:rPr sz="2300" dirty="0">
                <a:latin typeface="Times New Roman"/>
                <a:cs typeface="Times New Roman"/>
              </a:rPr>
              <a:t>rac</a:t>
            </a:r>
            <a:r>
              <a:rPr sz="2300" spc="-25" dirty="0">
                <a:latin typeface="Times New Roman"/>
                <a:cs typeface="Times New Roman"/>
              </a:rPr>
              <a:t>t</a:t>
            </a:r>
            <a:r>
              <a:rPr sz="2300" spc="-15" dirty="0">
                <a:latin typeface="Times New Roman"/>
                <a:cs typeface="Times New Roman"/>
              </a:rPr>
              <a:t>u</a:t>
            </a:r>
            <a:r>
              <a:rPr sz="2300" dirty="0">
                <a:latin typeface="Times New Roman"/>
                <a:cs typeface="Times New Roman"/>
              </a:rPr>
              <a:t>res </a:t>
            </a:r>
            <a:r>
              <a:rPr sz="2300" spc="-20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i</a:t>
            </a:r>
            <a:r>
              <a:rPr sz="2300" dirty="0">
                <a:latin typeface="Times New Roman"/>
                <a:cs typeface="Times New Roman"/>
              </a:rPr>
              <a:t>n </a:t>
            </a:r>
            <a:r>
              <a:rPr sz="2300" spc="-204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he </a:t>
            </a:r>
            <a:r>
              <a:rPr sz="2300" spc="-204" dirty="0">
                <a:latin typeface="Times New Roman"/>
                <a:cs typeface="Times New Roman"/>
              </a:rPr>
              <a:t> </a:t>
            </a:r>
            <a:r>
              <a:rPr sz="2300" spc="-15" dirty="0">
                <a:latin typeface="Times New Roman"/>
                <a:cs typeface="Times New Roman"/>
              </a:rPr>
              <a:t>gr</a:t>
            </a:r>
            <a:r>
              <a:rPr sz="2300" dirty="0">
                <a:latin typeface="Times New Roman"/>
                <a:cs typeface="Times New Roman"/>
              </a:rPr>
              <a:t>o</a:t>
            </a:r>
            <a:r>
              <a:rPr sz="2300" spc="-15" dirty="0">
                <a:latin typeface="Times New Roman"/>
                <a:cs typeface="Times New Roman"/>
              </a:rPr>
              <a:t>u</a:t>
            </a:r>
            <a:r>
              <a:rPr sz="2300" dirty="0">
                <a:latin typeface="Times New Roman"/>
                <a:cs typeface="Times New Roman"/>
              </a:rPr>
              <a:t>nd </a:t>
            </a:r>
            <a:r>
              <a:rPr sz="2300" spc="-20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300" dirty="0">
                <a:latin typeface="Times New Roman"/>
                <a:cs typeface="Times New Roman"/>
              </a:rPr>
              <a:t>nd </a:t>
            </a:r>
            <a:r>
              <a:rPr sz="2300" spc="-20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 </a:t>
            </a:r>
            <a:r>
              <a:rPr sz="2300" spc="-204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</a:t>
            </a:r>
            <a:r>
              <a:rPr sz="2300" dirty="0">
                <a:latin typeface="Times New Roman"/>
                <a:cs typeface="Times New Roman"/>
              </a:rPr>
              <a:t>t 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t</a:t>
            </a:r>
            <a:r>
              <a:rPr sz="2300" dirty="0">
                <a:latin typeface="Times New Roman"/>
                <a:cs typeface="Times New Roman"/>
              </a:rPr>
              <a:t>o </a:t>
            </a:r>
            <a:r>
              <a:rPr sz="2300" spc="-20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</a:t>
            </a:r>
            <a:r>
              <a:rPr sz="2300" spc="-20" dirty="0">
                <a:latin typeface="Times New Roman"/>
                <a:cs typeface="Times New Roman"/>
              </a:rPr>
              <a:t>i</a:t>
            </a:r>
            <a:r>
              <a:rPr sz="2300" dirty="0">
                <a:latin typeface="Times New Roman"/>
                <a:cs typeface="Times New Roman"/>
              </a:rPr>
              <a:t>rec</a:t>
            </a:r>
            <a:r>
              <a:rPr sz="2300" spc="-10" dirty="0">
                <a:latin typeface="Times New Roman"/>
                <a:cs typeface="Times New Roman"/>
              </a:rPr>
              <a:t>t</a:t>
            </a:r>
            <a:r>
              <a:rPr sz="2300" spc="-20" dirty="0">
                <a:latin typeface="Times New Roman"/>
                <a:cs typeface="Times New Roman"/>
              </a:rPr>
              <a:t>l</a:t>
            </a:r>
            <a:r>
              <a:rPr sz="2300" dirty="0">
                <a:latin typeface="Times New Roman"/>
                <a:cs typeface="Times New Roman"/>
              </a:rPr>
              <a:t>y </a:t>
            </a:r>
            <a:r>
              <a:rPr sz="2300" spc="-200" dirty="0">
                <a:latin typeface="Times New Roman"/>
                <a:cs typeface="Times New Roman"/>
              </a:rPr>
              <a:t> </a:t>
            </a:r>
            <a:r>
              <a:rPr sz="2300" spc="-15" dirty="0">
                <a:latin typeface="Times New Roman"/>
                <a:cs typeface="Times New Roman"/>
              </a:rPr>
              <a:t>dr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-20" dirty="0">
                <a:latin typeface="Times New Roman"/>
                <a:cs typeface="Times New Roman"/>
              </a:rPr>
              <a:t>v</a:t>
            </a:r>
            <a:r>
              <a:rPr sz="2300" dirty="0">
                <a:latin typeface="Times New Roman"/>
                <a:cs typeface="Times New Roman"/>
              </a:rPr>
              <a:t>e	a</a:t>
            </a:r>
            <a:endParaRPr sz="23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turbine </a:t>
            </a:r>
            <a:r>
              <a:rPr sz="2300" spc="-5" dirty="0">
                <a:latin typeface="Times New Roman"/>
                <a:cs typeface="Times New Roman"/>
              </a:rPr>
              <a:t>that </a:t>
            </a:r>
            <a:r>
              <a:rPr sz="2300" dirty="0">
                <a:latin typeface="Times New Roman"/>
                <a:cs typeface="Times New Roman"/>
              </a:rPr>
              <a:t>spins a</a:t>
            </a:r>
            <a:r>
              <a:rPr sz="2300" spc="-135" dirty="0">
                <a:latin typeface="Times New Roman"/>
                <a:cs typeface="Times New Roman"/>
              </a:rPr>
              <a:t> </a:t>
            </a:r>
            <a:r>
              <a:rPr sz="2300" spc="-30" dirty="0">
                <a:latin typeface="Times New Roman"/>
                <a:cs typeface="Times New Roman"/>
              </a:rPr>
              <a:t>generator.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00000"/>
              </a:lnSpc>
              <a:buSzPct val="78260"/>
              <a:buFont typeface="Wingdings"/>
              <a:buChar char=""/>
              <a:tabLst>
                <a:tab pos="381635" algn="l"/>
              </a:tabLst>
            </a:pPr>
            <a:r>
              <a:rPr dirty="0"/>
              <a:t>	</a:t>
            </a:r>
            <a:r>
              <a:rPr sz="2300" dirty="0">
                <a:latin typeface="Times New Roman"/>
                <a:cs typeface="Times New Roman"/>
              </a:rPr>
              <a:t>Flash </a:t>
            </a:r>
            <a:r>
              <a:rPr sz="2300" spc="-10" dirty="0">
                <a:latin typeface="Times New Roman"/>
                <a:cs typeface="Times New Roman"/>
              </a:rPr>
              <a:t>plants </a:t>
            </a:r>
            <a:r>
              <a:rPr sz="2300" spc="-5" dirty="0">
                <a:latin typeface="Times New Roman"/>
                <a:cs typeface="Times New Roman"/>
              </a:rPr>
              <a:t>take hot </a:t>
            </a:r>
            <a:r>
              <a:rPr sz="2300" spc="-40" dirty="0">
                <a:latin typeface="Times New Roman"/>
                <a:cs typeface="Times New Roman"/>
              </a:rPr>
              <a:t>water, </a:t>
            </a:r>
            <a:r>
              <a:rPr sz="2300" spc="-5" dirty="0">
                <a:latin typeface="Times New Roman"/>
                <a:cs typeface="Times New Roman"/>
              </a:rPr>
              <a:t>usually at temperatures over </a:t>
            </a:r>
            <a:r>
              <a:rPr sz="2300" spc="-10" dirty="0">
                <a:latin typeface="Times New Roman"/>
                <a:cs typeface="Times New Roman"/>
              </a:rPr>
              <a:t>200 </a:t>
            </a:r>
            <a:r>
              <a:rPr sz="2300" dirty="0">
                <a:latin typeface="Times New Roman"/>
                <a:cs typeface="Times New Roman"/>
              </a:rPr>
              <a:t>°C, out </a:t>
            </a:r>
            <a:r>
              <a:rPr sz="2300" spc="-10" dirty="0">
                <a:latin typeface="Times New Roman"/>
                <a:cs typeface="Times New Roman"/>
              </a:rPr>
              <a:t>of </a:t>
            </a:r>
            <a:r>
              <a:rPr sz="2300" spc="-5" dirty="0">
                <a:latin typeface="Times New Roman"/>
                <a:cs typeface="Times New Roman"/>
              </a:rPr>
              <a:t>the </a:t>
            </a:r>
            <a:r>
              <a:rPr sz="2300" spc="-10" dirty="0">
                <a:latin typeface="Times New Roman"/>
                <a:cs typeface="Times New Roman"/>
              </a:rPr>
              <a:t>ground, </a:t>
            </a:r>
            <a:r>
              <a:rPr sz="2300" dirty="0">
                <a:latin typeface="Times New Roman"/>
                <a:cs typeface="Times New Roman"/>
              </a:rPr>
              <a:t>and  </a:t>
            </a:r>
            <a:r>
              <a:rPr sz="2300" spc="-5" dirty="0">
                <a:latin typeface="Times New Roman"/>
                <a:cs typeface="Times New Roman"/>
              </a:rPr>
              <a:t>allows it </a:t>
            </a:r>
            <a:r>
              <a:rPr sz="2300" spc="-10" dirty="0">
                <a:latin typeface="Times New Roman"/>
                <a:cs typeface="Times New Roman"/>
              </a:rPr>
              <a:t>to </a:t>
            </a:r>
            <a:r>
              <a:rPr sz="2300" spc="-5" dirty="0">
                <a:latin typeface="Times New Roman"/>
                <a:cs typeface="Times New Roman"/>
              </a:rPr>
              <a:t>boil as it rises </a:t>
            </a:r>
            <a:r>
              <a:rPr sz="2300" spc="-10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the </a:t>
            </a:r>
            <a:r>
              <a:rPr sz="2300" spc="-5" dirty="0">
                <a:latin typeface="Times New Roman"/>
                <a:cs typeface="Times New Roman"/>
              </a:rPr>
              <a:t>surface then separates </a:t>
            </a:r>
            <a:r>
              <a:rPr sz="2300" dirty="0">
                <a:latin typeface="Times New Roman"/>
                <a:cs typeface="Times New Roman"/>
              </a:rPr>
              <a:t>the steam </a:t>
            </a:r>
            <a:r>
              <a:rPr sz="2300" spc="-5" dirty="0">
                <a:latin typeface="Times New Roman"/>
                <a:cs typeface="Times New Roman"/>
              </a:rPr>
              <a:t>phase </a:t>
            </a:r>
            <a:r>
              <a:rPr sz="2300" spc="-10" dirty="0">
                <a:latin typeface="Times New Roman"/>
                <a:cs typeface="Times New Roman"/>
              </a:rPr>
              <a:t>in </a:t>
            </a:r>
            <a:r>
              <a:rPr sz="2300" dirty="0">
                <a:latin typeface="Times New Roman"/>
                <a:cs typeface="Times New Roman"/>
              </a:rPr>
              <a:t>steam/water  </a:t>
            </a:r>
            <a:r>
              <a:rPr sz="2300" spc="-5" dirty="0">
                <a:latin typeface="Times New Roman"/>
                <a:cs typeface="Times New Roman"/>
              </a:rPr>
              <a:t>separators </a:t>
            </a:r>
            <a:r>
              <a:rPr sz="2300" dirty="0">
                <a:latin typeface="Times New Roman"/>
                <a:cs typeface="Times New Roman"/>
              </a:rPr>
              <a:t>and </a:t>
            </a:r>
            <a:r>
              <a:rPr sz="2300" spc="-5" dirty="0">
                <a:latin typeface="Times New Roman"/>
                <a:cs typeface="Times New Roman"/>
              </a:rPr>
              <a:t>then </a:t>
            </a:r>
            <a:r>
              <a:rPr sz="2300" dirty="0">
                <a:latin typeface="Times New Roman"/>
                <a:cs typeface="Times New Roman"/>
              </a:rPr>
              <a:t>runs the steam through a</a:t>
            </a:r>
            <a:r>
              <a:rPr sz="2300" spc="-30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turbine.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9085" marR="6985" indent="-287020" algn="just">
              <a:lnSpc>
                <a:spcPct val="100000"/>
              </a:lnSpc>
              <a:buFont typeface="Wingdings"/>
              <a:buChar char=""/>
              <a:tabLst>
                <a:tab pos="299720" algn="l"/>
              </a:tabLst>
            </a:pPr>
            <a:r>
              <a:rPr sz="2300" dirty="0">
                <a:latin typeface="Times New Roman"/>
                <a:cs typeface="Times New Roman"/>
              </a:rPr>
              <a:t>In </a:t>
            </a:r>
            <a:r>
              <a:rPr sz="2300" spc="-10" dirty="0">
                <a:latin typeface="Times New Roman"/>
                <a:cs typeface="Times New Roman"/>
              </a:rPr>
              <a:t>binary </a:t>
            </a:r>
            <a:r>
              <a:rPr sz="2300" spc="-5" dirty="0">
                <a:latin typeface="Times New Roman"/>
                <a:cs typeface="Times New Roman"/>
              </a:rPr>
              <a:t>plants, </a:t>
            </a:r>
            <a:r>
              <a:rPr sz="2300" dirty="0">
                <a:latin typeface="Times New Roman"/>
                <a:cs typeface="Times New Roman"/>
              </a:rPr>
              <a:t>the hot </a:t>
            </a:r>
            <a:r>
              <a:rPr sz="2300" spc="-5" dirty="0">
                <a:latin typeface="Times New Roman"/>
                <a:cs typeface="Times New Roman"/>
              </a:rPr>
              <a:t>water flows </a:t>
            </a:r>
            <a:r>
              <a:rPr sz="2300" spc="-10" dirty="0">
                <a:latin typeface="Times New Roman"/>
                <a:cs typeface="Times New Roman"/>
              </a:rPr>
              <a:t>through </a:t>
            </a:r>
            <a:r>
              <a:rPr sz="2300" spc="-5" dirty="0">
                <a:latin typeface="Times New Roman"/>
                <a:cs typeface="Times New Roman"/>
              </a:rPr>
              <a:t>heat exchangers, </a:t>
            </a:r>
            <a:r>
              <a:rPr sz="2300" spc="-10" dirty="0">
                <a:latin typeface="Times New Roman"/>
                <a:cs typeface="Times New Roman"/>
              </a:rPr>
              <a:t>boiling </a:t>
            </a:r>
            <a:r>
              <a:rPr sz="2300" spc="-5" dirty="0">
                <a:latin typeface="Times New Roman"/>
                <a:cs typeface="Times New Roman"/>
              </a:rPr>
              <a:t>an </a:t>
            </a:r>
            <a:r>
              <a:rPr sz="2300" spc="-15" dirty="0">
                <a:latin typeface="Times New Roman"/>
                <a:cs typeface="Times New Roman"/>
              </a:rPr>
              <a:t>organic </a:t>
            </a:r>
            <a:r>
              <a:rPr sz="2300" spc="-5" dirty="0">
                <a:latin typeface="Times New Roman"/>
                <a:cs typeface="Times New Roman"/>
              </a:rPr>
              <a:t>fluid </a:t>
            </a:r>
            <a:r>
              <a:rPr sz="2300" dirty="0">
                <a:latin typeface="Times New Roman"/>
                <a:cs typeface="Times New Roman"/>
              </a:rPr>
              <a:t>that  </a:t>
            </a:r>
            <a:r>
              <a:rPr sz="2300" spc="-5" dirty="0">
                <a:latin typeface="Times New Roman"/>
                <a:cs typeface="Times New Roman"/>
              </a:rPr>
              <a:t>spins the </a:t>
            </a:r>
            <a:r>
              <a:rPr sz="2300" spc="-10" dirty="0">
                <a:latin typeface="Times New Roman"/>
                <a:cs typeface="Times New Roman"/>
              </a:rPr>
              <a:t>turbine. </a:t>
            </a:r>
            <a:r>
              <a:rPr sz="2300" spc="-5" dirty="0">
                <a:latin typeface="Times New Roman"/>
                <a:cs typeface="Times New Roman"/>
              </a:rPr>
              <a:t>The condensed steam </a:t>
            </a:r>
            <a:r>
              <a:rPr sz="2300" dirty="0">
                <a:latin typeface="Times New Roman"/>
                <a:cs typeface="Times New Roman"/>
              </a:rPr>
              <a:t>and </a:t>
            </a:r>
            <a:r>
              <a:rPr sz="2300" spc="-5" dirty="0">
                <a:latin typeface="Times New Roman"/>
                <a:cs typeface="Times New Roman"/>
              </a:rPr>
              <a:t>remaining </a:t>
            </a:r>
            <a:r>
              <a:rPr sz="2300" spc="-10" dirty="0">
                <a:latin typeface="Times New Roman"/>
                <a:cs typeface="Times New Roman"/>
              </a:rPr>
              <a:t>geothermal </a:t>
            </a:r>
            <a:r>
              <a:rPr sz="2300" spc="-5" dirty="0">
                <a:latin typeface="Times New Roman"/>
                <a:cs typeface="Times New Roman"/>
              </a:rPr>
              <a:t>fluid </a:t>
            </a:r>
            <a:r>
              <a:rPr sz="2300" spc="-10" dirty="0">
                <a:latin typeface="Times New Roman"/>
                <a:cs typeface="Times New Roman"/>
              </a:rPr>
              <a:t>from </a:t>
            </a:r>
            <a:r>
              <a:rPr sz="2300" spc="-5" dirty="0">
                <a:latin typeface="Times New Roman"/>
                <a:cs typeface="Times New Roman"/>
              </a:rPr>
              <a:t>all </a:t>
            </a:r>
            <a:r>
              <a:rPr sz="2300" dirty="0">
                <a:latin typeface="Times New Roman"/>
                <a:cs typeface="Times New Roman"/>
              </a:rPr>
              <a:t>three types  of </a:t>
            </a:r>
            <a:r>
              <a:rPr sz="2300" spc="-5" dirty="0">
                <a:latin typeface="Times New Roman"/>
                <a:cs typeface="Times New Roman"/>
              </a:rPr>
              <a:t>plants </a:t>
            </a:r>
            <a:r>
              <a:rPr sz="2300" dirty="0">
                <a:latin typeface="Times New Roman"/>
                <a:cs typeface="Times New Roman"/>
              </a:rPr>
              <a:t>are </a:t>
            </a:r>
            <a:r>
              <a:rPr sz="2300" spc="-5" dirty="0">
                <a:latin typeface="Times New Roman"/>
                <a:cs typeface="Times New Roman"/>
              </a:rPr>
              <a:t>injected </a:t>
            </a:r>
            <a:r>
              <a:rPr sz="2300" dirty="0">
                <a:latin typeface="Times New Roman"/>
                <a:cs typeface="Times New Roman"/>
              </a:rPr>
              <a:t>back </a:t>
            </a:r>
            <a:r>
              <a:rPr sz="2300" spc="-5" dirty="0">
                <a:latin typeface="Times New Roman"/>
                <a:cs typeface="Times New Roman"/>
              </a:rPr>
              <a:t>into </a:t>
            </a:r>
            <a:r>
              <a:rPr sz="2300" dirty="0">
                <a:latin typeface="Times New Roman"/>
                <a:cs typeface="Times New Roman"/>
              </a:rPr>
              <a:t>the hot rock </a:t>
            </a:r>
            <a:r>
              <a:rPr sz="2300" spc="-5" dirty="0">
                <a:latin typeface="Times New Roman"/>
                <a:cs typeface="Times New Roman"/>
              </a:rPr>
              <a:t>to pick </a:t>
            </a:r>
            <a:r>
              <a:rPr sz="2300" dirty="0">
                <a:latin typeface="Times New Roman"/>
                <a:cs typeface="Times New Roman"/>
              </a:rPr>
              <a:t>up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25" dirty="0">
                <a:latin typeface="Times New Roman"/>
                <a:cs typeface="Times New Roman"/>
              </a:rPr>
              <a:t>moreheat.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99085" marR="6985" indent="-28702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720" algn="l"/>
              </a:tabLst>
            </a:pPr>
            <a:r>
              <a:rPr sz="2300" dirty="0">
                <a:latin typeface="Times New Roman"/>
                <a:cs typeface="Times New Roman"/>
              </a:rPr>
              <a:t>The </a:t>
            </a:r>
            <a:r>
              <a:rPr sz="2300" spc="-10" dirty="0">
                <a:latin typeface="Times New Roman"/>
                <a:cs typeface="Times New Roman"/>
              </a:rPr>
              <a:t>geothermal </a:t>
            </a:r>
            <a:r>
              <a:rPr sz="2300" spc="-15" dirty="0">
                <a:latin typeface="Times New Roman"/>
                <a:cs typeface="Times New Roman"/>
              </a:rPr>
              <a:t>energy </a:t>
            </a:r>
            <a:r>
              <a:rPr sz="2300" spc="-5" dirty="0">
                <a:latin typeface="Times New Roman"/>
                <a:cs typeface="Times New Roman"/>
              </a:rPr>
              <a:t>from the </a:t>
            </a:r>
            <a:r>
              <a:rPr sz="2300" spc="-10" dirty="0">
                <a:latin typeface="Times New Roman"/>
                <a:cs typeface="Times New Roman"/>
              </a:rPr>
              <a:t>core </a:t>
            </a:r>
            <a:r>
              <a:rPr sz="2300" dirty="0">
                <a:latin typeface="Times New Roman"/>
                <a:cs typeface="Times New Roman"/>
              </a:rPr>
              <a:t>of </a:t>
            </a:r>
            <a:r>
              <a:rPr sz="2300" spc="-5" dirty="0">
                <a:latin typeface="Times New Roman"/>
                <a:cs typeface="Times New Roman"/>
              </a:rPr>
              <a:t>the Earth is </a:t>
            </a:r>
            <a:r>
              <a:rPr sz="2300" spc="-10" dirty="0">
                <a:latin typeface="Times New Roman"/>
                <a:cs typeface="Times New Roman"/>
              </a:rPr>
              <a:t>closer to </a:t>
            </a:r>
            <a:r>
              <a:rPr sz="2300" spc="-5" dirty="0">
                <a:latin typeface="Times New Roman"/>
                <a:cs typeface="Times New Roman"/>
              </a:rPr>
              <a:t>the surface </a:t>
            </a:r>
            <a:r>
              <a:rPr sz="2300" spc="-10" dirty="0">
                <a:latin typeface="Times New Roman"/>
                <a:cs typeface="Times New Roman"/>
              </a:rPr>
              <a:t>in some </a:t>
            </a:r>
            <a:r>
              <a:rPr sz="2300" spc="-5" dirty="0">
                <a:latin typeface="Times New Roman"/>
                <a:cs typeface="Times New Roman"/>
              </a:rPr>
              <a:t>areas </a:t>
            </a:r>
            <a:r>
              <a:rPr sz="2300" spc="-15" dirty="0">
                <a:latin typeface="Times New Roman"/>
                <a:cs typeface="Times New Roman"/>
              </a:rPr>
              <a:t>than   </a:t>
            </a:r>
            <a:r>
              <a:rPr sz="2300" spc="-5" dirty="0">
                <a:latin typeface="Times New Roman"/>
                <a:cs typeface="Times New Roman"/>
              </a:rPr>
              <a:t>in others. Where </a:t>
            </a:r>
            <a:r>
              <a:rPr sz="2300" dirty="0">
                <a:latin typeface="Times New Roman"/>
                <a:cs typeface="Times New Roman"/>
              </a:rPr>
              <a:t>hot </a:t>
            </a:r>
            <a:r>
              <a:rPr sz="2300" spc="-10" dirty="0">
                <a:latin typeface="Times New Roman"/>
                <a:cs typeface="Times New Roman"/>
              </a:rPr>
              <a:t>underground </a:t>
            </a:r>
            <a:r>
              <a:rPr sz="2300" spc="-5" dirty="0">
                <a:latin typeface="Times New Roman"/>
                <a:cs typeface="Times New Roman"/>
              </a:rPr>
              <a:t>steam </a:t>
            </a:r>
            <a:r>
              <a:rPr sz="2300" spc="-10" dirty="0">
                <a:latin typeface="Times New Roman"/>
                <a:cs typeface="Times New Roman"/>
              </a:rPr>
              <a:t>or </a:t>
            </a:r>
            <a:r>
              <a:rPr sz="2300" spc="-5" dirty="0">
                <a:latin typeface="Times New Roman"/>
                <a:cs typeface="Times New Roman"/>
              </a:rPr>
              <a:t>water can </a:t>
            </a:r>
            <a:r>
              <a:rPr sz="2300" dirty="0">
                <a:latin typeface="Times New Roman"/>
                <a:cs typeface="Times New Roman"/>
              </a:rPr>
              <a:t>be </a:t>
            </a:r>
            <a:r>
              <a:rPr sz="2300" spc="-15" dirty="0">
                <a:latin typeface="Times New Roman"/>
                <a:cs typeface="Times New Roman"/>
              </a:rPr>
              <a:t>tapped </a:t>
            </a:r>
            <a:r>
              <a:rPr sz="2300" spc="-10" dirty="0">
                <a:latin typeface="Times New Roman"/>
                <a:cs typeface="Times New Roman"/>
              </a:rPr>
              <a:t>and </a:t>
            </a:r>
            <a:r>
              <a:rPr sz="2300" dirty="0">
                <a:latin typeface="Times New Roman"/>
                <a:cs typeface="Times New Roman"/>
              </a:rPr>
              <a:t>brought </a:t>
            </a:r>
            <a:r>
              <a:rPr sz="2300" spc="-5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the </a:t>
            </a:r>
            <a:r>
              <a:rPr sz="2300" spc="-5" dirty="0">
                <a:latin typeface="Times New Roman"/>
                <a:cs typeface="Times New Roman"/>
              </a:rPr>
              <a:t>surface it  may </a:t>
            </a:r>
            <a:r>
              <a:rPr sz="2300" dirty="0">
                <a:latin typeface="Times New Roman"/>
                <a:cs typeface="Times New Roman"/>
              </a:rPr>
              <a:t>be used </a:t>
            </a:r>
            <a:r>
              <a:rPr sz="2300" spc="-5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generate</a:t>
            </a:r>
            <a:r>
              <a:rPr sz="2300" spc="-250" dirty="0">
                <a:latin typeface="Times New Roman"/>
                <a:cs typeface="Times New Roman"/>
              </a:rPr>
              <a:t> </a:t>
            </a:r>
            <a:r>
              <a:rPr sz="2300" spc="-30" dirty="0">
                <a:latin typeface="Times New Roman"/>
                <a:cs typeface="Times New Roman"/>
              </a:rPr>
              <a:t>electricity.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0274" y="0"/>
            <a:ext cx="91649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 of renewable </a:t>
            </a:r>
            <a:r>
              <a:rPr spc="-15" dirty="0"/>
              <a:t>energy</a:t>
            </a:r>
            <a:r>
              <a:rPr spc="-145" dirty="0"/>
              <a:t> </a:t>
            </a:r>
            <a:r>
              <a:rPr dirty="0"/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686" y="902283"/>
            <a:ext cx="11350625" cy="3607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2600" spc="-5" dirty="0">
                <a:latin typeface="Times New Roman"/>
                <a:cs typeface="Times New Roman"/>
              </a:rPr>
              <a:t>Renewable </a:t>
            </a:r>
            <a:r>
              <a:rPr sz="2600" spc="-15" dirty="0">
                <a:latin typeface="Times New Roman"/>
                <a:cs typeface="Times New Roman"/>
              </a:rPr>
              <a:t>energy </a:t>
            </a:r>
            <a:r>
              <a:rPr sz="2600" spc="-10" dirty="0">
                <a:latin typeface="Times New Roman"/>
                <a:cs typeface="Times New Roman"/>
              </a:rPr>
              <a:t>sources </a:t>
            </a:r>
            <a:r>
              <a:rPr sz="2600" spc="-5" dirty="0">
                <a:latin typeface="Times New Roman"/>
                <a:cs typeface="Times New Roman"/>
              </a:rPr>
              <a:t>consist of </a:t>
            </a:r>
            <a:r>
              <a:rPr sz="2600" spc="-40" dirty="0">
                <a:latin typeface="Times New Roman"/>
                <a:cs typeface="Times New Roman"/>
              </a:rPr>
              <a:t>solar, </a:t>
            </a:r>
            <a:r>
              <a:rPr sz="2600" spc="-5" dirty="0">
                <a:latin typeface="Times New Roman"/>
                <a:cs typeface="Times New Roman"/>
              </a:rPr>
              <a:t>hydro, </a:t>
            </a:r>
            <a:r>
              <a:rPr sz="2600" dirty="0">
                <a:latin typeface="Times New Roman"/>
                <a:cs typeface="Times New Roman"/>
              </a:rPr>
              <a:t>wind, </a:t>
            </a:r>
            <a:r>
              <a:rPr sz="2600" spc="-10" dirty="0">
                <a:latin typeface="Times New Roman"/>
                <a:cs typeface="Times New Roman"/>
              </a:rPr>
              <a:t>geothermal, ocean </a:t>
            </a:r>
            <a:r>
              <a:rPr sz="2600" spc="-5" dirty="0">
                <a:latin typeface="Times New Roman"/>
                <a:cs typeface="Times New Roman"/>
              </a:rPr>
              <a:t>and  biomass. The most common </a:t>
            </a:r>
            <a:r>
              <a:rPr sz="2600" spc="-10" dirty="0">
                <a:latin typeface="Times New Roman"/>
                <a:cs typeface="Times New Roman"/>
              </a:rPr>
              <a:t>advantage </a:t>
            </a:r>
            <a:r>
              <a:rPr sz="2600" spc="-5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each </a:t>
            </a:r>
            <a:r>
              <a:rPr sz="2600" spc="-5" dirty="0">
                <a:latin typeface="Times New Roman"/>
                <a:cs typeface="Times New Roman"/>
              </a:rPr>
              <a:t>is that </a:t>
            </a:r>
            <a:r>
              <a:rPr sz="2600" dirty="0">
                <a:latin typeface="Times New Roman"/>
                <a:cs typeface="Times New Roman"/>
              </a:rPr>
              <a:t>they are </a:t>
            </a:r>
            <a:r>
              <a:rPr sz="2600" spc="-10" dirty="0">
                <a:latin typeface="Times New Roman"/>
                <a:cs typeface="Times New Roman"/>
              </a:rPr>
              <a:t>renewable </a:t>
            </a:r>
            <a:r>
              <a:rPr sz="2600" spc="-5" dirty="0">
                <a:latin typeface="Times New Roman"/>
                <a:cs typeface="Times New Roman"/>
              </a:rPr>
              <a:t>and  </a:t>
            </a:r>
            <a:r>
              <a:rPr sz="2600" dirty="0">
                <a:latin typeface="Times New Roman"/>
                <a:cs typeface="Times New Roman"/>
              </a:rPr>
              <a:t>cannot 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depleted.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600" spc="-10" dirty="0">
                <a:latin typeface="Times New Roman"/>
                <a:cs typeface="Times New Roman"/>
              </a:rPr>
              <a:t>They are clean </a:t>
            </a:r>
            <a:r>
              <a:rPr sz="2600" spc="-60" dirty="0">
                <a:latin typeface="Times New Roman"/>
                <a:cs typeface="Times New Roman"/>
              </a:rPr>
              <a:t>energy, </a:t>
            </a:r>
            <a:r>
              <a:rPr sz="2600" dirty="0">
                <a:latin typeface="Times New Roman"/>
                <a:cs typeface="Times New Roman"/>
              </a:rPr>
              <a:t>as </a:t>
            </a:r>
            <a:r>
              <a:rPr sz="2600" spc="-5" dirty="0">
                <a:latin typeface="Times New Roman"/>
                <a:cs typeface="Times New Roman"/>
              </a:rPr>
              <a:t>they </a:t>
            </a:r>
            <a:r>
              <a:rPr sz="2600" spc="-10" dirty="0">
                <a:latin typeface="Times New Roman"/>
                <a:cs typeface="Times New Roman"/>
              </a:rPr>
              <a:t>don't </a:t>
            </a:r>
            <a:r>
              <a:rPr sz="2600" spc="-5" dirty="0">
                <a:latin typeface="Times New Roman"/>
                <a:cs typeface="Times New Roman"/>
              </a:rPr>
              <a:t>pollute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60" dirty="0">
                <a:latin typeface="Times New Roman"/>
                <a:cs typeface="Times New Roman"/>
              </a:rPr>
              <a:t>air, </a:t>
            </a:r>
            <a:r>
              <a:rPr sz="2600" spc="-5" dirty="0">
                <a:latin typeface="Times New Roman"/>
                <a:cs typeface="Times New Roman"/>
              </a:rPr>
              <a:t>and they </a:t>
            </a:r>
            <a:r>
              <a:rPr sz="2600" spc="-10" dirty="0">
                <a:latin typeface="Times New Roman"/>
                <a:cs typeface="Times New Roman"/>
              </a:rPr>
              <a:t>don't </a:t>
            </a:r>
            <a:r>
              <a:rPr sz="2600" spc="-5" dirty="0">
                <a:latin typeface="Times New Roman"/>
                <a:cs typeface="Times New Roman"/>
              </a:rPr>
              <a:t>contribute to  </a:t>
            </a:r>
            <a:r>
              <a:rPr sz="2600" dirty="0">
                <a:latin typeface="Times New Roman"/>
                <a:cs typeface="Times New Roman"/>
              </a:rPr>
              <a:t>global </a:t>
            </a:r>
            <a:r>
              <a:rPr sz="2600" spc="-5" dirty="0">
                <a:latin typeface="Times New Roman"/>
                <a:cs typeface="Times New Roman"/>
              </a:rPr>
              <a:t>warming </a:t>
            </a:r>
            <a:r>
              <a:rPr sz="2600" dirty="0">
                <a:latin typeface="Times New Roman"/>
                <a:cs typeface="Times New Roman"/>
              </a:rPr>
              <a:t>or </a:t>
            </a:r>
            <a:r>
              <a:rPr sz="2600" spc="-5" dirty="0">
                <a:latin typeface="Times New Roman"/>
                <a:cs typeface="Times New Roman"/>
              </a:rPr>
              <a:t>greenhouse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effects.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"/>
            </a:pPr>
            <a:endParaRPr sz="27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42595" algn="l"/>
              </a:tabLst>
            </a:pPr>
            <a:r>
              <a:rPr dirty="0"/>
              <a:t>	</a:t>
            </a:r>
            <a:r>
              <a:rPr sz="2600" spc="-5" dirty="0">
                <a:latin typeface="Times New Roman"/>
                <a:cs typeface="Times New Roman"/>
              </a:rPr>
              <a:t>Since their </a:t>
            </a:r>
            <a:r>
              <a:rPr sz="2600" spc="-10" dirty="0">
                <a:latin typeface="Times New Roman"/>
                <a:cs typeface="Times New Roman"/>
              </a:rPr>
              <a:t>sources are </a:t>
            </a:r>
            <a:r>
              <a:rPr sz="2600" spc="-5" dirty="0">
                <a:latin typeface="Times New Roman"/>
                <a:cs typeface="Times New Roman"/>
              </a:rPr>
              <a:t>natural </a:t>
            </a:r>
            <a:r>
              <a:rPr sz="2600" dirty="0">
                <a:latin typeface="Times New Roman"/>
                <a:cs typeface="Times New Roman"/>
              </a:rPr>
              <a:t>the cost </a:t>
            </a:r>
            <a:r>
              <a:rPr sz="2600" spc="-5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operations </a:t>
            </a:r>
            <a:r>
              <a:rPr sz="2600" spc="-5" dirty="0">
                <a:latin typeface="Times New Roman"/>
                <a:cs typeface="Times New Roman"/>
              </a:rPr>
              <a:t>is reduced and </a:t>
            </a:r>
            <a:r>
              <a:rPr sz="2600" spc="-10" dirty="0">
                <a:latin typeface="Times New Roman"/>
                <a:cs typeface="Times New Roman"/>
              </a:rPr>
              <a:t>they also  </a:t>
            </a:r>
            <a:r>
              <a:rPr sz="2600" spc="-5" dirty="0">
                <a:latin typeface="Times New Roman"/>
                <a:cs typeface="Times New Roman"/>
              </a:rPr>
              <a:t>require less maintenance </a:t>
            </a:r>
            <a:r>
              <a:rPr sz="2600" dirty="0">
                <a:latin typeface="Times New Roman"/>
                <a:cs typeface="Times New Roman"/>
              </a:rPr>
              <a:t>on their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plants.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06483" y="4174235"/>
            <a:ext cx="2471928" cy="2453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4726" y="500837"/>
            <a:ext cx="90595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Disadvantages of Renewable </a:t>
            </a:r>
            <a:r>
              <a:rPr sz="4000" spc="-15" dirty="0"/>
              <a:t>energy</a:t>
            </a:r>
            <a:r>
              <a:rPr sz="4000" spc="-80" dirty="0"/>
              <a:t> </a:t>
            </a:r>
            <a:r>
              <a:rPr sz="4000" dirty="0"/>
              <a:t>sources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72313" y="1734769"/>
            <a:ext cx="11879580" cy="4796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common </a:t>
            </a:r>
            <a:r>
              <a:rPr sz="2600" spc="-10" dirty="0">
                <a:latin typeface="Times New Roman"/>
                <a:cs typeface="Times New Roman"/>
              </a:rPr>
              <a:t>disadvantage </a:t>
            </a:r>
            <a:r>
              <a:rPr sz="2600" dirty="0">
                <a:latin typeface="Times New Roman"/>
                <a:cs typeface="Times New Roman"/>
              </a:rPr>
              <a:t>to all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that </a:t>
            </a:r>
            <a:r>
              <a:rPr sz="2600" spc="-5" dirty="0">
                <a:latin typeface="Times New Roman"/>
                <a:cs typeface="Times New Roman"/>
              </a:rPr>
              <a:t>it is </a:t>
            </a:r>
            <a:r>
              <a:rPr sz="2600" spc="-20" dirty="0">
                <a:latin typeface="Times New Roman"/>
                <a:cs typeface="Times New Roman"/>
              </a:rPr>
              <a:t>difficult </a:t>
            </a:r>
            <a:r>
              <a:rPr sz="2600" dirty="0">
                <a:latin typeface="Times New Roman"/>
                <a:cs typeface="Times New Roman"/>
              </a:rPr>
              <a:t>to </a:t>
            </a:r>
            <a:r>
              <a:rPr sz="2600" spc="-5" dirty="0">
                <a:latin typeface="Times New Roman"/>
                <a:cs typeface="Times New Roman"/>
              </a:rPr>
              <a:t>produce the </a:t>
            </a:r>
            <a:r>
              <a:rPr sz="2600" spc="-20" dirty="0">
                <a:latin typeface="Times New Roman"/>
                <a:cs typeface="Times New Roman"/>
              </a:rPr>
              <a:t>large </a:t>
            </a:r>
            <a:r>
              <a:rPr sz="2600" spc="-5" dirty="0">
                <a:latin typeface="Times New Roman"/>
                <a:cs typeface="Times New Roman"/>
              </a:rPr>
              <a:t>quantities </a:t>
            </a:r>
            <a:r>
              <a:rPr sz="2600" spc="5" dirty="0">
                <a:latin typeface="Times New Roman"/>
                <a:cs typeface="Times New Roman"/>
              </a:rPr>
              <a:t>of  </a:t>
            </a:r>
            <a:r>
              <a:rPr sz="2600" spc="-5" dirty="0">
                <a:latin typeface="Times New Roman"/>
                <a:cs typeface="Times New Roman"/>
              </a:rPr>
              <a:t>electricity their </a:t>
            </a:r>
            <a:r>
              <a:rPr sz="2600" dirty="0">
                <a:latin typeface="Times New Roman"/>
                <a:cs typeface="Times New Roman"/>
              </a:rPr>
              <a:t>counterpart the </a:t>
            </a:r>
            <a:r>
              <a:rPr sz="2600" spc="-5" dirty="0">
                <a:latin typeface="Times New Roman"/>
                <a:cs typeface="Times New Roman"/>
              </a:rPr>
              <a:t>fossil </a:t>
            </a:r>
            <a:r>
              <a:rPr sz="2600" spc="-10" dirty="0">
                <a:latin typeface="Times New Roman"/>
                <a:cs typeface="Times New Roman"/>
              </a:rPr>
              <a:t>fuels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-10" dirty="0">
                <a:latin typeface="Times New Roman"/>
                <a:cs typeface="Times New Roman"/>
              </a:rPr>
              <a:t>able </a:t>
            </a:r>
            <a:r>
              <a:rPr sz="2600" spc="-5" dirty="0">
                <a:latin typeface="Times New Roman"/>
                <a:cs typeface="Times New Roman"/>
              </a:rPr>
              <a:t>to. </a:t>
            </a:r>
            <a:r>
              <a:rPr sz="2600" spc="-10" dirty="0">
                <a:latin typeface="Times New Roman"/>
                <a:cs typeface="Times New Roman"/>
              </a:rPr>
              <a:t>Since </a:t>
            </a:r>
            <a:r>
              <a:rPr sz="2600" spc="-5" dirty="0">
                <a:latin typeface="Times New Roman"/>
                <a:cs typeface="Times New Roman"/>
              </a:rPr>
              <a:t>they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-5" dirty="0">
                <a:latin typeface="Times New Roman"/>
                <a:cs typeface="Times New Roman"/>
              </a:rPr>
              <a:t>also new  technologies, </a:t>
            </a:r>
            <a:r>
              <a:rPr sz="2600" dirty="0">
                <a:latin typeface="Times New Roman"/>
                <a:cs typeface="Times New Roman"/>
              </a:rPr>
              <a:t>the cost of </a:t>
            </a:r>
            <a:r>
              <a:rPr sz="2600" spc="-5" dirty="0">
                <a:latin typeface="Times New Roman"/>
                <a:cs typeface="Times New Roman"/>
              </a:rPr>
              <a:t>initiating </a:t>
            </a:r>
            <a:r>
              <a:rPr sz="2600" dirty="0">
                <a:latin typeface="Times New Roman"/>
                <a:cs typeface="Times New Roman"/>
              </a:rPr>
              <a:t>them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high.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Times New Roman"/>
              <a:cs typeface="Times New Roman"/>
            </a:endParaRPr>
          </a:p>
          <a:p>
            <a:pPr marL="355600" marR="5715" indent="-343535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600" spc="-30" dirty="0">
                <a:latin typeface="Times New Roman"/>
                <a:cs typeface="Times New Roman"/>
              </a:rPr>
              <a:t>Wind </a:t>
            </a:r>
            <a:r>
              <a:rPr sz="2600" dirty="0">
                <a:latin typeface="Times New Roman"/>
                <a:cs typeface="Times New Roman"/>
              </a:rPr>
              <a:t>: </a:t>
            </a:r>
            <a:r>
              <a:rPr sz="2600" spc="-5" dirty="0">
                <a:latin typeface="Times New Roman"/>
                <a:cs typeface="Times New Roman"/>
              </a:rPr>
              <a:t>turbines are </a:t>
            </a:r>
            <a:r>
              <a:rPr sz="2600" spc="-10" dirty="0">
                <a:latin typeface="Times New Roman"/>
                <a:cs typeface="Times New Roman"/>
              </a:rPr>
              <a:t>expensive. </a:t>
            </a:r>
            <a:r>
              <a:rPr sz="2600" spc="-35" dirty="0">
                <a:latin typeface="Times New Roman"/>
                <a:cs typeface="Times New Roman"/>
              </a:rPr>
              <a:t>Wind </a:t>
            </a:r>
            <a:r>
              <a:rPr sz="2600" spc="-10" dirty="0">
                <a:latin typeface="Times New Roman"/>
                <a:cs typeface="Times New Roman"/>
              </a:rPr>
              <a:t>doesn't </a:t>
            </a:r>
            <a:r>
              <a:rPr sz="2600" spc="-5" dirty="0">
                <a:latin typeface="Times New Roman"/>
                <a:cs typeface="Times New Roman"/>
              </a:rPr>
              <a:t>blow </a:t>
            </a:r>
            <a:r>
              <a:rPr sz="2600" dirty="0">
                <a:latin typeface="Times New Roman"/>
                <a:cs typeface="Times New Roman"/>
              </a:rPr>
              <a:t>all the </a:t>
            </a:r>
            <a:r>
              <a:rPr sz="2600" spc="-5" dirty="0">
                <a:latin typeface="Times New Roman"/>
                <a:cs typeface="Times New Roman"/>
              </a:rPr>
              <a:t>time, so </a:t>
            </a:r>
            <a:r>
              <a:rPr sz="2600" spc="-10" dirty="0">
                <a:latin typeface="Times New Roman"/>
                <a:cs typeface="Times New Roman"/>
              </a:rPr>
              <a:t>they </a:t>
            </a:r>
            <a:r>
              <a:rPr sz="2600" spc="-5" dirty="0">
                <a:latin typeface="Times New Roman"/>
                <a:cs typeface="Times New Roman"/>
              </a:rPr>
              <a:t>have </a:t>
            </a:r>
            <a:r>
              <a:rPr sz="2600" spc="-10" dirty="0">
                <a:latin typeface="Times New Roman"/>
                <a:cs typeface="Times New Roman"/>
              </a:rPr>
              <a:t>to </a:t>
            </a:r>
            <a:r>
              <a:rPr sz="2600" spc="5" dirty="0">
                <a:latin typeface="Times New Roman"/>
                <a:cs typeface="Times New Roman"/>
              </a:rPr>
              <a:t>be </a:t>
            </a:r>
            <a:r>
              <a:rPr sz="2600" dirty="0">
                <a:latin typeface="Times New Roman"/>
                <a:cs typeface="Times New Roman"/>
              </a:rPr>
              <a:t>part  of a </a:t>
            </a:r>
            <a:r>
              <a:rPr sz="2600" spc="-10" dirty="0">
                <a:latin typeface="Times New Roman"/>
                <a:cs typeface="Times New Roman"/>
              </a:rPr>
              <a:t>larger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plan.</a:t>
            </a:r>
            <a:endParaRPr sz="2600">
              <a:latin typeface="Times New Roman"/>
              <a:cs typeface="Times New Roman"/>
            </a:endParaRPr>
          </a:p>
          <a:p>
            <a:pPr marL="355600" marR="6350" indent="-343535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600" spc="-5" dirty="0">
                <a:latin typeface="Times New Roman"/>
                <a:cs typeface="Times New Roman"/>
              </a:rPr>
              <a:t>Solar </a:t>
            </a:r>
            <a:r>
              <a:rPr sz="2600" spc="-10" dirty="0">
                <a:latin typeface="Times New Roman"/>
                <a:cs typeface="Times New Roman"/>
              </a:rPr>
              <a:t>:panels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-5" dirty="0">
                <a:latin typeface="Times New Roman"/>
                <a:cs typeface="Times New Roman"/>
              </a:rPr>
              <a:t>expensive. </a:t>
            </a:r>
            <a:r>
              <a:rPr sz="2600" dirty="0">
                <a:latin typeface="Times New Roman"/>
                <a:cs typeface="Times New Roman"/>
              </a:rPr>
              <a:t>Governments </a:t>
            </a:r>
            <a:r>
              <a:rPr sz="2600" spc="-5" dirty="0">
                <a:latin typeface="Times New Roman"/>
                <a:cs typeface="Times New Roman"/>
              </a:rPr>
              <a:t>are </a:t>
            </a:r>
            <a:r>
              <a:rPr sz="2600" dirty="0">
                <a:latin typeface="Times New Roman"/>
                <a:cs typeface="Times New Roman"/>
              </a:rPr>
              <a:t>not all willing </a:t>
            </a:r>
            <a:r>
              <a:rPr sz="2600" spc="-5" dirty="0">
                <a:latin typeface="Times New Roman"/>
                <a:cs typeface="Times New Roman"/>
              </a:rPr>
              <a:t>to buy </a:t>
            </a:r>
            <a:r>
              <a:rPr sz="2600" dirty="0">
                <a:latin typeface="Times New Roman"/>
                <a:cs typeface="Times New Roman"/>
              </a:rPr>
              <a:t>home </a:t>
            </a:r>
            <a:r>
              <a:rPr sz="2600" spc="-5" dirty="0">
                <a:latin typeface="Times New Roman"/>
                <a:cs typeface="Times New Roman"/>
              </a:rPr>
              <a:t>generated  </a:t>
            </a:r>
            <a:r>
              <a:rPr sz="2600" spc="-40" dirty="0">
                <a:latin typeface="Times New Roman"/>
                <a:cs typeface="Times New Roman"/>
              </a:rPr>
              <a:t>electricity. </a:t>
            </a:r>
            <a:r>
              <a:rPr sz="2600" spc="5" dirty="0">
                <a:latin typeface="Times New Roman"/>
                <a:cs typeface="Times New Roman"/>
              </a:rPr>
              <a:t>Not </a:t>
            </a:r>
            <a:r>
              <a:rPr sz="2600" dirty="0">
                <a:latin typeface="Times New Roman"/>
                <a:cs typeface="Times New Roman"/>
              </a:rPr>
              <a:t>all </a:t>
            </a:r>
            <a:r>
              <a:rPr sz="2600" spc="-5" dirty="0">
                <a:latin typeface="Times New Roman"/>
                <a:cs typeface="Times New Roman"/>
              </a:rPr>
              <a:t>climates </a:t>
            </a:r>
            <a:r>
              <a:rPr sz="2600" dirty="0">
                <a:latin typeface="Times New Roman"/>
                <a:cs typeface="Times New Roman"/>
              </a:rPr>
              <a:t>are suitable for solar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panels.</a:t>
            </a:r>
            <a:endParaRPr sz="2600">
              <a:latin typeface="Times New Roman"/>
              <a:cs typeface="Times New Roman"/>
            </a:endParaRPr>
          </a:p>
          <a:p>
            <a:pPr marL="355600" marR="497840" indent="-343535">
              <a:lnSpc>
                <a:spcPct val="100000"/>
              </a:lnSpc>
              <a:buFont typeface="Wingdings"/>
              <a:buChar char=""/>
              <a:tabLst>
                <a:tab pos="356235" algn="l"/>
                <a:tab pos="1012190" algn="l"/>
                <a:tab pos="1547495" algn="l"/>
                <a:tab pos="4653280" algn="l"/>
                <a:tab pos="5243830" algn="l"/>
                <a:tab pos="6141085" algn="l"/>
                <a:tab pos="6883400" algn="l"/>
                <a:tab pos="7982584" algn="l"/>
                <a:tab pos="8555355" algn="l"/>
                <a:tab pos="10971530" algn="l"/>
              </a:tabLst>
            </a:pPr>
            <a:r>
              <a:rPr sz="2600" spc="-204" dirty="0">
                <a:latin typeface="Times New Roman"/>
                <a:cs typeface="Times New Roman"/>
              </a:rPr>
              <a:t>W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v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:	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spc="-10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fe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ent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5" dirty="0">
                <a:latin typeface="Times New Roman"/>
                <a:cs typeface="Times New Roman"/>
              </a:rPr>
              <a:t>hn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log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	are	</a:t>
            </a:r>
            <a:r>
              <a:rPr sz="2600" spc="5" dirty="0">
                <a:latin typeface="Times New Roman"/>
                <a:cs typeface="Times New Roman"/>
              </a:rPr>
              <a:t>b</a:t>
            </a:r>
            <a:r>
              <a:rPr sz="2600" dirty="0">
                <a:latin typeface="Times New Roman"/>
                <a:cs typeface="Times New Roman"/>
              </a:rPr>
              <a:t>eing	</a:t>
            </a:r>
            <a:r>
              <a:rPr sz="2600" spc="-5" dirty="0">
                <a:latin typeface="Times New Roman"/>
                <a:cs typeface="Times New Roman"/>
              </a:rPr>
              <a:t>tri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	aro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nd	the	w</a:t>
            </a:r>
            <a:r>
              <a:rPr sz="2600" spc="-1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rl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entis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	a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  </a:t>
            </a:r>
            <a:r>
              <a:rPr sz="2600" spc="-5" dirty="0">
                <a:latin typeface="Times New Roman"/>
                <a:cs typeface="Times New Roman"/>
              </a:rPr>
              <a:t>still	</a:t>
            </a:r>
            <a:r>
              <a:rPr sz="2600" dirty="0">
                <a:latin typeface="Times New Roman"/>
                <a:cs typeface="Times New Roman"/>
              </a:rPr>
              <a:t>waiting for the killer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product.</a:t>
            </a:r>
            <a:endParaRPr sz="2600">
              <a:latin typeface="Times New Roman"/>
              <a:cs typeface="Times New Roman"/>
            </a:endParaRPr>
          </a:p>
          <a:p>
            <a:pPr marL="355600" marR="1169035" indent="-34353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6235" algn="l"/>
              </a:tabLst>
            </a:pPr>
            <a:r>
              <a:rPr sz="2600" spc="-25" dirty="0">
                <a:latin typeface="Times New Roman"/>
                <a:cs typeface="Times New Roman"/>
              </a:rPr>
              <a:t>Tides </a:t>
            </a:r>
            <a:r>
              <a:rPr sz="2600" dirty="0">
                <a:latin typeface="Times New Roman"/>
                <a:cs typeface="Times New Roman"/>
              </a:rPr>
              <a:t>: </a:t>
            </a:r>
            <a:r>
              <a:rPr sz="2600" spc="-10" dirty="0">
                <a:latin typeface="Times New Roman"/>
                <a:cs typeface="Times New Roman"/>
              </a:rPr>
              <a:t>barrages </a:t>
            </a:r>
            <a:r>
              <a:rPr sz="2600" spc="-5" dirty="0">
                <a:latin typeface="Times New Roman"/>
                <a:cs typeface="Times New Roman"/>
              </a:rPr>
              <a:t>(dams) across river </a:t>
            </a:r>
            <a:r>
              <a:rPr sz="2600" dirty="0">
                <a:latin typeface="Times New Roman"/>
                <a:cs typeface="Times New Roman"/>
              </a:rPr>
              <a:t>mouths </a:t>
            </a:r>
            <a:r>
              <a:rPr sz="2600" spc="-5" dirty="0">
                <a:latin typeface="Times New Roman"/>
                <a:cs typeface="Times New Roman"/>
              </a:rPr>
              <a:t>are </a:t>
            </a:r>
            <a:r>
              <a:rPr sz="2600" spc="-10" dirty="0">
                <a:latin typeface="Times New Roman"/>
                <a:cs typeface="Times New Roman"/>
              </a:rPr>
              <a:t>expensive </a:t>
            </a:r>
            <a:r>
              <a:rPr sz="2600" spc="-5" dirty="0">
                <a:latin typeface="Times New Roman"/>
                <a:cs typeface="Times New Roman"/>
              </a:rPr>
              <a:t>to build and disrupt  shipping. </a:t>
            </a:r>
            <a:r>
              <a:rPr sz="2600" dirty="0">
                <a:latin typeface="Times New Roman"/>
                <a:cs typeface="Times New Roman"/>
              </a:rPr>
              <a:t>Smaller </a:t>
            </a:r>
            <a:r>
              <a:rPr sz="2600" spc="-5" dirty="0">
                <a:latin typeface="Times New Roman"/>
                <a:cs typeface="Times New Roman"/>
              </a:rPr>
              <a:t>turbines </a:t>
            </a:r>
            <a:r>
              <a:rPr sz="2600" dirty="0">
                <a:latin typeface="Times New Roman"/>
                <a:cs typeface="Times New Roman"/>
              </a:rPr>
              <a:t>are cheaper and </a:t>
            </a:r>
            <a:r>
              <a:rPr sz="2600" spc="-5" dirty="0">
                <a:latin typeface="Times New Roman"/>
                <a:cs typeface="Times New Roman"/>
              </a:rPr>
              <a:t>easier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install.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4914" y="485597"/>
            <a:ext cx="9100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Carlito"/>
                <a:cs typeface="Carlito"/>
              </a:rPr>
              <a:t>Disadvantages </a:t>
            </a:r>
            <a:r>
              <a:rPr sz="4000" spc="-5" dirty="0">
                <a:latin typeface="Carlito"/>
                <a:cs typeface="Carlito"/>
              </a:rPr>
              <a:t>of </a:t>
            </a:r>
            <a:r>
              <a:rPr sz="4000" spc="-20" dirty="0">
                <a:latin typeface="Carlito"/>
                <a:cs typeface="Carlito"/>
              </a:rPr>
              <a:t>Renewable </a:t>
            </a:r>
            <a:r>
              <a:rPr sz="4000" spc="-15" dirty="0">
                <a:latin typeface="Carlito"/>
                <a:cs typeface="Carlito"/>
              </a:rPr>
              <a:t>energy</a:t>
            </a:r>
            <a:r>
              <a:rPr sz="4000" spc="-85" dirty="0">
                <a:latin typeface="Carlito"/>
                <a:cs typeface="Carlito"/>
              </a:rPr>
              <a:t> </a:t>
            </a:r>
            <a:r>
              <a:rPr sz="4000" spc="-15" dirty="0">
                <a:latin typeface="Carlito"/>
                <a:cs typeface="Carlito"/>
              </a:rPr>
              <a:t>sources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1924" y="2178557"/>
            <a:ext cx="11598910" cy="319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274955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  <a:tab pos="299720" algn="l"/>
              </a:tabLst>
            </a:pPr>
            <a:r>
              <a:rPr sz="2600" dirty="0">
                <a:latin typeface="Times New Roman"/>
                <a:cs typeface="Times New Roman"/>
              </a:rPr>
              <a:t>Rivers : Dams are expensive </a:t>
            </a:r>
            <a:r>
              <a:rPr sz="2600" spc="-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build and disrupt the </a:t>
            </a:r>
            <a:r>
              <a:rPr sz="2600" spc="-5" dirty="0">
                <a:latin typeface="Times New Roman"/>
                <a:cs typeface="Times New Roman"/>
              </a:rPr>
              <a:t>environment. </a:t>
            </a:r>
            <a:r>
              <a:rPr sz="2600" dirty="0">
                <a:latin typeface="Times New Roman"/>
                <a:cs typeface="Times New Roman"/>
              </a:rPr>
              <a:t>They have </a:t>
            </a:r>
            <a:r>
              <a:rPr sz="2600" spc="-5" dirty="0">
                <a:latin typeface="Times New Roman"/>
                <a:cs typeface="Times New Roman"/>
              </a:rPr>
              <a:t>also  </a:t>
            </a:r>
            <a:r>
              <a:rPr sz="2600" dirty="0">
                <a:latin typeface="Times New Roman"/>
                <a:cs typeface="Times New Roman"/>
              </a:rPr>
              <a:t>caused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earthquakes.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2600" dirty="0">
                <a:latin typeface="Times New Roman"/>
                <a:cs typeface="Times New Roman"/>
              </a:rPr>
              <a:t>Geothermal : </a:t>
            </a:r>
            <a:r>
              <a:rPr sz="2600" spc="-20" dirty="0">
                <a:latin typeface="Times New Roman"/>
                <a:cs typeface="Times New Roman"/>
              </a:rPr>
              <a:t>Difficult </a:t>
            </a:r>
            <a:r>
              <a:rPr sz="2600" dirty="0">
                <a:latin typeface="Times New Roman"/>
                <a:cs typeface="Times New Roman"/>
              </a:rPr>
              <a:t>to drill two or three kilometers </a:t>
            </a:r>
            <a:r>
              <a:rPr sz="2600" spc="5" dirty="0">
                <a:latin typeface="Times New Roman"/>
                <a:cs typeface="Times New Roman"/>
              </a:rPr>
              <a:t>down </a:t>
            </a:r>
            <a:r>
              <a:rPr sz="2600" dirty="0">
                <a:latin typeface="Times New Roman"/>
                <a:cs typeface="Times New Roman"/>
              </a:rPr>
              <a:t>into the</a:t>
            </a:r>
            <a:r>
              <a:rPr sz="2600" spc="-2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earth.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00000"/>
              </a:lnSpc>
              <a:buChar char="•"/>
              <a:tabLst>
                <a:tab pos="299720" algn="l"/>
              </a:tabLst>
            </a:pPr>
            <a:r>
              <a:rPr sz="2600" spc="-5" dirty="0">
                <a:latin typeface="Times New Roman"/>
                <a:cs typeface="Times New Roman"/>
              </a:rPr>
              <a:t>Biofuel </a:t>
            </a:r>
            <a:r>
              <a:rPr sz="2600" dirty="0">
                <a:latin typeface="Times New Roman"/>
                <a:cs typeface="Times New Roman"/>
              </a:rPr>
              <a:t>: </a:t>
            </a:r>
            <a:r>
              <a:rPr sz="2600" spc="-10" dirty="0">
                <a:latin typeface="Times New Roman"/>
                <a:cs typeface="Times New Roman"/>
              </a:rPr>
              <a:t>Often </a:t>
            </a:r>
            <a:r>
              <a:rPr sz="2600" spc="-5" dirty="0">
                <a:latin typeface="Times New Roman"/>
                <a:cs typeface="Times New Roman"/>
              </a:rPr>
              <a:t>uses </a:t>
            </a:r>
            <a:r>
              <a:rPr sz="2600" spc="-10" dirty="0">
                <a:latin typeface="Times New Roman"/>
                <a:cs typeface="Times New Roman"/>
              </a:rPr>
              <a:t>crop lands </a:t>
            </a:r>
            <a:r>
              <a:rPr sz="2600" spc="-5" dirty="0">
                <a:latin typeface="Times New Roman"/>
                <a:cs typeface="Times New Roman"/>
              </a:rPr>
              <a:t>and crops (like </a:t>
            </a:r>
            <a:r>
              <a:rPr sz="2600" spc="-10" dirty="0">
                <a:latin typeface="Times New Roman"/>
                <a:cs typeface="Times New Roman"/>
              </a:rPr>
              <a:t>corn) </a:t>
            </a:r>
            <a:r>
              <a:rPr sz="2600" spc="-5" dirty="0">
                <a:latin typeface="Times New Roman"/>
                <a:cs typeface="Times New Roman"/>
              </a:rPr>
              <a:t>to produce the </a:t>
            </a:r>
            <a:r>
              <a:rPr sz="2600" spc="-10" dirty="0">
                <a:latin typeface="Times New Roman"/>
                <a:cs typeface="Times New Roman"/>
              </a:rPr>
              <a:t>bio-alcohol. </a:t>
            </a:r>
            <a:r>
              <a:rPr sz="2600" dirty="0">
                <a:latin typeface="Times New Roman"/>
                <a:cs typeface="Times New Roman"/>
              </a:rPr>
              <a:t>This  </a:t>
            </a:r>
            <a:r>
              <a:rPr sz="2600" spc="-5" dirty="0">
                <a:latin typeface="Times New Roman"/>
                <a:cs typeface="Times New Roman"/>
              </a:rPr>
              <a:t>means </a:t>
            </a:r>
            <a:r>
              <a:rPr sz="2600" dirty="0">
                <a:latin typeface="Times New Roman"/>
                <a:cs typeface="Times New Roman"/>
              </a:rPr>
              <a:t>that </a:t>
            </a:r>
            <a:r>
              <a:rPr sz="2600" spc="-5" dirty="0">
                <a:latin typeface="Times New Roman"/>
                <a:cs typeface="Times New Roman"/>
              </a:rPr>
              <a:t>more </a:t>
            </a:r>
            <a:r>
              <a:rPr sz="2600" spc="-10" dirty="0">
                <a:latin typeface="Times New Roman"/>
                <a:cs typeface="Times New Roman"/>
              </a:rPr>
              <a:t>land </a:t>
            </a:r>
            <a:r>
              <a:rPr sz="2600" dirty="0">
                <a:latin typeface="Times New Roman"/>
                <a:cs typeface="Times New Roman"/>
              </a:rPr>
              <a:t>has </a:t>
            </a:r>
            <a:r>
              <a:rPr sz="2600" spc="-10" dirty="0">
                <a:latin typeface="Times New Roman"/>
                <a:cs typeface="Times New Roman"/>
              </a:rPr>
              <a:t>to </a:t>
            </a:r>
            <a:r>
              <a:rPr sz="2600" spc="-5" dirty="0">
                <a:latin typeface="Times New Roman"/>
                <a:cs typeface="Times New Roman"/>
              </a:rPr>
              <a:t>be </a:t>
            </a:r>
            <a:r>
              <a:rPr sz="2600" spc="-10" dirty="0">
                <a:latin typeface="Times New Roman"/>
                <a:cs typeface="Times New Roman"/>
              </a:rPr>
              <a:t>cleared </a:t>
            </a:r>
            <a:r>
              <a:rPr sz="2600" spc="-5" dirty="0">
                <a:latin typeface="Times New Roman"/>
                <a:cs typeface="Times New Roman"/>
              </a:rPr>
              <a:t>to grow crops, or </a:t>
            </a:r>
            <a:r>
              <a:rPr sz="2600" spc="-10" dirty="0">
                <a:latin typeface="Times New Roman"/>
                <a:cs typeface="Times New Roman"/>
              </a:rPr>
              <a:t>there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not </a:t>
            </a:r>
            <a:r>
              <a:rPr sz="2600" spc="-5" dirty="0">
                <a:latin typeface="Times New Roman"/>
                <a:cs typeface="Times New Roman"/>
              </a:rPr>
              <a:t>enough food, or  </a:t>
            </a:r>
            <a:r>
              <a:rPr sz="2600" dirty="0">
                <a:latin typeface="Times New Roman"/>
                <a:cs typeface="Times New Roman"/>
              </a:rPr>
              <a:t>that food becomes </a:t>
            </a:r>
            <a:r>
              <a:rPr sz="2600" spc="-5" dirty="0">
                <a:latin typeface="Times New Roman"/>
                <a:cs typeface="Times New Roman"/>
              </a:rPr>
              <a:t>more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expensive.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1583" y="13207"/>
            <a:ext cx="27139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Fossil</a:t>
            </a:r>
            <a:r>
              <a:rPr spc="-8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1565"/>
            <a:ext cx="11503025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Fossil fuels are buried flammable geologic deposits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organic </a:t>
            </a:r>
            <a:r>
              <a:rPr sz="2800" spc="-5" dirty="0">
                <a:latin typeface="Times New Roman"/>
                <a:cs typeface="Times New Roman"/>
              </a:rPr>
              <a:t>substances  such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dead </a:t>
            </a:r>
            <a:r>
              <a:rPr sz="2800" dirty="0">
                <a:latin typeface="Times New Roman"/>
                <a:cs typeface="Times New Roman"/>
              </a:rPr>
              <a:t>plants, </a:t>
            </a:r>
            <a:r>
              <a:rPr sz="2800" spc="-5" dirty="0">
                <a:latin typeface="Times New Roman"/>
                <a:cs typeface="Times New Roman"/>
              </a:rPr>
              <a:t>and animals that got deposited </a:t>
            </a:r>
            <a:r>
              <a:rPr sz="2800" dirty="0">
                <a:latin typeface="Times New Roman"/>
                <a:cs typeface="Times New Roman"/>
              </a:rPr>
              <a:t>under </a:t>
            </a:r>
            <a:r>
              <a:rPr sz="2800" spc="-5" dirty="0">
                <a:latin typeface="Times New Roman"/>
                <a:cs typeface="Times New Roman"/>
              </a:rPr>
              <a:t>several thousand  feet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silt.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These deposits decayed with the passage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time </a:t>
            </a:r>
            <a:r>
              <a:rPr sz="2800" dirty="0">
                <a:latin typeface="Times New Roman"/>
                <a:cs typeface="Times New Roman"/>
              </a:rPr>
              <a:t>and got </a:t>
            </a:r>
            <a:r>
              <a:rPr sz="2800" spc="-5" dirty="0">
                <a:latin typeface="Times New Roman"/>
                <a:cs typeface="Times New Roman"/>
              </a:rPr>
              <a:t>converted to natural  gas, coal, and petroleum </a:t>
            </a:r>
            <a:r>
              <a:rPr sz="2800" dirty="0">
                <a:latin typeface="Times New Roman"/>
                <a:cs typeface="Times New Roman"/>
              </a:rPr>
              <a:t>due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extreme heat and pressure inside </a:t>
            </a:r>
            <a:r>
              <a:rPr sz="2800" dirty="0">
                <a:latin typeface="Times New Roman"/>
                <a:cs typeface="Times New Roman"/>
              </a:rPr>
              <a:t>the  </a:t>
            </a:r>
            <a:r>
              <a:rPr sz="2800" spc="-25" dirty="0">
                <a:latin typeface="Times New Roman"/>
                <a:cs typeface="Times New Roman"/>
              </a:rPr>
              <a:t>earth’s </a:t>
            </a:r>
            <a:r>
              <a:rPr sz="2800" spc="-5" dirty="0">
                <a:latin typeface="Times New Roman"/>
                <a:cs typeface="Times New Roman"/>
              </a:rPr>
              <a:t>crust. They are also </a:t>
            </a:r>
            <a:r>
              <a:rPr sz="2800" spc="-10" dirty="0">
                <a:latin typeface="Times New Roman"/>
                <a:cs typeface="Times New Roman"/>
              </a:rPr>
              <a:t>known as </a:t>
            </a:r>
            <a:r>
              <a:rPr sz="2800" spc="-5" dirty="0">
                <a:latin typeface="Times New Roman"/>
                <a:cs typeface="Times New Roman"/>
              </a:rPr>
              <a:t>non-renewable sources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it  takes a very </a:t>
            </a:r>
            <a:r>
              <a:rPr sz="2800" dirty="0">
                <a:latin typeface="Times New Roman"/>
                <a:cs typeface="Times New Roman"/>
              </a:rPr>
              <a:t>long </a:t>
            </a:r>
            <a:r>
              <a:rPr sz="2800" spc="-5" dirty="0">
                <a:latin typeface="Times New Roman"/>
                <a:cs typeface="Times New Roman"/>
              </a:rPr>
              <a:t>time for it 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replenish.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Types </a:t>
            </a:r>
            <a:r>
              <a:rPr dirty="0"/>
              <a:t>of Fossil</a:t>
            </a:r>
            <a:r>
              <a:rPr spc="-1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810895"/>
            <a:ext cx="11503025" cy="587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Coal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Petroleum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gas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Coal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hard,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black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coloured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substance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made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up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carbon,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hydrogen,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nitrogen,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oxygen,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spc="-20" dirty="0">
                <a:latin typeface="Times New Roman"/>
                <a:cs typeface="Times New Roman"/>
              </a:rPr>
              <a:t>sulphur.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major </a:t>
            </a:r>
            <a:r>
              <a:rPr sz="2400" dirty="0">
                <a:latin typeface="Times New Roman"/>
                <a:cs typeface="Times New Roman"/>
              </a:rPr>
              <a:t>types of coal are- anthracite, </a:t>
            </a:r>
            <a:r>
              <a:rPr sz="2400" spc="-5" dirty="0">
                <a:latin typeface="Times New Roman"/>
                <a:cs typeface="Times New Roman"/>
              </a:rPr>
              <a:t>bituminous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lignite.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Anthracite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a higher carbon concentration and is the hardest type of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coal.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  <a:tab pos="1379855" algn="l"/>
                <a:tab pos="1929764" algn="l"/>
                <a:tab pos="2210435" algn="l"/>
                <a:tab pos="2896235" algn="l"/>
                <a:tab pos="4697730" algn="l"/>
                <a:tab pos="5093970" algn="l"/>
                <a:tab pos="6136640" algn="l"/>
                <a:tab pos="6722109" algn="l"/>
                <a:tab pos="8017509" algn="l"/>
                <a:tab pos="8552815" algn="l"/>
                <a:tab pos="8831580" algn="l"/>
                <a:tab pos="9431655" algn="l"/>
                <a:tab pos="11235055" algn="l"/>
              </a:tabLst>
            </a:pPr>
            <a:r>
              <a:rPr sz="2400" dirty="0">
                <a:latin typeface="Times New Roman"/>
                <a:cs typeface="Times New Roman"/>
              </a:rPr>
              <a:t>Lig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te	has	a	high	co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ce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tra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	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	oxygen	and	hydrog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	</a:t>
            </a:r>
            <a:r>
              <a:rPr sz="2400" spc="-5" dirty="0">
                <a:latin typeface="Times New Roman"/>
                <a:cs typeface="Times New Roman"/>
              </a:rPr>
              <a:t>bu</a:t>
            </a:r>
            <a:r>
              <a:rPr sz="2400" dirty="0">
                <a:latin typeface="Times New Roman"/>
                <a:cs typeface="Times New Roman"/>
              </a:rPr>
              <a:t>t	a	l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w	concen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ra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	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carbon.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Bituminous </a:t>
            </a:r>
            <a:r>
              <a:rPr sz="2400" dirty="0">
                <a:latin typeface="Times New Roman"/>
                <a:cs typeface="Times New Roman"/>
              </a:rPr>
              <a:t>is a </a:t>
            </a:r>
            <a:r>
              <a:rPr sz="2400" spc="-5" dirty="0">
                <a:latin typeface="Times New Roman"/>
                <a:cs typeface="Times New Roman"/>
              </a:rPr>
              <a:t>moderate </a:t>
            </a:r>
            <a:r>
              <a:rPr sz="2400" dirty="0">
                <a:latin typeface="Times New Roman"/>
                <a:cs typeface="Times New Roman"/>
              </a:rPr>
              <a:t>form 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coal.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Coal is processed industrially to obtain </a:t>
            </a:r>
            <a:r>
              <a:rPr sz="2400" spc="-5" dirty="0">
                <a:latin typeface="Times New Roman"/>
                <a:cs typeface="Times New Roman"/>
              </a:rPr>
              <a:t>derivatives </a:t>
            </a:r>
            <a:r>
              <a:rPr sz="2400" dirty="0">
                <a:latin typeface="Times New Roman"/>
                <a:cs typeface="Times New Roman"/>
              </a:rPr>
              <a:t>like coke, coal </a:t>
            </a:r>
            <a:r>
              <a:rPr sz="2400" spc="-25" dirty="0">
                <a:latin typeface="Times New Roman"/>
                <a:cs typeface="Times New Roman"/>
              </a:rPr>
              <a:t>tar, </a:t>
            </a:r>
            <a:r>
              <a:rPr sz="2400" dirty="0">
                <a:latin typeface="Times New Roman"/>
                <a:cs typeface="Times New Roman"/>
              </a:rPr>
              <a:t>and coal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Types </a:t>
            </a:r>
            <a:r>
              <a:rPr dirty="0"/>
              <a:t>of Fossil</a:t>
            </a:r>
            <a:r>
              <a:rPr spc="-1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3089"/>
            <a:ext cx="11502390" cy="514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Formation 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Coal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process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formation </a:t>
            </a:r>
            <a:r>
              <a:rPr sz="2400" dirty="0">
                <a:latin typeface="Times New Roman"/>
                <a:cs typeface="Times New Roman"/>
              </a:rPr>
              <a:t>of coal is known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coalification.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dense </a:t>
            </a:r>
            <a:r>
              <a:rPr sz="2400" spc="-5" dirty="0">
                <a:latin typeface="Times New Roman"/>
                <a:cs typeface="Times New Roman"/>
              </a:rPr>
              <a:t>forest present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the low-lying wetland </a:t>
            </a:r>
            <a:r>
              <a:rPr sz="2400" dirty="0">
                <a:latin typeface="Times New Roman"/>
                <a:cs typeface="Times New Roman"/>
              </a:rPr>
              <a:t>got buried in </a:t>
            </a:r>
            <a:r>
              <a:rPr sz="2400" spc="-5" dirty="0">
                <a:latin typeface="Times New Roman"/>
                <a:cs typeface="Times New Roman"/>
              </a:rPr>
              <a:t>the earth, millions </a:t>
            </a:r>
            <a:r>
              <a:rPr sz="2400" dirty="0">
                <a:latin typeface="Times New Roman"/>
                <a:cs typeface="Times New Roman"/>
              </a:rPr>
              <a:t>of years  ago.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Soil kept depositing over them and they </a:t>
            </a:r>
            <a:r>
              <a:rPr sz="2400" spc="-5" dirty="0">
                <a:latin typeface="Times New Roman"/>
                <a:cs typeface="Times New Roman"/>
              </a:rPr>
              <a:t>got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compressed.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they went deeper and </a:t>
            </a:r>
            <a:r>
              <a:rPr sz="2400" spc="-15" dirty="0">
                <a:latin typeface="Times New Roman"/>
                <a:cs typeface="Times New Roman"/>
              </a:rPr>
              <a:t>deeper, </a:t>
            </a:r>
            <a:r>
              <a:rPr sz="2400" dirty="0">
                <a:latin typeface="Times New Roman"/>
                <a:cs typeface="Times New Roman"/>
              </a:rPr>
              <a:t>they faced high </a:t>
            </a:r>
            <a:r>
              <a:rPr sz="2400" spc="-5" dirty="0">
                <a:latin typeface="Times New Roman"/>
                <a:cs typeface="Times New Roman"/>
              </a:rPr>
              <a:t>temperature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pressure.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result, the substances </a:t>
            </a:r>
            <a:r>
              <a:rPr sz="2400" spc="-5" dirty="0">
                <a:latin typeface="Times New Roman"/>
                <a:cs typeface="Times New Roman"/>
              </a:rPr>
              <a:t>slowly </a:t>
            </a:r>
            <a:r>
              <a:rPr sz="2400" dirty="0">
                <a:latin typeface="Times New Roman"/>
                <a:cs typeface="Times New Roman"/>
              </a:rPr>
              <a:t>got converted into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coal.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Uses </a:t>
            </a:r>
            <a:r>
              <a:rPr sz="2400" b="1" spc="-5" dirty="0">
                <a:latin typeface="Times New Roman"/>
                <a:cs typeface="Times New Roman"/>
              </a:rPr>
              <a:t>of Coal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Coal </a:t>
            </a:r>
            <a:r>
              <a:rPr sz="2400" spc="-5" dirty="0">
                <a:latin typeface="Times New Roman"/>
                <a:cs typeface="Times New Roman"/>
              </a:rPr>
              <a:t>was </a:t>
            </a:r>
            <a:r>
              <a:rPr sz="2400" dirty="0">
                <a:latin typeface="Times New Roman"/>
                <a:cs typeface="Times New Roman"/>
              </a:rPr>
              <a:t>used to produce steam in the railway engines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initially.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used to cook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food.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used to generate electricity in </a:t>
            </a:r>
            <a:r>
              <a:rPr sz="2400" spc="-5" dirty="0">
                <a:latin typeface="Times New Roman"/>
                <a:cs typeface="Times New Roman"/>
              </a:rPr>
              <a:t>thermal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plants.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used in industries as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fuel.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Types </a:t>
            </a:r>
            <a:r>
              <a:rPr dirty="0"/>
              <a:t>of Fossil</a:t>
            </a:r>
            <a:r>
              <a:rPr spc="-1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3089"/>
            <a:ext cx="11503025" cy="514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Petroleum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a </a:t>
            </a:r>
            <a:r>
              <a:rPr sz="2400" spc="-15" dirty="0">
                <a:latin typeface="Times New Roman"/>
                <a:cs typeface="Times New Roman"/>
              </a:rPr>
              <a:t>clear, </a:t>
            </a:r>
            <a:r>
              <a:rPr sz="2400" dirty="0">
                <a:latin typeface="Times New Roman"/>
                <a:cs typeface="Times New Roman"/>
              </a:rPr>
              <a:t>oily liquid, usually green or black in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colour.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a very </a:t>
            </a:r>
            <a:r>
              <a:rPr sz="2400" spc="-5" dirty="0">
                <a:latin typeface="Times New Roman"/>
                <a:cs typeface="Times New Roman"/>
              </a:rPr>
              <a:t>strange smell </a:t>
            </a:r>
            <a:r>
              <a:rPr sz="2400" dirty="0">
                <a:latin typeface="Times New Roman"/>
                <a:cs typeface="Times New Roman"/>
              </a:rPr>
              <a:t>and is a </a:t>
            </a:r>
            <a:r>
              <a:rPr sz="2400" spc="-5" dirty="0">
                <a:latin typeface="Times New Roman"/>
                <a:cs typeface="Times New Roman"/>
              </a:rPr>
              <a:t>mixture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petroleum gas, diesel, </a:t>
            </a:r>
            <a:r>
              <a:rPr sz="2400" spc="-10" dirty="0">
                <a:latin typeface="Times New Roman"/>
                <a:cs typeface="Times New Roman"/>
              </a:rPr>
              <a:t>paraffin </a:t>
            </a:r>
            <a:r>
              <a:rPr sz="2400" dirty="0">
                <a:latin typeface="Times New Roman"/>
                <a:cs typeface="Times New Roman"/>
              </a:rPr>
              <a:t>wax, petrol,  lubricating oil,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also </a:t>
            </a:r>
            <a:r>
              <a:rPr sz="2400" spc="-5" dirty="0">
                <a:latin typeface="Times New Roman"/>
                <a:cs typeface="Times New Roman"/>
              </a:rPr>
              <a:t>termed </a:t>
            </a:r>
            <a:r>
              <a:rPr sz="2400" dirty="0">
                <a:latin typeface="Times New Roman"/>
                <a:cs typeface="Times New Roman"/>
              </a:rPr>
              <a:t>as “Black </a:t>
            </a:r>
            <a:r>
              <a:rPr sz="2400" spc="-5" dirty="0">
                <a:latin typeface="Times New Roman"/>
                <a:cs typeface="Times New Roman"/>
              </a:rPr>
              <a:t>Gold” </a:t>
            </a:r>
            <a:r>
              <a:rPr sz="2400" dirty="0">
                <a:latin typeface="Times New Roman"/>
                <a:cs typeface="Times New Roman"/>
              </a:rPr>
              <a:t>because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its wide range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uses in </a:t>
            </a:r>
            <a:r>
              <a:rPr sz="2400" spc="-5" dirty="0">
                <a:latin typeface="Times New Roman"/>
                <a:cs typeface="Times New Roman"/>
              </a:rPr>
              <a:t>many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industries.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Formation 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Petroleum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sea </a:t>
            </a:r>
            <a:r>
              <a:rPr sz="2400" spc="-5" dirty="0">
                <a:latin typeface="Times New Roman"/>
                <a:cs typeface="Times New Roman"/>
              </a:rPr>
              <a:t>animals </a:t>
            </a:r>
            <a:r>
              <a:rPr sz="2400" dirty="0">
                <a:latin typeface="Times New Roman"/>
                <a:cs typeface="Times New Roman"/>
              </a:rPr>
              <a:t>and plants died and their bodies settled at the bottom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They got </a:t>
            </a:r>
            <a:r>
              <a:rPr sz="2400" spc="-5" dirty="0">
                <a:latin typeface="Times New Roman"/>
                <a:cs typeface="Times New Roman"/>
              </a:rPr>
              <a:t>compressed </a:t>
            </a:r>
            <a:r>
              <a:rPr sz="2400" dirty="0">
                <a:latin typeface="Times New Roman"/>
                <a:cs typeface="Times New Roman"/>
              </a:rPr>
              <a:t>by the layers of sand 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clay.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Their encounter with high </a:t>
            </a:r>
            <a:r>
              <a:rPr sz="2400" spc="-5" dirty="0">
                <a:latin typeface="Times New Roman"/>
                <a:cs typeface="Times New Roman"/>
              </a:rPr>
              <a:t>temperature </a:t>
            </a:r>
            <a:r>
              <a:rPr sz="2400" dirty="0">
                <a:latin typeface="Times New Roman"/>
                <a:cs typeface="Times New Roman"/>
              </a:rPr>
              <a:t>and pressure converts them into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petroleum.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petroleum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separated </a:t>
            </a:r>
            <a:r>
              <a:rPr sz="2400" dirty="0">
                <a:latin typeface="Times New Roman"/>
                <a:cs typeface="Times New Roman"/>
              </a:rPr>
              <a:t>from the crude </a:t>
            </a:r>
            <a:r>
              <a:rPr sz="2400" spc="-5" dirty="0">
                <a:latin typeface="Times New Roman"/>
                <a:cs typeface="Times New Roman"/>
              </a:rPr>
              <a:t>oil </a:t>
            </a:r>
            <a:r>
              <a:rPr sz="2400" dirty="0">
                <a:latin typeface="Times New Roman"/>
                <a:cs typeface="Times New Roman"/>
              </a:rPr>
              <a:t>by a </a:t>
            </a:r>
            <a:r>
              <a:rPr sz="2400" spc="-5" dirty="0">
                <a:latin typeface="Times New Roman"/>
                <a:cs typeface="Times New Roman"/>
              </a:rPr>
              <a:t>series </a:t>
            </a:r>
            <a:r>
              <a:rPr sz="2400" dirty="0">
                <a:latin typeface="Times New Roman"/>
                <a:cs typeface="Times New Roman"/>
              </a:rPr>
              <a:t>of processes in a </a:t>
            </a:r>
            <a:r>
              <a:rPr sz="2400" spc="-20" dirty="0">
                <a:latin typeface="Times New Roman"/>
                <a:cs typeface="Times New Roman"/>
              </a:rPr>
              <a:t>refinery. </a:t>
            </a:r>
            <a:r>
              <a:rPr sz="2400" spc="-5" dirty="0">
                <a:latin typeface="Times New Roman"/>
                <a:cs typeface="Times New Roman"/>
              </a:rPr>
              <a:t>This </a:t>
            </a:r>
            <a:r>
              <a:rPr sz="2400" dirty="0">
                <a:latin typeface="Times New Roman"/>
                <a:cs typeface="Times New Roman"/>
              </a:rPr>
              <a:t>is  </a:t>
            </a:r>
            <a:r>
              <a:rPr sz="2400" spc="-5" dirty="0">
                <a:latin typeface="Times New Roman"/>
                <a:cs typeface="Times New Roman"/>
              </a:rPr>
              <a:t>known </a:t>
            </a:r>
            <a:r>
              <a:rPr sz="2400" dirty="0">
                <a:latin typeface="Times New Roman"/>
                <a:cs typeface="Times New Roman"/>
              </a:rPr>
              <a:t>as petroleum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refining.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Types </a:t>
            </a:r>
            <a:r>
              <a:rPr dirty="0"/>
              <a:t>of Fossil</a:t>
            </a:r>
            <a:r>
              <a:rPr spc="-1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3089"/>
            <a:ext cx="974534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Uses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Petroleum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used to power internal </a:t>
            </a:r>
            <a:r>
              <a:rPr sz="2400" spc="-5" dirty="0">
                <a:latin typeface="Times New Roman"/>
                <a:cs typeface="Times New Roman"/>
              </a:rPr>
              <a:t>combustion </a:t>
            </a:r>
            <a:r>
              <a:rPr sz="2400" dirty="0">
                <a:latin typeface="Times New Roman"/>
                <a:cs typeface="Times New Roman"/>
              </a:rPr>
              <a:t>engines in the form of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petrol.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used in roofing, road </a:t>
            </a:r>
            <a:r>
              <a:rPr sz="2400" spc="-5" dirty="0">
                <a:latin typeface="Times New Roman"/>
                <a:cs typeface="Times New Roman"/>
              </a:rPr>
              <a:t>pavements,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water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repellent.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used in </a:t>
            </a:r>
            <a:r>
              <a:rPr sz="2400" spc="-5" dirty="0">
                <a:latin typeface="Times New Roman"/>
                <a:cs typeface="Times New Roman"/>
              </a:rPr>
              <a:t>manufacturing detergents, </a:t>
            </a:r>
            <a:r>
              <a:rPr sz="2400" dirty="0">
                <a:latin typeface="Times New Roman"/>
                <a:cs typeface="Times New Roman"/>
              </a:rPr>
              <a:t>plastics, fibres, polyethene,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Natural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gas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a clean and non-toxic </a:t>
            </a:r>
            <a:r>
              <a:rPr sz="2400" spc="-5" dirty="0">
                <a:latin typeface="Times New Roman"/>
                <a:cs typeface="Times New Roman"/>
              </a:rPr>
              <a:t>fossil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fuel.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colourless and odourless and can </a:t>
            </a:r>
            <a:r>
              <a:rPr sz="2400" spc="-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easily transferred through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pipelines.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stored </a:t>
            </a:r>
            <a:r>
              <a:rPr sz="2400" spc="-5" dirty="0">
                <a:latin typeface="Times New Roman"/>
                <a:cs typeface="Times New Roman"/>
              </a:rPr>
              <a:t>as compressed </a:t>
            </a:r>
            <a:r>
              <a:rPr sz="2400" dirty="0">
                <a:latin typeface="Times New Roman"/>
                <a:cs typeface="Times New Roman"/>
              </a:rPr>
              <a:t>natural </a:t>
            </a:r>
            <a:r>
              <a:rPr sz="2400" spc="-5" dirty="0">
                <a:latin typeface="Times New Roman"/>
                <a:cs typeface="Times New Roman"/>
              </a:rPr>
              <a:t>gas (CNG) </a:t>
            </a:r>
            <a:r>
              <a:rPr sz="2400" dirty="0">
                <a:latin typeface="Times New Roman"/>
                <a:cs typeface="Times New Roman"/>
              </a:rPr>
              <a:t>under high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pressure.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a less polluting and less expensive </a:t>
            </a:r>
            <a:r>
              <a:rPr sz="2400" spc="-5" dirty="0">
                <a:latin typeface="Times New Roman"/>
                <a:cs typeface="Times New Roman"/>
              </a:rPr>
              <a:t>fossil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fuel.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Methane is the </a:t>
            </a:r>
            <a:r>
              <a:rPr sz="2400" spc="-10" dirty="0">
                <a:latin typeface="Times New Roman"/>
                <a:cs typeface="Times New Roman"/>
              </a:rPr>
              <a:t>most </a:t>
            </a:r>
            <a:r>
              <a:rPr sz="2400" spc="-5" dirty="0">
                <a:latin typeface="Times New Roman"/>
                <a:cs typeface="Times New Roman"/>
              </a:rPr>
              <a:t>important </a:t>
            </a: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2715" y="0"/>
            <a:ext cx="47859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Types </a:t>
            </a:r>
            <a:r>
              <a:rPr dirty="0"/>
              <a:t>of Fossil</a:t>
            </a:r>
            <a:r>
              <a:rPr spc="-1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479501"/>
            <a:ext cx="11503025" cy="624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Formation </a:t>
            </a:r>
            <a:r>
              <a:rPr sz="2400" b="1" spc="-5" dirty="0">
                <a:latin typeface="Times New Roman"/>
                <a:cs typeface="Times New Roman"/>
              </a:rPr>
              <a:t>of Natural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Gas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phytoplankton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zooplankton </a:t>
            </a:r>
            <a:r>
              <a:rPr sz="2400" dirty="0">
                <a:latin typeface="Times New Roman"/>
                <a:cs typeface="Times New Roman"/>
              </a:rPr>
              <a:t>sink to </a:t>
            </a:r>
            <a:r>
              <a:rPr sz="2400" spc="-5" dirty="0">
                <a:latin typeface="Times New Roman"/>
                <a:cs typeface="Times New Roman"/>
              </a:rPr>
              <a:t>the bottom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ocean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mix </a:t>
            </a:r>
            <a:r>
              <a:rPr sz="2400" dirty="0">
                <a:latin typeface="Times New Roman"/>
                <a:cs typeface="Times New Roman"/>
              </a:rPr>
              <a:t>with </a:t>
            </a:r>
            <a:r>
              <a:rPr sz="2400" spc="-10" dirty="0">
                <a:latin typeface="Times New Roman"/>
                <a:cs typeface="Times New Roman"/>
              </a:rPr>
              <a:t>organic  </a:t>
            </a:r>
            <a:r>
              <a:rPr sz="2400" spc="-5" dirty="0">
                <a:latin typeface="Times New Roman"/>
                <a:cs typeface="Times New Roman"/>
              </a:rPr>
              <a:t>materials </a:t>
            </a:r>
            <a:r>
              <a:rPr sz="2400" dirty="0">
                <a:latin typeface="Times New Roman"/>
                <a:cs typeface="Times New Roman"/>
              </a:rPr>
              <a:t>to form an </a:t>
            </a:r>
            <a:r>
              <a:rPr sz="2400" spc="-5" dirty="0">
                <a:latin typeface="Times New Roman"/>
                <a:cs typeface="Times New Roman"/>
              </a:rPr>
              <a:t>organic-rich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mud.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mud </a:t>
            </a:r>
            <a:r>
              <a:rPr sz="2400" dirty="0">
                <a:latin typeface="Times New Roman"/>
                <a:cs typeface="Times New Roman"/>
              </a:rPr>
              <a:t>buried under </a:t>
            </a:r>
            <a:r>
              <a:rPr sz="2400" spc="-5" dirty="0">
                <a:latin typeface="Times New Roman"/>
                <a:cs typeface="Times New Roman"/>
              </a:rPr>
              <a:t>more </a:t>
            </a:r>
            <a:r>
              <a:rPr sz="2400" dirty="0">
                <a:latin typeface="Times New Roman"/>
                <a:cs typeface="Times New Roman"/>
              </a:rPr>
              <a:t>sediments and </a:t>
            </a:r>
            <a:r>
              <a:rPr sz="2400" spc="-5" dirty="0">
                <a:latin typeface="Times New Roman"/>
                <a:cs typeface="Times New Roman"/>
              </a:rPr>
              <a:t>lithifies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form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10" dirty="0">
                <a:latin typeface="Times New Roman"/>
                <a:cs typeface="Times New Roman"/>
              </a:rPr>
              <a:t>organic </a:t>
            </a:r>
            <a:r>
              <a:rPr sz="2400" dirty="0">
                <a:latin typeface="Times New Roman"/>
                <a:cs typeface="Times New Roman"/>
              </a:rPr>
              <a:t>shale. This </a:t>
            </a:r>
            <a:r>
              <a:rPr sz="2400" spc="-5" dirty="0">
                <a:latin typeface="Times New Roman"/>
                <a:cs typeface="Times New Roman"/>
              </a:rPr>
              <a:t>prevents  its </a:t>
            </a:r>
            <a:r>
              <a:rPr sz="2400" dirty="0">
                <a:latin typeface="Times New Roman"/>
                <a:cs typeface="Times New Roman"/>
              </a:rPr>
              <a:t>exposure to </a:t>
            </a:r>
            <a:r>
              <a:rPr sz="2400" spc="-5" dirty="0">
                <a:latin typeface="Times New Roman"/>
                <a:cs typeface="Times New Roman"/>
              </a:rPr>
              <a:t>oxygen. </a:t>
            </a:r>
            <a:r>
              <a:rPr sz="2400" dirty="0">
                <a:latin typeface="Times New Roman"/>
                <a:cs typeface="Times New Roman"/>
              </a:rPr>
              <a:t>This is done to </a:t>
            </a:r>
            <a:r>
              <a:rPr sz="2400" spc="-10" dirty="0">
                <a:latin typeface="Times New Roman"/>
                <a:cs typeface="Times New Roman"/>
              </a:rPr>
              <a:t>protect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organic </a:t>
            </a:r>
            <a:r>
              <a:rPr sz="2400" spc="-5" dirty="0">
                <a:latin typeface="Times New Roman"/>
                <a:cs typeface="Times New Roman"/>
              </a:rPr>
              <a:t>materials </a:t>
            </a:r>
            <a:r>
              <a:rPr sz="2400" dirty="0">
                <a:latin typeface="Times New Roman"/>
                <a:cs typeface="Times New Roman"/>
              </a:rPr>
              <a:t>from being  </a:t>
            </a:r>
            <a:r>
              <a:rPr sz="2400" spc="-5" dirty="0">
                <a:latin typeface="Times New Roman"/>
                <a:cs typeface="Times New Roman"/>
              </a:rPr>
              <a:t>decomposed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bacteria.</a:t>
            </a:r>
            <a:endParaRPr sz="24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increasing </a:t>
            </a:r>
            <a:r>
              <a:rPr sz="2400" dirty="0">
                <a:latin typeface="Times New Roman"/>
                <a:cs typeface="Times New Roman"/>
              </a:rPr>
              <a:t>pressure and </a:t>
            </a:r>
            <a:r>
              <a:rPr sz="2400" spc="-5" dirty="0">
                <a:latin typeface="Times New Roman"/>
                <a:cs typeface="Times New Roman"/>
              </a:rPr>
              <a:t>temperature transform </a:t>
            </a:r>
            <a:r>
              <a:rPr sz="2400" dirty="0">
                <a:latin typeface="Times New Roman"/>
                <a:cs typeface="Times New Roman"/>
              </a:rPr>
              <a:t>the shale </a:t>
            </a:r>
            <a:r>
              <a:rPr sz="2400" spc="-5" dirty="0">
                <a:latin typeface="Times New Roman"/>
                <a:cs typeface="Times New Roman"/>
              </a:rPr>
              <a:t>into </a:t>
            </a:r>
            <a:r>
              <a:rPr sz="2400" dirty="0">
                <a:latin typeface="Times New Roman"/>
                <a:cs typeface="Times New Roman"/>
              </a:rPr>
              <a:t>a waxy </a:t>
            </a:r>
            <a:r>
              <a:rPr sz="2400" spc="-5" dirty="0">
                <a:latin typeface="Times New Roman"/>
                <a:cs typeface="Times New Roman"/>
              </a:rPr>
              <a:t>material known  </a:t>
            </a:r>
            <a:r>
              <a:rPr sz="2400" dirty="0">
                <a:latin typeface="Times New Roman"/>
                <a:cs typeface="Times New Roman"/>
              </a:rPr>
              <a:t>as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kerogen.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At temperatures </a:t>
            </a:r>
            <a:r>
              <a:rPr sz="2400" dirty="0">
                <a:latin typeface="Times New Roman"/>
                <a:cs typeface="Times New Roman"/>
              </a:rPr>
              <a:t>between 90-160°C kerogen is </a:t>
            </a:r>
            <a:r>
              <a:rPr sz="2400" spc="-5" dirty="0">
                <a:latin typeface="Times New Roman"/>
                <a:cs typeface="Times New Roman"/>
              </a:rPr>
              <a:t>transformed </a:t>
            </a:r>
            <a:r>
              <a:rPr sz="2400" dirty="0">
                <a:latin typeface="Times New Roman"/>
                <a:cs typeface="Times New Roman"/>
              </a:rPr>
              <a:t>into natural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Uses </a:t>
            </a:r>
            <a:r>
              <a:rPr sz="2400" b="1" dirty="0">
                <a:latin typeface="Times New Roman"/>
                <a:cs typeface="Times New Roman"/>
              </a:rPr>
              <a:t>of Natural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gas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Compressed </a:t>
            </a:r>
            <a:r>
              <a:rPr sz="2400" dirty="0">
                <a:latin typeface="Times New Roman"/>
                <a:cs typeface="Times New Roman"/>
              </a:rPr>
              <a:t>Natural </a:t>
            </a:r>
            <a:r>
              <a:rPr sz="2400" spc="-5" dirty="0">
                <a:latin typeface="Times New Roman"/>
                <a:cs typeface="Times New Roman"/>
              </a:rPr>
              <a:t>Gas </a:t>
            </a:r>
            <a:r>
              <a:rPr sz="2400" dirty="0">
                <a:latin typeface="Times New Roman"/>
                <a:cs typeface="Times New Roman"/>
              </a:rPr>
              <a:t>is used for generating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power.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used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fuels 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automobiles.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can be used at </a:t>
            </a:r>
            <a:r>
              <a:rPr sz="2400" spc="-5" dirty="0">
                <a:latin typeface="Times New Roman"/>
                <a:cs typeface="Times New Roman"/>
              </a:rPr>
              <a:t>homes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cooking.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is used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starting </a:t>
            </a:r>
            <a:r>
              <a:rPr sz="2400" spc="-5" dirty="0">
                <a:latin typeface="Times New Roman"/>
                <a:cs typeface="Times New Roman"/>
              </a:rPr>
              <a:t>material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chemicals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fertilizers.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Types </a:t>
            </a:r>
            <a:r>
              <a:rPr dirty="0"/>
              <a:t>of Fossil</a:t>
            </a:r>
            <a:r>
              <a:rPr spc="-1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3089"/>
            <a:ext cx="1150302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imes New Roman"/>
                <a:cs typeface="Times New Roman"/>
              </a:rPr>
              <a:t>Are </a:t>
            </a:r>
            <a:r>
              <a:rPr sz="2400" b="1" dirty="0">
                <a:latin typeface="Times New Roman"/>
                <a:cs typeface="Times New Roman"/>
              </a:rPr>
              <a:t>Fossil </a:t>
            </a:r>
            <a:r>
              <a:rPr sz="2400" b="1" spc="-5" dirty="0">
                <a:latin typeface="Times New Roman"/>
                <a:cs typeface="Times New Roman"/>
              </a:rPr>
              <a:t>Fuels Renewable?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Fossil </a:t>
            </a:r>
            <a:r>
              <a:rPr sz="2400" dirty="0">
                <a:latin typeface="Times New Roman"/>
                <a:cs typeface="Times New Roman"/>
              </a:rPr>
              <a:t>fuels are a </a:t>
            </a:r>
            <a:r>
              <a:rPr sz="2400" spc="-5" dirty="0">
                <a:latin typeface="Times New Roman"/>
                <a:cs typeface="Times New Roman"/>
              </a:rPr>
              <a:t>non-renewable source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35" dirty="0">
                <a:latin typeface="Times New Roman"/>
                <a:cs typeface="Times New Roman"/>
              </a:rPr>
              <a:t>energy. </a:t>
            </a:r>
            <a:r>
              <a:rPr sz="2400" spc="-5" dirty="0">
                <a:latin typeface="Times New Roman"/>
                <a:cs typeface="Times New Roman"/>
              </a:rPr>
              <a:t>Most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dirty="0">
                <a:latin typeface="Times New Roman"/>
                <a:cs typeface="Times New Roman"/>
              </a:rPr>
              <a:t>used by </a:t>
            </a:r>
            <a:r>
              <a:rPr sz="2400" spc="-5" dirty="0">
                <a:latin typeface="Times New Roman"/>
                <a:cs typeface="Times New Roman"/>
              </a:rPr>
              <a:t>us </a:t>
            </a:r>
            <a:r>
              <a:rPr sz="2400" dirty="0">
                <a:latin typeface="Times New Roman"/>
                <a:cs typeface="Times New Roman"/>
              </a:rPr>
              <a:t>is  obtained by the burning of </a:t>
            </a:r>
            <a:r>
              <a:rPr sz="2400" spc="-5" dirty="0">
                <a:latin typeface="Times New Roman"/>
                <a:cs typeface="Times New Roman"/>
              </a:rPr>
              <a:t>fossil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fuels.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fossil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fuels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up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faster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rate.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They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cannot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regrown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scale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compared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to their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consumption.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3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increased demand </a:t>
            </a:r>
            <a:r>
              <a:rPr sz="2400" dirty="0">
                <a:latin typeface="Times New Roman"/>
                <a:cs typeface="Times New Roman"/>
              </a:rPr>
              <a:t>for the </a:t>
            </a:r>
            <a:r>
              <a:rPr sz="2400" spc="-5" dirty="0">
                <a:latin typeface="Times New Roman"/>
                <a:cs typeface="Times New Roman"/>
              </a:rPr>
              <a:t>production </a:t>
            </a:r>
            <a:r>
              <a:rPr sz="2400" dirty="0">
                <a:latin typeface="Times New Roman"/>
                <a:cs typeface="Times New Roman"/>
              </a:rPr>
              <a:t>of various </a:t>
            </a:r>
            <a:r>
              <a:rPr sz="2400" spc="-10" dirty="0">
                <a:latin typeface="Times New Roman"/>
                <a:cs typeface="Times New Roman"/>
              </a:rPr>
              <a:t>energies, </a:t>
            </a:r>
            <a:r>
              <a:rPr sz="2400" spc="-5" dirty="0">
                <a:latin typeface="Times New Roman"/>
                <a:cs typeface="Times New Roman"/>
              </a:rPr>
              <a:t>fossil fuel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dirty="0">
                <a:latin typeface="Times New Roman"/>
                <a:cs typeface="Times New Roman"/>
              </a:rPr>
              <a:t>is  </a:t>
            </a:r>
            <a:r>
              <a:rPr sz="2400" spc="-5" dirty="0">
                <a:latin typeface="Times New Roman"/>
                <a:cs typeface="Times New Roman"/>
              </a:rPr>
              <a:t>declining. 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difficult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replace them. </a:t>
            </a:r>
            <a:r>
              <a:rPr sz="2400" dirty="0">
                <a:latin typeface="Times New Roman"/>
                <a:cs typeface="Times New Roman"/>
              </a:rPr>
              <a:t>That is </a:t>
            </a:r>
            <a:r>
              <a:rPr sz="2400" spc="-5" dirty="0">
                <a:latin typeface="Times New Roman"/>
                <a:cs typeface="Times New Roman"/>
              </a:rPr>
              <a:t>why </a:t>
            </a:r>
            <a:r>
              <a:rPr sz="2400" dirty="0">
                <a:latin typeface="Times New Roman"/>
                <a:cs typeface="Times New Roman"/>
              </a:rPr>
              <a:t>they </a:t>
            </a:r>
            <a:r>
              <a:rPr sz="2400" spc="-1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known </a:t>
            </a:r>
            <a:r>
              <a:rPr sz="2400" dirty="0">
                <a:latin typeface="Times New Roman"/>
                <a:cs typeface="Times New Roman"/>
              </a:rPr>
              <a:t>as a </a:t>
            </a:r>
            <a:r>
              <a:rPr sz="2400" spc="-5" dirty="0">
                <a:latin typeface="Times New Roman"/>
                <a:cs typeface="Times New Roman"/>
              </a:rPr>
              <a:t>non-renewable  source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energy.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64" y="13207"/>
            <a:ext cx="104394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 and Disadvantages of Fossil</a:t>
            </a:r>
            <a:r>
              <a:rPr spc="-12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3089"/>
            <a:ext cx="931164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Advantages: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Fossil </a:t>
            </a:r>
            <a:r>
              <a:rPr sz="2400" dirty="0">
                <a:latin typeface="Times New Roman"/>
                <a:cs typeface="Times New Roman"/>
              </a:rPr>
              <a:t>fuels can generate a </a:t>
            </a:r>
            <a:r>
              <a:rPr sz="2400" spc="-10" dirty="0">
                <a:latin typeface="Times New Roman"/>
                <a:cs typeface="Times New Roman"/>
              </a:rPr>
              <a:t>large </a:t>
            </a:r>
            <a:r>
              <a:rPr sz="2400" spc="-5" dirty="0">
                <a:latin typeface="Times New Roman"/>
                <a:cs typeface="Times New Roman"/>
              </a:rPr>
              <a:t>amount </a:t>
            </a:r>
            <a:r>
              <a:rPr sz="2400" dirty="0">
                <a:latin typeface="Times New Roman"/>
                <a:cs typeface="Times New Roman"/>
              </a:rPr>
              <a:t>of electricity at a single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They can be </a:t>
            </a:r>
            <a:r>
              <a:rPr sz="2400" spc="-5" dirty="0">
                <a:latin typeface="Times New Roman"/>
                <a:cs typeface="Times New Roman"/>
              </a:rPr>
              <a:t>found </a:t>
            </a:r>
            <a:r>
              <a:rPr sz="2400" dirty="0">
                <a:latin typeface="Times New Roman"/>
                <a:cs typeface="Times New Roman"/>
              </a:rPr>
              <a:t>very</a:t>
            </a:r>
            <a:r>
              <a:rPr sz="2400" spc="-25" dirty="0">
                <a:latin typeface="Times New Roman"/>
                <a:cs typeface="Times New Roman"/>
              </a:rPr>
              <a:t> easily.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They 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cost-effective.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Transportation </a:t>
            </a:r>
            <a:r>
              <a:rPr sz="2400" dirty="0">
                <a:latin typeface="Times New Roman"/>
                <a:cs typeface="Times New Roman"/>
              </a:rPr>
              <a:t>of oil and </a:t>
            </a:r>
            <a:r>
              <a:rPr sz="2400" spc="-5" dirty="0">
                <a:latin typeface="Times New Roman"/>
                <a:cs typeface="Times New Roman"/>
              </a:rPr>
              <a:t>gas </a:t>
            </a:r>
            <a:r>
              <a:rPr sz="2400" dirty="0">
                <a:latin typeface="Times New Roman"/>
                <a:cs typeface="Times New Roman"/>
              </a:rPr>
              <a:t>can be done easily through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pipelines.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They have </a:t>
            </a:r>
            <a:r>
              <a:rPr sz="2400" spc="-5" dirty="0">
                <a:latin typeface="Times New Roman"/>
                <a:cs typeface="Times New Roman"/>
              </a:rPr>
              <a:t>become safer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Despite being a finite resource, it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available in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plenty.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64" y="13207"/>
            <a:ext cx="104394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 and Disadvantages of Fossil</a:t>
            </a:r>
            <a:r>
              <a:rPr spc="-12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3089"/>
            <a:ext cx="1150302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Disadvantages: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Fossil fuels emit carbon dioxide </a:t>
            </a:r>
            <a:r>
              <a:rPr sz="2400" dirty="0">
                <a:latin typeface="Times New Roman"/>
                <a:cs typeface="Times New Roman"/>
              </a:rPr>
              <a:t>when burnt which is a </a:t>
            </a:r>
            <a:r>
              <a:rPr sz="2400" spc="-5" dirty="0">
                <a:latin typeface="Times New Roman"/>
                <a:cs typeface="Times New Roman"/>
              </a:rPr>
              <a:t>major greenhouse gas and the  primary </a:t>
            </a:r>
            <a:r>
              <a:rPr sz="2400" dirty="0">
                <a:latin typeface="Times New Roman"/>
                <a:cs typeface="Times New Roman"/>
              </a:rPr>
              <a:t>source of pollution. This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contributed to global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warming.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They are a </a:t>
            </a:r>
            <a:r>
              <a:rPr sz="2400" spc="-5" dirty="0">
                <a:latin typeface="Times New Roman"/>
                <a:cs typeface="Times New Roman"/>
              </a:rPr>
              <a:t>non-renewable </a:t>
            </a:r>
            <a:r>
              <a:rPr sz="2400" dirty="0">
                <a:latin typeface="Times New Roman"/>
                <a:cs typeface="Times New Roman"/>
              </a:rPr>
              <a:t>resource, </a:t>
            </a:r>
            <a:r>
              <a:rPr sz="2400" spc="-5" dirty="0">
                <a:latin typeface="Times New Roman"/>
                <a:cs typeface="Times New Roman"/>
              </a:rPr>
              <a:t>i.e., </a:t>
            </a:r>
            <a:r>
              <a:rPr sz="2400" dirty="0">
                <a:latin typeface="Times New Roman"/>
                <a:cs typeface="Times New Roman"/>
              </a:rPr>
              <a:t>once used they cannot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replaced.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Combustion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fossil </a:t>
            </a:r>
            <a:r>
              <a:rPr sz="2400" dirty="0">
                <a:latin typeface="Times New Roman"/>
                <a:cs typeface="Times New Roman"/>
              </a:rPr>
              <a:t>fuels </a:t>
            </a:r>
            <a:r>
              <a:rPr sz="2400" spc="-5" dirty="0">
                <a:latin typeface="Times New Roman"/>
                <a:cs typeface="Times New Roman"/>
              </a:rPr>
              <a:t>makes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environment more acidic. </a:t>
            </a:r>
            <a:r>
              <a:rPr sz="2400" dirty="0">
                <a:latin typeface="Times New Roman"/>
                <a:cs typeface="Times New Roman"/>
              </a:rPr>
              <a:t>This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led </a:t>
            </a:r>
            <a:r>
              <a:rPr sz="2400" spc="-10" dirty="0">
                <a:latin typeface="Times New Roman"/>
                <a:cs typeface="Times New Roman"/>
              </a:rPr>
              <a:t>to  </a:t>
            </a:r>
            <a:r>
              <a:rPr sz="2400" spc="-5" dirty="0">
                <a:latin typeface="Times New Roman"/>
                <a:cs typeface="Times New Roman"/>
              </a:rPr>
              <a:t>unpredictable </a:t>
            </a:r>
            <a:r>
              <a:rPr sz="2400" dirty="0">
                <a:latin typeface="Times New Roman"/>
                <a:cs typeface="Times New Roman"/>
              </a:rPr>
              <a:t>and negative changes in the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Harvesting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fossil fuels </a:t>
            </a:r>
            <a:r>
              <a:rPr sz="2400" dirty="0">
                <a:latin typeface="Times New Roman"/>
                <a:cs typeface="Times New Roman"/>
              </a:rPr>
              <a:t>also </a:t>
            </a:r>
            <a:r>
              <a:rPr sz="2400" spc="-5" dirty="0">
                <a:latin typeface="Times New Roman"/>
                <a:cs typeface="Times New Roman"/>
              </a:rPr>
              <a:t>causes fatal diseases among the people. For </a:t>
            </a:r>
            <a:r>
              <a:rPr sz="2400" dirty="0">
                <a:latin typeface="Times New Roman"/>
                <a:cs typeface="Times New Roman"/>
              </a:rPr>
              <a:t>eg., </a:t>
            </a:r>
            <a:r>
              <a:rPr sz="2400" spc="-5" dirty="0">
                <a:latin typeface="Times New Roman"/>
                <a:cs typeface="Times New Roman"/>
              </a:rPr>
              <a:t>the coal  miners often </a:t>
            </a:r>
            <a:r>
              <a:rPr sz="2400" spc="-10" dirty="0">
                <a:latin typeface="Times New Roman"/>
                <a:cs typeface="Times New Roman"/>
              </a:rPr>
              <a:t>suffer </a:t>
            </a:r>
            <a:r>
              <a:rPr sz="2400" dirty="0">
                <a:latin typeface="Times New Roman"/>
                <a:cs typeface="Times New Roman"/>
              </a:rPr>
              <a:t>from Black </a:t>
            </a:r>
            <a:r>
              <a:rPr sz="2400" spc="-5" dirty="0">
                <a:latin typeface="Times New Roman"/>
                <a:cs typeface="Times New Roman"/>
              </a:rPr>
              <a:t>Lung Disease.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natural </a:t>
            </a:r>
            <a:r>
              <a:rPr sz="2400" spc="-10" dirty="0">
                <a:latin typeface="Times New Roman"/>
                <a:cs typeface="Times New Roman"/>
              </a:rPr>
              <a:t>gas </a:t>
            </a:r>
            <a:r>
              <a:rPr sz="2400" spc="-5" dirty="0">
                <a:latin typeface="Times New Roman"/>
                <a:cs typeface="Times New Roman"/>
              </a:rPr>
              <a:t>drillers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constantly  </a:t>
            </a:r>
            <a:r>
              <a:rPr sz="2400" dirty="0">
                <a:latin typeface="Times New Roman"/>
                <a:cs typeface="Times New Roman"/>
              </a:rPr>
              <a:t>exposed to </a:t>
            </a:r>
            <a:r>
              <a:rPr sz="2400" spc="-5" dirty="0">
                <a:latin typeface="Times New Roman"/>
                <a:cs typeface="Times New Roman"/>
              </a:rPr>
              <a:t>chemicals </a:t>
            </a:r>
            <a:r>
              <a:rPr sz="2400" dirty="0">
                <a:latin typeface="Times New Roman"/>
                <a:cs typeface="Times New Roman"/>
              </a:rPr>
              <a:t>and silica which is dangerous for their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health.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7825" y="13207"/>
            <a:ext cx="92621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Environmental Impact of Fossil Fuel</a:t>
            </a:r>
            <a:r>
              <a:rPr spc="-105" dirty="0"/>
              <a:t> </a:t>
            </a:r>
            <a:r>
              <a:rPr dirty="0"/>
              <a:t>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518361"/>
            <a:ext cx="796290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Carbon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fuels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Release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carbon monoxide gas into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atmosphere.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Global warming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Releases </a:t>
            </a:r>
            <a:r>
              <a:rPr sz="2800" dirty="0">
                <a:latin typeface="Times New Roman"/>
                <a:cs typeface="Times New Roman"/>
              </a:rPr>
              <a:t>sulphur dioxide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gas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8350" y="13207"/>
            <a:ext cx="59397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Alternative to Fossil</a:t>
            </a:r>
            <a:r>
              <a:rPr spc="-105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1565"/>
            <a:ext cx="297307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Bio Fuels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Bio </a:t>
            </a:r>
            <a:r>
              <a:rPr sz="2800" spc="-10" dirty="0">
                <a:latin typeface="Times New Roman"/>
                <a:cs typeface="Times New Roman"/>
              </a:rPr>
              <a:t>mass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Algae based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Fuels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Bio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Diesels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Alcohol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fuels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Hydrogen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Fuels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9575" y="13207"/>
            <a:ext cx="91960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Merits and Demerits of Alternative</a:t>
            </a:r>
            <a:r>
              <a:rPr spc="-370" dirty="0"/>
              <a:t> </a:t>
            </a:r>
            <a:r>
              <a:rPr dirty="0"/>
              <a:t>Fuels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79" y="1091565"/>
            <a:ext cx="5558155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Merits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Environmental benefit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Increased </a:t>
            </a:r>
            <a:r>
              <a:rPr sz="2800" spc="-15" dirty="0">
                <a:latin typeface="Times New Roman"/>
                <a:cs typeface="Times New Roman"/>
              </a:rPr>
              <a:t>energy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security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Sustainability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Massive </a:t>
            </a:r>
            <a:r>
              <a:rPr sz="2800" dirty="0">
                <a:latin typeface="Times New Roman"/>
                <a:cs typeface="Times New Roman"/>
              </a:rPr>
              <a:t>job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creator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Times New Roman"/>
                <a:cs typeface="Times New Roman"/>
              </a:rPr>
              <a:t>Demerits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High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Cost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Low </a:t>
            </a:r>
            <a:r>
              <a:rPr sz="2800" spc="-10" dirty="0">
                <a:latin typeface="Times New Roman"/>
                <a:cs typeface="Times New Roman"/>
              </a:rPr>
              <a:t>Efficiency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Issue </a:t>
            </a:r>
            <a:r>
              <a:rPr sz="2800" spc="-5" dirty="0">
                <a:latin typeface="Times New Roman"/>
                <a:cs typeface="Times New Roman"/>
              </a:rPr>
              <a:t>with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stability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Logistic problem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Installations.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4" y="485089"/>
            <a:ext cx="55791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85" dirty="0"/>
              <a:t>Growing </a:t>
            </a:r>
            <a:r>
              <a:rPr spc="35" dirty="0"/>
              <a:t>Energy</a:t>
            </a:r>
            <a:r>
              <a:rPr spc="-295" dirty="0"/>
              <a:t> </a:t>
            </a:r>
            <a:r>
              <a:rPr spc="130" dirty="0"/>
              <a:t>Needs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248" y="1548129"/>
            <a:ext cx="10297160" cy="4666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  <a:tab pos="5855970" algn="l"/>
              </a:tabLst>
            </a:pPr>
            <a:r>
              <a:rPr sz="2200" spc="-5" dirty="0">
                <a:latin typeface="Times New Roman"/>
                <a:cs typeface="Times New Roman"/>
              </a:rPr>
              <a:t>Coal, Oil, Gas, </a:t>
            </a:r>
            <a:r>
              <a:rPr sz="2200" spc="-60" dirty="0">
                <a:latin typeface="Times New Roman"/>
                <a:cs typeface="Times New Roman"/>
              </a:rPr>
              <a:t>Water </a:t>
            </a:r>
            <a:r>
              <a:rPr sz="2200" spc="-5" dirty="0">
                <a:latin typeface="Times New Roman"/>
                <a:cs typeface="Times New Roman"/>
              </a:rPr>
              <a:t>constitute </a:t>
            </a:r>
            <a:r>
              <a:rPr sz="2200" spc="-10" dirty="0">
                <a:latin typeface="Times New Roman"/>
                <a:cs typeface="Times New Roman"/>
              </a:rPr>
              <a:t>main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sources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	</a:t>
            </a:r>
            <a:r>
              <a:rPr sz="2200" spc="-10" dirty="0">
                <a:latin typeface="Times New Roman"/>
                <a:cs typeface="Times New Roman"/>
              </a:rPr>
              <a:t>energy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India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2550">
              <a:latin typeface="Times New Roman"/>
              <a:cs typeface="Times New Roman"/>
            </a:endParaRPr>
          </a:p>
          <a:p>
            <a:pPr marL="355600" indent="-342900">
              <a:lnSpc>
                <a:spcPts val="2375"/>
              </a:lnSpc>
              <a:buFont typeface="Wingdings"/>
              <a:buChar char=""/>
              <a:tabLst>
                <a:tab pos="355600" algn="l"/>
                <a:tab pos="6022340" algn="l"/>
              </a:tabLst>
            </a:pPr>
            <a:r>
              <a:rPr sz="2200" spc="-10" dirty="0">
                <a:latin typeface="Times New Roman"/>
                <a:cs typeface="Times New Roman"/>
              </a:rPr>
              <a:t>Commercial  </a:t>
            </a:r>
            <a:r>
              <a:rPr sz="2200" spc="-5" dirty="0">
                <a:latin typeface="Times New Roman"/>
                <a:cs typeface="Times New Roman"/>
              </a:rPr>
              <a:t>consumption  </a:t>
            </a:r>
            <a:r>
              <a:rPr sz="2200" dirty="0">
                <a:latin typeface="Times New Roman"/>
                <a:cs typeface="Times New Roman"/>
              </a:rPr>
              <a:t>of  </a:t>
            </a:r>
            <a:r>
              <a:rPr sz="2200" spc="-10" dirty="0">
                <a:latin typeface="Times New Roman"/>
                <a:cs typeface="Times New Roman"/>
              </a:rPr>
              <a:t>energy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from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coal	</a:t>
            </a:r>
            <a:r>
              <a:rPr sz="2200" dirty="0">
                <a:latin typeface="Times New Roman"/>
                <a:cs typeface="Times New Roman"/>
              </a:rPr>
              <a:t>(56%) </a:t>
            </a:r>
            <a:r>
              <a:rPr sz="2200" spc="-5" dirty="0">
                <a:latin typeface="Times New Roman"/>
                <a:cs typeface="Times New Roman"/>
              </a:rPr>
              <a:t>&amp; </a:t>
            </a:r>
            <a:r>
              <a:rPr sz="2200" dirty="0">
                <a:latin typeface="Times New Roman"/>
                <a:cs typeface="Times New Roman"/>
              </a:rPr>
              <a:t>Petroleum (32%)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other</a:t>
            </a:r>
            <a:endParaRPr sz="2200">
              <a:latin typeface="Times New Roman"/>
              <a:cs typeface="Times New Roman"/>
            </a:endParaRPr>
          </a:p>
          <a:p>
            <a:pPr marL="354965">
              <a:lnSpc>
                <a:spcPts val="2375"/>
              </a:lnSpc>
              <a:tabLst>
                <a:tab pos="1630680" algn="l"/>
              </a:tabLst>
            </a:pPr>
            <a:r>
              <a:rPr sz="2200" spc="-5" dirty="0">
                <a:latin typeface="Times New Roman"/>
                <a:cs typeface="Times New Roman"/>
              </a:rPr>
              <a:t>sources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as	Natural Gas,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Water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  <a:tab pos="5977890" algn="l"/>
              </a:tabLst>
            </a:pPr>
            <a:r>
              <a:rPr sz="2200" spc="-25" dirty="0">
                <a:latin typeface="Times New Roman"/>
                <a:cs typeface="Times New Roman"/>
              </a:rPr>
              <a:t>Traditional </a:t>
            </a:r>
            <a:r>
              <a:rPr sz="2200" spc="-5" dirty="0">
                <a:latin typeface="Times New Roman"/>
                <a:cs typeface="Times New Roman"/>
              </a:rPr>
              <a:t>Sources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10" dirty="0">
                <a:latin typeface="Times New Roman"/>
                <a:cs typeface="Times New Roman"/>
              </a:rPr>
              <a:t>energy 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wood,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agriculture	waste &amp; animal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residue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  <a:tab pos="5837555" algn="l"/>
              </a:tabLst>
            </a:pPr>
            <a:r>
              <a:rPr sz="2200" spc="-5" dirty="0">
                <a:latin typeface="Times New Roman"/>
                <a:cs typeface="Times New Roman"/>
              </a:rPr>
              <a:t>Industrial sectors consuming about </a:t>
            </a:r>
            <a:r>
              <a:rPr sz="2200" dirty="0">
                <a:latin typeface="Times New Roman"/>
                <a:cs typeface="Times New Roman"/>
              </a:rPr>
              <a:t>50%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total	</a:t>
            </a:r>
            <a:r>
              <a:rPr sz="2200" spc="-10" dirty="0">
                <a:latin typeface="Times New Roman"/>
                <a:cs typeface="Times New Roman"/>
              </a:rPr>
              <a:t>commercial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energy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30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80000"/>
              </a:lnSpc>
              <a:buFont typeface="Wingdings"/>
              <a:buChar char=""/>
              <a:tabLst>
                <a:tab pos="355600" algn="l"/>
                <a:tab pos="1477010" algn="l"/>
                <a:tab pos="6107430" algn="l"/>
              </a:tabLst>
            </a:pPr>
            <a:r>
              <a:rPr sz="2200" spc="-5" dirty="0">
                <a:latin typeface="Times New Roman"/>
                <a:cs typeface="Times New Roman"/>
              </a:rPr>
              <a:t>Industrial </a:t>
            </a:r>
            <a:r>
              <a:rPr sz="2200" spc="-10" dirty="0">
                <a:latin typeface="Times New Roman"/>
                <a:cs typeface="Times New Roman"/>
              </a:rPr>
              <a:t>energy  </a:t>
            </a:r>
            <a:r>
              <a:rPr sz="2200" spc="-5" dirty="0">
                <a:latin typeface="Times New Roman"/>
                <a:cs typeface="Times New Roman"/>
              </a:rPr>
              <a:t>consumption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sources: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fertilizer,	</a:t>
            </a:r>
            <a:r>
              <a:rPr sz="2200" spc="-10" dirty="0">
                <a:latin typeface="Times New Roman"/>
                <a:cs typeface="Times New Roman"/>
              </a:rPr>
              <a:t>aluminum, </a:t>
            </a:r>
            <a:r>
              <a:rPr sz="2200" spc="-5" dirty="0">
                <a:latin typeface="Times New Roman"/>
                <a:cs typeface="Times New Roman"/>
              </a:rPr>
              <a:t>textiles, cement, iron </a:t>
            </a:r>
            <a:r>
              <a:rPr sz="2200" spc="-10" dirty="0">
                <a:latin typeface="Times New Roman"/>
                <a:cs typeface="Times New Roman"/>
              </a:rPr>
              <a:t>and  </a:t>
            </a:r>
            <a:r>
              <a:rPr sz="2200" spc="-5" dirty="0">
                <a:latin typeface="Times New Roman"/>
                <a:cs typeface="Times New Roman"/>
              </a:rPr>
              <a:t>steel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	paper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"/>
            </a:pPr>
            <a:endParaRPr sz="32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  <a:tab pos="5887720" algn="l"/>
              </a:tabLst>
            </a:pPr>
            <a:r>
              <a:rPr sz="2200" spc="-5" dirty="0">
                <a:latin typeface="Times New Roman"/>
                <a:cs typeface="Times New Roman"/>
              </a:rPr>
              <a:t>Farm sector </a:t>
            </a:r>
            <a:r>
              <a:rPr sz="2200" spc="-10" dirty="0">
                <a:latin typeface="Times New Roman"/>
                <a:cs typeface="Times New Roman"/>
              </a:rPr>
              <a:t>energy </a:t>
            </a:r>
            <a:r>
              <a:rPr sz="2200" spc="-5" dirty="0">
                <a:latin typeface="Times New Roman"/>
                <a:cs typeface="Times New Roman"/>
              </a:rPr>
              <a:t>consumption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increased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from	</a:t>
            </a:r>
            <a:r>
              <a:rPr sz="2200" dirty="0">
                <a:latin typeface="Times New Roman"/>
                <a:cs typeface="Times New Roman"/>
              </a:rPr>
              <a:t>3.9% </a:t>
            </a: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1951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32.5%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1997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177" y="424637"/>
            <a:ext cx="6301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/>
              <a:t>Renewable </a:t>
            </a:r>
            <a:r>
              <a:rPr spc="35" dirty="0"/>
              <a:t>Energy</a:t>
            </a:r>
            <a:r>
              <a:rPr spc="-300" dirty="0"/>
              <a:t> </a:t>
            </a:r>
            <a:r>
              <a:rPr spc="5" dirty="0"/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248" y="1591183"/>
            <a:ext cx="10685780" cy="5150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6099810" algn="l"/>
              </a:tabLst>
            </a:pPr>
            <a:r>
              <a:rPr sz="2400" spc="-30" dirty="0">
                <a:latin typeface="Times New Roman"/>
                <a:cs typeface="Times New Roman"/>
              </a:rPr>
              <a:t>Wind </a:t>
            </a:r>
            <a:r>
              <a:rPr sz="2400" spc="-10" dirty="0">
                <a:latin typeface="Times New Roman"/>
                <a:cs typeface="Times New Roman"/>
              </a:rPr>
              <a:t>Energy: </a:t>
            </a:r>
            <a:r>
              <a:rPr sz="2400" dirty="0">
                <a:latin typeface="Times New Roman"/>
                <a:cs typeface="Times New Roman"/>
              </a:rPr>
              <a:t>In 2014, world can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3%	of total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electricity</a:t>
            </a:r>
            <a:r>
              <a:rPr lang="en-IN" sz="2400" spc="-5" dirty="0">
                <a:latin typeface="Times New Roman"/>
                <a:cs typeface="Times New Roman"/>
              </a:rPr>
              <a:t>, now it is 10%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3800" dirty="0">
              <a:latin typeface="Times New Roman"/>
              <a:cs typeface="Times New Roman"/>
            </a:endParaRPr>
          </a:p>
          <a:p>
            <a:pPr marL="354965" marR="26670" indent="-342900">
              <a:lnSpc>
                <a:spcPct val="100499"/>
              </a:lnSpc>
              <a:buChar char="•"/>
              <a:tabLst>
                <a:tab pos="354965" algn="l"/>
                <a:tab pos="355600" algn="l"/>
                <a:tab pos="807720" algn="l"/>
                <a:tab pos="6137910" algn="l"/>
              </a:tabLst>
            </a:pPr>
            <a:r>
              <a:rPr sz="2400" spc="-5" dirty="0">
                <a:latin typeface="Times New Roman"/>
                <a:cs typeface="Times New Roman"/>
              </a:rPr>
              <a:t>Hydropower: </a:t>
            </a:r>
            <a:r>
              <a:rPr sz="2400" dirty="0">
                <a:latin typeface="Times New Roman"/>
                <a:cs typeface="Times New Roman"/>
              </a:rPr>
              <a:t>In 2015,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Hydropower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generated	16.6%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world electricity </a:t>
            </a:r>
            <a:r>
              <a:rPr sz="2400" dirty="0">
                <a:latin typeface="Times New Roman"/>
                <a:cs typeface="Times New Roman"/>
              </a:rPr>
              <a:t>&amp; </a:t>
            </a:r>
            <a:r>
              <a:rPr sz="2400" spc="-5" dirty="0">
                <a:latin typeface="Times New Roman"/>
                <a:cs typeface="Times New Roman"/>
              </a:rPr>
              <a:t>70% </a:t>
            </a:r>
            <a:r>
              <a:rPr sz="2400" dirty="0">
                <a:latin typeface="Times New Roman"/>
                <a:cs typeface="Times New Roman"/>
              </a:rPr>
              <a:t>of  all	renewal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electricity</a:t>
            </a:r>
            <a:r>
              <a:rPr lang="en-IN" sz="2400" spc="-35" dirty="0">
                <a:latin typeface="Times New Roman"/>
                <a:cs typeface="Times New Roman"/>
              </a:rPr>
              <a:t>…..now it is 38.7 %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37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  <a:tab pos="6002020" algn="l"/>
              </a:tabLst>
            </a:pPr>
            <a:r>
              <a:rPr sz="2400" dirty="0">
                <a:latin typeface="Times New Roman"/>
                <a:cs typeface="Times New Roman"/>
              </a:rPr>
              <a:t>Solar </a:t>
            </a:r>
            <a:r>
              <a:rPr sz="2400" spc="-10" dirty="0">
                <a:latin typeface="Times New Roman"/>
                <a:cs typeface="Times New Roman"/>
              </a:rPr>
              <a:t>Energy: </a:t>
            </a:r>
            <a:r>
              <a:rPr sz="2400" dirty="0">
                <a:latin typeface="Times New Roman"/>
                <a:cs typeface="Times New Roman"/>
              </a:rPr>
              <a:t>In 2014, less 1% of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total	</a:t>
            </a:r>
            <a:r>
              <a:rPr sz="2400" dirty="0">
                <a:latin typeface="Times New Roman"/>
                <a:cs typeface="Times New Roman"/>
              </a:rPr>
              <a:t>grid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electricity</a:t>
            </a:r>
            <a:r>
              <a:rPr lang="en-IN" sz="2400" dirty="0">
                <a:latin typeface="Times New Roman"/>
                <a:cs typeface="Times New Roman"/>
              </a:rPr>
              <a:t>, now it is 3.6%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3700" dirty="0">
              <a:latin typeface="Times New Roman"/>
              <a:cs typeface="Times New Roman"/>
            </a:endParaRPr>
          </a:p>
          <a:p>
            <a:pPr marL="354965" marR="86995" indent="-342900">
              <a:lnSpc>
                <a:spcPct val="100800"/>
              </a:lnSpc>
              <a:buChar char="•"/>
              <a:tabLst>
                <a:tab pos="354965" algn="l"/>
                <a:tab pos="355600" algn="l"/>
                <a:tab pos="1964689" algn="l"/>
                <a:tab pos="3096895" algn="l"/>
                <a:tab pos="3845560" algn="l"/>
                <a:tab pos="4257040" algn="l"/>
                <a:tab pos="5040630" algn="l"/>
                <a:tab pos="6240145" algn="l"/>
                <a:tab pos="7413625" algn="l"/>
                <a:tab pos="8271509" algn="l"/>
                <a:tab pos="8991600" algn="l"/>
                <a:tab pos="9777730" algn="l"/>
              </a:tabLst>
            </a:pPr>
            <a:r>
              <a:rPr sz="2400" spc="-5" dirty="0">
                <a:latin typeface="Times New Roman"/>
                <a:cs typeface="Times New Roman"/>
              </a:rPr>
              <a:t>Ge</a:t>
            </a:r>
            <a:r>
              <a:rPr sz="2400" spc="-2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he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	E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4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15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:	</a:t>
            </a:r>
            <a:r>
              <a:rPr sz="2400" spc="-25" dirty="0"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ea</a:t>
            </a:r>
            <a:r>
              <a:rPr sz="2400" dirty="0">
                <a:latin typeface="Times New Roman"/>
                <a:cs typeface="Times New Roman"/>
              </a:rPr>
              <a:t>t	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	</a:t>
            </a:r>
            <a:r>
              <a:rPr sz="2400" spc="-10" dirty="0">
                <a:latin typeface="Times New Roman"/>
                <a:cs typeface="Times New Roman"/>
              </a:rPr>
              <a:t>ea</a:t>
            </a:r>
            <a:r>
              <a:rPr sz="2400" dirty="0">
                <a:latin typeface="Times New Roman"/>
                <a:cs typeface="Times New Roman"/>
              </a:rPr>
              <a:t>rth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rou</a:t>
            </a:r>
            <a:r>
              <a:rPr sz="2400" spc="-2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d	</a:t>
            </a:r>
            <a:r>
              <a:rPr sz="2400" spc="-15" dirty="0">
                <a:latin typeface="Times New Roman"/>
                <a:cs typeface="Times New Roman"/>
              </a:rPr>
              <a:t>4</a:t>
            </a:r>
            <a:r>
              <a:rPr sz="2400" dirty="0">
                <a:latin typeface="Times New Roman"/>
                <a:cs typeface="Times New Roman"/>
              </a:rPr>
              <a:t>600km	d</a:t>
            </a:r>
            <a:r>
              <a:rPr sz="2400" spc="5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wn</a:t>
            </a:r>
            <a:r>
              <a:rPr sz="2400" dirty="0">
                <a:latin typeface="Times New Roman"/>
                <a:cs typeface="Times New Roman"/>
              </a:rPr>
              <a:t>	with	50</a:t>
            </a:r>
            <a:r>
              <a:rPr sz="2400" spc="-15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0	degree  </a:t>
            </a:r>
            <a:r>
              <a:rPr sz="2400" spc="-5" dirty="0">
                <a:latin typeface="Times New Roman"/>
                <a:cs typeface="Times New Roman"/>
              </a:rPr>
              <a:t>temperature</a:t>
            </a:r>
            <a:r>
              <a:rPr lang="en-IN" sz="2400" spc="-5" dirty="0">
                <a:latin typeface="Times New Roman"/>
                <a:cs typeface="Times New Roman"/>
              </a:rPr>
              <a:t>, estimated energy is 10000MW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385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80000"/>
              </a:lnSpc>
              <a:buChar char="•"/>
              <a:tabLst>
                <a:tab pos="354965" algn="l"/>
                <a:tab pos="355600" algn="l"/>
                <a:tab pos="928369" algn="l"/>
                <a:tab pos="2016760" algn="l"/>
                <a:tab pos="2252980" algn="l"/>
                <a:tab pos="3020695" algn="l"/>
                <a:tab pos="3742054" algn="l"/>
                <a:tab pos="4586605" algn="l"/>
                <a:tab pos="5920105" algn="l"/>
                <a:tab pos="6677659" algn="l"/>
                <a:tab pos="7401559" algn="l"/>
                <a:tab pos="8613140" algn="l"/>
                <a:tab pos="9378315" algn="l"/>
                <a:tab pos="9765665" algn="l"/>
              </a:tabLst>
            </a:pPr>
            <a:r>
              <a:rPr sz="2400" dirty="0">
                <a:latin typeface="Times New Roman"/>
                <a:cs typeface="Times New Roman"/>
              </a:rPr>
              <a:t>Bio	E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:	E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45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y	f</a:t>
            </a:r>
            <a:r>
              <a:rPr sz="2400" spc="-15" dirty="0">
                <a:latin typeface="Times New Roman"/>
                <a:cs typeface="Times New Roman"/>
              </a:rPr>
              <a:t>ro</a:t>
            </a:r>
            <a:r>
              <a:rPr sz="2400" dirty="0">
                <a:latin typeface="Times New Roman"/>
                <a:cs typeface="Times New Roman"/>
              </a:rPr>
              <a:t>m	l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ing	o</a:t>
            </a:r>
            <a:r>
              <a:rPr sz="2400" spc="-6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	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-	fu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ls</a:t>
            </a:r>
            <a:r>
              <a:rPr sz="2400" dirty="0">
                <a:latin typeface="Times New Roman"/>
                <a:cs typeface="Times New Roman"/>
              </a:rPr>
              <a:t>	p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ov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ed	</a:t>
            </a:r>
            <a:r>
              <a:rPr sz="2400" spc="-10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15" dirty="0">
                <a:latin typeface="Times New Roman"/>
                <a:cs typeface="Times New Roman"/>
              </a:rPr>
              <a:t>7</a:t>
            </a:r>
            <a:r>
              <a:rPr sz="2400" dirty="0">
                <a:latin typeface="Times New Roman"/>
                <a:cs typeface="Times New Roman"/>
              </a:rPr>
              <a:t>%	of	</a:t>
            </a:r>
            <a:r>
              <a:rPr sz="2400" spc="-20" dirty="0">
                <a:latin typeface="Times New Roman"/>
                <a:cs typeface="Times New Roman"/>
              </a:rPr>
              <a:t>w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ld</a:t>
            </a:r>
            <a:r>
              <a:rPr sz="2400" spc="-140" dirty="0">
                <a:latin typeface="Times New Roman"/>
                <a:cs typeface="Times New Roman"/>
              </a:rPr>
              <a:t>’</a:t>
            </a:r>
            <a:r>
              <a:rPr sz="2400" dirty="0">
                <a:latin typeface="Times New Roman"/>
                <a:cs typeface="Times New Roman"/>
              </a:rPr>
              <a:t>s  </a:t>
            </a:r>
            <a:r>
              <a:rPr sz="2400" spc="-5" dirty="0">
                <a:latin typeface="Times New Roman"/>
                <a:cs typeface="Times New Roman"/>
              </a:rPr>
              <a:t>transport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fuels	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2010</a:t>
            </a:r>
            <a:r>
              <a:rPr lang="en-IN" sz="2400" dirty="0">
                <a:latin typeface="Times New Roman"/>
                <a:cs typeface="Times New Roman"/>
              </a:rPr>
              <a:t>,,,now it is 32%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7770" y="70484"/>
            <a:ext cx="23094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Fuel</a:t>
            </a:r>
            <a:r>
              <a:rPr spc="-80" dirty="0"/>
              <a:t> </a:t>
            </a:r>
            <a:r>
              <a:rPr dirty="0"/>
              <a:t>Cells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19757"/>
            <a:ext cx="10589260" cy="2458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Hydrogen Fuel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Cell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100"/>
              </a:lnSpc>
            </a:pPr>
            <a:r>
              <a:rPr sz="2800" spc="-5" dirty="0">
                <a:latin typeface="Times New Roman"/>
                <a:cs typeface="Times New Roman"/>
              </a:rPr>
              <a:t>A fuel cell combines hydrogen and oxygen to produce </a:t>
            </a:r>
            <a:r>
              <a:rPr sz="2800" spc="-20" dirty="0">
                <a:latin typeface="Times New Roman"/>
                <a:cs typeface="Times New Roman"/>
              </a:rPr>
              <a:t>electricity, </a:t>
            </a:r>
            <a:r>
              <a:rPr sz="2800" spc="-5" dirty="0">
                <a:latin typeface="Times New Roman"/>
                <a:cs typeface="Times New Roman"/>
              </a:rPr>
              <a:t>heat,  and </a:t>
            </a:r>
            <a:r>
              <a:rPr sz="2800" spc="-30" dirty="0">
                <a:latin typeface="Times New Roman"/>
                <a:cs typeface="Times New Roman"/>
              </a:rPr>
              <a:t>water. </a:t>
            </a:r>
            <a:r>
              <a:rPr sz="2800" dirty="0">
                <a:latin typeface="Times New Roman"/>
                <a:cs typeface="Times New Roman"/>
              </a:rPr>
              <a:t>Fuel </a:t>
            </a:r>
            <a:r>
              <a:rPr sz="2800" spc="-5" dirty="0">
                <a:latin typeface="Times New Roman"/>
                <a:cs typeface="Times New Roman"/>
              </a:rPr>
              <a:t>cells are </a:t>
            </a:r>
            <a:r>
              <a:rPr sz="2800" dirty="0">
                <a:latin typeface="Times New Roman"/>
                <a:cs typeface="Times New Roman"/>
              </a:rPr>
              <a:t>often </a:t>
            </a:r>
            <a:r>
              <a:rPr sz="2800" spc="-5" dirty="0">
                <a:latin typeface="Times New Roman"/>
                <a:cs typeface="Times New Roman"/>
              </a:rPr>
              <a:t>compared to batteries. Both convert the  </a:t>
            </a:r>
            <a:r>
              <a:rPr sz="2800" spc="-15" dirty="0">
                <a:latin typeface="Times New Roman"/>
                <a:cs typeface="Times New Roman"/>
              </a:rPr>
              <a:t>energy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produced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by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chemical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reaction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into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usable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electric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power.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3597" y="70484"/>
            <a:ext cx="35394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Nuclear</a:t>
            </a:r>
            <a:r>
              <a:rPr spc="-80" dirty="0"/>
              <a:t> </a:t>
            </a:r>
            <a:r>
              <a:rPr spc="-15" dirty="0"/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34947"/>
            <a:ext cx="9116060" cy="10502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5" dirty="0">
                <a:latin typeface="Times New Roman"/>
                <a:cs typeface="Times New Roman"/>
              </a:rPr>
              <a:t>Nuclear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Energy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Nuclear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5" dirty="0">
                <a:latin typeface="Times New Roman"/>
                <a:cs typeface="Times New Roman"/>
              </a:rPr>
              <a:t>energy </a:t>
            </a:r>
            <a:r>
              <a:rPr sz="2800" spc="-5" dirty="0">
                <a:latin typeface="Times New Roman"/>
                <a:cs typeface="Times New Roman"/>
              </a:rPr>
              <a:t>in the nucleus, or core, of an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atom.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2961" y="446278"/>
            <a:ext cx="863854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25" dirty="0">
                <a:latin typeface="Times New Roman"/>
                <a:cs typeface="Times New Roman"/>
              </a:rPr>
              <a:t>ENVIRONMENTAL </a:t>
            </a:r>
            <a:r>
              <a:rPr sz="3400" b="1" spc="-50" dirty="0">
                <a:latin typeface="Times New Roman"/>
                <a:cs typeface="Times New Roman"/>
              </a:rPr>
              <a:t>IMPACT</a:t>
            </a:r>
            <a:r>
              <a:rPr sz="3400" b="1" spc="-545" dirty="0">
                <a:latin typeface="Times New Roman"/>
                <a:cs typeface="Times New Roman"/>
              </a:rPr>
              <a:t> </a:t>
            </a:r>
            <a:r>
              <a:rPr sz="3400" b="1" spc="-5" dirty="0">
                <a:latin typeface="Times New Roman"/>
                <a:cs typeface="Times New Roman"/>
              </a:rPr>
              <a:t>ASSESSMENT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120" y="1891665"/>
            <a:ext cx="11526520" cy="242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3798570" algn="l"/>
                <a:tab pos="7767320" algn="l"/>
              </a:tabLst>
            </a:pPr>
            <a:r>
              <a:rPr sz="2400" spc="-10" dirty="0">
                <a:latin typeface="Times New Roman"/>
                <a:cs typeface="Times New Roman"/>
              </a:rPr>
              <a:t>Environmental  Impact  </a:t>
            </a:r>
            <a:r>
              <a:rPr sz="2400" spc="-15" dirty="0">
                <a:latin typeface="Times New Roman"/>
                <a:cs typeface="Times New Roman"/>
              </a:rPr>
              <a:t>Assessment  </a:t>
            </a:r>
            <a:r>
              <a:rPr sz="2400" spc="-5" dirty="0">
                <a:latin typeface="Times New Roman"/>
                <a:cs typeface="Times New Roman"/>
              </a:rPr>
              <a:t>(EIA) </a:t>
            </a:r>
            <a:r>
              <a:rPr sz="2400" dirty="0">
                <a:latin typeface="Times New Roman"/>
                <a:cs typeface="Times New Roman"/>
              </a:rPr>
              <a:t>is 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which	</a:t>
            </a:r>
            <a:r>
              <a:rPr sz="2400" spc="-5" dirty="0">
                <a:latin typeface="Times New Roman"/>
                <a:cs typeface="Times New Roman"/>
              </a:rPr>
              <a:t>ensures that all </a:t>
            </a:r>
            <a:r>
              <a:rPr sz="2400" spc="-10" dirty="0">
                <a:latin typeface="Times New Roman"/>
                <a:cs typeface="Times New Roman"/>
              </a:rPr>
              <a:t>environmental  </a:t>
            </a:r>
            <a:r>
              <a:rPr sz="2400" spc="-5" dirty="0">
                <a:latin typeface="Times New Roman"/>
                <a:cs typeface="Times New Roman"/>
              </a:rPr>
              <a:t>matters </a:t>
            </a:r>
            <a:r>
              <a:rPr sz="2400" dirty="0">
                <a:latin typeface="Times New Roman"/>
                <a:cs typeface="Times New Roman"/>
              </a:rPr>
              <a:t>are taken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account	</a:t>
            </a:r>
            <a:r>
              <a:rPr sz="2400" dirty="0">
                <a:latin typeface="Times New Roman"/>
                <a:cs typeface="Times New Roman"/>
              </a:rPr>
              <a:t>quite early in the </a:t>
            </a:r>
            <a:r>
              <a:rPr sz="2400" spc="-5" dirty="0">
                <a:latin typeface="Times New Roman"/>
                <a:cs typeface="Times New Roman"/>
              </a:rPr>
              <a:t>project at planning process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itself.</a:t>
            </a:r>
            <a:endParaRPr sz="2400">
              <a:latin typeface="Times New Roman"/>
              <a:cs typeface="Times New Roman"/>
            </a:endParaRPr>
          </a:p>
          <a:p>
            <a:pPr marL="12700" marR="231140">
              <a:lnSpc>
                <a:spcPct val="173900"/>
              </a:lnSpc>
              <a:spcBef>
                <a:spcPts val="220"/>
              </a:spcBef>
              <a:tabLst>
                <a:tab pos="365760" algn="l"/>
                <a:tab pos="1156970" algn="l"/>
                <a:tab pos="1798320" algn="l"/>
                <a:tab pos="3598545" algn="l"/>
                <a:tab pos="4156710" algn="l"/>
                <a:tab pos="4865370" algn="l"/>
                <a:tab pos="6125845" algn="l"/>
                <a:tab pos="6731000" algn="l"/>
                <a:tab pos="8246109" algn="l"/>
                <a:tab pos="10166350" algn="l"/>
                <a:tab pos="10722610" algn="l"/>
              </a:tabLst>
            </a:pP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	t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k</a:t>
            </a:r>
            <a:r>
              <a:rPr sz="2400" spc="-5" dirty="0">
                <a:latin typeface="Times New Roman"/>
                <a:cs typeface="Times New Roman"/>
              </a:rPr>
              <a:t>es</a:t>
            </a:r>
            <a:r>
              <a:rPr sz="2400" dirty="0">
                <a:latin typeface="Times New Roman"/>
                <a:cs typeface="Times New Roman"/>
              </a:rPr>
              <a:t>	i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to	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on	n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t	o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ly	t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	ec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spc="-15" dirty="0">
                <a:latin typeface="Times New Roman"/>
                <a:cs typeface="Times New Roman"/>
              </a:rPr>
              <a:t>no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ic	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de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ons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ut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ls</a:t>
            </a:r>
            <a:r>
              <a:rPr sz="2400" spc="-2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,  </a:t>
            </a:r>
            <a:r>
              <a:rPr sz="2400" spc="-5" dirty="0">
                <a:latin typeface="Times New Roman"/>
                <a:cs typeface="Times New Roman"/>
              </a:rPr>
              <a:t>traditional aspects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impact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	local people, biodiversity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38510" y="0"/>
            <a:ext cx="965348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09497" y="1473834"/>
            <a:ext cx="682879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43610" algn="l"/>
                <a:tab pos="2176780" algn="l"/>
                <a:tab pos="2606675" algn="l"/>
                <a:tab pos="3697604" algn="l"/>
                <a:tab pos="4132579" algn="l"/>
                <a:tab pos="5452110" algn="l"/>
              </a:tabLst>
            </a:pPr>
            <a:r>
              <a:rPr sz="2600" spc="-195" dirty="0">
                <a:latin typeface="Times New Roman"/>
                <a:cs typeface="Times New Roman"/>
              </a:rPr>
              <a:t>EIA</a:t>
            </a:r>
            <a:r>
              <a:rPr sz="2600" spc="21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is	</a:t>
            </a:r>
            <a:r>
              <a:rPr sz="2600" spc="-65" dirty="0">
                <a:latin typeface="Times New Roman"/>
                <a:cs typeface="Times New Roman"/>
              </a:rPr>
              <a:t>intended	</a:t>
            </a:r>
            <a:r>
              <a:rPr sz="2600" spc="10" dirty="0">
                <a:latin typeface="Times New Roman"/>
                <a:cs typeface="Times New Roman"/>
              </a:rPr>
              <a:t>to	</a:t>
            </a:r>
            <a:r>
              <a:rPr sz="2600" spc="-65" dirty="0">
                <a:latin typeface="Times New Roman"/>
                <a:cs typeface="Times New Roman"/>
              </a:rPr>
              <a:t>prevent	</a:t>
            </a:r>
            <a:r>
              <a:rPr sz="2600" spc="-10" dirty="0">
                <a:latin typeface="Times New Roman"/>
                <a:cs typeface="Times New Roman"/>
              </a:rPr>
              <a:t>or	</a:t>
            </a:r>
            <a:r>
              <a:rPr sz="2600" spc="-80" dirty="0">
                <a:latin typeface="Times New Roman"/>
                <a:cs typeface="Times New Roman"/>
              </a:rPr>
              <a:t>minimize	</a:t>
            </a:r>
            <a:r>
              <a:rPr sz="2600" spc="-40" dirty="0">
                <a:latin typeface="Times New Roman"/>
                <a:cs typeface="Times New Roman"/>
              </a:rPr>
              <a:t>potentially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8133" y="1473834"/>
            <a:ext cx="28505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2669" algn="l"/>
              </a:tabLst>
            </a:pPr>
            <a:r>
              <a:rPr sz="2600" spc="-145" dirty="0">
                <a:latin typeface="Times New Roman"/>
                <a:cs typeface="Times New Roman"/>
              </a:rPr>
              <a:t>adverse	</a:t>
            </a:r>
            <a:r>
              <a:rPr sz="2600" spc="-75" dirty="0">
                <a:latin typeface="Times New Roman"/>
                <a:cs typeface="Times New Roman"/>
              </a:rPr>
              <a:t>environmental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2197" y="4062729"/>
            <a:ext cx="292608" cy="243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22197" y="4673853"/>
            <a:ext cx="295656" cy="243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22197" y="5286451"/>
            <a:ext cx="304800" cy="2441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09497" y="1870938"/>
            <a:ext cx="9985375" cy="371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3326129" algn="l"/>
                <a:tab pos="9529445" algn="l"/>
              </a:tabLst>
            </a:pPr>
            <a:r>
              <a:rPr sz="2600" spc="-114" dirty="0">
                <a:latin typeface="Times New Roman"/>
                <a:cs typeface="Times New Roman"/>
              </a:rPr>
              <a:t>i</a:t>
            </a:r>
            <a:r>
              <a:rPr sz="2600" spc="-130" dirty="0">
                <a:latin typeface="Times New Roman"/>
                <a:cs typeface="Times New Roman"/>
              </a:rPr>
              <a:t>m</a:t>
            </a:r>
            <a:r>
              <a:rPr sz="2600" spc="-114" dirty="0">
                <a:latin typeface="Times New Roman"/>
                <a:cs typeface="Times New Roman"/>
              </a:rPr>
              <a:t>pac</a:t>
            </a:r>
            <a:r>
              <a:rPr sz="2600" spc="-12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-155" dirty="0">
                <a:latin typeface="Times New Roman"/>
                <a:cs typeface="Times New Roman"/>
              </a:rPr>
              <a:t>nh</a:t>
            </a:r>
            <a:r>
              <a:rPr sz="2600" spc="-175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n</a:t>
            </a:r>
            <a:r>
              <a:rPr sz="2600" spc="-16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e	</a:t>
            </a:r>
            <a:r>
              <a:rPr sz="2600" spc="-80" dirty="0">
                <a:latin typeface="Times New Roman"/>
                <a:cs typeface="Times New Roman"/>
              </a:rPr>
              <a:t>ov</a:t>
            </a:r>
            <a:r>
              <a:rPr sz="2600" spc="-90" dirty="0">
                <a:latin typeface="Times New Roman"/>
                <a:cs typeface="Times New Roman"/>
              </a:rPr>
              <a:t>eral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qu</a:t>
            </a:r>
            <a:r>
              <a:rPr sz="2600" spc="-55" dirty="0">
                <a:latin typeface="Times New Roman"/>
                <a:cs typeface="Times New Roman"/>
              </a:rPr>
              <a:t>alit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2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f </a:t>
            </a:r>
            <a:r>
              <a:rPr sz="2600" spc="-3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p</a:t>
            </a:r>
            <a:r>
              <a:rPr sz="2600" spc="-65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spc="-55" dirty="0">
                <a:latin typeface="Times New Roman"/>
                <a:cs typeface="Times New Roman"/>
              </a:rPr>
              <a:t>ject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Times New Roman"/>
                <a:cs typeface="Times New Roman"/>
              </a:rPr>
              <a:t>T</a:t>
            </a:r>
            <a:r>
              <a:rPr sz="2600" spc="-21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m</a:t>
            </a:r>
            <a:r>
              <a:rPr sz="2600" spc="-100" dirty="0">
                <a:latin typeface="Times New Roman"/>
                <a:cs typeface="Times New Roman"/>
              </a:rPr>
              <a:t>a</a:t>
            </a:r>
            <a:r>
              <a:rPr sz="2600" spc="-114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b</a:t>
            </a:r>
            <a:r>
              <a:rPr sz="2600" spc="-90" dirty="0">
                <a:latin typeface="Times New Roman"/>
                <a:cs typeface="Times New Roman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n</a:t>
            </a:r>
            <a:r>
              <a:rPr sz="2600" spc="-90" dirty="0">
                <a:latin typeface="Times New Roman"/>
                <a:cs typeface="Times New Roman"/>
              </a:rPr>
              <a:t>ef</a:t>
            </a:r>
            <a:r>
              <a:rPr sz="2600" spc="-80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s	</a:t>
            </a:r>
            <a:r>
              <a:rPr sz="2600" spc="-140" dirty="0">
                <a:latin typeface="Times New Roman"/>
                <a:cs typeface="Times New Roman"/>
              </a:rPr>
              <a:t>an</a:t>
            </a:r>
            <a:r>
              <a:rPr sz="2600" dirty="0">
                <a:latin typeface="Times New Roman"/>
                <a:cs typeface="Times New Roman"/>
              </a:rPr>
              <a:t>d  </a:t>
            </a:r>
            <a:r>
              <a:rPr sz="2600" spc="-150" dirty="0">
                <a:latin typeface="Times New Roman"/>
                <a:cs typeface="Times New Roman"/>
              </a:rPr>
              <a:t>advantages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29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EIAare: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 marL="160020" marR="5455285" indent="-1905">
              <a:lnSpc>
                <a:spcPct val="154500"/>
              </a:lnSpc>
              <a:spcBef>
                <a:spcPts val="1864"/>
              </a:spcBef>
            </a:pPr>
            <a:r>
              <a:rPr sz="2600" spc="-155" dirty="0">
                <a:latin typeface="Times New Roman"/>
                <a:cs typeface="Times New Roman"/>
              </a:rPr>
              <a:t>Lower</a:t>
            </a:r>
            <a:r>
              <a:rPr sz="2600" spc="-409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project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costs</a:t>
            </a:r>
            <a:r>
              <a:rPr sz="2600" spc="-33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in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thelong-term  </a:t>
            </a:r>
            <a:r>
              <a:rPr sz="2600" spc="-165" dirty="0">
                <a:latin typeface="Times New Roman"/>
                <a:cs typeface="Times New Roman"/>
              </a:rPr>
              <a:t>Increased </a:t>
            </a:r>
            <a:r>
              <a:rPr sz="2600" spc="-45" dirty="0">
                <a:latin typeface="Times New Roman"/>
                <a:cs typeface="Times New Roman"/>
              </a:rPr>
              <a:t>project </a:t>
            </a:r>
            <a:r>
              <a:rPr sz="2600" spc="-145" dirty="0">
                <a:latin typeface="Times New Roman"/>
                <a:cs typeface="Times New Roman"/>
              </a:rPr>
              <a:t>acceptance  </a:t>
            </a:r>
            <a:r>
              <a:rPr sz="2600" spc="-130" dirty="0">
                <a:latin typeface="Times New Roman"/>
                <a:cs typeface="Times New Roman"/>
              </a:rPr>
              <a:t>Improved </a:t>
            </a:r>
            <a:r>
              <a:rPr sz="2600" spc="-45" dirty="0">
                <a:latin typeface="Times New Roman"/>
                <a:cs typeface="Times New Roman"/>
              </a:rPr>
              <a:t>project</a:t>
            </a:r>
            <a:r>
              <a:rPr sz="2600" spc="-39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design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871084" y="217423"/>
            <a:ext cx="21697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latin typeface="Times New Roman"/>
                <a:cs typeface="Times New Roman"/>
              </a:rPr>
              <a:t>WHY</a:t>
            </a:r>
            <a:r>
              <a:rPr sz="3400" b="1" spc="-275" dirty="0">
                <a:latin typeface="Times New Roman"/>
                <a:cs typeface="Times New Roman"/>
              </a:rPr>
              <a:t> </a:t>
            </a:r>
            <a:r>
              <a:rPr sz="3400" b="1" spc="-5" dirty="0">
                <a:latin typeface="Times New Roman"/>
                <a:cs typeface="Times New Roman"/>
              </a:rPr>
              <a:t>EIA?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8120" y="1312290"/>
            <a:ext cx="10532110" cy="398891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0800" marR="541020" algn="just">
              <a:lnSpc>
                <a:spcPts val="2590"/>
              </a:lnSpc>
              <a:spcBef>
                <a:spcPts val="425"/>
              </a:spcBef>
              <a:tabLst>
                <a:tab pos="955675" algn="l"/>
                <a:tab pos="1330960" algn="l"/>
                <a:tab pos="2478405" algn="l"/>
                <a:tab pos="3266440" algn="l"/>
                <a:tab pos="4389755" algn="l"/>
                <a:tab pos="5917565" algn="l"/>
                <a:tab pos="6848475" algn="l"/>
                <a:tab pos="8366759" algn="l"/>
                <a:tab pos="8791575" algn="l"/>
                <a:tab pos="9745980" algn="l"/>
              </a:tabLst>
            </a:pPr>
            <a:r>
              <a:rPr sz="2600" spc="-155" dirty="0">
                <a:latin typeface="Times New Roman"/>
                <a:cs typeface="Times New Roman"/>
              </a:rPr>
              <a:t>S</a:t>
            </a:r>
            <a:r>
              <a:rPr sz="2600" spc="-140" dirty="0">
                <a:latin typeface="Times New Roman"/>
                <a:cs typeface="Times New Roman"/>
              </a:rPr>
              <a:t>t</a:t>
            </a:r>
            <a:r>
              <a:rPr sz="2600" spc="-145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rt</a:t>
            </a:r>
            <a:r>
              <a:rPr sz="2600" spc="-14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	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	</a:t>
            </a:r>
            <a:r>
              <a:rPr sz="2600" spc="-120" dirty="0">
                <a:latin typeface="Times New Roman"/>
                <a:cs typeface="Times New Roman"/>
              </a:rPr>
              <a:t>19</a:t>
            </a:r>
            <a:r>
              <a:rPr sz="2600" spc="-110" dirty="0">
                <a:latin typeface="Times New Roman"/>
                <a:cs typeface="Times New Roman"/>
              </a:rPr>
              <a:t>7</a:t>
            </a:r>
            <a:r>
              <a:rPr sz="2600" spc="-120" dirty="0">
                <a:latin typeface="Times New Roman"/>
                <a:cs typeface="Times New Roman"/>
              </a:rPr>
              <a:t>6</a:t>
            </a:r>
            <a:r>
              <a:rPr sz="2600" spc="-105" dirty="0">
                <a:latin typeface="Times New Roman"/>
                <a:cs typeface="Times New Roman"/>
              </a:rPr>
              <a:t>-</a:t>
            </a:r>
            <a:r>
              <a:rPr sz="2600" spc="-120" dirty="0">
                <a:latin typeface="Times New Roman"/>
                <a:cs typeface="Times New Roman"/>
              </a:rPr>
              <a:t>7</a:t>
            </a:r>
            <a:r>
              <a:rPr sz="2600" spc="-110" dirty="0">
                <a:latin typeface="Times New Roman"/>
                <a:cs typeface="Times New Roman"/>
              </a:rPr>
              <a:t>7</a:t>
            </a:r>
            <a:r>
              <a:rPr sz="2600" dirty="0">
                <a:latin typeface="Times New Roman"/>
                <a:cs typeface="Times New Roman"/>
              </a:rPr>
              <a:t>,	</a:t>
            </a:r>
            <a:r>
              <a:rPr sz="2600" spc="-95" dirty="0">
                <a:latin typeface="Times New Roman"/>
                <a:cs typeface="Times New Roman"/>
              </a:rPr>
              <a:t>w</a:t>
            </a:r>
            <a:r>
              <a:rPr sz="2600" spc="-85" dirty="0">
                <a:latin typeface="Times New Roman"/>
                <a:cs typeface="Times New Roman"/>
              </a:rPr>
              <a:t>he</a:t>
            </a:r>
            <a:r>
              <a:rPr sz="2600" dirty="0">
                <a:latin typeface="Times New Roman"/>
                <a:cs typeface="Times New Roman"/>
              </a:rPr>
              <a:t>n	</a:t>
            </a:r>
            <a:r>
              <a:rPr sz="2600" spc="-140" dirty="0">
                <a:latin typeface="Times New Roman"/>
                <a:cs typeface="Times New Roman"/>
              </a:rPr>
              <a:t>P</a:t>
            </a:r>
            <a:r>
              <a:rPr sz="2600" spc="-130" dirty="0">
                <a:latin typeface="Times New Roman"/>
                <a:cs typeface="Times New Roman"/>
              </a:rPr>
              <a:t>la</a:t>
            </a:r>
            <a:r>
              <a:rPr sz="2600" spc="-135" dirty="0">
                <a:latin typeface="Times New Roman"/>
                <a:cs typeface="Times New Roman"/>
              </a:rPr>
              <a:t>nn</a:t>
            </a:r>
            <a:r>
              <a:rPr sz="2600" spc="-130" dirty="0">
                <a:latin typeface="Times New Roman"/>
                <a:cs typeface="Times New Roman"/>
              </a:rPr>
              <a:t>i</a:t>
            </a:r>
            <a:r>
              <a:rPr sz="2600" spc="-13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	</a:t>
            </a:r>
            <a:r>
              <a:rPr sz="2600" spc="-165" dirty="0">
                <a:latin typeface="Times New Roman"/>
                <a:cs typeface="Times New Roman"/>
              </a:rPr>
              <a:t>C</a:t>
            </a:r>
            <a:r>
              <a:rPr sz="2600" spc="-145" dirty="0">
                <a:latin typeface="Times New Roman"/>
                <a:cs typeface="Times New Roman"/>
              </a:rPr>
              <a:t>o</a:t>
            </a:r>
            <a:r>
              <a:rPr sz="2600" spc="-155" dirty="0">
                <a:latin typeface="Times New Roman"/>
                <a:cs typeface="Times New Roman"/>
              </a:rPr>
              <a:t>m</a:t>
            </a:r>
            <a:r>
              <a:rPr sz="2600" spc="-165" dirty="0">
                <a:latin typeface="Times New Roman"/>
                <a:cs typeface="Times New Roman"/>
              </a:rPr>
              <a:t>m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150" dirty="0">
                <a:latin typeface="Times New Roman"/>
                <a:cs typeface="Times New Roman"/>
              </a:rPr>
              <a:t>ss</a:t>
            </a:r>
            <a:r>
              <a:rPr sz="2600" spc="-140" dirty="0">
                <a:latin typeface="Times New Roman"/>
                <a:cs typeface="Times New Roman"/>
              </a:rPr>
              <a:t>i</a:t>
            </a:r>
            <a:r>
              <a:rPr sz="2600" spc="-14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	</a:t>
            </a:r>
            <a:r>
              <a:rPr sz="2600" spc="-170" dirty="0">
                <a:latin typeface="Times New Roman"/>
                <a:cs typeface="Times New Roman"/>
              </a:rPr>
              <a:t>a</a:t>
            </a:r>
            <a:r>
              <a:rPr sz="2600" spc="-185" dirty="0">
                <a:latin typeface="Times New Roman"/>
                <a:cs typeface="Times New Roman"/>
              </a:rPr>
              <a:t>s</a:t>
            </a:r>
            <a:r>
              <a:rPr sz="2600" spc="-170" dirty="0">
                <a:latin typeface="Times New Roman"/>
                <a:cs typeface="Times New Roman"/>
              </a:rPr>
              <a:t>ke</a:t>
            </a:r>
            <a:r>
              <a:rPr sz="2600" dirty="0">
                <a:latin typeface="Times New Roman"/>
                <a:cs typeface="Times New Roman"/>
              </a:rPr>
              <a:t>d	</a:t>
            </a:r>
            <a:r>
              <a:rPr sz="2600" spc="-85" dirty="0">
                <a:latin typeface="Times New Roman"/>
                <a:cs typeface="Times New Roman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p</a:t>
            </a:r>
            <a:r>
              <a:rPr sz="2600" spc="-70" dirty="0">
                <a:latin typeface="Times New Roman"/>
                <a:cs typeface="Times New Roman"/>
              </a:rPr>
              <a:t>ar</a:t>
            </a:r>
            <a:r>
              <a:rPr sz="2600" spc="-80" dirty="0">
                <a:latin typeface="Times New Roman"/>
                <a:cs typeface="Times New Roman"/>
              </a:rPr>
              <a:t>t</a:t>
            </a:r>
            <a:r>
              <a:rPr sz="2600" spc="-95" dirty="0">
                <a:latin typeface="Times New Roman"/>
                <a:cs typeface="Times New Roman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	of	</a:t>
            </a:r>
            <a:r>
              <a:rPr sz="2600" spc="-190" dirty="0">
                <a:latin typeface="Times New Roman"/>
                <a:cs typeface="Times New Roman"/>
              </a:rPr>
              <a:t>Sci</a:t>
            </a:r>
            <a:r>
              <a:rPr sz="2600" spc="-180" dirty="0">
                <a:latin typeface="Times New Roman"/>
                <a:cs typeface="Times New Roman"/>
              </a:rPr>
              <a:t>e</a:t>
            </a:r>
            <a:r>
              <a:rPr sz="2600" spc="-195" dirty="0">
                <a:latin typeface="Times New Roman"/>
                <a:cs typeface="Times New Roman"/>
              </a:rPr>
              <a:t>n</a:t>
            </a:r>
            <a:r>
              <a:rPr sz="2600" spc="-19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lang="en-IN" sz="26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&amp;  </a:t>
            </a:r>
            <a:r>
              <a:rPr sz="2600" spc="-140" dirty="0">
                <a:latin typeface="Times New Roman"/>
                <a:cs typeface="Times New Roman"/>
              </a:rPr>
              <a:t>Technology </a:t>
            </a:r>
            <a:r>
              <a:rPr sz="2600" spc="-60" dirty="0">
                <a:latin typeface="Times New Roman"/>
                <a:cs typeface="Times New Roman"/>
              </a:rPr>
              <a:t>toexamine </a:t>
            </a:r>
            <a:r>
              <a:rPr sz="2600" spc="-110" dirty="0">
                <a:latin typeface="Times New Roman"/>
                <a:cs typeface="Times New Roman"/>
              </a:rPr>
              <a:t>River </a:t>
            </a:r>
            <a:r>
              <a:rPr sz="2600" spc="-140" dirty="0">
                <a:latin typeface="Times New Roman"/>
                <a:cs typeface="Times New Roman"/>
              </a:rPr>
              <a:t>Valley </a:t>
            </a:r>
            <a:r>
              <a:rPr sz="2600" spc="-100" dirty="0">
                <a:latin typeface="Times New Roman"/>
                <a:cs typeface="Times New Roman"/>
              </a:rPr>
              <a:t>Projects </a:t>
            </a:r>
            <a:r>
              <a:rPr sz="2600" spc="-20" dirty="0">
                <a:latin typeface="Times New Roman"/>
                <a:cs typeface="Times New Roman"/>
              </a:rPr>
              <a:t>from</a:t>
            </a:r>
            <a:r>
              <a:rPr sz="2600" spc="-43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environmentalangle</a:t>
            </a:r>
            <a:endParaRPr sz="26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50800" marR="17780" algn="just">
              <a:lnSpc>
                <a:spcPts val="2600"/>
              </a:lnSpc>
            </a:pPr>
            <a:r>
              <a:rPr sz="2600" spc="-130" dirty="0">
                <a:latin typeface="Times New Roman"/>
                <a:cs typeface="Times New Roman"/>
              </a:rPr>
              <a:t>Till</a:t>
            </a:r>
            <a:r>
              <a:rPr sz="2600" spc="-26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1994,</a:t>
            </a:r>
            <a:r>
              <a:rPr sz="2600" spc="-23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Environmental</a:t>
            </a:r>
            <a:r>
              <a:rPr sz="2600" spc="-27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Clearance</a:t>
            </a:r>
            <a:r>
              <a:rPr sz="2600" spc="-32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from</a:t>
            </a:r>
            <a:r>
              <a:rPr sz="2600" spc="-254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Central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Government</a:t>
            </a:r>
            <a:r>
              <a:rPr sz="2600" spc="-27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was</a:t>
            </a:r>
            <a:r>
              <a:rPr sz="2600" spc="-33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an</a:t>
            </a:r>
            <a:r>
              <a:rPr sz="2600" spc="-30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administrative</a:t>
            </a:r>
            <a:r>
              <a:rPr sz="2600" spc="-254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decision</a:t>
            </a:r>
            <a:r>
              <a:rPr sz="2600" spc="-32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which  </a:t>
            </a:r>
            <a:r>
              <a:rPr sz="2600" spc="-100" dirty="0">
                <a:latin typeface="Times New Roman"/>
                <a:cs typeface="Times New Roman"/>
              </a:rPr>
              <a:t>lacked </a:t>
            </a:r>
            <a:r>
              <a:rPr sz="2600" spc="-80" dirty="0">
                <a:latin typeface="Times New Roman"/>
                <a:cs typeface="Times New Roman"/>
              </a:rPr>
              <a:t>legislative</a:t>
            </a:r>
            <a:r>
              <a:rPr sz="2600" spc="-4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support.</a:t>
            </a:r>
            <a:endParaRPr sz="26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20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50800" marR="185420" algn="just">
              <a:lnSpc>
                <a:spcPct val="90300"/>
              </a:lnSpc>
            </a:pPr>
            <a:r>
              <a:rPr sz="2600" spc="-120" dirty="0">
                <a:latin typeface="Times New Roman"/>
                <a:cs typeface="Times New Roman"/>
              </a:rPr>
              <a:t>On </a:t>
            </a:r>
            <a:r>
              <a:rPr sz="2600" spc="-75" dirty="0">
                <a:latin typeface="Times New Roman"/>
                <a:cs typeface="Times New Roman"/>
              </a:rPr>
              <a:t>27</a:t>
            </a:r>
            <a:r>
              <a:rPr sz="2600" spc="-112" baseline="24305" dirty="0">
                <a:latin typeface="Times New Roman"/>
                <a:cs typeface="Times New Roman"/>
              </a:rPr>
              <a:t>th </a:t>
            </a:r>
            <a:r>
              <a:rPr sz="2600" spc="-200" dirty="0">
                <a:latin typeface="Times New Roman"/>
                <a:cs typeface="Times New Roman"/>
              </a:rPr>
              <a:t>January </a:t>
            </a:r>
            <a:r>
              <a:rPr sz="2600" spc="-100" dirty="0">
                <a:latin typeface="Times New Roman"/>
                <a:cs typeface="Times New Roman"/>
              </a:rPr>
              <a:t>1994, </a:t>
            </a:r>
            <a:r>
              <a:rPr sz="2600" spc="-80" dirty="0">
                <a:latin typeface="Times New Roman"/>
                <a:cs typeface="Times New Roman"/>
              </a:rPr>
              <a:t>Union </a:t>
            </a:r>
            <a:r>
              <a:rPr sz="2600" spc="-30" dirty="0">
                <a:latin typeface="Times New Roman"/>
                <a:cs typeface="Times New Roman"/>
              </a:rPr>
              <a:t>Ministry </a:t>
            </a:r>
            <a:r>
              <a:rPr sz="2600" spc="5" dirty="0">
                <a:latin typeface="Times New Roman"/>
                <a:cs typeface="Times New Roman"/>
              </a:rPr>
              <a:t>of </a:t>
            </a:r>
            <a:r>
              <a:rPr sz="2600" spc="-90" dirty="0">
                <a:latin typeface="Times New Roman"/>
                <a:cs typeface="Times New Roman"/>
              </a:rPr>
              <a:t>Environment </a:t>
            </a:r>
            <a:r>
              <a:rPr sz="2600" dirty="0">
                <a:latin typeface="Times New Roman"/>
                <a:cs typeface="Times New Roman"/>
              </a:rPr>
              <a:t>&amp; </a:t>
            </a:r>
            <a:r>
              <a:rPr sz="2600" spc="-120" dirty="0">
                <a:latin typeface="Times New Roman"/>
                <a:cs typeface="Times New Roman"/>
              </a:rPr>
              <a:t>Forests, </a:t>
            </a:r>
            <a:r>
              <a:rPr sz="2600" spc="-170" dirty="0">
                <a:latin typeface="Times New Roman"/>
                <a:cs typeface="Times New Roman"/>
              </a:rPr>
              <a:t>GOI </a:t>
            </a:r>
            <a:r>
              <a:rPr sz="2600" spc="-60" dirty="0">
                <a:latin typeface="Times New Roman"/>
                <a:cs typeface="Times New Roman"/>
              </a:rPr>
              <a:t>under </a:t>
            </a:r>
            <a:r>
              <a:rPr sz="2600" spc="-90" dirty="0">
                <a:latin typeface="Times New Roman"/>
                <a:cs typeface="Times New Roman"/>
              </a:rPr>
              <a:t>Environment  </a:t>
            </a:r>
            <a:r>
              <a:rPr sz="2600" spc="-70" dirty="0">
                <a:latin typeface="Times New Roman"/>
                <a:cs typeface="Times New Roman"/>
              </a:rPr>
              <a:t>(Protection) Act </a:t>
            </a:r>
            <a:r>
              <a:rPr sz="2600" spc="-105" dirty="0">
                <a:latin typeface="Times New Roman"/>
                <a:cs typeface="Times New Roman"/>
              </a:rPr>
              <a:t>1986, </a:t>
            </a:r>
            <a:r>
              <a:rPr sz="2600" spc="-150" dirty="0">
                <a:latin typeface="Times New Roman"/>
                <a:cs typeface="Times New Roman"/>
              </a:rPr>
              <a:t>promulgated </a:t>
            </a:r>
            <a:r>
              <a:rPr sz="2600" spc="-120" dirty="0">
                <a:latin typeface="Times New Roman"/>
                <a:cs typeface="Times New Roman"/>
              </a:rPr>
              <a:t>EIAnotification </a:t>
            </a:r>
            <a:r>
              <a:rPr sz="2600" spc="-170" dirty="0">
                <a:latin typeface="Times New Roman"/>
                <a:cs typeface="Times New Roman"/>
              </a:rPr>
              <a:t>making </a:t>
            </a:r>
            <a:r>
              <a:rPr sz="2600" spc="-165" dirty="0">
                <a:latin typeface="Times New Roman"/>
                <a:cs typeface="Times New Roman"/>
              </a:rPr>
              <a:t>Environment </a:t>
            </a:r>
            <a:r>
              <a:rPr sz="2600" spc="-170" dirty="0">
                <a:latin typeface="Times New Roman"/>
                <a:cs typeface="Times New Roman"/>
              </a:rPr>
              <a:t>clearance </a:t>
            </a:r>
            <a:r>
              <a:rPr sz="2600" spc="-140" dirty="0">
                <a:latin typeface="Times New Roman"/>
                <a:cs typeface="Times New Roman"/>
              </a:rPr>
              <a:t>mandatory  </a:t>
            </a:r>
            <a:r>
              <a:rPr sz="2600" spc="-80" dirty="0">
                <a:latin typeface="Times New Roman"/>
                <a:cs typeface="Times New Roman"/>
              </a:rPr>
              <a:t>for</a:t>
            </a:r>
            <a:r>
              <a:rPr sz="2600" spc="-180" dirty="0">
                <a:latin typeface="Times New Roman"/>
                <a:cs typeface="Times New Roman"/>
              </a:rPr>
              <a:t> expansion</a:t>
            </a:r>
            <a:r>
              <a:rPr sz="2600" spc="-2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or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modernization</a:t>
            </a:r>
            <a:r>
              <a:rPr sz="2600" spc="-22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of</a:t>
            </a:r>
            <a:r>
              <a:rPr sz="2600" spc="34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any</a:t>
            </a:r>
            <a:r>
              <a:rPr sz="2600" spc="-2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activity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or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for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setting</a:t>
            </a:r>
            <a:r>
              <a:rPr sz="2600" spc="-22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up</a:t>
            </a:r>
            <a:r>
              <a:rPr sz="2600" spc="-2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new</a:t>
            </a:r>
            <a:r>
              <a:rPr sz="2600" spc="-22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projects</a:t>
            </a:r>
            <a:r>
              <a:rPr sz="2600" spc="-2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listed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in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Schedule</a:t>
            </a:r>
            <a:r>
              <a:rPr sz="2600" spc="-32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one  </a:t>
            </a:r>
            <a:r>
              <a:rPr sz="2600" spc="-55" dirty="0">
                <a:latin typeface="Times New Roman"/>
                <a:cs typeface="Times New Roman"/>
              </a:rPr>
              <a:t>of</a:t>
            </a:r>
            <a:r>
              <a:rPr sz="2600" spc="-24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the</a:t>
            </a:r>
            <a:r>
              <a:rPr sz="2600" spc="-21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notification,</a:t>
            </a:r>
            <a:r>
              <a:rPr sz="2600" spc="-27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which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have</a:t>
            </a:r>
            <a:r>
              <a:rPr sz="2600" spc="-2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been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amended</a:t>
            </a:r>
            <a:r>
              <a:rPr sz="2600" spc="-254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more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than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12times.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68982" y="0"/>
            <a:ext cx="442023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58465" algn="l"/>
                <a:tab pos="3952240" algn="l"/>
              </a:tabLst>
            </a:pPr>
            <a:r>
              <a:rPr sz="3400" b="1" spc="254" dirty="0">
                <a:latin typeface="Times New Roman"/>
                <a:cs typeface="Times New Roman"/>
              </a:rPr>
              <a:t>H</a:t>
            </a:r>
            <a:r>
              <a:rPr sz="3400" b="1" spc="245" dirty="0">
                <a:latin typeface="Times New Roman"/>
                <a:cs typeface="Times New Roman"/>
              </a:rPr>
              <a:t>I</a:t>
            </a:r>
            <a:r>
              <a:rPr sz="3400" b="1" spc="-310" dirty="0">
                <a:latin typeface="Times New Roman"/>
                <a:cs typeface="Times New Roman"/>
              </a:rPr>
              <a:t>S</a:t>
            </a:r>
            <a:r>
              <a:rPr sz="3400" b="1" spc="175" dirty="0">
                <a:latin typeface="Times New Roman"/>
                <a:cs typeface="Times New Roman"/>
              </a:rPr>
              <a:t>T</a:t>
            </a:r>
            <a:r>
              <a:rPr sz="3400" b="1" spc="260" dirty="0">
                <a:latin typeface="Times New Roman"/>
                <a:cs typeface="Times New Roman"/>
              </a:rPr>
              <a:t>O</a:t>
            </a:r>
            <a:r>
              <a:rPr sz="3400" b="1" spc="120" dirty="0">
                <a:latin typeface="Times New Roman"/>
                <a:cs typeface="Times New Roman"/>
              </a:rPr>
              <a:t>R</a:t>
            </a:r>
            <a:r>
              <a:rPr sz="3400" b="1" spc="-5" dirty="0">
                <a:latin typeface="Times New Roman"/>
                <a:cs typeface="Times New Roman"/>
              </a:rPr>
              <a:t>Y</a:t>
            </a:r>
            <a:r>
              <a:rPr sz="3400" b="1" spc="-185" dirty="0">
                <a:latin typeface="Times New Roman"/>
                <a:cs typeface="Times New Roman"/>
              </a:rPr>
              <a:t> </a:t>
            </a:r>
            <a:r>
              <a:rPr sz="3400" b="1" spc="-335" dirty="0">
                <a:latin typeface="Times New Roman"/>
                <a:cs typeface="Times New Roman"/>
              </a:rPr>
              <a:t>O</a:t>
            </a:r>
            <a:r>
              <a:rPr sz="3400" b="1" spc="-5" dirty="0">
                <a:latin typeface="Times New Roman"/>
                <a:cs typeface="Times New Roman"/>
              </a:rPr>
              <a:t>F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320" dirty="0">
                <a:latin typeface="Times New Roman"/>
                <a:cs typeface="Times New Roman"/>
              </a:rPr>
              <a:t>E</a:t>
            </a:r>
            <a:r>
              <a:rPr sz="3400" b="1" spc="135" dirty="0">
                <a:latin typeface="Times New Roman"/>
                <a:cs typeface="Times New Roman"/>
              </a:rPr>
              <a:t>I</a:t>
            </a:r>
            <a:r>
              <a:rPr sz="3400" b="1" spc="-5" dirty="0">
                <a:latin typeface="Times New Roman"/>
                <a:cs typeface="Times New Roman"/>
              </a:rPr>
              <a:t>A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5" dirty="0">
                <a:latin typeface="Times New Roman"/>
                <a:cs typeface="Times New Roman"/>
              </a:rPr>
              <a:t>IN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9444" y="0"/>
            <a:ext cx="121539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65" dirty="0">
                <a:latin typeface="Times New Roman"/>
                <a:cs typeface="Times New Roman"/>
              </a:rPr>
              <a:t>INDI</a:t>
            </a:r>
            <a:r>
              <a:rPr sz="3400" b="1" spc="-5" dirty="0">
                <a:latin typeface="Times New Roman"/>
                <a:cs typeface="Times New Roman"/>
              </a:rPr>
              <a:t>A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314303" y="6257645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4609" y="901700"/>
            <a:ext cx="5706491" cy="595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71847" y="0"/>
            <a:ext cx="29286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PROJECTS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UNDERGOING</a:t>
            </a:r>
            <a:r>
              <a:rPr sz="2000" u="heavy" spc="-204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EIA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90690" y="755648"/>
            <a:ext cx="5706491" cy="59855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799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212" y="73660"/>
              <a:ext cx="5835269" cy="328549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95720" y="3498850"/>
              <a:ext cx="5706491" cy="31940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95720" y="73660"/>
              <a:ext cx="5706491" cy="32854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212" y="3498850"/>
              <a:ext cx="5909691" cy="32131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52FEF8-4C2B-4B41-B7CF-44302888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673" y="33475"/>
            <a:ext cx="7806653" cy="682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333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0742" y="0"/>
            <a:ext cx="79228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latin typeface="Times New Roman"/>
                <a:cs typeface="Times New Roman"/>
              </a:rPr>
              <a:t>Flow </a:t>
            </a:r>
            <a:r>
              <a:rPr sz="3400" b="1" spc="-10" dirty="0">
                <a:latin typeface="Times New Roman"/>
                <a:cs typeface="Times New Roman"/>
              </a:rPr>
              <a:t>chart </a:t>
            </a:r>
            <a:r>
              <a:rPr sz="3400" b="1" spc="-15" dirty="0">
                <a:latin typeface="Times New Roman"/>
                <a:cs typeface="Times New Roman"/>
              </a:rPr>
              <a:t>representing </a:t>
            </a:r>
            <a:r>
              <a:rPr sz="3400" b="1" spc="-5" dirty="0">
                <a:latin typeface="Times New Roman"/>
                <a:cs typeface="Times New Roman"/>
              </a:rPr>
              <a:t>the </a:t>
            </a:r>
            <a:r>
              <a:rPr sz="3400" b="1" spc="-25" dirty="0">
                <a:latin typeface="Times New Roman"/>
                <a:cs typeface="Times New Roman"/>
              </a:rPr>
              <a:t>process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45" dirty="0">
                <a:latin typeface="Times New Roman"/>
                <a:cs typeface="Times New Roman"/>
              </a:rPr>
              <a:t> </a:t>
            </a:r>
            <a:r>
              <a:rPr sz="3400" b="1" spc="-5" dirty="0">
                <a:latin typeface="Times New Roman"/>
                <a:cs typeface="Times New Roman"/>
              </a:rPr>
              <a:t>EIA</a:t>
            </a:r>
            <a:endParaRPr sz="3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850" y="1289050"/>
            <a:ext cx="1978660" cy="1008380"/>
            <a:chOff x="704850" y="1289050"/>
            <a:chExt cx="1978660" cy="1008380"/>
          </a:xfrm>
        </p:grpSpPr>
        <p:sp>
          <p:nvSpPr>
            <p:cNvPr id="5" name="object 5"/>
            <p:cNvSpPr/>
            <p:nvPr/>
          </p:nvSpPr>
          <p:spPr>
            <a:xfrm>
              <a:off x="711200" y="1295400"/>
              <a:ext cx="1965960" cy="995680"/>
            </a:xfrm>
            <a:custGeom>
              <a:avLst/>
              <a:gdLst/>
              <a:ahLst/>
              <a:cxnLst/>
              <a:rect l="l" t="t" r="r" b="b"/>
              <a:pathLst>
                <a:path w="1965960" h="995680">
                  <a:moveTo>
                    <a:pt x="983869" y="0"/>
                  </a:moveTo>
                  <a:lnTo>
                    <a:pt x="0" y="497839"/>
                  </a:lnTo>
                  <a:lnTo>
                    <a:pt x="983869" y="995679"/>
                  </a:lnTo>
                  <a:lnTo>
                    <a:pt x="1965960" y="497839"/>
                  </a:lnTo>
                  <a:lnTo>
                    <a:pt x="983869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200" y="1295400"/>
              <a:ext cx="1965960" cy="995680"/>
            </a:xfrm>
            <a:custGeom>
              <a:avLst/>
              <a:gdLst/>
              <a:ahLst/>
              <a:cxnLst/>
              <a:rect l="l" t="t" r="r" b="b"/>
              <a:pathLst>
                <a:path w="1965960" h="995680">
                  <a:moveTo>
                    <a:pt x="983869" y="0"/>
                  </a:moveTo>
                  <a:lnTo>
                    <a:pt x="1965960" y="497839"/>
                  </a:lnTo>
                  <a:lnTo>
                    <a:pt x="983869" y="995679"/>
                  </a:lnTo>
                  <a:lnTo>
                    <a:pt x="0" y="497839"/>
                  </a:lnTo>
                  <a:lnTo>
                    <a:pt x="983869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1200" y="1295400"/>
              <a:ext cx="1965960" cy="995680"/>
            </a:xfrm>
            <a:custGeom>
              <a:avLst/>
              <a:gdLst/>
              <a:ahLst/>
              <a:cxnLst/>
              <a:rect l="l" t="t" r="r" b="b"/>
              <a:pathLst>
                <a:path w="1965960" h="995680">
                  <a:moveTo>
                    <a:pt x="0" y="0"/>
                  </a:moveTo>
                  <a:lnTo>
                    <a:pt x="0" y="0"/>
                  </a:lnTo>
                </a:path>
                <a:path w="1965960" h="995680">
                  <a:moveTo>
                    <a:pt x="1965960" y="995679"/>
                  </a:moveTo>
                  <a:lnTo>
                    <a:pt x="1965960" y="995679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97102" y="1673098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Arial"/>
                <a:cs typeface="Arial"/>
              </a:rPr>
              <a:t>Screen</a:t>
            </a:r>
            <a:r>
              <a:rPr sz="1700" b="1" spc="-5" dirty="0">
                <a:latin typeface="Arial"/>
                <a:cs typeface="Arial"/>
              </a:rPr>
              <a:t>i</a:t>
            </a:r>
            <a:r>
              <a:rPr sz="1700" b="1" dirty="0">
                <a:latin typeface="Arial"/>
                <a:cs typeface="Arial"/>
              </a:rPr>
              <a:t>ng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69740" y="1446466"/>
            <a:ext cx="3186430" cy="696595"/>
            <a:chOff x="3769740" y="1446466"/>
            <a:chExt cx="3186430" cy="696595"/>
          </a:xfrm>
        </p:grpSpPr>
        <p:sp>
          <p:nvSpPr>
            <p:cNvPr id="10" name="object 10"/>
            <p:cNvSpPr/>
            <p:nvPr/>
          </p:nvSpPr>
          <p:spPr>
            <a:xfrm>
              <a:off x="3776090" y="1452879"/>
              <a:ext cx="3173730" cy="689610"/>
            </a:xfrm>
            <a:custGeom>
              <a:avLst/>
              <a:gdLst/>
              <a:ahLst/>
              <a:cxnLst/>
              <a:rect l="l" t="t" r="r" b="b"/>
              <a:pathLst>
                <a:path w="3173729" h="689610">
                  <a:moveTo>
                    <a:pt x="3173349" y="0"/>
                  </a:moveTo>
                  <a:lnTo>
                    <a:pt x="0" y="0"/>
                  </a:lnTo>
                  <a:lnTo>
                    <a:pt x="0" y="689610"/>
                  </a:lnTo>
                  <a:lnTo>
                    <a:pt x="3173349" y="689610"/>
                  </a:lnTo>
                  <a:lnTo>
                    <a:pt x="3173349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76090" y="1452816"/>
              <a:ext cx="3173730" cy="610870"/>
            </a:xfrm>
            <a:custGeom>
              <a:avLst/>
              <a:gdLst/>
              <a:ahLst/>
              <a:cxnLst/>
              <a:rect l="l" t="t" r="r" b="b"/>
              <a:pathLst>
                <a:path w="3173729" h="610869">
                  <a:moveTo>
                    <a:pt x="0" y="610425"/>
                  </a:moveTo>
                  <a:lnTo>
                    <a:pt x="3173349" y="610425"/>
                  </a:lnTo>
                  <a:lnTo>
                    <a:pt x="3173349" y="0"/>
                  </a:lnTo>
                  <a:lnTo>
                    <a:pt x="0" y="0"/>
                  </a:lnTo>
                  <a:lnTo>
                    <a:pt x="0" y="610425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76090" y="1452816"/>
            <a:ext cx="3173730" cy="610870"/>
          </a:xfrm>
          <a:prstGeom prst="rect">
            <a:avLst/>
          </a:prstGeom>
          <a:solidFill>
            <a:srgbClr val="CCFFFF"/>
          </a:solidFill>
          <a:ln w="12578">
            <a:solidFill>
              <a:srgbClr val="949494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271780" marR="923925" indent="-142240">
              <a:lnSpc>
                <a:spcPct val="100000"/>
              </a:lnSpc>
              <a:spcBef>
                <a:spcPts val="635"/>
              </a:spcBef>
            </a:pPr>
            <a:r>
              <a:rPr sz="1700" b="1" spc="-5" dirty="0">
                <a:latin typeface="Arial"/>
                <a:cs typeface="Arial"/>
              </a:rPr>
              <a:t>Initial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Environmental  Examination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(IEE)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59518" y="2643632"/>
            <a:ext cx="10134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EIA</a:t>
            </a:r>
            <a:r>
              <a:rPr sz="1800" b="1" i="1" spc="-95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Not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i="1" spc="-10" dirty="0">
                <a:latin typeface="Arial"/>
                <a:cs typeface="Arial"/>
              </a:rPr>
              <a:t>Required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70901" y="2338832"/>
            <a:ext cx="1013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EIA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i="1" spc="-5" dirty="0">
                <a:latin typeface="Arial"/>
                <a:cs typeface="Arial"/>
              </a:rPr>
              <a:t>R</a:t>
            </a:r>
            <a:r>
              <a:rPr sz="1800" b="1" i="1" spc="-15" dirty="0">
                <a:latin typeface="Arial"/>
                <a:cs typeface="Arial"/>
              </a:rPr>
              <a:t>e</a:t>
            </a:r>
            <a:r>
              <a:rPr sz="1800" b="1" i="1" dirty="0">
                <a:latin typeface="Arial"/>
                <a:cs typeface="Arial"/>
              </a:rPr>
              <a:t>q</a:t>
            </a:r>
            <a:r>
              <a:rPr sz="1800" b="1" i="1" spc="5" dirty="0">
                <a:latin typeface="Arial"/>
                <a:cs typeface="Arial"/>
              </a:rPr>
              <a:t>u</a:t>
            </a:r>
            <a:r>
              <a:rPr sz="1800" b="1" i="1" dirty="0">
                <a:latin typeface="Arial"/>
                <a:cs typeface="Arial"/>
              </a:rPr>
              <a:t>i</a:t>
            </a:r>
            <a:r>
              <a:rPr sz="1800" b="1" i="1" spc="-25" dirty="0">
                <a:latin typeface="Arial"/>
                <a:cs typeface="Arial"/>
              </a:rPr>
              <a:t>r</a:t>
            </a:r>
            <a:r>
              <a:rPr sz="1800" b="1" i="1" spc="-10" dirty="0">
                <a:latin typeface="Arial"/>
                <a:cs typeface="Arial"/>
              </a:rPr>
              <a:t>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63979" y="4657201"/>
            <a:ext cx="1828164" cy="755650"/>
            <a:chOff x="6463979" y="4657201"/>
            <a:chExt cx="1828164" cy="755650"/>
          </a:xfrm>
        </p:grpSpPr>
        <p:sp>
          <p:nvSpPr>
            <p:cNvPr id="16" name="object 16"/>
            <p:cNvSpPr/>
            <p:nvPr/>
          </p:nvSpPr>
          <p:spPr>
            <a:xfrm>
              <a:off x="6470268" y="4663440"/>
              <a:ext cx="1815464" cy="749300"/>
            </a:xfrm>
            <a:custGeom>
              <a:avLst/>
              <a:gdLst/>
              <a:ahLst/>
              <a:cxnLst/>
              <a:rect l="l" t="t" r="r" b="b"/>
              <a:pathLst>
                <a:path w="1815465" h="749300">
                  <a:moveTo>
                    <a:pt x="1815211" y="0"/>
                  </a:moveTo>
                  <a:lnTo>
                    <a:pt x="0" y="0"/>
                  </a:lnTo>
                  <a:lnTo>
                    <a:pt x="0" y="749300"/>
                  </a:lnTo>
                  <a:lnTo>
                    <a:pt x="1815211" y="749300"/>
                  </a:lnTo>
                  <a:lnTo>
                    <a:pt x="1815211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0268" y="4663490"/>
              <a:ext cx="1815464" cy="519430"/>
            </a:xfrm>
            <a:custGeom>
              <a:avLst/>
              <a:gdLst/>
              <a:ahLst/>
              <a:cxnLst/>
              <a:rect l="l" t="t" r="r" b="b"/>
              <a:pathLst>
                <a:path w="1815465" h="519429">
                  <a:moveTo>
                    <a:pt x="0" y="519379"/>
                  </a:moveTo>
                  <a:lnTo>
                    <a:pt x="1815211" y="519379"/>
                  </a:lnTo>
                  <a:lnTo>
                    <a:pt x="1815211" y="0"/>
                  </a:lnTo>
                  <a:lnTo>
                    <a:pt x="0" y="0"/>
                  </a:lnTo>
                  <a:lnTo>
                    <a:pt x="0" y="519379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70269" y="4663490"/>
            <a:ext cx="1815464" cy="519430"/>
          </a:xfrm>
          <a:prstGeom prst="rect">
            <a:avLst/>
          </a:prstGeom>
          <a:solidFill>
            <a:srgbClr val="CCFFFF"/>
          </a:solidFill>
          <a:ln w="12578">
            <a:solidFill>
              <a:srgbClr val="949494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122555">
              <a:lnSpc>
                <a:spcPct val="100000"/>
              </a:lnSpc>
            </a:pPr>
            <a:r>
              <a:rPr sz="1700" b="1" spc="-5" dirty="0">
                <a:latin typeface="Arial"/>
                <a:cs typeface="Arial"/>
              </a:rPr>
              <a:t>Monitoring</a:t>
            </a:r>
            <a:endParaRPr sz="1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14789" y="4768837"/>
            <a:ext cx="2118360" cy="553085"/>
          </a:xfrm>
          <a:prstGeom prst="rect">
            <a:avLst/>
          </a:prstGeom>
          <a:solidFill>
            <a:srgbClr val="CCFFFF"/>
          </a:solidFill>
          <a:ln w="12578">
            <a:solidFill>
              <a:srgbClr val="949494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249554" marR="641985" indent="-160020">
              <a:lnSpc>
                <a:spcPct val="100000"/>
              </a:lnSpc>
              <a:spcBef>
                <a:spcPts val="195"/>
              </a:spcBef>
            </a:pPr>
            <a:r>
              <a:rPr sz="1700" b="1" dirty="0">
                <a:latin typeface="Arial"/>
                <a:cs typeface="Arial"/>
              </a:rPr>
              <a:t>EIA </a:t>
            </a:r>
            <a:r>
              <a:rPr sz="1700" b="1" spc="-15" dirty="0">
                <a:latin typeface="Arial"/>
                <a:cs typeface="Arial"/>
              </a:rPr>
              <a:t>Audit</a:t>
            </a:r>
            <a:r>
              <a:rPr sz="1700" b="1" spc="-3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and  </a:t>
            </a:r>
            <a:r>
              <a:rPr sz="1700" b="1" spc="-5" dirty="0">
                <a:latin typeface="Arial"/>
                <a:cs typeface="Arial"/>
              </a:rPr>
              <a:t>Evaluation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626360" y="1762760"/>
            <a:ext cx="1156970" cy="132080"/>
            <a:chOff x="2626360" y="1762760"/>
            <a:chExt cx="1156970" cy="132080"/>
          </a:xfrm>
        </p:grpSpPr>
        <p:sp>
          <p:nvSpPr>
            <p:cNvPr id="21" name="object 21"/>
            <p:cNvSpPr/>
            <p:nvPr/>
          </p:nvSpPr>
          <p:spPr>
            <a:xfrm>
              <a:off x="2626360" y="18288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5149" y="1762760"/>
              <a:ext cx="177800" cy="132080"/>
            </a:xfrm>
            <a:custGeom>
              <a:avLst/>
              <a:gdLst/>
              <a:ahLst/>
              <a:cxnLst/>
              <a:rect l="l" t="t" r="r" b="b"/>
              <a:pathLst>
                <a:path w="177800" h="132080">
                  <a:moveTo>
                    <a:pt x="0" y="0"/>
                  </a:moveTo>
                  <a:lnTo>
                    <a:pt x="0" y="132079"/>
                  </a:lnTo>
                  <a:lnTo>
                    <a:pt x="177800" y="66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162545" y="1348739"/>
            <a:ext cx="3272154" cy="1217930"/>
            <a:chOff x="7162545" y="1348739"/>
            <a:chExt cx="3272154" cy="1217930"/>
          </a:xfrm>
        </p:grpSpPr>
        <p:sp>
          <p:nvSpPr>
            <p:cNvPr id="24" name="object 24"/>
            <p:cNvSpPr/>
            <p:nvPr/>
          </p:nvSpPr>
          <p:spPr>
            <a:xfrm>
              <a:off x="7184770" y="1724659"/>
              <a:ext cx="992505" cy="0"/>
            </a:xfrm>
            <a:custGeom>
              <a:avLst/>
              <a:gdLst/>
              <a:ahLst/>
              <a:cxnLst/>
              <a:rect l="l" t="t" r="r" b="b"/>
              <a:pathLst>
                <a:path w="992504">
                  <a:moveTo>
                    <a:pt x="0" y="0"/>
                  </a:moveTo>
                  <a:lnTo>
                    <a:pt x="992377" y="0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65210" y="1657349"/>
              <a:ext cx="176530" cy="133350"/>
            </a:xfrm>
            <a:custGeom>
              <a:avLst/>
              <a:gdLst/>
              <a:ahLst/>
              <a:cxnLst/>
              <a:rect l="l" t="t" r="r" b="b"/>
              <a:pathLst>
                <a:path w="176529" h="133350">
                  <a:moveTo>
                    <a:pt x="0" y="0"/>
                  </a:moveTo>
                  <a:lnTo>
                    <a:pt x="0" y="133350"/>
                  </a:lnTo>
                  <a:lnTo>
                    <a:pt x="176149" y="67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980548" y="2180589"/>
              <a:ext cx="344170" cy="292100"/>
            </a:xfrm>
            <a:custGeom>
              <a:avLst/>
              <a:gdLst/>
              <a:ahLst/>
              <a:cxnLst/>
              <a:rect l="l" t="t" r="r" b="b"/>
              <a:pathLst>
                <a:path w="344170" h="292100">
                  <a:moveTo>
                    <a:pt x="0" y="0"/>
                  </a:moveTo>
                  <a:lnTo>
                    <a:pt x="343661" y="292100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249788" y="2423159"/>
              <a:ext cx="184785" cy="143510"/>
            </a:xfrm>
            <a:custGeom>
              <a:avLst/>
              <a:gdLst/>
              <a:ahLst/>
              <a:cxnLst/>
              <a:rect l="l" t="t" r="r" b="b"/>
              <a:pathLst>
                <a:path w="184784" h="143510">
                  <a:moveTo>
                    <a:pt x="133730" y="0"/>
                  </a:moveTo>
                  <a:lnTo>
                    <a:pt x="0" y="87629"/>
                  </a:lnTo>
                  <a:lnTo>
                    <a:pt x="184530" y="143510"/>
                  </a:lnTo>
                  <a:lnTo>
                    <a:pt x="1337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76970" y="1355089"/>
              <a:ext cx="1969770" cy="995680"/>
            </a:xfrm>
            <a:custGeom>
              <a:avLst/>
              <a:gdLst/>
              <a:ahLst/>
              <a:cxnLst/>
              <a:rect l="l" t="t" r="r" b="b"/>
              <a:pathLst>
                <a:path w="1969770" h="995680">
                  <a:moveTo>
                    <a:pt x="985520" y="0"/>
                  </a:moveTo>
                  <a:lnTo>
                    <a:pt x="0" y="497839"/>
                  </a:lnTo>
                  <a:lnTo>
                    <a:pt x="985520" y="995680"/>
                  </a:lnTo>
                  <a:lnTo>
                    <a:pt x="1969388" y="497839"/>
                  </a:lnTo>
                  <a:lnTo>
                    <a:pt x="98552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76970" y="1355089"/>
              <a:ext cx="1969770" cy="995680"/>
            </a:xfrm>
            <a:custGeom>
              <a:avLst/>
              <a:gdLst/>
              <a:ahLst/>
              <a:cxnLst/>
              <a:rect l="l" t="t" r="r" b="b"/>
              <a:pathLst>
                <a:path w="1969770" h="995680">
                  <a:moveTo>
                    <a:pt x="985520" y="0"/>
                  </a:moveTo>
                  <a:lnTo>
                    <a:pt x="1969388" y="497839"/>
                  </a:lnTo>
                  <a:lnTo>
                    <a:pt x="985520" y="995680"/>
                  </a:lnTo>
                  <a:lnTo>
                    <a:pt x="0" y="497839"/>
                  </a:lnTo>
                  <a:lnTo>
                    <a:pt x="985520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76970" y="1355089"/>
              <a:ext cx="1969770" cy="995680"/>
            </a:xfrm>
            <a:custGeom>
              <a:avLst/>
              <a:gdLst/>
              <a:ahLst/>
              <a:cxnLst/>
              <a:rect l="l" t="t" r="r" b="b"/>
              <a:pathLst>
                <a:path w="1969770" h="995680">
                  <a:moveTo>
                    <a:pt x="0" y="0"/>
                  </a:moveTo>
                  <a:lnTo>
                    <a:pt x="0" y="0"/>
                  </a:lnTo>
                </a:path>
                <a:path w="1969770" h="995680">
                  <a:moveTo>
                    <a:pt x="1969388" y="995680"/>
                  </a:moveTo>
                  <a:lnTo>
                    <a:pt x="1969388" y="99568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934068" y="1540001"/>
            <a:ext cx="762635" cy="54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Arial"/>
                <a:cs typeface="Arial"/>
              </a:rPr>
              <a:t>IEE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75" dirty="0">
                <a:latin typeface="Arial"/>
                <a:cs typeface="Arial"/>
              </a:rPr>
              <a:t>v</a:t>
            </a:r>
            <a:r>
              <a:rPr sz="1700" b="1" spc="-5" dirty="0">
                <a:latin typeface="Arial"/>
                <a:cs typeface="Arial"/>
              </a:rPr>
              <a:t>i</a:t>
            </a:r>
            <a:r>
              <a:rPr sz="1700" b="1" dirty="0">
                <a:latin typeface="Arial"/>
                <a:cs typeface="Arial"/>
              </a:rPr>
              <a:t>ew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160520" y="2508250"/>
            <a:ext cx="3145790" cy="1306830"/>
            <a:chOff x="4160520" y="2508250"/>
            <a:chExt cx="3145790" cy="1306830"/>
          </a:xfrm>
        </p:grpSpPr>
        <p:sp>
          <p:nvSpPr>
            <p:cNvPr id="33" name="object 33"/>
            <p:cNvSpPr/>
            <p:nvPr/>
          </p:nvSpPr>
          <p:spPr>
            <a:xfrm>
              <a:off x="4297680" y="3366769"/>
              <a:ext cx="750570" cy="378460"/>
            </a:xfrm>
            <a:custGeom>
              <a:avLst/>
              <a:gdLst/>
              <a:ahLst/>
              <a:cxnLst/>
              <a:rect l="l" t="t" r="r" b="b"/>
              <a:pathLst>
                <a:path w="750570" h="378460">
                  <a:moveTo>
                    <a:pt x="750189" y="0"/>
                  </a:moveTo>
                  <a:lnTo>
                    <a:pt x="0" y="378459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60520" y="3685539"/>
              <a:ext cx="196850" cy="129539"/>
            </a:xfrm>
            <a:custGeom>
              <a:avLst/>
              <a:gdLst/>
              <a:ahLst/>
              <a:cxnLst/>
              <a:rect l="l" t="t" r="r" b="b"/>
              <a:pathLst>
                <a:path w="196850" h="129539">
                  <a:moveTo>
                    <a:pt x="98170" y="0"/>
                  </a:moveTo>
                  <a:lnTo>
                    <a:pt x="0" y="129540"/>
                  </a:lnTo>
                  <a:lnTo>
                    <a:pt x="196468" y="110490"/>
                  </a:lnTo>
                  <a:lnTo>
                    <a:pt x="981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80000" y="2514600"/>
              <a:ext cx="2219960" cy="801370"/>
            </a:xfrm>
            <a:custGeom>
              <a:avLst/>
              <a:gdLst/>
              <a:ahLst/>
              <a:cxnLst/>
              <a:rect l="l" t="t" r="r" b="b"/>
              <a:pathLst>
                <a:path w="2219959" h="801370">
                  <a:moveTo>
                    <a:pt x="2219959" y="0"/>
                  </a:moveTo>
                  <a:lnTo>
                    <a:pt x="0" y="0"/>
                  </a:lnTo>
                  <a:lnTo>
                    <a:pt x="0" y="801370"/>
                  </a:lnTo>
                  <a:lnTo>
                    <a:pt x="2219959" y="801370"/>
                  </a:lnTo>
                  <a:lnTo>
                    <a:pt x="2219959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80000" y="2514600"/>
              <a:ext cx="2219960" cy="801370"/>
            </a:xfrm>
            <a:custGeom>
              <a:avLst/>
              <a:gdLst/>
              <a:ahLst/>
              <a:cxnLst/>
              <a:rect l="l" t="t" r="r" b="b"/>
              <a:pathLst>
                <a:path w="2219959" h="801370">
                  <a:moveTo>
                    <a:pt x="0" y="801370"/>
                  </a:moveTo>
                  <a:lnTo>
                    <a:pt x="2219959" y="801370"/>
                  </a:lnTo>
                  <a:lnTo>
                    <a:pt x="2219959" y="0"/>
                  </a:lnTo>
                  <a:lnTo>
                    <a:pt x="0" y="0"/>
                  </a:lnTo>
                  <a:lnTo>
                    <a:pt x="0" y="80137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298510" y="4365625"/>
            <a:ext cx="2962910" cy="1132205"/>
            <a:chOff x="298510" y="4365625"/>
            <a:chExt cx="2962910" cy="1132205"/>
          </a:xfrm>
        </p:grpSpPr>
        <p:sp>
          <p:nvSpPr>
            <p:cNvPr id="38" name="object 38"/>
            <p:cNvSpPr/>
            <p:nvPr/>
          </p:nvSpPr>
          <p:spPr>
            <a:xfrm>
              <a:off x="2481579" y="4945380"/>
              <a:ext cx="645160" cy="0"/>
            </a:xfrm>
            <a:custGeom>
              <a:avLst/>
              <a:gdLst/>
              <a:ahLst/>
              <a:cxnLst/>
              <a:rect l="l" t="t" r="r" b="b"/>
              <a:pathLst>
                <a:path w="645160">
                  <a:moveTo>
                    <a:pt x="0" y="0"/>
                  </a:moveTo>
                  <a:lnTo>
                    <a:pt x="645159" y="0"/>
                  </a:lnTo>
                </a:path>
              </a:pathLst>
            </a:custGeom>
            <a:ln w="596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81909" y="4871719"/>
              <a:ext cx="179705" cy="132080"/>
            </a:xfrm>
            <a:custGeom>
              <a:avLst/>
              <a:gdLst/>
              <a:ahLst/>
              <a:cxnLst/>
              <a:rect l="l" t="t" r="r" b="b"/>
              <a:pathLst>
                <a:path w="179704" h="132079">
                  <a:moveTo>
                    <a:pt x="0" y="0"/>
                  </a:moveTo>
                  <a:lnTo>
                    <a:pt x="5080" y="132079"/>
                  </a:lnTo>
                  <a:lnTo>
                    <a:pt x="179451" y="62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13228" y="4387850"/>
              <a:ext cx="822960" cy="415290"/>
            </a:xfrm>
            <a:custGeom>
              <a:avLst/>
              <a:gdLst/>
              <a:ahLst/>
              <a:cxnLst/>
              <a:rect l="l" t="t" r="r" b="b"/>
              <a:pathLst>
                <a:path w="822960" h="415289">
                  <a:moveTo>
                    <a:pt x="822959" y="0"/>
                  </a:moveTo>
                  <a:lnTo>
                    <a:pt x="0" y="415289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76069" y="4743450"/>
              <a:ext cx="196850" cy="128270"/>
            </a:xfrm>
            <a:custGeom>
              <a:avLst/>
              <a:gdLst/>
              <a:ahLst/>
              <a:cxnLst/>
              <a:rect l="l" t="t" r="r" b="b"/>
              <a:pathLst>
                <a:path w="196850" h="128270">
                  <a:moveTo>
                    <a:pt x="96519" y="0"/>
                  </a:moveTo>
                  <a:lnTo>
                    <a:pt x="0" y="128269"/>
                  </a:lnTo>
                  <a:lnTo>
                    <a:pt x="196342" y="109219"/>
                  </a:lnTo>
                  <a:lnTo>
                    <a:pt x="965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4799" y="4495800"/>
              <a:ext cx="2133600" cy="995680"/>
            </a:xfrm>
            <a:custGeom>
              <a:avLst/>
              <a:gdLst/>
              <a:ahLst/>
              <a:cxnLst/>
              <a:rect l="l" t="t" r="r" b="b"/>
              <a:pathLst>
                <a:path w="2133600" h="995679">
                  <a:moveTo>
                    <a:pt x="1066800" y="0"/>
                  </a:moveTo>
                  <a:lnTo>
                    <a:pt x="0" y="497839"/>
                  </a:lnTo>
                  <a:lnTo>
                    <a:pt x="1066800" y="995680"/>
                  </a:lnTo>
                  <a:lnTo>
                    <a:pt x="2133600" y="497839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4799" y="4495800"/>
              <a:ext cx="2133600" cy="995680"/>
            </a:xfrm>
            <a:custGeom>
              <a:avLst/>
              <a:gdLst/>
              <a:ahLst/>
              <a:cxnLst/>
              <a:rect l="l" t="t" r="r" b="b"/>
              <a:pathLst>
                <a:path w="2133600" h="995679">
                  <a:moveTo>
                    <a:pt x="1066800" y="0"/>
                  </a:moveTo>
                  <a:lnTo>
                    <a:pt x="2133600" y="497839"/>
                  </a:lnTo>
                  <a:lnTo>
                    <a:pt x="1066800" y="995680"/>
                  </a:lnTo>
                  <a:lnTo>
                    <a:pt x="0" y="497839"/>
                  </a:lnTo>
                  <a:lnTo>
                    <a:pt x="1066800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4799" y="4495800"/>
              <a:ext cx="2133600" cy="995680"/>
            </a:xfrm>
            <a:custGeom>
              <a:avLst/>
              <a:gdLst/>
              <a:ahLst/>
              <a:cxnLst/>
              <a:rect l="l" t="t" r="r" b="b"/>
              <a:pathLst>
                <a:path w="2133600" h="995679">
                  <a:moveTo>
                    <a:pt x="0" y="0"/>
                  </a:moveTo>
                  <a:lnTo>
                    <a:pt x="0" y="0"/>
                  </a:lnTo>
                </a:path>
                <a:path w="2133600" h="995679">
                  <a:moveTo>
                    <a:pt x="2133600" y="995680"/>
                  </a:moveTo>
                  <a:lnTo>
                    <a:pt x="2133600" y="99568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793992" y="2766136"/>
            <a:ext cx="217804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Arial"/>
                <a:cs typeface="Arial"/>
              </a:rPr>
              <a:t>of</a:t>
            </a:r>
            <a:endParaRPr sz="1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90134" y="2507107"/>
            <a:ext cx="1057910" cy="803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indent="66675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Arial"/>
                <a:cs typeface="Arial"/>
              </a:rPr>
              <a:t>Scoping/  </a:t>
            </a:r>
            <a:r>
              <a:rPr sz="1700" b="1" spc="-25" dirty="0">
                <a:latin typeface="Arial"/>
                <a:cs typeface="Arial"/>
              </a:rPr>
              <a:t>Terms  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20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ence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340610" y="3639832"/>
            <a:ext cx="1777364" cy="656590"/>
            <a:chOff x="2340610" y="3639832"/>
            <a:chExt cx="1777364" cy="656590"/>
          </a:xfrm>
        </p:grpSpPr>
        <p:sp>
          <p:nvSpPr>
            <p:cNvPr id="48" name="object 48"/>
            <p:cNvSpPr/>
            <p:nvPr/>
          </p:nvSpPr>
          <p:spPr>
            <a:xfrm>
              <a:off x="2346960" y="3646170"/>
              <a:ext cx="1764664" cy="650240"/>
            </a:xfrm>
            <a:custGeom>
              <a:avLst/>
              <a:gdLst/>
              <a:ahLst/>
              <a:cxnLst/>
              <a:rect l="l" t="t" r="r" b="b"/>
              <a:pathLst>
                <a:path w="1764664" h="650239">
                  <a:moveTo>
                    <a:pt x="1764411" y="0"/>
                  </a:moveTo>
                  <a:lnTo>
                    <a:pt x="0" y="0"/>
                  </a:lnTo>
                  <a:lnTo>
                    <a:pt x="0" y="650239"/>
                  </a:lnTo>
                  <a:lnTo>
                    <a:pt x="1764411" y="650239"/>
                  </a:lnTo>
                  <a:lnTo>
                    <a:pt x="1764411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346960" y="3646182"/>
              <a:ext cx="1764664" cy="589915"/>
            </a:xfrm>
            <a:custGeom>
              <a:avLst/>
              <a:gdLst/>
              <a:ahLst/>
              <a:cxnLst/>
              <a:rect l="l" t="t" r="r" b="b"/>
              <a:pathLst>
                <a:path w="1764664" h="589914">
                  <a:moveTo>
                    <a:pt x="0" y="589902"/>
                  </a:moveTo>
                  <a:lnTo>
                    <a:pt x="1764411" y="589902"/>
                  </a:lnTo>
                  <a:lnTo>
                    <a:pt x="1764411" y="0"/>
                  </a:lnTo>
                  <a:lnTo>
                    <a:pt x="0" y="0"/>
                  </a:lnTo>
                  <a:lnTo>
                    <a:pt x="0" y="589902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346960" y="3646182"/>
            <a:ext cx="1764664" cy="589915"/>
          </a:xfrm>
          <a:prstGeom prst="rect">
            <a:avLst/>
          </a:prstGeom>
          <a:solidFill>
            <a:srgbClr val="CCFFFF"/>
          </a:solidFill>
          <a:ln w="12578">
            <a:solidFill>
              <a:srgbClr val="949494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83234" marR="586105" indent="-332740">
              <a:lnSpc>
                <a:spcPct val="100000"/>
              </a:lnSpc>
              <a:spcBef>
                <a:spcPts val="480"/>
              </a:spcBef>
            </a:pPr>
            <a:r>
              <a:rPr sz="1700" b="1" dirty="0">
                <a:latin typeface="Arial"/>
                <a:cs typeface="Arial"/>
              </a:rPr>
              <a:t>F</a:t>
            </a:r>
            <a:r>
              <a:rPr sz="1700" b="1" spc="15" dirty="0">
                <a:latin typeface="Arial"/>
                <a:cs typeface="Arial"/>
              </a:rPr>
              <a:t>u</a:t>
            </a:r>
            <a:r>
              <a:rPr sz="1700" b="1" spc="-10" dirty="0">
                <a:latin typeface="Arial"/>
                <a:cs typeface="Arial"/>
              </a:rPr>
              <a:t>l</a:t>
            </a:r>
            <a:r>
              <a:rPr sz="1700" b="1" spc="-20" dirty="0">
                <a:latin typeface="Arial"/>
                <a:cs typeface="Arial"/>
              </a:rPr>
              <a:t>l</a:t>
            </a:r>
            <a:r>
              <a:rPr sz="1700" b="1" spc="-5" dirty="0">
                <a:latin typeface="Arial"/>
                <a:cs typeface="Arial"/>
              </a:rPr>
              <a:t>-</a:t>
            </a:r>
            <a:r>
              <a:rPr sz="1700" b="1" dirty="0">
                <a:latin typeface="Arial"/>
                <a:cs typeface="Arial"/>
              </a:rPr>
              <a:t>S</a:t>
            </a:r>
            <a:r>
              <a:rPr sz="1700" b="1" spc="-15" dirty="0">
                <a:latin typeface="Arial"/>
                <a:cs typeface="Arial"/>
              </a:rPr>
              <a:t>c</a:t>
            </a:r>
            <a:r>
              <a:rPr sz="1700" b="1" dirty="0">
                <a:latin typeface="Arial"/>
                <a:cs typeface="Arial"/>
              </a:rPr>
              <a:t>a</a:t>
            </a:r>
            <a:r>
              <a:rPr sz="1700" b="1" spc="-10" dirty="0">
                <a:latin typeface="Arial"/>
                <a:cs typeface="Arial"/>
              </a:rPr>
              <a:t>l</a:t>
            </a:r>
            <a:r>
              <a:rPr sz="1700" b="1" dirty="0">
                <a:latin typeface="Arial"/>
                <a:cs typeface="Arial"/>
              </a:rPr>
              <a:t>e  EIA</a:t>
            </a:r>
            <a:endParaRPr sz="17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405251" y="6047740"/>
            <a:ext cx="1422400" cy="570865"/>
          </a:xfrm>
          <a:prstGeom prst="rect">
            <a:avLst/>
          </a:prstGeom>
          <a:solidFill>
            <a:srgbClr val="CCFFFF"/>
          </a:solidFill>
          <a:ln w="9344">
            <a:solidFill>
              <a:srgbClr val="949494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5095" marR="444500" indent="-35560">
              <a:lnSpc>
                <a:spcPct val="100000"/>
              </a:lnSpc>
              <a:spcBef>
                <a:spcPts val="335"/>
              </a:spcBef>
            </a:pP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75" dirty="0">
                <a:latin typeface="Arial"/>
                <a:cs typeface="Arial"/>
              </a:rPr>
              <a:t>v</a:t>
            </a:r>
            <a:r>
              <a:rPr sz="1700" b="1" dirty="0">
                <a:latin typeface="Arial"/>
                <a:cs typeface="Arial"/>
              </a:rPr>
              <a:t>a</a:t>
            </a:r>
            <a:r>
              <a:rPr sz="1700" b="1" spc="-10" dirty="0">
                <a:latin typeface="Arial"/>
                <a:cs typeface="Arial"/>
              </a:rPr>
              <a:t>l</a:t>
            </a:r>
            <a:r>
              <a:rPr sz="1700" b="1" dirty="0">
                <a:latin typeface="Arial"/>
                <a:cs typeface="Arial"/>
              </a:rPr>
              <a:t>ua</a:t>
            </a:r>
            <a:r>
              <a:rPr sz="1700" b="1" spc="-20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e  Options</a:t>
            </a:r>
            <a:endParaRPr sz="17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426458" y="5419140"/>
            <a:ext cx="1092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EIA Not  Approved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74547" y="4785486"/>
            <a:ext cx="76263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EIA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75" dirty="0">
                <a:latin typeface="Arial"/>
                <a:cs typeface="Arial"/>
              </a:rPr>
              <a:t>v</a:t>
            </a:r>
            <a:r>
              <a:rPr sz="1700" b="1" spc="-10" dirty="0">
                <a:latin typeface="Arial"/>
                <a:cs typeface="Arial"/>
              </a:rPr>
              <a:t>i</a:t>
            </a:r>
            <a:r>
              <a:rPr sz="1700" b="1" dirty="0">
                <a:latin typeface="Arial"/>
                <a:cs typeface="Arial"/>
              </a:rPr>
              <a:t>ew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925948" y="4944109"/>
            <a:ext cx="1459865" cy="132080"/>
            <a:chOff x="4925948" y="4944109"/>
            <a:chExt cx="1459865" cy="132080"/>
          </a:xfrm>
        </p:grpSpPr>
        <p:sp>
          <p:nvSpPr>
            <p:cNvPr id="55" name="object 55"/>
            <p:cNvSpPr/>
            <p:nvPr/>
          </p:nvSpPr>
          <p:spPr>
            <a:xfrm>
              <a:off x="4925948" y="5010149"/>
              <a:ext cx="1295400" cy="0"/>
            </a:xfrm>
            <a:custGeom>
              <a:avLst/>
              <a:gdLst/>
              <a:ahLst/>
              <a:cxnLst/>
              <a:rect l="l" t="t" r="r" b="b"/>
              <a:pathLst>
                <a:path w="1295400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09410" y="4944109"/>
              <a:ext cx="176530" cy="132080"/>
            </a:xfrm>
            <a:custGeom>
              <a:avLst/>
              <a:gdLst/>
              <a:ahLst/>
              <a:cxnLst/>
              <a:rect l="l" t="t" r="r" b="b"/>
              <a:pathLst>
                <a:path w="176529" h="132079">
                  <a:moveTo>
                    <a:pt x="0" y="0"/>
                  </a:moveTo>
                  <a:lnTo>
                    <a:pt x="0" y="132079"/>
                  </a:lnTo>
                  <a:lnTo>
                    <a:pt x="176149" y="66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8395589" y="5001259"/>
            <a:ext cx="1156970" cy="132080"/>
            <a:chOff x="8395589" y="5001259"/>
            <a:chExt cx="1156970" cy="132080"/>
          </a:xfrm>
        </p:grpSpPr>
        <p:sp>
          <p:nvSpPr>
            <p:cNvPr id="58" name="object 58"/>
            <p:cNvSpPr/>
            <p:nvPr/>
          </p:nvSpPr>
          <p:spPr>
            <a:xfrm>
              <a:off x="8395589" y="5067299"/>
              <a:ext cx="992505" cy="0"/>
            </a:xfrm>
            <a:custGeom>
              <a:avLst/>
              <a:gdLst/>
              <a:ahLst/>
              <a:cxnLst/>
              <a:rect l="l" t="t" r="r" b="b"/>
              <a:pathLst>
                <a:path w="992504">
                  <a:moveTo>
                    <a:pt x="0" y="0"/>
                  </a:moveTo>
                  <a:lnTo>
                    <a:pt x="992251" y="0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376029" y="5001259"/>
              <a:ext cx="176530" cy="132080"/>
            </a:xfrm>
            <a:custGeom>
              <a:avLst/>
              <a:gdLst/>
              <a:ahLst/>
              <a:cxnLst/>
              <a:rect l="l" t="t" r="r" b="b"/>
              <a:pathLst>
                <a:path w="176529" h="132079">
                  <a:moveTo>
                    <a:pt x="0" y="0"/>
                  </a:moveTo>
                  <a:lnTo>
                    <a:pt x="0" y="132079"/>
                  </a:lnTo>
                  <a:lnTo>
                    <a:pt x="176022" y="66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388359" y="4699063"/>
            <a:ext cx="1444625" cy="570865"/>
          </a:xfrm>
          <a:prstGeom prst="rect">
            <a:avLst/>
          </a:prstGeom>
          <a:solidFill>
            <a:srgbClr val="CCFFFF"/>
          </a:solidFill>
          <a:ln w="28393">
            <a:solidFill>
              <a:srgbClr val="949494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30"/>
              </a:spcBef>
            </a:pPr>
            <a:r>
              <a:rPr sz="1700" b="1" spc="-5" dirty="0">
                <a:latin typeface="Arial"/>
                <a:cs typeface="Arial"/>
              </a:rPr>
              <a:t>Decision</a:t>
            </a:r>
            <a:endParaRPr sz="1700">
              <a:latin typeface="Arial"/>
              <a:cs typeface="Arial"/>
            </a:endParaRPr>
          </a:p>
          <a:p>
            <a:pPr marL="16764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latin typeface="Arial"/>
                <a:cs typeface="Arial"/>
              </a:rPr>
              <a:t>Making</a:t>
            </a:r>
            <a:endParaRPr sz="17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124450" y="4152645"/>
            <a:ext cx="1092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EIA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i="1" spc="-5" dirty="0">
                <a:latin typeface="Arial"/>
                <a:cs typeface="Arial"/>
              </a:rPr>
              <a:t>Approved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986148" y="5410200"/>
            <a:ext cx="177800" cy="552450"/>
            <a:chOff x="3986148" y="5410200"/>
            <a:chExt cx="177800" cy="552450"/>
          </a:xfrm>
        </p:grpSpPr>
        <p:sp>
          <p:nvSpPr>
            <p:cNvPr id="63" name="object 63"/>
            <p:cNvSpPr/>
            <p:nvPr/>
          </p:nvSpPr>
          <p:spPr>
            <a:xfrm>
              <a:off x="4074159" y="5410200"/>
              <a:ext cx="0" cy="429259"/>
            </a:xfrm>
            <a:custGeom>
              <a:avLst/>
              <a:gdLst/>
              <a:ahLst/>
              <a:cxnLst/>
              <a:rect l="l" t="t" r="r" b="b"/>
              <a:pathLst>
                <a:path h="429260">
                  <a:moveTo>
                    <a:pt x="0" y="0"/>
                  </a:moveTo>
                  <a:lnTo>
                    <a:pt x="0" y="429259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986148" y="5829300"/>
              <a:ext cx="177800" cy="133350"/>
            </a:xfrm>
            <a:custGeom>
              <a:avLst/>
              <a:gdLst/>
              <a:ahLst/>
              <a:cxnLst/>
              <a:rect l="l" t="t" r="r" b="b"/>
              <a:pathLst>
                <a:path w="177800" h="133350">
                  <a:moveTo>
                    <a:pt x="177800" y="0"/>
                  </a:moveTo>
                  <a:lnTo>
                    <a:pt x="0" y="0"/>
                  </a:lnTo>
                  <a:lnTo>
                    <a:pt x="88011" y="133350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7418451" y="1991995"/>
            <a:ext cx="909955" cy="470534"/>
            <a:chOff x="7418451" y="1991995"/>
            <a:chExt cx="909955" cy="470534"/>
          </a:xfrm>
        </p:grpSpPr>
        <p:sp>
          <p:nvSpPr>
            <p:cNvPr id="66" name="object 66"/>
            <p:cNvSpPr/>
            <p:nvPr/>
          </p:nvSpPr>
          <p:spPr>
            <a:xfrm>
              <a:off x="7555611" y="2014220"/>
              <a:ext cx="750570" cy="378460"/>
            </a:xfrm>
            <a:custGeom>
              <a:avLst/>
              <a:gdLst/>
              <a:ahLst/>
              <a:cxnLst/>
              <a:rect l="l" t="t" r="r" b="b"/>
              <a:pathLst>
                <a:path w="750570" h="378460">
                  <a:moveTo>
                    <a:pt x="750189" y="0"/>
                  </a:moveTo>
                  <a:lnTo>
                    <a:pt x="0" y="378459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18451" y="2332990"/>
              <a:ext cx="196850" cy="129539"/>
            </a:xfrm>
            <a:custGeom>
              <a:avLst/>
              <a:gdLst/>
              <a:ahLst/>
              <a:cxnLst/>
              <a:rect l="l" t="t" r="r" b="b"/>
              <a:pathLst>
                <a:path w="196850" h="129539">
                  <a:moveTo>
                    <a:pt x="96520" y="0"/>
                  </a:moveTo>
                  <a:lnTo>
                    <a:pt x="0" y="129539"/>
                  </a:lnTo>
                  <a:lnTo>
                    <a:pt x="196469" y="11048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68417" y="505713"/>
            <a:ext cx="18395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latin typeface="Times New Roman"/>
                <a:cs typeface="Times New Roman"/>
              </a:rPr>
              <a:t>Sc</a:t>
            </a:r>
            <a:r>
              <a:rPr sz="3400" b="1" spc="-60" dirty="0">
                <a:latin typeface="Times New Roman"/>
                <a:cs typeface="Times New Roman"/>
              </a:rPr>
              <a:t>r</a:t>
            </a:r>
            <a:r>
              <a:rPr sz="3400" b="1" spc="-5" dirty="0">
                <a:latin typeface="Times New Roman"/>
                <a:cs typeface="Times New Roman"/>
              </a:rPr>
              <a:t>eening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2745" y="1329690"/>
            <a:ext cx="40278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1170" algn="l"/>
                <a:tab pos="1827530" algn="l"/>
                <a:tab pos="2388235" algn="l"/>
                <a:tab pos="2896235" algn="l"/>
              </a:tabLst>
            </a:pPr>
            <a:r>
              <a:rPr sz="2400" dirty="0">
                <a:latin typeface="Times New Roman"/>
                <a:cs typeface="Times New Roman"/>
              </a:rPr>
              <a:t>of	re</a:t>
            </a:r>
            <a:r>
              <a:rPr sz="2400" spc="-5" dirty="0">
                <a:latin typeface="Times New Roman"/>
                <a:cs typeface="Times New Roman"/>
              </a:rPr>
              <a:t>so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rc</a:t>
            </a:r>
            <a:r>
              <a:rPr sz="2400" spc="-5" dirty="0">
                <a:latin typeface="Times New Roman"/>
                <a:cs typeface="Times New Roman"/>
              </a:rPr>
              <a:t>es</a:t>
            </a:r>
            <a:r>
              <a:rPr sz="2400" dirty="0">
                <a:latin typeface="Times New Roman"/>
                <a:cs typeface="Times New Roman"/>
              </a:rPr>
              <a:t>	for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ll	proposed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444" y="1329690"/>
            <a:ext cx="6699884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marR="5080" indent="-323850">
              <a:lnSpc>
                <a:spcPts val="3000"/>
              </a:lnSpc>
              <a:spcBef>
                <a:spcPts val="100"/>
              </a:spcBef>
              <a:buChar char="•"/>
              <a:tabLst>
                <a:tab pos="335915" algn="l"/>
                <a:tab pos="336550" algn="l"/>
                <a:tab pos="732155" algn="l"/>
                <a:tab pos="1887220" algn="l"/>
                <a:tab pos="2492375" algn="l"/>
                <a:tab pos="3134360" algn="l"/>
                <a:tab pos="3383915" algn="l"/>
                <a:tab pos="4930775" algn="l"/>
                <a:tab pos="5577205" algn="l"/>
                <a:tab pos="5995035" algn="l"/>
              </a:tabLst>
            </a:pPr>
            <a:r>
              <a:rPr sz="2400" dirty="0">
                <a:latin typeface="Times New Roman"/>
                <a:cs typeface="Times New Roman"/>
              </a:rPr>
              <a:t>It	</a:t>
            </a:r>
            <a:r>
              <a:rPr sz="2400" spc="-2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d	be	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		con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10" dirty="0">
                <a:latin typeface="Times New Roman"/>
                <a:cs typeface="Times New Roman"/>
              </a:rPr>
              <a:t>u</a:t>
            </a:r>
            <a:r>
              <a:rPr sz="2400" spc="5" dirty="0">
                <a:latin typeface="Times New Roman"/>
                <a:cs typeface="Times New Roman"/>
              </a:rPr>
              <a:t>mi</a:t>
            </a:r>
            <a:r>
              <a:rPr sz="2400" spc="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g	and	a,	</a:t>
            </a:r>
            <a:r>
              <a:rPr sz="2400" spc="-2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  projects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activities	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undergo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EIA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444" y="2457450"/>
            <a:ext cx="10906125" cy="190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marR="5715" indent="-242570">
              <a:lnSpc>
                <a:spcPts val="3000"/>
              </a:lnSpc>
              <a:spcBef>
                <a:spcPts val="100"/>
              </a:spcBef>
              <a:buChar char="•"/>
              <a:tabLst>
                <a:tab pos="254635" algn="l"/>
                <a:tab pos="255270" algn="l"/>
                <a:tab pos="864869" algn="l"/>
                <a:tab pos="1322070" algn="l"/>
                <a:tab pos="2169160" algn="l"/>
                <a:tab pos="3045460" algn="l"/>
                <a:tab pos="4159885" algn="l"/>
                <a:tab pos="5175250" algn="l"/>
                <a:tab pos="5614035" algn="l"/>
                <a:tab pos="6346825" algn="l"/>
                <a:tab pos="6753859" algn="l"/>
                <a:tab pos="7551420" algn="l"/>
                <a:tab pos="8671560" algn="l"/>
                <a:tab pos="9349740" algn="l"/>
                <a:tab pos="9892665" algn="l"/>
                <a:tab pos="10603865" algn="l"/>
              </a:tabLst>
            </a:pPr>
            <a:r>
              <a:rPr sz="2400" spc="-5" dirty="0">
                <a:latin typeface="Times New Roman"/>
                <a:cs typeface="Times New Roman"/>
              </a:rPr>
              <a:t>Not	all	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op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ent	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roj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ts</a:t>
            </a:r>
            <a:r>
              <a:rPr sz="2400" dirty="0">
                <a:latin typeface="Times New Roman"/>
                <a:cs typeface="Times New Roman"/>
              </a:rPr>
              <a:t>	req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ire	an	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IA,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1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ro</a:t>
            </a:r>
            <a:r>
              <a:rPr sz="2400" spc="5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ay	not	po</a:t>
            </a:r>
            <a:r>
              <a:rPr sz="2400" spc="-5" dirty="0">
                <a:latin typeface="Times New Roman"/>
                <a:cs typeface="Times New Roman"/>
              </a:rPr>
              <a:t>se</a:t>
            </a:r>
            <a:r>
              <a:rPr sz="2400" dirty="0">
                <a:latin typeface="Times New Roman"/>
                <a:cs typeface="Times New Roman"/>
              </a:rPr>
              <a:t>	an  environmental	threat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43535" marR="5080" indent="-331470">
              <a:lnSpc>
                <a:spcPct val="104200"/>
              </a:lnSpc>
              <a:buChar char="•"/>
              <a:tabLst>
                <a:tab pos="343535" algn="l"/>
                <a:tab pos="344170" algn="l"/>
                <a:tab pos="2205990" algn="l"/>
                <a:tab pos="4879340" algn="l"/>
                <a:tab pos="6327140" algn="l"/>
                <a:tab pos="7537450" algn="l"/>
                <a:tab pos="7903209" algn="l"/>
                <a:tab pos="9484995" algn="l"/>
                <a:tab pos="10639425" algn="l"/>
              </a:tabLst>
            </a:pPr>
            <a:r>
              <a:rPr sz="2400" dirty="0">
                <a:latin typeface="Times New Roman"/>
                <a:cs typeface="Times New Roman"/>
              </a:rPr>
              <a:t>Screen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</a:t>
            </a:r>
            <a:r>
              <a:rPr sz="2400" spc="-5" dirty="0">
                <a:latin typeface="Times New Roman"/>
                <a:cs typeface="Times New Roman"/>
              </a:rPr>
              <a:t>ess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5" dirty="0">
                <a:latin typeface="Times New Roman"/>
                <a:cs typeface="Times New Roman"/>
              </a:rPr>
              <a:t> t</a:t>
            </a:r>
            <a:r>
              <a:rPr sz="2400" dirty="0">
                <a:latin typeface="Times New Roman"/>
                <a:cs typeface="Times New Roman"/>
              </a:rPr>
              <a:t>o	deter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ine	</a:t>
            </a:r>
            <a:r>
              <a:rPr sz="2400" spc="-5" dirty="0">
                <a:latin typeface="Times New Roman"/>
                <a:cs typeface="Times New Roman"/>
              </a:rPr>
              <a:t>wh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he</a:t>
            </a:r>
            <a:r>
              <a:rPr sz="2400" dirty="0">
                <a:latin typeface="Times New Roman"/>
                <a:cs typeface="Times New Roman"/>
              </a:rPr>
              <a:t>r	a	proposed	pro</a:t>
            </a:r>
            <a:r>
              <a:rPr sz="2400" spc="5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Times New Roman"/>
                <a:cs typeface="Times New Roman"/>
              </a:rPr>
              <a:t>ect,	or  </a:t>
            </a:r>
            <a:r>
              <a:rPr sz="2400" spc="-5" dirty="0">
                <a:latin typeface="Times New Roman"/>
                <a:cs typeface="Times New Roman"/>
              </a:rPr>
              <a:t>activity </a:t>
            </a:r>
            <a:r>
              <a:rPr sz="2400" dirty="0">
                <a:latin typeface="Times New Roman"/>
                <a:cs typeface="Times New Roman"/>
              </a:rPr>
              <a:t>requires an </a:t>
            </a:r>
            <a:r>
              <a:rPr sz="2400" spc="-5" dirty="0">
                <a:latin typeface="Times New Roman"/>
                <a:cs typeface="Times New Roman"/>
              </a:rPr>
              <a:t>EIA and, </a:t>
            </a:r>
            <a:r>
              <a:rPr sz="2400" dirty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so, </a:t>
            </a:r>
            <a:r>
              <a:rPr sz="2400" spc="-10" dirty="0">
                <a:latin typeface="Times New Roman"/>
                <a:cs typeface="Times New Roman"/>
              </a:rPr>
              <a:t>what </a:t>
            </a:r>
            <a:r>
              <a:rPr sz="2400" spc="30" dirty="0">
                <a:latin typeface="Times New Roman"/>
                <a:cs typeface="Times New Roman"/>
              </a:rPr>
              <a:t>levelof </a:t>
            </a:r>
            <a:r>
              <a:rPr sz="2400" spc="-5" dirty="0">
                <a:latin typeface="Times New Roman"/>
                <a:cs typeface="Times New Roman"/>
              </a:rPr>
              <a:t>environmental </a:t>
            </a:r>
            <a:r>
              <a:rPr sz="2400" dirty="0">
                <a:latin typeface="Times New Roman"/>
                <a:cs typeface="Times New Roman"/>
              </a:rPr>
              <a:t>review is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necessary.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11918" y="6274104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265808" y="5772150"/>
            <a:ext cx="4775200" cy="635000"/>
            <a:chOff x="1265808" y="5772150"/>
            <a:chExt cx="4775200" cy="635000"/>
          </a:xfrm>
        </p:grpSpPr>
        <p:sp>
          <p:nvSpPr>
            <p:cNvPr id="4" name="object 4"/>
            <p:cNvSpPr/>
            <p:nvPr/>
          </p:nvSpPr>
          <p:spPr>
            <a:xfrm>
              <a:off x="1278508" y="5784850"/>
              <a:ext cx="4749800" cy="609600"/>
            </a:xfrm>
            <a:custGeom>
              <a:avLst/>
              <a:gdLst/>
              <a:ahLst/>
              <a:cxnLst/>
              <a:rect l="l" t="t" r="r" b="b"/>
              <a:pathLst>
                <a:path w="4749800" h="609600">
                  <a:moveTo>
                    <a:pt x="0" y="609600"/>
                  </a:moveTo>
                  <a:lnTo>
                    <a:pt x="4749800" y="609600"/>
                  </a:lnTo>
                  <a:lnTo>
                    <a:pt x="47498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8508" y="5784850"/>
              <a:ext cx="4749800" cy="554355"/>
            </a:xfrm>
            <a:custGeom>
              <a:avLst/>
              <a:gdLst/>
              <a:ahLst/>
              <a:cxnLst/>
              <a:rect l="l" t="t" r="r" b="b"/>
              <a:pathLst>
                <a:path w="4749800" h="554354">
                  <a:moveTo>
                    <a:pt x="0" y="553999"/>
                  </a:moveTo>
                  <a:lnTo>
                    <a:pt x="4749800" y="553999"/>
                  </a:lnTo>
                  <a:lnTo>
                    <a:pt x="4749800" y="0"/>
                  </a:lnTo>
                  <a:lnTo>
                    <a:pt x="0" y="0"/>
                  </a:lnTo>
                  <a:lnTo>
                    <a:pt x="0" y="553999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1208" y="5828182"/>
            <a:ext cx="47244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Prepare the </a:t>
            </a:r>
            <a:r>
              <a:rPr sz="1600" spc="-15" dirty="0">
                <a:latin typeface="Times New Roman"/>
                <a:cs typeface="Times New Roman"/>
              </a:rPr>
              <a:t>work </a:t>
            </a:r>
            <a:r>
              <a:rPr sz="1600" spc="-5" dirty="0">
                <a:latin typeface="Times New Roman"/>
                <a:cs typeface="Times New Roman"/>
              </a:rPr>
              <a:t>plan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the initial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environmental</a:t>
            </a:r>
            <a:endParaRPr sz="160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examination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(IEE)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29521" y="1231960"/>
            <a:ext cx="3723004" cy="552450"/>
            <a:chOff x="1529521" y="1231960"/>
            <a:chExt cx="3723004" cy="552450"/>
          </a:xfrm>
        </p:grpSpPr>
        <p:sp>
          <p:nvSpPr>
            <p:cNvPr id="8" name="object 8"/>
            <p:cNvSpPr/>
            <p:nvPr/>
          </p:nvSpPr>
          <p:spPr>
            <a:xfrm>
              <a:off x="1535811" y="1238250"/>
              <a:ext cx="3710304" cy="539750"/>
            </a:xfrm>
            <a:custGeom>
              <a:avLst/>
              <a:gdLst/>
              <a:ahLst/>
              <a:cxnLst/>
              <a:rect l="l" t="t" r="r" b="b"/>
              <a:pathLst>
                <a:path w="3710304" h="539750">
                  <a:moveTo>
                    <a:pt x="3618738" y="0"/>
                  </a:moveTo>
                  <a:lnTo>
                    <a:pt x="89788" y="0"/>
                  </a:lnTo>
                  <a:lnTo>
                    <a:pt x="57150" y="5714"/>
                  </a:lnTo>
                  <a:lnTo>
                    <a:pt x="28447" y="20827"/>
                  </a:lnTo>
                  <a:lnTo>
                    <a:pt x="7873" y="42290"/>
                  </a:lnTo>
                  <a:lnTo>
                    <a:pt x="0" y="67310"/>
                  </a:lnTo>
                  <a:lnTo>
                    <a:pt x="0" y="472439"/>
                  </a:lnTo>
                  <a:lnTo>
                    <a:pt x="7873" y="496824"/>
                  </a:lnTo>
                  <a:lnTo>
                    <a:pt x="28447" y="518413"/>
                  </a:lnTo>
                  <a:lnTo>
                    <a:pt x="57150" y="533908"/>
                  </a:lnTo>
                  <a:lnTo>
                    <a:pt x="89788" y="539750"/>
                  </a:lnTo>
                  <a:lnTo>
                    <a:pt x="3618738" y="539750"/>
                  </a:lnTo>
                  <a:lnTo>
                    <a:pt x="3652266" y="533908"/>
                  </a:lnTo>
                  <a:lnTo>
                    <a:pt x="3681603" y="518413"/>
                  </a:lnTo>
                  <a:lnTo>
                    <a:pt x="3702304" y="496824"/>
                  </a:lnTo>
                  <a:lnTo>
                    <a:pt x="3710178" y="472439"/>
                  </a:lnTo>
                  <a:lnTo>
                    <a:pt x="3710178" y="67310"/>
                  </a:lnTo>
                  <a:lnTo>
                    <a:pt x="3702304" y="42290"/>
                  </a:lnTo>
                  <a:lnTo>
                    <a:pt x="3681603" y="20827"/>
                  </a:lnTo>
                  <a:lnTo>
                    <a:pt x="3652266" y="5714"/>
                  </a:lnTo>
                  <a:lnTo>
                    <a:pt x="3618738" y="0"/>
                  </a:lnTo>
                  <a:close/>
                </a:path>
              </a:pathLst>
            </a:custGeom>
            <a:solidFill>
              <a:srgbClr val="9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811" y="1238250"/>
              <a:ext cx="3710304" cy="539750"/>
            </a:xfrm>
            <a:custGeom>
              <a:avLst/>
              <a:gdLst/>
              <a:ahLst/>
              <a:cxnLst/>
              <a:rect l="l" t="t" r="r" b="b"/>
              <a:pathLst>
                <a:path w="3710304" h="539750">
                  <a:moveTo>
                    <a:pt x="89788" y="0"/>
                  </a:moveTo>
                  <a:lnTo>
                    <a:pt x="57150" y="5714"/>
                  </a:lnTo>
                  <a:lnTo>
                    <a:pt x="28447" y="20827"/>
                  </a:lnTo>
                  <a:lnTo>
                    <a:pt x="7873" y="42290"/>
                  </a:lnTo>
                  <a:lnTo>
                    <a:pt x="0" y="67310"/>
                  </a:lnTo>
                  <a:lnTo>
                    <a:pt x="0" y="472439"/>
                  </a:lnTo>
                  <a:lnTo>
                    <a:pt x="7873" y="496824"/>
                  </a:lnTo>
                  <a:lnTo>
                    <a:pt x="28447" y="518413"/>
                  </a:lnTo>
                  <a:lnTo>
                    <a:pt x="57150" y="533908"/>
                  </a:lnTo>
                  <a:lnTo>
                    <a:pt x="89788" y="539750"/>
                  </a:lnTo>
                  <a:lnTo>
                    <a:pt x="3618738" y="539750"/>
                  </a:lnTo>
                  <a:lnTo>
                    <a:pt x="3652266" y="533908"/>
                  </a:lnTo>
                  <a:lnTo>
                    <a:pt x="3681603" y="518413"/>
                  </a:lnTo>
                  <a:lnTo>
                    <a:pt x="3702304" y="496824"/>
                  </a:lnTo>
                  <a:lnTo>
                    <a:pt x="3710178" y="472439"/>
                  </a:lnTo>
                  <a:lnTo>
                    <a:pt x="3710178" y="67310"/>
                  </a:lnTo>
                  <a:lnTo>
                    <a:pt x="3702304" y="42290"/>
                  </a:lnTo>
                  <a:lnTo>
                    <a:pt x="3681603" y="20827"/>
                  </a:lnTo>
                  <a:lnTo>
                    <a:pt x="3652266" y="5714"/>
                  </a:lnTo>
                  <a:lnTo>
                    <a:pt x="3618738" y="0"/>
                  </a:lnTo>
                  <a:lnTo>
                    <a:pt x="89788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811" y="1238250"/>
              <a:ext cx="3710304" cy="539750"/>
            </a:xfrm>
            <a:custGeom>
              <a:avLst/>
              <a:gdLst/>
              <a:ahLst/>
              <a:cxnLst/>
              <a:rect l="l" t="t" r="r" b="b"/>
              <a:pathLst>
                <a:path w="3710304" h="539750">
                  <a:moveTo>
                    <a:pt x="0" y="0"/>
                  </a:moveTo>
                  <a:lnTo>
                    <a:pt x="0" y="0"/>
                  </a:lnTo>
                </a:path>
                <a:path w="3710304" h="539750">
                  <a:moveTo>
                    <a:pt x="3710178" y="539750"/>
                  </a:moveTo>
                  <a:lnTo>
                    <a:pt x="3710178" y="53975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783460" y="4751108"/>
            <a:ext cx="3130550" cy="656590"/>
            <a:chOff x="1783460" y="4751108"/>
            <a:chExt cx="3130550" cy="656590"/>
          </a:xfrm>
        </p:grpSpPr>
        <p:sp>
          <p:nvSpPr>
            <p:cNvPr id="12" name="object 12"/>
            <p:cNvSpPr/>
            <p:nvPr/>
          </p:nvSpPr>
          <p:spPr>
            <a:xfrm>
              <a:off x="1789810" y="4757419"/>
              <a:ext cx="3117850" cy="650240"/>
            </a:xfrm>
            <a:custGeom>
              <a:avLst/>
              <a:gdLst/>
              <a:ahLst/>
              <a:cxnLst/>
              <a:rect l="l" t="t" r="r" b="b"/>
              <a:pathLst>
                <a:path w="3117850" h="650239">
                  <a:moveTo>
                    <a:pt x="3117468" y="0"/>
                  </a:moveTo>
                  <a:lnTo>
                    <a:pt x="0" y="0"/>
                  </a:lnTo>
                  <a:lnTo>
                    <a:pt x="0" y="650239"/>
                  </a:lnTo>
                  <a:lnTo>
                    <a:pt x="3117468" y="650239"/>
                  </a:lnTo>
                  <a:lnTo>
                    <a:pt x="3117468" y="0"/>
                  </a:lnTo>
                  <a:close/>
                </a:path>
              </a:pathLst>
            </a:custGeom>
            <a:solidFill>
              <a:srgbClr val="9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9810" y="4757458"/>
              <a:ext cx="3117850" cy="574675"/>
            </a:xfrm>
            <a:custGeom>
              <a:avLst/>
              <a:gdLst/>
              <a:ahLst/>
              <a:cxnLst/>
              <a:rect l="l" t="t" r="r" b="b"/>
              <a:pathLst>
                <a:path w="3117850" h="574675">
                  <a:moveTo>
                    <a:pt x="0" y="574509"/>
                  </a:moveTo>
                  <a:lnTo>
                    <a:pt x="3117468" y="574509"/>
                  </a:lnTo>
                  <a:lnTo>
                    <a:pt x="3117468" y="0"/>
                  </a:lnTo>
                  <a:lnTo>
                    <a:pt x="0" y="0"/>
                  </a:lnTo>
                  <a:lnTo>
                    <a:pt x="0" y="574509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89810" y="4757458"/>
            <a:ext cx="3117850" cy="574675"/>
          </a:xfrm>
          <a:prstGeom prst="rect">
            <a:avLst/>
          </a:prstGeom>
          <a:solidFill>
            <a:srgbClr val="9CFFFF"/>
          </a:solidFill>
          <a:ln w="12578">
            <a:solidFill>
              <a:srgbClr val="949494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R="784860" algn="ctr">
              <a:lnSpc>
                <a:spcPct val="100000"/>
              </a:lnSpc>
              <a:spcBef>
                <a:spcPts val="610"/>
              </a:spcBef>
            </a:pPr>
            <a:r>
              <a:rPr sz="1600" spc="-15" dirty="0">
                <a:latin typeface="Arial"/>
                <a:cs typeface="Arial"/>
              </a:rPr>
              <a:t>Get </a:t>
            </a:r>
            <a:r>
              <a:rPr sz="1600" spc="-5" dirty="0">
                <a:latin typeface="Arial"/>
                <a:cs typeface="Arial"/>
              </a:rPr>
              <a:t>specific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IAA</a:t>
            </a:r>
            <a:endParaRPr sz="1600">
              <a:latin typeface="Arial"/>
              <a:cs typeface="Arial"/>
            </a:endParaRPr>
          </a:p>
          <a:p>
            <a:pPr marR="774065" algn="ctr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requirements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29461" y="2133600"/>
            <a:ext cx="3672204" cy="647700"/>
            <a:chOff x="1529461" y="2133600"/>
            <a:chExt cx="3672204" cy="647700"/>
          </a:xfrm>
        </p:grpSpPr>
        <p:sp>
          <p:nvSpPr>
            <p:cNvPr id="16" name="object 16"/>
            <p:cNvSpPr/>
            <p:nvPr/>
          </p:nvSpPr>
          <p:spPr>
            <a:xfrm>
              <a:off x="1535811" y="2139950"/>
              <a:ext cx="3659504" cy="635000"/>
            </a:xfrm>
            <a:custGeom>
              <a:avLst/>
              <a:gdLst/>
              <a:ahLst/>
              <a:cxnLst/>
              <a:rect l="l" t="t" r="r" b="b"/>
              <a:pathLst>
                <a:path w="3659504" h="635000">
                  <a:moveTo>
                    <a:pt x="3552698" y="0"/>
                  </a:moveTo>
                  <a:lnTo>
                    <a:pt x="106680" y="0"/>
                  </a:lnTo>
                  <a:lnTo>
                    <a:pt x="67944" y="6730"/>
                  </a:lnTo>
                  <a:lnTo>
                    <a:pt x="33654" y="24637"/>
                  </a:lnTo>
                  <a:lnTo>
                    <a:pt x="9270" y="49784"/>
                  </a:lnTo>
                  <a:lnTo>
                    <a:pt x="0" y="78739"/>
                  </a:lnTo>
                  <a:lnTo>
                    <a:pt x="0" y="556260"/>
                  </a:lnTo>
                  <a:lnTo>
                    <a:pt x="9270" y="585215"/>
                  </a:lnTo>
                  <a:lnTo>
                    <a:pt x="33654" y="610362"/>
                  </a:lnTo>
                  <a:lnTo>
                    <a:pt x="67944" y="628269"/>
                  </a:lnTo>
                  <a:lnTo>
                    <a:pt x="106680" y="635000"/>
                  </a:lnTo>
                  <a:lnTo>
                    <a:pt x="3552698" y="635000"/>
                  </a:lnTo>
                  <a:lnTo>
                    <a:pt x="3591433" y="628269"/>
                  </a:lnTo>
                  <a:lnTo>
                    <a:pt x="3625723" y="610362"/>
                  </a:lnTo>
                  <a:lnTo>
                    <a:pt x="3650106" y="585215"/>
                  </a:lnTo>
                  <a:lnTo>
                    <a:pt x="3659378" y="556260"/>
                  </a:lnTo>
                  <a:lnTo>
                    <a:pt x="3659378" y="78739"/>
                  </a:lnTo>
                  <a:lnTo>
                    <a:pt x="3650106" y="49784"/>
                  </a:lnTo>
                  <a:lnTo>
                    <a:pt x="3625723" y="24637"/>
                  </a:lnTo>
                  <a:lnTo>
                    <a:pt x="3591433" y="6730"/>
                  </a:lnTo>
                  <a:lnTo>
                    <a:pt x="3552698" y="0"/>
                  </a:lnTo>
                  <a:close/>
                </a:path>
              </a:pathLst>
            </a:custGeom>
            <a:solidFill>
              <a:srgbClr val="9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811" y="2139950"/>
              <a:ext cx="3659504" cy="635000"/>
            </a:xfrm>
            <a:custGeom>
              <a:avLst/>
              <a:gdLst/>
              <a:ahLst/>
              <a:cxnLst/>
              <a:rect l="l" t="t" r="r" b="b"/>
              <a:pathLst>
                <a:path w="3659504" h="635000">
                  <a:moveTo>
                    <a:pt x="106680" y="0"/>
                  </a:moveTo>
                  <a:lnTo>
                    <a:pt x="67944" y="6730"/>
                  </a:lnTo>
                  <a:lnTo>
                    <a:pt x="33654" y="24637"/>
                  </a:lnTo>
                  <a:lnTo>
                    <a:pt x="9270" y="49784"/>
                  </a:lnTo>
                  <a:lnTo>
                    <a:pt x="0" y="78739"/>
                  </a:lnTo>
                  <a:lnTo>
                    <a:pt x="0" y="556260"/>
                  </a:lnTo>
                  <a:lnTo>
                    <a:pt x="9270" y="585215"/>
                  </a:lnTo>
                  <a:lnTo>
                    <a:pt x="33654" y="610362"/>
                  </a:lnTo>
                  <a:lnTo>
                    <a:pt x="67944" y="628269"/>
                  </a:lnTo>
                  <a:lnTo>
                    <a:pt x="106680" y="635000"/>
                  </a:lnTo>
                  <a:lnTo>
                    <a:pt x="3552698" y="635000"/>
                  </a:lnTo>
                  <a:lnTo>
                    <a:pt x="3591433" y="628269"/>
                  </a:lnTo>
                  <a:lnTo>
                    <a:pt x="3625723" y="610362"/>
                  </a:lnTo>
                  <a:lnTo>
                    <a:pt x="3650106" y="585215"/>
                  </a:lnTo>
                  <a:lnTo>
                    <a:pt x="3659378" y="556260"/>
                  </a:lnTo>
                  <a:lnTo>
                    <a:pt x="3659378" y="78739"/>
                  </a:lnTo>
                  <a:lnTo>
                    <a:pt x="3650106" y="49784"/>
                  </a:lnTo>
                  <a:lnTo>
                    <a:pt x="3625723" y="24637"/>
                  </a:lnTo>
                  <a:lnTo>
                    <a:pt x="3591433" y="6730"/>
                  </a:lnTo>
                  <a:lnTo>
                    <a:pt x="3552698" y="0"/>
                  </a:lnTo>
                  <a:lnTo>
                    <a:pt x="106680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811" y="2139950"/>
              <a:ext cx="3659504" cy="635000"/>
            </a:xfrm>
            <a:custGeom>
              <a:avLst/>
              <a:gdLst/>
              <a:ahLst/>
              <a:cxnLst/>
              <a:rect l="l" t="t" r="r" b="b"/>
              <a:pathLst>
                <a:path w="3659504" h="635000">
                  <a:moveTo>
                    <a:pt x="0" y="0"/>
                  </a:moveTo>
                  <a:lnTo>
                    <a:pt x="0" y="0"/>
                  </a:lnTo>
                </a:path>
                <a:path w="3659504" h="635000">
                  <a:moveTo>
                    <a:pt x="3659378" y="635000"/>
                  </a:moveTo>
                  <a:lnTo>
                    <a:pt x="3659378" y="63500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89201" y="1271142"/>
            <a:ext cx="2757170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103505" algn="ctr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latin typeface="Times New Roman"/>
                <a:cs typeface="Times New Roman"/>
              </a:rPr>
              <a:t>Project </a:t>
            </a:r>
            <a:r>
              <a:rPr sz="1500" spc="-20" dirty="0">
                <a:latin typeface="Times New Roman"/>
                <a:cs typeface="Times New Roman"/>
              </a:rPr>
              <a:t>type </a:t>
            </a:r>
            <a:r>
              <a:rPr sz="1500" spc="-5" dirty="0">
                <a:latin typeface="Times New Roman"/>
                <a:cs typeface="Times New Roman"/>
              </a:rPr>
              <a:t>on </a:t>
            </a:r>
            <a:r>
              <a:rPr sz="1500" spc="-15" dirty="0">
                <a:latin typeface="Times New Roman"/>
                <a:cs typeface="Times New Roman"/>
              </a:rPr>
              <a:t>project screening  checklist?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Project scale above the screening  threshold</a:t>
            </a:r>
            <a:r>
              <a:rPr sz="1600" spc="-5" dirty="0">
                <a:latin typeface="Arial"/>
                <a:cs typeface="Arial"/>
              </a:rPr>
              <a:t>?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274941" y="2628900"/>
            <a:ext cx="3771900" cy="590550"/>
            <a:chOff x="7274941" y="2628900"/>
            <a:chExt cx="3771900" cy="590550"/>
          </a:xfrm>
        </p:grpSpPr>
        <p:sp>
          <p:nvSpPr>
            <p:cNvPr id="21" name="object 21"/>
            <p:cNvSpPr/>
            <p:nvPr/>
          </p:nvSpPr>
          <p:spPr>
            <a:xfrm>
              <a:off x="7281291" y="2635250"/>
              <a:ext cx="3759200" cy="577850"/>
            </a:xfrm>
            <a:custGeom>
              <a:avLst/>
              <a:gdLst/>
              <a:ahLst/>
              <a:cxnLst/>
              <a:rect l="l" t="t" r="r" b="b"/>
              <a:pathLst>
                <a:path w="3759200" h="577850">
                  <a:moveTo>
                    <a:pt x="3662679" y="0"/>
                  </a:moveTo>
                  <a:lnTo>
                    <a:pt x="96519" y="0"/>
                  </a:lnTo>
                  <a:lnTo>
                    <a:pt x="60705" y="6096"/>
                  </a:lnTo>
                  <a:lnTo>
                    <a:pt x="29844" y="22225"/>
                  </a:lnTo>
                  <a:lnTo>
                    <a:pt x="8254" y="44958"/>
                  </a:lnTo>
                  <a:lnTo>
                    <a:pt x="0" y="71120"/>
                  </a:lnTo>
                  <a:lnTo>
                    <a:pt x="0" y="505460"/>
                  </a:lnTo>
                  <a:lnTo>
                    <a:pt x="8254" y="531749"/>
                  </a:lnTo>
                  <a:lnTo>
                    <a:pt x="29844" y="554989"/>
                  </a:lnTo>
                  <a:lnTo>
                    <a:pt x="60705" y="571500"/>
                  </a:lnTo>
                  <a:lnTo>
                    <a:pt x="96519" y="577850"/>
                  </a:lnTo>
                  <a:lnTo>
                    <a:pt x="3662679" y="577850"/>
                  </a:lnTo>
                  <a:lnTo>
                    <a:pt x="3698493" y="571500"/>
                  </a:lnTo>
                  <a:lnTo>
                    <a:pt x="3729354" y="554989"/>
                  </a:lnTo>
                  <a:lnTo>
                    <a:pt x="3751072" y="531749"/>
                  </a:lnTo>
                  <a:lnTo>
                    <a:pt x="3759200" y="505460"/>
                  </a:lnTo>
                  <a:lnTo>
                    <a:pt x="3759200" y="71120"/>
                  </a:lnTo>
                  <a:lnTo>
                    <a:pt x="3751072" y="44958"/>
                  </a:lnTo>
                  <a:lnTo>
                    <a:pt x="3729354" y="22225"/>
                  </a:lnTo>
                  <a:lnTo>
                    <a:pt x="3698493" y="6096"/>
                  </a:lnTo>
                  <a:lnTo>
                    <a:pt x="3662679" y="0"/>
                  </a:lnTo>
                  <a:close/>
                </a:path>
              </a:pathLst>
            </a:custGeom>
            <a:solidFill>
              <a:srgbClr val="9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81291" y="2635250"/>
              <a:ext cx="3759200" cy="577850"/>
            </a:xfrm>
            <a:custGeom>
              <a:avLst/>
              <a:gdLst/>
              <a:ahLst/>
              <a:cxnLst/>
              <a:rect l="l" t="t" r="r" b="b"/>
              <a:pathLst>
                <a:path w="3759200" h="577850">
                  <a:moveTo>
                    <a:pt x="96519" y="0"/>
                  </a:moveTo>
                  <a:lnTo>
                    <a:pt x="60705" y="6096"/>
                  </a:lnTo>
                  <a:lnTo>
                    <a:pt x="29844" y="22225"/>
                  </a:lnTo>
                  <a:lnTo>
                    <a:pt x="8254" y="44958"/>
                  </a:lnTo>
                  <a:lnTo>
                    <a:pt x="0" y="71120"/>
                  </a:lnTo>
                  <a:lnTo>
                    <a:pt x="0" y="505460"/>
                  </a:lnTo>
                  <a:lnTo>
                    <a:pt x="8254" y="531749"/>
                  </a:lnTo>
                  <a:lnTo>
                    <a:pt x="29844" y="554989"/>
                  </a:lnTo>
                  <a:lnTo>
                    <a:pt x="60705" y="571500"/>
                  </a:lnTo>
                  <a:lnTo>
                    <a:pt x="96519" y="577850"/>
                  </a:lnTo>
                  <a:lnTo>
                    <a:pt x="3662679" y="577850"/>
                  </a:lnTo>
                  <a:lnTo>
                    <a:pt x="3698493" y="571500"/>
                  </a:lnTo>
                  <a:lnTo>
                    <a:pt x="3729354" y="554989"/>
                  </a:lnTo>
                  <a:lnTo>
                    <a:pt x="3751072" y="531749"/>
                  </a:lnTo>
                  <a:lnTo>
                    <a:pt x="3759200" y="505460"/>
                  </a:lnTo>
                  <a:lnTo>
                    <a:pt x="3759200" y="71120"/>
                  </a:lnTo>
                  <a:lnTo>
                    <a:pt x="3751072" y="44958"/>
                  </a:lnTo>
                  <a:lnTo>
                    <a:pt x="3729354" y="22225"/>
                  </a:lnTo>
                  <a:lnTo>
                    <a:pt x="3698493" y="6096"/>
                  </a:lnTo>
                  <a:lnTo>
                    <a:pt x="3662679" y="0"/>
                  </a:lnTo>
                  <a:lnTo>
                    <a:pt x="96519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81291" y="2635250"/>
              <a:ext cx="3759200" cy="577850"/>
            </a:xfrm>
            <a:custGeom>
              <a:avLst/>
              <a:gdLst/>
              <a:ahLst/>
              <a:cxnLst/>
              <a:rect l="l" t="t" r="r" b="b"/>
              <a:pathLst>
                <a:path w="3759200" h="577850">
                  <a:moveTo>
                    <a:pt x="0" y="0"/>
                  </a:moveTo>
                  <a:lnTo>
                    <a:pt x="0" y="0"/>
                  </a:lnTo>
                </a:path>
                <a:path w="3759200" h="577850">
                  <a:moveTo>
                    <a:pt x="3759200" y="577850"/>
                  </a:moveTo>
                  <a:lnTo>
                    <a:pt x="3759200" y="57785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569834" y="2662808"/>
            <a:ext cx="27254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Project located in a critical</a:t>
            </a:r>
            <a:r>
              <a:rPr sz="1600" spc="3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area?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147941" y="3488690"/>
            <a:ext cx="3975100" cy="680720"/>
            <a:chOff x="7147941" y="3488690"/>
            <a:chExt cx="3975100" cy="680720"/>
          </a:xfrm>
        </p:grpSpPr>
        <p:sp>
          <p:nvSpPr>
            <p:cNvPr id="26" name="object 26"/>
            <p:cNvSpPr/>
            <p:nvPr/>
          </p:nvSpPr>
          <p:spPr>
            <a:xfrm>
              <a:off x="7154291" y="3495040"/>
              <a:ext cx="3962400" cy="668020"/>
            </a:xfrm>
            <a:custGeom>
              <a:avLst/>
              <a:gdLst/>
              <a:ahLst/>
              <a:cxnLst/>
              <a:rect l="l" t="t" r="r" b="b"/>
              <a:pathLst>
                <a:path w="3962400" h="668020">
                  <a:moveTo>
                    <a:pt x="3850639" y="0"/>
                  </a:moveTo>
                  <a:lnTo>
                    <a:pt x="110108" y="0"/>
                  </a:lnTo>
                  <a:lnTo>
                    <a:pt x="69341" y="7238"/>
                  </a:lnTo>
                  <a:lnTo>
                    <a:pt x="34162" y="26162"/>
                  </a:lnTo>
                  <a:lnTo>
                    <a:pt x="9398" y="53086"/>
                  </a:lnTo>
                  <a:lnTo>
                    <a:pt x="0" y="83820"/>
                  </a:lnTo>
                  <a:lnTo>
                    <a:pt x="0" y="584200"/>
                  </a:lnTo>
                  <a:lnTo>
                    <a:pt x="9398" y="614934"/>
                  </a:lnTo>
                  <a:lnTo>
                    <a:pt x="34162" y="641858"/>
                  </a:lnTo>
                  <a:lnTo>
                    <a:pt x="69341" y="660781"/>
                  </a:lnTo>
                  <a:lnTo>
                    <a:pt x="110108" y="668020"/>
                  </a:lnTo>
                  <a:lnTo>
                    <a:pt x="3850639" y="668020"/>
                  </a:lnTo>
                  <a:lnTo>
                    <a:pt x="3891660" y="660781"/>
                  </a:lnTo>
                  <a:lnTo>
                    <a:pt x="3927475" y="641858"/>
                  </a:lnTo>
                  <a:lnTo>
                    <a:pt x="3952875" y="614934"/>
                  </a:lnTo>
                  <a:lnTo>
                    <a:pt x="3962400" y="584200"/>
                  </a:lnTo>
                  <a:lnTo>
                    <a:pt x="3962400" y="83820"/>
                  </a:lnTo>
                  <a:lnTo>
                    <a:pt x="3952875" y="53086"/>
                  </a:lnTo>
                  <a:lnTo>
                    <a:pt x="3927475" y="26162"/>
                  </a:lnTo>
                  <a:lnTo>
                    <a:pt x="3891660" y="7238"/>
                  </a:lnTo>
                  <a:lnTo>
                    <a:pt x="3850639" y="0"/>
                  </a:lnTo>
                  <a:close/>
                </a:path>
              </a:pathLst>
            </a:custGeom>
            <a:solidFill>
              <a:srgbClr val="9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54291" y="3495040"/>
              <a:ext cx="3962400" cy="668020"/>
            </a:xfrm>
            <a:custGeom>
              <a:avLst/>
              <a:gdLst/>
              <a:ahLst/>
              <a:cxnLst/>
              <a:rect l="l" t="t" r="r" b="b"/>
              <a:pathLst>
                <a:path w="3962400" h="668020">
                  <a:moveTo>
                    <a:pt x="110108" y="0"/>
                  </a:moveTo>
                  <a:lnTo>
                    <a:pt x="69341" y="7238"/>
                  </a:lnTo>
                  <a:lnTo>
                    <a:pt x="34162" y="26162"/>
                  </a:lnTo>
                  <a:lnTo>
                    <a:pt x="9398" y="53086"/>
                  </a:lnTo>
                  <a:lnTo>
                    <a:pt x="0" y="83820"/>
                  </a:lnTo>
                  <a:lnTo>
                    <a:pt x="0" y="584200"/>
                  </a:lnTo>
                  <a:lnTo>
                    <a:pt x="9398" y="614934"/>
                  </a:lnTo>
                  <a:lnTo>
                    <a:pt x="34162" y="641858"/>
                  </a:lnTo>
                  <a:lnTo>
                    <a:pt x="69341" y="660781"/>
                  </a:lnTo>
                  <a:lnTo>
                    <a:pt x="110108" y="668020"/>
                  </a:lnTo>
                  <a:lnTo>
                    <a:pt x="3850639" y="668020"/>
                  </a:lnTo>
                  <a:lnTo>
                    <a:pt x="3891660" y="660781"/>
                  </a:lnTo>
                  <a:lnTo>
                    <a:pt x="3927475" y="641858"/>
                  </a:lnTo>
                  <a:lnTo>
                    <a:pt x="3952875" y="614934"/>
                  </a:lnTo>
                  <a:lnTo>
                    <a:pt x="3962400" y="584200"/>
                  </a:lnTo>
                  <a:lnTo>
                    <a:pt x="3962400" y="83820"/>
                  </a:lnTo>
                  <a:lnTo>
                    <a:pt x="3952875" y="53086"/>
                  </a:lnTo>
                  <a:lnTo>
                    <a:pt x="3927475" y="26162"/>
                  </a:lnTo>
                  <a:lnTo>
                    <a:pt x="3891660" y="7238"/>
                  </a:lnTo>
                  <a:lnTo>
                    <a:pt x="3850639" y="0"/>
                  </a:lnTo>
                  <a:lnTo>
                    <a:pt x="110108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54291" y="3495040"/>
              <a:ext cx="3962400" cy="668020"/>
            </a:xfrm>
            <a:custGeom>
              <a:avLst/>
              <a:gdLst/>
              <a:ahLst/>
              <a:cxnLst/>
              <a:rect l="l" t="t" r="r" b="b"/>
              <a:pathLst>
                <a:path w="3962400" h="668020">
                  <a:moveTo>
                    <a:pt x="0" y="0"/>
                  </a:moveTo>
                  <a:lnTo>
                    <a:pt x="0" y="0"/>
                  </a:lnTo>
                </a:path>
                <a:path w="3962400" h="668020">
                  <a:moveTo>
                    <a:pt x="3962400" y="668020"/>
                  </a:moveTo>
                  <a:lnTo>
                    <a:pt x="3962400" y="66802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623809" y="3567176"/>
            <a:ext cx="27825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280" marR="5080" indent="-685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IAA funding, or any other special  circumstances?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141091" y="1847850"/>
            <a:ext cx="152400" cy="260350"/>
            <a:chOff x="3141091" y="1847850"/>
            <a:chExt cx="152400" cy="260350"/>
          </a:xfrm>
        </p:grpSpPr>
        <p:sp>
          <p:nvSpPr>
            <p:cNvPr id="31" name="object 31"/>
            <p:cNvSpPr/>
            <p:nvPr/>
          </p:nvSpPr>
          <p:spPr>
            <a:xfrm>
              <a:off x="3217291" y="1847850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h="153669">
                  <a:moveTo>
                    <a:pt x="0" y="0"/>
                  </a:moveTo>
                  <a:lnTo>
                    <a:pt x="0" y="15367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41091" y="199390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152399" y="0"/>
                  </a:moveTo>
                  <a:lnTo>
                    <a:pt x="0" y="0"/>
                  </a:lnTo>
                  <a:lnTo>
                    <a:pt x="76200" y="11430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8754491" y="3263900"/>
            <a:ext cx="152400" cy="257810"/>
            <a:chOff x="8754491" y="3263900"/>
            <a:chExt cx="152400" cy="257810"/>
          </a:xfrm>
        </p:grpSpPr>
        <p:sp>
          <p:nvSpPr>
            <p:cNvPr id="34" name="object 34"/>
            <p:cNvSpPr/>
            <p:nvPr/>
          </p:nvSpPr>
          <p:spPr>
            <a:xfrm>
              <a:off x="8830691" y="3263900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0"/>
                  </a:moveTo>
                  <a:lnTo>
                    <a:pt x="0" y="1498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54491" y="3406139"/>
              <a:ext cx="152400" cy="115570"/>
            </a:xfrm>
            <a:custGeom>
              <a:avLst/>
              <a:gdLst/>
              <a:ahLst/>
              <a:cxnLst/>
              <a:rect l="l" t="t" r="r" b="b"/>
              <a:pathLst>
                <a:path w="152400" h="115570">
                  <a:moveTo>
                    <a:pt x="152400" y="0"/>
                  </a:moveTo>
                  <a:lnTo>
                    <a:pt x="0" y="0"/>
                  </a:lnTo>
                  <a:lnTo>
                    <a:pt x="76200" y="11557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8715629" y="4273550"/>
            <a:ext cx="154305" cy="1209040"/>
            <a:chOff x="8715629" y="4273550"/>
            <a:chExt cx="154305" cy="1209040"/>
          </a:xfrm>
        </p:grpSpPr>
        <p:sp>
          <p:nvSpPr>
            <p:cNvPr id="37" name="object 37"/>
            <p:cNvSpPr/>
            <p:nvPr/>
          </p:nvSpPr>
          <p:spPr>
            <a:xfrm>
              <a:off x="8793480" y="4273550"/>
              <a:ext cx="0" cy="1102360"/>
            </a:xfrm>
            <a:custGeom>
              <a:avLst/>
              <a:gdLst/>
              <a:ahLst/>
              <a:cxnLst/>
              <a:rect l="l" t="t" r="r" b="b"/>
              <a:pathLst>
                <a:path h="1102360">
                  <a:moveTo>
                    <a:pt x="0" y="0"/>
                  </a:moveTo>
                  <a:lnTo>
                    <a:pt x="0" y="11023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715629" y="5368289"/>
              <a:ext cx="154305" cy="114300"/>
            </a:xfrm>
            <a:custGeom>
              <a:avLst/>
              <a:gdLst/>
              <a:ahLst/>
              <a:cxnLst/>
              <a:rect l="l" t="t" r="r" b="b"/>
              <a:pathLst>
                <a:path w="154304" h="114300">
                  <a:moveTo>
                    <a:pt x="154050" y="0"/>
                  </a:moveTo>
                  <a:lnTo>
                    <a:pt x="0" y="0"/>
                  </a:lnTo>
                  <a:lnTo>
                    <a:pt x="77850" y="114300"/>
                  </a:lnTo>
                  <a:lnTo>
                    <a:pt x="154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5274309" y="1474469"/>
            <a:ext cx="3649979" cy="1154430"/>
            <a:chOff x="5274309" y="1474469"/>
            <a:chExt cx="3649979" cy="1154430"/>
          </a:xfrm>
        </p:grpSpPr>
        <p:sp>
          <p:nvSpPr>
            <p:cNvPr id="40" name="object 40"/>
            <p:cNvSpPr/>
            <p:nvPr/>
          </p:nvSpPr>
          <p:spPr>
            <a:xfrm>
              <a:off x="5376290" y="1493519"/>
              <a:ext cx="3471545" cy="1028700"/>
            </a:xfrm>
            <a:custGeom>
              <a:avLst/>
              <a:gdLst/>
              <a:ahLst/>
              <a:cxnLst/>
              <a:rect l="l" t="t" r="r" b="b"/>
              <a:pathLst>
                <a:path w="3471545" h="1028700">
                  <a:moveTo>
                    <a:pt x="0" y="0"/>
                  </a:moveTo>
                  <a:lnTo>
                    <a:pt x="3471417" y="0"/>
                  </a:lnTo>
                  <a:lnTo>
                    <a:pt x="3471417" y="10287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771508" y="251460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152400" y="0"/>
                  </a:moveTo>
                  <a:lnTo>
                    <a:pt x="0" y="0"/>
                  </a:lnTo>
                  <a:lnTo>
                    <a:pt x="76200" y="1143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93359" y="2374900"/>
              <a:ext cx="3212465" cy="0"/>
            </a:xfrm>
            <a:custGeom>
              <a:avLst/>
              <a:gdLst/>
              <a:ahLst/>
              <a:cxnLst/>
              <a:rect l="l" t="t" r="r" b="b"/>
              <a:pathLst>
                <a:path w="3212465">
                  <a:moveTo>
                    <a:pt x="0" y="0"/>
                  </a:moveTo>
                  <a:lnTo>
                    <a:pt x="321221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495410" y="23177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0" y="114300"/>
                  </a:lnTo>
                  <a:lnTo>
                    <a:pt x="1524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729734" y="4239514"/>
            <a:ext cx="2355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N</a:t>
            </a:r>
            <a:r>
              <a:rPr sz="1100" b="1" dirty="0">
                <a:latin typeface="Arial"/>
                <a:cs typeface="Arial"/>
              </a:rPr>
              <a:t>O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692020" y="2840989"/>
            <a:ext cx="3392804" cy="1635760"/>
            <a:chOff x="1692020" y="2840989"/>
            <a:chExt cx="3392804" cy="1635760"/>
          </a:xfrm>
        </p:grpSpPr>
        <p:sp>
          <p:nvSpPr>
            <p:cNvPr id="46" name="object 46"/>
            <p:cNvSpPr/>
            <p:nvPr/>
          </p:nvSpPr>
          <p:spPr>
            <a:xfrm>
              <a:off x="3203828" y="2860039"/>
              <a:ext cx="0" cy="863600"/>
            </a:xfrm>
            <a:custGeom>
              <a:avLst/>
              <a:gdLst/>
              <a:ahLst/>
              <a:cxnLst/>
              <a:rect l="l" t="t" r="r" b="b"/>
              <a:pathLst>
                <a:path h="863600">
                  <a:moveTo>
                    <a:pt x="0" y="0"/>
                  </a:moveTo>
                  <a:lnTo>
                    <a:pt x="0" y="8636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27628" y="3716019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152399" y="0"/>
                  </a:moveTo>
                  <a:lnTo>
                    <a:pt x="0" y="0"/>
                  </a:lnTo>
                  <a:lnTo>
                    <a:pt x="76200" y="114299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98370" y="3873500"/>
              <a:ext cx="3380104" cy="596900"/>
            </a:xfrm>
            <a:custGeom>
              <a:avLst/>
              <a:gdLst/>
              <a:ahLst/>
              <a:cxnLst/>
              <a:rect l="l" t="t" r="r" b="b"/>
              <a:pathLst>
                <a:path w="3380104" h="596900">
                  <a:moveTo>
                    <a:pt x="3280029" y="0"/>
                  </a:moveTo>
                  <a:lnTo>
                    <a:pt x="98298" y="0"/>
                  </a:lnTo>
                  <a:lnTo>
                    <a:pt x="62230" y="6350"/>
                  </a:lnTo>
                  <a:lnTo>
                    <a:pt x="30734" y="23113"/>
                  </a:lnTo>
                  <a:lnTo>
                    <a:pt x="8509" y="47117"/>
                  </a:lnTo>
                  <a:lnTo>
                    <a:pt x="0" y="74930"/>
                  </a:lnTo>
                  <a:lnTo>
                    <a:pt x="0" y="521969"/>
                  </a:lnTo>
                  <a:lnTo>
                    <a:pt x="8509" y="549782"/>
                  </a:lnTo>
                  <a:lnTo>
                    <a:pt x="30734" y="573658"/>
                  </a:lnTo>
                  <a:lnTo>
                    <a:pt x="62230" y="590550"/>
                  </a:lnTo>
                  <a:lnTo>
                    <a:pt x="98298" y="596900"/>
                  </a:lnTo>
                  <a:lnTo>
                    <a:pt x="3280029" y="596900"/>
                  </a:lnTo>
                  <a:lnTo>
                    <a:pt x="3317113" y="590550"/>
                  </a:lnTo>
                  <a:lnTo>
                    <a:pt x="3348990" y="573658"/>
                  </a:lnTo>
                  <a:lnTo>
                    <a:pt x="3371469" y="549782"/>
                  </a:lnTo>
                  <a:lnTo>
                    <a:pt x="3379978" y="521969"/>
                  </a:lnTo>
                  <a:lnTo>
                    <a:pt x="3379978" y="74930"/>
                  </a:lnTo>
                  <a:lnTo>
                    <a:pt x="3371469" y="47117"/>
                  </a:lnTo>
                  <a:lnTo>
                    <a:pt x="3348990" y="23113"/>
                  </a:lnTo>
                  <a:lnTo>
                    <a:pt x="3317113" y="6350"/>
                  </a:lnTo>
                  <a:lnTo>
                    <a:pt x="3280029" y="0"/>
                  </a:lnTo>
                  <a:close/>
                </a:path>
              </a:pathLst>
            </a:custGeom>
            <a:solidFill>
              <a:srgbClr val="9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98370" y="3873500"/>
              <a:ext cx="3380104" cy="596900"/>
            </a:xfrm>
            <a:custGeom>
              <a:avLst/>
              <a:gdLst/>
              <a:ahLst/>
              <a:cxnLst/>
              <a:rect l="l" t="t" r="r" b="b"/>
              <a:pathLst>
                <a:path w="3380104" h="596900">
                  <a:moveTo>
                    <a:pt x="98298" y="0"/>
                  </a:moveTo>
                  <a:lnTo>
                    <a:pt x="62230" y="6350"/>
                  </a:lnTo>
                  <a:lnTo>
                    <a:pt x="30734" y="23113"/>
                  </a:lnTo>
                  <a:lnTo>
                    <a:pt x="8509" y="47117"/>
                  </a:lnTo>
                  <a:lnTo>
                    <a:pt x="0" y="74930"/>
                  </a:lnTo>
                  <a:lnTo>
                    <a:pt x="0" y="521969"/>
                  </a:lnTo>
                  <a:lnTo>
                    <a:pt x="8509" y="549782"/>
                  </a:lnTo>
                  <a:lnTo>
                    <a:pt x="30734" y="573658"/>
                  </a:lnTo>
                  <a:lnTo>
                    <a:pt x="62230" y="590550"/>
                  </a:lnTo>
                  <a:lnTo>
                    <a:pt x="98298" y="596900"/>
                  </a:lnTo>
                  <a:lnTo>
                    <a:pt x="3280029" y="596900"/>
                  </a:lnTo>
                  <a:lnTo>
                    <a:pt x="3317113" y="590550"/>
                  </a:lnTo>
                  <a:lnTo>
                    <a:pt x="3348990" y="573658"/>
                  </a:lnTo>
                  <a:lnTo>
                    <a:pt x="3371469" y="549782"/>
                  </a:lnTo>
                  <a:lnTo>
                    <a:pt x="3379978" y="521969"/>
                  </a:lnTo>
                  <a:lnTo>
                    <a:pt x="3379978" y="74930"/>
                  </a:lnTo>
                  <a:lnTo>
                    <a:pt x="3371469" y="47117"/>
                  </a:lnTo>
                  <a:lnTo>
                    <a:pt x="3348990" y="23113"/>
                  </a:lnTo>
                  <a:lnTo>
                    <a:pt x="3317113" y="6350"/>
                  </a:lnTo>
                  <a:lnTo>
                    <a:pt x="3280029" y="0"/>
                  </a:lnTo>
                  <a:lnTo>
                    <a:pt x="98298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98370" y="3873500"/>
              <a:ext cx="3380104" cy="596900"/>
            </a:xfrm>
            <a:custGeom>
              <a:avLst/>
              <a:gdLst/>
              <a:ahLst/>
              <a:cxnLst/>
              <a:rect l="l" t="t" r="r" b="b"/>
              <a:pathLst>
                <a:path w="3380104" h="596900">
                  <a:moveTo>
                    <a:pt x="0" y="0"/>
                  </a:moveTo>
                  <a:lnTo>
                    <a:pt x="0" y="0"/>
                  </a:lnTo>
                </a:path>
                <a:path w="3380104" h="596900">
                  <a:moveTo>
                    <a:pt x="3379978" y="596900"/>
                  </a:moveTo>
                  <a:lnTo>
                    <a:pt x="3379978" y="59690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650480" y="5520690"/>
            <a:ext cx="2402840" cy="1021080"/>
          </a:xfrm>
          <a:prstGeom prst="rect">
            <a:avLst/>
          </a:prstGeom>
          <a:solidFill>
            <a:srgbClr val="9CFFFF"/>
          </a:solidFill>
          <a:ln w="12578">
            <a:solidFill>
              <a:srgbClr val="949494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316865" marR="300355" indent="-55880" algn="ctr">
              <a:lnSpc>
                <a:spcPct val="100000"/>
              </a:lnSpc>
              <a:spcBef>
                <a:spcPts val="145"/>
              </a:spcBef>
            </a:pPr>
            <a:r>
              <a:rPr sz="1600" spc="-5" dirty="0">
                <a:latin typeface="Times New Roman"/>
                <a:cs typeface="Times New Roman"/>
              </a:rPr>
              <a:t>No initial  environmental  examination required  </a:t>
            </a:r>
            <a:r>
              <a:rPr sz="1600" spc="-10" dirty="0">
                <a:latin typeface="Times New Roman"/>
                <a:cs typeface="Times New Roman"/>
              </a:rPr>
              <a:t>(IEE)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4885690" y="261873"/>
            <a:ext cx="40493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0" dirty="0">
                <a:latin typeface="Times New Roman"/>
                <a:cs typeface="Times New Roman"/>
              </a:rPr>
              <a:t>Screening Flow</a:t>
            </a:r>
            <a:r>
              <a:rPr sz="3400" b="1" spc="-175" dirty="0">
                <a:latin typeface="Times New Roman"/>
                <a:cs typeface="Times New Roman"/>
              </a:rPr>
              <a:t> </a:t>
            </a:r>
            <a:r>
              <a:rPr sz="3400" b="1" spc="-5" dirty="0">
                <a:latin typeface="Times New Roman"/>
                <a:cs typeface="Times New Roman"/>
              </a:rPr>
              <a:t>Chart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42007" y="3910076"/>
            <a:ext cx="21399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Times New Roman"/>
                <a:cs typeface="Times New Roman"/>
              </a:rPr>
              <a:t>Will </a:t>
            </a:r>
            <a:r>
              <a:rPr sz="1600" spc="-5" dirty="0">
                <a:latin typeface="Times New Roman"/>
                <a:cs typeface="Times New Roman"/>
              </a:rPr>
              <a:t>the project be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funded</a:t>
            </a:r>
            <a:endParaRPr sz="1600">
              <a:latin typeface="Times New Roman"/>
              <a:cs typeface="Times New Roman"/>
            </a:endParaRPr>
          </a:p>
          <a:p>
            <a:pPr marL="88138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by an</a:t>
            </a:r>
            <a:r>
              <a:rPr sz="1600" spc="-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IAA?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161410" y="5458459"/>
            <a:ext cx="154305" cy="260350"/>
            <a:chOff x="3161410" y="5458459"/>
            <a:chExt cx="154305" cy="260350"/>
          </a:xfrm>
        </p:grpSpPr>
        <p:sp>
          <p:nvSpPr>
            <p:cNvPr id="55" name="object 55"/>
            <p:cNvSpPr/>
            <p:nvPr/>
          </p:nvSpPr>
          <p:spPr>
            <a:xfrm>
              <a:off x="3239388" y="5458459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3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61410" y="5603239"/>
              <a:ext cx="154305" cy="115570"/>
            </a:xfrm>
            <a:custGeom>
              <a:avLst/>
              <a:gdLst/>
              <a:ahLst/>
              <a:cxnLst/>
              <a:rect l="l" t="t" r="r" b="b"/>
              <a:pathLst>
                <a:path w="154304" h="115570">
                  <a:moveTo>
                    <a:pt x="154177" y="0"/>
                  </a:moveTo>
                  <a:lnTo>
                    <a:pt x="0" y="0"/>
                  </a:lnTo>
                  <a:lnTo>
                    <a:pt x="77977" y="115570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3136010" y="2983229"/>
            <a:ext cx="3942079" cy="1772920"/>
            <a:chOff x="3136010" y="2983229"/>
            <a:chExt cx="3942079" cy="1772920"/>
          </a:xfrm>
        </p:grpSpPr>
        <p:sp>
          <p:nvSpPr>
            <p:cNvPr id="58" name="object 58"/>
            <p:cNvSpPr/>
            <p:nvPr/>
          </p:nvSpPr>
          <p:spPr>
            <a:xfrm>
              <a:off x="3213988" y="4495799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h="153670">
                  <a:moveTo>
                    <a:pt x="0" y="0"/>
                  </a:moveTo>
                  <a:lnTo>
                    <a:pt x="0" y="15366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136010" y="4641850"/>
              <a:ext cx="154305" cy="114300"/>
            </a:xfrm>
            <a:custGeom>
              <a:avLst/>
              <a:gdLst/>
              <a:ahLst/>
              <a:cxnLst/>
              <a:rect l="l" t="t" r="r" b="b"/>
              <a:pathLst>
                <a:path w="154304" h="114300">
                  <a:moveTo>
                    <a:pt x="154177" y="0"/>
                  </a:moveTo>
                  <a:lnTo>
                    <a:pt x="0" y="0"/>
                  </a:lnTo>
                  <a:lnTo>
                    <a:pt x="77977" y="114300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528948" y="3040379"/>
              <a:ext cx="3549650" cy="0"/>
            </a:xfrm>
            <a:custGeom>
              <a:avLst/>
              <a:gdLst/>
              <a:ahLst/>
              <a:cxnLst/>
              <a:rect l="l" t="t" r="r" b="b"/>
              <a:pathLst>
                <a:path w="3549650">
                  <a:moveTo>
                    <a:pt x="35491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386708" y="2983229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152400" y="0"/>
                  </a:moveTo>
                  <a:lnTo>
                    <a:pt x="0" y="57150"/>
                  </a:lnTo>
                  <a:lnTo>
                    <a:pt x="152400" y="1143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579748" y="3731259"/>
              <a:ext cx="3498850" cy="0"/>
            </a:xfrm>
            <a:custGeom>
              <a:avLst/>
              <a:gdLst/>
              <a:ahLst/>
              <a:cxnLst/>
              <a:rect l="l" t="t" r="r" b="b"/>
              <a:pathLst>
                <a:path w="3498850">
                  <a:moveTo>
                    <a:pt x="349834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437508" y="3672839"/>
              <a:ext cx="152400" cy="115570"/>
            </a:xfrm>
            <a:custGeom>
              <a:avLst/>
              <a:gdLst/>
              <a:ahLst/>
              <a:cxnLst/>
              <a:rect l="l" t="t" r="r" b="b"/>
              <a:pathLst>
                <a:path w="152400" h="115570">
                  <a:moveTo>
                    <a:pt x="152400" y="0"/>
                  </a:moveTo>
                  <a:lnTo>
                    <a:pt x="0" y="58420"/>
                  </a:lnTo>
                  <a:lnTo>
                    <a:pt x="152400" y="11557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094859" y="4276090"/>
            <a:ext cx="1738630" cy="1925320"/>
            <a:chOff x="5094859" y="4276090"/>
            <a:chExt cx="1738630" cy="1925320"/>
          </a:xfrm>
        </p:grpSpPr>
        <p:sp>
          <p:nvSpPr>
            <p:cNvPr id="65" name="object 65"/>
            <p:cNvSpPr/>
            <p:nvPr/>
          </p:nvSpPr>
          <p:spPr>
            <a:xfrm>
              <a:off x="5113909" y="4295140"/>
              <a:ext cx="1700530" cy="1849120"/>
            </a:xfrm>
            <a:custGeom>
              <a:avLst/>
              <a:gdLst/>
              <a:ahLst/>
              <a:cxnLst/>
              <a:rect l="l" t="t" r="r" b="b"/>
              <a:pathLst>
                <a:path w="1700529" h="1849120">
                  <a:moveTo>
                    <a:pt x="0" y="0"/>
                  </a:moveTo>
                  <a:lnTo>
                    <a:pt x="1700021" y="0"/>
                  </a:lnTo>
                  <a:lnTo>
                    <a:pt x="1700021" y="1849120"/>
                  </a:lnTo>
                  <a:lnTo>
                    <a:pt x="1202181" y="184912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73851" y="608711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152400" y="0"/>
                  </a:moveTo>
                  <a:lnTo>
                    <a:pt x="0" y="57149"/>
                  </a:lnTo>
                  <a:lnTo>
                    <a:pt x="152400" y="1142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1013" y="264922"/>
            <a:ext cx="6569709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5" dirty="0">
                <a:latin typeface="Arial"/>
                <a:cs typeface="Arial"/>
              </a:rPr>
              <a:t>Initial Environment</a:t>
            </a:r>
            <a:r>
              <a:rPr sz="3400" b="1" spc="-30" dirty="0">
                <a:latin typeface="Arial"/>
                <a:cs typeface="Arial"/>
              </a:rPr>
              <a:t> </a:t>
            </a:r>
            <a:r>
              <a:rPr sz="3400" b="1" spc="-5" dirty="0">
                <a:latin typeface="Arial"/>
                <a:cs typeface="Arial"/>
              </a:rPr>
              <a:t>Examination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7854" y="2900934"/>
            <a:ext cx="224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1505" algn="l"/>
                <a:tab pos="1314450" algn="l"/>
              </a:tabLst>
            </a:pPr>
            <a:r>
              <a:rPr sz="2400" dirty="0">
                <a:latin typeface="Times New Roman"/>
                <a:cs typeface="Times New Roman"/>
              </a:rPr>
              <a:t>up	</a:t>
            </a:r>
            <a:r>
              <a:rPr sz="2400" spc="-5" dirty="0">
                <a:latin typeface="Times New Roman"/>
                <a:cs typeface="Times New Roman"/>
              </a:rPr>
              <a:t>the	process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9534" y="2900934"/>
            <a:ext cx="33451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7365" algn="l"/>
                <a:tab pos="1268095" algn="l"/>
                <a:tab pos="2073275" algn="l"/>
                <a:tab pos="2958465" algn="l"/>
              </a:tabLst>
            </a:pPr>
            <a:r>
              <a:rPr sz="2400" dirty="0">
                <a:latin typeface="Times New Roman"/>
                <a:cs typeface="Times New Roman"/>
              </a:rPr>
              <a:t>of	E</a:t>
            </a:r>
            <a:r>
              <a:rPr sz="2400" spc="-5" dirty="0">
                <a:latin typeface="Times New Roman"/>
                <a:cs typeface="Times New Roman"/>
              </a:rPr>
              <a:t>IA	and	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ead	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8185" y="2900934"/>
            <a:ext cx="2482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6010" algn="l"/>
                <a:tab pos="1641475" algn="l"/>
              </a:tabLst>
            </a:pP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er	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	fur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6900" y="2718054"/>
            <a:ext cx="16675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boost  as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tanc</a:t>
            </a:r>
            <a:r>
              <a:rPr sz="2400" spc="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491" y="1163828"/>
            <a:ext cx="10910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900" algn="l"/>
                <a:tab pos="470534" algn="l"/>
                <a:tab pos="1888489" algn="l"/>
                <a:tab pos="5807710" algn="l"/>
                <a:tab pos="6139815" algn="l"/>
                <a:tab pos="7317740" algn="l"/>
                <a:tab pos="7701915" algn="l"/>
                <a:tab pos="7966075" algn="l"/>
                <a:tab pos="9140825" algn="l"/>
              </a:tabLst>
            </a:pPr>
            <a:r>
              <a:rPr sz="2400" spc="-10" dirty="0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r>
              <a:rPr sz="2400" spc="5" dirty="0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sz="2400" spc="-10" dirty="0">
                <a:solidFill>
                  <a:srgbClr val="0C0C0C"/>
                </a:solidFill>
                <a:latin typeface="Times New Roman"/>
                <a:cs typeface="Times New Roman"/>
              </a:rPr>
              <a:t>t</a:t>
            </a:r>
            <a:r>
              <a:rPr sz="2400" spc="5" dirty="0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al</a:t>
            </a:r>
            <a:r>
              <a:rPr sz="24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envi</a:t>
            </a:r>
            <a:r>
              <a:rPr sz="2400" spc="10" dirty="0">
                <a:solidFill>
                  <a:srgbClr val="0C0C0C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on</a:t>
            </a:r>
            <a:r>
              <a:rPr sz="2400" spc="5" dirty="0">
                <a:solidFill>
                  <a:srgbClr val="0C0C0C"/>
                </a:solidFill>
                <a:latin typeface="Times New Roman"/>
                <a:cs typeface="Times New Roman"/>
              </a:rPr>
              <a:t>m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en</a:t>
            </a:r>
            <a:r>
              <a:rPr sz="2400" spc="-5" dirty="0">
                <a:solidFill>
                  <a:srgbClr val="0C0C0C"/>
                </a:solidFill>
                <a:latin typeface="Times New Roman"/>
                <a:cs typeface="Times New Roman"/>
              </a:rPr>
              <a:t>t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al</a:t>
            </a:r>
            <a:r>
              <a:rPr sz="2400" spc="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exa</a:t>
            </a:r>
            <a:r>
              <a:rPr sz="2400" spc="5" dirty="0">
                <a:solidFill>
                  <a:srgbClr val="0C0C0C"/>
                </a:solidFill>
                <a:latin typeface="Times New Roman"/>
                <a:cs typeface="Times New Roman"/>
              </a:rPr>
              <a:t>mi</a:t>
            </a:r>
            <a:r>
              <a:rPr sz="2400" spc="10" dirty="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0C0C0C"/>
                </a:solidFill>
                <a:latin typeface="Times New Roman"/>
                <a:cs typeface="Times New Roman"/>
              </a:rPr>
              <a:t>ti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on</a:t>
            </a:r>
            <a:r>
              <a:rPr sz="24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(I</a:t>
            </a:r>
            <a:r>
              <a:rPr sz="2400" spc="-5" dirty="0">
                <a:solidFill>
                  <a:srgbClr val="0C0C0C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E)	</a:t>
            </a:r>
            <a:r>
              <a:rPr sz="2400" spc="5" dirty="0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intended	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	a	</a:t>
            </a:r>
            <a:r>
              <a:rPr sz="2400" spc="-5" dirty="0">
                <a:latin typeface="Times New Roman"/>
                <a:cs typeface="Times New Roman"/>
              </a:rPr>
              <a:t>low</a:t>
            </a:r>
            <a:r>
              <a:rPr sz="2400" spc="-15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os</a:t>
            </a:r>
            <a:r>
              <a:rPr sz="2400" dirty="0">
                <a:latin typeface="Times New Roman"/>
                <a:cs typeface="Times New Roman"/>
              </a:rPr>
              <a:t>t	en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ent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  </a:t>
            </a:r>
            <a:r>
              <a:rPr sz="2400" spc="-5" dirty="0">
                <a:latin typeface="Times New Roman"/>
                <a:cs typeface="Times New Roman"/>
              </a:rPr>
              <a:t>evaluation	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latin typeface="Times New Roman"/>
                <a:cs typeface="Times New Roman"/>
              </a:rPr>
              <a:t>makes use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already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0839" y="210438"/>
            <a:ext cx="615315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0" dirty="0">
                <a:latin typeface="Arial"/>
                <a:cs typeface="Arial"/>
              </a:rPr>
              <a:t>IEE </a:t>
            </a:r>
            <a:r>
              <a:rPr sz="3400" b="1" spc="-5" dirty="0">
                <a:latin typeface="Arial"/>
                <a:cs typeface="Arial"/>
              </a:rPr>
              <a:t>in the Overall </a:t>
            </a:r>
            <a:r>
              <a:rPr sz="3400" b="1" spc="-10" dirty="0">
                <a:latin typeface="Arial"/>
                <a:cs typeface="Arial"/>
              </a:rPr>
              <a:t>EIA</a:t>
            </a:r>
            <a:r>
              <a:rPr sz="3400" b="1" spc="-450" dirty="0">
                <a:latin typeface="Arial"/>
                <a:cs typeface="Arial"/>
              </a:rPr>
              <a:t> </a:t>
            </a:r>
            <a:r>
              <a:rPr sz="3400" b="1" spc="-5" dirty="0">
                <a:latin typeface="Arial"/>
                <a:cs typeface="Arial"/>
              </a:rPr>
              <a:t>Process</a:t>
            </a:r>
            <a:endParaRPr sz="3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3250" y="1517650"/>
            <a:ext cx="4449445" cy="2853690"/>
            <a:chOff x="603250" y="1517650"/>
            <a:chExt cx="4449445" cy="2853690"/>
          </a:xfrm>
        </p:grpSpPr>
        <p:sp>
          <p:nvSpPr>
            <p:cNvPr id="5" name="object 5"/>
            <p:cNvSpPr/>
            <p:nvPr/>
          </p:nvSpPr>
          <p:spPr>
            <a:xfrm>
              <a:off x="609600" y="1524000"/>
              <a:ext cx="4436745" cy="2840990"/>
            </a:xfrm>
            <a:custGeom>
              <a:avLst/>
              <a:gdLst/>
              <a:ahLst/>
              <a:cxnLst/>
              <a:rect l="l" t="t" r="r" b="b"/>
              <a:pathLst>
                <a:path w="4436745" h="2840990">
                  <a:moveTo>
                    <a:pt x="2218309" y="0"/>
                  </a:moveTo>
                  <a:lnTo>
                    <a:pt x="0" y="1419860"/>
                  </a:lnTo>
                  <a:lnTo>
                    <a:pt x="2218309" y="2840990"/>
                  </a:lnTo>
                  <a:lnTo>
                    <a:pt x="4436491" y="1419860"/>
                  </a:lnTo>
                  <a:lnTo>
                    <a:pt x="2218309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" y="1524000"/>
              <a:ext cx="4436745" cy="2840990"/>
            </a:xfrm>
            <a:custGeom>
              <a:avLst/>
              <a:gdLst/>
              <a:ahLst/>
              <a:cxnLst/>
              <a:rect l="l" t="t" r="r" b="b"/>
              <a:pathLst>
                <a:path w="4436745" h="2840990">
                  <a:moveTo>
                    <a:pt x="2218309" y="0"/>
                  </a:moveTo>
                  <a:lnTo>
                    <a:pt x="4436491" y="1419860"/>
                  </a:lnTo>
                  <a:lnTo>
                    <a:pt x="2218309" y="2840990"/>
                  </a:lnTo>
                  <a:lnTo>
                    <a:pt x="0" y="1419860"/>
                  </a:lnTo>
                  <a:lnTo>
                    <a:pt x="2218309" y="0"/>
                  </a:lnTo>
                  <a:close/>
                </a:path>
              </a:pathLst>
            </a:custGeom>
            <a:ln w="12578">
              <a:solidFill>
                <a:srgbClr val="99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1524000"/>
              <a:ext cx="4436745" cy="2840990"/>
            </a:xfrm>
            <a:custGeom>
              <a:avLst/>
              <a:gdLst/>
              <a:ahLst/>
              <a:cxnLst/>
              <a:rect l="l" t="t" r="r" b="b"/>
              <a:pathLst>
                <a:path w="4436745" h="2840990">
                  <a:moveTo>
                    <a:pt x="0" y="0"/>
                  </a:moveTo>
                  <a:lnTo>
                    <a:pt x="0" y="0"/>
                  </a:lnTo>
                </a:path>
                <a:path w="4436745" h="2840990">
                  <a:moveTo>
                    <a:pt x="4436491" y="2840990"/>
                  </a:moveTo>
                  <a:lnTo>
                    <a:pt x="4436491" y="2840990"/>
                  </a:lnTo>
                </a:path>
              </a:pathLst>
            </a:custGeom>
            <a:ln w="12578">
              <a:solidFill>
                <a:srgbClr val="99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54732" y="2468372"/>
            <a:ext cx="1578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Times New Roman"/>
                <a:cs typeface="Times New Roman"/>
              </a:rPr>
              <a:t>Project</a:t>
            </a:r>
            <a:r>
              <a:rPr sz="1600" b="1" spc="29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Screening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2625" y="2632963"/>
            <a:ext cx="18186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Times New Roman"/>
                <a:cs typeface="Times New Roman"/>
              </a:rPr>
              <a:t>Identifies projects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9369" y="2772867"/>
            <a:ext cx="21050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Times New Roman"/>
                <a:cs typeface="Times New Roman"/>
              </a:rPr>
              <a:t>typically contain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potential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64460" y="2912110"/>
            <a:ext cx="13950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Times New Roman"/>
                <a:cs typeface="Times New Roman"/>
              </a:rPr>
              <a:t>significant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issues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91301" y="1751329"/>
            <a:ext cx="5737860" cy="3068320"/>
            <a:chOff x="6091301" y="1751329"/>
            <a:chExt cx="5737860" cy="3068320"/>
          </a:xfrm>
        </p:grpSpPr>
        <p:sp>
          <p:nvSpPr>
            <p:cNvPr id="13" name="object 13"/>
            <p:cNvSpPr/>
            <p:nvPr/>
          </p:nvSpPr>
          <p:spPr>
            <a:xfrm>
              <a:off x="6097651" y="1757679"/>
              <a:ext cx="5725160" cy="3055620"/>
            </a:xfrm>
            <a:custGeom>
              <a:avLst/>
              <a:gdLst/>
              <a:ahLst/>
              <a:cxnLst/>
              <a:rect l="l" t="t" r="r" b="b"/>
              <a:pathLst>
                <a:path w="5725159" h="3055620">
                  <a:moveTo>
                    <a:pt x="5725160" y="0"/>
                  </a:moveTo>
                  <a:lnTo>
                    <a:pt x="0" y="0"/>
                  </a:lnTo>
                  <a:lnTo>
                    <a:pt x="0" y="3055620"/>
                  </a:lnTo>
                  <a:lnTo>
                    <a:pt x="5725160" y="3055620"/>
                  </a:lnTo>
                  <a:lnTo>
                    <a:pt x="572516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7651" y="1757679"/>
              <a:ext cx="5725160" cy="3055620"/>
            </a:xfrm>
            <a:custGeom>
              <a:avLst/>
              <a:gdLst/>
              <a:ahLst/>
              <a:cxnLst/>
              <a:rect l="l" t="t" r="r" b="b"/>
              <a:pathLst>
                <a:path w="5725159" h="3055620">
                  <a:moveTo>
                    <a:pt x="0" y="3055620"/>
                  </a:moveTo>
                  <a:lnTo>
                    <a:pt x="5725160" y="3055620"/>
                  </a:lnTo>
                  <a:lnTo>
                    <a:pt x="5725160" y="0"/>
                  </a:lnTo>
                  <a:lnTo>
                    <a:pt x="0" y="0"/>
                  </a:lnTo>
                  <a:lnTo>
                    <a:pt x="0" y="3055620"/>
                  </a:lnTo>
                  <a:close/>
                </a:path>
              </a:pathLst>
            </a:custGeom>
            <a:ln w="12578">
              <a:solidFill>
                <a:srgbClr val="99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98413" y="1820926"/>
            <a:ext cx="5523230" cy="9493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Times New Roman"/>
                <a:cs typeface="Times New Roman"/>
              </a:rPr>
              <a:t>Initial </a:t>
            </a:r>
            <a:r>
              <a:rPr sz="1800" b="1" spc="-20" dirty="0">
                <a:latin typeface="Times New Roman"/>
                <a:cs typeface="Times New Roman"/>
              </a:rPr>
              <a:t>Environmental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Examination</a:t>
            </a:r>
            <a:endParaRPr sz="1800">
              <a:latin typeface="Times New Roman"/>
              <a:cs typeface="Times New Roman"/>
            </a:endParaRPr>
          </a:p>
          <a:p>
            <a:pPr marL="344170" marR="5080" indent="-344805">
              <a:lnSpc>
                <a:spcPct val="100000"/>
              </a:lnSpc>
              <a:spcBef>
                <a:spcPts val="395"/>
              </a:spcBef>
              <a:tabLst>
                <a:tab pos="344170" algn="l"/>
                <a:tab pos="1344295" algn="l"/>
                <a:tab pos="2281555" algn="l"/>
                <a:tab pos="3525520" algn="l"/>
                <a:tab pos="4971415" algn="l"/>
              </a:tabLst>
            </a:pPr>
            <a:r>
              <a:rPr sz="1800" dirty="0">
                <a:latin typeface="Times New Roman"/>
                <a:cs typeface="Times New Roman"/>
              </a:rPr>
              <a:t>1.	I</a:t>
            </a:r>
            <a:r>
              <a:rPr sz="1800" spc="-15" dirty="0">
                <a:latin typeface="Times New Roman"/>
                <a:cs typeface="Times New Roman"/>
              </a:rPr>
              <a:t>d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10" dirty="0">
                <a:latin typeface="Times New Roman"/>
                <a:cs typeface="Times New Roman"/>
              </a:rPr>
              <a:t>nt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f</a:t>
            </a:r>
            <a:r>
              <a:rPr sz="1800" spc="-5" dirty="0">
                <a:latin typeface="Times New Roman"/>
                <a:cs typeface="Times New Roman"/>
              </a:rPr>
              <a:t>ies</a:t>
            </a:r>
            <a:r>
              <a:rPr sz="1800" dirty="0">
                <a:latin typeface="Times New Roman"/>
                <a:cs typeface="Times New Roman"/>
              </a:rPr>
              <a:t>	p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te</a:t>
            </a:r>
            <a:r>
              <a:rPr sz="1800" spc="-2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ial	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-20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g</a:t>
            </a:r>
            <a:r>
              <a:rPr sz="1800" spc="-15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fic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t	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-15" dirty="0">
                <a:latin typeface="Times New Roman"/>
                <a:cs typeface="Times New Roman"/>
              </a:rPr>
              <a:t>nv</a:t>
            </a:r>
            <a:r>
              <a:rPr sz="1800" spc="-10" dirty="0">
                <a:latin typeface="Times New Roman"/>
                <a:cs typeface="Times New Roman"/>
              </a:rPr>
              <a:t>i</a:t>
            </a:r>
            <a:r>
              <a:rPr sz="1800" spc="-15" dirty="0">
                <a:latin typeface="Times New Roman"/>
                <a:cs typeface="Times New Roman"/>
              </a:rPr>
              <a:t>ron</a:t>
            </a:r>
            <a:r>
              <a:rPr sz="1800" spc="-20" dirty="0">
                <a:latin typeface="Times New Roman"/>
                <a:cs typeface="Times New Roman"/>
              </a:rPr>
              <a:t>m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-15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ta</a:t>
            </a:r>
            <a:r>
              <a:rPr sz="1800" dirty="0">
                <a:latin typeface="Times New Roman"/>
                <a:cs typeface="Times New Roman"/>
              </a:rPr>
              <a:t>l	</a:t>
            </a:r>
            <a:r>
              <a:rPr sz="1800" spc="-10" dirty="0">
                <a:latin typeface="Times New Roman"/>
                <a:cs typeface="Times New Roman"/>
              </a:rPr>
              <a:t>i</a:t>
            </a:r>
            <a:r>
              <a:rPr sz="1800" spc="-25" dirty="0">
                <a:latin typeface="Times New Roman"/>
                <a:cs typeface="Times New Roman"/>
              </a:rPr>
              <a:t>ss</a:t>
            </a:r>
            <a:r>
              <a:rPr sz="1800" spc="-15" dirty="0">
                <a:latin typeface="Times New Roman"/>
                <a:cs typeface="Times New Roman"/>
              </a:rPr>
              <a:t>u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s  associated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8328" y="2744470"/>
            <a:ext cx="800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85800" algn="l"/>
              </a:tabLst>
            </a:pPr>
            <a:r>
              <a:rPr sz="1800" spc="-25" dirty="0">
                <a:latin typeface="Times New Roman"/>
                <a:cs typeface="Times New Roman"/>
              </a:rPr>
              <a:t>w</a:t>
            </a:r>
            <a:r>
              <a:rPr sz="1800" spc="-10" dirty="0">
                <a:latin typeface="Times New Roman"/>
                <a:cs typeface="Times New Roman"/>
              </a:rPr>
              <a:t>it</a:t>
            </a:r>
            <a:r>
              <a:rPr sz="1800" dirty="0">
                <a:latin typeface="Times New Roman"/>
                <a:cs typeface="Times New Roman"/>
              </a:rPr>
              <a:t>h	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8413" y="3018790"/>
            <a:ext cx="9982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44170" algn="l"/>
              </a:tabLst>
            </a:pPr>
            <a:r>
              <a:rPr sz="1800" spc="-10" dirty="0">
                <a:latin typeface="Times New Roman"/>
                <a:cs typeface="Times New Roman"/>
              </a:rPr>
              <a:t>2.	</a:t>
            </a:r>
            <a:r>
              <a:rPr sz="1800" spc="-15" dirty="0">
                <a:latin typeface="Times New Roman"/>
                <a:cs typeface="Times New Roman"/>
              </a:rPr>
              <a:t>Grades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0081" y="2744470"/>
            <a:ext cx="4197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imes New Roman"/>
                <a:cs typeface="Times New Roman"/>
              </a:rPr>
              <a:t>project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779780" algn="l"/>
                <a:tab pos="1285875" algn="l"/>
                <a:tab pos="2301240" algn="l"/>
                <a:tab pos="3194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effects	</a:t>
            </a:r>
            <a:r>
              <a:rPr sz="1800" spc="-5" dirty="0">
                <a:latin typeface="Times New Roman"/>
                <a:cs typeface="Times New Roman"/>
              </a:rPr>
              <a:t>and	</a:t>
            </a:r>
            <a:r>
              <a:rPr sz="1800" spc="-15" dirty="0">
                <a:latin typeface="Times New Roman"/>
                <a:cs typeface="Times New Roman"/>
              </a:rPr>
              <a:t>identifies	</a:t>
            </a:r>
            <a:r>
              <a:rPr sz="1800" spc="-10" dirty="0">
                <a:latin typeface="Times New Roman"/>
                <a:cs typeface="Times New Roman"/>
              </a:rPr>
              <a:t>actual	</a:t>
            </a:r>
            <a:r>
              <a:rPr sz="1800" spc="-15" dirty="0">
                <a:latin typeface="Times New Roman"/>
                <a:cs typeface="Times New Roman"/>
              </a:rPr>
              <a:t>Significant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98413" y="3293490"/>
            <a:ext cx="492950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2619375" indent="-6604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Environmental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Issues  </a:t>
            </a:r>
            <a:r>
              <a:rPr sz="1800" spc="-5" dirty="0">
                <a:latin typeface="Times New Roman"/>
                <a:cs typeface="Times New Roman"/>
              </a:rPr>
              <a:t>(SEIs)</a:t>
            </a:r>
            <a:endParaRPr sz="1800">
              <a:latin typeface="Times New Roman"/>
              <a:cs typeface="Times New Roman"/>
            </a:endParaRPr>
          </a:p>
          <a:p>
            <a:pPr marL="342900" indent="-254635">
              <a:lnSpc>
                <a:spcPct val="100000"/>
              </a:lnSpc>
              <a:buAutoNum type="arabicPeriod" startAt="3"/>
              <a:tabLst>
                <a:tab pos="342900" algn="l"/>
              </a:tabLst>
            </a:pPr>
            <a:r>
              <a:rPr sz="1800" dirty="0">
                <a:latin typeface="Times New Roman"/>
                <a:cs typeface="Times New Roman"/>
              </a:rPr>
              <a:t>Resolves </a:t>
            </a:r>
            <a:r>
              <a:rPr sz="1800" spc="-5" dirty="0">
                <a:latin typeface="Times New Roman"/>
                <a:cs typeface="Times New Roman"/>
              </a:rPr>
              <a:t>simple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SEIs</a:t>
            </a:r>
            <a:endParaRPr sz="1800">
              <a:latin typeface="Times New Roman"/>
              <a:cs typeface="Times New Roman"/>
            </a:endParaRPr>
          </a:p>
          <a:p>
            <a:pPr marL="344170" marR="5080" indent="-344805">
              <a:lnSpc>
                <a:spcPct val="100000"/>
              </a:lnSpc>
              <a:buAutoNum type="arabicPeriod" startAt="3"/>
              <a:tabLst>
                <a:tab pos="344170" algn="l"/>
                <a:tab pos="344805" algn="l"/>
                <a:tab pos="1793875" algn="l"/>
                <a:tab pos="2622550" algn="l"/>
                <a:tab pos="3383279" algn="l"/>
                <a:tab pos="4070985" algn="l"/>
              </a:tabLst>
            </a:pP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com</a:t>
            </a:r>
            <a:r>
              <a:rPr sz="1800" spc="-25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en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u</a:t>
            </a:r>
            <a:r>
              <a:rPr sz="1800" spc="-15" dirty="0">
                <a:latin typeface="Times New Roman"/>
                <a:cs typeface="Times New Roman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er	</a:t>
            </a:r>
            <a:r>
              <a:rPr sz="1800" spc="-1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c</a:t>
            </a:r>
            <a:r>
              <a:rPr sz="1800" spc="-10" dirty="0">
                <a:latin typeface="Times New Roman"/>
                <a:cs typeface="Times New Roman"/>
              </a:rPr>
              <a:t>ti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n	for	</a:t>
            </a:r>
            <a:r>
              <a:rPr sz="1800" spc="-15" dirty="0">
                <a:latin typeface="Times New Roman"/>
                <a:cs typeface="Times New Roman"/>
              </a:rPr>
              <a:t>r</a:t>
            </a:r>
            <a:r>
              <a:rPr sz="1800" spc="-5" dirty="0">
                <a:latin typeface="Times New Roman"/>
                <a:cs typeface="Times New Roman"/>
              </a:rPr>
              <a:t>e</a:t>
            </a:r>
            <a:r>
              <a:rPr sz="1800" spc="-20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l</a:t>
            </a:r>
            <a:r>
              <a:rPr sz="1800" spc="-15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ing  </a:t>
            </a:r>
            <a:r>
              <a:rPr sz="1800" spc="-15" dirty="0">
                <a:latin typeface="Times New Roman"/>
                <a:cs typeface="Times New Roman"/>
              </a:rPr>
              <a:t>outstanding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SEIs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89330" y="4852670"/>
            <a:ext cx="4718685" cy="1484630"/>
            <a:chOff x="989330" y="4852670"/>
            <a:chExt cx="4718685" cy="1484630"/>
          </a:xfrm>
        </p:grpSpPr>
        <p:sp>
          <p:nvSpPr>
            <p:cNvPr id="21" name="object 21"/>
            <p:cNvSpPr/>
            <p:nvPr/>
          </p:nvSpPr>
          <p:spPr>
            <a:xfrm>
              <a:off x="995680" y="4859020"/>
              <a:ext cx="4705985" cy="1478280"/>
            </a:xfrm>
            <a:custGeom>
              <a:avLst/>
              <a:gdLst/>
              <a:ahLst/>
              <a:cxnLst/>
              <a:rect l="l" t="t" r="r" b="b"/>
              <a:pathLst>
                <a:path w="4705985" h="1478279">
                  <a:moveTo>
                    <a:pt x="4705731" y="0"/>
                  </a:moveTo>
                  <a:lnTo>
                    <a:pt x="0" y="0"/>
                  </a:lnTo>
                  <a:lnTo>
                    <a:pt x="0" y="1478279"/>
                  </a:lnTo>
                  <a:lnTo>
                    <a:pt x="4705731" y="1478279"/>
                  </a:lnTo>
                  <a:lnTo>
                    <a:pt x="4705731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95680" y="4859020"/>
              <a:ext cx="4705985" cy="885190"/>
            </a:xfrm>
            <a:custGeom>
              <a:avLst/>
              <a:gdLst/>
              <a:ahLst/>
              <a:cxnLst/>
              <a:rect l="l" t="t" r="r" b="b"/>
              <a:pathLst>
                <a:path w="4705985" h="885189">
                  <a:moveTo>
                    <a:pt x="0" y="884859"/>
                  </a:moveTo>
                  <a:lnTo>
                    <a:pt x="4705731" y="884859"/>
                  </a:lnTo>
                  <a:lnTo>
                    <a:pt x="4705731" y="0"/>
                  </a:lnTo>
                  <a:lnTo>
                    <a:pt x="0" y="0"/>
                  </a:lnTo>
                  <a:lnTo>
                    <a:pt x="0" y="884859"/>
                  </a:lnTo>
                  <a:close/>
                </a:path>
              </a:pathLst>
            </a:custGeom>
            <a:ln w="12578">
              <a:solidFill>
                <a:srgbClr val="99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95680" y="4859020"/>
            <a:ext cx="4705985" cy="885190"/>
          </a:xfrm>
          <a:prstGeom prst="rect">
            <a:avLst/>
          </a:prstGeom>
          <a:solidFill>
            <a:srgbClr val="CCEBFF"/>
          </a:solidFill>
          <a:ln w="12578">
            <a:solidFill>
              <a:srgbClr val="99CCFF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636905" marR="622300" algn="ctr">
              <a:lnSpc>
                <a:spcPct val="100000"/>
              </a:lnSpc>
              <a:spcBef>
                <a:spcPts val="365"/>
              </a:spcBef>
            </a:pPr>
            <a:r>
              <a:rPr sz="1800" b="1" spc="-5" dirty="0">
                <a:latin typeface="Times New Roman"/>
                <a:cs typeface="Times New Roman"/>
              </a:rPr>
              <a:t>Full-Scale EIA or Other </a:t>
            </a:r>
            <a:r>
              <a:rPr sz="1800" b="1" spc="-15" dirty="0">
                <a:latin typeface="Times New Roman"/>
                <a:cs typeface="Times New Roman"/>
              </a:rPr>
              <a:t>Additional  </a:t>
            </a:r>
            <a:r>
              <a:rPr sz="1800" b="1" spc="-5" dirty="0">
                <a:latin typeface="Times New Roman"/>
                <a:cs typeface="Times New Roman"/>
              </a:rPr>
              <a:t>Study </a:t>
            </a:r>
            <a:r>
              <a:rPr sz="1800" spc="-15" dirty="0">
                <a:latin typeface="Times New Roman"/>
                <a:cs typeface="Times New Roman"/>
              </a:rPr>
              <a:t>Resolves </a:t>
            </a:r>
            <a:r>
              <a:rPr sz="1800" spc="-10" dirty="0">
                <a:latin typeface="Times New Roman"/>
                <a:cs typeface="Times New Roman"/>
              </a:rPr>
              <a:t>any </a:t>
            </a:r>
            <a:r>
              <a:rPr sz="1800" spc="-15" dirty="0">
                <a:latin typeface="Times New Roman"/>
                <a:cs typeface="Times New Roman"/>
              </a:rPr>
              <a:t>remaining  significant environmental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issues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73727" y="2814727"/>
            <a:ext cx="4987925" cy="3340100"/>
            <a:chOff x="4973727" y="2814727"/>
            <a:chExt cx="4987925" cy="3340100"/>
          </a:xfrm>
        </p:grpSpPr>
        <p:sp>
          <p:nvSpPr>
            <p:cNvPr id="25" name="object 25"/>
            <p:cNvSpPr/>
            <p:nvPr/>
          </p:nvSpPr>
          <p:spPr>
            <a:xfrm>
              <a:off x="6055359" y="4841239"/>
              <a:ext cx="2528570" cy="1198880"/>
            </a:xfrm>
            <a:custGeom>
              <a:avLst/>
              <a:gdLst/>
              <a:ahLst/>
              <a:cxnLst/>
              <a:rect l="l" t="t" r="r" b="b"/>
              <a:pathLst>
                <a:path w="2528570" h="1198879">
                  <a:moveTo>
                    <a:pt x="2528189" y="0"/>
                  </a:moveTo>
                  <a:lnTo>
                    <a:pt x="2528189" y="1198880"/>
                  </a:lnTo>
                  <a:lnTo>
                    <a:pt x="0" y="119888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0879" y="592582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304800" y="0"/>
                  </a:moveTo>
                  <a:lnTo>
                    <a:pt x="0" y="114299"/>
                  </a:lnTo>
                  <a:lnTo>
                    <a:pt x="304800" y="2285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78399" y="2819400"/>
              <a:ext cx="1117600" cy="228600"/>
            </a:xfrm>
            <a:custGeom>
              <a:avLst/>
              <a:gdLst/>
              <a:ahLst/>
              <a:cxnLst/>
              <a:rect l="l" t="t" r="r" b="b"/>
              <a:pathLst>
                <a:path w="1117600" h="228600">
                  <a:moveTo>
                    <a:pt x="965200" y="0"/>
                  </a:moveTo>
                  <a:lnTo>
                    <a:pt x="965200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965200" y="171450"/>
                  </a:lnTo>
                  <a:lnTo>
                    <a:pt x="965200" y="228600"/>
                  </a:lnTo>
                  <a:lnTo>
                    <a:pt x="1117600" y="114300"/>
                  </a:lnTo>
                  <a:lnTo>
                    <a:pt x="96520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78399" y="2819400"/>
              <a:ext cx="1117600" cy="228600"/>
            </a:xfrm>
            <a:custGeom>
              <a:avLst/>
              <a:gdLst/>
              <a:ahLst/>
              <a:cxnLst/>
              <a:rect l="l" t="t" r="r" b="b"/>
              <a:pathLst>
                <a:path w="1117600" h="228600">
                  <a:moveTo>
                    <a:pt x="0" y="57150"/>
                  </a:moveTo>
                  <a:lnTo>
                    <a:pt x="965200" y="57150"/>
                  </a:lnTo>
                  <a:lnTo>
                    <a:pt x="965200" y="0"/>
                  </a:lnTo>
                  <a:lnTo>
                    <a:pt x="1117600" y="114300"/>
                  </a:lnTo>
                  <a:lnTo>
                    <a:pt x="965200" y="228600"/>
                  </a:lnTo>
                  <a:lnTo>
                    <a:pt x="96520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78399" y="2819400"/>
              <a:ext cx="1117600" cy="228600"/>
            </a:xfrm>
            <a:custGeom>
              <a:avLst/>
              <a:gdLst/>
              <a:ahLst/>
              <a:cxnLst/>
              <a:rect l="l" t="t" r="r" b="b"/>
              <a:pathLst>
                <a:path w="1117600" h="228600">
                  <a:moveTo>
                    <a:pt x="0" y="0"/>
                  </a:moveTo>
                  <a:lnTo>
                    <a:pt x="0" y="0"/>
                  </a:lnTo>
                </a:path>
                <a:path w="1117600" h="228600">
                  <a:moveTo>
                    <a:pt x="1117600" y="228600"/>
                  </a:moveTo>
                  <a:lnTo>
                    <a:pt x="1117600" y="2286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89600" y="4800600"/>
              <a:ext cx="4267200" cy="609600"/>
            </a:xfrm>
            <a:custGeom>
              <a:avLst/>
              <a:gdLst/>
              <a:ahLst/>
              <a:cxnLst/>
              <a:rect l="l" t="t" r="r" b="b"/>
              <a:pathLst>
                <a:path w="4267200" h="609600">
                  <a:moveTo>
                    <a:pt x="4267200" y="152400"/>
                  </a:moveTo>
                  <a:lnTo>
                    <a:pt x="4064000" y="0"/>
                  </a:lnTo>
                  <a:lnTo>
                    <a:pt x="3860800" y="152400"/>
                  </a:lnTo>
                  <a:lnTo>
                    <a:pt x="3962400" y="152400"/>
                  </a:lnTo>
                  <a:lnTo>
                    <a:pt x="3962400" y="381000"/>
                  </a:lnTo>
                  <a:lnTo>
                    <a:pt x="203200" y="381000"/>
                  </a:lnTo>
                  <a:lnTo>
                    <a:pt x="203200" y="304800"/>
                  </a:lnTo>
                  <a:lnTo>
                    <a:pt x="0" y="457200"/>
                  </a:lnTo>
                  <a:lnTo>
                    <a:pt x="203200" y="609600"/>
                  </a:lnTo>
                  <a:lnTo>
                    <a:pt x="203200" y="533400"/>
                  </a:lnTo>
                  <a:lnTo>
                    <a:pt x="4165600" y="533400"/>
                  </a:lnTo>
                  <a:lnTo>
                    <a:pt x="4165600" y="381000"/>
                  </a:lnTo>
                  <a:lnTo>
                    <a:pt x="4165600" y="152400"/>
                  </a:lnTo>
                  <a:lnTo>
                    <a:pt x="4267200" y="15240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89599" y="4800600"/>
              <a:ext cx="4267200" cy="609600"/>
            </a:xfrm>
            <a:custGeom>
              <a:avLst/>
              <a:gdLst/>
              <a:ahLst/>
              <a:cxnLst/>
              <a:rect l="l" t="t" r="r" b="b"/>
              <a:pathLst>
                <a:path w="4267200" h="609600">
                  <a:moveTo>
                    <a:pt x="0" y="457200"/>
                  </a:moveTo>
                  <a:lnTo>
                    <a:pt x="203200" y="304800"/>
                  </a:lnTo>
                  <a:lnTo>
                    <a:pt x="203200" y="381000"/>
                  </a:lnTo>
                  <a:lnTo>
                    <a:pt x="3962400" y="381000"/>
                  </a:lnTo>
                  <a:lnTo>
                    <a:pt x="3962400" y="152400"/>
                  </a:lnTo>
                  <a:lnTo>
                    <a:pt x="3860800" y="152400"/>
                  </a:lnTo>
                  <a:lnTo>
                    <a:pt x="4064000" y="0"/>
                  </a:lnTo>
                  <a:lnTo>
                    <a:pt x="4267200" y="152400"/>
                  </a:lnTo>
                  <a:lnTo>
                    <a:pt x="4165600" y="152400"/>
                  </a:lnTo>
                  <a:lnTo>
                    <a:pt x="4165600" y="533400"/>
                  </a:lnTo>
                  <a:lnTo>
                    <a:pt x="203200" y="533400"/>
                  </a:lnTo>
                  <a:lnTo>
                    <a:pt x="203200" y="609600"/>
                  </a:lnTo>
                  <a:lnTo>
                    <a:pt x="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89599" y="4800600"/>
              <a:ext cx="4267200" cy="609600"/>
            </a:xfrm>
            <a:custGeom>
              <a:avLst/>
              <a:gdLst/>
              <a:ahLst/>
              <a:cxnLst/>
              <a:rect l="l" t="t" r="r" b="b"/>
              <a:pathLst>
                <a:path w="4267200" h="609600">
                  <a:moveTo>
                    <a:pt x="0" y="0"/>
                  </a:moveTo>
                  <a:lnTo>
                    <a:pt x="0" y="0"/>
                  </a:lnTo>
                </a:path>
                <a:path w="4267200" h="609600">
                  <a:moveTo>
                    <a:pt x="4267200" y="609600"/>
                  </a:moveTo>
                  <a:lnTo>
                    <a:pt x="4267200" y="6096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95265" y="536270"/>
            <a:ext cx="147891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25" dirty="0">
                <a:latin typeface="Times New Roman"/>
                <a:cs typeface="Times New Roman"/>
              </a:rPr>
              <a:t>S</a:t>
            </a:r>
            <a:r>
              <a:rPr sz="3400" b="1" spc="-5" dirty="0">
                <a:latin typeface="Times New Roman"/>
                <a:cs typeface="Times New Roman"/>
              </a:rPr>
              <a:t>c</a:t>
            </a:r>
            <a:r>
              <a:rPr sz="3400" b="1" spc="-25" dirty="0">
                <a:latin typeface="Times New Roman"/>
                <a:cs typeface="Times New Roman"/>
              </a:rPr>
              <a:t>op</a:t>
            </a:r>
            <a:r>
              <a:rPr sz="3400" b="1" spc="-5" dirty="0">
                <a:latin typeface="Times New Roman"/>
                <a:cs typeface="Times New Roman"/>
              </a:rPr>
              <a:t>i</a:t>
            </a:r>
            <a:r>
              <a:rPr sz="3400" b="1" spc="-35" dirty="0">
                <a:latin typeface="Times New Roman"/>
                <a:cs typeface="Times New Roman"/>
              </a:rPr>
              <a:t>n</a:t>
            </a:r>
            <a:r>
              <a:rPr sz="3400" b="1" spc="-5" dirty="0">
                <a:latin typeface="Times New Roman"/>
                <a:cs typeface="Times New Roman"/>
              </a:rPr>
              <a:t>g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3191" y="1488058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49042" y="1443354"/>
            <a:ext cx="1863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2400" dirty="0">
                <a:latin typeface="Times New Roman"/>
                <a:cs typeface="Times New Roman"/>
              </a:rPr>
              <a:t>of	</a:t>
            </a:r>
            <a:r>
              <a:rPr sz="2400" spc="-5" dirty="0">
                <a:latin typeface="Times New Roman"/>
                <a:cs typeface="Times New Roman"/>
              </a:rPr>
              <a:t>interaction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2207" y="1443354"/>
            <a:ext cx="10394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spc="-20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30948" y="1443354"/>
            <a:ext cx="148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gover</a:t>
            </a:r>
            <a:r>
              <a:rPr sz="2400" spc="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9002" y="1443354"/>
            <a:ext cx="2847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4925" algn="l"/>
                <a:tab pos="1989455" algn="l"/>
              </a:tabLst>
            </a:pPr>
            <a:r>
              <a:rPr sz="2400" spc="-5" dirty="0">
                <a:latin typeface="Times New Roman"/>
                <a:cs typeface="Times New Roman"/>
              </a:rPr>
              <a:t>agencies	and	proj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491" y="1443354"/>
            <a:ext cx="1790700" cy="64770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 marR="5080" indent="228600">
              <a:lnSpc>
                <a:spcPct val="70000"/>
              </a:lnSpc>
              <a:spcBef>
                <a:spcPts val="960"/>
              </a:spcBef>
              <a:tabLst>
                <a:tab pos="861694" algn="l"/>
              </a:tabLst>
            </a:pPr>
            <a:r>
              <a:rPr sz="2400" spc="-5" dirty="0">
                <a:latin typeface="Times New Roman"/>
                <a:cs typeface="Times New Roman"/>
              </a:rPr>
              <a:t>A	p</a:t>
            </a:r>
            <a:r>
              <a:rPr sz="2400" dirty="0">
                <a:latin typeface="Times New Roman"/>
                <a:cs typeface="Times New Roman"/>
              </a:rPr>
              <a:t>roce</a:t>
            </a:r>
            <a:r>
              <a:rPr sz="2400" spc="-5" dirty="0">
                <a:latin typeface="Times New Roman"/>
                <a:cs typeface="Times New Roman"/>
              </a:rPr>
              <a:t>ss  </a:t>
            </a:r>
            <a:r>
              <a:rPr sz="2400" dirty="0">
                <a:latin typeface="Times New Roman"/>
                <a:cs typeface="Times New Roman"/>
              </a:rPr>
              <a:t>proponents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3191" y="2468245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4812" y="2423540"/>
            <a:ext cx="6361430" cy="230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Identifies:</a:t>
            </a:r>
            <a:endParaRPr sz="2400">
              <a:latin typeface="Times New Roman"/>
              <a:cs typeface="Times New Roman"/>
            </a:endParaRPr>
          </a:p>
          <a:p>
            <a:pPr marL="481965" indent="-287655">
              <a:lnSpc>
                <a:spcPct val="100000"/>
              </a:lnSpc>
              <a:buClr>
                <a:srgbClr val="BE0000"/>
              </a:buClr>
              <a:buChar char="–"/>
              <a:tabLst>
                <a:tab pos="481965" algn="l"/>
                <a:tab pos="482600" algn="l"/>
              </a:tabLst>
            </a:pPr>
            <a:r>
              <a:rPr sz="2400" dirty="0">
                <a:latin typeface="Times New Roman"/>
                <a:cs typeface="Times New Roman"/>
              </a:rPr>
              <a:t>spatial and </a:t>
            </a:r>
            <a:r>
              <a:rPr sz="2400" spc="-5" dirty="0">
                <a:latin typeface="Times New Roman"/>
                <a:cs typeface="Times New Roman"/>
              </a:rPr>
              <a:t>temporal </a:t>
            </a:r>
            <a:r>
              <a:rPr sz="2400" dirty="0">
                <a:latin typeface="Times New Roman"/>
                <a:cs typeface="Times New Roman"/>
              </a:rPr>
              <a:t>boundaries for the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EIA</a:t>
            </a:r>
            <a:endParaRPr sz="2400">
              <a:latin typeface="Times New Roman"/>
              <a:cs typeface="Times New Roman"/>
            </a:endParaRPr>
          </a:p>
          <a:p>
            <a:pPr marL="481965" indent="-287655">
              <a:lnSpc>
                <a:spcPct val="100000"/>
              </a:lnSpc>
              <a:buClr>
                <a:srgbClr val="BE0000"/>
              </a:buClr>
              <a:buChar char="–"/>
              <a:tabLst>
                <a:tab pos="481965" algn="l"/>
                <a:tab pos="482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important </a:t>
            </a:r>
            <a:r>
              <a:rPr sz="2400" dirty="0">
                <a:latin typeface="Times New Roman"/>
                <a:cs typeface="Times New Roman"/>
              </a:rPr>
              <a:t>issues 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concern</a:t>
            </a:r>
            <a:endParaRPr sz="2400">
              <a:latin typeface="Times New Roman"/>
              <a:cs typeface="Times New Roman"/>
            </a:endParaRPr>
          </a:p>
          <a:p>
            <a:pPr marL="481965" indent="-287655">
              <a:lnSpc>
                <a:spcPct val="100000"/>
              </a:lnSpc>
              <a:buClr>
                <a:srgbClr val="BE0000"/>
              </a:buClr>
              <a:buChar char="–"/>
              <a:tabLst>
                <a:tab pos="481965" algn="l"/>
                <a:tab pos="482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necessary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making</a:t>
            </a:r>
            <a:endParaRPr sz="2400">
              <a:latin typeface="Times New Roman"/>
              <a:cs typeface="Times New Roman"/>
            </a:endParaRPr>
          </a:p>
          <a:p>
            <a:pPr marL="481965" indent="-287655">
              <a:lnSpc>
                <a:spcPct val="100000"/>
              </a:lnSpc>
              <a:buClr>
                <a:srgbClr val="BE0000"/>
              </a:buClr>
              <a:buChar char="–"/>
              <a:tabLst>
                <a:tab pos="481965" algn="l"/>
                <a:tab pos="482600" algn="l"/>
              </a:tabLst>
            </a:pPr>
            <a:r>
              <a:rPr sz="2400" dirty="0">
                <a:latin typeface="Times New Roman"/>
                <a:cs typeface="Times New Roman"/>
              </a:rPr>
              <a:t>significant </a:t>
            </a:r>
            <a:r>
              <a:rPr sz="2400" spc="-20" dirty="0">
                <a:latin typeface="Times New Roman"/>
                <a:cs typeface="Times New Roman"/>
              </a:rPr>
              <a:t>effects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factors </a:t>
            </a:r>
            <a:r>
              <a:rPr sz="2400" dirty="0">
                <a:latin typeface="Times New Roman"/>
                <a:cs typeface="Times New Roman"/>
              </a:rPr>
              <a:t>to be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considered</a:t>
            </a:r>
            <a:endParaRPr sz="2400">
              <a:latin typeface="Times New Roman"/>
              <a:cs typeface="Times New Roman"/>
            </a:endParaRPr>
          </a:p>
          <a:p>
            <a:pPr marL="481965" indent="-287655">
              <a:lnSpc>
                <a:spcPct val="100000"/>
              </a:lnSpc>
              <a:spcBef>
                <a:spcPts val="700"/>
              </a:spcBef>
              <a:buClr>
                <a:srgbClr val="BE0000"/>
              </a:buClr>
              <a:buChar char="–"/>
              <a:tabLst>
                <a:tab pos="481965" algn="l"/>
                <a:tab pos="482600" algn="l"/>
                <a:tab pos="2569845" algn="l"/>
                <a:tab pos="3696335" algn="l"/>
                <a:tab pos="4330700" algn="l"/>
                <a:tab pos="6092190" algn="l"/>
              </a:tabLst>
            </a:pP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spc="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lis</a:t>
            </a:r>
            <a:r>
              <a:rPr sz="2400" dirty="0">
                <a:latin typeface="Times New Roman"/>
                <a:cs typeface="Times New Roman"/>
              </a:rPr>
              <a:t>he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5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or	re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ence	</a:t>
            </a:r>
            <a:r>
              <a:rPr sz="2400" spc="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47001" y="4341114"/>
            <a:ext cx="447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5" dirty="0">
                <a:latin typeface="Times New Roman"/>
                <a:cs typeface="Times New Roman"/>
              </a:rPr>
              <a:t>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19084" y="4341114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5" dirty="0">
                <a:latin typeface="Times New Roman"/>
                <a:cs typeface="Times New Roman"/>
              </a:rPr>
              <a:t>EIA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19294" y="3429"/>
            <a:ext cx="17272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latin typeface="Arial"/>
                <a:cs typeface="Arial"/>
              </a:rPr>
              <a:t>Scoping</a:t>
            </a:r>
            <a:endParaRPr sz="3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2910" y="1869475"/>
            <a:ext cx="1394460" cy="720090"/>
            <a:chOff x="1212910" y="1869475"/>
            <a:chExt cx="1394460" cy="720090"/>
          </a:xfrm>
        </p:grpSpPr>
        <p:sp>
          <p:nvSpPr>
            <p:cNvPr id="5" name="object 5"/>
            <p:cNvSpPr/>
            <p:nvPr/>
          </p:nvSpPr>
          <p:spPr>
            <a:xfrm>
              <a:off x="1219200" y="1875789"/>
              <a:ext cx="1381760" cy="713740"/>
            </a:xfrm>
            <a:custGeom>
              <a:avLst/>
              <a:gdLst/>
              <a:ahLst/>
              <a:cxnLst/>
              <a:rect l="l" t="t" r="r" b="b"/>
              <a:pathLst>
                <a:path w="1381760" h="713739">
                  <a:moveTo>
                    <a:pt x="1381760" y="0"/>
                  </a:moveTo>
                  <a:lnTo>
                    <a:pt x="0" y="0"/>
                  </a:lnTo>
                  <a:lnTo>
                    <a:pt x="0" y="713739"/>
                  </a:lnTo>
                  <a:lnTo>
                    <a:pt x="1381760" y="713739"/>
                  </a:lnTo>
                  <a:lnTo>
                    <a:pt x="138176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9200" y="1875764"/>
              <a:ext cx="1381760" cy="514350"/>
            </a:xfrm>
            <a:custGeom>
              <a:avLst/>
              <a:gdLst/>
              <a:ahLst/>
              <a:cxnLst/>
              <a:rect l="l" t="t" r="r" b="b"/>
              <a:pathLst>
                <a:path w="1381760" h="514350">
                  <a:moveTo>
                    <a:pt x="0" y="514248"/>
                  </a:moveTo>
                  <a:lnTo>
                    <a:pt x="1381760" y="514248"/>
                  </a:lnTo>
                  <a:lnTo>
                    <a:pt x="1381760" y="0"/>
                  </a:lnTo>
                  <a:lnTo>
                    <a:pt x="0" y="0"/>
                  </a:lnTo>
                  <a:lnTo>
                    <a:pt x="0" y="514248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19200" y="1875764"/>
            <a:ext cx="1381760" cy="514350"/>
          </a:xfrm>
          <a:prstGeom prst="rect">
            <a:avLst/>
          </a:prstGeom>
          <a:solidFill>
            <a:srgbClr val="CCEBFF"/>
          </a:solidFill>
          <a:ln w="12578">
            <a:solidFill>
              <a:srgbClr val="949494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1560"/>
              </a:spcBef>
            </a:pP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IEE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219881" y="1271330"/>
            <a:ext cx="2707005" cy="1987550"/>
            <a:chOff x="8219881" y="1271330"/>
            <a:chExt cx="2707005" cy="1987550"/>
          </a:xfrm>
        </p:grpSpPr>
        <p:sp>
          <p:nvSpPr>
            <p:cNvPr id="9" name="object 9"/>
            <p:cNvSpPr/>
            <p:nvPr/>
          </p:nvSpPr>
          <p:spPr>
            <a:xfrm>
              <a:off x="8226170" y="1277620"/>
              <a:ext cx="2694305" cy="1974850"/>
            </a:xfrm>
            <a:custGeom>
              <a:avLst/>
              <a:gdLst/>
              <a:ahLst/>
              <a:cxnLst/>
              <a:rect l="l" t="t" r="r" b="b"/>
              <a:pathLst>
                <a:path w="2694304" h="1974850">
                  <a:moveTo>
                    <a:pt x="1347977" y="0"/>
                  </a:moveTo>
                  <a:lnTo>
                    <a:pt x="1281049" y="1142"/>
                  </a:lnTo>
                  <a:lnTo>
                    <a:pt x="1215135" y="4317"/>
                  </a:lnTo>
                  <a:lnTo>
                    <a:pt x="1150238" y="9778"/>
                  </a:lnTo>
                  <a:lnTo>
                    <a:pt x="1086484" y="17271"/>
                  </a:lnTo>
                  <a:lnTo>
                    <a:pt x="1024001" y="26796"/>
                  </a:lnTo>
                  <a:lnTo>
                    <a:pt x="962659" y="38353"/>
                  </a:lnTo>
                  <a:lnTo>
                    <a:pt x="902588" y="51815"/>
                  </a:lnTo>
                  <a:lnTo>
                    <a:pt x="843914" y="67182"/>
                  </a:lnTo>
                  <a:lnTo>
                    <a:pt x="786764" y="84454"/>
                  </a:lnTo>
                  <a:lnTo>
                    <a:pt x="731011" y="103504"/>
                  </a:lnTo>
                  <a:lnTo>
                    <a:pt x="676782" y="124332"/>
                  </a:lnTo>
                  <a:lnTo>
                    <a:pt x="624204" y="146938"/>
                  </a:lnTo>
                  <a:lnTo>
                    <a:pt x="573277" y="171195"/>
                  </a:lnTo>
                  <a:lnTo>
                    <a:pt x="524128" y="196976"/>
                  </a:lnTo>
                  <a:lnTo>
                    <a:pt x="476757" y="224535"/>
                  </a:lnTo>
                  <a:lnTo>
                    <a:pt x="431164" y="253491"/>
                  </a:lnTo>
                  <a:lnTo>
                    <a:pt x="387603" y="283971"/>
                  </a:lnTo>
                  <a:lnTo>
                    <a:pt x="345948" y="315975"/>
                  </a:lnTo>
                  <a:lnTo>
                    <a:pt x="306450" y="349376"/>
                  </a:lnTo>
                  <a:lnTo>
                    <a:pt x="268985" y="384047"/>
                  </a:lnTo>
                  <a:lnTo>
                    <a:pt x="233679" y="420115"/>
                  </a:lnTo>
                  <a:lnTo>
                    <a:pt x="200532" y="457453"/>
                  </a:lnTo>
                  <a:lnTo>
                    <a:pt x="169799" y="495934"/>
                  </a:lnTo>
                  <a:lnTo>
                    <a:pt x="141350" y="535685"/>
                  </a:lnTo>
                  <a:lnTo>
                    <a:pt x="115315" y="576579"/>
                  </a:lnTo>
                  <a:lnTo>
                    <a:pt x="91821" y="618489"/>
                  </a:lnTo>
                  <a:lnTo>
                    <a:pt x="70738" y="661542"/>
                  </a:lnTo>
                  <a:lnTo>
                    <a:pt x="52450" y="705484"/>
                  </a:lnTo>
                  <a:lnTo>
                    <a:pt x="36702" y="750442"/>
                  </a:lnTo>
                  <a:lnTo>
                    <a:pt x="23622" y="796289"/>
                  </a:lnTo>
                  <a:lnTo>
                    <a:pt x="13461" y="843152"/>
                  </a:lnTo>
                  <a:lnTo>
                    <a:pt x="5969" y="890651"/>
                  </a:lnTo>
                  <a:lnTo>
                    <a:pt x="1524" y="939038"/>
                  </a:lnTo>
                  <a:lnTo>
                    <a:pt x="0" y="988059"/>
                  </a:lnTo>
                  <a:lnTo>
                    <a:pt x="1524" y="1036954"/>
                  </a:lnTo>
                  <a:lnTo>
                    <a:pt x="5969" y="1085214"/>
                  </a:lnTo>
                  <a:lnTo>
                    <a:pt x="13461" y="1132713"/>
                  </a:lnTo>
                  <a:lnTo>
                    <a:pt x="23622" y="1179321"/>
                  </a:lnTo>
                  <a:lnTo>
                    <a:pt x="36702" y="1225168"/>
                  </a:lnTo>
                  <a:lnTo>
                    <a:pt x="52450" y="1270000"/>
                  </a:lnTo>
                  <a:lnTo>
                    <a:pt x="70738" y="1313941"/>
                  </a:lnTo>
                  <a:lnTo>
                    <a:pt x="91821" y="1356867"/>
                  </a:lnTo>
                  <a:lnTo>
                    <a:pt x="115315" y="1398777"/>
                  </a:lnTo>
                  <a:lnTo>
                    <a:pt x="141350" y="1439671"/>
                  </a:lnTo>
                  <a:lnTo>
                    <a:pt x="169799" y="1479295"/>
                  </a:lnTo>
                  <a:lnTo>
                    <a:pt x="200532" y="1517777"/>
                  </a:lnTo>
                  <a:lnTo>
                    <a:pt x="233679" y="1555114"/>
                  </a:lnTo>
                  <a:lnTo>
                    <a:pt x="268985" y="1591055"/>
                  </a:lnTo>
                  <a:lnTo>
                    <a:pt x="306450" y="1625727"/>
                  </a:lnTo>
                  <a:lnTo>
                    <a:pt x="345948" y="1659127"/>
                  </a:lnTo>
                  <a:lnTo>
                    <a:pt x="387603" y="1691004"/>
                  </a:lnTo>
                  <a:lnTo>
                    <a:pt x="431164" y="1721484"/>
                  </a:lnTo>
                  <a:lnTo>
                    <a:pt x="476757" y="1750440"/>
                  </a:lnTo>
                  <a:lnTo>
                    <a:pt x="524128" y="1777872"/>
                  </a:lnTo>
                  <a:lnTo>
                    <a:pt x="573277" y="1803780"/>
                  </a:lnTo>
                  <a:lnTo>
                    <a:pt x="624204" y="1827910"/>
                  </a:lnTo>
                  <a:lnTo>
                    <a:pt x="676782" y="1850516"/>
                  </a:lnTo>
                  <a:lnTo>
                    <a:pt x="731011" y="1871344"/>
                  </a:lnTo>
                  <a:lnTo>
                    <a:pt x="786764" y="1890394"/>
                  </a:lnTo>
                  <a:lnTo>
                    <a:pt x="843914" y="1907666"/>
                  </a:lnTo>
                  <a:lnTo>
                    <a:pt x="902588" y="1923033"/>
                  </a:lnTo>
                  <a:lnTo>
                    <a:pt x="962659" y="1936495"/>
                  </a:lnTo>
                  <a:lnTo>
                    <a:pt x="1024001" y="1948052"/>
                  </a:lnTo>
                  <a:lnTo>
                    <a:pt x="1086484" y="1957577"/>
                  </a:lnTo>
                  <a:lnTo>
                    <a:pt x="1150238" y="1965070"/>
                  </a:lnTo>
                  <a:lnTo>
                    <a:pt x="1215135" y="1970404"/>
                  </a:lnTo>
                  <a:lnTo>
                    <a:pt x="1281049" y="1973706"/>
                  </a:lnTo>
                  <a:lnTo>
                    <a:pt x="1347977" y="1974850"/>
                  </a:lnTo>
                  <a:lnTo>
                    <a:pt x="1414779" y="1973706"/>
                  </a:lnTo>
                  <a:lnTo>
                    <a:pt x="1480693" y="1970404"/>
                  </a:lnTo>
                  <a:lnTo>
                    <a:pt x="1545589" y="1965070"/>
                  </a:lnTo>
                  <a:lnTo>
                    <a:pt x="1609344" y="1957577"/>
                  </a:lnTo>
                  <a:lnTo>
                    <a:pt x="1671827" y="1948052"/>
                  </a:lnTo>
                  <a:lnTo>
                    <a:pt x="1733169" y="1936495"/>
                  </a:lnTo>
                  <a:lnTo>
                    <a:pt x="1793112" y="1923033"/>
                  </a:lnTo>
                  <a:lnTo>
                    <a:pt x="1851659" y="1907666"/>
                  </a:lnTo>
                  <a:lnTo>
                    <a:pt x="1908809" y="1890394"/>
                  </a:lnTo>
                  <a:lnTo>
                    <a:pt x="1964562" y="1871344"/>
                  </a:lnTo>
                  <a:lnTo>
                    <a:pt x="2018664" y="1850516"/>
                  </a:lnTo>
                  <a:lnTo>
                    <a:pt x="2071243" y="1827910"/>
                  </a:lnTo>
                  <a:lnTo>
                    <a:pt x="2122043" y="1803780"/>
                  </a:lnTo>
                  <a:lnTo>
                    <a:pt x="2171192" y="1777872"/>
                  </a:lnTo>
                  <a:lnTo>
                    <a:pt x="2218435" y="1750440"/>
                  </a:lnTo>
                  <a:lnTo>
                    <a:pt x="2263902" y="1721484"/>
                  </a:lnTo>
                  <a:lnTo>
                    <a:pt x="2307462" y="1691004"/>
                  </a:lnTo>
                  <a:lnTo>
                    <a:pt x="2348992" y="1659127"/>
                  </a:lnTo>
                  <a:lnTo>
                    <a:pt x="2388488" y="1625727"/>
                  </a:lnTo>
                  <a:lnTo>
                    <a:pt x="2425827" y="1591055"/>
                  </a:lnTo>
                  <a:lnTo>
                    <a:pt x="2461132" y="1555114"/>
                  </a:lnTo>
                  <a:lnTo>
                    <a:pt x="2494153" y="1517777"/>
                  </a:lnTo>
                  <a:lnTo>
                    <a:pt x="2524759" y="1479295"/>
                  </a:lnTo>
                  <a:lnTo>
                    <a:pt x="2553207" y="1439671"/>
                  </a:lnTo>
                  <a:lnTo>
                    <a:pt x="2579115" y="1398777"/>
                  </a:lnTo>
                  <a:lnTo>
                    <a:pt x="2602610" y="1356867"/>
                  </a:lnTo>
                  <a:lnTo>
                    <a:pt x="2623565" y="1313941"/>
                  </a:lnTo>
                  <a:lnTo>
                    <a:pt x="2641980" y="1270000"/>
                  </a:lnTo>
                  <a:lnTo>
                    <a:pt x="2657602" y="1225168"/>
                  </a:lnTo>
                  <a:lnTo>
                    <a:pt x="2670555" y="1179321"/>
                  </a:lnTo>
                  <a:lnTo>
                    <a:pt x="2680843" y="1132713"/>
                  </a:lnTo>
                  <a:lnTo>
                    <a:pt x="2688208" y="1085214"/>
                  </a:lnTo>
                  <a:lnTo>
                    <a:pt x="2692654" y="1036954"/>
                  </a:lnTo>
                  <a:lnTo>
                    <a:pt x="2694178" y="988059"/>
                  </a:lnTo>
                  <a:lnTo>
                    <a:pt x="2692654" y="939038"/>
                  </a:lnTo>
                  <a:lnTo>
                    <a:pt x="2688208" y="890651"/>
                  </a:lnTo>
                  <a:lnTo>
                    <a:pt x="2680843" y="843152"/>
                  </a:lnTo>
                  <a:lnTo>
                    <a:pt x="2670555" y="796289"/>
                  </a:lnTo>
                  <a:lnTo>
                    <a:pt x="2657602" y="750442"/>
                  </a:lnTo>
                  <a:lnTo>
                    <a:pt x="2641980" y="705484"/>
                  </a:lnTo>
                  <a:lnTo>
                    <a:pt x="2623565" y="661542"/>
                  </a:lnTo>
                  <a:lnTo>
                    <a:pt x="2602610" y="618489"/>
                  </a:lnTo>
                  <a:lnTo>
                    <a:pt x="2579115" y="576579"/>
                  </a:lnTo>
                  <a:lnTo>
                    <a:pt x="2553207" y="535685"/>
                  </a:lnTo>
                  <a:lnTo>
                    <a:pt x="2524759" y="495934"/>
                  </a:lnTo>
                  <a:lnTo>
                    <a:pt x="2494153" y="457453"/>
                  </a:lnTo>
                  <a:lnTo>
                    <a:pt x="2461132" y="420115"/>
                  </a:lnTo>
                  <a:lnTo>
                    <a:pt x="2425827" y="384047"/>
                  </a:lnTo>
                  <a:lnTo>
                    <a:pt x="2388488" y="349376"/>
                  </a:lnTo>
                  <a:lnTo>
                    <a:pt x="2348992" y="315975"/>
                  </a:lnTo>
                  <a:lnTo>
                    <a:pt x="2307462" y="283971"/>
                  </a:lnTo>
                  <a:lnTo>
                    <a:pt x="2263902" y="253491"/>
                  </a:lnTo>
                  <a:lnTo>
                    <a:pt x="2218435" y="224535"/>
                  </a:lnTo>
                  <a:lnTo>
                    <a:pt x="2171192" y="196976"/>
                  </a:lnTo>
                  <a:lnTo>
                    <a:pt x="2122043" y="171195"/>
                  </a:lnTo>
                  <a:lnTo>
                    <a:pt x="2071243" y="146938"/>
                  </a:lnTo>
                  <a:lnTo>
                    <a:pt x="2018664" y="124332"/>
                  </a:lnTo>
                  <a:lnTo>
                    <a:pt x="1964562" y="103504"/>
                  </a:lnTo>
                  <a:lnTo>
                    <a:pt x="1908809" y="84454"/>
                  </a:lnTo>
                  <a:lnTo>
                    <a:pt x="1851659" y="67182"/>
                  </a:lnTo>
                  <a:lnTo>
                    <a:pt x="1793112" y="51815"/>
                  </a:lnTo>
                  <a:lnTo>
                    <a:pt x="1733169" y="38353"/>
                  </a:lnTo>
                  <a:lnTo>
                    <a:pt x="1671827" y="26796"/>
                  </a:lnTo>
                  <a:lnTo>
                    <a:pt x="1609344" y="17271"/>
                  </a:lnTo>
                  <a:lnTo>
                    <a:pt x="1545589" y="9778"/>
                  </a:lnTo>
                  <a:lnTo>
                    <a:pt x="1480693" y="4317"/>
                  </a:lnTo>
                  <a:lnTo>
                    <a:pt x="1414779" y="1142"/>
                  </a:lnTo>
                  <a:lnTo>
                    <a:pt x="1347977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26170" y="1277620"/>
              <a:ext cx="2694305" cy="1974850"/>
            </a:xfrm>
            <a:custGeom>
              <a:avLst/>
              <a:gdLst/>
              <a:ahLst/>
              <a:cxnLst/>
              <a:rect l="l" t="t" r="r" b="b"/>
              <a:pathLst>
                <a:path w="2694304" h="1974850">
                  <a:moveTo>
                    <a:pt x="1347977" y="0"/>
                  </a:moveTo>
                  <a:lnTo>
                    <a:pt x="1414779" y="1142"/>
                  </a:lnTo>
                  <a:lnTo>
                    <a:pt x="1480693" y="4317"/>
                  </a:lnTo>
                  <a:lnTo>
                    <a:pt x="1545589" y="9778"/>
                  </a:lnTo>
                  <a:lnTo>
                    <a:pt x="1609344" y="17271"/>
                  </a:lnTo>
                  <a:lnTo>
                    <a:pt x="1671827" y="26796"/>
                  </a:lnTo>
                  <a:lnTo>
                    <a:pt x="1733169" y="38353"/>
                  </a:lnTo>
                  <a:lnTo>
                    <a:pt x="1793112" y="51815"/>
                  </a:lnTo>
                  <a:lnTo>
                    <a:pt x="1851659" y="67182"/>
                  </a:lnTo>
                  <a:lnTo>
                    <a:pt x="1908809" y="84454"/>
                  </a:lnTo>
                  <a:lnTo>
                    <a:pt x="1964562" y="103504"/>
                  </a:lnTo>
                  <a:lnTo>
                    <a:pt x="2018664" y="124332"/>
                  </a:lnTo>
                  <a:lnTo>
                    <a:pt x="2071243" y="146938"/>
                  </a:lnTo>
                  <a:lnTo>
                    <a:pt x="2122043" y="171195"/>
                  </a:lnTo>
                  <a:lnTo>
                    <a:pt x="2171192" y="196976"/>
                  </a:lnTo>
                  <a:lnTo>
                    <a:pt x="2218435" y="224535"/>
                  </a:lnTo>
                  <a:lnTo>
                    <a:pt x="2263902" y="253491"/>
                  </a:lnTo>
                  <a:lnTo>
                    <a:pt x="2307462" y="283971"/>
                  </a:lnTo>
                  <a:lnTo>
                    <a:pt x="2348992" y="315975"/>
                  </a:lnTo>
                  <a:lnTo>
                    <a:pt x="2388488" y="349376"/>
                  </a:lnTo>
                  <a:lnTo>
                    <a:pt x="2425827" y="384047"/>
                  </a:lnTo>
                  <a:lnTo>
                    <a:pt x="2461132" y="420115"/>
                  </a:lnTo>
                  <a:lnTo>
                    <a:pt x="2494153" y="457453"/>
                  </a:lnTo>
                  <a:lnTo>
                    <a:pt x="2524759" y="495934"/>
                  </a:lnTo>
                  <a:lnTo>
                    <a:pt x="2553207" y="535685"/>
                  </a:lnTo>
                  <a:lnTo>
                    <a:pt x="2579115" y="576579"/>
                  </a:lnTo>
                  <a:lnTo>
                    <a:pt x="2602610" y="618489"/>
                  </a:lnTo>
                  <a:lnTo>
                    <a:pt x="2623565" y="661542"/>
                  </a:lnTo>
                  <a:lnTo>
                    <a:pt x="2641980" y="705484"/>
                  </a:lnTo>
                  <a:lnTo>
                    <a:pt x="2657602" y="750442"/>
                  </a:lnTo>
                  <a:lnTo>
                    <a:pt x="2670555" y="796289"/>
                  </a:lnTo>
                  <a:lnTo>
                    <a:pt x="2680843" y="843152"/>
                  </a:lnTo>
                  <a:lnTo>
                    <a:pt x="2688208" y="890651"/>
                  </a:lnTo>
                  <a:lnTo>
                    <a:pt x="2692654" y="939038"/>
                  </a:lnTo>
                  <a:lnTo>
                    <a:pt x="2694178" y="988059"/>
                  </a:lnTo>
                  <a:lnTo>
                    <a:pt x="2692654" y="1036954"/>
                  </a:lnTo>
                  <a:lnTo>
                    <a:pt x="2688208" y="1085214"/>
                  </a:lnTo>
                  <a:lnTo>
                    <a:pt x="2680843" y="1132713"/>
                  </a:lnTo>
                  <a:lnTo>
                    <a:pt x="2670555" y="1179321"/>
                  </a:lnTo>
                  <a:lnTo>
                    <a:pt x="2657602" y="1225168"/>
                  </a:lnTo>
                  <a:lnTo>
                    <a:pt x="2641980" y="1270000"/>
                  </a:lnTo>
                  <a:lnTo>
                    <a:pt x="2623565" y="1313941"/>
                  </a:lnTo>
                  <a:lnTo>
                    <a:pt x="2602610" y="1356867"/>
                  </a:lnTo>
                  <a:lnTo>
                    <a:pt x="2579115" y="1398777"/>
                  </a:lnTo>
                  <a:lnTo>
                    <a:pt x="2553207" y="1439671"/>
                  </a:lnTo>
                  <a:lnTo>
                    <a:pt x="2524759" y="1479295"/>
                  </a:lnTo>
                  <a:lnTo>
                    <a:pt x="2494153" y="1517777"/>
                  </a:lnTo>
                  <a:lnTo>
                    <a:pt x="2461132" y="1555114"/>
                  </a:lnTo>
                  <a:lnTo>
                    <a:pt x="2425827" y="1591055"/>
                  </a:lnTo>
                  <a:lnTo>
                    <a:pt x="2388488" y="1625727"/>
                  </a:lnTo>
                  <a:lnTo>
                    <a:pt x="2348992" y="1659127"/>
                  </a:lnTo>
                  <a:lnTo>
                    <a:pt x="2307462" y="1691004"/>
                  </a:lnTo>
                  <a:lnTo>
                    <a:pt x="2263902" y="1721484"/>
                  </a:lnTo>
                  <a:lnTo>
                    <a:pt x="2218435" y="1750440"/>
                  </a:lnTo>
                  <a:lnTo>
                    <a:pt x="2171192" y="1777872"/>
                  </a:lnTo>
                  <a:lnTo>
                    <a:pt x="2122043" y="1803780"/>
                  </a:lnTo>
                  <a:lnTo>
                    <a:pt x="2071243" y="1827910"/>
                  </a:lnTo>
                  <a:lnTo>
                    <a:pt x="2018664" y="1850516"/>
                  </a:lnTo>
                  <a:lnTo>
                    <a:pt x="1964562" y="1871344"/>
                  </a:lnTo>
                  <a:lnTo>
                    <a:pt x="1908809" y="1890394"/>
                  </a:lnTo>
                  <a:lnTo>
                    <a:pt x="1851659" y="1907666"/>
                  </a:lnTo>
                  <a:lnTo>
                    <a:pt x="1793112" y="1923033"/>
                  </a:lnTo>
                  <a:lnTo>
                    <a:pt x="1733169" y="1936495"/>
                  </a:lnTo>
                  <a:lnTo>
                    <a:pt x="1671827" y="1948052"/>
                  </a:lnTo>
                  <a:lnTo>
                    <a:pt x="1609344" y="1957577"/>
                  </a:lnTo>
                  <a:lnTo>
                    <a:pt x="1545589" y="1965070"/>
                  </a:lnTo>
                  <a:lnTo>
                    <a:pt x="1480693" y="1970404"/>
                  </a:lnTo>
                  <a:lnTo>
                    <a:pt x="1414779" y="1973706"/>
                  </a:lnTo>
                  <a:lnTo>
                    <a:pt x="1347977" y="1974850"/>
                  </a:lnTo>
                  <a:lnTo>
                    <a:pt x="1281049" y="1973706"/>
                  </a:lnTo>
                  <a:lnTo>
                    <a:pt x="1215135" y="1970404"/>
                  </a:lnTo>
                  <a:lnTo>
                    <a:pt x="1150238" y="1965070"/>
                  </a:lnTo>
                  <a:lnTo>
                    <a:pt x="1086484" y="1957577"/>
                  </a:lnTo>
                  <a:lnTo>
                    <a:pt x="1024001" y="1948052"/>
                  </a:lnTo>
                  <a:lnTo>
                    <a:pt x="962659" y="1936495"/>
                  </a:lnTo>
                  <a:lnTo>
                    <a:pt x="902588" y="1923033"/>
                  </a:lnTo>
                  <a:lnTo>
                    <a:pt x="843914" y="1907666"/>
                  </a:lnTo>
                  <a:lnTo>
                    <a:pt x="786764" y="1890394"/>
                  </a:lnTo>
                  <a:lnTo>
                    <a:pt x="731011" y="1871344"/>
                  </a:lnTo>
                  <a:lnTo>
                    <a:pt x="676782" y="1850516"/>
                  </a:lnTo>
                  <a:lnTo>
                    <a:pt x="624204" y="1827910"/>
                  </a:lnTo>
                  <a:lnTo>
                    <a:pt x="573277" y="1803780"/>
                  </a:lnTo>
                  <a:lnTo>
                    <a:pt x="524128" y="1777872"/>
                  </a:lnTo>
                  <a:lnTo>
                    <a:pt x="476757" y="1750440"/>
                  </a:lnTo>
                  <a:lnTo>
                    <a:pt x="431164" y="1721484"/>
                  </a:lnTo>
                  <a:lnTo>
                    <a:pt x="387603" y="1691004"/>
                  </a:lnTo>
                  <a:lnTo>
                    <a:pt x="345948" y="1659127"/>
                  </a:lnTo>
                  <a:lnTo>
                    <a:pt x="306450" y="1625727"/>
                  </a:lnTo>
                  <a:lnTo>
                    <a:pt x="268985" y="1591055"/>
                  </a:lnTo>
                  <a:lnTo>
                    <a:pt x="233679" y="1555114"/>
                  </a:lnTo>
                  <a:lnTo>
                    <a:pt x="200532" y="1517777"/>
                  </a:lnTo>
                  <a:lnTo>
                    <a:pt x="169799" y="1479295"/>
                  </a:lnTo>
                  <a:lnTo>
                    <a:pt x="141350" y="1439671"/>
                  </a:lnTo>
                  <a:lnTo>
                    <a:pt x="115315" y="1398777"/>
                  </a:lnTo>
                  <a:lnTo>
                    <a:pt x="91821" y="1356867"/>
                  </a:lnTo>
                  <a:lnTo>
                    <a:pt x="70738" y="1313941"/>
                  </a:lnTo>
                  <a:lnTo>
                    <a:pt x="52450" y="1270000"/>
                  </a:lnTo>
                  <a:lnTo>
                    <a:pt x="36702" y="1225168"/>
                  </a:lnTo>
                  <a:lnTo>
                    <a:pt x="23622" y="1179321"/>
                  </a:lnTo>
                  <a:lnTo>
                    <a:pt x="13461" y="1132713"/>
                  </a:lnTo>
                  <a:lnTo>
                    <a:pt x="5969" y="1085214"/>
                  </a:lnTo>
                  <a:lnTo>
                    <a:pt x="1524" y="1036954"/>
                  </a:lnTo>
                  <a:lnTo>
                    <a:pt x="0" y="988059"/>
                  </a:lnTo>
                  <a:lnTo>
                    <a:pt x="1524" y="939038"/>
                  </a:lnTo>
                  <a:lnTo>
                    <a:pt x="5969" y="890651"/>
                  </a:lnTo>
                  <a:lnTo>
                    <a:pt x="13461" y="843152"/>
                  </a:lnTo>
                  <a:lnTo>
                    <a:pt x="23622" y="796289"/>
                  </a:lnTo>
                  <a:lnTo>
                    <a:pt x="36702" y="750442"/>
                  </a:lnTo>
                  <a:lnTo>
                    <a:pt x="52450" y="705484"/>
                  </a:lnTo>
                  <a:lnTo>
                    <a:pt x="70738" y="661542"/>
                  </a:lnTo>
                  <a:lnTo>
                    <a:pt x="91821" y="618489"/>
                  </a:lnTo>
                  <a:lnTo>
                    <a:pt x="115315" y="576579"/>
                  </a:lnTo>
                  <a:lnTo>
                    <a:pt x="141350" y="535685"/>
                  </a:lnTo>
                  <a:lnTo>
                    <a:pt x="169799" y="495934"/>
                  </a:lnTo>
                  <a:lnTo>
                    <a:pt x="200532" y="457453"/>
                  </a:lnTo>
                  <a:lnTo>
                    <a:pt x="233679" y="420115"/>
                  </a:lnTo>
                  <a:lnTo>
                    <a:pt x="268985" y="384047"/>
                  </a:lnTo>
                  <a:lnTo>
                    <a:pt x="306450" y="349376"/>
                  </a:lnTo>
                  <a:lnTo>
                    <a:pt x="345948" y="315975"/>
                  </a:lnTo>
                  <a:lnTo>
                    <a:pt x="387603" y="283971"/>
                  </a:lnTo>
                  <a:lnTo>
                    <a:pt x="431164" y="253491"/>
                  </a:lnTo>
                  <a:lnTo>
                    <a:pt x="476757" y="224535"/>
                  </a:lnTo>
                  <a:lnTo>
                    <a:pt x="524128" y="196976"/>
                  </a:lnTo>
                  <a:lnTo>
                    <a:pt x="573277" y="171195"/>
                  </a:lnTo>
                  <a:lnTo>
                    <a:pt x="624204" y="146938"/>
                  </a:lnTo>
                  <a:lnTo>
                    <a:pt x="676782" y="124332"/>
                  </a:lnTo>
                  <a:lnTo>
                    <a:pt x="731011" y="103504"/>
                  </a:lnTo>
                  <a:lnTo>
                    <a:pt x="786764" y="84454"/>
                  </a:lnTo>
                  <a:lnTo>
                    <a:pt x="843914" y="67182"/>
                  </a:lnTo>
                  <a:lnTo>
                    <a:pt x="902588" y="51815"/>
                  </a:lnTo>
                  <a:lnTo>
                    <a:pt x="962659" y="38353"/>
                  </a:lnTo>
                  <a:lnTo>
                    <a:pt x="1024001" y="26796"/>
                  </a:lnTo>
                  <a:lnTo>
                    <a:pt x="1086484" y="17271"/>
                  </a:lnTo>
                  <a:lnTo>
                    <a:pt x="1150238" y="9778"/>
                  </a:lnTo>
                  <a:lnTo>
                    <a:pt x="1215135" y="4317"/>
                  </a:lnTo>
                  <a:lnTo>
                    <a:pt x="1281049" y="1142"/>
                  </a:lnTo>
                  <a:lnTo>
                    <a:pt x="1347977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26170" y="1277620"/>
              <a:ext cx="2696210" cy="1974850"/>
            </a:xfrm>
            <a:custGeom>
              <a:avLst/>
              <a:gdLst/>
              <a:ahLst/>
              <a:cxnLst/>
              <a:rect l="l" t="t" r="r" b="b"/>
              <a:pathLst>
                <a:path w="2696209" h="1974850">
                  <a:moveTo>
                    <a:pt x="0" y="0"/>
                  </a:moveTo>
                  <a:lnTo>
                    <a:pt x="0" y="0"/>
                  </a:lnTo>
                </a:path>
                <a:path w="2696209" h="1974850">
                  <a:moveTo>
                    <a:pt x="2695829" y="1974850"/>
                  </a:moveTo>
                  <a:lnTo>
                    <a:pt x="2695829" y="197485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921622" y="1729232"/>
            <a:ext cx="1311910" cy="1062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CC3300"/>
                </a:solidFill>
                <a:latin typeface="Arial"/>
                <a:cs typeface="Arial"/>
              </a:rPr>
              <a:t>Project  Proceeds  </a:t>
            </a:r>
            <a:r>
              <a:rPr sz="1700" b="1" dirty="0">
                <a:latin typeface="Arial"/>
                <a:cs typeface="Arial"/>
              </a:rPr>
              <a:t>according</a:t>
            </a:r>
            <a:r>
              <a:rPr sz="1700" b="1" spc="-18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to  </a:t>
            </a:r>
            <a:r>
              <a:rPr sz="1700" b="1" spc="-5" dirty="0">
                <a:latin typeface="Arial"/>
                <a:cs typeface="Arial"/>
              </a:rPr>
              <a:t>terms </a:t>
            </a:r>
            <a:r>
              <a:rPr sz="1700" b="1" dirty="0">
                <a:latin typeface="Arial"/>
                <a:cs typeface="Arial"/>
              </a:rPr>
              <a:t>of</a:t>
            </a:r>
            <a:r>
              <a:rPr sz="1700" b="1" spc="-18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IEE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39499" y="1212910"/>
            <a:ext cx="3648075" cy="2057400"/>
            <a:chOff x="3639499" y="1212910"/>
            <a:chExt cx="3648075" cy="2057400"/>
          </a:xfrm>
        </p:grpSpPr>
        <p:sp>
          <p:nvSpPr>
            <p:cNvPr id="14" name="object 14"/>
            <p:cNvSpPr/>
            <p:nvPr/>
          </p:nvSpPr>
          <p:spPr>
            <a:xfrm>
              <a:off x="3645789" y="1219200"/>
              <a:ext cx="3636010" cy="2044700"/>
            </a:xfrm>
            <a:custGeom>
              <a:avLst/>
              <a:gdLst/>
              <a:ahLst/>
              <a:cxnLst/>
              <a:rect l="l" t="t" r="r" b="b"/>
              <a:pathLst>
                <a:path w="3636009" h="2044700">
                  <a:moveTo>
                    <a:pt x="1816862" y="0"/>
                  </a:moveTo>
                  <a:lnTo>
                    <a:pt x="0" y="1022350"/>
                  </a:lnTo>
                  <a:lnTo>
                    <a:pt x="1816862" y="2044700"/>
                  </a:lnTo>
                  <a:lnTo>
                    <a:pt x="3635502" y="1022350"/>
                  </a:lnTo>
                  <a:lnTo>
                    <a:pt x="1816862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45789" y="1219200"/>
              <a:ext cx="3636010" cy="2044700"/>
            </a:xfrm>
            <a:custGeom>
              <a:avLst/>
              <a:gdLst/>
              <a:ahLst/>
              <a:cxnLst/>
              <a:rect l="l" t="t" r="r" b="b"/>
              <a:pathLst>
                <a:path w="3636009" h="2044700">
                  <a:moveTo>
                    <a:pt x="1816862" y="0"/>
                  </a:moveTo>
                  <a:lnTo>
                    <a:pt x="3635502" y="1022350"/>
                  </a:lnTo>
                  <a:lnTo>
                    <a:pt x="1816862" y="2044700"/>
                  </a:lnTo>
                  <a:lnTo>
                    <a:pt x="0" y="1022350"/>
                  </a:lnTo>
                  <a:lnTo>
                    <a:pt x="1816862" y="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45789" y="1219200"/>
              <a:ext cx="3636010" cy="2044700"/>
            </a:xfrm>
            <a:custGeom>
              <a:avLst/>
              <a:gdLst/>
              <a:ahLst/>
              <a:cxnLst/>
              <a:rect l="l" t="t" r="r" b="b"/>
              <a:pathLst>
                <a:path w="3636009" h="2044700">
                  <a:moveTo>
                    <a:pt x="0" y="0"/>
                  </a:moveTo>
                  <a:lnTo>
                    <a:pt x="0" y="0"/>
                  </a:lnTo>
                </a:path>
                <a:path w="3636009" h="2044700">
                  <a:moveTo>
                    <a:pt x="3635502" y="2044700"/>
                  </a:moveTo>
                  <a:lnTo>
                    <a:pt x="3635502" y="2044700"/>
                  </a:lnTo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010410" y="3892575"/>
            <a:ext cx="6064885" cy="2302510"/>
            <a:chOff x="2010410" y="3892575"/>
            <a:chExt cx="6064885" cy="2302510"/>
          </a:xfrm>
        </p:grpSpPr>
        <p:sp>
          <p:nvSpPr>
            <p:cNvPr id="18" name="object 18"/>
            <p:cNvSpPr/>
            <p:nvPr/>
          </p:nvSpPr>
          <p:spPr>
            <a:xfrm>
              <a:off x="2016760" y="3898900"/>
              <a:ext cx="6052185" cy="2296160"/>
            </a:xfrm>
            <a:custGeom>
              <a:avLst/>
              <a:gdLst/>
              <a:ahLst/>
              <a:cxnLst/>
              <a:rect l="l" t="t" r="r" b="b"/>
              <a:pathLst>
                <a:path w="6052184" h="2296160">
                  <a:moveTo>
                    <a:pt x="6051930" y="0"/>
                  </a:moveTo>
                  <a:lnTo>
                    <a:pt x="0" y="0"/>
                  </a:lnTo>
                  <a:lnTo>
                    <a:pt x="0" y="2296160"/>
                  </a:lnTo>
                  <a:lnTo>
                    <a:pt x="6051930" y="2296160"/>
                  </a:lnTo>
                  <a:lnTo>
                    <a:pt x="605193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16760" y="3898925"/>
              <a:ext cx="6052185" cy="1985010"/>
            </a:xfrm>
            <a:custGeom>
              <a:avLst/>
              <a:gdLst/>
              <a:ahLst/>
              <a:cxnLst/>
              <a:rect l="l" t="t" r="r" b="b"/>
              <a:pathLst>
                <a:path w="6052184" h="1985010">
                  <a:moveTo>
                    <a:pt x="0" y="1984628"/>
                  </a:moveTo>
                  <a:lnTo>
                    <a:pt x="6051930" y="1984628"/>
                  </a:lnTo>
                  <a:lnTo>
                    <a:pt x="6051930" y="0"/>
                  </a:lnTo>
                  <a:lnTo>
                    <a:pt x="0" y="0"/>
                  </a:lnTo>
                  <a:lnTo>
                    <a:pt x="0" y="1984628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16760" y="3898925"/>
            <a:ext cx="6052185" cy="1985010"/>
          </a:xfrm>
          <a:prstGeom prst="rect">
            <a:avLst/>
          </a:prstGeom>
          <a:solidFill>
            <a:srgbClr val="CCEBFF"/>
          </a:solidFill>
          <a:ln w="12578">
            <a:solidFill>
              <a:srgbClr val="949494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094105">
              <a:lnSpc>
                <a:spcPct val="100000"/>
              </a:lnSpc>
              <a:spcBef>
                <a:spcPts val="360"/>
              </a:spcBef>
            </a:pPr>
            <a:r>
              <a:rPr sz="1950" b="1" spc="-20" dirty="0">
                <a:solidFill>
                  <a:srgbClr val="CC3300"/>
                </a:solidFill>
                <a:latin typeface="Arial"/>
                <a:cs typeface="Arial"/>
              </a:rPr>
              <a:t>Terms </a:t>
            </a:r>
            <a:r>
              <a:rPr sz="1950" b="1" spc="10" dirty="0">
                <a:solidFill>
                  <a:srgbClr val="CC3300"/>
                </a:solidFill>
                <a:latin typeface="Arial"/>
                <a:cs typeface="Arial"/>
              </a:rPr>
              <a:t>of</a:t>
            </a:r>
            <a:r>
              <a:rPr sz="1950" b="1" spc="3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950" b="1" spc="10" dirty="0">
                <a:solidFill>
                  <a:srgbClr val="CC3300"/>
                </a:solidFill>
                <a:latin typeface="Arial"/>
                <a:cs typeface="Arial"/>
              </a:rPr>
              <a:t>Reference</a:t>
            </a:r>
            <a:endParaRPr sz="1950">
              <a:latin typeface="Arial"/>
              <a:cs typeface="Arial"/>
            </a:endParaRPr>
          </a:p>
          <a:p>
            <a:pPr marL="339725" indent="-248920">
              <a:lnSpc>
                <a:spcPts val="2050"/>
              </a:lnSpc>
              <a:spcBef>
                <a:spcPts val="10"/>
              </a:spcBef>
              <a:buAutoNum type="arabicPeriod"/>
              <a:tabLst>
                <a:tab pos="340360" algn="l"/>
              </a:tabLst>
            </a:pPr>
            <a:r>
              <a:rPr sz="1750" b="1" spc="5" dirty="0">
                <a:latin typeface="Arial"/>
                <a:cs typeface="Arial"/>
              </a:rPr>
              <a:t>Background</a:t>
            </a:r>
            <a:endParaRPr sz="1750">
              <a:latin typeface="Arial"/>
              <a:cs typeface="Arial"/>
            </a:endParaRPr>
          </a:p>
          <a:p>
            <a:pPr marL="339725" indent="-340360">
              <a:lnSpc>
                <a:spcPts val="2050"/>
              </a:lnSpc>
              <a:buAutoNum type="arabicPeriod"/>
              <a:tabLst>
                <a:tab pos="339725" algn="l"/>
                <a:tab pos="340360" algn="l"/>
                <a:tab pos="1950085" algn="l"/>
              </a:tabLst>
            </a:pPr>
            <a:r>
              <a:rPr sz="1750" b="1" spc="5" dirty="0">
                <a:latin typeface="Arial"/>
                <a:cs typeface="Arial"/>
              </a:rPr>
              <a:t>Impact</a:t>
            </a:r>
            <a:r>
              <a:rPr sz="1750" b="1" spc="25" dirty="0">
                <a:latin typeface="Arial"/>
                <a:cs typeface="Arial"/>
              </a:rPr>
              <a:t> </a:t>
            </a:r>
            <a:r>
              <a:rPr sz="1750" b="1" dirty="0">
                <a:latin typeface="Arial"/>
                <a:cs typeface="Arial"/>
              </a:rPr>
              <a:t>Issues	Significant</a:t>
            </a:r>
            <a:r>
              <a:rPr sz="1750" b="1" spc="65" dirty="0">
                <a:latin typeface="Arial"/>
                <a:cs typeface="Arial"/>
              </a:rPr>
              <a:t> </a:t>
            </a:r>
            <a:r>
              <a:rPr sz="1750" b="1" dirty="0">
                <a:latin typeface="Arial"/>
                <a:cs typeface="Arial"/>
              </a:rPr>
              <a:t>Issues</a:t>
            </a:r>
            <a:endParaRPr sz="1750">
              <a:latin typeface="Arial"/>
              <a:cs typeface="Arial"/>
            </a:endParaRPr>
          </a:p>
          <a:p>
            <a:pPr marL="339725" marR="2722245">
              <a:lnSpc>
                <a:spcPts val="2150"/>
              </a:lnSpc>
              <a:spcBef>
                <a:spcPts val="65"/>
              </a:spcBef>
            </a:pPr>
            <a:r>
              <a:rPr sz="1750" b="1" spc="-5" dirty="0">
                <a:latin typeface="Arial"/>
                <a:cs typeface="Arial"/>
              </a:rPr>
              <a:t>Relevant </a:t>
            </a:r>
            <a:r>
              <a:rPr sz="1750" b="1" spc="5" dirty="0">
                <a:latin typeface="Arial"/>
                <a:cs typeface="Arial"/>
              </a:rPr>
              <a:t>Resources Report  Formatting</a:t>
            </a:r>
            <a:endParaRPr sz="1750">
              <a:latin typeface="Arial"/>
              <a:cs typeface="Arial"/>
            </a:endParaRPr>
          </a:p>
          <a:p>
            <a:pPr marL="339725" indent="-248920">
              <a:lnSpc>
                <a:spcPct val="100000"/>
              </a:lnSpc>
              <a:spcBef>
                <a:spcPts val="50"/>
              </a:spcBef>
              <a:buAutoNum type="arabicPeriod" startAt="3"/>
              <a:tabLst>
                <a:tab pos="340360" algn="l"/>
              </a:tabLst>
            </a:pPr>
            <a:r>
              <a:rPr sz="1750" b="1" spc="-5" dirty="0">
                <a:latin typeface="Arial"/>
                <a:cs typeface="Arial"/>
              </a:rPr>
              <a:t>Work</a:t>
            </a:r>
            <a:r>
              <a:rPr sz="1750" b="1" spc="10" dirty="0">
                <a:latin typeface="Arial"/>
                <a:cs typeface="Arial"/>
              </a:rPr>
              <a:t> </a:t>
            </a:r>
            <a:r>
              <a:rPr sz="1750" b="1" spc="5" dirty="0">
                <a:latin typeface="Arial"/>
                <a:cs typeface="Arial"/>
              </a:rPr>
              <a:t>Plan</a:t>
            </a:r>
            <a:endParaRPr sz="1750">
              <a:latin typeface="Arial"/>
              <a:cs typeface="Arial"/>
            </a:endParaRPr>
          </a:p>
          <a:p>
            <a:pPr marL="539750">
              <a:lnSpc>
                <a:spcPct val="100000"/>
              </a:lnSpc>
              <a:spcBef>
                <a:spcPts val="5"/>
              </a:spcBef>
            </a:pPr>
            <a:r>
              <a:rPr sz="1750" b="1" spc="5" dirty="0">
                <a:latin typeface="Arial"/>
                <a:cs typeface="Arial"/>
              </a:rPr>
              <a:t>When/Who/How </a:t>
            </a:r>
            <a:r>
              <a:rPr sz="1750" b="1" dirty="0">
                <a:latin typeface="Arial"/>
                <a:cs typeface="Arial"/>
              </a:rPr>
              <a:t>of </a:t>
            </a:r>
            <a:r>
              <a:rPr sz="1750" b="1" spc="-35" dirty="0">
                <a:latin typeface="Arial"/>
                <a:cs typeface="Arial"/>
              </a:rPr>
              <a:t>Task</a:t>
            </a:r>
            <a:r>
              <a:rPr sz="1750" b="1" spc="85" dirty="0">
                <a:latin typeface="Arial"/>
                <a:cs typeface="Arial"/>
              </a:rPr>
              <a:t> </a:t>
            </a:r>
            <a:r>
              <a:rPr sz="1750" b="1" spc="5" dirty="0">
                <a:latin typeface="Arial"/>
                <a:cs typeface="Arial"/>
              </a:rPr>
              <a:t>Completion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973499" y="4394235"/>
            <a:ext cx="1927860" cy="1325880"/>
            <a:chOff x="8973499" y="4394235"/>
            <a:chExt cx="1927860" cy="1325880"/>
          </a:xfrm>
        </p:grpSpPr>
        <p:sp>
          <p:nvSpPr>
            <p:cNvPr id="22" name="object 22"/>
            <p:cNvSpPr/>
            <p:nvPr/>
          </p:nvSpPr>
          <p:spPr>
            <a:xfrm>
              <a:off x="8979789" y="4400550"/>
              <a:ext cx="1915160" cy="1319530"/>
            </a:xfrm>
            <a:custGeom>
              <a:avLst/>
              <a:gdLst/>
              <a:ahLst/>
              <a:cxnLst/>
              <a:rect l="l" t="t" r="r" b="b"/>
              <a:pathLst>
                <a:path w="1915159" h="1319529">
                  <a:moveTo>
                    <a:pt x="1915160" y="0"/>
                  </a:moveTo>
                  <a:lnTo>
                    <a:pt x="0" y="0"/>
                  </a:lnTo>
                  <a:lnTo>
                    <a:pt x="0" y="1319530"/>
                  </a:lnTo>
                  <a:lnTo>
                    <a:pt x="1915160" y="1319530"/>
                  </a:lnTo>
                  <a:lnTo>
                    <a:pt x="191516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979789" y="4400524"/>
              <a:ext cx="1915160" cy="988060"/>
            </a:xfrm>
            <a:custGeom>
              <a:avLst/>
              <a:gdLst/>
              <a:ahLst/>
              <a:cxnLst/>
              <a:rect l="l" t="t" r="r" b="b"/>
              <a:pathLst>
                <a:path w="1915159" h="988060">
                  <a:moveTo>
                    <a:pt x="0" y="987450"/>
                  </a:moveTo>
                  <a:lnTo>
                    <a:pt x="1915160" y="987450"/>
                  </a:lnTo>
                  <a:lnTo>
                    <a:pt x="1915160" y="0"/>
                  </a:lnTo>
                  <a:lnTo>
                    <a:pt x="0" y="0"/>
                  </a:lnTo>
                  <a:lnTo>
                    <a:pt x="0" y="987450"/>
                  </a:lnTo>
                  <a:close/>
                </a:path>
              </a:pathLst>
            </a:custGeom>
            <a:ln w="12578">
              <a:solidFill>
                <a:srgbClr val="949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979789" y="4400524"/>
            <a:ext cx="1915160" cy="988060"/>
          </a:xfrm>
          <a:prstGeom prst="rect">
            <a:avLst/>
          </a:prstGeom>
          <a:solidFill>
            <a:srgbClr val="CCEBFF"/>
          </a:solidFill>
          <a:ln w="12578">
            <a:solidFill>
              <a:srgbClr val="949494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Times New Roman"/>
              <a:cs typeface="Times New Roman"/>
            </a:endParaRPr>
          </a:p>
          <a:p>
            <a:pPr marR="472440" algn="ctr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Full-Scale</a:t>
            </a:r>
            <a:endParaRPr sz="2000">
              <a:latin typeface="Arial"/>
              <a:cs typeface="Arial"/>
            </a:endParaRPr>
          </a:p>
          <a:p>
            <a:pPr marR="467359" algn="ctr">
              <a:lnSpc>
                <a:spcPct val="100000"/>
              </a:lnSpc>
            </a:pPr>
            <a:r>
              <a:rPr sz="2000" b="1" spc="-10" dirty="0">
                <a:solidFill>
                  <a:srgbClr val="CC3300"/>
                </a:solidFill>
                <a:latin typeface="Arial"/>
                <a:cs typeface="Arial"/>
              </a:rPr>
              <a:t>EIA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21200" y="1722501"/>
            <a:ext cx="226250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9220" algn="just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IEE </a:t>
            </a: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Review: </a:t>
            </a:r>
            <a:r>
              <a:rPr sz="2000" b="1" dirty="0">
                <a:latin typeface="Arial"/>
                <a:cs typeface="Arial"/>
              </a:rPr>
              <a:t>All  </a:t>
            </a:r>
            <a:r>
              <a:rPr sz="2000" b="1" spc="-10" dirty="0">
                <a:latin typeface="Arial"/>
                <a:cs typeface="Arial"/>
              </a:rPr>
              <a:t>potential </a:t>
            </a:r>
            <a:r>
              <a:rPr sz="2000" b="1" spc="-5" dirty="0">
                <a:latin typeface="Arial"/>
                <a:cs typeface="Arial"/>
              </a:rPr>
              <a:t>SEIs  resolved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55971" y="3337559"/>
            <a:ext cx="318770" cy="533400"/>
            <a:chOff x="5355971" y="3337559"/>
            <a:chExt cx="318770" cy="533400"/>
          </a:xfrm>
        </p:grpSpPr>
        <p:sp>
          <p:nvSpPr>
            <p:cNvPr id="27" name="object 27"/>
            <p:cNvSpPr/>
            <p:nvPr/>
          </p:nvSpPr>
          <p:spPr>
            <a:xfrm>
              <a:off x="5515229" y="3337559"/>
              <a:ext cx="0" cy="311150"/>
            </a:xfrm>
            <a:custGeom>
              <a:avLst/>
              <a:gdLst/>
              <a:ahLst/>
              <a:cxnLst/>
              <a:rect l="l" t="t" r="r" b="b"/>
              <a:pathLst>
                <a:path h="311150">
                  <a:moveTo>
                    <a:pt x="0" y="0"/>
                  </a:moveTo>
                  <a:lnTo>
                    <a:pt x="0" y="311150"/>
                  </a:lnTo>
                </a:path>
              </a:pathLst>
            </a:custGeom>
            <a:ln w="78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5971" y="3633469"/>
              <a:ext cx="318770" cy="237490"/>
            </a:xfrm>
            <a:custGeom>
              <a:avLst/>
              <a:gdLst/>
              <a:ahLst/>
              <a:cxnLst/>
              <a:rect l="l" t="t" r="r" b="b"/>
              <a:pathLst>
                <a:path w="318770" h="237489">
                  <a:moveTo>
                    <a:pt x="318388" y="0"/>
                  </a:moveTo>
                  <a:lnTo>
                    <a:pt x="0" y="0"/>
                  </a:lnTo>
                  <a:lnTo>
                    <a:pt x="159257" y="237489"/>
                  </a:lnTo>
                  <a:lnTo>
                    <a:pt x="318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817748" y="2113279"/>
            <a:ext cx="711200" cy="237490"/>
            <a:chOff x="2817748" y="2113279"/>
            <a:chExt cx="711200" cy="237490"/>
          </a:xfrm>
        </p:grpSpPr>
        <p:sp>
          <p:nvSpPr>
            <p:cNvPr id="30" name="object 30"/>
            <p:cNvSpPr/>
            <p:nvPr/>
          </p:nvSpPr>
          <p:spPr>
            <a:xfrm>
              <a:off x="2817748" y="2232659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0" y="0"/>
                  </a:moveTo>
                  <a:lnTo>
                    <a:pt x="414781" y="0"/>
                  </a:lnTo>
                </a:path>
              </a:pathLst>
            </a:custGeom>
            <a:ln w="78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12210" y="2113279"/>
              <a:ext cx="316865" cy="237490"/>
            </a:xfrm>
            <a:custGeom>
              <a:avLst/>
              <a:gdLst/>
              <a:ahLst/>
              <a:cxnLst/>
              <a:rect l="l" t="t" r="r" b="b"/>
              <a:pathLst>
                <a:path w="316864" h="237489">
                  <a:moveTo>
                    <a:pt x="0" y="0"/>
                  </a:moveTo>
                  <a:lnTo>
                    <a:pt x="0" y="237490"/>
                  </a:lnTo>
                  <a:lnTo>
                    <a:pt x="316738" y="119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432040" y="2151379"/>
            <a:ext cx="711200" cy="237490"/>
            <a:chOff x="7432040" y="2151379"/>
            <a:chExt cx="711200" cy="237490"/>
          </a:xfrm>
        </p:grpSpPr>
        <p:sp>
          <p:nvSpPr>
            <p:cNvPr id="33" name="object 33"/>
            <p:cNvSpPr/>
            <p:nvPr/>
          </p:nvSpPr>
          <p:spPr>
            <a:xfrm>
              <a:off x="7432040" y="2270759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90">
                  <a:moveTo>
                    <a:pt x="0" y="0"/>
                  </a:moveTo>
                  <a:lnTo>
                    <a:pt x="414908" y="0"/>
                  </a:lnTo>
                </a:path>
              </a:pathLst>
            </a:custGeom>
            <a:ln w="78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26629" y="2151379"/>
              <a:ext cx="316865" cy="237490"/>
            </a:xfrm>
            <a:custGeom>
              <a:avLst/>
              <a:gdLst/>
              <a:ahLst/>
              <a:cxnLst/>
              <a:rect l="l" t="t" r="r" b="b"/>
              <a:pathLst>
                <a:path w="316865" h="237489">
                  <a:moveTo>
                    <a:pt x="0" y="0"/>
                  </a:moveTo>
                  <a:lnTo>
                    <a:pt x="0" y="237490"/>
                  </a:lnTo>
                  <a:lnTo>
                    <a:pt x="316611" y="119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8217789" y="4856479"/>
            <a:ext cx="711200" cy="237490"/>
            <a:chOff x="8217789" y="4856479"/>
            <a:chExt cx="711200" cy="237490"/>
          </a:xfrm>
        </p:grpSpPr>
        <p:sp>
          <p:nvSpPr>
            <p:cNvPr id="36" name="object 36"/>
            <p:cNvSpPr/>
            <p:nvPr/>
          </p:nvSpPr>
          <p:spPr>
            <a:xfrm>
              <a:off x="8217789" y="4975859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90">
                  <a:moveTo>
                    <a:pt x="0" y="0"/>
                  </a:moveTo>
                  <a:lnTo>
                    <a:pt x="414781" y="0"/>
                  </a:lnTo>
                </a:path>
              </a:pathLst>
            </a:custGeom>
            <a:ln w="78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12251" y="4856479"/>
              <a:ext cx="316865" cy="237490"/>
            </a:xfrm>
            <a:custGeom>
              <a:avLst/>
              <a:gdLst/>
              <a:ahLst/>
              <a:cxnLst/>
              <a:rect l="l" t="t" r="r" b="b"/>
              <a:pathLst>
                <a:path w="316865" h="237489">
                  <a:moveTo>
                    <a:pt x="0" y="0"/>
                  </a:moveTo>
                  <a:lnTo>
                    <a:pt x="0" y="237490"/>
                  </a:lnTo>
                  <a:lnTo>
                    <a:pt x="316738" y="119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14850" y="261873"/>
            <a:ext cx="310769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latin typeface="Times New Roman"/>
                <a:cs typeface="Times New Roman"/>
              </a:rPr>
              <a:t>Decision</a:t>
            </a:r>
            <a:r>
              <a:rPr sz="3400" b="1" spc="-165" dirty="0">
                <a:latin typeface="Times New Roman"/>
                <a:cs typeface="Times New Roman"/>
              </a:rPr>
              <a:t> </a:t>
            </a:r>
            <a:r>
              <a:rPr sz="3400" b="1" spc="-15" dirty="0">
                <a:latin typeface="Times New Roman"/>
                <a:cs typeface="Times New Roman"/>
              </a:rPr>
              <a:t>Making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2997" y="1394205"/>
            <a:ext cx="3385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5630" algn="l"/>
                <a:tab pos="2164715" algn="l"/>
                <a:tab pos="3167380" algn="l"/>
              </a:tabLst>
            </a:pP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ple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enting	a	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ro</a:t>
            </a:r>
            <a:r>
              <a:rPr sz="2400" spc="-15" dirty="0">
                <a:latin typeface="Times New Roman"/>
                <a:cs typeface="Times New Roman"/>
              </a:rPr>
              <a:t>j</a:t>
            </a:r>
            <a:r>
              <a:rPr sz="2400" spc="-10" dirty="0">
                <a:latin typeface="Times New Roman"/>
                <a:cs typeface="Times New Roman"/>
              </a:rPr>
              <a:t>ec</a:t>
            </a:r>
            <a:r>
              <a:rPr sz="2400" dirty="0">
                <a:latin typeface="Times New Roman"/>
                <a:cs typeface="Times New Roman"/>
              </a:rPr>
              <a:t>t	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444" y="1394205"/>
            <a:ext cx="63087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20650" algn="l"/>
                <a:tab pos="751840" algn="l"/>
                <a:tab pos="2076450" algn="l"/>
                <a:tab pos="2492375" algn="l"/>
                <a:tab pos="3566795" algn="l"/>
                <a:tab pos="4102100" algn="l"/>
                <a:tab pos="4819650" algn="l"/>
                <a:tab pos="5993765" algn="l"/>
              </a:tabLst>
            </a:pPr>
            <a:r>
              <a:rPr sz="2400" spc="-15" dirty="0">
                <a:latin typeface="Times New Roman"/>
                <a:cs typeface="Times New Roman"/>
              </a:rPr>
              <a:t>Th</a:t>
            </a:r>
            <a:r>
              <a:rPr sz="2400" dirty="0">
                <a:latin typeface="Times New Roman"/>
                <a:cs typeface="Times New Roman"/>
              </a:rPr>
              <a:t>e	c</a:t>
            </a:r>
            <a:r>
              <a:rPr sz="2400" spc="-10" dirty="0">
                <a:latin typeface="Times New Roman"/>
                <a:cs typeface="Times New Roman"/>
              </a:rPr>
              <a:t>ha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ge	of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aking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na</a:t>
            </a:r>
            <a:r>
              <a:rPr sz="2400" dirty="0">
                <a:latin typeface="Times New Roman"/>
                <a:cs typeface="Times New Roman"/>
              </a:rPr>
              <a:t>l	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ec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on	</a:t>
            </a:r>
            <a:r>
              <a:rPr sz="2400" spc="-15" dirty="0">
                <a:latin typeface="Times New Roman"/>
                <a:cs typeface="Times New Roman"/>
              </a:rPr>
              <a:t>on  </a:t>
            </a:r>
            <a:r>
              <a:rPr sz="2400" dirty="0">
                <a:latin typeface="Times New Roman"/>
                <a:cs typeface="Times New Roman"/>
              </a:rPr>
              <a:t>observed.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444" y="2491866"/>
            <a:ext cx="1046734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1454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20650" algn="l"/>
                <a:tab pos="1931670" algn="l"/>
                <a:tab pos="6196330" algn="l"/>
              </a:tabLst>
            </a:pPr>
            <a:r>
              <a:rPr sz="2400" spc="-10" dirty="0">
                <a:latin typeface="Times New Roman"/>
                <a:cs typeface="Times New Roman"/>
              </a:rPr>
              <a:t>Decision 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taken at  </a:t>
            </a:r>
            <a:r>
              <a:rPr sz="2400" dirty="0">
                <a:latin typeface="Times New Roman"/>
                <a:cs typeface="Times New Roman"/>
              </a:rPr>
              <a:t>all </a:t>
            </a:r>
            <a:r>
              <a:rPr sz="2400" spc="-10" dirty="0">
                <a:latin typeface="Times New Roman"/>
                <a:cs typeface="Times New Roman"/>
              </a:rPr>
              <a:t>stages  during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EIA	</a:t>
            </a:r>
            <a:r>
              <a:rPr sz="2400" spc="-10" dirty="0">
                <a:latin typeface="Times New Roman"/>
                <a:cs typeface="Times New Roman"/>
              </a:rPr>
              <a:t>process </a:t>
            </a:r>
            <a:r>
              <a:rPr sz="2400" spc="-5" dirty="0">
                <a:latin typeface="Times New Roman"/>
                <a:cs typeface="Times New Roman"/>
              </a:rPr>
              <a:t>and the </a:t>
            </a:r>
            <a:r>
              <a:rPr sz="2400" spc="-10" dirty="0">
                <a:latin typeface="Times New Roman"/>
                <a:cs typeface="Times New Roman"/>
              </a:rPr>
              <a:t>outcome will </a:t>
            </a:r>
            <a:r>
              <a:rPr sz="2400" dirty="0">
                <a:latin typeface="Times New Roman"/>
                <a:cs typeface="Times New Roman"/>
              </a:rPr>
              <a:t>be  based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	</a:t>
            </a:r>
            <a:r>
              <a:rPr sz="2400" spc="-5" dirty="0">
                <a:latin typeface="Times New Roman"/>
                <a:cs typeface="Times New Roman"/>
              </a:rPr>
              <a:t>decisions.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buSzPct val="95833"/>
              <a:buChar char="•"/>
              <a:tabLst>
                <a:tab pos="120650" algn="l"/>
                <a:tab pos="6402070" algn="l"/>
              </a:tabLst>
            </a:pPr>
            <a:r>
              <a:rPr sz="2400" dirty="0">
                <a:latin typeface="Times New Roman"/>
                <a:cs typeface="Times New Roman"/>
              </a:rPr>
              <a:t>If a </a:t>
            </a:r>
            <a:r>
              <a:rPr sz="2400" spc="-15" dirty="0">
                <a:latin typeface="Times New Roman"/>
                <a:cs typeface="Times New Roman"/>
              </a:rPr>
              <a:t>large </a:t>
            </a:r>
            <a:r>
              <a:rPr sz="2400" spc="-10" dirty="0">
                <a:latin typeface="Times New Roman"/>
                <a:cs typeface="Times New Roman"/>
              </a:rPr>
              <a:t>scale project falls under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jurisdiction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countries with comparable  </a:t>
            </a:r>
            <a:r>
              <a:rPr sz="2400" spc="-5" dirty="0">
                <a:latin typeface="Times New Roman"/>
                <a:cs typeface="Times New Roman"/>
              </a:rPr>
              <a:t>national EIA  procedures,it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feasible	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more  </a:t>
            </a:r>
            <a:r>
              <a:rPr sz="2400" spc="-10" dirty="0">
                <a:latin typeface="Times New Roman"/>
                <a:cs typeface="Times New Roman"/>
              </a:rPr>
              <a:t>ambitious </a:t>
            </a:r>
            <a:r>
              <a:rPr sz="2400" spc="5" dirty="0">
                <a:latin typeface="Times New Roman"/>
                <a:cs typeface="Times New Roman"/>
              </a:rPr>
              <a:t>in  </a:t>
            </a:r>
            <a:r>
              <a:rPr sz="2400" spc="-10" dirty="0">
                <a:latin typeface="Times New Roman"/>
                <a:cs typeface="Times New Roman"/>
              </a:rPr>
              <a:t>organising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EIATransboundary.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18023" y="261873"/>
            <a:ext cx="21329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0" dirty="0">
                <a:latin typeface="Times New Roman"/>
                <a:cs typeface="Times New Roman"/>
              </a:rPr>
              <a:t>Monitoring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1098" y="1362710"/>
            <a:ext cx="457199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1098" y="2460370"/>
            <a:ext cx="457199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1098" y="3191891"/>
            <a:ext cx="457199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8398" y="1318005"/>
            <a:ext cx="103689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0">
              <a:lnSpc>
                <a:spcPct val="100000"/>
              </a:lnSpc>
              <a:spcBef>
                <a:spcPts val="100"/>
              </a:spcBef>
              <a:tabLst>
                <a:tab pos="558292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legislation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there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often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demand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	</a:t>
            </a:r>
            <a:r>
              <a:rPr sz="2400" spc="-5" dirty="0">
                <a:latin typeface="Times New Roman"/>
                <a:cs typeface="Times New Roman"/>
              </a:rPr>
              <a:t>environmental reporting </a:t>
            </a:r>
            <a:r>
              <a:rPr sz="2400" spc="-10" dirty="0">
                <a:latin typeface="Times New Roman"/>
                <a:cs typeface="Times New Roman"/>
              </a:rPr>
              <a:t>when treating  </a:t>
            </a:r>
            <a:r>
              <a:rPr sz="2400" spc="-5" dirty="0">
                <a:latin typeface="Times New Roman"/>
                <a:cs typeface="Times New Roman"/>
              </a:rPr>
              <a:t>permits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activities </a:t>
            </a:r>
            <a:r>
              <a:rPr sz="2400" spc="-10" dirty="0">
                <a:latin typeface="Times New Roman"/>
                <a:cs typeface="Times New Roman"/>
              </a:rPr>
              <a:t>with large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EIA.</a:t>
            </a:r>
            <a:endParaRPr sz="2400">
              <a:latin typeface="Times New Roman"/>
              <a:cs typeface="Times New Roman"/>
            </a:endParaRPr>
          </a:p>
          <a:p>
            <a:pPr marL="241300" marR="344805">
              <a:lnSpc>
                <a:spcPct val="200000"/>
              </a:lnSpc>
            </a:pPr>
            <a:r>
              <a:rPr sz="2400" spc="-5" dirty="0">
                <a:latin typeface="Times New Roman"/>
                <a:cs typeface="Times New Roman"/>
              </a:rPr>
              <a:t>This </a:t>
            </a:r>
            <a:r>
              <a:rPr sz="2400" dirty="0">
                <a:latin typeface="Times New Roman"/>
                <a:cs typeface="Times New Roman"/>
              </a:rPr>
              <a:t>stage </a:t>
            </a:r>
            <a:r>
              <a:rPr sz="2400" spc="-5" dirty="0">
                <a:latin typeface="Times New Roman"/>
                <a:cs typeface="Times New Roman"/>
              </a:rPr>
              <a:t>involves improvement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mitigational measures </a:t>
            </a:r>
            <a:r>
              <a:rPr sz="2400" dirty="0">
                <a:latin typeface="Times New Roman"/>
                <a:cs typeface="Times New Roman"/>
              </a:rPr>
              <a:t>to put </a:t>
            </a:r>
            <a:r>
              <a:rPr sz="2400" spc="-15" dirty="0">
                <a:latin typeface="Times New Roman"/>
                <a:cs typeface="Times New Roman"/>
              </a:rPr>
              <a:t>forward </a:t>
            </a:r>
            <a:r>
              <a:rPr sz="2400" spc="-5" dirty="0">
                <a:latin typeface="Times New Roman"/>
                <a:cs typeface="Times New Roman"/>
              </a:rPr>
              <a:t>EIA.  It </a:t>
            </a:r>
            <a:r>
              <a:rPr sz="2400" dirty="0">
                <a:latin typeface="Times New Roman"/>
                <a:cs typeface="Times New Roman"/>
              </a:rPr>
              <a:t>also involves elements of assessing risks and hazard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management.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0901" y="270713"/>
            <a:ext cx="40017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latin typeface="Times New Roman"/>
                <a:cs typeface="Times New Roman"/>
              </a:rPr>
              <a:t>Audit and</a:t>
            </a:r>
            <a:r>
              <a:rPr sz="3400" b="1" spc="-80" dirty="0">
                <a:latin typeface="Times New Roman"/>
                <a:cs typeface="Times New Roman"/>
              </a:rPr>
              <a:t> </a:t>
            </a:r>
            <a:r>
              <a:rPr sz="3400" b="1" spc="-5" dirty="0">
                <a:latin typeface="Times New Roman"/>
                <a:cs typeface="Times New Roman"/>
              </a:rPr>
              <a:t>Evaluation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444" y="1046734"/>
            <a:ext cx="10986135" cy="272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Char char="•"/>
              <a:tabLst>
                <a:tab pos="266700" algn="l"/>
                <a:tab pos="267335" algn="l"/>
              </a:tabLst>
            </a:pPr>
            <a:r>
              <a:rPr sz="2400" dirty="0">
                <a:latin typeface="Times New Roman"/>
                <a:cs typeface="Times New Roman"/>
              </a:rPr>
              <a:t>This is the final stage of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EIA.</a:t>
            </a:r>
            <a:endParaRPr sz="2400">
              <a:latin typeface="Times New Roman"/>
              <a:cs typeface="Times New Roman"/>
            </a:endParaRPr>
          </a:p>
          <a:p>
            <a:pPr marL="266700" marR="6985" indent="-254635" algn="just">
              <a:lnSpc>
                <a:spcPct val="100000"/>
              </a:lnSpc>
              <a:spcBef>
                <a:spcPts val="1989"/>
              </a:spcBef>
              <a:buChar char="•"/>
              <a:tabLst>
                <a:tab pos="267335" algn="l"/>
              </a:tabLst>
            </a:pPr>
            <a:r>
              <a:rPr sz="2400" spc="-5" dirty="0">
                <a:latin typeface="Times New Roman"/>
                <a:cs typeface="Times New Roman"/>
              </a:rPr>
              <a:t>Audit consists opinions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corrections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report </a:t>
            </a:r>
            <a:r>
              <a:rPr sz="2400" spc="-10" dirty="0">
                <a:latin typeface="Times New Roman"/>
                <a:cs typeface="Times New Roman"/>
              </a:rPr>
              <a:t>which </a:t>
            </a:r>
            <a:r>
              <a:rPr sz="2400" spc="-5" dirty="0">
                <a:latin typeface="Times New Roman"/>
                <a:cs typeface="Times New Roman"/>
              </a:rPr>
              <a:t>are submitted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front </a:t>
            </a:r>
            <a:r>
              <a:rPr sz="2400" dirty="0">
                <a:latin typeface="Times New Roman"/>
                <a:cs typeface="Times New Roman"/>
              </a:rPr>
              <a:t>of  decision </a:t>
            </a:r>
            <a:r>
              <a:rPr sz="2400" spc="-5" dirty="0">
                <a:latin typeface="Times New Roman"/>
                <a:cs typeface="Times New Roman"/>
              </a:rPr>
              <a:t>making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committee.</a:t>
            </a:r>
            <a:endParaRPr sz="2400">
              <a:latin typeface="Times New Roman"/>
              <a:cs typeface="Times New Roman"/>
            </a:endParaRPr>
          </a:p>
          <a:p>
            <a:pPr marL="266700" marR="5080" indent="-254635" algn="just">
              <a:lnSpc>
                <a:spcPct val="100000"/>
              </a:lnSpc>
              <a:spcBef>
                <a:spcPts val="2005"/>
              </a:spcBef>
              <a:buChar char="•"/>
              <a:tabLst>
                <a:tab pos="267335" algn="l"/>
              </a:tabLst>
            </a:pPr>
            <a:r>
              <a:rPr sz="2400" spc="-5" dirty="0">
                <a:latin typeface="Times New Roman"/>
                <a:cs typeface="Times New Roman"/>
              </a:rPr>
              <a:t>It also </a:t>
            </a:r>
            <a:r>
              <a:rPr sz="2400" spc="-10" dirty="0">
                <a:latin typeface="Times New Roman"/>
                <a:cs typeface="Times New Roman"/>
              </a:rPr>
              <a:t>reveals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10" dirty="0">
                <a:latin typeface="Times New Roman"/>
                <a:cs typeface="Times New Roman"/>
              </a:rPr>
              <a:t>whether EIA is </a:t>
            </a:r>
            <a:r>
              <a:rPr sz="2400" spc="-5" dirty="0">
                <a:latin typeface="Times New Roman"/>
                <a:cs typeface="Times New Roman"/>
              </a:rPr>
              <a:t>necessary </a:t>
            </a:r>
            <a:r>
              <a:rPr sz="2400" dirty="0">
                <a:latin typeface="Times New Roman"/>
                <a:cs typeface="Times New Roman"/>
              </a:rPr>
              <a:t>or not for </a:t>
            </a:r>
            <a:r>
              <a:rPr sz="2400" spc="-1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report </a:t>
            </a:r>
            <a:r>
              <a:rPr sz="2400" spc="-10" dirty="0">
                <a:latin typeface="Times New Roman"/>
                <a:cs typeface="Times New Roman"/>
              </a:rPr>
              <a:t>submitted,if  </a:t>
            </a:r>
            <a:r>
              <a:rPr sz="2400" spc="-5" dirty="0">
                <a:latin typeface="Times New Roman"/>
                <a:cs typeface="Times New Roman"/>
              </a:rPr>
              <a:t>necessary what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1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measures </a:t>
            </a:r>
            <a:r>
              <a:rPr sz="2400" dirty="0">
                <a:latin typeface="Times New Roman"/>
                <a:cs typeface="Times New Roman"/>
              </a:rPr>
              <a:t>taken in </a:t>
            </a:r>
            <a:r>
              <a:rPr sz="2400" spc="-5" dirty="0">
                <a:latin typeface="Times New Roman"/>
                <a:cs typeface="Times New Roman"/>
              </a:rPr>
              <a:t>order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overcome the drawbacks and  </a:t>
            </a:r>
            <a:r>
              <a:rPr sz="2400" dirty="0">
                <a:latin typeface="Times New Roman"/>
                <a:cs typeface="Times New Roman"/>
              </a:rPr>
              <a:t>hazards.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88153" y="261873"/>
            <a:ext cx="219011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latin typeface="Times New Roman"/>
                <a:cs typeface="Times New Roman"/>
              </a:rPr>
              <a:t>Uses of</a:t>
            </a:r>
            <a:r>
              <a:rPr sz="3400" b="1" spc="-204" dirty="0">
                <a:latin typeface="Times New Roman"/>
                <a:cs typeface="Times New Roman"/>
              </a:rPr>
              <a:t> </a:t>
            </a:r>
            <a:r>
              <a:rPr sz="3400" b="1" spc="-5" dirty="0">
                <a:latin typeface="Times New Roman"/>
                <a:cs typeface="Times New Roman"/>
              </a:rPr>
              <a:t>EIA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5721" y="1362710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5721" y="1830577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5721" y="2297302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5721" y="2765170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5721" y="3233039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5721" y="3699636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5721" y="4167504"/>
            <a:ext cx="457200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1621" y="1215898"/>
            <a:ext cx="6628765" cy="329819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4911090" algn="l"/>
              </a:tabLst>
            </a:pPr>
            <a:r>
              <a:rPr sz="2400" spc="-5" dirty="0">
                <a:latin typeface="Times New Roman"/>
                <a:cs typeface="Times New Roman"/>
              </a:rPr>
              <a:t>Systematic evaluation </a:t>
            </a:r>
            <a:r>
              <a:rPr sz="2400" dirty="0">
                <a:latin typeface="Times New Roman"/>
                <a:cs typeface="Times New Roman"/>
              </a:rPr>
              <a:t>of 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eco </a:t>
            </a:r>
            <a:r>
              <a:rPr sz="2400" spc="-5" dirty="0">
                <a:latin typeface="Times New Roman"/>
                <a:cs typeface="Times New Roman"/>
              </a:rPr>
              <a:t>friendly	</a:t>
            </a:r>
            <a:r>
              <a:rPr sz="2400" dirty="0">
                <a:latin typeface="Times New Roman"/>
                <a:cs typeface="Times New Roman"/>
              </a:rPr>
              <a:t>project.</a:t>
            </a:r>
            <a:endParaRPr sz="2400">
              <a:latin typeface="Times New Roman"/>
              <a:cs typeface="Times New Roman"/>
            </a:endParaRPr>
          </a:p>
          <a:p>
            <a:pPr marL="260985" marR="2893060">
              <a:lnSpc>
                <a:spcPct val="127600"/>
              </a:lnSpc>
              <a:spcBef>
                <a:spcPts val="10"/>
              </a:spcBef>
            </a:pPr>
            <a:r>
              <a:rPr sz="2400" spc="-5" dirty="0">
                <a:latin typeface="Times New Roman"/>
                <a:cs typeface="Times New Roman"/>
              </a:rPr>
              <a:t>Risk and hazard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assessment.  </a:t>
            </a:r>
            <a:r>
              <a:rPr sz="2400" spc="-5" dirty="0">
                <a:latin typeface="Times New Roman"/>
                <a:cs typeface="Times New Roman"/>
              </a:rPr>
              <a:t>Impact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identification.</a:t>
            </a:r>
            <a:endParaRPr sz="2400">
              <a:latin typeface="Times New Roman"/>
              <a:cs typeface="Times New Roman"/>
            </a:endParaRPr>
          </a:p>
          <a:p>
            <a:pPr marL="260985" marR="2282825">
              <a:lnSpc>
                <a:spcPct val="127899"/>
              </a:lnSpc>
            </a:pPr>
            <a:r>
              <a:rPr sz="2400" spc="-5" dirty="0">
                <a:latin typeface="Times New Roman"/>
                <a:cs typeface="Times New Roman"/>
              </a:rPr>
              <a:t>Monitoring of impact and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advice.  </a:t>
            </a:r>
            <a:r>
              <a:rPr sz="2400" spc="-5" dirty="0">
                <a:latin typeface="Times New Roman"/>
                <a:cs typeface="Times New Roman"/>
              </a:rPr>
              <a:t>Development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endParaRPr sz="2400">
              <a:latin typeface="Times New Roman"/>
              <a:cs typeface="Times New Roman"/>
            </a:endParaRPr>
          </a:p>
          <a:p>
            <a:pPr marL="260985">
              <a:lnSpc>
                <a:spcPct val="100000"/>
              </a:lnSpc>
              <a:spcBef>
                <a:spcPts val="795"/>
              </a:spcBef>
            </a:pPr>
            <a:r>
              <a:rPr sz="2400" spc="-5" dirty="0">
                <a:latin typeface="Times New Roman"/>
                <a:cs typeface="Times New Roman"/>
              </a:rPr>
              <a:t>Project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development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698240" algn="l"/>
              </a:tabLst>
            </a:pPr>
            <a:r>
              <a:rPr sz="2400" spc="-5" dirty="0">
                <a:latin typeface="Times New Roman"/>
                <a:cs typeface="Times New Roman"/>
              </a:rPr>
              <a:t>SEA(strategic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environmental	assessment)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permit.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0309" y="307593"/>
            <a:ext cx="294703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latin typeface="Times New Roman"/>
                <a:cs typeface="Times New Roman"/>
              </a:rPr>
              <a:t>CON</a:t>
            </a:r>
            <a:r>
              <a:rPr sz="3400" b="1" spc="-20" dirty="0">
                <a:latin typeface="Times New Roman"/>
                <a:cs typeface="Times New Roman"/>
              </a:rPr>
              <a:t>C</a:t>
            </a:r>
            <a:r>
              <a:rPr sz="3400" b="1" spc="-5" dirty="0">
                <a:latin typeface="Times New Roman"/>
                <a:cs typeface="Times New Roman"/>
              </a:rPr>
              <a:t>LUSION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1708" y="1273810"/>
            <a:ext cx="457199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1708" y="2485644"/>
            <a:ext cx="457199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1708" y="3785870"/>
            <a:ext cx="457199" cy="339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307975" indent="2286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EIA </a:t>
            </a:r>
            <a:r>
              <a:rPr spc="-10" dirty="0"/>
              <a:t>is </a:t>
            </a:r>
            <a:r>
              <a:rPr dirty="0"/>
              <a:t>an </a:t>
            </a:r>
            <a:r>
              <a:rPr spc="-5" dirty="0"/>
              <a:t>important tool in assuring that projects </a:t>
            </a:r>
            <a:r>
              <a:rPr dirty="0"/>
              <a:t>and </a:t>
            </a:r>
            <a:r>
              <a:rPr spc="-10" dirty="0"/>
              <a:t>plans will </a:t>
            </a:r>
            <a:r>
              <a:rPr spc="-5" dirty="0"/>
              <a:t>not </a:t>
            </a:r>
            <a:r>
              <a:rPr spc="-10" dirty="0"/>
              <a:t>give </a:t>
            </a:r>
            <a:r>
              <a:rPr spc="-5" dirty="0"/>
              <a:t>adverse  impact </a:t>
            </a:r>
            <a:r>
              <a:rPr dirty="0"/>
              <a:t>on the</a:t>
            </a:r>
            <a:r>
              <a:rPr spc="-55" dirty="0"/>
              <a:t> </a:t>
            </a:r>
            <a:r>
              <a:rPr dirty="0"/>
              <a:t>environment.</a:t>
            </a:r>
          </a:p>
          <a:p>
            <a:pPr marL="11430">
              <a:lnSpc>
                <a:spcPct val="100000"/>
              </a:lnSpc>
              <a:spcBef>
                <a:spcPts val="40"/>
              </a:spcBef>
            </a:pPr>
            <a:endParaRPr sz="3250"/>
          </a:p>
          <a:p>
            <a:pPr marL="24130" marR="967740" indent="228600">
              <a:lnSpc>
                <a:spcPct val="100000"/>
              </a:lnSpc>
              <a:spcBef>
                <a:spcPts val="5"/>
              </a:spcBef>
              <a:tabLst>
                <a:tab pos="899160" algn="l"/>
                <a:tab pos="1478280" algn="l"/>
                <a:tab pos="1903730" algn="l"/>
                <a:tab pos="2567940" algn="l"/>
                <a:tab pos="3146425" algn="l"/>
                <a:tab pos="4569460" algn="l"/>
                <a:tab pos="6078855" algn="l"/>
                <a:tab pos="6622415" algn="l"/>
                <a:tab pos="7499350" algn="l"/>
                <a:tab pos="8112125" algn="l"/>
                <a:tab pos="8808720" algn="l"/>
              </a:tabLst>
            </a:pPr>
            <a:r>
              <a:rPr dirty="0"/>
              <a:t>The	</a:t>
            </a:r>
            <a:r>
              <a:rPr spc="-5" dirty="0"/>
              <a:t>use	of	EIA	</a:t>
            </a:r>
            <a:r>
              <a:rPr spc="-15" dirty="0"/>
              <a:t>h</a:t>
            </a:r>
            <a:r>
              <a:rPr spc="-5" dirty="0"/>
              <a:t>as</a:t>
            </a:r>
            <a:r>
              <a:rPr dirty="0"/>
              <a:t>	dev</a:t>
            </a:r>
            <a:r>
              <a:rPr spc="-10" dirty="0"/>
              <a:t>e</a:t>
            </a:r>
            <a:r>
              <a:rPr dirty="0"/>
              <a:t>lop</a:t>
            </a:r>
            <a:r>
              <a:rPr spc="5" dirty="0"/>
              <a:t>e</a:t>
            </a:r>
            <a:r>
              <a:rPr dirty="0"/>
              <a:t>d	t</a:t>
            </a:r>
            <a:r>
              <a:rPr spc="-10" dirty="0"/>
              <a:t>h</a:t>
            </a:r>
            <a:r>
              <a:rPr dirty="0"/>
              <a:t>roughout	t</a:t>
            </a:r>
            <a:r>
              <a:rPr spc="-10" dirty="0"/>
              <a:t>h</a:t>
            </a:r>
            <a:r>
              <a:rPr dirty="0"/>
              <a:t>e	</a:t>
            </a:r>
            <a:r>
              <a:rPr spc="-25" dirty="0"/>
              <a:t>w</a:t>
            </a:r>
            <a:r>
              <a:rPr spc="-15" dirty="0"/>
              <a:t>o</a:t>
            </a:r>
            <a:r>
              <a:rPr dirty="0"/>
              <a:t>r</a:t>
            </a:r>
            <a:r>
              <a:rPr spc="-15" dirty="0"/>
              <a:t>l</a:t>
            </a:r>
            <a:r>
              <a:rPr dirty="0"/>
              <a:t>d	</a:t>
            </a:r>
            <a:r>
              <a:rPr spc="-10" dirty="0"/>
              <a:t>a</a:t>
            </a:r>
            <a:r>
              <a:rPr dirty="0"/>
              <a:t>nd	</a:t>
            </a:r>
            <a:r>
              <a:rPr spc="-20" dirty="0"/>
              <a:t>m</a:t>
            </a:r>
            <a:r>
              <a:rPr dirty="0"/>
              <a:t>ay	</a:t>
            </a:r>
            <a:r>
              <a:rPr spc="-15" dirty="0"/>
              <a:t>d</a:t>
            </a:r>
            <a:r>
              <a:rPr dirty="0"/>
              <a:t>i</a:t>
            </a:r>
            <a:r>
              <a:rPr spc="-65" dirty="0"/>
              <a:t>f</a:t>
            </a:r>
            <a:r>
              <a:rPr spc="-20" dirty="0"/>
              <a:t>f</a:t>
            </a:r>
            <a:r>
              <a:rPr spc="-10" dirty="0"/>
              <a:t>e</a:t>
            </a:r>
            <a:r>
              <a:rPr dirty="0"/>
              <a:t>r</a:t>
            </a:r>
            <a:r>
              <a:rPr spc="-20" dirty="0"/>
              <a:t>e</a:t>
            </a:r>
            <a:r>
              <a:rPr spc="-15" dirty="0"/>
              <a:t>n</a:t>
            </a:r>
            <a:r>
              <a:rPr dirty="0"/>
              <a:t>t  </a:t>
            </a:r>
            <a:r>
              <a:rPr spc="-5" dirty="0"/>
              <a:t>applications</a:t>
            </a:r>
            <a:r>
              <a:rPr spc="-55" dirty="0"/>
              <a:t> </a:t>
            </a:r>
            <a:r>
              <a:rPr dirty="0"/>
              <a:t>exists.</a:t>
            </a:r>
          </a:p>
          <a:p>
            <a:pPr marL="11430">
              <a:lnSpc>
                <a:spcPct val="100000"/>
              </a:lnSpc>
              <a:spcBef>
                <a:spcPts val="50"/>
              </a:spcBef>
            </a:pPr>
            <a:endParaRPr sz="3850"/>
          </a:p>
          <a:p>
            <a:pPr marL="24130" marR="5080" indent="228600">
              <a:lnSpc>
                <a:spcPct val="100000"/>
              </a:lnSpc>
              <a:tabLst>
                <a:tab pos="5433695" algn="l"/>
                <a:tab pos="5537835" algn="l"/>
              </a:tabLst>
            </a:pPr>
            <a:r>
              <a:rPr spc="-5" dirty="0"/>
              <a:t>EIA process thus could </a:t>
            </a:r>
            <a:r>
              <a:rPr dirty="0"/>
              <a:t>not </a:t>
            </a:r>
            <a:r>
              <a:rPr spc="40" dirty="0"/>
              <a:t> </a:t>
            </a:r>
            <a:r>
              <a:rPr spc="-5" dirty="0"/>
              <a:t>only</a:t>
            </a:r>
            <a:r>
              <a:rPr spc="145" dirty="0"/>
              <a:t> </a:t>
            </a:r>
            <a:r>
              <a:rPr spc="-10" dirty="0"/>
              <a:t>prevent	</a:t>
            </a:r>
            <a:r>
              <a:rPr dirty="0"/>
              <a:t>costs due </a:t>
            </a:r>
            <a:r>
              <a:rPr spc="-5" dirty="0"/>
              <a:t>to environmental aspects </a:t>
            </a:r>
            <a:r>
              <a:rPr dirty="0"/>
              <a:t>but </a:t>
            </a:r>
            <a:r>
              <a:rPr spc="-5" dirty="0"/>
              <a:t>also  </a:t>
            </a:r>
            <a:r>
              <a:rPr dirty="0"/>
              <a:t>prevent possible public </a:t>
            </a:r>
            <a:r>
              <a:rPr spc="-5" dirty="0"/>
              <a:t>opinions</a:t>
            </a:r>
            <a:r>
              <a:rPr spc="-10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protest		against a</a:t>
            </a:r>
            <a:r>
              <a:rPr spc="-30" dirty="0"/>
              <a:t> </a:t>
            </a:r>
            <a:r>
              <a:rPr spc="-5" dirty="0"/>
              <a:t>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4284</Words>
  <Application>Microsoft Office PowerPoint</Application>
  <PresentationFormat>Widescreen</PresentationFormat>
  <Paragraphs>447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Calibri</vt:lpstr>
      <vt:lpstr>Carlito</vt:lpstr>
      <vt:lpstr>Times New Roman</vt:lpstr>
      <vt:lpstr>Wingdings</vt:lpstr>
      <vt:lpstr>Office Theme</vt:lpstr>
      <vt:lpstr>ENERGY SOURCES</vt:lpstr>
      <vt:lpstr>Energy</vt:lpstr>
      <vt:lpstr>PowerPoint Presentation</vt:lpstr>
      <vt:lpstr>PowerPoint Presentation</vt:lpstr>
      <vt:lpstr>Conventional Energy Sources</vt:lpstr>
      <vt:lpstr>Conventional Energy Sources</vt:lpstr>
      <vt:lpstr>Conventional Energy Sources</vt:lpstr>
      <vt:lpstr>Conventional Energy Sources</vt:lpstr>
      <vt:lpstr>Conventional Energy Sources</vt:lpstr>
      <vt:lpstr>Renewable Energy Sources</vt:lpstr>
      <vt:lpstr>Renewable Energy Sources</vt:lpstr>
      <vt:lpstr>WIND ENERGY</vt:lpstr>
      <vt:lpstr>WIND ENERGY</vt:lpstr>
      <vt:lpstr>WIND ENERGY</vt:lpstr>
      <vt:lpstr>WIND ENERGY</vt:lpstr>
      <vt:lpstr>Hydropower</vt:lpstr>
      <vt:lpstr>Hydropower</vt:lpstr>
      <vt:lpstr>Hydropower</vt:lpstr>
      <vt:lpstr>Solar energy</vt:lpstr>
      <vt:lpstr>Solar energy</vt:lpstr>
      <vt:lpstr>Biomass</vt:lpstr>
      <vt:lpstr>Biomass</vt:lpstr>
      <vt:lpstr>Biomass</vt:lpstr>
      <vt:lpstr>Tidal Energy</vt:lpstr>
      <vt:lpstr>Tidal Energy</vt:lpstr>
      <vt:lpstr>Tidal Energy</vt:lpstr>
      <vt:lpstr>Biofuel</vt:lpstr>
      <vt:lpstr>Biofuel</vt:lpstr>
      <vt:lpstr>Geothermal energy</vt:lpstr>
      <vt:lpstr>Geothermal energy</vt:lpstr>
      <vt:lpstr>Advantages of renewable energy sources</vt:lpstr>
      <vt:lpstr>Disadvantages of Renewable energy sources</vt:lpstr>
      <vt:lpstr>Disadvantages of Renewable energy sources</vt:lpstr>
      <vt:lpstr>Fossil Fuels</vt:lpstr>
      <vt:lpstr>Types of Fossil Fuels</vt:lpstr>
      <vt:lpstr>Types of Fossil Fuels</vt:lpstr>
      <vt:lpstr>Types of Fossil Fuels</vt:lpstr>
      <vt:lpstr>Types of Fossil Fuels</vt:lpstr>
      <vt:lpstr>Types of Fossil Fuels</vt:lpstr>
      <vt:lpstr>Types of Fossil Fuels</vt:lpstr>
      <vt:lpstr>Advantages and Disadvantages of Fossil Fuels</vt:lpstr>
      <vt:lpstr>Advantages and Disadvantages of Fossil Fuels</vt:lpstr>
      <vt:lpstr>Environmental Impact of Fossil Fuel Use</vt:lpstr>
      <vt:lpstr>Alternative to Fossil Fuels</vt:lpstr>
      <vt:lpstr>Merits and Demerits of Alternative Fuels</vt:lpstr>
      <vt:lpstr>Growing Energy Needs</vt:lpstr>
      <vt:lpstr>Renewable Energy Sources</vt:lpstr>
      <vt:lpstr>Fuel Cells</vt:lpstr>
      <vt:lpstr>Nuclear Energy</vt:lpstr>
      <vt:lpstr>ENVIRONMENTAL IMPACT ASSESSMENT</vt:lpstr>
      <vt:lpstr>PowerPoint Presentation</vt:lpstr>
      <vt:lpstr>WHY EIA?</vt:lpstr>
      <vt:lpstr>HISTORY OF EIA IN</vt:lpstr>
      <vt:lpstr>PowerPoint Presentation</vt:lpstr>
      <vt:lpstr>PROJECTS UNDERGOING EIA</vt:lpstr>
      <vt:lpstr>PowerPoint Presentation</vt:lpstr>
      <vt:lpstr>PowerPoint Presentation</vt:lpstr>
      <vt:lpstr>Flow chart representing the process of EIA</vt:lpstr>
      <vt:lpstr>Screening</vt:lpstr>
      <vt:lpstr>Screening Flow Chart</vt:lpstr>
      <vt:lpstr>Initial Environment Examination</vt:lpstr>
      <vt:lpstr>IEE in the Overall EIA Process</vt:lpstr>
      <vt:lpstr>Scoping</vt:lpstr>
      <vt:lpstr>Scoping</vt:lpstr>
      <vt:lpstr>Decision Making</vt:lpstr>
      <vt:lpstr>Monitoring</vt:lpstr>
      <vt:lpstr>Audit and Evaluation</vt:lpstr>
      <vt:lpstr>Uses of EIA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SOURCES OF ENERGY</dc:title>
  <dc:creator>admin</dc:creator>
  <cp:lastModifiedBy>KANCHI</cp:lastModifiedBy>
  <cp:revision>5</cp:revision>
  <dcterms:created xsi:type="dcterms:W3CDTF">2021-05-25T15:43:02Z</dcterms:created>
  <dcterms:modified xsi:type="dcterms:W3CDTF">2021-06-03T06:48:44Z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2021-02-02T00:00:00Z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2021-05-25T00:00:00Z</vt:filetime>
  </property>
</Properties>
</file>