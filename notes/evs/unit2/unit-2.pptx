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78" r:id="rId25"/>
    <p:sldId id="279" r:id="rId26"/>
    <p:sldId id="280" r:id="rId27"/>
    <p:sldId id="281" r:id="rId28"/>
    <p:sldId id="283" r:id="rId29"/>
    <p:sldId id="284" r:id="rId30"/>
    <p:sldId id="285" r:id="rId31"/>
    <p:sldId id="286" r:id="rId32"/>
    <p:sldId id="287" r:id="rId33"/>
    <p:sldId id="288" r:id="rId34"/>
    <p:sldId id="289" r:id="rId35"/>
    <p:sldId id="290" r:id="rId36"/>
    <p:sldId id="291" r:id="rId37"/>
    <p:sldId id="292" r:id="rId38"/>
    <p:sldId id="295" r:id="rId39"/>
    <p:sldId id="296"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Lst>
  <p:sldSz cx="9144000" cy="6858000" type="screen4x3"/>
  <p:notesSz cx="9144000" cy="6858000"/>
  <p:embeddedFontLst>
    <p:embeddedFont>
      <p:font typeface="Calibri" panose="020F0502020204030204" pitchFamily="34" charset="0"/>
      <p:regular r:id="rId63"/>
      <p:bold r:id="rId64"/>
      <p:italic r:id="rId65"/>
      <p:boldItalic r:id="rId66"/>
    </p:embeddedFont>
    <p:embeddedFont>
      <p:font typeface="Constantia" panose="02030602050306030303" pitchFamily="18"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B317E1-32DA-4949-87C5-9547F919FA31}">
  <a:tblStyle styleId="{5FB317E1-32DA-4949-87C5-9547F919FA31}"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7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1.fntdata"/><Relationship Id="rId68"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1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3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3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3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3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3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3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4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0" name="Google Shape;420;p4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4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4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4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4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4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4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4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4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4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5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p5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5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p5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p5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5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5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5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5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5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5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5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5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p5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5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7" name="Google Shape;547;p5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58:notes"/>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5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5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6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0" name="Google Shape;560;p6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6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6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6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2" name="Google Shape;572;p6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6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6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6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4" name="Google Shape;584;p6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6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p6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0"/>
        <p:cNvGrpSpPr/>
        <p:nvPr/>
      </p:nvGrpSpPr>
      <p:grpSpPr>
        <a:xfrm>
          <a:off x="0" y="0"/>
          <a:ext cx="0" cy="0"/>
          <a:chOff x="0" y="0"/>
          <a:chExt cx="0" cy="0"/>
        </a:xfrm>
      </p:grpSpPr>
      <p:sp>
        <p:nvSpPr>
          <p:cNvPr id="31" name="Google Shape;31;p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3" name="Google Shape;3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9" name="Google Shape;39;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5" name="Google Shape;45;p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sp>
        <p:nvSpPr>
          <p:cNvPr id="88" name="Google Shape;88;p13"/>
          <p:cNvSpPr/>
          <p:nvPr/>
        </p:nvSpPr>
        <p:spPr>
          <a:xfrm>
            <a:off x="0" y="76200"/>
            <a:ext cx="9144000" cy="6858000"/>
          </a:xfrm>
          <a:prstGeom prst="rect">
            <a:avLst/>
          </a:pr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 name="Google Shape;89;p13"/>
          <p:cNvSpPr/>
          <p:nvPr/>
        </p:nvSpPr>
        <p:spPr>
          <a:xfrm>
            <a:off x="0" y="223"/>
            <a:ext cx="9143999" cy="10287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0" name="Google Shape;90;p13"/>
          <p:cNvSpPr/>
          <p:nvPr/>
        </p:nvSpPr>
        <p:spPr>
          <a:xfrm>
            <a:off x="4401357" y="0"/>
            <a:ext cx="4742642" cy="599949"/>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1" name="Google Shape;91;p13"/>
          <p:cNvSpPr/>
          <p:nvPr/>
        </p:nvSpPr>
        <p:spPr>
          <a:xfrm>
            <a:off x="152400" y="1053975"/>
            <a:ext cx="9145590" cy="102057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4000" b="1">
                <a:solidFill>
                  <a:schemeClr val="dk1"/>
                </a:solidFill>
                <a:latin typeface="Times New Roman"/>
                <a:ea typeface="Times New Roman"/>
                <a:cs typeface="Times New Roman"/>
                <a:sym typeface="Times New Roman"/>
              </a:rPr>
              <a:t>UNIT 2: NATURAL RESOURCES.</a:t>
            </a:r>
            <a:endParaRPr sz="4000" b="1">
              <a:solidFill>
                <a:schemeClr val="dk1"/>
              </a:solidFill>
              <a:latin typeface="Times New Roman"/>
              <a:ea typeface="Times New Roman"/>
              <a:cs typeface="Times New Roman"/>
              <a:sym typeface="Times New Roman"/>
            </a:endParaRPr>
          </a:p>
        </p:txBody>
      </p:sp>
      <p:sp>
        <p:nvSpPr>
          <p:cNvPr id="92" name="Google Shape;92;p13"/>
          <p:cNvSpPr txBox="1"/>
          <p:nvPr/>
        </p:nvSpPr>
        <p:spPr>
          <a:xfrm>
            <a:off x="1447800" y="2895600"/>
            <a:ext cx="5169535" cy="2743187"/>
          </a:xfrm>
          <a:prstGeom prst="rect">
            <a:avLst/>
          </a:prstGeom>
          <a:noFill/>
          <a:ln>
            <a:noFill/>
          </a:ln>
        </p:spPr>
        <p:txBody>
          <a:bodyPr spcFirstLastPara="1" wrap="square" lIns="0" tIns="13325" rIns="0" bIns="0" anchor="t" anchorCtr="0">
            <a:spAutoFit/>
          </a:bodyPr>
          <a:lstStyle/>
          <a:p>
            <a:pPr marL="12700" marR="3876040" lvl="0" indent="0" algn="l" rtl="0">
              <a:lnSpc>
                <a:spcPct val="120000"/>
              </a:lnSpc>
              <a:spcBef>
                <a:spcPts val="0"/>
              </a:spcBef>
              <a:spcAft>
                <a:spcPts val="0"/>
              </a:spcAft>
              <a:buNone/>
            </a:pPr>
            <a:r>
              <a:rPr lang="en-US" sz="2500">
                <a:solidFill>
                  <a:schemeClr val="dk1"/>
                </a:solidFill>
                <a:latin typeface="Times New Roman"/>
                <a:ea typeface="Times New Roman"/>
                <a:cs typeface="Times New Roman"/>
                <a:sym typeface="Times New Roman"/>
              </a:rPr>
              <a:t>Forests  Water  Minerals  Food  Energy  Land</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1313267" y="228600"/>
            <a:ext cx="683260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What is Natural Resource?</a:t>
            </a:r>
            <a:endParaRPr sz="4000" b="1">
              <a:latin typeface="Times New Roman"/>
              <a:ea typeface="Times New Roman"/>
              <a:cs typeface="Times New Roman"/>
              <a:sym typeface="Times New Roman"/>
            </a:endParaRPr>
          </a:p>
        </p:txBody>
      </p:sp>
      <p:sp>
        <p:nvSpPr>
          <p:cNvPr id="98" name="Google Shape;98;p14"/>
          <p:cNvSpPr/>
          <p:nvPr/>
        </p:nvSpPr>
        <p:spPr>
          <a:xfrm>
            <a:off x="548640" y="2007742"/>
            <a:ext cx="435864" cy="32308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14"/>
          <p:cNvSpPr txBox="1"/>
          <p:nvPr/>
        </p:nvSpPr>
        <p:spPr>
          <a:xfrm>
            <a:off x="826222" y="914400"/>
            <a:ext cx="7806690" cy="5395708"/>
          </a:xfrm>
          <a:prstGeom prst="rect">
            <a:avLst/>
          </a:prstGeom>
          <a:noFill/>
          <a:ln>
            <a:noFill/>
          </a:ln>
        </p:spPr>
        <p:txBody>
          <a:bodyPr spcFirstLastPara="1" wrap="square" lIns="0" tIns="85725" rIns="0" bIns="0" anchor="t" anchorCtr="0">
            <a:spAutoFit/>
          </a:bodyPr>
          <a:lstStyle/>
          <a:p>
            <a:pPr marL="355600" marR="5080" lvl="0" indent="-342900" algn="just" rtl="0">
              <a:lnSpc>
                <a:spcPct val="100000"/>
              </a:lnSpc>
              <a:spcBef>
                <a:spcPts val="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The environment is everything which surrounds on  organism and influences its life in many ways. It includes  physical and biological components.</a:t>
            </a:r>
            <a:endParaRPr sz="2500">
              <a:solidFill>
                <a:schemeClr val="dk1"/>
              </a:solidFill>
              <a:latin typeface="Times New Roman"/>
              <a:ea typeface="Times New Roman"/>
              <a:cs typeface="Times New Roman"/>
              <a:sym typeface="Times New Roman"/>
            </a:endParaRPr>
          </a:p>
          <a:p>
            <a:pPr marL="355600" marR="5080" lvl="0" indent="-184150" algn="just" rtl="0">
              <a:lnSpc>
                <a:spcPct val="100000"/>
              </a:lnSpc>
              <a:spcBef>
                <a:spcPts val="575"/>
              </a:spcBef>
              <a:spcAft>
                <a:spcPts val="0"/>
              </a:spcAft>
              <a:buClr>
                <a:schemeClr val="dk1"/>
              </a:buClr>
              <a:buSzPts val="2500"/>
              <a:buFont typeface="Arial"/>
              <a:buNone/>
            </a:pPr>
            <a:endParaRPr sz="2500">
              <a:solidFill>
                <a:schemeClr val="dk1"/>
              </a:solidFill>
              <a:latin typeface="Times New Roman"/>
              <a:ea typeface="Times New Roman"/>
              <a:cs typeface="Times New Roman"/>
              <a:sym typeface="Times New Roman"/>
            </a:endParaRPr>
          </a:p>
          <a:p>
            <a:pPr marL="355600" marR="5080" lvl="0" indent="-342900" algn="just" rtl="0">
              <a:lnSpc>
                <a:spcPct val="100000"/>
              </a:lnSpc>
              <a:spcBef>
                <a:spcPts val="575"/>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 The physical  components of the environment are soil, water, air, light  and temperature (Abiotic components). The plants and  animals are collectively referred to as Biotic components. </a:t>
            </a:r>
            <a:endParaRPr sz="2500">
              <a:solidFill>
                <a:schemeClr val="dk1"/>
              </a:solidFill>
              <a:latin typeface="Times New Roman"/>
              <a:ea typeface="Times New Roman"/>
              <a:cs typeface="Times New Roman"/>
              <a:sym typeface="Times New Roman"/>
            </a:endParaRPr>
          </a:p>
          <a:p>
            <a:pPr marL="12700" marR="5080" lvl="0" indent="0" algn="just" rtl="0">
              <a:lnSpc>
                <a:spcPct val="100000"/>
              </a:lnSpc>
              <a:spcBef>
                <a:spcPts val="575"/>
              </a:spcBef>
              <a:spcAft>
                <a:spcPts val="0"/>
              </a:spcAft>
              <a:buNone/>
            </a:pPr>
            <a:endParaRPr sz="2500">
              <a:solidFill>
                <a:schemeClr val="dk1"/>
              </a:solidFill>
              <a:latin typeface="Times New Roman"/>
              <a:ea typeface="Times New Roman"/>
              <a:cs typeface="Times New Roman"/>
              <a:sym typeface="Times New Roman"/>
            </a:endParaRPr>
          </a:p>
          <a:p>
            <a:pPr marL="355600" marR="5080" lvl="0" indent="-342900" algn="just" rtl="0">
              <a:lnSpc>
                <a:spcPct val="100000"/>
              </a:lnSpc>
              <a:spcBef>
                <a:spcPts val="575"/>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 All these components work together, interact and modify  the effect of one another. The basic need of life are fulfilled  by minerals present in the nature. These are referred to as  Natural Resources.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520700" y="848876"/>
            <a:ext cx="7986395"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Classification	of Natural Resources</a:t>
            </a:r>
            <a:endParaRPr sz="4000" b="1">
              <a:latin typeface="Times New Roman"/>
              <a:ea typeface="Times New Roman"/>
              <a:cs typeface="Times New Roman"/>
              <a:sym typeface="Times New Roman"/>
            </a:endParaRPr>
          </a:p>
        </p:txBody>
      </p:sp>
      <p:sp>
        <p:nvSpPr>
          <p:cNvPr id="105" name="Google Shape;105;p15"/>
          <p:cNvSpPr txBox="1"/>
          <p:nvPr/>
        </p:nvSpPr>
        <p:spPr>
          <a:xfrm>
            <a:off x="535940" y="1876170"/>
            <a:ext cx="8050530" cy="4164602"/>
          </a:xfrm>
          <a:prstGeom prst="rect">
            <a:avLst/>
          </a:prstGeom>
          <a:noFill/>
          <a:ln>
            <a:noFill/>
          </a:ln>
        </p:spPr>
        <p:txBody>
          <a:bodyPr spcFirstLastPara="1" wrap="square" lIns="0" tIns="85725" rIns="0" bIns="0" anchor="t" anchorCtr="0">
            <a:spAutoFit/>
          </a:bodyPr>
          <a:lstStyle/>
          <a:p>
            <a:pPr marL="12065" marR="0" lvl="0" indent="0" algn="l"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      1. </a:t>
            </a:r>
            <a:r>
              <a:rPr lang="en-US" sz="2500" u="sng">
                <a:solidFill>
                  <a:schemeClr val="dk1"/>
                </a:solidFill>
                <a:latin typeface="Times New Roman"/>
                <a:ea typeface="Times New Roman"/>
                <a:cs typeface="Times New Roman"/>
                <a:sym typeface="Times New Roman"/>
              </a:rPr>
              <a:t>Based on Origin:</a:t>
            </a:r>
            <a:endParaRPr sz="2500">
              <a:solidFill>
                <a:schemeClr val="dk1"/>
              </a:solidFill>
              <a:latin typeface="Times New Roman"/>
              <a:ea typeface="Times New Roman"/>
              <a:cs typeface="Times New Roman"/>
              <a:sym typeface="Times New Roman"/>
            </a:endParaRPr>
          </a:p>
          <a:p>
            <a:pPr marL="828675" marR="0" lvl="1" indent="-301625" algn="l" rtl="0">
              <a:lnSpc>
                <a:spcPct val="100000"/>
              </a:lnSpc>
              <a:spcBef>
                <a:spcPts val="575"/>
              </a:spcBef>
              <a:spcAft>
                <a:spcPts val="0"/>
              </a:spcAft>
              <a:buClr>
                <a:schemeClr val="dk1"/>
              </a:buClr>
              <a:buSzPts val="2500"/>
              <a:buFont typeface="Times New Roman"/>
              <a:buAutoNum type="alphaLcPeriod"/>
            </a:pPr>
            <a:r>
              <a:rPr lang="en-US" sz="2500" b="0" i="0" u="none" strike="noStrike" cap="none">
                <a:solidFill>
                  <a:schemeClr val="dk1"/>
                </a:solidFill>
                <a:latin typeface="Times New Roman"/>
                <a:ea typeface="Times New Roman"/>
                <a:cs typeface="Times New Roman"/>
                <a:sym typeface="Times New Roman"/>
              </a:rPr>
              <a:t>BIOTIC: (living organisms)</a:t>
            </a:r>
            <a:endParaRPr sz="2500" b="0" i="0" u="none" strike="noStrike" cap="none">
              <a:solidFill>
                <a:schemeClr val="dk1"/>
              </a:solidFill>
              <a:latin typeface="Times New Roman"/>
              <a:ea typeface="Times New Roman"/>
              <a:cs typeface="Times New Roman"/>
              <a:sym typeface="Times New Roman"/>
            </a:endParaRPr>
          </a:p>
          <a:p>
            <a:pPr marL="828675" marR="0" lvl="1" indent="-301625" algn="l" rtl="0">
              <a:lnSpc>
                <a:spcPct val="100000"/>
              </a:lnSpc>
              <a:spcBef>
                <a:spcPts val="575"/>
              </a:spcBef>
              <a:spcAft>
                <a:spcPts val="0"/>
              </a:spcAft>
              <a:buClr>
                <a:schemeClr val="dk1"/>
              </a:buClr>
              <a:buSzPts val="2500"/>
              <a:buFont typeface="Times New Roman"/>
              <a:buAutoNum type="alphaLcPeriod"/>
            </a:pPr>
            <a:r>
              <a:rPr lang="en-US" sz="2500" b="0" i="0" u="none" strike="noStrike" cap="none">
                <a:solidFill>
                  <a:schemeClr val="dk1"/>
                </a:solidFill>
                <a:latin typeface="Times New Roman"/>
                <a:ea typeface="Times New Roman"/>
                <a:cs typeface="Times New Roman"/>
                <a:sym typeface="Times New Roman"/>
              </a:rPr>
              <a:t>ABIOTIC: (non living organisms) </a:t>
            </a:r>
            <a:endParaRPr sz="2500" b="0" i="0" u="none" strike="noStrike" cap="none">
              <a:solidFill>
                <a:schemeClr val="dk1"/>
              </a:solidFill>
              <a:latin typeface="Times New Roman"/>
              <a:ea typeface="Times New Roman"/>
              <a:cs typeface="Times New Roman"/>
              <a:sym typeface="Times New Roman"/>
            </a:endParaRPr>
          </a:p>
          <a:p>
            <a:pPr marL="527050" marR="0" lvl="1" indent="0" algn="l" rtl="0">
              <a:spcBef>
                <a:spcPts val="575"/>
              </a:spcBef>
              <a:spcAft>
                <a:spcPts val="0"/>
              </a:spcAft>
              <a:buNone/>
            </a:pPr>
            <a:r>
              <a:rPr lang="en-US" sz="2500" b="0" i="0" u="none" strike="noStrike" cap="none">
                <a:solidFill>
                  <a:schemeClr val="dk1"/>
                </a:solidFill>
                <a:latin typeface="Times New Roman"/>
                <a:ea typeface="Times New Roman"/>
                <a:cs typeface="Times New Roman"/>
                <a:sym typeface="Times New Roman"/>
              </a:rPr>
              <a:t>2.  </a:t>
            </a:r>
            <a:r>
              <a:rPr lang="en-US" sz="2500" b="0" i="0" u="sng" strike="noStrike" cap="none">
                <a:solidFill>
                  <a:schemeClr val="dk1"/>
                </a:solidFill>
                <a:latin typeface="Times New Roman"/>
                <a:ea typeface="Times New Roman"/>
                <a:cs typeface="Times New Roman"/>
                <a:sym typeface="Times New Roman"/>
              </a:rPr>
              <a:t>Based on Availability:</a:t>
            </a:r>
            <a:endParaRPr sz="2500" b="0" i="0" u="none" strike="noStrike" cap="none">
              <a:solidFill>
                <a:schemeClr val="dk1"/>
              </a:solidFill>
              <a:latin typeface="Times New Roman"/>
              <a:ea typeface="Times New Roman"/>
              <a:cs typeface="Times New Roman"/>
              <a:sym typeface="Times New Roman"/>
            </a:endParaRPr>
          </a:p>
          <a:p>
            <a:pPr marL="984250" marR="0" lvl="0" indent="-457200" algn="l" rtl="0">
              <a:lnSpc>
                <a:spcPct val="100000"/>
              </a:lnSpc>
              <a:spcBef>
                <a:spcPts val="580"/>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Inexhaustible: (replenishes naturally)</a:t>
            </a:r>
            <a:endParaRPr sz="2500">
              <a:solidFill>
                <a:schemeClr val="dk1"/>
              </a:solidFill>
              <a:latin typeface="Times New Roman"/>
              <a:ea typeface="Times New Roman"/>
              <a:cs typeface="Times New Roman"/>
              <a:sym typeface="Times New Roman"/>
            </a:endParaRPr>
          </a:p>
          <a:p>
            <a:pPr marL="984250" marR="0" lvl="0" indent="-457200" algn="l" rtl="0">
              <a:lnSpc>
                <a:spcPct val="100000"/>
              </a:lnSpc>
              <a:spcBef>
                <a:spcPts val="580"/>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Exhaustible: (replenishing process is extremely slow)</a:t>
            </a:r>
            <a:endParaRPr sz="2500">
              <a:solidFill>
                <a:schemeClr val="dk1"/>
              </a:solidFill>
              <a:latin typeface="Times New Roman"/>
              <a:ea typeface="Times New Roman"/>
              <a:cs typeface="Times New Roman"/>
              <a:sym typeface="Times New Roman"/>
            </a:endParaRPr>
          </a:p>
          <a:p>
            <a:pPr marL="527050" marR="0" lvl="0" indent="0" algn="l" rtl="0">
              <a:lnSpc>
                <a:spcPct val="100000"/>
              </a:lnSpc>
              <a:spcBef>
                <a:spcPts val="580"/>
              </a:spcBef>
              <a:spcAft>
                <a:spcPts val="0"/>
              </a:spcAft>
              <a:buNone/>
            </a:pPr>
            <a:r>
              <a:rPr lang="en-US" sz="2500">
                <a:solidFill>
                  <a:schemeClr val="dk1"/>
                </a:solidFill>
                <a:latin typeface="Times New Roman"/>
                <a:ea typeface="Times New Roman"/>
                <a:cs typeface="Times New Roman"/>
                <a:sym typeface="Times New Roman"/>
              </a:rPr>
              <a:t>3.  </a:t>
            </a:r>
            <a:r>
              <a:rPr lang="en-US" sz="2500" u="sng">
                <a:solidFill>
                  <a:schemeClr val="dk1"/>
                </a:solidFill>
                <a:latin typeface="Times New Roman"/>
                <a:ea typeface="Times New Roman"/>
                <a:cs typeface="Times New Roman"/>
                <a:sym typeface="Times New Roman"/>
              </a:rPr>
              <a:t>Based on Distribution:</a:t>
            </a:r>
            <a:endParaRPr sz="2500">
              <a:solidFill>
                <a:schemeClr val="dk1"/>
              </a:solidFill>
              <a:latin typeface="Times New Roman"/>
              <a:ea typeface="Times New Roman"/>
              <a:cs typeface="Times New Roman"/>
              <a:sym typeface="Times New Roman"/>
            </a:endParaRPr>
          </a:p>
          <a:p>
            <a:pPr marL="984250" marR="0" lvl="0" indent="-457200" algn="l" rtl="0">
              <a:lnSpc>
                <a:spcPct val="100000"/>
              </a:lnSpc>
              <a:spcBef>
                <a:spcPts val="580"/>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Omni present: (found everywhere)</a:t>
            </a:r>
            <a:endParaRPr sz="2500">
              <a:solidFill>
                <a:schemeClr val="dk1"/>
              </a:solidFill>
              <a:latin typeface="Times New Roman"/>
              <a:ea typeface="Times New Roman"/>
              <a:cs typeface="Times New Roman"/>
              <a:sym typeface="Times New Roman"/>
            </a:endParaRPr>
          </a:p>
          <a:p>
            <a:pPr marL="984250" marR="0" lvl="0" indent="-457200" algn="l" rtl="0">
              <a:lnSpc>
                <a:spcPct val="100000"/>
              </a:lnSpc>
              <a:spcBef>
                <a:spcPts val="580"/>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Location based: (found at some specific locations only)</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535940" y="1776594"/>
            <a:ext cx="2771775" cy="398186"/>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rgbClr val="000000"/>
              </a:buClr>
              <a:buSzPts val="2500"/>
              <a:buFont typeface="Times New Roman"/>
              <a:buNone/>
            </a:pPr>
            <a:r>
              <a:rPr lang="en-US" sz="2500">
                <a:solidFill>
                  <a:srgbClr val="000000"/>
                </a:solidFill>
                <a:latin typeface="Times New Roman"/>
                <a:ea typeface="Times New Roman"/>
                <a:cs typeface="Times New Roman"/>
                <a:sym typeface="Times New Roman"/>
              </a:rPr>
              <a:t>4. </a:t>
            </a:r>
            <a:r>
              <a:rPr lang="en-US" sz="2500" u="sng">
                <a:solidFill>
                  <a:srgbClr val="000000"/>
                </a:solidFill>
                <a:latin typeface="Times New Roman"/>
                <a:ea typeface="Times New Roman"/>
                <a:cs typeface="Times New Roman"/>
                <a:sym typeface="Times New Roman"/>
              </a:rPr>
              <a:t>Based on Source:</a:t>
            </a:r>
            <a:endParaRPr sz="2500">
              <a:latin typeface="Times New Roman"/>
              <a:ea typeface="Times New Roman"/>
              <a:cs typeface="Times New Roman"/>
              <a:sym typeface="Times New Roman"/>
            </a:endParaRPr>
          </a:p>
        </p:txBody>
      </p:sp>
      <p:sp>
        <p:nvSpPr>
          <p:cNvPr id="111" name="Google Shape;111;p16"/>
          <p:cNvSpPr txBox="1"/>
          <p:nvPr/>
        </p:nvSpPr>
        <p:spPr>
          <a:xfrm>
            <a:off x="535940" y="2161768"/>
            <a:ext cx="7851775" cy="3830320"/>
          </a:xfrm>
          <a:prstGeom prst="rect">
            <a:avLst/>
          </a:prstGeom>
          <a:noFill/>
          <a:ln>
            <a:noFill/>
          </a:ln>
        </p:spPr>
        <p:txBody>
          <a:bodyPr spcFirstLastPara="1" wrap="square" lIns="0" tIns="91425" rIns="0" bIns="0" anchor="t" anchorCtr="0">
            <a:spAutoFit/>
          </a:bodyPr>
          <a:lstStyle/>
          <a:p>
            <a:pPr marL="607060" marR="0" lvl="0" indent="-320675" algn="l" rtl="0">
              <a:lnSpc>
                <a:spcPct val="100000"/>
              </a:lnSpc>
              <a:spcBef>
                <a:spcPts val="0"/>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Water Resources</a:t>
            </a:r>
            <a:endParaRPr sz="2500">
              <a:solidFill>
                <a:schemeClr val="dk1"/>
              </a:solidFill>
              <a:latin typeface="Times New Roman"/>
              <a:ea typeface="Times New Roman"/>
              <a:cs typeface="Times New Roman"/>
              <a:sym typeface="Times New Roman"/>
            </a:endParaRPr>
          </a:p>
          <a:p>
            <a:pPr marL="626745" marR="0" lvl="0" indent="-340360" algn="l" rtl="0">
              <a:lnSpc>
                <a:spcPct val="100000"/>
              </a:lnSpc>
              <a:spcBef>
                <a:spcPts val="625"/>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Forest Resources</a:t>
            </a:r>
            <a:endParaRPr sz="2500">
              <a:solidFill>
                <a:schemeClr val="dk1"/>
              </a:solidFill>
              <a:latin typeface="Times New Roman"/>
              <a:ea typeface="Times New Roman"/>
              <a:cs typeface="Times New Roman"/>
              <a:sym typeface="Times New Roman"/>
            </a:endParaRPr>
          </a:p>
          <a:p>
            <a:pPr marL="605155" marR="0" lvl="0" indent="-318770" algn="l" rtl="0">
              <a:lnSpc>
                <a:spcPct val="100000"/>
              </a:lnSpc>
              <a:spcBef>
                <a:spcPts val="625"/>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Mineral Resources</a:t>
            </a:r>
            <a:endParaRPr sz="2500">
              <a:solidFill>
                <a:schemeClr val="dk1"/>
              </a:solidFill>
              <a:latin typeface="Times New Roman"/>
              <a:ea typeface="Times New Roman"/>
              <a:cs typeface="Times New Roman"/>
              <a:sym typeface="Times New Roman"/>
            </a:endParaRPr>
          </a:p>
          <a:p>
            <a:pPr marL="640080" marR="0" lvl="0" indent="-353695" algn="l" rtl="0">
              <a:lnSpc>
                <a:spcPct val="100000"/>
              </a:lnSpc>
              <a:spcBef>
                <a:spcPts val="625"/>
              </a:spcBef>
              <a:spcAft>
                <a:spcPts val="0"/>
              </a:spcAft>
              <a:buClr>
                <a:schemeClr val="dk1"/>
              </a:buClr>
              <a:buSzPts val="2500"/>
              <a:buFont typeface="Times New Roman"/>
              <a:buAutoNum type="alphaLcPeriod"/>
            </a:pPr>
            <a:r>
              <a:rPr lang="en-US" sz="2500">
                <a:solidFill>
                  <a:schemeClr val="dk1"/>
                </a:solidFill>
                <a:latin typeface="Times New Roman"/>
                <a:ea typeface="Times New Roman"/>
                <a:cs typeface="Times New Roman"/>
                <a:sym typeface="Times New Roman"/>
              </a:rPr>
              <a:t>Marine Resources</a:t>
            </a:r>
            <a:endParaRPr sz="2500">
              <a:solidFill>
                <a:schemeClr val="dk1"/>
              </a:solidFill>
              <a:latin typeface="Times New Roman"/>
              <a:ea typeface="Times New Roman"/>
              <a:cs typeface="Times New Roman"/>
              <a:sym typeface="Times New Roman"/>
            </a:endParaRPr>
          </a:p>
          <a:p>
            <a:pPr marL="335915" marR="0" lvl="0" indent="-323850" algn="l" rtl="0">
              <a:lnSpc>
                <a:spcPct val="100000"/>
              </a:lnSpc>
              <a:spcBef>
                <a:spcPts val="625"/>
              </a:spcBef>
              <a:spcAft>
                <a:spcPts val="0"/>
              </a:spcAft>
              <a:buClr>
                <a:schemeClr val="dk1"/>
              </a:buClr>
              <a:buSzPts val="2500"/>
              <a:buFont typeface="Times New Roman"/>
              <a:buAutoNum type="arabicPeriod" startAt="5"/>
            </a:pPr>
            <a:r>
              <a:rPr lang="en-US" sz="2500" u="sng">
                <a:solidFill>
                  <a:schemeClr val="dk1"/>
                </a:solidFill>
                <a:latin typeface="Times New Roman"/>
                <a:ea typeface="Times New Roman"/>
                <a:cs typeface="Times New Roman"/>
                <a:sym typeface="Times New Roman"/>
              </a:rPr>
              <a:t>Based on Chemical Composition:</a:t>
            </a:r>
            <a:endParaRPr sz="2500">
              <a:solidFill>
                <a:schemeClr val="dk1"/>
              </a:solidFill>
              <a:latin typeface="Times New Roman"/>
              <a:ea typeface="Times New Roman"/>
              <a:cs typeface="Times New Roman"/>
              <a:sym typeface="Times New Roman"/>
            </a:endParaRPr>
          </a:p>
          <a:p>
            <a:pPr marL="603885" marR="0" lvl="1" indent="-317500" algn="l" rtl="0">
              <a:lnSpc>
                <a:spcPct val="100000"/>
              </a:lnSpc>
              <a:spcBef>
                <a:spcPts val="625"/>
              </a:spcBef>
              <a:spcAft>
                <a:spcPts val="0"/>
              </a:spcAft>
              <a:buClr>
                <a:schemeClr val="dk1"/>
              </a:buClr>
              <a:buSzPts val="2500"/>
              <a:buFont typeface="Times New Roman"/>
              <a:buAutoNum type="alphaLcPeriod"/>
            </a:pPr>
            <a:r>
              <a:rPr lang="en-US" sz="2500" b="0" i="0" u="none" strike="noStrike" cap="none">
                <a:solidFill>
                  <a:schemeClr val="dk1"/>
                </a:solidFill>
                <a:latin typeface="Times New Roman"/>
                <a:ea typeface="Times New Roman"/>
                <a:cs typeface="Times New Roman"/>
                <a:sym typeface="Times New Roman"/>
              </a:rPr>
              <a:t>organic: (vegetables, animals, bacteria, mineral oil)</a:t>
            </a:r>
            <a:endParaRPr sz="2500" b="0" i="0" u="none" strike="noStrike" cap="none">
              <a:solidFill>
                <a:schemeClr val="dk1"/>
              </a:solidFill>
              <a:latin typeface="Times New Roman"/>
              <a:ea typeface="Times New Roman"/>
              <a:cs typeface="Times New Roman"/>
              <a:sym typeface="Times New Roman"/>
            </a:endParaRPr>
          </a:p>
          <a:p>
            <a:pPr marL="626745" marR="0" lvl="1" indent="-340360" algn="l" rtl="0">
              <a:lnSpc>
                <a:spcPct val="100000"/>
              </a:lnSpc>
              <a:spcBef>
                <a:spcPts val="625"/>
              </a:spcBef>
              <a:spcAft>
                <a:spcPts val="0"/>
              </a:spcAft>
              <a:buClr>
                <a:schemeClr val="dk1"/>
              </a:buClr>
              <a:buSzPts val="2500"/>
              <a:buFont typeface="Times New Roman"/>
              <a:buAutoNum type="alphaLcPeriod"/>
            </a:pPr>
            <a:r>
              <a:rPr lang="en-US" sz="2500" b="0" i="0" u="none" strike="noStrike" cap="none">
                <a:solidFill>
                  <a:schemeClr val="dk1"/>
                </a:solidFill>
                <a:latin typeface="Times New Roman"/>
                <a:ea typeface="Times New Roman"/>
                <a:cs typeface="Times New Roman"/>
                <a:sym typeface="Times New Roman"/>
              </a:rPr>
              <a:t>Inorganic: (Air, water, minerals)</a:t>
            </a:r>
            <a:endParaRPr sz="2500" b="0" i="0" u="none" strike="noStrike" cap="none">
              <a:solidFill>
                <a:schemeClr val="dk1"/>
              </a:solidFill>
              <a:latin typeface="Times New Roman"/>
              <a:ea typeface="Times New Roman"/>
              <a:cs typeface="Times New Roman"/>
              <a:sym typeface="Times New Roman"/>
            </a:endParaRPr>
          </a:p>
          <a:p>
            <a:pPr marL="605155" marR="0" lvl="1" indent="-318770" algn="l" rtl="0">
              <a:lnSpc>
                <a:spcPct val="100000"/>
              </a:lnSpc>
              <a:spcBef>
                <a:spcPts val="625"/>
              </a:spcBef>
              <a:spcAft>
                <a:spcPts val="0"/>
              </a:spcAft>
              <a:buClr>
                <a:schemeClr val="dk1"/>
              </a:buClr>
              <a:buSzPts val="2500"/>
              <a:buFont typeface="Times New Roman"/>
              <a:buAutoNum type="alphaLcPeriod"/>
            </a:pPr>
            <a:r>
              <a:rPr lang="en-US" sz="2500" b="0" i="0" u="none" strike="noStrike" cap="none">
                <a:solidFill>
                  <a:schemeClr val="dk1"/>
                </a:solidFill>
                <a:latin typeface="Times New Roman"/>
                <a:ea typeface="Times New Roman"/>
                <a:cs typeface="Times New Roman"/>
                <a:sym typeface="Times New Roman"/>
              </a:rPr>
              <a:t>mixed: (land)</a:t>
            </a:r>
            <a:endParaRPr/>
          </a:p>
        </p:txBody>
      </p:sp>
      <p:sp>
        <p:nvSpPr>
          <p:cNvPr id="112" name="Google Shape;112;p16"/>
          <p:cNvSpPr txBox="1"/>
          <p:nvPr/>
        </p:nvSpPr>
        <p:spPr>
          <a:xfrm>
            <a:off x="688340" y="856234"/>
            <a:ext cx="11099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onstantia"/>
                <a:ea typeface="Constantia"/>
                <a:cs typeface="Constantia"/>
                <a:sym typeface="Constantia"/>
              </a:rPr>
              <a:t>Continue…</a:t>
            </a:r>
            <a:endParaRPr sz="1800">
              <a:solidFill>
                <a:schemeClr val="dk1"/>
              </a:solidFill>
              <a:latin typeface="Constantia"/>
              <a:ea typeface="Constantia"/>
              <a:cs typeface="Constantia"/>
              <a:sym typeface="Constant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444500" y="457200"/>
            <a:ext cx="8173389"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Forests</a:t>
            </a:r>
            <a:endParaRPr sz="4000" b="1">
              <a:latin typeface="Times New Roman"/>
              <a:ea typeface="Times New Roman"/>
              <a:cs typeface="Times New Roman"/>
              <a:sym typeface="Times New Roman"/>
            </a:endParaRPr>
          </a:p>
        </p:txBody>
      </p:sp>
      <p:sp>
        <p:nvSpPr>
          <p:cNvPr id="118" name="Google Shape;118;p17"/>
          <p:cNvSpPr/>
          <p:nvPr/>
        </p:nvSpPr>
        <p:spPr>
          <a:xfrm>
            <a:off x="548640" y="2969386"/>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 name="Google Shape;119;p17"/>
          <p:cNvSpPr txBox="1"/>
          <p:nvPr/>
        </p:nvSpPr>
        <p:spPr>
          <a:xfrm>
            <a:off x="1018031" y="1533016"/>
            <a:ext cx="7807325" cy="1611630"/>
          </a:xfrm>
          <a:prstGeom prst="rect">
            <a:avLst/>
          </a:prstGeom>
          <a:noFill/>
          <a:ln>
            <a:noFill/>
          </a:ln>
        </p:spPr>
        <p:txBody>
          <a:bodyPr spcFirstLastPara="1" wrap="square" lIns="0" tIns="13325" rIns="0" bIns="0" anchor="t" anchorCtr="0">
            <a:spAutoFit/>
          </a:bodyPr>
          <a:lstStyle/>
          <a:p>
            <a:pPr marL="12700" marR="5080"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The earth’s land area where the vegetations are grown  naturally in groups is known as a forest. Vegetations  means trees, shrubs, creepers or any woody  vegetations having a closed canopy.</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title"/>
          </p:nvPr>
        </p:nvSpPr>
        <p:spPr>
          <a:xfrm>
            <a:off x="444500" y="1111015"/>
            <a:ext cx="780288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Classification of Indian Forests</a:t>
            </a:r>
            <a:endParaRPr sz="4000" b="1">
              <a:latin typeface="Times New Roman"/>
              <a:ea typeface="Times New Roman"/>
              <a:cs typeface="Times New Roman"/>
              <a:sym typeface="Times New Roman"/>
            </a:endParaRPr>
          </a:p>
        </p:txBody>
      </p:sp>
      <p:sp>
        <p:nvSpPr>
          <p:cNvPr id="125" name="Google Shape;125;p18"/>
          <p:cNvSpPr txBox="1"/>
          <p:nvPr/>
        </p:nvSpPr>
        <p:spPr>
          <a:xfrm>
            <a:off x="535940" y="2501366"/>
            <a:ext cx="4755515" cy="2445541"/>
          </a:xfrm>
          <a:prstGeom prst="rect">
            <a:avLst/>
          </a:prstGeom>
          <a:noFill/>
          <a:ln>
            <a:noFill/>
          </a:ln>
        </p:spPr>
        <p:txBody>
          <a:bodyPr spcFirstLastPara="1" wrap="square" lIns="0" tIns="110475" rIns="0" bIns="0" anchor="t" anchorCtr="0">
            <a:spAutoFit/>
          </a:bodyPr>
          <a:lstStyle/>
          <a:p>
            <a:pPr marL="527685" marR="0" lvl="0" indent="-515619" algn="l" rtl="0">
              <a:lnSpc>
                <a:spcPct val="100000"/>
              </a:lnSpc>
              <a:spcBef>
                <a:spcPts val="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Evergreen forests</a:t>
            </a:r>
            <a:endParaRPr sz="2500">
              <a:solidFill>
                <a:schemeClr val="dk1"/>
              </a:solidFill>
              <a:latin typeface="Times New Roman"/>
              <a:ea typeface="Times New Roman"/>
              <a:cs typeface="Times New Roman"/>
              <a:sym typeface="Times New Roman"/>
            </a:endParaRPr>
          </a:p>
          <a:p>
            <a:pPr marL="527685" marR="0" lvl="0" indent="-515619" algn="l" rtl="0">
              <a:lnSpc>
                <a:spcPct val="100000"/>
              </a:lnSpc>
              <a:spcBef>
                <a:spcPts val="77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Deciduous forests</a:t>
            </a:r>
            <a:endParaRPr sz="2500">
              <a:solidFill>
                <a:schemeClr val="dk1"/>
              </a:solidFill>
              <a:latin typeface="Times New Roman"/>
              <a:ea typeface="Times New Roman"/>
              <a:cs typeface="Times New Roman"/>
              <a:sym typeface="Times New Roman"/>
            </a:endParaRPr>
          </a:p>
          <a:p>
            <a:pPr marL="527685" marR="0" lvl="0" indent="-515619" algn="l" rtl="0">
              <a:lnSpc>
                <a:spcPct val="100000"/>
              </a:lnSpc>
              <a:spcBef>
                <a:spcPts val="765"/>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Dry forests</a:t>
            </a:r>
            <a:endParaRPr sz="2500">
              <a:solidFill>
                <a:schemeClr val="dk1"/>
              </a:solidFill>
              <a:latin typeface="Times New Roman"/>
              <a:ea typeface="Times New Roman"/>
              <a:cs typeface="Times New Roman"/>
              <a:sym typeface="Times New Roman"/>
            </a:endParaRPr>
          </a:p>
          <a:p>
            <a:pPr marL="527685" marR="0" lvl="0" indent="-515619" algn="l" rtl="0">
              <a:lnSpc>
                <a:spcPct val="100000"/>
              </a:lnSpc>
              <a:spcBef>
                <a:spcPts val="77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Mountain or Hill forests</a:t>
            </a:r>
            <a:endParaRPr sz="2500">
              <a:solidFill>
                <a:schemeClr val="dk1"/>
              </a:solidFill>
              <a:latin typeface="Times New Roman"/>
              <a:ea typeface="Times New Roman"/>
              <a:cs typeface="Times New Roman"/>
              <a:sym typeface="Times New Roman"/>
            </a:endParaRPr>
          </a:p>
          <a:p>
            <a:pPr marL="527685" marR="0" lvl="0" indent="-515619" algn="l" rtl="0">
              <a:lnSpc>
                <a:spcPct val="100000"/>
              </a:lnSpc>
              <a:spcBef>
                <a:spcPts val="77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Tidal forests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Tropical Forests</a:t>
            </a:r>
            <a:endParaRPr sz="4000" b="1">
              <a:latin typeface="Times New Roman"/>
              <a:ea typeface="Times New Roman"/>
              <a:cs typeface="Times New Roman"/>
              <a:sym typeface="Times New Roman"/>
            </a:endParaRPr>
          </a:p>
        </p:txBody>
      </p:sp>
      <p:sp>
        <p:nvSpPr>
          <p:cNvPr id="131" name="Google Shape;131;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500"/>
              <a:buNone/>
            </a:pPr>
            <a:r>
              <a:rPr lang="en-US" sz="2500">
                <a:latin typeface="Times New Roman"/>
                <a:ea typeface="Times New Roman"/>
                <a:cs typeface="Times New Roman"/>
                <a:sym typeface="Times New Roman"/>
              </a:rPr>
              <a:t>• Area bounded by 23.5 degree N and 23.5 degree S </a:t>
            </a:r>
            <a:endParaRPr/>
          </a:p>
          <a:p>
            <a:pPr marL="342900" lvl="0" indent="-184150" algn="l" rtl="0">
              <a:spcBef>
                <a:spcPts val="500"/>
              </a:spcBef>
              <a:spcAft>
                <a:spcPts val="0"/>
              </a:spcAft>
              <a:buClr>
                <a:schemeClr val="dk1"/>
              </a:buClr>
              <a:buSzPts val="2500"/>
              <a:buNone/>
            </a:pPr>
            <a:endParaRPr sz="2500">
              <a:latin typeface="Times New Roman"/>
              <a:ea typeface="Times New Roman"/>
              <a:cs typeface="Times New Roman"/>
              <a:sym typeface="Times New Roman"/>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 Hot and Humid climate • Temperature: 20-25 C </a:t>
            </a:r>
            <a:endParaRPr/>
          </a:p>
          <a:p>
            <a:pPr marL="0" lvl="0" indent="0" algn="l" rtl="0">
              <a:spcBef>
                <a:spcPts val="500"/>
              </a:spcBef>
              <a:spcAft>
                <a:spcPts val="0"/>
              </a:spcAft>
              <a:buClr>
                <a:schemeClr val="dk1"/>
              </a:buClr>
              <a:buSzPts val="2500"/>
              <a:buNone/>
            </a:pPr>
            <a:endParaRPr sz="2500">
              <a:latin typeface="Times New Roman"/>
              <a:ea typeface="Times New Roman"/>
              <a:cs typeface="Times New Roman"/>
              <a:sym typeface="Times New Roman"/>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 Rainfall : Exceeding 200 cm </a:t>
            </a:r>
            <a:endParaRPr/>
          </a:p>
          <a:p>
            <a:pPr marL="514350" lvl="0" indent="-514350" algn="l" rtl="0">
              <a:spcBef>
                <a:spcPts val="500"/>
              </a:spcBef>
              <a:spcAft>
                <a:spcPts val="0"/>
              </a:spcAft>
              <a:buClr>
                <a:schemeClr val="dk1"/>
              </a:buClr>
              <a:buSzPts val="2500"/>
              <a:buAutoNum type="romanLcParenBoth"/>
            </a:pPr>
            <a:r>
              <a:rPr lang="en-US" sz="2500">
                <a:latin typeface="Times New Roman"/>
                <a:ea typeface="Times New Roman"/>
                <a:cs typeface="Times New Roman"/>
                <a:sym typeface="Times New Roman"/>
              </a:rPr>
              <a:t>Low land tropical forests: &gt; Rain falls almost daily</a:t>
            </a:r>
            <a:endParaRPr/>
          </a:p>
          <a:p>
            <a:pPr marL="514350" lvl="0" indent="-514350" algn="l" rtl="0">
              <a:spcBef>
                <a:spcPts val="500"/>
              </a:spcBef>
              <a:spcAft>
                <a:spcPts val="0"/>
              </a:spcAft>
              <a:buClr>
                <a:schemeClr val="dk1"/>
              </a:buClr>
              <a:buSzPts val="2500"/>
              <a:buAutoNum type="romanLcParenBoth"/>
            </a:pPr>
            <a:r>
              <a:rPr lang="en-US" sz="2500">
                <a:latin typeface="Times New Roman"/>
                <a:ea typeface="Times New Roman"/>
                <a:cs typeface="Times New Roman"/>
                <a:sym typeface="Times New Roman"/>
              </a:rPr>
              <a:t> (ii) Tropical cloud forests : &gt; Higher Altitudes</a:t>
            </a:r>
            <a:endParaRPr sz="25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Temperate deciduous Forests</a:t>
            </a:r>
            <a:endParaRPr sz="4000" b="1">
              <a:latin typeface="Times New Roman"/>
              <a:ea typeface="Times New Roman"/>
              <a:cs typeface="Times New Roman"/>
              <a:sym typeface="Times New Roman"/>
            </a:endParaRPr>
          </a:p>
        </p:txBody>
      </p:sp>
      <p:sp>
        <p:nvSpPr>
          <p:cNvPr id="137" name="Google Shape;137;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31" algn="l" rtl="0">
              <a:spcBef>
                <a:spcPts val="0"/>
              </a:spcBef>
              <a:spcAft>
                <a:spcPts val="0"/>
              </a:spcAft>
              <a:buClr>
                <a:schemeClr val="dk1"/>
              </a:buClr>
              <a:buSzPct val="100000"/>
              <a:buChar char="•"/>
            </a:pPr>
            <a:r>
              <a:rPr lang="en-US" sz="2500">
                <a:latin typeface="Times New Roman"/>
                <a:ea typeface="Times New Roman"/>
                <a:cs typeface="Times New Roman"/>
                <a:sym typeface="Times New Roman"/>
              </a:rPr>
              <a:t>Occurring between 30 to 60 latitudes </a:t>
            </a:r>
            <a:endParaRPr/>
          </a:p>
          <a:p>
            <a:pPr marL="342900" lvl="0" indent="-196088"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342900" lvl="0" indent="-342931" algn="l" rtl="0">
              <a:spcBef>
                <a:spcPts val="462"/>
              </a:spcBef>
              <a:spcAft>
                <a:spcPts val="0"/>
              </a:spcAft>
              <a:buClr>
                <a:schemeClr val="dk1"/>
              </a:buClr>
              <a:buSzPct val="100000"/>
              <a:buChar char="•"/>
            </a:pPr>
            <a:r>
              <a:rPr lang="en-US" sz="2500">
                <a:latin typeface="Times New Roman"/>
                <a:ea typeface="Times New Roman"/>
                <a:cs typeface="Times New Roman"/>
                <a:sym typeface="Times New Roman"/>
              </a:rPr>
              <a:t>Temperature varying between -30 to +30 C </a:t>
            </a:r>
            <a:endParaRPr/>
          </a:p>
          <a:p>
            <a:pPr marL="342900" lvl="0" indent="-196088"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342900" lvl="0" indent="-342931" algn="l" rtl="0">
              <a:spcBef>
                <a:spcPts val="462"/>
              </a:spcBef>
              <a:spcAft>
                <a:spcPts val="0"/>
              </a:spcAft>
              <a:buClr>
                <a:schemeClr val="dk1"/>
              </a:buClr>
              <a:buSzPct val="100000"/>
              <a:buChar char="•"/>
            </a:pPr>
            <a:r>
              <a:rPr lang="en-US" sz="2500">
                <a:latin typeface="Times New Roman"/>
                <a:ea typeface="Times New Roman"/>
                <a:cs typeface="Times New Roman"/>
                <a:sym typeface="Times New Roman"/>
              </a:rPr>
              <a:t>Soil is fertile</a:t>
            </a:r>
            <a:endParaRPr/>
          </a:p>
          <a:p>
            <a:pPr marL="342900" lvl="0" indent="-196088"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342900" lvl="0" indent="-342931" algn="l" rtl="0">
              <a:spcBef>
                <a:spcPts val="462"/>
              </a:spcBef>
              <a:spcAft>
                <a:spcPts val="0"/>
              </a:spcAft>
              <a:buClr>
                <a:schemeClr val="dk1"/>
              </a:buClr>
              <a:buSzPct val="100000"/>
              <a:buChar char="•"/>
            </a:pPr>
            <a:r>
              <a:rPr lang="en-US" sz="2500">
                <a:latin typeface="Times New Roman"/>
                <a:ea typeface="Times New Roman"/>
                <a:cs typeface="Times New Roman"/>
                <a:sym typeface="Times New Roman"/>
              </a:rPr>
              <a:t>Rain : 75-150 cm throughout year </a:t>
            </a:r>
            <a:endParaRPr/>
          </a:p>
          <a:p>
            <a:pPr marL="0" lvl="0" indent="0"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514350" lvl="0" indent="-514381" algn="l" rtl="0">
              <a:spcBef>
                <a:spcPts val="462"/>
              </a:spcBef>
              <a:spcAft>
                <a:spcPts val="0"/>
              </a:spcAft>
              <a:buClr>
                <a:schemeClr val="dk1"/>
              </a:buClr>
              <a:buSzPct val="100000"/>
              <a:buAutoNum type="romanLcParenBoth"/>
            </a:pPr>
            <a:r>
              <a:rPr lang="en-US" sz="2500">
                <a:latin typeface="Times New Roman"/>
                <a:ea typeface="Times New Roman"/>
                <a:cs typeface="Times New Roman"/>
                <a:sym typeface="Times New Roman"/>
              </a:rPr>
              <a:t>Deciduous forests: &gt; Northern hemisphere </a:t>
            </a:r>
            <a:endParaRPr/>
          </a:p>
          <a:p>
            <a:pPr marL="514350" lvl="0" indent="-367537"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514350" lvl="0" indent="-514381" algn="l" rtl="0">
              <a:spcBef>
                <a:spcPts val="462"/>
              </a:spcBef>
              <a:spcAft>
                <a:spcPts val="0"/>
              </a:spcAft>
              <a:buClr>
                <a:schemeClr val="dk1"/>
              </a:buClr>
              <a:buSzPct val="100000"/>
              <a:buAutoNum type="romanLcParenBoth"/>
            </a:pPr>
            <a:r>
              <a:rPr lang="en-US" sz="2500">
                <a:latin typeface="Times New Roman"/>
                <a:ea typeface="Times New Roman"/>
                <a:cs typeface="Times New Roman"/>
                <a:sym typeface="Times New Roman"/>
              </a:rPr>
              <a:t>(ii) Evergreen forests : &gt;Southern hemisphere</a:t>
            </a:r>
            <a:endParaRPr sz="25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Coniferous Forests</a:t>
            </a:r>
            <a:endParaRPr sz="4000" b="1">
              <a:latin typeface="Times New Roman"/>
              <a:ea typeface="Times New Roman"/>
              <a:cs typeface="Times New Roman"/>
              <a:sym typeface="Times New Roman"/>
            </a:endParaRPr>
          </a:p>
        </p:txBody>
      </p:sp>
      <p:sp>
        <p:nvSpPr>
          <p:cNvPr id="143" name="Google Shape;143;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ct val="100000"/>
              <a:buNone/>
            </a:pPr>
            <a:r>
              <a:rPr lang="en-US" sz="2500">
                <a:latin typeface="Times New Roman"/>
                <a:ea typeface="Times New Roman"/>
                <a:cs typeface="Times New Roman"/>
                <a:sym typeface="Times New Roman"/>
              </a:rPr>
              <a:t>• Called “taiga” </a:t>
            </a:r>
            <a:endParaRPr/>
          </a:p>
          <a:p>
            <a:pPr marL="0" lvl="0" indent="0"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0" lvl="0" indent="0" algn="l" rtl="0">
              <a:spcBef>
                <a:spcPts val="462"/>
              </a:spcBef>
              <a:spcAft>
                <a:spcPts val="0"/>
              </a:spcAft>
              <a:buClr>
                <a:schemeClr val="dk1"/>
              </a:buClr>
              <a:buSzPct val="100000"/>
              <a:buNone/>
            </a:pPr>
            <a:r>
              <a:rPr lang="en-US" sz="2500">
                <a:latin typeface="Times New Roman"/>
                <a:ea typeface="Times New Roman"/>
                <a:cs typeface="Times New Roman"/>
                <a:sym typeface="Times New Roman"/>
              </a:rPr>
              <a:t>•Northern hemisphere (50 to 60 N)</a:t>
            </a:r>
            <a:endParaRPr/>
          </a:p>
          <a:p>
            <a:pPr marL="0" lvl="0" indent="0" algn="l" rtl="0">
              <a:spcBef>
                <a:spcPts val="462"/>
              </a:spcBef>
              <a:spcAft>
                <a:spcPts val="0"/>
              </a:spcAft>
              <a:buClr>
                <a:schemeClr val="dk1"/>
              </a:buClr>
              <a:buSzPct val="100000"/>
              <a:buNone/>
            </a:pPr>
            <a:r>
              <a:rPr lang="en-US" sz="2500">
                <a:latin typeface="Times New Roman"/>
                <a:ea typeface="Times New Roman"/>
                <a:cs typeface="Times New Roman"/>
                <a:sym typeface="Times New Roman"/>
              </a:rPr>
              <a:t> </a:t>
            </a:r>
            <a:endParaRPr/>
          </a:p>
          <a:p>
            <a:pPr marL="0" lvl="0" indent="0" algn="l" rtl="0">
              <a:spcBef>
                <a:spcPts val="462"/>
              </a:spcBef>
              <a:spcAft>
                <a:spcPts val="0"/>
              </a:spcAft>
              <a:buClr>
                <a:schemeClr val="dk1"/>
              </a:buClr>
              <a:buSzPct val="100000"/>
              <a:buNone/>
            </a:pPr>
            <a:r>
              <a:rPr lang="en-US" sz="2500">
                <a:latin typeface="Times New Roman"/>
                <a:ea typeface="Times New Roman"/>
                <a:cs typeface="Times New Roman"/>
                <a:sym typeface="Times New Roman"/>
              </a:rPr>
              <a:t>• Low bio diversity </a:t>
            </a:r>
            <a:endParaRPr/>
          </a:p>
          <a:p>
            <a:pPr marL="0" lvl="0" indent="0"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0" lvl="0" indent="0" algn="l" rtl="0">
              <a:spcBef>
                <a:spcPts val="462"/>
              </a:spcBef>
              <a:spcAft>
                <a:spcPts val="0"/>
              </a:spcAft>
              <a:buClr>
                <a:schemeClr val="dk1"/>
              </a:buClr>
              <a:buSzPct val="100000"/>
              <a:buNone/>
            </a:pPr>
            <a:r>
              <a:rPr lang="en-US" sz="2500">
                <a:latin typeface="Times New Roman"/>
                <a:ea typeface="Times New Roman"/>
                <a:cs typeface="Times New Roman"/>
                <a:sym typeface="Times New Roman"/>
              </a:rPr>
              <a:t>• Snow form (40 to 100 cm) </a:t>
            </a:r>
            <a:endParaRPr/>
          </a:p>
          <a:p>
            <a:pPr marL="0" lvl="0" indent="0" algn="l" rtl="0">
              <a:spcBef>
                <a:spcPts val="462"/>
              </a:spcBef>
              <a:spcAft>
                <a:spcPts val="0"/>
              </a:spcAft>
              <a:buClr>
                <a:schemeClr val="dk1"/>
              </a:buClr>
              <a:buSzPct val="100000"/>
              <a:buNone/>
            </a:pPr>
            <a:endParaRPr sz="2500">
              <a:latin typeface="Times New Roman"/>
              <a:ea typeface="Times New Roman"/>
              <a:cs typeface="Times New Roman"/>
              <a:sym typeface="Times New Roman"/>
            </a:endParaRPr>
          </a:p>
          <a:p>
            <a:pPr marL="0" lvl="0" indent="0" algn="l" rtl="0">
              <a:spcBef>
                <a:spcPts val="462"/>
              </a:spcBef>
              <a:spcAft>
                <a:spcPts val="0"/>
              </a:spcAft>
              <a:buClr>
                <a:schemeClr val="dk1"/>
              </a:buClr>
              <a:buSzPct val="100000"/>
              <a:buNone/>
            </a:pPr>
            <a:r>
              <a:rPr lang="en-US" sz="2500">
                <a:latin typeface="Times New Roman"/>
                <a:ea typeface="Times New Roman"/>
                <a:cs typeface="Times New Roman"/>
                <a:sym typeface="Times New Roman"/>
              </a:rPr>
              <a:t>• Soil is thin , acidic </a:t>
            </a:r>
            <a:endParaRPr/>
          </a:p>
          <a:p>
            <a:pPr marL="571500" lvl="0" indent="-571531" algn="l" rtl="0">
              <a:spcBef>
                <a:spcPts val="462"/>
              </a:spcBef>
              <a:spcAft>
                <a:spcPts val="0"/>
              </a:spcAft>
              <a:buClr>
                <a:schemeClr val="dk1"/>
              </a:buClr>
              <a:buSzPct val="100000"/>
              <a:buAutoNum type="romanLcParenBoth"/>
            </a:pPr>
            <a:r>
              <a:rPr lang="en-US" sz="2500">
                <a:latin typeface="Times New Roman"/>
                <a:ea typeface="Times New Roman"/>
                <a:cs typeface="Times New Roman"/>
                <a:sym typeface="Times New Roman"/>
              </a:rPr>
              <a:t>Grasslands: &gt; Short period rain, more droughts </a:t>
            </a:r>
            <a:endParaRPr/>
          </a:p>
          <a:p>
            <a:pPr marL="571500" lvl="0" indent="-571531" algn="l" rtl="0">
              <a:spcBef>
                <a:spcPts val="462"/>
              </a:spcBef>
              <a:spcAft>
                <a:spcPts val="0"/>
              </a:spcAft>
              <a:buClr>
                <a:schemeClr val="dk1"/>
              </a:buClr>
              <a:buSzPct val="100000"/>
              <a:buAutoNum type="romanLcParenBoth"/>
            </a:pPr>
            <a:r>
              <a:rPr lang="en-US" sz="2500">
                <a:latin typeface="Times New Roman"/>
                <a:ea typeface="Times New Roman"/>
                <a:cs typeface="Times New Roman"/>
                <a:sym typeface="Times New Roman"/>
              </a:rPr>
              <a:t>Tundra : &gt;Frozen, extreme cold3</a:t>
            </a:r>
            <a:endParaRPr sz="25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149" name="Google Shape;149;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Type of Forest States</a:t>
            </a:r>
            <a:endParaRPr/>
          </a:p>
          <a:p>
            <a:pPr marL="0" lvl="0" indent="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r>
              <a:rPr lang="en-US"/>
              <a:t> 1. Rain evergreen forest: Western Ghats </a:t>
            </a:r>
            <a:endParaRPr/>
          </a:p>
          <a:p>
            <a:pPr marL="0" lvl="0" indent="0" algn="l" rtl="0">
              <a:spcBef>
                <a:spcPts val="640"/>
              </a:spcBef>
              <a:spcAft>
                <a:spcPts val="0"/>
              </a:spcAft>
              <a:buClr>
                <a:schemeClr val="dk1"/>
              </a:buClr>
              <a:buSzPts val="3200"/>
              <a:buNone/>
            </a:pPr>
            <a:r>
              <a:rPr lang="en-US"/>
              <a:t>2. Tropical wet evergreen forest: Kerala , Assam</a:t>
            </a:r>
            <a:endParaRPr/>
          </a:p>
          <a:p>
            <a:pPr marL="0" lvl="0" indent="0" algn="l" rtl="0">
              <a:spcBef>
                <a:spcPts val="640"/>
              </a:spcBef>
              <a:spcAft>
                <a:spcPts val="0"/>
              </a:spcAft>
              <a:buClr>
                <a:schemeClr val="dk1"/>
              </a:buClr>
              <a:buSzPts val="3200"/>
              <a:buNone/>
            </a:pPr>
            <a:r>
              <a:rPr lang="en-US"/>
              <a:t>3. Tropical deciduous forest: Gujarat, Rajasthan</a:t>
            </a:r>
            <a:endParaRPr/>
          </a:p>
          <a:p>
            <a:pPr marL="0" lvl="0" indent="0" algn="l" rtl="0">
              <a:spcBef>
                <a:spcPts val="640"/>
              </a:spcBef>
              <a:spcAft>
                <a:spcPts val="0"/>
              </a:spcAft>
              <a:buClr>
                <a:schemeClr val="dk1"/>
              </a:buClr>
              <a:buSzPts val="3200"/>
              <a:buNone/>
            </a:pPr>
            <a:r>
              <a:rPr lang="en-US"/>
              <a:t>4. Broad leaves deciduous forest: Himalaya </a:t>
            </a:r>
            <a:endParaRPr/>
          </a:p>
          <a:p>
            <a:pPr marL="0" lvl="0" indent="0" algn="l" rtl="0">
              <a:spcBef>
                <a:spcPts val="640"/>
              </a:spcBef>
              <a:spcAft>
                <a:spcPts val="0"/>
              </a:spcAft>
              <a:buClr>
                <a:schemeClr val="dk1"/>
              </a:buClr>
              <a:buSzPts val="3200"/>
              <a:buNone/>
            </a:pPr>
            <a:r>
              <a:rPr lang="en-US"/>
              <a:t>5. Coniferous deciduous forest: U.P, H.P , J &amp; K  6. Mangrove forest: coastal area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Importance of Forests</a:t>
            </a:r>
            <a:endParaRPr sz="4000" b="1">
              <a:latin typeface="Times New Roman"/>
              <a:ea typeface="Times New Roman"/>
              <a:cs typeface="Times New Roman"/>
              <a:sym typeface="Times New Roman"/>
            </a:endParaRPr>
          </a:p>
        </p:txBody>
      </p:sp>
      <p:sp>
        <p:nvSpPr>
          <p:cNvPr id="155" name="Google Shape;155;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ct val="100000"/>
              <a:buNone/>
            </a:pPr>
            <a:r>
              <a:rPr lang="en-US"/>
              <a:t>Function </a:t>
            </a:r>
            <a:endParaRPr/>
          </a:p>
          <a:p>
            <a:pPr marL="0" lvl="0" indent="0" algn="l" rtl="0">
              <a:spcBef>
                <a:spcPts val="592"/>
              </a:spcBef>
              <a:spcAft>
                <a:spcPts val="0"/>
              </a:spcAft>
              <a:buClr>
                <a:schemeClr val="dk1"/>
              </a:buClr>
              <a:buSzPct val="100000"/>
              <a:buNone/>
            </a:pPr>
            <a:endParaRPr/>
          </a:p>
          <a:p>
            <a:pPr marL="0" lvl="0" indent="0" algn="just" rtl="0">
              <a:spcBef>
                <a:spcPts val="592"/>
              </a:spcBef>
              <a:spcAft>
                <a:spcPts val="0"/>
              </a:spcAft>
              <a:buClr>
                <a:schemeClr val="dk1"/>
              </a:buClr>
              <a:buSzPct val="100000"/>
              <a:buNone/>
            </a:pPr>
            <a:r>
              <a:rPr lang="en-US"/>
              <a:t>1.Protective functions: Protect against : flood, soil erosion, drought ,etc.</a:t>
            </a:r>
            <a:endParaRPr/>
          </a:p>
          <a:p>
            <a:pPr marL="0" lvl="0" indent="0" algn="just" rtl="0">
              <a:spcBef>
                <a:spcPts val="592"/>
              </a:spcBef>
              <a:spcAft>
                <a:spcPts val="0"/>
              </a:spcAft>
              <a:buClr>
                <a:schemeClr val="dk1"/>
              </a:buClr>
              <a:buSzPct val="100000"/>
              <a:buNone/>
            </a:pPr>
            <a:r>
              <a:rPr lang="en-US"/>
              <a:t>2. Productive functions: Produces: Katha , pulp paper , bamboos, etc.</a:t>
            </a:r>
            <a:endParaRPr/>
          </a:p>
          <a:p>
            <a:pPr marL="0" lvl="0" indent="0" algn="just" rtl="0">
              <a:spcBef>
                <a:spcPts val="592"/>
              </a:spcBef>
              <a:spcAft>
                <a:spcPts val="0"/>
              </a:spcAft>
              <a:buClr>
                <a:schemeClr val="dk1"/>
              </a:buClr>
              <a:buSzPct val="100000"/>
              <a:buNone/>
            </a:pPr>
            <a:r>
              <a:rPr lang="en-US"/>
              <a:t>3. Regulative function: Regulates Temperature,O2 ,CO2.</a:t>
            </a:r>
            <a:endParaRPr/>
          </a:p>
          <a:p>
            <a:pPr marL="0" lvl="0" indent="0" algn="just" rtl="0">
              <a:spcBef>
                <a:spcPts val="592"/>
              </a:spcBef>
              <a:spcAft>
                <a:spcPts val="0"/>
              </a:spcAft>
              <a:buClr>
                <a:schemeClr val="dk1"/>
              </a:buClr>
              <a:buSzPct val="100000"/>
              <a:buNone/>
            </a:pPr>
            <a:r>
              <a:rPr lang="en-US"/>
              <a:t>4. Accessory function: Helps in : aesthetics and habitats of flora &amp; fauna.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Importance of Forest</a:t>
            </a:r>
            <a:endParaRPr sz="4000" b="1">
              <a:latin typeface="Times New Roman"/>
              <a:ea typeface="Times New Roman"/>
              <a:cs typeface="Times New Roman"/>
              <a:sym typeface="Times New Roman"/>
            </a:endParaRPr>
          </a:p>
        </p:txBody>
      </p:sp>
      <p:sp>
        <p:nvSpPr>
          <p:cNvPr id="161" name="Google Shape;161;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500"/>
              <a:buNone/>
            </a:pPr>
            <a:r>
              <a:rPr lang="en-US" sz="2500" b="1">
                <a:latin typeface="Times New Roman"/>
                <a:ea typeface="Times New Roman"/>
                <a:cs typeface="Times New Roman"/>
                <a:sym typeface="Times New Roman"/>
              </a:rPr>
              <a:t>Ecological Importance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 Regulation of Global climate and temperatures</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 Reduction in Global warming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 Production of Oxygen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Conservation of soil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Important in a fertility of soil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Control of water flow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Habitats to Wildlife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Absorption of noise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Absorption of Air Pollution</a:t>
            </a:r>
            <a:endParaRPr sz="25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Importance of Forest</a:t>
            </a:r>
            <a:endParaRPr sz="4000" b="1">
              <a:latin typeface="Times New Roman"/>
              <a:ea typeface="Times New Roman"/>
              <a:cs typeface="Times New Roman"/>
              <a:sym typeface="Times New Roman"/>
            </a:endParaRPr>
          </a:p>
        </p:txBody>
      </p:sp>
      <p:sp>
        <p:nvSpPr>
          <p:cNvPr id="167" name="Google Shape;167;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500"/>
              <a:buNone/>
            </a:pPr>
            <a:r>
              <a:rPr lang="en-US" sz="2500" b="1">
                <a:latin typeface="Times New Roman"/>
                <a:ea typeface="Times New Roman"/>
                <a:cs typeface="Times New Roman"/>
                <a:sym typeface="Times New Roman"/>
              </a:rPr>
              <a:t>Economical Importance </a:t>
            </a:r>
            <a:endParaRPr/>
          </a:p>
          <a:p>
            <a:pPr marL="457200" lvl="0" indent="-457200" algn="l" rtl="0">
              <a:spcBef>
                <a:spcPts val="500"/>
              </a:spcBef>
              <a:spcAft>
                <a:spcPts val="0"/>
              </a:spcAft>
              <a:buClr>
                <a:schemeClr val="dk1"/>
              </a:buClr>
              <a:buSzPts val="2500"/>
              <a:buFont typeface="Calibri"/>
              <a:buAutoNum type="arabicPeriod"/>
            </a:pPr>
            <a:r>
              <a:rPr lang="en-US" sz="2500">
                <a:latin typeface="Times New Roman"/>
                <a:ea typeface="Times New Roman"/>
                <a:cs typeface="Times New Roman"/>
                <a:sym typeface="Times New Roman"/>
              </a:rPr>
              <a:t>Timber </a:t>
            </a:r>
            <a:endParaRPr/>
          </a:p>
          <a:p>
            <a:pPr marL="457200" lvl="0" indent="-457200" algn="l" rtl="0">
              <a:spcBef>
                <a:spcPts val="500"/>
              </a:spcBef>
              <a:spcAft>
                <a:spcPts val="0"/>
              </a:spcAft>
              <a:buClr>
                <a:schemeClr val="dk1"/>
              </a:buClr>
              <a:buSzPts val="2500"/>
              <a:buFont typeface="Calibri"/>
              <a:buAutoNum type="arabicPeriod"/>
            </a:pPr>
            <a:r>
              <a:rPr lang="en-US" sz="2500">
                <a:latin typeface="Times New Roman"/>
                <a:ea typeface="Times New Roman"/>
                <a:cs typeface="Times New Roman"/>
                <a:sym typeface="Times New Roman"/>
              </a:rPr>
              <a:t> Fuel food </a:t>
            </a:r>
            <a:endParaRPr/>
          </a:p>
          <a:p>
            <a:pPr marL="457200" lvl="0" indent="-457200" algn="l" rtl="0">
              <a:spcBef>
                <a:spcPts val="500"/>
              </a:spcBef>
              <a:spcAft>
                <a:spcPts val="0"/>
              </a:spcAft>
              <a:buClr>
                <a:schemeClr val="dk1"/>
              </a:buClr>
              <a:buSzPts val="2500"/>
              <a:buFont typeface="Calibri"/>
              <a:buAutoNum type="arabicPeriod"/>
            </a:pPr>
            <a:r>
              <a:rPr lang="en-US" sz="2500">
                <a:latin typeface="Times New Roman"/>
                <a:ea typeface="Times New Roman"/>
                <a:cs typeface="Times New Roman"/>
                <a:sym typeface="Times New Roman"/>
              </a:rPr>
              <a:t>Raw material for wood based industries </a:t>
            </a:r>
            <a:endParaRPr/>
          </a:p>
          <a:p>
            <a:pPr marL="457200" lvl="0" indent="-457200" algn="l" rtl="0">
              <a:spcBef>
                <a:spcPts val="500"/>
              </a:spcBef>
              <a:spcAft>
                <a:spcPts val="0"/>
              </a:spcAft>
              <a:buClr>
                <a:schemeClr val="dk1"/>
              </a:buClr>
              <a:buSzPts val="2500"/>
              <a:buFont typeface="Calibri"/>
              <a:buAutoNum type="arabicPeriod"/>
            </a:pPr>
            <a:r>
              <a:rPr lang="en-US" sz="2500">
                <a:latin typeface="Times New Roman"/>
                <a:ea typeface="Times New Roman"/>
                <a:cs typeface="Times New Roman"/>
                <a:sym typeface="Times New Roman"/>
              </a:rPr>
              <a:t> Bamboo </a:t>
            </a:r>
            <a:endParaRPr/>
          </a:p>
          <a:p>
            <a:pPr marL="457200" lvl="0" indent="-457200" algn="l" rtl="0">
              <a:spcBef>
                <a:spcPts val="500"/>
              </a:spcBef>
              <a:spcAft>
                <a:spcPts val="0"/>
              </a:spcAft>
              <a:buClr>
                <a:schemeClr val="dk1"/>
              </a:buClr>
              <a:buSzPts val="2500"/>
              <a:buFont typeface="Calibri"/>
              <a:buAutoNum type="arabicPeriod"/>
            </a:pPr>
            <a:r>
              <a:rPr lang="en-US" sz="2500">
                <a:latin typeface="Times New Roman"/>
                <a:ea typeface="Times New Roman"/>
                <a:cs typeface="Times New Roman"/>
                <a:sym typeface="Times New Roman"/>
              </a:rPr>
              <a:t>Food </a:t>
            </a:r>
            <a:endParaRPr sz="2500">
              <a:latin typeface="Times New Roman"/>
              <a:ea typeface="Times New Roman"/>
              <a:cs typeface="Times New Roman"/>
              <a:sym typeface="Times New Roman"/>
            </a:endParaRPr>
          </a:p>
          <a:p>
            <a:pPr marL="457200" lvl="0" indent="-457200" algn="l" rtl="0">
              <a:spcBef>
                <a:spcPts val="500"/>
              </a:spcBef>
              <a:spcAft>
                <a:spcPts val="0"/>
              </a:spcAft>
              <a:buClr>
                <a:schemeClr val="dk1"/>
              </a:buClr>
              <a:buSzPts val="2500"/>
              <a:buFont typeface="Calibri"/>
              <a:buAutoNum type="arabicPeriod"/>
            </a:pPr>
            <a:r>
              <a:rPr lang="en-US" sz="2500">
                <a:latin typeface="Times New Roman"/>
                <a:ea typeface="Times New Roman"/>
                <a:cs typeface="Times New Roman"/>
                <a:sym typeface="Times New Roman"/>
              </a:rPr>
              <a:t> Miscellaneous products</a:t>
            </a:r>
            <a:endParaRPr sz="2500" b="1">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Deforestation</a:t>
            </a:r>
            <a:endParaRPr sz="4000" b="1">
              <a:latin typeface="Times New Roman"/>
              <a:ea typeface="Times New Roman"/>
              <a:cs typeface="Times New Roman"/>
              <a:sym typeface="Times New Roman"/>
            </a:endParaRPr>
          </a:p>
        </p:txBody>
      </p:sp>
      <p:sp>
        <p:nvSpPr>
          <p:cNvPr id="173" name="Google Shape;173;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500"/>
              <a:buChar char="•"/>
            </a:pPr>
            <a:r>
              <a:rPr lang="en-US" sz="2500">
                <a:latin typeface="Times New Roman"/>
                <a:ea typeface="Times New Roman"/>
                <a:cs typeface="Times New Roman"/>
                <a:sym typeface="Times New Roman"/>
              </a:rPr>
              <a:t>Deforestation refers to the long term or permanent loss of forest cover. </a:t>
            </a:r>
            <a:endParaRPr sz="2500">
              <a:latin typeface="Times New Roman"/>
              <a:ea typeface="Times New Roman"/>
              <a:cs typeface="Times New Roman"/>
              <a:sym typeface="Times New Roman"/>
            </a:endParaRPr>
          </a:p>
          <a:p>
            <a:pPr marL="342900" lvl="0" indent="-184150" algn="just" rtl="0">
              <a:spcBef>
                <a:spcPts val="500"/>
              </a:spcBef>
              <a:spcAft>
                <a:spcPts val="0"/>
              </a:spcAft>
              <a:buClr>
                <a:schemeClr val="dk1"/>
              </a:buClr>
              <a:buSzPts val="2500"/>
              <a:buNone/>
            </a:pPr>
            <a:endParaRPr sz="2500">
              <a:latin typeface="Times New Roman"/>
              <a:ea typeface="Times New Roman"/>
              <a:cs typeface="Times New Roman"/>
              <a:sym typeface="Times New Roman"/>
            </a:endParaRPr>
          </a:p>
          <a:p>
            <a:pPr marL="342900" lvl="0" indent="-342900" algn="just"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 10% loss of canopy is considered as Deforestation.</a:t>
            </a:r>
            <a:endParaRPr sz="25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p:nvPr>
        </p:nvSpPr>
        <p:spPr>
          <a:xfrm>
            <a:off x="457200" y="0"/>
            <a:ext cx="8229600" cy="609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Causes</a:t>
            </a:r>
            <a:endParaRPr sz="4000" b="1">
              <a:latin typeface="Times New Roman"/>
              <a:ea typeface="Times New Roman"/>
              <a:cs typeface="Times New Roman"/>
              <a:sym typeface="Times New Roman"/>
            </a:endParaRPr>
          </a:p>
        </p:txBody>
      </p:sp>
      <p:sp>
        <p:nvSpPr>
          <p:cNvPr id="179" name="Google Shape;179;p27"/>
          <p:cNvSpPr txBox="1">
            <a:spLocks noGrp="1"/>
          </p:cNvSpPr>
          <p:nvPr>
            <p:ph type="body" idx="1"/>
          </p:nvPr>
        </p:nvSpPr>
        <p:spPr>
          <a:xfrm>
            <a:off x="457200" y="685800"/>
            <a:ext cx="8229600" cy="6172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200"/>
              <a:buChar char="•"/>
            </a:pPr>
            <a:r>
              <a:rPr lang="en-US" sz="2200">
                <a:latin typeface="Times New Roman"/>
                <a:ea typeface="Times New Roman"/>
                <a:cs typeface="Times New Roman"/>
                <a:sym typeface="Times New Roman"/>
              </a:rPr>
              <a:t>Population explosion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 Shifting Cultivation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 Growing food demands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 Fire foods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 Raw material for wood based industries</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Infrastructure Development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Forest Fires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 (i) Ground fire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(ii) Surface fire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(iii) Crown fire</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(iv) human activities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 Over grazing :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Mining activities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Attack of insects </a:t>
            </a:r>
            <a:endParaRPr/>
          </a:p>
          <a:p>
            <a:pPr marL="342900" lvl="0" indent="-342900" algn="l" rtl="0">
              <a:spcBef>
                <a:spcPts val="440"/>
              </a:spcBef>
              <a:spcAft>
                <a:spcPts val="0"/>
              </a:spcAft>
              <a:buClr>
                <a:schemeClr val="dk1"/>
              </a:buClr>
              <a:buSzPts val="2200"/>
              <a:buChar char="•"/>
            </a:pPr>
            <a:r>
              <a:rPr lang="en-US" sz="2200">
                <a:latin typeface="Times New Roman"/>
                <a:ea typeface="Times New Roman"/>
                <a:cs typeface="Times New Roman"/>
                <a:sym typeface="Times New Roman"/>
              </a:rPr>
              <a:t>Natural forces</a:t>
            </a:r>
            <a:endParaRPr sz="22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8"/>
          <p:cNvSpPr txBox="1">
            <a:spLocks noGrp="1"/>
          </p:cNvSpPr>
          <p:nvPr>
            <p:ph type="title"/>
          </p:nvPr>
        </p:nvSpPr>
        <p:spPr>
          <a:xfrm>
            <a:off x="444500" y="717549"/>
            <a:ext cx="7940675" cy="635000"/>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Clr>
                <a:schemeClr val="dk1"/>
              </a:buClr>
              <a:buSzPts val="4000"/>
              <a:buFont typeface="Calibri"/>
              <a:buNone/>
            </a:pPr>
            <a:r>
              <a:rPr lang="en-US" sz="4000">
                <a:latin typeface="Calibri"/>
                <a:ea typeface="Calibri"/>
                <a:cs typeface="Calibri"/>
                <a:sym typeface="Calibri"/>
              </a:rPr>
              <a:t>Threats associated with Deforestation:</a:t>
            </a:r>
            <a:endParaRPr sz="4000">
              <a:latin typeface="Calibri"/>
              <a:ea typeface="Calibri"/>
              <a:cs typeface="Calibri"/>
              <a:sym typeface="Calibri"/>
            </a:endParaRPr>
          </a:p>
        </p:txBody>
      </p:sp>
      <p:sp>
        <p:nvSpPr>
          <p:cNvPr id="185" name="Google Shape;185;p28"/>
          <p:cNvSpPr txBox="1"/>
          <p:nvPr/>
        </p:nvSpPr>
        <p:spPr>
          <a:xfrm>
            <a:off x="535940" y="1899031"/>
            <a:ext cx="6230620" cy="4305935"/>
          </a:xfrm>
          <a:prstGeom prst="rect">
            <a:avLst/>
          </a:prstGeom>
          <a:noFill/>
          <a:ln>
            <a:noFill/>
          </a:ln>
        </p:spPr>
        <p:txBody>
          <a:bodyPr spcFirstLastPara="1" wrap="square" lIns="0" tIns="67300" rIns="0" bIns="0" anchor="t" anchorCtr="0">
            <a:spAutoFit/>
          </a:bodyPr>
          <a:lstStyle/>
          <a:p>
            <a:pPr marL="527685" marR="0" lvl="0" indent="-515619" algn="l" rtl="0">
              <a:lnSpc>
                <a:spcPct val="100000"/>
              </a:lnSpc>
              <a:spcBef>
                <a:spcPts val="0"/>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Increase in the possibilities of flash floods.</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0"/>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Decrease in the rain fall.</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4"/>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Increase in the atmospheric temperature.</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0"/>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Increase in the amount of soil erosion.</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4"/>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Migration of tribal population leads to mental frustration.</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0"/>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Extinction of some useful medicinal species.</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4"/>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Shelter problem for forest animals will increase.</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0"/>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Problem of urbanization will arise.</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4"/>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Atmosphere will become adverse.</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4"/>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Desertification of forests and agricultural land.</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0"/>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Forest dwellers will have a problem of survival.</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0"/>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Decrease in the population of animal species.</a:t>
            </a:r>
            <a:endParaRPr sz="1800">
              <a:solidFill>
                <a:schemeClr val="dk1"/>
              </a:solidFill>
              <a:latin typeface="Constantia"/>
              <a:ea typeface="Constantia"/>
              <a:cs typeface="Constantia"/>
              <a:sym typeface="Constantia"/>
            </a:endParaRPr>
          </a:p>
          <a:p>
            <a:pPr marL="527685" marR="0" lvl="0" indent="-515619" algn="l" rtl="0">
              <a:lnSpc>
                <a:spcPct val="100000"/>
              </a:lnSpc>
              <a:spcBef>
                <a:spcPts val="434"/>
              </a:spcBef>
              <a:spcAft>
                <a:spcPts val="0"/>
              </a:spcAft>
              <a:buClr>
                <a:srgbClr val="0AD0D9"/>
              </a:buClr>
              <a:buSzPts val="1700"/>
              <a:buFont typeface="Constantia"/>
              <a:buAutoNum type="arabicPeriod"/>
            </a:pPr>
            <a:r>
              <a:rPr lang="en-US" sz="1800">
                <a:solidFill>
                  <a:schemeClr val="dk1"/>
                </a:solidFill>
                <a:latin typeface="Constantia"/>
                <a:ea typeface="Constantia"/>
                <a:cs typeface="Constantia"/>
                <a:sym typeface="Constantia"/>
              </a:rPr>
              <a:t>Increased chances of cyclone due to climate change.</a:t>
            </a:r>
            <a:endParaRPr sz="1800">
              <a:solidFill>
                <a:schemeClr val="dk1"/>
              </a:solidFill>
              <a:latin typeface="Constantia"/>
              <a:ea typeface="Constantia"/>
              <a:cs typeface="Constantia"/>
              <a:sym typeface="Constant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Effects</a:t>
            </a:r>
            <a:endParaRPr sz="4000" b="1">
              <a:latin typeface="Times New Roman"/>
              <a:ea typeface="Times New Roman"/>
              <a:cs typeface="Times New Roman"/>
              <a:sym typeface="Times New Roman"/>
            </a:endParaRPr>
          </a:p>
        </p:txBody>
      </p:sp>
      <p:sp>
        <p:nvSpPr>
          <p:cNvPr id="191" name="Google Shape;191;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500"/>
              <a:buChar char="•"/>
            </a:pPr>
            <a:r>
              <a:rPr lang="en-US" sz="2500">
                <a:latin typeface="Times New Roman"/>
                <a:ea typeface="Times New Roman"/>
                <a:cs typeface="Times New Roman"/>
                <a:sym typeface="Times New Roman"/>
              </a:rPr>
              <a:t>Destruction of species habitats :Extinction of species, Loss of Bio-diversity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Reduction of vegetation: Soil erosion</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 Loss of soil fertility Loss of mineral nutrients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 Landslides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Destructs Oxygen cycle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Pollution + Global warming </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Less forest products Quality of our life</a:t>
            </a:r>
            <a:endParaRPr sz="25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0"/>
          <p:cNvSpPr txBox="1">
            <a:spLocks noGrp="1"/>
          </p:cNvSpPr>
          <p:nvPr>
            <p:ph type="title"/>
          </p:nvPr>
        </p:nvSpPr>
        <p:spPr>
          <a:xfrm>
            <a:off x="0" y="693578"/>
            <a:ext cx="9144000" cy="597599"/>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3800"/>
              <a:buFont typeface="Times New Roman"/>
              <a:buNone/>
            </a:pPr>
            <a:r>
              <a:rPr lang="en-US" sz="3800" b="1">
                <a:latin typeface="Times New Roman"/>
                <a:ea typeface="Times New Roman"/>
                <a:cs typeface="Times New Roman"/>
                <a:sym typeface="Times New Roman"/>
              </a:rPr>
              <a:t>Need and measures of Forest Conservation</a:t>
            </a:r>
            <a:endParaRPr sz="3800" b="1">
              <a:latin typeface="Times New Roman"/>
              <a:ea typeface="Times New Roman"/>
              <a:cs typeface="Times New Roman"/>
              <a:sym typeface="Times New Roman"/>
            </a:endParaRPr>
          </a:p>
        </p:txBody>
      </p:sp>
      <p:sp>
        <p:nvSpPr>
          <p:cNvPr id="197" name="Google Shape;197;p30"/>
          <p:cNvSpPr/>
          <p:nvPr/>
        </p:nvSpPr>
        <p:spPr>
          <a:xfrm>
            <a:off x="548640" y="1461769"/>
            <a:ext cx="362712" cy="2682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30"/>
          <p:cNvSpPr/>
          <p:nvPr/>
        </p:nvSpPr>
        <p:spPr>
          <a:xfrm>
            <a:off x="548640" y="2376551"/>
            <a:ext cx="362712" cy="2682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30"/>
          <p:cNvSpPr txBox="1"/>
          <p:nvPr/>
        </p:nvSpPr>
        <p:spPr>
          <a:xfrm>
            <a:off x="535940" y="1410970"/>
            <a:ext cx="6932930" cy="4599305"/>
          </a:xfrm>
          <a:prstGeom prst="rect">
            <a:avLst/>
          </a:prstGeom>
          <a:noFill/>
          <a:ln>
            <a:noFill/>
          </a:ln>
        </p:spPr>
        <p:txBody>
          <a:bodyPr spcFirstLastPara="1" wrap="square" lIns="0" tIns="13325" rIns="0" bIns="0" anchor="t" anchorCtr="0">
            <a:spAutoFit/>
          </a:bodyPr>
          <a:lstStyle/>
          <a:p>
            <a:pPr marL="287020" marR="0" lvl="0" indent="0" algn="l" rtl="0">
              <a:lnSpc>
                <a:spcPct val="100000"/>
              </a:lnSpc>
              <a:spcBef>
                <a:spcPts val="0"/>
              </a:spcBef>
              <a:spcAft>
                <a:spcPts val="0"/>
              </a:spcAft>
              <a:buNone/>
            </a:pPr>
            <a:r>
              <a:rPr lang="en-US" sz="2000" b="1">
                <a:solidFill>
                  <a:schemeClr val="dk1"/>
                </a:solidFill>
                <a:latin typeface="Times New Roman"/>
                <a:ea typeface="Times New Roman"/>
                <a:cs typeface="Times New Roman"/>
                <a:sym typeface="Times New Roman"/>
              </a:rPr>
              <a:t>   Needs:</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To maintain equilibrium in Ecosystem.</a:t>
            </a:r>
            <a:endParaRPr sz="2000">
              <a:solidFill>
                <a:schemeClr val="dk1"/>
              </a:solidFill>
              <a:latin typeface="Times New Roman"/>
              <a:ea typeface="Times New Roman"/>
              <a:cs typeface="Times New Roman"/>
              <a:sym typeface="Times New Roman"/>
            </a:endParaRPr>
          </a:p>
          <a:p>
            <a:pPr marL="527685" marR="3731259"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To maintain Bio-diversity.</a:t>
            </a:r>
            <a:endParaRPr sz="2000">
              <a:solidFill>
                <a:schemeClr val="dk1"/>
              </a:solidFill>
              <a:latin typeface="Times New Roman"/>
              <a:ea typeface="Times New Roman"/>
              <a:cs typeface="Times New Roman"/>
              <a:sym typeface="Times New Roman"/>
            </a:endParaRPr>
          </a:p>
          <a:p>
            <a:pPr marL="354965" marR="3731259" lvl="0" indent="-342900" algn="l" rtl="0">
              <a:lnSpc>
                <a:spcPct val="100000"/>
              </a:lnSpc>
              <a:spcBef>
                <a:spcPts val="0"/>
              </a:spcBef>
              <a:spcAft>
                <a:spcPts val="0"/>
              </a:spcAft>
              <a:buClr>
                <a:srgbClr val="0AD0D9"/>
              </a:buClr>
              <a:buSzPts val="1900"/>
              <a:buFont typeface="Arial"/>
              <a:buChar char="•"/>
            </a:pPr>
            <a:r>
              <a:rPr lang="en-US" sz="2000" b="1">
                <a:solidFill>
                  <a:schemeClr val="dk1"/>
                </a:solidFill>
                <a:latin typeface="Times New Roman"/>
                <a:ea typeface="Times New Roman"/>
                <a:cs typeface="Times New Roman"/>
                <a:sym typeface="Times New Roman"/>
              </a:rPr>
              <a:t>  Measures:</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Forest fires should be prevented.</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Use of pesticides to eliminate the risk of pests.</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Plantation of resistant varieties.</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Replacements of trees (aforestation)</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Replacing the fire woods by biogas and solar cooker.</a:t>
            </a:r>
            <a:endParaRPr sz="2000">
              <a:solidFill>
                <a:schemeClr val="dk1"/>
              </a:solidFill>
              <a:latin typeface="Times New Roman"/>
              <a:ea typeface="Times New Roman"/>
              <a:cs typeface="Times New Roman"/>
              <a:sym typeface="Times New Roman"/>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Implementation of social forestry programmes.</a:t>
            </a:r>
            <a:endParaRPr sz="2000">
              <a:solidFill>
                <a:schemeClr val="dk1"/>
              </a:solidFill>
              <a:latin typeface="Times New Roman"/>
              <a:ea typeface="Times New Roman"/>
              <a:cs typeface="Times New Roman"/>
              <a:sym typeface="Times New Roman"/>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Aforestation programmes should be undertaken on wastelands.</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Trees of aesthetic value should be planted.</a:t>
            </a:r>
            <a:endParaRPr/>
          </a:p>
          <a:p>
            <a:pPr marL="527685" marR="0" lvl="0" indent="-515619" algn="l" rtl="0">
              <a:lnSpc>
                <a:spcPct val="100000"/>
              </a:lnSpc>
              <a:spcBef>
                <a:spcPts val="5"/>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Renewal of forest crops.</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Reforestation by suitable monoculture.</a:t>
            </a:r>
            <a:endParaRPr/>
          </a:p>
          <a:p>
            <a:pPr marL="527685" marR="0" lvl="0" indent="-515619" algn="l" rtl="0">
              <a:lnSpc>
                <a:spcPct val="100000"/>
              </a:lnSpc>
              <a:spcBef>
                <a:spcPts val="0"/>
              </a:spcBef>
              <a:spcAft>
                <a:spcPts val="0"/>
              </a:spcAft>
              <a:buClr>
                <a:srgbClr val="0AD0D9"/>
              </a:buClr>
              <a:buSzPts val="1900"/>
              <a:buFont typeface="Times New Roman"/>
              <a:buAutoNum type="arabicPeriod"/>
            </a:pPr>
            <a:r>
              <a:rPr lang="en-US" sz="2000">
                <a:solidFill>
                  <a:schemeClr val="dk1"/>
                </a:solidFill>
                <a:latin typeface="Times New Roman"/>
                <a:ea typeface="Times New Roman"/>
                <a:cs typeface="Times New Roman"/>
                <a:sym typeface="Times New Roman"/>
              </a:rPr>
              <a:t>Unwanted felling of trees should be restricted.</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1"/>
          <p:cNvSpPr txBox="1">
            <a:spLocks noGrp="1"/>
          </p:cNvSpPr>
          <p:nvPr>
            <p:ph type="title"/>
          </p:nvPr>
        </p:nvSpPr>
        <p:spPr>
          <a:xfrm>
            <a:off x="2286000" y="609600"/>
            <a:ext cx="3241675"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 Water</a:t>
            </a:r>
            <a:endParaRPr sz="4000" b="1">
              <a:latin typeface="Times New Roman"/>
              <a:ea typeface="Times New Roman"/>
              <a:cs typeface="Times New Roman"/>
              <a:sym typeface="Times New Roman"/>
            </a:endParaRPr>
          </a:p>
        </p:txBody>
      </p:sp>
      <p:sp>
        <p:nvSpPr>
          <p:cNvPr id="205" name="Google Shape;205;p31"/>
          <p:cNvSpPr/>
          <p:nvPr/>
        </p:nvSpPr>
        <p:spPr>
          <a:xfrm>
            <a:off x="304800" y="1752600"/>
            <a:ext cx="3124200" cy="39334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31"/>
          <p:cNvSpPr txBox="1"/>
          <p:nvPr/>
        </p:nvSpPr>
        <p:spPr>
          <a:xfrm>
            <a:off x="4041775" y="1842642"/>
            <a:ext cx="4644390" cy="3103414"/>
          </a:xfrm>
          <a:prstGeom prst="rect">
            <a:avLst/>
          </a:prstGeom>
          <a:noFill/>
          <a:ln>
            <a:noFill/>
          </a:ln>
        </p:spPr>
        <p:txBody>
          <a:bodyPr spcFirstLastPara="1" wrap="square" lIns="0" tIns="12700" rIns="0" bIns="0" anchor="t" anchorCtr="0">
            <a:spAutoFit/>
          </a:bodyPr>
          <a:lstStyle/>
          <a:p>
            <a:pPr marL="12700" marR="0"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Uses of Water:</a:t>
            </a:r>
            <a:endParaRPr sz="2500">
              <a:solidFill>
                <a:schemeClr val="dk1"/>
              </a:solidFill>
              <a:latin typeface="Times New Roman"/>
              <a:ea typeface="Times New Roman"/>
              <a:cs typeface="Times New Roman"/>
              <a:sym typeface="Times New Roman"/>
            </a:endParaRPr>
          </a:p>
          <a:p>
            <a:pPr marL="12700" marR="0" lvl="0" indent="0" algn="just" rtl="0">
              <a:lnSpc>
                <a:spcPct val="100000"/>
              </a:lnSpc>
              <a:spcBef>
                <a:spcPts val="100"/>
              </a:spcBef>
              <a:spcAft>
                <a:spcPts val="0"/>
              </a:spcAft>
              <a:buNone/>
            </a:pPr>
            <a:endParaRPr sz="2500">
              <a:solidFill>
                <a:schemeClr val="dk1"/>
              </a:solidFill>
              <a:latin typeface="Times New Roman"/>
              <a:ea typeface="Times New Roman"/>
              <a:cs typeface="Times New Roman"/>
              <a:sym typeface="Times New Roman"/>
            </a:endParaRPr>
          </a:p>
          <a:p>
            <a:pPr marL="355600" marR="5080" lvl="0" indent="-343535" algn="just" rtl="0">
              <a:lnSpc>
                <a:spcPct val="100000"/>
              </a:lnSpc>
              <a:spcBef>
                <a:spcPts val="0"/>
              </a:spcBef>
              <a:spcAft>
                <a:spcPts val="0"/>
              </a:spcAft>
              <a:buClr>
                <a:schemeClr val="dk1"/>
              </a:buClr>
              <a:buSzPts val="2500"/>
              <a:buFont typeface="Constantia"/>
              <a:buAutoNum type="arabicPeriod"/>
            </a:pPr>
            <a:r>
              <a:rPr lang="en-US" sz="2500">
                <a:solidFill>
                  <a:schemeClr val="dk1"/>
                </a:solidFill>
                <a:latin typeface="Times New Roman"/>
                <a:ea typeface="Times New Roman"/>
                <a:cs typeface="Times New Roman"/>
                <a:sym typeface="Times New Roman"/>
              </a:rPr>
              <a:t>	Use of water in Agricultural and  Industrial activities.</a:t>
            </a:r>
            <a:endParaRPr sz="2500">
              <a:solidFill>
                <a:schemeClr val="dk1"/>
              </a:solidFill>
              <a:latin typeface="Times New Roman"/>
              <a:ea typeface="Times New Roman"/>
              <a:cs typeface="Times New Roman"/>
              <a:sym typeface="Times New Roman"/>
            </a:endParaRPr>
          </a:p>
          <a:p>
            <a:pPr marL="355600" marR="8255" lvl="0" indent="-343535" algn="just" rtl="0">
              <a:lnSpc>
                <a:spcPct val="100000"/>
              </a:lnSpc>
              <a:spcBef>
                <a:spcPts val="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Drinking and Washing  purposes.</a:t>
            </a:r>
            <a:endParaRPr sz="2500">
              <a:solidFill>
                <a:schemeClr val="dk1"/>
              </a:solidFill>
              <a:latin typeface="Times New Roman"/>
              <a:ea typeface="Times New Roman"/>
              <a:cs typeface="Times New Roman"/>
              <a:sym typeface="Times New Roman"/>
            </a:endParaRPr>
          </a:p>
          <a:p>
            <a:pPr marL="355600" marR="0" lvl="0" indent="-343535" algn="just" rtl="0">
              <a:lnSpc>
                <a:spcPct val="100000"/>
              </a:lnSpc>
              <a:spcBef>
                <a:spcPts val="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Vital for Fishing Industry.</a:t>
            </a:r>
            <a:endParaRPr sz="2500">
              <a:solidFill>
                <a:schemeClr val="dk1"/>
              </a:solidFill>
              <a:latin typeface="Times New Roman"/>
              <a:ea typeface="Times New Roman"/>
              <a:cs typeface="Times New Roman"/>
              <a:sym typeface="Times New Roman"/>
            </a:endParaRPr>
          </a:p>
          <a:p>
            <a:pPr marL="355600" marR="0" lvl="0" indent="-343535" algn="just" rtl="0">
              <a:lnSpc>
                <a:spcPct val="100000"/>
              </a:lnSpc>
              <a:spcBef>
                <a:spcPts val="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Marine transportation.</a:t>
            </a:r>
            <a:endParaRPr sz="2500">
              <a:solidFill>
                <a:schemeClr val="dk1"/>
              </a:solidFill>
              <a:latin typeface="Times New Roman"/>
              <a:ea typeface="Times New Roman"/>
              <a:cs typeface="Times New Roman"/>
              <a:sym typeface="Times New Roman"/>
            </a:endParaRPr>
          </a:p>
          <a:p>
            <a:pPr marL="355600" marR="0" lvl="0" indent="-343535" algn="just" rtl="0">
              <a:lnSpc>
                <a:spcPct val="100000"/>
              </a:lnSpc>
              <a:spcBef>
                <a:spcPts val="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Electricity generation.</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2"/>
          <p:cNvSpPr txBox="1">
            <a:spLocks noGrp="1"/>
          </p:cNvSpPr>
          <p:nvPr>
            <p:ph type="title"/>
          </p:nvPr>
        </p:nvSpPr>
        <p:spPr>
          <a:xfrm>
            <a:off x="444500" y="754389"/>
            <a:ext cx="7504430"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Sources of Water: (Water sheds)</a:t>
            </a:r>
            <a:endParaRPr sz="4000" b="1">
              <a:latin typeface="Times New Roman"/>
              <a:ea typeface="Times New Roman"/>
              <a:cs typeface="Times New Roman"/>
              <a:sym typeface="Times New Roman"/>
            </a:endParaRPr>
          </a:p>
        </p:txBody>
      </p:sp>
      <p:sp>
        <p:nvSpPr>
          <p:cNvPr id="212" name="Google Shape;212;p32"/>
          <p:cNvSpPr txBox="1"/>
          <p:nvPr/>
        </p:nvSpPr>
        <p:spPr>
          <a:xfrm>
            <a:off x="4078985" y="1535633"/>
            <a:ext cx="757555" cy="398186"/>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500" b="1">
                <a:solidFill>
                  <a:schemeClr val="dk1"/>
                </a:solidFill>
                <a:latin typeface="Times New Roman"/>
                <a:ea typeface="Times New Roman"/>
                <a:cs typeface="Times New Roman"/>
                <a:sym typeface="Times New Roman"/>
              </a:rPr>
              <a:t>Rain</a:t>
            </a:r>
            <a:endParaRPr sz="2500">
              <a:solidFill>
                <a:schemeClr val="dk1"/>
              </a:solidFill>
              <a:latin typeface="Times New Roman"/>
              <a:ea typeface="Times New Roman"/>
              <a:cs typeface="Times New Roman"/>
              <a:sym typeface="Times New Roman"/>
            </a:endParaRPr>
          </a:p>
        </p:txBody>
      </p:sp>
      <p:sp>
        <p:nvSpPr>
          <p:cNvPr id="213" name="Google Shape;213;p32"/>
          <p:cNvSpPr/>
          <p:nvPr/>
        </p:nvSpPr>
        <p:spPr>
          <a:xfrm>
            <a:off x="1753361" y="2210561"/>
            <a:ext cx="152400" cy="304800"/>
          </a:xfrm>
          <a:custGeom>
            <a:avLst/>
            <a:gdLst/>
            <a:ahLst/>
            <a:cxnLst/>
            <a:rect l="l" t="t" r="r" b="b"/>
            <a:pathLst>
              <a:path w="152400" h="304800" extrusionOk="0">
                <a:moveTo>
                  <a:pt x="152400" y="228600"/>
                </a:moveTo>
                <a:lnTo>
                  <a:pt x="0" y="228600"/>
                </a:lnTo>
                <a:lnTo>
                  <a:pt x="76200" y="304800"/>
                </a:lnTo>
                <a:lnTo>
                  <a:pt x="152400" y="228600"/>
                </a:lnTo>
                <a:close/>
              </a:path>
              <a:path w="152400" h="304800" extrusionOk="0">
                <a:moveTo>
                  <a:pt x="114300" y="0"/>
                </a:moveTo>
                <a:lnTo>
                  <a:pt x="38100" y="0"/>
                </a:lnTo>
                <a:lnTo>
                  <a:pt x="38100" y="228600"/>
                </a:lnTo>
                <a:lnTo>
                  <a:pt x="114300" y="228600"/>
                </a:lnTo>
                <a:lnTo>
                  <a:pt x="114300" y="0"/>
                </a:lnTo>
                <a:close/>
              </a:path>
            </a:pathLst>
          </a:custGeom>
          <a:solidFill>
            <a:srgbClr val="0E6EC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32"/>
          <p:cNvSpPr/>
          <p:nvPr/>
        </p:nvSpPr>
        <p:spPr>
          <a:xfrm>
            <a:off x="1753361" y="2210561"/>
            <a:ext cx="152400" cy="304800"/>
          </a:xfrm>
          <a:custGeom>
            <a:avLst/>
            <a:gdLst/>
            <a:ahLst/>
            <a:cxnLst/>
            <a:rect l="l" t="t" r="r" b="b"/>
            <a:pathLst>
              <a:path w="152400" h="304800" extrusionOk="0">
                <a:moveTo>
                  <a:pt x="0" y="228600"/>
                </a:moveTo>
                <a:lnTo>
                  <a:pt x="38100" y="228600"/>
                </a:lnTo>
                <a:lnTo>
                  <a:pt x="38100" y="0"/>
                </a:lnTo>
                <a:lnTo>
                  <a:pt x="114300" y="0"/>
                </a:lnTo>
                <a:lnTo>
                  <a:pt x="114300" y="228600"/>
                </a:lnTo>
                <a:lnTo>
                  <a:pt x="152400" y="228600"/>
                </a:lnTo>
                <a:lnTo>
                  <a:pt x="76200" y="304800"/>
                </a:lnTo>
                <a:lnTo>
                  <a:pt x="0" y="2286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5" name="Google Shape;215;p32"/>
          <p:cNvSpPr/>
          <p:nvPr/>
        </p:nvSpPr>
        <p:spPr>
          <a:xfrm>
            <a:off x="4648961" y="2210561"/>
            <a:ext cx="152400" cy="304800"/>
          </a:xfrm>
          <a:custGeom>
            <a:avLst/>
            <a:gdLst/>
            <a:ahLst/>
            <a:cxnLst/>
            <a:rect l="l" t="t" r="r" b="b"/>
            <a:pathLst>
              <a:path w="152400" h="304800" extrusionOk="0">
                <a:moveTo>
                  <a:pt x="152400" y="228600"/>
                </a:moveTo>
                <a:lnTo>
                  <a:pt x="0" y="228600"/>
                </a:lnTo>
                <a:lnTo>
                  <a:pt x="76200" y="304800"/>
                </a:lnTo>
                <a:lnTo>
                  <a:pt x="152400" y="228600"/>
                </a:lnTo>
                <a:close/>
              </a:path>
              <a:path w="152400" h="304800" extrusionOk="0">
                <a:moveTo>
                  <a:pt x="114300" y="0"/>
                </a:moveTo>
                <a:lnTo>
                  <a:pt x="38100" y="0"/>
                </a:lnTo>
                <a:lnTo>
                  <a:pt x="38100" y="228600"/>
                </a:lnTo>
                <a:lnTo>
                  <a:pt x="114300" y="228600"/>
                </a:lnTo>
                <a:lnTo>
                  <a:pt x="114300" y="0"/>
                </a:lnTo>
                <a:close/>
              </a:path>
            </a:pathLst>
          </a:custGeom>
          <a:solidFill>
            <a:srgbClr val="0E6EC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6" name="Google Shape;216;p32"/>
          <p:cNvSpPr/>
          <p:nvPr/>
        </p:nvSpPr>
        <p:spPr>
          <a:xfrm>
            <a:off x="4648961" y="2210561"/>
            <a:ext cx="152400" cy="304800"/>
          </a:xfrm>
          <a:custGeom>
            <a:avLst/>
            <a:gdLst/>
            <a:ahLst/>
            <a:cxnLst/>
            <a:rect l="l" t="t" r="r" b="b"/>
            <a:pathLst>
              <a:path w="152400" h="304800" extrusionOk="0">
                <a:moveTo>
                  <a:pt x="0" y="228600"/>
                </a:moveTo>
                <a:lnTo>
                  <a:pt x="38100" y="228600"/>
                </a:lnTo>
                <a:lnTo>
                  <a:pt x="38100" y="0"/>
                </a:lnTo>
                <a:lnTo>
                  <a:pt x="114300" y="0"/>
                </a:lnTo>
                <a:lnTo>
                  <a:pt x="114300" y="228600"/>
                </a:lnTo>
                <a:lnTo>
                  <a:pt x="152400" y="228600"/>
                </a:lnTo>
                <a:lnTo>
                  <a:pt x="76200" y="304800"/>
                </a:lnTo>
                <a:lnTo>
                  <a:pt x="0" y="2286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32"/>
          <p:cNvSpPr/>
          <p:nvPr/>
        </p:nvSpPr>
        <p:spPr>
          <a:xfrm>
            <a:off x="7468361" y="2210561"/>
            <a:ext cx="152400" cy="304800"/>
          </a:xfrm>
          <a:custGeom>
            <a:avLst/>
            <a:gdLst/>
            <a:ahLst/>
            <a:cxnLst/>
            <a:rect l="l" t="t" r="r" b="b"/>
            <a:pathLst>
              <a:path w="152400" h="304800" extrusionOk="0">
                <a:moveTo>
                  <a:pt x="152400" y="228600"/>
                </a:moveTo>
                <a:lnTo>
                  <a:pt x="0" y="228600"/>
                </a:lnTo>
                <a:lnTo>
                  <a:pt x="76200" y="304800"/>
                </a:lnTo>
                <a:lnTo>
                  <a:pt x="152400" y="228600"/>
                </a:lnTo>
                <a:close/>
              </a:path>
              <a:path w="152400" h="304800" extrusionOk="0">
                <a:moveTo>
                  <a:pt x="114300" y="0"/>
                </a:moveTo>
                <a:lnTo>
                  <a:pt x="38100" y="0"/>
                </a:lnTo>
                <a:lnTo>
                  <a:pt x="38100" y="228600"/>
                </a:lnTo>
                <a:lnTo>
                  <a:pt x="114300" y="228600"/>
                </a:lnTo>
                <a:lnTo>
                  <a:pt x="114300" y="0"/>
                </a:lnTo>
                <a:close/>
              </a:path>
            </a:pathLst>
          </a:custGeom>
          <a:solidFill>
            <a:srgbClr val="0E6EC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32"/>
          <p:cNvSpPr/>
          <p:nvPr/>
        </p:nvSpPr>
        <p:spPr>
          <a:xfrm>
            <a:off x="7468361" y="2210561"/>
            <a:ext cx="152400" cy="304800"/>
          </a:xfrm>
          <a:custGeom>
            <a:avLst/>
            <a:gdLst/>
            <a:ahLst/>
            <a:cxnLst/>
            <a:rect l="l" t="t" r="r" b="b"/>
            <a:pathLst>
              <a:path w="152400" h="304800" extrusionOk="0">
                <a:moveTo>
                  <a:pt x="0" y="228600"/>
                </a:moveTo>
                <a:lnTo>
                  <a:pt x="38100" y="228600"/>
                </a:lnTo>
                <a:lnTo>
                  <a:pt x="38100" y="0"/>
                </a:lnTo>
                <a:lnTo>
                  <a:pt x="114300" y="0"/>
                </a:lnTo>
                <a:lnTo>
                  <a:pt x="114300" y="228600"/>
                </a:lnTo>
                <a:lnTo>
                  <a:pt x="152400" y="228600"/>
                </a:lnTo>
                <a:lnTo>
                  <a:pt x="76200" y="304800"/>
                </a:lnTo>
                <a:lnTo>
                  <a:pt x="0" y="2286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32"/>
          <p:cNvSpPr/>
          <p:nvPr/>
        </p:nvSpPr>
        <p:spPr>
          <a:xfrm>
            <a:off x="1753361" y="2202942"/>
            <a:ext cx="5867400" cy="0"/>
          </a:xfrm>
          <a:custGeom>
            <a:avLst/>
            <a:gdLst/>
            <a:ahLst/>
            <a:cxnLst/>
            <a:rect l="l" t="t" r="r" b="b"/>
            <a:pathLst>
              <a:path w="5867400" h="120000" extrusionOk="0">
                <a:moveTo>
                  <a:pt x="0" y="0"/>
                </a:moveTo>
                <a:lnTo>
                  <a:pt x="5867399" y="0"/>
                </a:lnTo>
              </a:path>
            </a:pathLst>
          </a:custGeom>
          <a:noFill/>
          <a:ln w="45700" cap="flat" cmpd="sng">
            <a:solidFill>
              <a:srgbClr val="0E6EC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32"/>
          <p:cNvSpPr/>
          <p:nvPr/>
        </p:nvSpPr>
        <p:spPr>
          <a:xfrm>
            <a:off x="1753361" y="2180082"/>
            <a:ext cx="5867400" cy="45720"/>
          </a:xfrm>
          <a:custGeom>
            <a:avLst/>
            <a:gdLst/>
            <a:ahLst/>
            <a:cxnLst/>
            <a:rect l="l" t="t" r="r" b="b"/>
            <a:pathLst>
              <a:path w="5867400" h="45719" extrusionOk="0">
                <a:moveTo>
                  <a:pt x="0" y="45720"/>
                </a:moveTo>
                <a:lnTo>
                  <a:pt x="5867399" y="45720"/>
                </a:lnTo>
                <a:lnTo>
                  <a:pt x="5867399" y="0"/>
                </a:lnTo>
                <a:lnTo>
                  <a:pt x="0" y="0"/>
                </a:lnTo>
                <a:lnTo>
                  <a:pt x="0" y="4572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32"/>
          <p:cNvSpPr txBox="1"/>
          <p:nvPr/>
        </p:nvSpPr>
        <p:spPr>
          <a:xfrm>
            <a:off x="381000" y="2612262"/>
            <a:ext cx="2895600" cy="39690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500" b="1">
                <a:solidFill>
                  <a:schemeClr val="dk1"/>
                </a:solidFill>
                <a:latin typeface="Times New Roman"/>
                <a:ea typeface="Times New Roman"/>
                <a:cs typeface="Times New Roman"/>
                <a:sym typeface="Times New Roman"/>
              </a:rPr>
              <a:t>Underground water</a:t>
            </a:r>
            <a:endParaRPr sz="2500">
              <a:solidFill>
                <a:schemeClr val="dk1"/>
              </a:solidFill>
              <a:latin typeface="Times New Roman"/>
              <a:ea typeface="Times New Roman"/>
              <a:cs typeface="Times New Roman"/>
              <a:sym typeface="Times New Roman"/>
            </a:endParaRPr>
          </a:p>
        </p:txBody>
      </p:sp>
      <p:sp>
        <p:nvSpPr>
          <p:cNvPr id="222" name="Google Shape;222;p32"/>
          <p:cNvSpPr txBox="1"/>
          <p:nvPr/>
        </p:nvSpPr>
        <p:spPr>
          <a:xfrm>
            <a:off x="3582161" y="2612262"/>
            <a:ext cx="2362200" cy="39690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500" b="1">
                <a:solidFill>
                  <a:schemeClr val="dk1"/>
                </a:solidFill>
                <a:latin typeface="Times New Roman"/>
                <a:ea typeface="Times New Roman"/>
                <a:cs typeface="Times New Roman"/>
                <a:sym typeface="Times New Roman"/>
              </a:rPr>
              <a:t>Surface water</a:t>
            </a:r>
            <a:endParaRPr sz="2500">
              <a:solidFill>
                <a:schemeClr val="dk1"/>
              </a:solidFill>
              <a:latin typeface="Times New Roman"/>
              <a:ea typeface="Times New Roman"/>
              <a:cs typeface="Times New Roman"/>
              <a:sym typeface="Times New Roman"/>
            </a:endParaRPr>
          </a:p>
        </p:txBody>
      </p:sp>
      <p:sp>
        <p:nvSpPr>
          <p:cNvPr id="223" name="Google Shape;223;p32"/>
          <p:cNvSpPr txBox="1"/>
          <p:nvPr/>
        </p:nvSpPr>
        <p:spPr>
          <a:xfrm>
            <a:off x="5944361" y="2536062"/>
            <a:ext cx="2690368" cy="39690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500" b="1">
                <a:solidFill>
                  <a:schemeClr val="dk1"/>
                </a:solidFill>
                <a:latin typeface="Times New Roman"/>
                <a:ea typeface="Times New Roman"/>
                <a:cs typeface="Times New Roman"/>
                <a:sym typeface="Times New Roman"/>
              </a:rPr>
              <a:t>Evaporation water</a:t>
            </a:r>
            <a:endParaRPr sz="2500">
              <a:solidFill>
                <a:schemeClr val="dk1"/>
              </a:solidFill>
              <a:latin typeface="Times New Roman"/>
              <a:ea typeface="Times New Roman"/>
              <a:cs typeface="Times New Roman"/>
              <a:sym typeface="Times New Roman"/>
            </a:endParaRPr>
          </a:p>
        </p:txBody>
      </p:sp>
      <p:sp>
        <p:nvSpPr>
          <p:cNvPr id="224" name="Google Shape;224;p32"/>
          <p:cNvSpPr/>
          <p:nvPr/>
        </p:nvSpPr>
        <p:spPr>
          <a:xfrm>
            <a:off x="1547622" y="2972561"/>
            <a:ext cx="0" cy="152400"/>
          </a:xfrm>
          <a:custGeom>
            <a:avLst/>
            <a:gdLst/>
            <a:ahLst/>
            <a:cxnLst/>
            <a:rect l="l" t="t" r="r" b="b"/>
            <a:pathLst>
              <a:path w="120000" h="152400" extrusionOk="0">
                <a:moveTo>
                  <a:pt x="0" y="0"/>
                </a:moveTo>
                <a:lnTo>
                  <a:pt x="0" y="152400"/>
                </a:lnTo>
              </a:path>
            </a:pathLst>
          </a:custGeom>
          <a:noFill/>
          <a:ln w="45700" cap="flat" cmpd="sng">
            <a:solidFill>
              <a:srgbClr val="0E6EC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5" name="Google Shape;225;p32"/>
          <p:cNvSpPr/>
          <p:nvPr/>
        </p:nvSpPr>
        <p:spPr>
          <a:xfrm>
            <a:off x="1524761" y="2972561"/>
            <a:ext cx="45720" cy="152400"/>
          </a:xfrm>
          <a:custGeom>
            <a:avLst/>
            <a:gdLst/>
            <a:ahLst/>
            <a:cxnLst/>
            <a:rect l="l" t="t" r="r" b="b"/>
            <a:pathLst>
              <a:path w="45719" h="152400" extrusionOk="0">
                <a:moveTo>
                  <a:pt x="0" y="152400"/>
                </a:moveTo>
                <a:lnTo>
                  <a:pt x="45719" y="152400"/>
                </a:lnTo>
                <a:lnTo>
                  <a:pt x="45719" y="0"/>
                </a:lnTo>
                <a:lnTo>
                  <a:pt x="0" y="0"/>
                </a:lnTo>
                <a:lnTo>
                  <a:pt x="0" y="1524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6" name="Google Shape;226;p32"/>
          <p:cNvSpPr/>
          <p:nvPr/>
        </p:nvSpPr>
        <p:spPr>
          <a:xfrm>
            <a:off x="991361" y="3163061"/>
            <a:ext cx="1828800" cy="0"/>
          </a:xfrm>
          <a:custGeom>
            <a:avLst/>
            <a:gdLst/>
            <a:ahLst/>
            <a:cxnLst/>
            <a:rect l="l" t="t" r="r" b="b"/>
            <a:pathLst>
              <a:path w="1828800" h="120000" extrusionOk="0">
                <a:moveTo>
                  <a:pt x="0" y="0"/>
                </a:moveTo>
                <a:lnTo>
                  <a:pt x="1828800" y="0"/>
                </a:lnTo>
              </a:path>
            </a:pathLst>
          </a:custGeom>
          <a:noFill/>
          <a:ln w="76200" cap="flat" cmpd="sng">
            <a:solidFill>
              <a:srgbClr val="0E6EC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7" name="Google Shape;227;p32"/>
          <p:cNvSpPr/>
          <p:nvPr/>
        </p:nvSpPr>
        <p:spPr>
          <a:xfrm>
            <a:off x="991361" y="3124961"/>
            <a:ext cx="1828800" cy="76200"/>
          </a:xfrm>
          <a:custGeom>
            <a:avLst/>
            <a:gdLst/>
            <a:ahLst/>
            <a:cxnLst/>
            <a:rect l="l" t="t" r="r" b="b"/>
            <a:pathLst>
              <a:path w="1828800" h="76200" extrusionOk="0">
                <a:moveTo>
                  <a:pt x="0" y="76200"/>
                </a:moveTo>
                <a:lnTo>
                  <a:pt x="1828800" y="76200"/>
                </a:lnTo>
                <a:lnTo>
                  <a:pt x="1828800" y="0"/>
                </a:lnTo>
                <a:lnTo>
                  <a:pt x="0" y="0"/>
                </a:lnTo>
                <a:lnTo>
                  <a:pt x="0" y="762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32"/>
          <p:cNvSpPr/>
          <p:nvPr/>
        </p:nvSpPr>
        <p:spPr>
          <a:xfrm>
            <a:off x="978408" y="3188207"/>
            <a:ext cx="102107" cy="17830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9" name="Google Shape;229;p32"/>
          <p:cNvSpPr/>
          <p:nvPr/>
        </p:nvSpPr>
        <p:spPr>
          <a:xfrm>
            <a:off x="2731007" y="3188207"/>
            <a:ext cx="102108" cy="17830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0" name="Google Shape;230;p32"/>
          <p:cNvSpPr txBox="1"/>
          <p:nvPr/>
        </p:nvSpPr>
        <p:spPr>
          <a:xfrm>
            <a:off x="2546350" y="3373958"/>
            <a:ext cx="485140" cy="228909"/>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Wells</a:t>
            </a:r>
            <a:endParaRPr sz="1400">
              <a:solidFill>
                <a:schemeClr val="dk1"/>
              </a:solidFill>
              <a:latin typeface="Times New Roman"/>
              <a:ea typeface="Times New Roman"/>
              <a:cs typeface="Times New Roman"/>
              <a:sym typeface="Times New Roman"/>
            </a:endParaRPr>
          </a:p>
        </p:txBody>
      </p:sp>
      <p:sp>
        <p:nvSpPr>
          <p:cNvPr id="231" name="Google Shape;231;p32"/>
          <p:cNvSpPr txBox="1"/>
          <p:nvPr/>
        </p:nvSpPr>
        <p:spPr>
          <a:xfrm>
            <a:off x="535940" y="3282779"/>
            <a:ext cx="1508760" cy="1276350"/>
          </a:xfrm>
          <a:prstGeom prst="rect">
            <a:avLst/>
          </a:prstGeom>
          <a:noFill/>
          <a:ln>
            <a:noFill/>
          </a:ln>
        </p:spPr>
        <p:txBody>
          <a:bodyPr spcFirstLastPara="1" wrap="square" lIns="0" tIns="104775" rIns="0" bIns="0" anchor="t" anchorCtr="0">
            <a:spAutoFit/>
          </a:bodyPr>
          <a:lstStyle/>
          <a:p>
            <a:pPr marL="165100" marR="0" lvl="0" indent="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Stream</a:t>
            </a:r>
            <a:endParaRPr sz="1400">
              <a:solidFill>
                <a:schemeClr val="dk1"/>
              </a:solidFill>
              <a:latin typeface="Times New Roman"/>
              <a:ea typeface="Times New Roman"/>
              <a:cs typeface="Times New Roman"/>
              <a:sym typeface="Times New Roman"/>
            </a:endParaRPr>
          </a:p>
          <a:p>
            <a:pPr marL="241300" marR="549275" lvl="0" indent="-228600" algn="l" rtl="0">
              <a:lnSpc>
                <a:spcPct val="100000"/>
              </a:lnSpc>
              <a:spcBef>
                <a:spcPts val="720"/>
              </a:spcBef>
              <a:spcAft>
                <a:spcPts val="0"/>
              </a:spcAft>
              <a:buClr>
                <a:schemeClr val="dk1"/>
              </a:buClr>
              <a:buSzPts val="1400"/>
              <a:buFont typeface="Times New Roman"/>
              <a:buAutoNum type="arabicPeriod"/>
            </a:pPr>
            <a:r>
              <a:rPr lang="en-US" sz="1400" b="1">
                <a:solidFill>
                  <a:schemeClr val="dk1"/>
                </a:solidFill>
                <a:latin typeface="Times New Roman"/>
                <a:ea typeface="Times New Roman"/>
                <a:cs typeface="Times New Roman"/>
                <a:sym typeface="Times New Roman"/>
              </a:rPr>
              <a:t>Artesian  Stream</a:t>
            </a:r>
            <a:endParaRPr sz="1400">
              <a:solidFill>
                <a:schemeClr val="dk1"/>
              </a:solidFill>
              <a:latin typeface="Times New Roman"/>
              <a:ea typeface="Times New Roman"/>
              <a:cs typeface="Times New Roman"/>
              <a:sym typeface="Times New Roman"/>
            </a:endParaRPr>
          </a:p>
          <a:p>
            <a:pPr marL="241300" marR="0" lvl="0" indent="-228600" algn="l" rtl="0">
              <a:lnSpc>
                <a:spcPct val="100000"/>
              </a:lnSpc>
              <a:spcBef>
                <a:spcPts val="0"/>
              </a:spcBef>
              <a:spcAft>
                <a:spcPts val="0"/>
              </a:spcAft>
              <a:buClr>
                <a:schemeClr val="dk1"/>
              </a:buClr>
              <a:buSzPts val="1400"/>
              <a:buFont typeface="Times New Roman"/>
              <a:buAutoNum type="arabicPeriod"/>
            </a:pPr>
            <a:r>
              <a:rPr lang="en-US" sz="1400" b="1">
                <a:solidFill>
                  <a:schemeClr val="dk1"/>
                </a:solidFill>
                <a:latin typeface="Times New Roman"/>
                <a:ea typeface="Times New Roman"/>
                <a:cs typeface="Times New Roman"/>
                <a:sym typeface="Times New Roman"/>
              </a:rPr>
              <a:t>Gravity Stream</a:t>
            </a:r>
            <a:endParaRPr sz="1400">
              <a:solidFill>
                <a:schemeClr val="dk1"/>
              </a:solidFill>
              <a:latin typeface="Times New Roman"/>
              <a:ea typeface="Times New Roman"/>
              <a:cs typeface="Times New Roman"/>
              <a:sym typeface="Times New Roman"/>
            </a:endParaRPr>
          </a:p>
          <a:p>
            <a:pPr marL="241300" marR="0" lvl="0" indent="-228600" algn="l" rtl="0">
              <a:lnSpc>
                <a:spcPct val="100000"/>
              </a:lnSpc>
              <a:spcBef>
                <a:spcPts val="0"/>
              </a:spcBef>
              <a:spcAft>
                <a:spcPts val="0"/>
              </a:spcAft>
              <a:buClr>
                <a:schemeClr val="dk1"/>
              </a:buClr>
              <a:buSzPts val="1400"/>
              <a:buFont typeface="Times New Roman"/>
              <a:buAutoNum type="arabicPeriod"/>
            </a:pPr>
            <a:r>
              <a:rPr lang="en-US" sz="1400" b="1">
                <a:solidFill>
                  <a:schemeClr val="dk1"/>
                </a:solidFill>
                <a:latin typeface="Times New Roman"/>
                <a:ea typeface="Times New Roman"/>
                <a:cs typeface="Times New Roman"/>
                <a:sym typeface="Times New Roman"/>
              </a:rPr>
              <a:t>Surface Stream</a:t>
            </a:r>
            <a:endParaRPr sz="1400">
              <a:solidFill>
                <a:schemeClr val="dk1"/>
              </a:solidFill>
              <a:latin typeface="Times New Roman"/>
              <a:ea typeface="Times New Roman"/>
              <a:cs typeface="Times New Roman"/>
              <a:sym typeface="Times New Roman"/>
            </a:endParaRPr>
          </a:p>
        </p:txBody>
      </p:sp>
      <p:sp>
        <p:nvSpPr>
          <p:cNvPr id="232" name="Google Shape;232;p32"/>
          <p:cNvSpPr/>
          <p:nvPr/>
        </p:nvSpPr>
        <p:spPr>
          <a:xfrm>
            <a:off x="978408" y="3569208"/>
            <a:ext cx="102107" cy="17830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32"/>
          <p:cNvSpPr/>
          <p:nvPr/>
        </p:nvSpPr>
        <p:spPr>
          <a:xfrm>
            <a:off x="2782061" y="3658361"/>
            <a:ext cx="0" cy="990600"/>
          </a:xfrm>
          <a:custGeom>
            <a:avLst/>
            <a:gdLst/>
            <a:ahLst/>
            <a:cxnLst/>
            <a:rect l="l" t="t" r="r" b="b"/>
            <a:pathLst>
              <a:path w="120000" h="990600" extrusionOk="0">
                <a:moveTo>
                  <a:pt x="0" y="0"/>
                </a:moveTo>
                <a:lnTo>
                  <a:pt x="0" y="990600"/>
                </a:lnTo>
              </a:path>
            </a:pathLst>
          </a:custGeom>
          <a:noFill/>
          <a:ln w="76200" cap="flat" cmpd="sng">
            <a:solidFill>
              <a:srgbClr val="0E6EC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32"/>
          <p:cNvSpPr/>
          <p:nvPr/>
        </p:nvSpPr>
        <p:spPr>
          <a:xfrm>
            <a:off x="2743961" y="3658361"/>
            <a:ext cx="76200" cy="990600"/>
          </a:xfrm>
          <a:custGeom>
            <a:avLst/>
            <a:gdLst/>
            <a:ahLst/>
            <a:cxnLst/>
            <a:rect l="l" t="t" r="r" b="b"/>
            <a:pathLst>
              <a:path w="76200" h="990600" extrusionOk="0">
                <a:moveTo>
                  <a:pt x="0" y="990600"/>
                </a:moveTo>
                <a:lnTo>
                  <a:pt x="76200" y="990600"/>
                </a:lnTo>
                <a:lnTo>
                  <a:pt x="76200" y="0"/>
                </a:lnTo>
                <a:lnTo>
                  <a:pt x="0" y="0"/>
                </a:lnTo>
                <a:lnTo>
                  <a:pt x="0" y="9906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32"/>
          <p:cNvSpPr/>
          <p:nvPr/>
        </p:nvSpPr>
        <p:spPr>
          <a:xfrm>
            <a:off x="991361" y="4687061"/>
            <a:ext cx="3657600" cy="0"/>
          </a:xfrm>
          <a:custGeom>
            <a:avLst/>
            <a:gdLst/>
            <a:ahLst/>
            <a:cxnLst/>
            <a:rect l="l" t="t" r="r" b="b"/>
            <a:pathLst>
              <a:path w="3657600" h="120000" extrusionOk="0">
                <a:moveTo>
                  <a:pt x="0" y="0"/>
                </a:moveTo>
                <a:lnTo>
                  <a:pt x="3657600" y="0"/>
                </a:lnTo>
              </a:path>
            </a:pathLst>
          </a:custGeom>
          <a:noFill/>
          <a:ln w="76200" cap="flat" cmpd="sng">
            <a:solidFill>
              <a:srgbClr val="0E6EC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32"/>
          <p:cNvSpPr/>
          <p:nvPr/>
        </p:nvSpPr>
        <p:spPr>
          <a:xfrm>
            <a:off x="991361" y="4648961"/>
            <a:ext cx="3657600" cy="76200"/>
          </a:xfrm>
          <a:custGeom>
            <a:avLst/>
            <a:gdLst/>
            <a:ahLst/>
            <a:cxnLst/>
            <a:rect l="l" t="t" r="r" b="b"/>
            <a:pathLst>
              <a:path w="3657600" h="76200" extrusionOk="0">
                <a:moveTo>
                  <a:pt x="0" y="76200"/>
                </a:moveTo>
                <a:lnTo>
                  <a:pt x="3657600" y="76200"/>
                </a:lnTo>
                <a:lnTo>
                  <a:pt x="3657600" y="0"/>
                </a:lnTo>
                <a:lnTo>
                  <a:pt x="0" y="0"/>
                </a:lnTo>
                <a:lnTo>
                  <a:pt x="0" y="762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32"/>
          <p:cNvSpPr/>
          <p:nvPr/>
        </p:nvSpPr>
        <p:spPr>
          <a:xfrm>
            <a:off x="991361" y="47251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32"/>
          <p:cNvSpPr/>
          <p:nvPr/>
        </p:nvSpPr>
        <p:spPr>
          <a:xfrm>
            <a:off x="991361" y="47251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9" name="Google Shape;239;p32"/>
          <p:cNvSpPr/>
          <p:nvPr/>
        </p:nvSpPr>
        <p:spPr>
          <a:xfrm>
            <a:off x="1905761" y="47251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32"/>
          <p:cNvSpPr/>
          <p:nvPr/>
        </p:nvSpPr>
        <p:spPr>
          <a:xfrm>
            <a:off x="1905761" y="47251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1" name="Google Shape;241;p32"/>
          <p:cNvSpPr/>
          <p:nvPr/>
        </p:nvSpPr>
        <p:spPr>
          <a:xfrm>
            <a:off x="2743961" y="47251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32"/>
          <p:cNvSpPr/>
          <p:nvPr/>
        </p:nvSpPr>
        <p:spPr>
          <a:xfrm>
            <a:off x="2743961" y="47251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3" name="Google Shape;243;p32"/>
          <p:cNvSpPr/>
          <p:nvPr/>
        </p:nvSpPr>
        <p:spPr>
          <a:xfrm>
            <a:off x="3505961" y="47251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4" name="Google Shape;244;p32"/>
          <p:cNvSpPr/>
          <p:nvPr/>
        </p:nvSpPr>
        <p:spPr>
          <a:xfrm>
            <a:off x="3505961" y="47251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32"/>
          <p:cNvSpPr/>
          <p:nvPr/>
        </p:nvSpPr>
        <p:spPr>
          <a:xfrm>
            <a:off x="4572761" y="47251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32"/>
          <p:cNvSpPr/>
          <p:nvPr/>
        </p:nvSpPr>
        <p:spPr>
          <a:xfrm>
            <a:off x="4572761" y="47251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32"/>
          <p:cNvSpPr txBox="1"/>
          <p:nvPr/>
        </p:nvSpPr>
        <p:spPr>
          <a:xfrm>
            <a:off x="526491" y="5051297"/>
            <a:ext cx="871855" cy="228268"/>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Dug Wells</a:t>
            </a:r>
            <a:endParaRPr sz="1400">
              <a:solidFill>
                <a:schemeClr val="dk1"/>
              </a:solidFill>
              <a:latin typeface="Times New Roman"/>
              <a:ea typeface="Times New Roman"/>
              <a:cs typeface="Times New Roman"/>
              <a:sym typeface="Times New Roman"/>
            </a:endParaRPr>
          </a:p>
        </p:txBody>
      </p:sp>
      <p:sp>
        <p:nvSpPr>
          <p:cNvPr id="248" name="Google Shape;248;p32"/>
          <p:cNvSpPr txBox="1"/>
          <p:nvPr/>
        </p:nvSpPr>
        <p:spPr>
          <a:xfrm>
            <a:off x="1679194" y="5051297"/>
            <a:ext cx="687070" cy="452755"/>
          </a:xfrm>
          <a:prstGeom prst="rect">
            <a:avLst/>
          </a:prstGeom>
          <a:noFill/>
          <a:ln>
            <a:noFill/>
          </a:ln>
        </p:spPr>
        <p:txBody>
          <a:bodyPr spcFirstLastPara="1" wrap="square" lIns="0" tIns="12700" rIns="0" bIns="0" anchor="t" anchorCtr="0">
            <a:spAutoFit/>
          </a:bodyPr>
          <a:lstStyle/>
          <a:p>
            <a:pPr marL="139065" marR="5080" lvl="0" indent="-12700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Shallow  Wells</a:t>
            </a:r>
            <a:endParaRPr sz="1400">
              <a:solidFill>
                <a:schemeClr val="dk1"/>
              </a:solidFill>
              <a:latin typeface="Times New Roman"/>
              <a:ea typeface="Times New Roman"/>
              <a:cs typeface="Times New Roman"/>
              <a:sym typeface="Times New Roman"/>
            </a:endParaRPr>
          </a:p>
        </p:txBody>
      </p:sp>
      <p:sp>
        <p:nvSpPr>
          <p:cNvPr id="249" name="Google Shape;249;p32"/>
          <p:cNvSpPr txBox="1"/>
          <p:nvPr/>
        </p:nvSpPr>
        <p:spPr>
          <a:xfrm>
            <a:off x="2517394" y="5061330"/>
            <a:ext cx="525145" cy="452755"/>
          </a:xfrm>
          <a:prstGeom prst="rect">
            <a:avLst/>
          </a:prstGeom>
          <a:noFill/>
          <a:ln>
            <a:noFill/>
          </a:ln>
        </p:spPr>
        <p:txBody>
          <a:bodyPr spcFirstLastPara="1" wrap="square" lIns="0" tIns="12700" rIns="0" bIns="0" anchor="t" anchorCtr="0">
            <a:spAutoFit/>
          </a:bodyPr>
          <a:lstStyle/>
          <a:p>
            <a:pPr marL="52705" marR="5080" lvl="0" indent="-40005"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Deep  Wells</a:t>
            </a:r>
            <a:endParaRPr sz="1400">
              <a:solidFill>
                <a:schemeClr val="dk1"/>
              </a:solidFill>
              <a:latin typeface="Times New Roman"/>
              <a:ea typeface="Times New Roman"/>
              <a:cs typeface="Times New Roman"/>
              <a:sym typeface="Times New Roman"/>
            </a:endParaRPr>
          </a:p>
        </p:txBody>
      </p:sp>
      <p:sp>
        <p:nvSpPr>
          <p:cNvPr id="250" name="Google Shape;250;p32"/>
          <p:cNvSpPr txBox="1"/>
          <p:nvPr/>
        </p:nvSpPr>
        <p:spPr>
          <a:xfrm>
            <a:off x="3355975" y="5051297"/>
            <a:ext cx="524510" cy="452755"/>
          </a:xfrm>
          <a:prstGeom prst="rect">
            <a:avLst/>
          </a:prstGeom>
          <a:noFill/>
          <a:ln>
            <a:noFill/>
          </a:ln>
        </p:spPr>
        <p:txBody>
          <a:bodyPr spcFirstLastPara="1" wrap="square" lIns="0" tIns="12700" rIns="0" bIns="0" anchor="t" anchorCtr="0">
            <a:spAutoFit/>
          </a:bodyPr>
          <a:lstStyle/>
          <a:p>
            <a:pPr marL="52069" marR="5080" lvl="0" indent="-40005"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Tube  Wells</a:t>
            </a:r>
            <a:endParaRPr sz="1400">
              <a:solidFill>
                <a:schemeClr val="dk1"/>
              </a:solidFill>
              <a:latin typeface="Times New Roman"/>
              <a:ea typeface="Times New Roman"/>
              <a:cs typeface="Times New Roman"/>
              <a:sym typeface="Times New Roman"/>
            </a:endParaRPr>
          </a:p>
        </p:txBody>
      </p:sp>
      <p:sp>
        <p:nvSpPr>
          <p:cNvPr id="251" name="Google Shape;251;p32"/>
          <p:cNvSpPr txBox="1"/>
          <p:nvPr/>
        </p:nvSpPr>
        <p:spPr>
          <a:xfrm>
            <a:off x="4194175" y="5036058"/>
            <a:ext cx="735330" cy="452755"/>
          </a:xfrm>
          <a:prstGeom prst="rect">
            <a:avLst/>
          </a:prstGeom>
          <a:noFill/>
          <a:ln>
            <a:noFill/>
          </a:ln>
        </p:spPr>
        <p:txBody>
          <a:bodyPr spcFirstLastPara="1" wrap="square" lIns="0" tIns="12700" rIns="0" bIns="0" anchor="t" anchorCtr="0">
            <a:spAutoFit/>
          </a:bodyPr>
          <a:lstStyle/>
          <a:p>
            <a:pPr marL="139065" marR="5080" lvl="0" indent="-12700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Artesian  Wells</a:t>
            </a:r>
            <a:endParaRPr sz="1400">
              <a:solidFill>
                <a:schemeClr val="dk1"/>
              </a:solidFill>
              <a:latin typeface="Times New Roman"/>
              <a:ea typeface="Times New Roman"/>
              <a:cs typeface="Times New Roman"/>
              <a:sym typeface="Times New Roman"/>
            </a:endParaRPr>
          </a:p>
        </p:txBody>
      </p:sp>
      <p:sp>
        <p:nvSpPr>
          <p:cNvPr id="252" name="Google Shape;252;p32"/>
          <p:cNvSpPr/>
          <p:nvPr/>
        </p:nvSpPr>
        <p:spPr>
          <a:xfrm>
            <a:off x="4763261" y="2896361"/>
            <a:ext cx="0" cy="304800"/>
          </a:xfrm>
          <a:custGeom>
            <a:avLst/>
            <a:gdLst/>
            <a:ahLst/>
            <a:cxnLst/>
            <a:rect l="l" t="t" r="r" b="b"/>
            <a:pathLst>
              <a:path w="120000" h="304800" extrusionOk="0">
                <a:moveTo>
                  <a:pt x="0" y="0"/>
                </a:moveTo>
                <a:lnTo>
                  <a:pt x="0" y="304800"/>
                </a:lnTo>
              </a:path>
            </a:pathLst>
          </a:custGeom>
          <a:noFill/>
          <a:ln w="76200" cap="flat" cmpd="sng">
            <a:solidFill>
              <a:srgbClr val="0E6EC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p32"/>
          <p:cNvSpPr/>
          <p:nvPr/>
        </p:nvSpPr>
        <p:spPr>
          <a:xfrm>
            <a:off x="4725161" y="2896361"/>
            <a:ext cx="76200" cy="381000"/>
          </a:xfrm>
          <a:custGeom>
            <a:avLst/>
            <a:gdLst/>
            <a:ahLst/>
            <a:cxnLst/>
            <a:rect l="l" t="t" r="r" b="b"/>
            <a:pathLst>
              <a:path w="76200" h="381000" extrusionOk="0">
                <a:moveTo>
                  <a:pt x="0" y="381000"/>
                </a:moveTo>
                <a:lnTo>
                  <a:pt x="76200" y="381000"/>
                </a:lnTo>
                <a:lnTo>
                  <a:pt x="76200" y="0"/>
                </a:lnTo>
                <a:lnTo>
                  <a:pt x="0" y="0"/>
                </a:lnTo>
                <a:lnTo>
                  <a:pt x="0" y="3810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4" name="Google Shape;254;p32"/>
          <p:cNvSpPr/>
          <p:nvPr/>
        </p:nvSpPr>
        <p:spPr>
          <a:xfrm>
            <a:off x="4115561" y="3239261"/>
            <a:ext cx="3657600" cy="0"/>
          </a:xfrm>
          <a:custGeom>
            <a:avLst/>
            <a:gdLst/>
            <a:ahLst/>
            <a:cxnLst/>
            <a:rect l="l" t="t" r="r" b="b"/>
            <a:pathLst>
              <a:path w="3657600" h="120000" extrusionOk="0">
                <a:moveTo>
                  <a:pt x="0" y="0"/>
                </a:moveTo>
                <a:lnTo>
                  <a:pt x="3657599" y="0"/>
                </a:lnTo>
              </a:path>
            </a:pathLst>
          </a:custGeom>
          <a:noFill/>
          <a:ln w="76200" cap="flat" cmpd="sng">
            <a:solidFill>
              <a:srgbClr val="0E6EC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5" name="Google Shape;255;p32"/>
          <p:cNvSpPr/>
          <p:nvPr/>
        </p:nvSpPr>
        <p:spPr>
          <a:xfrm>
            <a:off x="4115561" y="3201161"/>
            <a:ext cx="3657600" cy="76200"/>
          </a:xfrm>
          <a:custGeom>
            <a:avLst/>
            <a:gdLst/>
            <a:ahLst/>
            <a:cxnLst/>
            <a:rect l="l" t="t" r="r" b="b"/>
            <a:pathLst>
              <a:path w="3657600" h="76200" extrusionOk="0">
                <a:moveTo>
                  <a:pt x="0" y="76200"/>
                </a:moveTo>
                <a:lnTo>
                  <a:pt x="3657599" y="76200"/>
                </a:lnTo>
                <a:lnTo>
                  <a:pt x="3657599" y="0"/>
                </a:lnTo>
                <a:lnTo>
                  <a:pt x="0" y="0"/>
                </a:lnTo>
                <a:lnTo>
                  <a:pt x="0" y="762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p32"/>
          <p:cNvSpPr/>
          <p:nvPr/>
        </p:nvSpPr>
        <p:spPr>
          <a:xfrm>
            <a:off x="4115561" y="32773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7" name="Google Shape;257;p32"/>
          <p:cNvSpPr/>
          <p:nvPr/>
        </p:nvSpPr>
        <p:spPr>
          <a:xfrm>
            <a:off x="4115561" y="32773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32"/>
          <p:cNvSpPr/>
          <p:nvPr/>
        </p:nvSpPr>
        <p:spPr>
          <a:xfrm>
            <a:off x="6706361" y="32773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32"/>
          <p:cNvSpPr/>
          <p:nvPr/>
        </p:nvSpPr>
        <p:spPr>
          <a:xfrm>
            <a:off x="6706361" y="32773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32"/>
          <p:cNvSpPr/>
          <p:nvPr/>
        </p:nvSpPr>
        <p:spPr>
          <a:xfrm>
            <a:off x="5791961" y="32773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1" name="Google Shape;261;p32"/>
          <p:cNvSpPr/>
          <p:nvPr/>
        </p:nvSpPr>
        <p:spPr>
          <a:xfrm>
            <a:off x="5791961" y="32773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p32"/>
          <p:cNvSpPr/>
          <p:nvPr/>
        </p:nvSpPr>
        <p:spPr>
          <a:xfrm>
            <a:off x="4953761" y="32773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3" name="Google Shape;263;p32"/>
          <p:cNvSpPr/>
          <p:nvPr/>
        </p:nvSpPr>
        <p:spPr>
          <a:xfrm>
            <a:off x="4953761" y="32773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4" name="Google Shape;264;p32"/>
          <p:cNvSpPr/>
          <p:nvPr/>
        </p:nvSpPr>
        <p:spPr>
          <a:xfrm>
            <a:off x="7696961" y="3277361"/>
            <a:ext cx="76200" cy="2286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5" name="Google Shape;265;p32"/>
          <p:cNvSpPr/>
          <p:nvPr/>
        </p:nvSpPr>
        <p:spPr>
          <a:xfrm>
            <a:off x="7696961" y="3277361"/>
            <a:ext cx="76200" cy="228600"/>
          </a:xfrm>
          <a:custGeom>
            <a:avLst/>
            <a:gdLst/>
            <a:ahLst/>
            <a:cxnLst/>
            <a:rect l="l" t="t" r="r" b="b"/>
            <a:pathLst>
              <a:path w="76200" h="228600" extrusionOk="0">
                <a:moveTo>
                  <a:pt x="0" y="190500"/>
                </a:moveTo>
                <a:lnTo>
                  <a:pt x="19050" y="190500"/>
                </a:lnTo>
                <a:lnTo>
                  <a:pt x="19050" y="0"/>
                </a:lnTo>
                <a:lnTo>
                  <a:pt x="57150" y="0"/>
                </a:lnTo>
                <a:lnTo>
                  <a:pt x="57150" y="190500"/>
                </a:lnTo>
                <a:lnTo>
                  <a:pt x="76200" y="190500"/>
                </a:lnTo>
                <a:lnTo>
                  <a:pt x="38100" y="228600"/>
                </a:lnTo>
                <a:lnTo>
                  <a:pt x="0" y="1905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266" name="Google Shape;266;p32"/>
          <p:cNvGraphicFramePr/>
          <p:nvPr/>
        </p:nvGraphicFramePr>
        <p:xfrm>
          <a:off x="3869054" y="3584019"/>
          <a:ext cx="4201800" cy="409258"/>
        </p:xfrm>
        <a:graphic>
          <a:graphicData uri="http://schemas.openxmlformats.org/drawingml/2006/table">
            <a:tbl>
              <a:tblPr firstRow="1" bandRow="1">
                <a:noFill/>
                <a:tableStyleId>{5FB317E1-32DA-4949-87C5-9547F919FA31}</a:tableStyleId>
              </a:tblPr>
              <a:tblGrid>
                <a:gridCol w="741675">
                  <a:extLst>
                    <a:ext uri="{9D8B030D-6E8A-4147-A177-3AD203B41FA5}">
                      <a16:colId xmlns:a16="http://schemas.microsoft.com/office/drawing/2014/main" val="20000"/>
                    </a:ext>
                  </a:extLst>
                </a:gridCol>
                <a:gridCol w="729625">
                  <a:extLst>
                    <a:ext uri="{9D8B030D-6E8A-4147-A177-3AD203B41FA5}">
                      <a16:colId xmlns:a16="http://schemas.microsoft.com/office/drawing/2014/main" val="20001"/>
                    </a:ext>
                  </a:extLst>
                </a:gridCol>
                <a:gridCol w="907425">
                  <a:extLst>
                    <a:ext uri="{9D8B030D-6E8A-4147-A177-3AD203B41FA5}">
                      <a16:colId xmlns:a16="http://schemas.microsoft.com/office/drawing/2014/main" val="20002"/>
                    </a:ext>
                  </a:extLst>
                </a:gridCol>
                <a:gridCol w="900425">
                  <a:extLst>
                    <a:ext uri="{9D8B030D-6E8A-4147-A177-3AD203B41FA5}">
                      <a16:colId xmlns:a16="http://schemas.microsoft.com/office/drawing/2014/main" val="20003"/>
                    </a:ext>
                  </a:extLst>
                </a:gridCol>
                <a:gridCol w="922650">
                  <a:extLst>
                    <a:ext uri="{9D8B030D-6E8A-4147-A177-3AD203B41FA5}">
                      <a16:colId xmlns:a16="http://schemas.microsoft.com/office/drawing/2014/main" val="20004"/>
                    </a:ext>
                  </a:extLst>
                </a:gridCol>
              </a:tblGrid>
              <a:tr h="195825">
                <a:tc>
                  <a:txBody>
                    <a:bodyPr/>
                    <a:lstStyle/>
                    <a:p>
                      <a:pPr marL="31750" marR="0" lvl="0" indent="0" algn="l" rtl="0">
                        <a:lnSpc>
                          <a:spcPct val="95357"/>
                        </a:lnSpc>
                        <a:spcBef>
                          <a:spcPts val="0"/>
                        </a:spcBef>
                        <a:spcAft>
                          <a:spcPts val="0"/>
                        </a:spcAft>
                        <a:buNone/>
                      </a:pPr>
                      <a:r>
                        <a:rPr lang="en-US" sz="1400" b="1" u="none" strike="noStrike" cap="none">
                          <a:latin typeface="Times New Roman"/>
                          <a:ea typeface="Times New Roman"/>
                          <a:cs typeface="Times New Roman"/>
                          <a:sym typeface="Times New Roman"/>
                        </a:rPr>
                        <a:t>Tanks</a:t>
                      </a:r>
                      <a:endParaRPr sz="1400" u="none" strike="noStrike" cap="none">
                        <a:latin typeface="Times New Roman"/>
                        <a:ea typeface="Times New Roman"/>
                        <a:cs typeface="Times New Roman"/>
                        <a:sym typeface="Times New Roman"/>
                      </a:endParaRPr>
                    </a:p>
                  </a:txBody>
                  <a:tcPr marL="0" marR="0" marT="0" marB="0"/>
                </a:tc>
                <a:tc>
                  <a:txBody>
                    <a:bodyPr/>
                    <a:lstStyle/>
                    <a:p>
                      <a:pPr marL="0" marR="13334" lvl="0" indent="0" algn="ctr" rtl="0">
                        <a:lnSpc>
                          <a:spcPct val="95357"/>
                        </a:lnSpc>
                        <a:spcBef>
                          <a:spcPts val="0"/>
                        </a:spcBef>
                        <a:spcAft>
                          <a:spcPts val="0"/>
                        </a:spcAft>
                        <a:buNone/>
                      </a:pPr>
                      <a:r>
                        <a:rPr lang="en-US" sz="1400" b="1" u="none" strike="noStrike" cap="none">
                          <a:latin typeface="Times New Roman"/>
                          <a:ea typeface="Times New Roman"/>
                          <a:cs typeface="Times New Roman"/>
                          <a:sym typeface="Times New Roman"/>
                        </a:rPr>
                        <a:t>Sea</a:t>
                      </a:r>
                      <a:endParaRPr sz="1400" u="none" strike="noStrike" cap="none">
                        <a:latin typeface="Times New Roman"/>
                        <a:ea typeface="Times New Roman"/>
                        <a:cs typeface="Times New Roman"/>
                        <a:sym typeface="Times New Roman"/>
                      </a:endParaRPr>
                    </a:p>
                  </a:txBody>
                  <a:tcPr marL="0" marR="0" marT="0" marB="0"/>
                </a:tc>
                <a:tc>
                  <a:txBody>
                    <a:bodyPr/>
                    <a:lstStyle/>
                    <a:p>
                      <a:pPr marL="85090" marR="0" lvl="0" indent="0" algn="ctr" rtl="0">
                        <a:lnSpc>
                          <a:spcPct val="95357"/>
                        </a:lnSpc>
                        <a:spcBef>
                          <a:spcPts val="0"/>
                        </a:spcBef>
                        <a:spcAft>
                          <a:spcPts val="0"/>
                        </a:spcAft>
                        <a:buNone/>
                      </a:pPr>
                      <a:r>
                        <a:rPr lang="en-US" sz="1400" b="1" u="none" strike="noStrike" cap="none">
                          <a:latin typeface="Times New Roman"/>
                          <a:ea typeface="Times New Roman"/>
                          <a:cs typeface="Times New Roman"/>
                          <a:sym typeface="Times New Roman"/>
                        </a:rPr>
                        <a:t>Rivers</a:t>
                      </a:r>
                      <a:endParaRPr sz="1400" u="none" strike="noStrike" cap="none">
                        <a:latin typeface="Times New Roman"/>
                        <a:ea typeface="Times New Roman"/>
                        <a:cs typeface="Times New Roman"/>
                        <a:sym typeface="Times New Roman"/>
                      </a:endParaRPr>
                    </a:p>
                  </a:txBody>
                  <a:tcPr marL="0" marR="0" marT="0" marB="0"/>
                </a:tc>
                <a:tc>
                  <a:txBody>
                    <a:bodyPr/>
                    <a:lstStyle/>
                    <a:p>
                      <a:pPr marL="146050" marR="0" lvl="0" indent="0" algn="l" rtl="0">
                        <a:lnSpc>
                          <a:spcPct val="95357"/>
                        </a:lnSpc>
                        <a:spcBef>
                          <a:spcPts val="0"/>
                        </a:spcBef>
                        <a:spcAft>
                          <a:spcPts val="0"/>
                        </a:spcAft>
                        <a:buNone/>
                      </a:pPr>
                      <a:r>
                        <a:rPr lang="en-US" sz="1400" b="1" u="none" strike="noStrike" cap="none">
                          <a:latin typeface="Times New Roman"/>
                          <a:ea typeface="Times New Roman"/>
                          <a:cs typeface="Times New Roman"/>
                          <a:sym typeface="Times New Roman"/>
                        </a:rPr>
                        <a:t>Lakes</a:t>
                      </a:r>
                      <a:endParaRPr sz="1400" u="none" strike="noStrike" cap="none">
                        <a:latin typeface="Times New Roman"/>
                        <a:ea typeface="Times New Roman"/>
                        <a:cs typeface="Times New Roman"/>
                        <a:sym typeface="Times New Roman"/>
                      </a:endParaRPr>
                    </a:p>
                  </a:txBody>
                  <a:tcPr marL="0" marR="0" marT="0" marB="0"/>
                </a:tc>
                <a:tc>
                  <a:txBody>
                    <a:bodyPr/>
                    <a:lstStyle/>
                    <a:p>
                      <a:pPr marL="284480" marR="0" lvl="0" indent="0" algn="l" rtl="0">
                        <a:lnSpc>
                          <a:spcPct val="95357"/>
                        </a:lnSpc>
                        <a:spcBef>
                          <a:spcPts val="0"/>
                        </a:spcBef>
                        <a:spcAft>
                          <a:spcPts val="0"/>
                        </a:spcAft>
                        <a:buNone/>
                      </a:pPr>
                      <a:r>
                        <a:rPr lang="en-US" sz="1400" b="1" u="none" strike="noStrike" cap="none">
                          <a:latin typeface="Times New Roman"/>
                          <a:ea typeface="Times New Roman"/>
                          <a:cs typeface="Times New Roman"/>
                          <a:sym typeface="Times New Roman"/>
                        </a:rPr>
                        <a:t>Lakes</a:t>
                      </a:r>
                      <a:endParaRPr sz="1400" u="none" strike="noStrike" cap="none">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95825">
                <a:tc>
                  <a:txBody>
                    <a:bodyPr/>
                    <a:lstStyle/>
                    <a:p>
                      <a:pPr marL="0" marR="0" lvl="0" indent="0" algn="l" rtl="0">
                        <a:lnSpc>
                          <a:spcPct val="100000"/>
                        </a:lnSpc>
                        <a:spcBef>
                          <a:spcPts val="0"/>
                        </a:spcBef>
                        <a:spcAft>
                          <a:spcPts val="0"/>
                        </a:spcAft>
                        <a:buNone/>
                      </a:pPr>
                      <a:endParaRPr sz="1100" u="none" strike="noStrike" cap="none">
                        <a:latin typeface="Times New Roman"/>
                        <a:ea typeface="Times New Roman"/>
                        <a:cs typeface="Times New Roman"/>
                        <a:sym typeface="Times New Roman"/>
                      </a:endParaRPr>
                    </a:p>
                  </a:txBody>
                  <a:tcPr marL="0" marR="0" marT="0" marB="0"/>
                </a:tc>
                <a:tc>
                  <a:txBody>
                    <a:bodyPr/>
                    <a:lstStyle/>
                    <a:p>
                      <a:pPr marL="0" marR="52069" lvl="0" indent="0" algn="ctr" rtl="0">
                        <a:lnSpc>
                          <a:spcPct val="102857"/>
                        </a:lnSpc>
                        <a:spcBef>
                          <a:spcPts val="0"/>
                        </a:spcBef>
                        <a:spcAft>
                          <a:spcPts val="0"/>
                        </a:spcAft>
                        <a:buNone/>
                      </a:pPr>
                      <a:r>
                        <a:rPr lang="en-US" sz="1400" b="1" u="none" strike="noStrike" cap="none">
                          <a:latin typeface="Times New Roman"/>
                          <a:ea typeface="Times New Roman"/>
                          <a:cs typeface="Times New Roman"/>
                          <a:sym typeface="Times New Roman"/>
                        </a:rPr>
                        <a:t>or</a:t>
                      </a:r>
                      <a:endParaRPr sz="1400" u="none" strike="noStrike" cap="none">
                        <a:latin typeface="Times New Roman"/>
                        <a:ea typeface="Times New Roman"/>
                        <a:cs typeface="Times New Roman"/>
                        <a:sym typeface="Times New Roman"/>
                      </a:endParaRPr>
                    </a:p>
                  </a:txBody>
                  <a:tcPr marL="0" marR="0" marT="0" marB="0"/>
                </a:tc>
                <a:tc>
                  <a:txBody>
                    <a:bodyPr/>
                    <a:lstStyle/>
                    <a:p>
                      <a:pPr marL="73025" marR="0" lvl="0" indent="0" algn="ctr" rtl="0">
                        <a:lnSpc>
                          <a:spcPct val="102857"/>
                        </a:lnSpc>
                        <a:spcBef>
                          <a:spcPts val="0"/>
                        </a:spcBef>
                        <a:spcAft>
                          <a:spcPts val="0"/>
                        </a:spcAft>
                        <a:buNone/>
                      </a:pPr>
                      <a:r>
                        <a:rPr lang="en-US" sz="1400" b="1" u="none" strike="noStrike" cap="none">
                          <a:latin typeface="Times New Roman"/>
                          <a:ea typeface="Times New Roman"/>
                          <a:cs typeface="Times New Roman"/>
                          <a:sym typeface="Times New Roman"/>
                        </a:rPr>
                        <a:t>and</a:t>
                      </a:r>
                      <a:endParaRPr sz="1400" u="none" strike="noStrike" cap="none">
                        <a:latin typeface="Times New Roman"/>
                        <a:ea typeface="Times New Roman"/>
                        <a:cs typeface="Times New Roman"/>
                        <a:sym typeface="Times New Roman"/>
                      </a:endParaRPr>
                    </a:p>
                  </a:txBody>
                  <a:tcPr marL="0" marR="0" marT="0" marB="0"/>
                </a:tc>
                <a:tc>
                  <a:txBody>
                    <a:bodyPr/>
                    <a:lstStyle/>
                    <a:p>
                      <a:pPr marL="209550" marR="0" lvl="0" indent="0" algn="l" rtl="0">
                        <a:lnSpc>
                          <a:spcPct val="102857"/>
                        </a:lnSpc>
                        <a:spcBef>
                          <a:spcPts val="0"/>
                        </a:spcBef>
                        <a:spcAft>
                          <a:spcPts val="0"/>
                        </a:spcAft>
                        <a:buNone/>
                      </a:pPr>
                      <a:r>
                        <a:rPr lang="en-US" sz="1400" b="1" u="none" strike="noStrike" cap="none">
                          <a:latin typeface="Times New Roman"/>
                          <a:ea typeface="Times New Roman"/>
                          <a:cs typeface="Times New Roman"/>
                          <a:sym typeface="Times New Roman"/>
                        </a:rPr>
                        <a:t>and</a:t>
                      </a:r>
                      <a:endParaRPr sz="1400" u="none" strike="noStrike" cap="none">
                        <a:latin typeface="Times New Roman"/>
                        <a:ea typeface="Times New Roman"/>
                        <a:cs typeface="Times New Roman"/>
                        <a:sym typeface="Times New Roman"/>
                      </a:endParaRPr>
                    </a:p>
                  </a:txBody>
                  <a:tcPr marL="0" marR="0" marT="0" marB="0"/>
                </a:tc>
                <a:tc>
                  <a:txBody>
                    <a:bodyPr/>
                    <a:lstStyle/>
                    <a:p>
                      <a:pPr marL="270510" marR="0" lvl="0" indent="0" algn="l" rtl="0">
                        <a:lnSpc>
                          <a:spcPct val="102857"/>
                        </a:lnSpc>
                        <a:spcBef>
                          <a:spcPts val="0"/>
                        </a:spcBef>
                        <a:spcAft>
                          <a:spcPts val="0"/>
                        </a:spcAft>
                        <a:buNone/>
                      </a:pPr>
                      <a:r>
                        <a:rPr lang="en-US" sz="1400" b="1" u="none" strike="noStrike" cap="none">
                          <a:latin typeface="Times New Roman"/>
                          <a:ea typeface="Times New Roman"/>
                          <a:cs typeface="Times New Roman"/>
                          <a:sym typeface="Times New Roman"/>
                        </a:rPr>
                        <a:t>formed</a:t>
                      </a:r>
                      <a:endParaRPr sz="1400" u="none" strike="noStrike" cap="none">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1"/>
                  </a:ext>
                </a:extLst>
              </a:tr>
            </a:tbl>
          </a:graphicData>
        </a:graphic>
      </p:graphicFrame>
      <p:sp>
        <p:nvSpPr>
          <p:cNvPr id="267" name="Google Shape;267;p32"/>
          <p:cNvSpPr txBox="1"/>
          <p:nvPr/>
        </p:nvSpPr>
        <p:spPr>
          <a:xfrm>
            <a:off x="4702302" y="3953636"/>
            <a:ext cx="563245" cy="228268"/>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Ocean</a:t>
            </a:r>
            <a:endParaRPr sz="1400">
              <a:solidFill>
                <a:schemeClr val="dk1"/>
              </a:solidFill>
              <a:latin typeface="Times New Roman"/>
              <a:ea typeface="Times New Roman"/>
              <a:cs typeface="Times New Roman"/>
              <a:sym typeface="Times New Roman"/>
            </a:endParaRPr>
          </a:p>
        </p:txBody>
      </p:sp>
      <p:sp>
        <p:nvSpPr>
          <p:cNvPr id="268" name="Google Shape;268;p32"/>
          <p:cNvSpPr txBox="1"/>
          <p:nvPr/>
        </p:nvSpPr>
        <p:spPr>
          <a:xfrm>
            <a:off x="5534262" y="3953636"/>
            <a:ext cx="706120" cy="228268"/>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Streams</a:t>
            </a:r>
            <a:endParaRPr sz="1400">
              <a:solidFill>
                <a:schemeClr val="dk1"/>
              </a:solidFill>
              <a:latin typeface="Times New Roman"/>
              <a:ea typeface="Times New Roman"/>
              <a:cs typeface="Times New Roman"/>
              <a:sym typeface="Times New Roman"/>
            </a:endParaRPr>
          </a:p>
        </p:txBody>
      </p:sp>
      <p:sp>
        <p:nvSpPr>
          <p:cNvPr id="269" name="Google Shape;269;p32"/>
          <p:cNvSpPr txBox="1"/>
          <p:nvPr/>
        </p:nvSpPr>
        <p:spPr>
          <a:xfrm>
            <a:off x="6379706" y="3953636"/>
            <a:ext cx="548640" cy="228268"/>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Ponds</a:t>
            </a:r>
            <a:endParaRPr sz="1400">
              <a:solidFill>
                <a:schemeClr val="dk1"/>
              </a:solidFill>
              <a:latin typeface="Times New Roman"/>
              <a:ea typeface="Times New Roman"/>
              <a:cs typeface="Times New Roman"/>
              <a:sym typeface="Times New Roman"/>
            </a:endParaRPr>
          </a:p>
        </p:txBody>
      </p:sp>
      <p:sp>
        <p:nvSpPr>
          <p:cNvPr id="270" name="Google Shape;270;p32"/>
          <p:cNvSpPr txBox="1"/>
          <p:nvPr/>
        </p:nvSpPr>
        <p:spPr>
          <a:xfrm>
            <a:off x="7409167" y="3953636"/>
            <a:ext cx="1021715" cy="452755"/>
          </a:xfrm>
          <a:prstGeom prst="rect">
            <a:avLst/>
          </a:prstGeom>
          <a:noFill/>
          <a:ln>
            <a:noFill/>
          </a:ln>
        </p:spPr>
        <p:txBody>
          <a:bodyPr spcFirstLastPara="1" wrap="square" lIns="0" tIns="12700" rIns="0" bIns="0" anchor="t" anchorCtr="0">
            <a:spAutoFit/>
          </a:bodyPr>
          <a:lstStyle/>
          <a:p>
            <a:pPr marL="90170" marR="5080" lvl="0" indent="-78105" algn="l" rtl="0">
              <a:lnSpc>
                <a:spcPct val="100000"/>
              </a:lnSpc>
              <a:spcBef>
                <a:spcPts val="0"/>
              </a:spcBef>
              <a:spcAft>
                <a:spcPts val="0"/>
              </a:spcAft>
              <a:buNone/>
            </a:pPr>
            <a:r>
              <a:rPr lang="en-US" sz="1400" b="1">
                <a:solidFill>
                  <a:schemeClr val="dk1"/>
                </a:solidFill>
                <a:latin typeface="Times New Roman"/>
                <a:ea typeface="Times New Roman"/>
                <a:cs typeface="Times New Roman"/>
                <a:sym typeface="Times New Roman"/>
              </a:rPr>
              <a:t>by collected  Water</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74"/>
        <p:cNvGrpSpPr/>
        <p:nvPr/>
      </p:nvGrpSpPr>
      <p:grpSpPr>
        <a:xfrm>
          <a:off x="0" y="0"/>
          <a:ext cx="0" cy="0"/>
          <a:chOff x="0" y="0"/>
          <a:chExt cx="0" cy="0"/>
        </a:xfrm>
      </p:grpSpPr>
      <p:sp>
        <p:nvSpPr>
          <p:cNvPr id="275" name="Google Shape;275;p3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33"/>
          <p:cNvSpPr/>
          <p:nvPr/>
        </p:nvSpPr>
        <p:spPr>
          <a:xfrm>
            <a:off x="0" y="223"/>
            <a:ext cx="9143999" cy="10287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33"/>
          <p:cNvSpPr/>
          <p:nvPr/>
        </p:nvSpPr>
        <p:spPr>
          <a:xfrm>
            <a:off x="4401357" y="0"/>
            <a:ext cx="4742642" cy="59994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33"/>
          <p:cNvSpPr/>
          <p:nvPr/>
        </p:nvSpPr>
        <p:spPr>
          <a:xfrm>
            <a:off x="-828" y="0"/>
            <a:ext cx="9145590" cy="10205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33"/>
          <p:cNvSpPr txBox="1">
            <a:spLocks noGrp="1"/>
          </p:cNvSpPr>
          <p:nvPr>
            <p:ph type="title"/>
          </p:nvPr>
        </p:nvSpPr>
        <p:spPr>
          <a:xfrm>
            <a:off x="444500" y="1111014"/>
            <a:ext cx="732790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Types of Wells:</a:t>
            </a:r>
            <a:endParaRPr sz="4000" b="1">
              <a:latin typeface="Times New Roman"/>
              <a:ea typeface="Times New Roman"/>
              <a:cs typeface="Times New Roman"/>
              <a:sym typeface="Times New Roman"/>
            </a:endParaRPr>
          </a:p>
        </p:txBody>
      </p:sp>
      <p:sp>
        <p:nvSpPr>
          <p:cNvPr id="280" name="Google Shape;280;p33"/>
          <p:cNvSpPr txBox="1"/>
          <p:nvPr/>
        </p:nvSpPr>
        <p:spPr>
          <a:xfrm>
            <a:off x="535940" y="1746601"/>
            <a:ext cx="5788660" cy="4858381"/>
          </a:xfrm>
          <a:prstGeom prst="rect">
            <a:avLst/>
          </a:prstGeom>
          <a:noFill/>
          <a:ln>
            <a:noFill/>
          </a:ln>
        </p:spPr>
        <p:txBody>
          <a:bodyPr spcFirstLastPara="1" wrap="square" lIns="0" tIns="213975" rIns="0" bIns="0" anchor="t" anchorCtr="0">
            <a:spAutoFit/>
          </a:bodyPr>
          <a:lstStyle/>
          <a:p>
            <a:pPr marL="307340" marR="0" lvl="0" indent="-295275" algn="l" rtl="0">
              <a:lnSpc>
                <a:spcPct val="100000"/>
              </a:lnSpc>
              <a:spcBef>
                <a:spcPts val="0"/>
              </a:spcBef>
              <a:spcAft>
                <a:spcPts val="0"/>
              </a:spcAft>
              <a:buClr>
                <a:srgbClr val="000000"/>
              </a:buClr>
              <a:buSzPts val="2500"/>
              <a:buFont typeface="Times New Roman"/>
              <a:buAutoNum type="arabicPeriod"/>
            </a:pPr>
            <a:r>
              <a:rPr lang="en-US" sz="2500" b="1" u="sng">
                <a:solidFill>
                  <a:srgbClr val="386F25"/>
                </a:solidFill>
                <a:latin typeface="Times New Roman"/>
                <a:ea typeface="Times New Roman"/>
                <a:cs typeface="Times New Roman"/>
                <a:sym typeface="Times New Roman"/>
              </a:rPr>
              <a:t>Shallow wells:</a:t>
            </a:r>
            <a:endParaRPr sz="2500">
              <a:solidFill>
                <a:schemeClr val="dk1"/>
              </a:solidFill>
              <a:latin typeface="Times New Roman"/>
              <a:ea typeface="Times New Roman"/>
              <a:cs typeface="Times New Roman"/>
              <a:sym typeface="Times New Roman"/>
            </a:endParaRPr>
          </a:p>
          <a:p>
            <a:pPr marL="683260" marR="0" lvl="1" indent="-158750" algn="l" rtl="0">
              <a:lnSpc>
                <a:spcPct val="100000"/>
              </a:lnSpc>
              <a:spcBef>
                <a:spcPts val="1225"/>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2 to 6 mts. Diameter</a:t>
            </a:r>
            <a:endParaRPr sz="2500" b="0" i="0" u="none" strike="noStrike" cap="none">
              <a:solidFill>
                <a:schemeClr val="dk1"/>
              </a:solidFill>
              <a:latin typeface="Times New Roman"/>
              <a:ea typeface="Times New Roman"/>
              <a:cs typeface="Times New Roman"/>
              <a:sym typeface="Times New Roman"/>
            </a:endParaRPr>
          </a:p>
          <a:p>
            <a:pPr marL="683260" marR="0" lvl="1" indent="-158750" algn="l" rtl="0">
              <a:lnSpc>
                <a:spcPct val="100000"/>
              </a:lnSpc>
              <a:spcBef>
                <a:spcPts val="635"/>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Half or Full Built up (brick walls)</a:t>
            </a:r>
            <a:endParaRPr sz="2500" b="0" i="0" u="none" strike="noStrike" cap="none">
              <a:solidFill>
                <a:schemeClr val="dk1"/>
              </a:solidFill>
              <a:latin typeface="Times New Roman"/>
              <a:ea typeface="Times New Roman"/>
              <a:cs typeface="Times New Roman"/>
              <a:sym typeface="Times New Roman"/>
            </a:endParaRPr>
          </a:p>
          <a:p>
            <a:pPr marL="683260" marR="0" lvl="1" indent="-158750" algn="l" rtl="0">
              <a:lnSpc>
                <a:spcPct val="100000"/>
              </a:lnSpc>
              <a:spcBef>
                <a:spcPts val="480"/>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7 to 15 mts. Depth</a:t>
            </a:r>
            <a:endParaRPr sz="2500" b="0" i="0" u="none" strike="noStrike" cap="none">
              <a:solidFill>
                <a:schemeClr val="dk1"/>
              </a:solidFill>
              <a:latin typeface="Times New Roman"/>
              <a:ea typeface="Times New Roman"/>
              <a:cs typeface="Times New Roman"/>
              <a:sym typeface="Times New Roman"/>
            </a:endParaRPr>
          </a:p>
          <a:p>
            <a:pPr marL="680085" marR="0" lvl="1" indent="-158750" algn="l" rtl="0">
              <a:lnSpc>
                <a:spcPct val="100000"/>
              </a:lnSpc>
              <a:spcBef>
                <a:spcPts val="484"/>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used for household purposes</a:t>
            </a:r>
            <a:endParaRPr sz="2500" b="0" i="0" u="none" strike="noStrike" cap="none">
              <a:solidFill>
                <a:schemeClr val="dk1"/>
              </a:solidFill>
              <a:latin typeface="Times New Roman"/>
              <a:ea typeface="Times New Roman"/>
              <a:cs typeface="Times New Roman"/>
              <a:sym typeface="Times New Roman"/>
            </a:endParaRPr>
          </a:p>
          <a:p>
            <a:pPr marL="347345" marR="0" lvl="0" indent="-335280" algn="l" rtl="0">
              <a:lnSpc>
                <a:spcPct val="100000"/>
              </a:lnSpc>
              <a:spcBef>
                <a:spcPts val="585"/>
              </a:spcBef>
              <a:spcAft>
                <a:spcPts val="0"/>
              </a:spcAft>
              <a:buClr>
                <a:srgbClr val="000000"/>
              </a:buClr>
              <a:buSzPts val="2500"/>
              <a:buFont typeface="Times New Roman"/>
              <a:buAutoNum type="arabicPeriod"/>
            </a:pPr>
            <a:r>
              <a:rPr lang="en-US" sz="2500" b="1" u="sng">
                <a:solidFill>
                  <a:srgbClr val="386F25"/>
                </a:solidFill>
                <a:latin typeface="Times New Roman"/>
                <a:ea typeface="Times New Roman"/>
                <a:cs typeface="Times New Roman"/>
                <a:sym typeface="Times New Roman"/>
              </a:rPr>
              <a:t>Deep Wells:</a:t>
            </a:r>
            <a:endParaRPr sz="2500">
              <a:solidFill>
                <a:schemeClr val="dk1"/>
              </a:solidFill>
              <a:latin typeface="Times New Roman"/>
              <a:ea typeface="Times New Roman"/>
              <a:cs typeface="Times New Roman"/>
              <a:sym typeface="Times New Roman"/>
            </a:endParaRPr>
          </a:p>
          <a:p>
            <a:pPr marL="683260" marR="0" lvl="1" indent="-158750" algn="l" rtl="0">
              <a:lnSpc>
                <a:spcPct val="100000"/>
              </a:lnSpc>
              <a:spcBef>
                <a:spcPts val="1225"/>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made of cement pipes (format)</a:t>
            </a:r>
            <a:endParaRPr sz="2500" b="0" i="0" u="none" strike="noStrike" cap="none">
              <a:solidFill>
                <a:schemeClr val="dk1"/>
              </a:solidFill>
              <a:latin typeface="Times New Roman"/>
              <a:ea typeface="Times New Roman"/>
              <a:cs typeface="Times New Roman"/>
              <a:sym typeface="Times New Roman"/>
            </a:endParaRPr>
          </a:p>
          <a:p>
            <a:pPr marL="683260" marR="0" lvl="1" indent="-158750" algn="l" rtl="0">
              <a:lnSpc>
                <a:spcPct val="100000"/>
              </a:lnSpc>
              <a:spcBef>
                <a:spcPts val="640"/>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20 to 40 mts depth</a:t>
            </a:r>
            <a:endParaRPr sz="2500" b="0" i="0" u="none" strike="noStrike" cap="none">
              <a:solidFill>
                <a:schemeClr val="dk1"/>
              </a:solidFill>
              <a:latin typeface="Times New Roman"/>
              <a:ea typeface="Times New Roman"/>
              <a:cs typeface="Times New Roman"/>
              <a:sym typeface="Times New Roman"/>
            </a:endParaRPr>
          </a:p>
          <a:p>
            <a:pPr marL="683260" marR="0" lvl="1" indent="-158750" algn="l" rtl="0">
              <a:lnSpc>
                <a:spcPct val="100000"/>
              </a:lnSpc>
              <a:spcBef>
                <a:spcPts val="480"/>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0.6 to0.9 mts diameter</a:t>
            </a:r>
            <a:endParaRPr sz="2500" b="0" i="0" u="none" strike="noStrike" cap="none">
              <a:solidFill>
                <a:schemeClr val="dk1"/>
              </a:solidFill>
              <a:latin typeface="Times New Roman"/>
              <a:ea typeface="Times New Roman"/>
              <a:cs typeface="Times New Roman"/>
              <a:sym typeface="Times New Roman"/>
            </a:endParaRPr>
          </a:p>
          <a:p>
            <a:pPr marL="680085" marR="0" lvl="1" indent="-158750" algn="l" rtl="0">
              <a:lnSpc>
                <a:spcPct val="100000"/>
              </a:lnSpc>
              <a:spcBef>
                <a:spcPts val="480"/>
              </a:spcBef>
              <a:spcAft>
                <a:spcPts val="0"/>
              </a:spcAft>
              <a:buClr>
                <a:srgbClr val="386F25"/>
              </a:buClr>
              <a:buSzPts val="2500"/>
              <a:buFont typeface="Times New Roman"/>
              <a:buChar char="-"/>
            </a:pPr>
            <a:r>
              <a:rPr lang="en-US" sz="2500" b="0" i="0" u="none" strike="noStrike" cap="none">
                <a:solidFill>
                  <a:srgbClr val="386F25"/>
                </a:solidFill>
                <a:latin typeface="Times New Roman"/>
                <a:ea typeface="Times New Roman"/>
                <a:cs typeface="Times New Roman"/>
                <a:sym typeface="Times New Roman"/>
              </a:rPr>
              <a:t>pure water ready to supply directly</a:t>
            </a:r>
            <a:endParaRPr sz="25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4"/>
          <p:cNvSpPr txBox="1">
            <a:spLocks noGrp="1"/>
          </p:cNvSpPr>
          <p:nvPr>
            <p:ph type="title"/>
          </p:nvPr>
        </p:nvSpPr>
        <p:spPr>
          <a:xfrm>
            <a:off x="535940" y="593957"/>
            <a:ext cx="1986914" cy="398186"/>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rgbClr val="000000"/>
              </a:buClr>
              <a:buSzPts val="2500"/>
              <a:buFont typeface="Times New Roman"/>
              <a:buNone/>
            </a:pPr>
            <a:r>
              <a:rPr lang="en-US" sz="2500" u="sng">
                <a:solidFill>
                  <a:srgbClr val="000000"/>
                </a:solidFill>
                <a:latin typeface="Times New Roman"/>
                <a:ea typeface="Times New Roman"/>
                <a:cs typeface="Times New Roman"/>
                <a:sym typeface="Times New Roman"/>
              </a:rPr>
              <a:t>3. Tube Wells:</a:t>
            </a:r>
            <a:endParaRPr sz="2500">
              <a:latin typeface="Times New Roman"/>
              <a:ea typeface="Times New Roman"/>
              <a:cs typeface="Times New Roman"/>
              <a:sym typeface="Times New Roman"/>
            </a:endParaRPr>
          </a:p>
        </p:txBody>
      </p:sp>
      <p:sp>
        <p:nvSpPr>
          <p:cNvPr id="286" name="Google Shape;286;p34"/>
          <p:cNvSpPr txBox="1"/>
          <p:nvPr/>
        </p:nvSpPr>
        <p:spPr>
          <a:xfrm>
            <a:off x="535940" y="1044295"/>
            <a:ext cx="7846060" cy="5859938"/>
          </a:xfrm>
          <a:prstGeom prst="rect">
            <a:avLst/>
          </a:prstGeom>
          <a:noFill/>
          <a:ln>
            <a:noFill/>
          </a:ln>
        </p:spPr>
        <p:txBody>
          <a:bodyPr spcFirstLastPara="1" wrap="square" lIns="0" tIns="62850" rIns="0" bIns="0" anchor="t" anchorCtr="0">
            <a:spAutoFit/>
          </a:bodyPr>
          <a:lstStyle/>
          <a:p>
            <a:pPr marL="442594" marR="0" lvl="0" indent="-158750" algn="l" rtl="0">
              <a:lnSpc>
                <a:spcPct val="100000"/>
              </a:lnSpc>
              <a:spcBef>
                <a:spcPts val="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60 to 300 mts depth</a:t>
            </a:r>
            <a:endParaRPr/>
          </a:p>
          <a:p>
            <a:pPr marL="442594" marR="0" lvl="0" indent="-158750" algn="l" rtl="0">
              <a:lnSpc>
                <a:spcPct val="100000"/>
              </a:lnSpc>
              <a:spcBef>
                <a:spcPts val="395"/>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0.5 to 1.3 mts diameter</a:t>
            </a:r>
            <a:endParaRPr sz="2500">
              <a:solidFill>
                <a:schemeClr val="dk1"/>
              </a:solidFill>
              <a:latin typeface="Times New Roman"/>
              <a:ea typeface="Times New Roman"/>
              <a:cs typeface="Times New Roman"/>
              <a:sym typeface="Times New Roman"/>
            </a:endParaRPr>
          </a:p>
          <a:p>
            <a:pPr marL="442594" marR="0" lvl="0" indent="-158750" algn="l" rtl="0">
              <a:lnSpc>
                <a:spcPct val="100000"/>
              </a:lnSpc>
              <a:spcBef>
                <a:spcPts val="24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40 to 50 liters per second water flow</a:t>
            </a:r>
            <a:endParaRPr sz="2500">
              <a:solidFill>
                <a:schemeClr val="dk1"/>
              </a:solidFill>
              <a:latin typeface="Times New Roman"/>
              <a:ea typeface="Times New Roman"/>
              <a:cs typeface="Times New Roman"/>
              <a:sym typeface="Times New Roman"/>
            </a:endParaRPr>
          </a:p>
          <a:p>
            <a:pPr marL="439419" marR="0" lvl="0" indent="-158750" algn="l" rtl="0">
              <a:lnSpc>
                <a:spcPct val="100000"/>
              </a:lnSpc>
              <a:spcBef>
                <a:spcPts val="244"/>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Water used for gardening or water supply to distant place</a:t>
            </a:r>
            <a:endParaRPr sz="2500">
              <a:solidFill>
                <a:schemeClr val="dk1"/>
              </a:solidFill>
              <a:latin typeface="Times New Roman"/>
              <a:ea typeface="Times New Roman"/>
              <a:cs typeface="Times New Roman"/>
              <a:sym typeface="Times New Roman"/>
            </a:endParaRPr>
          </a:p>
          <a:p>
            <a:pPr marL="442594" marR="0" lvl="0" indent="-158750" algn="l" rtl="0">
              <a:lnSpc>
                <a:spcPct val="100000"/>
              </a:lnSpc>
              <a:spcBef>
                <a:spcPts val="24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Purification is necessary</a:t>
            </a:r>
            <a:endParaRPr sz="2500">
              <a:solidFill>
                <a:schemeClr val="dk1"/>
              </a:solidFill>
              <a:latin typeface="Times New Roman"/>
              <a:ea typeface="Times New Roman"/>
              <a:cs typeface="Times New Roman"/>
              <a:sym typeface="Times New Roman"/>
            </a:endParaRPr>
          </a:p>
          <a:p>
            <a:pPr marL="349250" marR="0" lvl="0" indent="-337185" algn="l" rtl="0">
              <a:lnSpc>
                <a:spcPct val="100000"/>
              </a:lnSpc>
              <a:spcBef>
                <a:spcPts val="275"/>
              </a:spcBef>
              <a:spcAft>
                <a:spcPts val="0"/>
              </a:spcAft>
              <a:buClr>
                <a:schemeClr val="dk1"/>
              </a:buClr>
              <a:buSzPts val="2500"/>
              <a:buFont typeface="Times New Roman"/>
              <a:buAutoNum type="arabicPeriod" startAt="4"/>
            </a:pPr>
            <a:r>
              <a:rPr lang="en-US" sz="2500" u="sng">
                <a:solidFill>
                  <a:schemeClr val="dk1"/>
                </a:solidFill>
                <a:latin typeface="Times New Roman"/>
                <a:ea typeface="Times New Roman"/>
                <a:cs typeface="Times New Roman"/>
                <a:sym typeface="Times New Roman"/>
              </a:rPr>
              <a:t>Artesian Wells:</a:t>
            </a:r>
            <a:endParaRPr sz="2500">
              <a:solidFill>
                <a:schemeClr val="dk1"/>
              </a:solidFill>
              <a:latin typeface="Times New Roman"/>
              <a:ea typeface="Times New Roman"/>
              <a:cs typeface="Times New Roman"/>
              <a:sym typeface="Times New Roman"/>
            </a:endParaRPr>
          </a:p>
          <a:p>
            <a:pPr marL="442594" marR="0" lvl="1" indent="-158750" algn="l" rtl="0">
              <a:lnSpc>
                <a:spcPct val="100000"/>
              </a:lnSpc>
              <a:spcBef>
                <a:spcPts val="275"/>
              </a:spcBef>
              <a:spcAft>
                <a:spcPts val="0"/>
              </a:spcAft>
              <a:buClr>
                <a:schemeClr val="dk1"/>
              </a:buClr>
              <a:buSzPts val="2500"/>
              <a:buFont typeface="Times New Roman"/>
              <a:buChar char="-"/>
            </a:pPr>
            <a:r>
              <a:rPr lang="en-US" sz="2500" b="0" i="0" u="none" strike="noStrike" cap="none">
                <a:solidFill>
                  <a:schemeClr val="dk1"/>
                </a:solidFill>
                <a:latin typeface="Times New Roman"/>
                <a:ea typeface="Times New Roman"/>
                <a:cs typeface="Times New Roman"/>
                <a:sym typeface="Times New Roman"/>
              </a:rPr>
              <a:t>Constructed in valley or hilly areas</a:t>
            </a:r>
            <a:endParaRPr sz="2500" b="0" i="0" u="none" strike="noStrike" cap="none">
              <a:solidFill>
                <a:schemeClr val="dk1"/>
              </a:solidFill>
              <a:latin typeface="Times New Roman"/>
              <a:ea typeface="Times New Roman"/>
              <a:cs typeface="Times New Roman"/>
              <a:sym typeface="Times New Roman"/>
            </a:endParaRPr>
          </a:p>
          <a:p>
            <a:pPr marL="439419" marR="0" lvl="1" indent="-158750" algn="l" rtl="0">
              <a:lnSpc>
                <a:spcPct val="100000"/>
              </a:lnSpc>
              <a:spcBef>
                <a:spcPts val="240"/>
              </a:spcBef>
              <a:spcAft>
                <a:spcPts val="0"/>
              </a:spcAft>
              <a:buClr>
                <a:schemeClr val="dk1"/>
              </a:buClr>
              <a:buSzPts val="2500"/>
              <a:buFont typeface="Times New Roman"/>
              <a:buChar char="-"/>
            </a:pPr>
            <a:r>
              <a:rPr lang="en-US" sz="2500" b="0" i="0" u="none" strike="noStrike" cap="none">
                <a:solidFill>
                  <a:schemeClr val="dk1"/>
                </a:solidFill>
                <a:latin typeface="Times New Roman"/>
                <a:ea typeface="Times New Roman"/>
                <a:cs typeface="Times New Roman"/>
                <a:sym typeface="Times New Roman"/>
              </a:rPr>
              <a:t>Water pump is not required</a:t>
            </a:r>
            <a:endParaRPr sz="2500" b="0" i="0" u="none" strike="noStrike" cap="none">
              <a:solidFill>
                <a:schemeClr val="dk1"/>
              </a:solidFill>
              <a:latin typeface="Times New Roman"/>
              <a:ea typeface="Times New Roman"/>
              <a:cs typeface="Times New Roman"/>
              <a:sym typeface="Times New Roman"/>
            </a:endParaRPr>
          </a:p>
          <a:p>
            <a:pPr marL="442594" marR="0" lvl="1" indent="-158750" algn="l" rtl="0">
              <a:lnSpc>
                <a:spcPct val="100000"/>
              </a:lnSpc>
              <a:spcBef>
                <a:spcPts val="240"/>
              </a:spcBef>
              <a:spcAft>
                <a:spcPts val="0"/>
              </a:spcAft>
              <a:buClr>
                <a:schemeClr val="dk1"/>
              </a:buClr>
              <a:buSzPts val="2500"/>
              <a:buFont typeface="Times New Roman"/>
              <a:buChar char="-"/>
            </a:pPr>
            <a:r>
              <a:rPr lang="en-US" sz="2500" b="0" i="0" u="none" strike="noStrike" cap="none">
                <a:solidFill>
                  <a:schemeClr val="dk1"/>
                </a:solidFill>
                <a:latin typeface="Times New Roman"/>
                <a:ea typeface="Times New Roman"/>
                <a:cs typeface="Times New Roman"/>
                <a:sym typeface="Times New Roman"/>
              </a:rPr>
              <a:t>Purification of water is necessary</a:t>
            </a:r>
            <a:endParaRPr sz="2500" b="0" i="0" u="none" strike="noStrike" cap="none">
              <a:solidFill>
                <a:schemeClr val="dk1"/>
              </a:solidFill>
              <a:latin typeface="Times New Roman"/>
              <a:ea typeface="Times New Roman"/>
              <a:cs typeface="Times New Roman"/>
              <a:sym typeface="Times New Roman"/>
            </a:endParaRPr>
          </a:p>
          <a:p>
            <a:pPr marL="335915" marR="0" lvl="0" indent="-323850" algn="l" rtl="0">
              <a:lnSpc>
                <a:spcPct val="100000"/>
              </a:lnSpc>
              <a:spcBef>
                <a:spcPts val="280"/>
              </a:spcBef>
              <a:spcAft>
                <a:spcPts val="0"/>
              </a:spcAft>
              <a:buClr>
                <a:schemeClr val="dk1"/>
              </a:buClr>
              <a:buSzPts val="2500"/>
              <a:buFont typeface="Times New Roman"/>
              <a:buAutoNum type="arabicPeriod" startAt="4"/>
            </a:pPr>
            <a:r>
              <a:rPr lang="en-US" sz="2500" u="sng">
                <a:solidFill>
                  <a:schemeClr val="dk1"/>
                </a:solidFill>
                <a:latin typeface="Times New Roman"/>
                <a:ea typeface="Times New Roman"/>
                <a:cs typeface="Times New Roman"/>
                <a:sym typeface="Times New Roman"/>
              </a:rPr>
              <a:t>Dug Wells:</a:t>
            </a:r>
            <a:endParaRPr sz="2500">
              <a:solidFill>
                <a:schemeClr val="dk1"/>
              </a:solidFill>
              <a:latin typeface="Times New Roman"/>
              <a:ea typeface="Times New Roman"/>
              <a:cs typeface="Times New Roman"/>
              <a:sym typeface="Times New Roman"/>
            </a:endParaRPr>
          </a:p>
          <a:p>
            <a:pPr marL="442594" marR="0" lvl="1" indent="-158750" algn="l" rtl="0">
              <a:lnSpc>
                <a:spcPct val="100000"/>
              </a:lnSpc>
              <a:spcBef>
                <a:spcPts val="275"/>
              </a:spcBef>
              <a:spcAft>
                <a:spcPts val="0"/>
              </a:spcAft>
              <a:buClr>
                <a:schemeClr val="dk1"/>
              </a:buClr>
              <a:buSzPts val="2500"/>
              <a:buFont typeface="Times New Roman"/>
              <a:buChar char="-"/>
            </a:pPr>
            <a:r>
              <a:rPr lang="en-US" sz="2500" b="0" i="0" u="none" strike="noStrike" cap="none">
                <a:solidFill>
                  <a:schemeClr val="dk1"/>
                </a:solidFill>
                <a:latin typeface="Times New Roman"/>
                <a:ea typeface="Times New Roman"/>
                <a:cs typeface="Times New Roman"/>
                <a:sym typeface="Times New Roman"/>
              </a:rPr>
              <a:t>Similar to Shallow wells</a:t>
            </a:r>
            <a:endParaRPr sz="2500" b="0" i="0" u="none" strike="noStrike" cap="none">
              <a:solidFill>
                <a:schemeClr val="dk1"/>
              </a:solidFill>
              <a:latin typeface="Times New Roman"/>
              <a:ea typeface="Times New Roman"/>
              <a:cs typeface="Times New Roman"/>
              <a:sym typeface="Times New Roman"/>
            </a:endParaRPr>
          </a:p>
          <a:p>
            <a:pPr marL="442594" marR="0" lvl="1" indent="-158750" algn="l" rtl="0">
              <a:lnSpc>
                <a:spcPct val="100000"/>
              </a:lnSpc>
              <a:spcBef>
                <a:spcPts val="240"/>
              </a:spcBef>
              <a:spcAft>
                <a:spcPts val="0"/>
              </a:spcAft>
              <a:buClr>
                <a:schemeClr val="dk1"/>
              </a:buClr>
              <a:buSzPts val="2500"/>
              <a:buFont typeface="Times New Roman"/>
              <a:buChar char="-"/>
            </a:pPr>
            <a:r>
              <a:rPr lang="en-US" sz="2500" b="0" i="0" u="none" strike="noStrike" cap="none">
                <a:solidFill>
                  <a:schemeClr val="dk1"/>
                </a:solidFill>
                <a:latin typeface="Times New Roman"/>
                <a:ea typeface="Times New Roman"/>
                <a:cs typeface="Times New Roman"/>
                <a:sym typeface="Times New Roman"/>
              </a:rPr>
              <a:t>Digging tools and spades are used to dug these wells</a:t>
            </a:r>
            <a:endParaRPr sz="2500" b="0" i="0" u="none" strike="noStrike" cap="none">
              <a:solidFill>
                <a:schemeClr val="dk1"/>
              </a:solidFill>
              <a:latin typeface="Times New Roman"/>
              <a:ea typeface="Times New Roman"/>
              <a:cs typeface="Times New Roman"/>
              <a:sym typeface="Times New Roman"/>
            </a:endParaRPr>
          </a:p>
          <a:p>
            <a:pPr marL="442594" marR="0" lvl="1" indent="-158750" algn="l" rtl="0">
              <a:lnSpc>
                <a:spcPct val="100000"/>
              </a:lnSpc>
              <a:spcBef>
                <a:spcPts val="240"/>
              </a:spcBef>
              <a:spcAft>
                <a:spcPts val="0"/>
              </a:spcAft>
              <a:buClr>
                <a:schemeClr val="dk1"/>
              </a:buClr>
              <a:buSzPts val="2500"/>
              <a:buFont typeface="Times New Roman"/>
              <a:buChar char="-"/>
            </a:pPr>
            <a:r>
              <a:rPr lang="en-US" sz="2500" b="0" i="0" u="none" strike="noStrike" cap="none">
                <a:solidFill>
                  <a:schemeClr val="dk1"/>
                </a:solidFill>
                <a:latin typeface="Times New Roman"/>
                <a:ea typeface="Times New Roman"/>
                <a:cs typeface="Times New Roman"/>
                <a:sym typeface="Times New Roman"/>
              </a:rPr>
              <a:t>Parapet wall of 1 mt. height is constructed</a:t>
            </a:r>
            <a:endParaRPr sz="2500" b="0" i="0" u="none" strike="noStrike" cap="none">
              <a:solidFill>
                <a:schemeClr val="dk1"/>
              </a:solidFill>
              <a:latin typeface="Times New Roman"/>
              <a:ea typeface="Times New Roman"/>
              <a:cs typeface="Times New Roman"/>
              <a:sym typeface="Times New Roman"/>
            </a:endParaRPr>
          </a:p>
          <a:p>
            <a:pPr marL="439419" marR="0" lvl="1" indent="-158750" algn="l" rtl="0">
              <a:lnSpc>
                <a:spcPct val="100000"/>
              </a:lnSpc>
              <a:spcBef>
                <a:spcPts val="240"/>
              </a:spcBef>
              <a:spcAft>
                <a:spcPts val="0"/>
              </a:spcAft>
              <a:buClr>
                <a:schemeClr val="dk1"/>
              </a:buClr>
              <a:buSzPts val="2500"/>
              <a:buFont typeface="Times New Roman"/>
              <a:buChar char="-"/>
            </a:pPr>
            <a:r>
              <a:rPr lang="en-US" sz="2500" b="0" i="0" u="none" strike="noStrike" cap="none">
                <a:solidFill>
                  <a:schemeClr val="dk1"/>
                </a:solidFill>
                <a:latin typeface="Times New Roman"/>
                <a:ea typeface="Times New Roman"/>
                <a:cs typeface="Times New Roman"/>
                <a:sym typeface="Times New Roman"/>
              </a:rPr>
              <a:t>Well is surrounded by inside slope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9"/>
          <p:cNvSpPr txBox="1">
            <a:spLocks noGrp="1"/>
          </p:cNvSpPr>
          <p:nvPr>
            <p:ph type="body" idx="1"/>
          </p:nvPr>
        </p:nvSpPr>
        <p:spPr>
          <a:xfrm>
            <a:off x="457200" y="76200"/>
            <a:ext cx="8229600" cy="6049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324" name="Google Shape;324;p39"/>
          <p:cNvPicPr preferRelativeResize="0"/>
          <p:nvPr/>
        </p:nvPicPr>
        <p:blipFill rotWithShape="1">
          <a:blip r:embed="rId3">
            <a:alphaModFix/>
          </a:blip>
          <a:srcRect/>
          <a:stretch/>
        </p:blipFill>
        <p:spPr>
          <a:xfrm>
            <a:off x="381000" y="75496"/>
            <a:ext cx="4800600" cy="2619558"/>
          </a:xfrm>
          <a:prstGeom prst="rect">
            <a:avLst/>
          </a:prstGeom>
          <a:noFill/>
          <a:ln>
            <a:noFill/>
          </a:ln>
        </p:spPr>
      </p:pic>
      <p:pic>
        <p:nvPicPr>
          <p:cNvPr id="325" name="Google Shape;325;p39" descr="Distribution of Earth's Water | Physical Geography"/>
          <p:cNvPicPr preferRelativeResize="0"/>
          <p:nvPr/>
        </p:nvPicPr>
        <p:blipFill rotWithShape="1">
          <a:blip r:embed="rId4">
            <a:alphaModFix/>
          </a:blip>
          <a:srcRect/>
          <a:stretch/>
        </p:blipFill>
        <p:spPr>
          <a:xfrm>
            <a:off x="2286000" y="2362200"/>
            <a:ext cx="5974928" cy="383281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90"/>
        <p:cNvGrpSpPr/>
        <p:nvPr/>
      </p:nvGrpSpPr>
      <p:grpSpPr>
        <a:xfrm>
          <a:off x="0" y="0"/>
          <a:ext cx="0" cy="0"/>
          <a:chOff x="0" y="0"/>
          <a:chExt cx="0" cy="0"/>
        </a:xfrm>
      </p:grpSpPr>
      <p:sp>
        <p:nvSpPr>
          <p:cNvPr id="291" name="Google Shape;291;p35"/>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35"/>
          <p:cNvSpPr/>
          <p:nvPr/>
        </p:nvSpPr>
        <p:spPr>
          <a:xfrm>
            <a:off x="0" y="223"/>
            <a:ext cx="9143999" cy="10287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35"/>
          <p:cNvSpPr/>
          <p:nvPr/>
        </p:nvSpPr>
        <p:spPr>
          <a:xfrm>
            <a:off x="4401357" y="0"/>
            <a:ext cx="4742642" cy="59994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35"/>
          <p:cNvSpPr/>
          <p:nvPr/>
        </p:nvSpPr>
        <p:spPr>
          <a:xfrm>
            <a:off x="-828" y="0"/>
            <a:ext cx="9145590" cy="10205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5" name="Google Shape;295;p35"/>
          <p:cNvSpPr txBox="1">
            <a:spLocks noGrp="1"/>
          </p:cNvSpPr>
          <p:nvPr>
            <p:ph type="title"/>
          </p:nvPr>
        </p:nvSpPr>
        <p:spPr>
          <a:xfrm>
            <a:off x="444500" y="480137"/>
            <a:ext cx="8090534" cy="1244571"/>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Dams and its Social and Environmental Impacts:</a:t>
            </a:r>
            <a:endParaRPr/>
          </a:p>
        </p:txBody>
      </p:sp>
      <p:sp>
        <p:nvSpPr>
          <p:cNvPr id="296" name="Google Shape;296;p35"/>
          <p:cNvSpPr txBox="1"/>
          <p:nvPr/>
        </p:nvSpPr>
        <p:spPr>
          <a:xfrm>
            <a:off x="810564" y="1692211"/>
            <a:ext cx="7073900" cy="4139595"/>
          </a:xfrm>
          <a:prstGeom prst="rect">
            <a:avLst/>
          </a:prstGeom>
          <a:noFill/>
          <a:ln>
            <a:noFill/>
          </a:ln>
        </p:spPr>
        <p:txBody>
          <a:bodyPr spcFirstLastPara="1" wrap="square" lIns="0" tIns="86350" rIns="0" bIns="0" anchor="t" anchorCtr="0">
            <a:spAutoFit/>
          </a:bodyPr>
          <a:lstStyle/>
          <a:p>
            <a:pPr marL="317500" marR="0" lvl="0" indent="0" algn="just" rtl="0">
              <a:lnSpc>
                <a:spcPct val="100000"/>
              </a:lnSpc>
              <a:spcBef>
                <a:spcPts val="0"/>
              </a:spcBef>
              <a:spcAft>
                <a:spcPts val="0"/>
              </a:spcAft>
              <a:buNone/>
            </a:pPr>
            <a:r>
              <a:rPr lang="en-US" sz="2500" b="1">
                <a:solidFill>
                  <a:schemeClr val="dk1"/>
                </a:solidFill>
                <a:latin typeface="Times New Roman"/>
                <a:ea typeface="Times New Roman"/>
                <a:cs typeface="Times New Roman"/>
                <a:sym typeface="Times New Roman"/>
              </a:rPr>
              <a:t>Advantages of Dams:</a:t>
            </a:r>
            <a:endParaRPr sz="2500">
              <a:solidFill>
                <a:schemeClr val="dk1"/>
              </a:solidFill>
              <a:latin typeface="Times New Roman"/>
              <a:ea typeface="Times New Roman"/>
              <a:cs typeface="Times New Roman"/>
              <a:sym typeface="Times New Roman"/>
            </a:endParaRPr>
          </a:p>
          <a:p>
            <a:pPr marL="262255" marR="0" lvl="0" indent="-250190" algn="just" rtl="0">
              <a:lnSpc>
                <a:spcPct val="100000"/>
              </a:lnSpc>
              <a:spcBef>
                <a:spcPts val="58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Helps in water supply in Summer.</a:t>
            </a:r>
            <a:endParaRPr sz="2500">
              <a:solidFill>
                <a:schemeClr val="dk1"/>
              </a:solidFill>
              <a:latin typeface="Times New Roman"/>
              <a:ea typeface="Times New Roman"/>
              <a:cs typeface="Times New Roman"/>
              <a:sym typeface="Times New Roman"/>
            </a:endParaRPr>
          </a:p>
          <a:p>
            <a:pPr marL="314325" marR="0" lvl="0" indent="-302260" algn="just" rtl="0">
              <a:lnSpc>
                <a:spcPct val="100000"/>
              </a:lnSpc>
              <a:spcBef>
                <a:spcPts val="575"/>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Blocking the water flow towards Sea.</a:t>
            </a:r>
            <a:endParaRPr/>
          </a:p>
          <a:p>
            <a:pPr marL="306705" marR="0" lvl="0" indent="-294640" algn="just" rtl="0">
              <a:lnSpc>
                <a:spcPct val="100000"/>
              </a:lnSpc>
              <a:spcBef>
                <a:spcPts val="575"/>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For forming artificial lakes to maintain daily water</a:t>
            </a:r>
            <a:endParaRPr sz="2500">
              <a:solidFill>
                <a:schemeClr val="dk1"/>
              </a:solidFill>
              <a:latin typeface="Times New Roman"/>
              <a:ea typeface="Times New Roman"/>
              <a:cs typeface="Times New Roman"/>
              <a:sym typeface="Times New Roman"/>
            </a:endParaRPr>
          </a:p>
          <a:p>
            <a:pPr marL="341630" marR="0" lvl="0" indent="0" algn="just" rtl="0">
              <a:lnSpc>
                <a:spcPct val="100000"/>
              </a:lnSpc>
              <a:spcBef>
                <a:spcPts val="580"/>
              </a:spcBef>
              <a:spcAft>
                <a:spcPts val="0"/>
              </a:spcAft>
              <a:buNone/>
            </a:pPr>
            <a:r>
              <a:rPr lang="en-US" sz="2500">
                <a:solidFill>
                  <a:schemeClr val="dk1"/>
                </a:solidFill>
                <a:latin typeface="Times New Roman"/>
                <a:ea typeface="Times New Roman"/>
                <a:cs typeface="Times New Roman"/>
                <a:sym typeface="Times New Roman"/>
              </a:rPr>
              <a:t>supply.</a:t>
            </a:r>
            <a:endParaRPr sz="2500">
              <a:solidFill>
                <a:schemeClr val="dk1"/>
              </a:solidFill>
              <a:latin typeface="Times New Roman"/>
              <a:ea typeface="Times New Roman"/>
              <a:cs typeface="Times New Roman"/>
              <a:sym typeface="Times New Roman"/>
            </a:endParaRPr>
          </a:p>
          <a:p>
            <a:pPr marL="327660" marR="0" lvl="0" indent="-315594" algn="just" rtl="0">
              <a:lnSpc>
                <a:spcPct val="100000"/>
              </a:lnSpc>
              <a:spcBef>
                <a:spcPts val="575"/>
              </a:spcBef>
              <a:spcAft>
                <a:spcPts val="0"/>
              </a:spcAft>
              <a:buClr>
                <a:schemeClr val="dk1"/>
              </a:buClr>
              <a:buSzPts val="2500"/>
              <a:buFont typeface="Times New Roman"/>
              <a:buAutoNum type="arabicPeriod" startAt="4"/>
            </a:pPr>
            <a:r>
              <a:rPr lang="en-US" sz="2500">
                <a:solidFill>
                  <a:schemeClr val="dk1"/>
                </a:solidFill>
                <a:latin typeface="Times New Roman"/>
                <a:ea typeface="Times New Roman"/>
                <a:cs typeface="Times New Roman"/>
                <a:sym typeface="Times New Roman"/>
              </a:rPr>
              <a:t>Helps in irrigation and electricity generation.</a:t>
            </a:r>
            <a:endParaRPr sz="2500">
              <a:solidFill>
                <a:schemeClr val="dk1"/>
              </a:solidFill>
              <a:latin typeface="Times New Roman"/>
              <a:ea typeface="Times New Roman"/>
              <a:cs typeface="Times New Roman"/>
              <a:sym typeface="Times New Roman"/>
            </a:endParaRPr>
          </a:p>
          <a:p>
            <a:pPr marL="311785" marR="5080" lvl="0" indent="-311785" algn="just" rtl="0">
              <a:lnSpc>
                <a:spcPct val="138400"/>
              </a:lnSpc>
              <a:spcBef>
                <a:spcPts val="209"/>
              </a:spcBef>
              <a:spcAft>
                <a:spcPts val="0"/>
              </a:spcAft>
              <a:buClr>
                <a:schemeClr val="dk1"/>
              </a:buClr>
              <a:buSzPts val="2500"/>
              <a:buFont typeface="Times New Roman"/>
              <a:buAutoNum type="arabicPeriod" startAt="4"/>
            </a:pPr>
            <a:r>
              <a:rPr lang="en-US" sz="2500">
                <a:solidFill>
                  <a:schemeClr val="dk1"/>
                </a:solidFill>
                <a:latin typeface="Times New Roman"/>
                <a:ea typeface="Times New Roman"/>
                <a:cs typeface="Times New Roman"/>
                <a:sym typeface="Times New Roman"/>
              </a:rPr>
              <a:t>Useful in creating Ecosystems for Birds and Aquatic  Animals.</a:t>
            </a:r>
            <a:endParaRPr sz="2500">
              <a:solidFill>
                <a:schemeClr val="dk1"/>
              </a:solidFill>
              <a:latin typeface="Times New Roman"/>
              <a:ea typeface="Times New Roman"/>
              <a:cs typeface="Times New Roman"/>
              <a:sym typeface="Times New Roman"/>
            </a:endParaRPr>
          </a:p>
          <a:p>
            <a:pPr marL="330835" marR="0" lvl="0" indent="-318769" algn="just" rtl="0">
              <a:lnSpc>
                <a:spcPct val="100000"/>
              </a:lnSpc>
              <a:spcBef>
                <a:spcPts val="360"/>
              </a:spcBef>
              <a:spcAft>
                <a:spcPts val="0"/>
              </a:spcAft>
              <a:buClr>
                <a:schemeClr val="dk1"/>
              </a:buClr>
              <a:buSzPts val="2500"/>
              <a:buFont typeface="Times New Roman"/>
              <a:buAutoNum type="arabicPeriod" startAt="4"/>
            </a:pPr>
            <a:r>
              <a:rPr lang="en-US" sz="2500">
                <a:solidFill>
                  <a:schemeClr val="dk1"/>
                </a:solidFill>
                <a:latin typeface="Times New Roman"/>
                <a:ea typeface="Times New Roman"/>
                <a:cs typeface="Times New Roman"/>
                <a:sym typeface="Times New Roman"/>
              </a:rPr>
              <a:t>Useful to farmers to yield multiple crops in a year.</a:t>
            </a:r>
            <a:endParaRPr sz="2500">
              <a:solidFill>
                <a:schemeClr val="dk1"/>
              </a:solidFill>
              <a:latin typeface="Times New Roman"/>
              <a:ea typeface="Times New Roman"/>
              <a:cs typeface="Times New Roman"/>
              <a:sym typeface="Times New Roman"/>
            </a:endParaRPr>
          </a:p>
        </p:txBody>
      </p:sp>
      <p:sp>
        <p:nvSpPr>
          <p:cNvPr id="297" name="Google Shape;297;p35"/>
          <p:cNvSpPr/>
          <p:nvPr/>
        </p:nvSpPr>
        <p:spPr>
          <a:xfrm>
            <a:off x="534162" y="1905761"/>
            <a:ext cx="381000" cy="152400"/>
          </a:xfrm>
          <a:custGeom>
            <a:avLst/>
            <a:gdLst/>
            <a:ahLst/>
            <a:cxnLst/>
            <a:rect l="l" t="t" r="r" b="b"/>
            <a:pathLst>
              <a:path w="381000" h="152400" extrusionOk="0">
                <a:moveTo>
                  <a:pt x="304800" y="0"/>
                </a:moveTo>
                <a:lnTo>
                  <a:pt x="304800" y="38100"/>
                </a:lnTo>
                <a:lnTo>
                  <a:pt x="0" y="38100"/>
                </a:lnTo>
                <a:lnTo>
                  <a:pt x="0" y="114300"/>
                </a:lnTo>
                <a:lnTo>
                  <a:pt x="304800" y="114300"/>
                </a:lnTo>
                <a:lnTo>
                  <a:pt x="304800" y="152400"/>
                </a:lnTo>
                <a:lnTo>
                  <a:pt x="381000" y="76200"/>
                </a:lnTo>
                <a:lnTo>
                  <a:pt x="304800" y="0"/>
                </a:lnTo>
                <a:close/>
              </a:path>
            </a:pathLst>
          </a:custGeom>
          <a:solidFill>
            <a:srgbClr val="0E6EC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35"/>
          <p:cNvSpPr/>
          <p:nvPr/>
        </p:nvSpPr>
        <p:spPr>
          <a:xfrm>
            <a:off x="534162" y="1905761"/>
            <a:ext cx="381000" cy="152400"/>
          </a:xfrm>
          <a:custGeom>
            <a:avLst/>
            <a:gdLst/>
            <a:ahLst/>
            <a:cxnLst/>
            <a:rect l="l" t="t" r="r" b="b"/>
            <a:pathLst>
              <a:path w="381000" h="152400" extrusionOk="0">
                <a:moveTo>
                  <a:pt x="0" y="38100"/>
                </a:moveTo>
                <a:lnTo>
                  <a:pt x="304800" y="38100"/>
                </a:lnTo>
                <a:lnTo>
                  <a:pt x="304800" y="0"/>
                </a:lnTo>
                <a:lnTo>
                  <a:pt x="381000" y="76200"/>
                </a:lnTo>
                <a:lnTo>
                  <a:pt x="304800" y="152400"/>
                </a:lnTo>
                <a:lnTo>
                  <a:pt x="304800" y="114300"/>
                </a:lnTo>
                <a:lnTo>
                  <a:pt x="0" y="114300"/>
                </a:lnTo>
                <a:lnTo>
                  <a:pt x="0" y="3810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6"/>
          <p:cNvSpPr txBox="1">
            <a:spLocks noGrp="1"/>
          </p:cNvSpPr>
          <p:nvPr>
            <p:ph type="title"/>
          </p:nvPr>
        </p:nvSpPr>
        <p:spPr>
          <a:xfrm>
            <a:off x="1450594" y="848469"/>
            <a:ext cx="3909695" cy="397545"/>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rgbClr val="000000"/>
              </a:buClr>
              <a:buSzPts val="2500"/>
              <a:buFont typeface="Times New Roman"/>
              <a:buNone/>
            </a:pPr>
            <a:r>
              <a:rPr lang="en-US" sz="2500" b="1">
                <a:solidFill>
                  <a:srgbClr val="000000"/>
                </a:solidFill>
                <a:latin typeface="Times New Roman"/>
                <a:ea typeface="Times New Roman"/>
                <a:cs typeface="Times New Roman"/>
                <a:sym typeface="Times New Roman"/>
              </a:rPr>
              <a:t>Problems Caused by Dams:</a:t>
            </a:r>
            <a:endParaRPr sz="2500">
              <a:latin typeface="Times New Roman"/>
              <a:ea typeface="Times New Roman"/>
              <a:cs typeface="Times New Roman"/>
              <a:sym typeface="Times New Roman"/>
            </a:endParaRPr>
          </a:p>
        </p:txBody>
      </p:sp>
      <p:sp>
        <p:nvSpPr>
          <p:cNvPr id="304" name="Google Shape;304;p36"/>
          <p:cNvSpPr txBox="1"/>
          <p:nvPr/>
        </p:nvSpPr>
        <p:spPr>
          <a:xfrm>
            <a:off x="810564" y="1584921"/>
            <a:ext cx="8028636" cy="5005858"/>
          </a:xfrm>
          <a:prstGeom prst="rect">
            <a:avLst/>
          </a:prstGeom>
          <a:noFill/>
          <a:ln>
            <a:noFill/>
          </a:ln>
        </p:spPr>
        <p:txBody>
          <a:bodyPr spcFirstLastPara="1" wrap="square" lIns="0" tIns="80625" rIns="0" bIns="0" anchor="t" anchorCtr="0">
            <a:spAutoFit/>
          </a:bodyPr>
          <a:lstStyle/>
          <a:p>
            <a:pPr marL="241300" marR="0" lvl="0" indent="-228600" algn="just" rtl="0">
              <a:lnSpc>
                <a:spcPct val="100000"/>
              </a:lnSpc>
              <a:spcBef>
                <a:spcPts val="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Fragmentation and Physical Transformation of rivers.</a:t>
            </a:r>
            <a:endParaRPr sz="2500">
              <a:solidFill>
                <a:schemeClr val="dk1"/>
              </a:solidFill>
              <a:latin typeface="Times New Roman"/>
              <a:ea typeface="Times New Roman"/>
              <a:cs typeface="Times New Roman"/>
              <a:sym typeface="Times New Roman"/>
            </a:endParaRPr>
          </a:p>
          <a:p>
            <a:pPr marL="288290" marR="0" lvl="0" indent="-276225" algn="just" rtl="0">
              <a:lnSpc>
                <a:spcPct val="100000"/>
              </a:lnSpc>
              <a:spcBef>
                <a:spcPts val="53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Serious impact on river-line Ecosystem.</a:t>
            </a:r>
            <a:endParaRPr sz="2500">
              <a:solidFill>
                <a:schemeClr val="dk1"/>
              </a:solidFill>
              <a:latin typeface="Times New Roman"/>
              <a:ea typeface="Times New Roman"/>
              <a:cs typeface="Times New Roman"/>
              <a:sym typeface="Times New Roman"/>
            </a:endParaRPr>
          </a:p>
          <a:p>
            <a:pPr marL="292735" marR="215265" lvl="0" indent="-280669" algn="just" rtl="0">
              <a:lnSpc>
                <a:spcPct val="120000"/>
              </a:lnSpc>
              <a:spcBef>
                <a:spcPts val="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Social consequences of large dams due to displacement of  peoples.</a:t>
            </a:r>
            <a:endParaRPr sz="2500">
              <a:solidFill>
                <a:schemeClr val="dk1"/>
              </a:solidFill>
              <a:latin typeface="Times New Roman"/>
              <a:ea typeface="Times New Roman"/>
              <a:cs typeface="Times New Roman"/>
              <a:sym typeface="Times New Roman"/>
            </a:endParaRPr>
          </a:p>
          <a:p>
            <a:pPr marL="297180" marR="0" lvl="0" indent="-285115" algn="just" rtl="0">
              <a:lnSpc>
                <a:spcPct val="100000"/>
              </a:lnSpc>
              <a:spcBef>
                <a:spcPts val="525"/>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Water logging and selinization of the surrounding land.</a:t>
            </a:r>
            <a:endParaRPr sz="2500">
              <a:solidFill>
                <a:schemeClr val="dk1"/>
              </a:solidFill>
              <a:latin typeface="Times New Roman"/>
              <a:ea typeface="Times New Roman"/>
              <a:cs typeface="Times New Roman"/>
              <a:sym typeface="Times New Roman"/>
            </a:endParaRPr>
          </a:p>
          <a:p>
            <a:pPr marL="289560" marR="5080" lvl="0" indent="-277494" algn="just" rtl="0">
              <a:lnSpc>
                <a:spcPct val="120000"/>
              </a:lnSpc>
              <a:spcBef>
                <a:spcPts val="5"/>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Dislodging animal population, damaging their habitat and  cutting of their migratory routes.</a:t>
            </a:r>
            <a:endParaRPr sz="2500">
              <a:solidFill>
                <a:schemeClr val="dk1"/>
              </a:solidFill>
              <a:latin typeface="Times New Roman"/>
              <a:ea typeface="Times New Roman"/>
              <a:cs typeface="Times New Roman"/>
              <a:sym typeface="Times New Roman"/>
            </a:endParaRPr>
          </a:p>
          <a:p>
            <a:pPr marL="304800" marR="0" lvl="0" indent="-292735" algn="just" rtl="0">
              <a:lnSpc>
                <a:spcPct val="100000"/>
              </a:lnSpc>
              <a:spcBef>
                <a:spcPts val="525"/>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Disruption of fishing and water- way traffic.</a:t>
            </a:r>
            <a:endParaRPr sz="2500">
              <a:solidFill>
                <a:schemeClr val="dk1"/>
              </a:solidFill>
              <a:latin typeface="Times New Roman"/>
              <a:ea typeface="Times New Roman"/>
              <a:cs typeface="Times New Roman"/>
              <a:sym typeface="Times New Roman"/>
            </a:endParaRPr>
          </a:p>
          <a:p>
            <a:pPr marL="281940" marR="0" lvl="0" indent="-269875" algn="just" rtl="0">
              <a:lnSpc>
                <a:spcPct val="100000"/>
              </a:lnSpc>
              <a:spcBef>
                <a:spcPts val="535"/>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emission of green house gases due to rotting of vegetation.</a:t>
            </a:r>
            <a:endParaRPr sz="2500">
              <a:solidFill>
                <a:schemeClr val="dk1"/>
              </a:solidFill>
              <a:latin typeface="Times New Roman"/>
              <a:ea typeface="Times New Roman"/>
              <a:cs typeface="Times New Roman"/>
              <a:sym typeface="Times New Roman"/>
            </a:endParaRPr>
          </a:p>
          <a:p>
            <a:pPr marL="303530" marR="0" lvl="0" indent="-291465" algn="just" rtl="0">
              <a:lnSpc>
                <a:spcPct val="100000"/>
              </a:lnSpc>
              <a:spcBef>
                <a:spcPts val="525"/>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Serious impact on tribal people.</a:t>
            </a:r>
            <a:endParaRPr sz="2500">
              <a:solidFill>
                <a:schemeClr val="dk1"/>
              </a:solidFill>
              <a:latin typeface="Times New Roman"/>
              <a:ea typeface="Times New Roman"/>
              <a:cs typeface="Times New Roman"/>
              <a:sym typeface="Times New Roman"/>
            </a:endParaRPr>
          </a:p>
          <a:p>
            <a:pPr marL="304800" marR="0" lvl="0" indent="-292735" algn="just" rtl="0">
              <a:lnSpc>
                <a:spcPct val="100000"/>
              </a:lnSpc>
              <a:spcBef>
                <a:spcPts val="530"/>
              </a:spcBef>
              <a:spcAft>
                <a:spcPts val="0"/>
              </a:spcAft>
              <a:buClr>
                <a:schemeClr val="dk1"/>
              </a:buClr>
              <a:buSzPts val="2500"/>
              <a:buFont typeface="Times New Roman"/>
              <a:buAutoNum type="arabicPeriod"/>
            </a:pPr>
            <a:r>
              <a:rPr lang="en-US" sz="2500">
                <a:solidFill>
                  <a:schemeClr val="dk1"/>
                </a:solidFill>
                <a:latin typeface="Times New Roman"/>
                <a:ea typeface="Times New Roman"/>
                <a:cs typeface="Times New Roman"/>
                <a:sym typeface="Times New Roman"/>
              </a:rPr>
              <a:t>failure in achieving the targeted objectives and high cost.</a:t>
            </a:r>
            <a:endParaRPr sz="2500">
              <a:solidFill>
                <a:schemeClr val="dk1"/>
              </a:solidFill>
              <a:latin typeface="Times New Roman"/>
              <a:ea typeface="Times New Roman"/>
              <a:cs typeface="Times New Roman"/>
              <a:sym typeface="Times New Roman"/>
            </a:endParaRPr>
          </a:p>
        </p:txBody>
      </p:sp>
      <p:sp>
        <p:nvSpPr>
          <p:cNvPr id="305" name="Google Shape;305;p36"/>
          <p:cNvSpPr/>
          <p:nvPr/>
        </p:nvSpPr>
        <p:spPr>
          <a:xfrm>
            <a:off x="610362" y="991361"/>
            <a:ext cx="457200" cy="228600"/>
          </a:xfrm>
          <a:custGeom>
            <a:avLst/>
            <a:gdLst/>
            <a:ahLst/>
            <a:cxnLst/>
            <a:rect l="l" t="t" r="r" b="b"/>
            <a:pathLst>
              <a:path w="457200" h="228600" extrusionOk="0">
                <a:moveTo>
                  <a:pt x="342900" y="0"/>
                </a:moveTo>
                <a:lnTo>
                  <a:pt x="342900" y="57150"/>
                </a:lnTo>
                <a:lnTo>
                  <a:pt x="0" y="57150"/>
                </a:lnTo>
                <a:lnTo>
                  <a:pt x="0" y="171450"/>
                </a:lnTo>
                <a:lnTo>
                  <a:pt x="342900" y="171450"/>
                </a:lnTo>
                <a:lnTo>
                  <a:pt x="342900" y="228600"/>
                </a:lnTo>
                <a:lnTo>
                  <a:pt x="457200" y="114300"/>
                </a:lnTo>
                <a:lnTo>
                  <a:pt x="342900" y="0"/>
                </a:lnTo>
                <a:close/>
              </a:path>
            </a:pathLst>
          </a:custGeom>
          <a:solidFill>
            <a:srgbClr val="0E6EC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36"/>
          <p:cNvSpPr/>
          <p:nvPr/>
        </p:nvSpPr>
        <p:spPr>
          <a:xfrm>
            <a:off x="610362" y="991361"/>
            <a:ext cx="457200" cy="228600"/>
          </a:xfrm>
          <a:custGeom>
            <a:avLst/>
            <a:gdLst/>
            <a:ahLst/>
            <a:cxnLst/>
            <a:rect l="l" t="t" r="r" b="b"/>
            <a:pathLst>
              <a:path w="457200" h="228600" extrusionOk="0">
                <a:moveTo>
                  <a:pt x="0" y="57150"/>
                </a:moveTo>
                <a:lnTo>
                  <a:pt x="342900" y="57150"/>
                </a:lnTo>
                <a:lnTo>
                  <a:pt x="342900" y="0"/>
                </a:lnTo>
                <a:lnTo>
                  <a:pt x="457200" y="114300"/>
                </a:lnTo>
                <a:lnTo>
                  <a:pt x="342900" y="228600"/>
                </a:lnTo>
                <a:lnTo>
                  <a:pt x="342900" y="171450"/>
                </a:lnTo>
                <a:lnTo>
                  <a:pt x="0" y="171450"/>
                </a:lnTo>
                <a:lnTo>
                  <a:pt x="0" y="57150"/>
                </a:lnTo>
                <a:close/>
              </a:path>
            </a:pathLst>
          </a:custGeom>
          <a:noFill/>
          <a:ln w="25900" cap="flat" cmpd="sng">
            <a:solidFill>
              <a:srgbClr val="08509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7"/>
          <p:cNvSpPr txBox="1">
            <a:spLocks noGrp="1"/>
          </p:cNvSpPr>
          <p:nvPr>
            <p:ph type="title"/>
          </p:nvPr>
        </p:nvSpPr>
        <p:spPr>
          <a:xfrm>
            <a:off x="444500" y="1161307"/>
            <a:ext cx="8112759"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Impact of Over Utilization of Water:</a:t>
            </a:r>
            <a:endParaRPr sz="4000" b="1">
              <a:latin typeface="Times New Roman"/>
              <a:ea typeface="Times New Roman"/>
              <a:cs typeface="Times New Roman"/>
              <a:sym typeface="Times New Roman"/>
            </a:endParaRPr>
          </a:p>
        </p:txBody>
      </p:sp>
      <p:sp>
        <p:nvSpPr>
          <p:cNvPr id="312" name="Google Shape;312;p37"/>
          <p:cNvSpPr txBox="1"/>
          <p:nvPr/>
        </p:nvSpPr>
        <p:spPr>
          <a:xfrm>
            <a:off x="535940" y="2219680"/>
            <a:ext cx="7912100" cy="3117215"/>
          </a:xfrm>
          <a:prstGeom prst="rect">
            <a:avLst/>
          </a:prstGeom>
          <a:noFill/>
          <a:ln>
            <a:noFill/>
          </a:ln>
        </p:spPr>
        <p:txBody>
          <a:bodyPr spcFirstLastPara="1" wrap="square" lIns="0" tIns="91425" rIns="0" bIns="0" anchor="t" anchorCtr="0">
            <a:spAutoFit/>
          </a:bodyPr>
          <a:lstStyle/>
          <a:p>
            <a:pPr marL="277495" marR="0" lvl="0" indent="-265430" algn="l" rtl="0">
              <a:lnSpc>
                <a:spcPct val="100000"/>
              </a:lnSpc>
              <a:spcBef>
                <a:spcPts val="0"/>
              </a:spcBef>
              <a:spcAft>
                <a:spcPts val="0"/>
              </a:spcAft>
              <a:buClr>
                <a:srgbClr val="0D0D0D"/>
              </a:buClr>
              <a:buSzPts val="2500"/>
              <a:buFont typeface="Times New Roman"/>
              <a:buAutoNum type="arabicPeriod"/>
            </a:pPr>
            <a:r>
              <a:rPr lang="en-US" sz="2500">
                <a:solidFill>
                  <a:srgbClr val="0D0D0D"/>
                </a:solidFill>
                <a:latin typeface="Times New Roman"/>
                <a:ea typeface="Times New Roman"/>
                <a:cs typeface="Times New Roman"/>
                <a:sym typeface="Times New Roman"/>
              </a:rPr>
              <a:t>Water scarcity specially in summer.</a:t>
            </a:r>
            <a:endParaRPr sz="2500">
              <a:solidFill>
                <a:schemeClr val="dk1"/>
              </a:solidFill>
              <a:latin typeface="Times New Roman"/>
              <a:ea typeface="Times New Roman"/>
              <a:cs typeface="Times New Roman"/>
              <a:sym typeface="Times New Roman"/>
            </a:endParaRPr>
          </a:p>
          <a:p>
            <a:pPr marL="287020" marR="367665" lvl="0" indent="-274955" algn="l" rtl="0">
              <a:lnSpc>
                <a:spcPct val="100000"/>
              </a:lnSpc>
              <a:spcBef>
                <a:spcPts val="625"/>
              </a:spcBef>
              <a:spcAft>
                <a:spcPts val="0"/>
              </a:spcAft>
              <a:buClr>
                <a:srgbClr val="0D0D0D"/>
              </a:buClr>
              <a:buSzPts val="2500"/>
              <a:buFont typeface="Constantia"/>
              <a:buAutoNum type="arabicPeriod"/>
            </a:pPr>
            <a:r>
              <a:rPr lang="en-US" sz="2500">
                <a:solidFill>
                  <a:schemeClr val="dk1"/>
                </a:solidFill>
                <a:latin typeface="Times New Roman"/>
                <a:ea typeface="Times New Roman"/>
                <a:cs typeface="Times New Roman"/>
                <a:sym typeface="Times New Roman"/>
              </a:rPr>
              <a:t>	</a:t>
            </a:r>
            <a:r>
              <a:rPr lang="en-US" sz="2500">
                <a:solidFill>
                  <a:srgbClr val="0D0D0D"/>
                </a:solidFill>
                <a:latin typeface="Times New Roman"/>
                <a:ea typeface="Times New Roman"/>
                <a:cs typeface="Times New Roman"/>
                <a:sym typeface="Times New Roman"/>
              </a:rPr>
              <a:t>Wastage of Water may lead to blockage of drainage  line, water pollution, Air pollution and Virulent  disease or epidemics.</a:t>
            </a:r>
            <a:endParaRPr sz="2500">
              <a:solidFill>
                <a:schemeClr val="dk1"/>
              </a:solidFill>
              <a:latin typeface="Times New Roman"/>
              <a:ea typeface="Times New Roman"/>
              <a:cs typeface="Times New Roman"/>
              <a:sym typeface="Times New Roman"/>
            </a:endParaRPr>
          </a:p>
          <a:p>
            <a:pPr marL="330200" marR="0" lvl="0" indent="-318135" algn="l" rtl="0">
              <a:lnSpc>
                <a:spcPct val="100000"/>
              </a:lnSpc>
              <a:spcBef>
                <a:spcPts val="625"/>
              </a:spcBef>
              <a:spcAft>
                <a:spcPts val="0"/>
              </a:spcAft>
              <a:buClr>
                <a:srgbClr val="0D0D0D"/>
              </a:buClr>
              <a:buSzPts val="2500"/>
              <a:buFont typeface="Times New Roman"/>
              <a:buAutoNum type="arabicPeriod"/>
            </a:pPr>
            <a:r>
              <a:rPr lang="en-US" sz="2500">
                <a:solidFill>
                  <a:srgbClr val="0D0D0D"/>
                </a:solidFill>
                <a:latin typeface="Times New Roman"/>
                <a:ea typeface="Times New Roman"/>
                <a:cs typeface="Times New Roman"/>
                <a:sym typeface="Times New Roman"/>
              </a:rPr>
              <a:t>Economic loss due to over usage of Water.</a:t>
            </a:r>
            <a:endParaRPr sz="2500">
              <a:solidFill>
                <a:schemeClr val="dk1"/>
              </a:solidFill>
              <a:latin typeface="Times New Roman"/>
              <a:ea typeface="Times New Roman"/>
              <a:cs typeface="Times New Roman"/>
              <a:sym typeface="Times New Roman"/>
            </a:endParaRPr>
          </a:p>
          <a:p>
            <a:pPr marL="287020" marR="5080" lvl="0" indent="-274955" algn="l" rtl="0">
              <a:lnSpc>
                <a:spcPct val="100000"/>
              </a:lnSpc>
              <a:spcBef>
                <a:spcPts val="625"/>
              </a:spcBef>
              <a:spcAft>
                <a:spcPts val="0"/>
              </a:spcAft>
              <a:buClr>
                <a:srgbClr val="0D0D0D"/>
              </a:buClr>
              <a:buSzPts val="2500"/>
              <a:buFont typeface="Times New Roman"/>
              <a:buAutoNum type="arabicPeriod"/>
            </a:pPr>
            <a:r>
              <a:rPr lang="en-US" sz="2500">
                <a:solidFill>
                  <a:srgbClr val="0D0D0D"/>
                </a:solidFill>
                <a:latin typeface="Times New Roman"/>
                <a:ea typeface="Times New Roman"/>
                <a:cs typeface="Times New Roman"/>
                <a:sym typeface="Times New Roman"/>
              </a:rPr>
              <a:t>It may be considered as Crime or Offence in the court  of Almighty.</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8"/>
          <p:cNvSpPr txBox="1">
            <a:spLocks noGrp="1"/>
          </p:cNvSpPr>
          <p:nvPr>
            <p:ph type="title"/>
          </p:nvPr>
        </p:nvSpPr>
        <p:spPr>
          <a:xfrm>
            <a:off x="0" y="873581"/>
            <a:ext cx="8991600" cy="627736"/>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Recharging and Conservation of Water:</a:t>
            </a:r>
            <a:endParaRPr sz="4000" b="1">
              <a:latin typeface="Times New Roman"/>
              <a:ea typeface="Times New Roman"/>
              <a:cs typeface="Times New Roman"/>
              <a:sym typeface="Times New Roman"/>
            </a:endParaRPr>
          </a:p>
        </p:txBody>
      </p:sp>
      <p:sp>
        <p:nvSpPr>
          <p:cNvPr id="318" name="Google Shape;318;p38"/>
          <p:cNvSpPr txBox="1"/>
          <p:nvPr/>
        </p:nvSpPr>
        <p:spPr>
          <a:xfrm>
            <a:off x="228600" y="1692605"/>
            <a:ext cx="8763000" cy="5001497"/>
          </a:xfrm>
          <a:prstGeom prst="rect">
            <a:avLst/>
          </a:prstGeom>
          <a:noFill/>
          <a:ln>
            <a:noFill/>
          </a:ln>
        </p:spPr>
        <p:txBody>
          <a:bodyPr spcFirstLastPara="1" wrap="square" lIns="0" tIns="13325" rIns="0" bIns="0" anchor="t" anchorCtr="0">
            <a:spAutoFit/>
          </a:bodyPr>
          <a:lstStyle/>
          <a:p>
            <a:pPr marL="527685" marR="0" lvl="0" indent="-515619" algn="l" rtl="0">
              <a:lnSpc>
                <a:spcPct val="100000"/>
              </a:lnSpc>
              <a:spcBef>
                <a:spcPts val="0"/>
              </a:spcBef>
              <a:spcAft>
                <a:spcPts val="0"/>
              </a:spcAft>
              <a:buClr>
                <a:srgbClr val="0AD0D9"/>
              </a:buClr>
              <a:buSzPts val="2090"/>
              <a:buFont typeface="Times New Roman"/>
              <a:buAutoNum type="arabicPeriod"/>
            </a:pPr>
            <a:r>
              <a:rPr lang="en-US" sz="2200">
                <a:solidFill>
                  <a:schemeClr val="dk1"/>
                </a:solidFill>
                <a:latin typeface="Times New Roman"/>
                <a:ea typeface="Times New Roman"/>
                <a:cs typeface="Times New Roman"/>
                <a:sym typeface="Times New Roman"/>
              </a:rPr>
              <a:t>Construction of small Dams and artificial lakes for the water storage</a:t>
            </a:r>
            <a:endParaRPr sz="2200">
              <a:solidFill>
                <a:schemeClr val="dk1"/>
              </a:solidFill>
              <a:latin typeface="Times New Roman"/>
              <a:ea typeface="Times New Roman"/>
              <a:cs typeface="Times New Roman"/>
              <a:sym typeface="Times New Roman"/>
            </a:endParaRPr>
          </a:p>
          <a:p>
            <a:pPr marL="527685" marR="0" lvl="0" indent="0" algn="l" rtl="0">
              <a:lnSpc>
                <a:spcPct val="100000"/>
              </a:lnSpc>
              <a:spcBef>
                <a:spcPts val="5"/>
              </a:spcBef>
              <a:spcAft>
                <a:spcPts val="0"/>
              </a:spcAft>
              <a:buNone/>
            </a:pPr>
            <a:r>
              <a:rPr lang="en-US" sz="2200">
                <a:solidFill>
                  <a:schemeClr val="dk1"/>
                </a:solidFill>
                <a:latin typeface="Times New Roman"/>
                <a:ea typeface="Times New Roman"/>
                <a:cs typeface="Times New Roman"/>
                <a:sym typeface="Times New Roman"/>
              </a:rPr>
              <a:t>purpose.</a:t>
            </a:r>
            <a:endParaRPr sz="2200">
              <a:solidFill>
                <a:schemeClr val="dk1"/>
              </a:solidFill>
              <a:latin typeface="Times New Roman"/>
              <a:ea typeface="Times New Roman"/>
              <a:cs typeface="Times New Roman"/>
              <a:sym typeface="Times New Roman"/>
            </a:endParaRPr>
          </a:p>
          <a:p>
            <a:pPr marL="527685" marR="0" lvl="0" indent="-515619" algn="l" rtl="0">
              <a:lnSpc>
                <a:spcPct val="100000"/>
              </a:lnSpc>
              <a:spcBef>
                <a:spcPts val="480"/>
              </a:spcBef>
              <a:spcAft>
                <a:spcPts val="0"/>
              </a:spcAft>
              <a:buClr>
                <a:srgbClr val="0AD0D9"/>
              </a:buClr>
              <a:buSzPts val="2090"/>
              <a:buFont typeface="Times New Roman"/>
              <a:buAutoNum type="arabicPeriod" startAt="2"/>
            </a:pPr>
            <a:r>
              <a:rPr lang="en-US" sz="2200">
                <a:solidFill>
                  <a:schemeClr val="dk1"/>
                </a:solidFill>
                <a:latin typeface="Times New Roman"/>
                <a:ea typeface="Times New Roman"/>
                <a:cs typeface="Times New Roman"/>
                <a:sym typeface="Times New Roman"/>
              </a:rPr>
              <a:t>Construction of ponds for the purpose of storing rain water.</a:t>
            </a:r>
            <a:endParaRPr sz="2200">
              <a:solidFill>
                <a:schemeClr val="dk1"/>
              </a:solidFill>
              <a:latin typeface="Times New Roman"/>
              <a:ea typeface="Times New Roman"/>
              <a:cs typeface="Times New Roman"/>
              <a:sym typeface="Times New Roman"/>
            </a:endParaRPr>
          </a:p>
          <a:p>
            <a:pPr marL="527685" marR="0" lvl="0" indent="-515619" algn="l" rtl="0">
              <a:lnSpc>
                <a:spcPct val="100000"/>
              </a:lnSpc>
              <a:spcBef>
                <a:spcPts val="480"/>
              </a:spcBef>
              <a:spcAft>
                <a:spcPts val="0"/>
              </a:spcAft>
              <a:buClr>
                <a:srgbClr val="0AD0D9"/>
              </a:buClr>
              <a:buSzPts val="2090"/>
              <a:buFont typeface="Times New Roman"/>
              <a:buAutoNum type="arabicPeriod" startAt="2"/>
            </a:pPr>
            <a:r>
              <a:rPr lang="en-US" sz="2200">
                <a:solidFill>
                  <a:schemeClr val="dk1"/>
                </a:solidFill>
                <a:latin typeface="Times New Roman"/>
                <a:ea typeface="Times New Roman"/>
                <a:cs typeface="Times New Roman"/>
                <a:sym typeface="Times New Roman"/>
              </a:rPr>
              <a:t>Grow more trees to increase the chances of Rain.</a:t>
            </a:r>
            <a:endParaRPr sz="2200">
              <a:solidFill>
                <a:schemeClr val="dk1"/>
              </a:solidFill>
              <a:latin typeface="Times New Roman"/>
              <a:ea typeface="Times New Roman"/>
              <a:cs typeface="Times New Roman"/>
              <a:sym typeface="Times New Roman"/>
            </a:endParaRPr>
          </a:p>
          <a:p>
            <a:pPr marL="527685" marR="0" lvl="0" indent="-515619" algn="l" rtl="0">
              <a:lnSpc>
                <a:spcPct val="100000"/>
              </a:lnSpc>
              <a:spcBef>
                <a:spcPts val="480"/>
              </a:spcBef>
              <a:spcAft>
                <a:spcPts val="0"/>
              </a:spcAft>
              <a:buClr>
                <a:srgbClr val="0AD0D9"/>
              </a:buClr>
              <a:buSzPts val="2090"/>
              <a:buFont typeface="Times New Roman"/>
              <a:buAutoNum type="arabicPeriod" startAt="2"/>
            </a:pPr>
            <a:r>
              <a:rPr lang="en-US" sz="2200">
                <a:solidFill>
                  <a:schemeClr val="dk1"/>
                </a:solidFill>
                <a:latin typeface="Times New Roman"/>
                <a:ea typeface="Times New Roman"/>
                <a:cs typeface="Times New Roman"/>
                <a:sym typeface="Times New Roman"/>
              </a:rPr>
              <a:t>Economical use of water. (avoid water wastage)</a:t>
            </a:r>
            <a:endParaRPr sz="2200">
              <a:solidFill>
                <a:schemeClr val="dk1"/>
              </a:solidFill>
              <a:latin typeface="Times New Roman"/>
              <a:ea typeface="Times New Roman"/>
              <a:cs typeface="Times New Roman"/>
              <a:sym typeface="Times New Roman"/>
            </a:endParaRPr>
          </a:p>
          <a:p>
            <a:pPr marL="527685" marR="0" lvl="0" indent="-515619" algn="l" rtl="0">
              <a:lnSpc>
                <a:spcPct val="100000"/>
              </a:lnSpc>
              <a:spcBef>
                <a:spcPts val="480"/>
              </a:spcBef>
              <a:spcAft>
                <a:spcPts val="0"/>
              </a:spcAft>
              <a:buClr>
                <a:srgbClr val="0AD0D9"/>
              </a:buClr>
              <a:buSzPts val="2090"/>
              <a:buFont typeface="Times New Roman"/>
              <a:buAutoNum type="arabicPeriod" startAt="2"/>
            </a:pPr>
            <a:r>
              <a:rPr lang="en-US" sz="2200">
                <a:solidFill>
                  <a:schemeClr val="dk1"/>
                </a:solidFill>
                <a:latin typeface="Times New Roman"/>
                <a:ea typeface="Times New Roman"/>
                <a:cs typeface="Times New Roman"/>
                <a:sym typeface="Times New Roman"/>
              </a:rPr>
              <a:t>Try to reuse the water. E.g:</a:t>
            </a:r>
            <a:endParaRPr sz="2200">
              <a:solidFill>
                <a:schemeClr val="dk1"/>
              </a:solidFill>
              <a:latin typeface="Times New Roman"/>
              <a:ea typeface="Times New Roman"/>
              <a:cs typeface="Times New Roman"/>
              <a:sym typeface="Times New Roman"/>
            </a:endParaRPr>
          </a:p>
          <a:p>
            <a:pPr marL="718185" marR="1713864" lvl="1" indent="-190500" algn="l" rtl="0">
              <a:lnSpc>
                <a:spcPct val="120000"/>
              </a:lnSpc>
              <a:spcBef>
                <a:spcPts val="0"/>
              </a:spcBef>
              <a:spcAft>
                <a:spcPts val="0"/>
              </a:spcAft>
              <a:buClr>
                <a:schemeClr val="dk1"/>
              </a:buClr>
              <a:buSzPts val="2200"/>
              <a:buFont typeface="Times New Roman"/>
              <a:buAutoNum type="arabicPeriod"/>
            </a:pPr>
            <a:r>
              <a:rPr lang="en-US" sz="2200" b="0" i="0" u="none" strike="noStrike" cap="none">
                <a:solidFill>
                  <a:schemeClr val="dk1"/>
                </a:solidFill>
                <a:latin typeface="Times New Roman"/>
                <a:ea typeface="Times New Roman"/>
                <a:cs typeface="Times New Roman"/>
                <a:sym typeface="Times New Roman"/>
              </a:rPr>
              <a:t>Water used for bathing can be reused for vegetation  in the veranda.</a:t>
            </a:r>
            <a:endParaRPr sz="2200" b="0" i="0" u="none" strike="noStrike" cap="none">
              <a:solidFill>
                <a:schemeClr val="dk1"/>
              </a:solidFill>
              <a:latin typeface="Times New Roman"/>
              <a:ea typeface="Times New Roman"/>
              <a:cs typeface="Times New Roman"/>
              <a:sym typeface="Times New Roman"/>
            </a:endParaRPr>
          </a:p>
          <a:p>
            <a:pPr marL="775970" marR="1372235" lvl="1" indent="-248919" algn="l" rtl="0">
              <a:lnSpc>
                <a:spcPct val="130909"/>
              </a:lnSpc>
              <a:spcBef>
                <a:spcPts val="175"/>
              </a:spcBef>
              <a:spcAft>
                <a:spcPts val="0"/>
              </a:spcAft>
              <a:buClr>
                <a:schemeClr val="dk1"/>
              </a:buClr>
              <a:buSzPts val="2200"/>
              <a:buFont typeface="Times New Roman"/>
              <a:buAutoNum type="arabicPeriod"/>
            </a:pPr>
            <a:r>
              <a:rPr lang="en-US" sz="2200" b="0" i="0" u="none" strike="noStrike" cap="none">
                <a:solidFill>
                  <a:schemeClr val="dk1"/>
                </a:solidFill>
                <a:latin typeface="Times New Roman"/>
                <a:ea typeface="Times New Roman"/>
                <a:cs typeface="Times New Roman"/>
                <a:sym typeface="Times New Roman"/>
              </a:rPr>
              <a:t>Reuse of water by spraying it on dusty roads to prevent  small particles to mix with air.</a:t>
            </a:r>
            <a:endParaRPr sz="2200" b="0" i="0" u="none" strike="noStrike" cap="none">
              <a:solidFill>
                <a:schemeClr val="dk1"/>
              </a:solidFill>
              <a:latin typeface="Times New Roman"/>
              <a:ea typeface="Times New Roman"/>
              <a:cs typeface="Times New Roman"/>
              <a:sym typeface="Times New Roman"/>
            </a:endParaRPr>
          </a:p>
          <a:p>
            <a:pPr marL="527685" marR="0" lvl="0" indent="-515619" algn="l" rtl="0">
              <a:lnSpc>
                <a:spcPct val="100000"/>
              </a:lnSpc>
              <a:spcBef>
                <a:spcPts val="309"/>
              </a:spcBef>
              <a:spcAft>
                <a:spcPts val="0"/>
              </a:spcAft>
              <a:buClr>
                <a:srgbClr val="0AD0D9"/>
              </a:buClr>
              <a:buSzPts val="2090"/>
              <a:buFont typeface="Times New Roman"/>
              <a:buAutoNum type="arabicPeriod" startAt="2"/>
            </a:pPr>
            <a:r>
              <a:rPr lang="en-US" sz="2200">
                <a:solidFill>
                  <a:schemeClr val="dk1"/>
                </a:solidFill>
                <a:latin typeface="Times New Roman"/>
                <a:ea typeface="Times New Roman"/>
                <a:cs typeface="Times New Roman"/>
                <a:sym typeface="Times New Roman"/>
              </a:rPr>
              <a:t>Use based water charges for controlling water usage.</a:t>
            </a:r>
            <a:endParaRPr sz="2200">
              <a:solidFill>
                <a:schemeClr val="dk1"/>
              </a:solidFill>
              <a:latin typeface="Times New Roman"/>
              <a:ea typeface="Times New Roman"/>
              <a:cs typeface="Times New Roman"/>
              <a:sym typeface="Times New Roman"/>
            </a:endParaRPr>
          </a:p>
          <a:p>
            <a:pPr marL="527685" marR="6985" lvl="0" indent="-515619" algn="l" rtl="0">
              <a:lnSpc>
                <a:spcPct val="100000"/>
              </a:lnSpc>
              <a:spcBef>
                <a:spcPts val="480"/>
              </a:spcBef>
              <a:spcAft>
                <a:spcPts val="0"/>
              </a:spcAft>
              <a:buClr>
                <a:srgbClr val="0AD0D9"/>
              </a:buClr>
              <a:buSzPts val="2090"/>
              <a:buFont typeface="Times New Roman"/>
              <a:buAutoNum type="arabicPeriod" startAt="2"/>
            </a:pPr>
            <a:r>
              <a:rPr lang="en-US" sz="2200">
                <a:solidFill>
                  <a:schemeClr val="dk1"/>
                </a:solidFill>
                <a:latin typeface="Times New Roman"/>
                <a:ea typeface="Times New Roman"/>
                <a:cs typeface="Times New Roman"/>
                <a:sym typeface="Times New Roman"/>
              </a:rPr>
              <a:t>After purification of Dirty water it should be used in farms or grass  lands.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0"/>
          <p:cNvSpPr txBox="1">
            <a:spLocks noGrp="1"/>
          </p:cNvSpPr>
          <p:nvPr>
            <p:ph type="title"/>
          </p:nvPr>
        </p:nvSpPr>
        <p:spPr>
          <a:xfrm>
            <a:off x="1371600" y="838200"/>
            <a:ext cx="572770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MINERALS</a:t>
            </a:r>
            <a:endParaRPr sz="4000" b="1">
              <a:latin typeface="Times New Roman"/>
              <a:ea typeface="Times New Roman"/>
              <a:cs typeface="Times New Roman"/>
              <a:sym typeface="Times New Roman"/>
            </a:endParaRPr>
          </a:p>
        </p:txBody>
      </p:sp>
      <p:sp>
        <p:nvSpPr>
          <p:cNvPr id="331" name="Google Shape;331;p40"/>
          <p:cNvSpPr/>
          <p:nvPr/>
        </p:nvSpPr>
        <p:spPr>
          <a:xfrm>
            <a:off x="548640" y="2740786"/>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40"/>
          <p:cNvSpPr/>
          <p:nvPr/>
        </p:nvSpPr>
        <p:spPr>
          <a:xfrm>
            <a:off x="548640" y="3612769"/>
            <a:ext cx="469391" cy="35051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3" name="Google Shape;333;p40"/>
          <p:cNvSpPr/>
          <p:nvPr/>
        </p:nvSpPr>
        <p:spPr>
          <a:xfrm>
            <a:off x="548640" y="4088257"/>
            <a:ext cx="469391" cy="35051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40"/>
          <p:cNvSpPr txBox="1"/>
          <p:nvPr/>
        </p:nvSpPr>
        <p:spPr>
          <a:xfrm>
            <a:off x="783335" y="2097531"/>
            <a:ext cx="7767320" cy="2165985"/>
          </a:xfrm>
          <a:prstGeom prst="rect">
            <a:avLst/>
          </a:prstGeom>
          <a:noFill/>
          <a:ln>
            <a:noFill/>
          </a:ln>
        </p:spPr>
        <p:txBody>
          <a:bodyPr spcFirstLastPara="1" wrap="square" lIns="0" tIns="13325" rIns="0" bIns="0" anchor="t" anchorCtr="0">
            <a:spAutoFit/>
          </a:bodyPr>
          <a:lstStyle/>
          <a:p>
            <a:pPr marL="355600" marR="5080" lvl="0" indent="-342900" algn="just" rtl="0">
              <a:lnSpc>
                <a:spcPct val="100000"/>
              </a:lnSpc>
              <a:spcBef>
                <a:spcPts val="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A mineral is a naturally occurring substance of definite  composition and identifiable physical properties.</a:t>
            </a:r>
            <a:endParaRPr sz="2500">
              <a:solidFill>
                <a:schemeClr val="dk1"/>
              </a:solidFill>
              <a:latin typeface="Times New Roman"/>
              <a:ea typeface="Times New Roman"/>
              <a:cs typeface="Times New Roman"/>
              <a:sym typeface="Times New Roman"/>
            </a:endParaRPr>
          </a:p>
          <a:p>
            <a:pPr marL="355600" marR="0" lvl="0" indent="-342900" algn="just" rtl="0">
              <a:lnSpc>
                <a:spcPct val="100000"/>
              </a:lnSpc>
              <a:spcBef>
                <a:spcPts val="625"/>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Coal, natural gas and mineral oil</a:t>
            </a:r>
            <a:endParaRPr sz="2500">
              <a:solidFill>
                <a:schemeClr val="dk1"/>
              </a:solidFill>
              <a:latin typeface="Times New Roman"/>
              <a:ea typeface="Times New Roman"/>
              <a:cs typeface="Times New Roman"/>
              <a:sym typeface="Times New Roman"/>
            </a:endParaRPr>
          </a:p>
          <a:p>
            <a:pPr marL="355600" marR="132715" lvl="0" indent="-342900" algn="just" rtl="0">
              <a:lnSpc>
                <a:spcPct val="100000"/>
              </a:lnSpc>
              <a:spcBef>
                <a:spcPts val="62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Metals like iron, copper, silver, aluminum, manganese  and other valuable stones.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1"/>
          <p:cNvSpPr txBox="1">
            <a:spLocks noGrp="1"/>
          </p:cNvSpPr>
          <p:nvPr>
            <p:ph type="title"/>
          </p:nvPr>
        </p:nvSpPr>
        <p:spPr>
          <a:xfrm>
            <a:off x="1511299" y="1066800"/>
            <a:ext cx="6613525"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Classification of Minerals:</a:t>
            </a:r>
            <a:endParaRPr sz="4000" b="1">
              <a:latin typeface="Times New Roman"/>
              <a:ea typeface="Times New Roman"/>
              <a:cs typeface="Times New Roman"/>
              <a:sym typeface="Times New Roman"/>
            </a:endParaRPr>
          </a:p>
        </p:txBody>
      </p:sp>
      <p:sp>
        <p:nvSpPr>
          <p:cNvPr id="340" name="Google Shape;340;p41"/>
          <p:cNvSpPr txBox="1"/>
          <p:nvPr/>
        </p:nvSpPr>
        <p:spPr>
          <a:xfrm>
            <a:off x="535940" y="2526919"/>
            <a:ext cx="7588884" cy="3038475"/>
          </a:xfrm>
          <a:prstGeom prst="rect">
            <a:avLst/>
          </a:prstGeom>
          <a:noFill/>
          <a:ln>
            <a:noFill/>
          </a:ln>
        </p:spPr>
        <p:txBody>
          <a:bodyPr spcFirstLastPara="1" wrap="square" lIns="0" tIns="13325" rIns="0" bIns="0" anchor="t" anchorCtr="0">
            <a:spAutoFit/>
          </a:bodyPr>
          <a:lstStyle/>
          <a:p>
            <a:pPr marL="527685" marR="5080" lvl="0" indent="-515619" algn="l" rtl="0">
              <a:lnSpc>
                <a:spcPct val="100000"/>
              </a:lnSpc>
              <a:spcBef>
                <a:spcPts val="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Energy Providing Minerals: Coal, Natural Gas and  Mineral oil etc.</a:t>
            </a:r>
            <a:endParaRPr sz="2500">
              <a:solidFill>
                <a:schemeClr val="dk1"/>
              </a:solidFill>
              <a:latin typeface="Times New Roman"/>
              <a:ea typeface="Times New Roman"/>
              <a:cs typeface="Times New Roman"/>
              <a:sym typeface="Times New Roman"/>
            </a:endParaRPr>
          </a:p>
          <a:p>
            <a:pPr marL="527685" marR="0" lvl="0" indent="-515619" algn="l" rtl="0">
              <a:lnSpc>
                <a:spcPct val="100000"/>
              </a:lnSpc>
              <a:spcBef>
                <a:spcPts val="625"/>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Valuable Minerals: Gold, Silver and Diamond.</a:t>
            </a:r>
            <a:endParaRPr sz="2500">
              <a:solidFill>
                <a:schemeClr val="dk1"/>
              </a:solidFill>
              <a:latin typeface="Times New Roman"/>
              <a:ea typeface="Times New Roman"/>
              <a:cs typeface="Times New Roman"/>
              <a:sym typeface="Times New Roman"/>
            </a:endParaRPr>
          </a:p>
          <a:p>
            <a:pPr marL="527685" marR="434975" lvl="0" indent="-515619" algn="l" rtl="0">
              <a:lnSpc>
                <a:spcPct val="100000"/>
              </a:lnSpc>
              <a:spcBef>
                <a:spcPts val="62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Minerals Useful in Construction Work: Stones,  Marbles, Lime etc.</a:t>
            </a:r>
            <a:endParaRPr sz="2500">
              <a:solidFill>
                <a:schemeClr val="dk1"/>
              </a:solidFill>
              <a:latin typeface="Times New Roman"/>
              <a:ea typeface="Times New Roman"/>
              <a:cs typeface="Times New Roman"/>
              <a:sym typeface="Times New Roman"/>
            </a:endParaRPr>
          </a:p>
          <a:p>
            <a:pPr marL="527685" marR="499109" lvl="0" indent="-515619" algn="l" rtl="0">
              <a:lnSpc>
                <a:spcPct val="100000"/>
              </a:lnSpc>
              <a:spcBef>
                <a:spcPts val="63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Industrial Minerals: Iron, Copper, Manganese,  aluminum etc.</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2"/>
          <p:cNvSpPr txBox="1">
            <a:spLocks noGrp="1"/>
          </p:cNvSpPr>
          <p:nvPr>
            <p:ph type="title"/>
          </p:nvPr>
        </p:nvSpPr>
        <p:spPr>
          <a:xfrm>
            <a:off x="1219200" y="457200"/>
            <a:ext cx="7037705"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Mineral Resources of India</a:t>
            </a:r>
            <a:endParaRPr sz="4000" b="1">
              <a:latin typeface="Times New Roman"/>
              <a:ea typeface="Times New Roman"/>
              <a:cs typeface="Times New Roman"/>
              <a:sym typeface="Times New Roman"/>
            </a:endParaRPr>
          </a:p>
        </p:txBody>
      </p:sp>
      <p:graphicFrame>
        <p:nvGraphicFramePr>
          <p:cNvPr id="346" name="Google Shape;346;p42"/>
          <p:cNvGraphicFramePr/>
          <p:nvPr/>
        </p:nvGraphicFramePr>
        <p:xfrm>
          <a:off x="450850" y="1441450"/>
          <a:ext cx="8229600" cy="5084625"/>
        </p:xfrm>
        <a:graphic>
          <a:graphicData uri="http://schemas.openxmlformats.org/drawingml/2006/table">
            <a:tbl>
              <a:tblPr firstRow="1" bandRow="1">
                <a:noFill/>
                <a:tableStyleId>{5FB317E1-32DA-4949-87C5-9547F919FA31}</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29825">
                <a:tc>
                  <a:txBody>
                    <a:bodyPr/>
                    <a:lstStyle/>
                    <a:p>
                      <a:pPr marL="428625" marR="0" lvl="0" indent="0" algn="l" rtl="0">
                        <a:lnSpc>
                          <a:spcPct val="100000"/>
                        </a:lnSpc>
                        <a:spcBef>
                          <a:spcPts val="0"/>
                        </a:spcBef>
                        <a:spcAft>
                          <a:spcPts val="0"/>
                        </a:spcAft>
                        <a:buNone/>
                      </a:pPr>
                      <a:r>
                        <a:rPr lang="en-US" sz="1400" b="1" u="none" strike="noStrike" cap="none">
                          <a:solidFill>
                            <a:srgbClr val="FFFFFF"/>
                          </a:solidFill>
                          <a:latin typeface="Constantia"/>
                          <a:ea typeface="Constantia"/>
                          <a:cs typeface="Constantia"/>
                          <a:sym typeface="Constantia"/>
                        </a:rPr>
                        <a:t>Mineral Name</a:t>
                      </a:r>
                      <a:endParaRPr sz="1400" u="none" strike="noStrike" cap="none">
                        <a:latin typeface="Constantia"/>
                        <a:ea typeface="Constantia"/>
                        <a:cs typeface="Constantia"/>
                        <a:sym typeface="Constantia"/>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AD0D9"/>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Constantia"/>
                          <a:ea typeface="Constantia"/>
                          <a:cs typeface="Constantia"/>
                          <a:sym typeface="Constantia"/>
                        </a:rPr>
                        <a:t>Quantity (‘000 tons)</a:t>
                      </a:r>
                      <a:endParaRPr sz="1400" u="none" strike="noStrike" cap="none">
                        <a:latin typeface="Constantia"/>
                        <a:ea typeface="Constantia"/>
                        <a:cs typeface="Constantia"/>
                        <a:sym typeface="Constantia"/>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AD0D9"/>
                    </a:solidFill>
                  </a:tcPr>
                </a:tc>
                <a:tc>
                  <a:txBody>
                    <a:bodyPr/>
                    <a:lstStyle/>
                    <a:p>
                      <a:pPr marL="429259" marR="0" lvl="0" indent="0" algn="l" rtl="0">
                        <a:lnSpc>
                          <a:spcPct val="100000"/>
                        </a:lnSpc>
                        <a:spcBef>
                          <a:spcPts val="0"/>
                        </a:spcBef>
                        <a:spcAft>
                          <a:spcPts val="0"/>
                        </a:spcAft>
                        <a:buNone/>
                      </a:pPr>
                      <a:r>
                        <a:rPr lang="en-US" sz="1400" b="1" u="none" strike="noStrike" cap="none">
                          <a:solidFill>
                            <a:srgbClr val="FFFFFF"/>
                          </a:solidFill>
                          <a:latin typeface="Constantia"/>
                          <a:ea typeface="Constantia"/>
                          <a:cs typeface="Constantia"/>
                          <a:sym typeface="Constantia"/>
                        </a:rPr>
                        <a:t>Mineral Name</a:t>
                      </a:r>
                      <a:endParaRPr sz="1400" u="none" strike="noStrike" cap="none">
                        <a:latin typeface="Constantia"/>
                        <a:ea typeface="Constantia"/>
                        <a:cs typeface="Constantia"/>
                        <a:sym typeface="Constantia"/>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AD0D9"/>
                    </a:solidFill>
                  </a:tcPr>
                </a:tc>
                <a:tc>
                  <a:txBody>
                    <a:bodyPr/>
                    <a:lstStyle/>
                    <a:p>
                      <a:pPr marL="635" marR="0" lvl="0" indent="0" algn="ctr" rtl="0">
                        <a:lnSpc>
                          <a:spcPct val="100000"/>
                        </a:lnSpc>
                        <a:spcBef>
                          <a:spcPts val="0"/>
                        </a:spcBef>
                        <a:spcAft>
                          <a:spcPts val="0"/>
                        </a:spcAft>
                        <a:buNone/>
                      </a:pPr>
                      <a:r>
                        <a:rPr lang="en-US" sz="1400" b="1" u="none" strike="noStrike" cap="none">
                          <a:solidFill>
                            <a:srgbClr val="FFFFFF"/>
                          </a:solidFill>
                          <a:latin typeface="Constantia"/>
                          <a:ea typeface="Constantia"/>
                          <a:cs typeface="Constantia"/>
                          <a:sym typeface="Constantia"/>
                        </a:rPr>
                        <a:t>Quantity (‘000 tons)</a:t>
                      </a:r>
                      <a:endParaRPr sz="1400" u="none" strike="noStrike" cap="none">
                        <a:latin typeface="Constantia"/>
                        <a:ea typeface="Constantia"/>
                        <a:cs typeface="Constantia"/>
                        <a:sym typeface="Constantia"/>
                      </a:endParaRPr>
                    </a:p>
                  </a:txBody>
                  <a:tcPr marL="0" marR="0" marT="343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AD0D9"/>
                    </a:solidFill>
                  </a:tcPr>
                </a:tc>
                <a:extLst>
                  <a:ext uri="{0D108BD9-81ED-4DB2-BD59-A6C34878D82A}">
                    <a16:rowId xmlns:a16="http://schemas.microsoft.com/office/drawing/2014/main" val="10000"/>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Copper</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5393</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Fire Clay</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254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445</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extLst>
                  <a:ext uri="{0D108BD9-81ED-4DB2-BD59-A6C34878D82A}">
                    <a16:rowId xmlns:a16="http://schemas.microsoft.com/office/drawing/2014/main" val="10001"/>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Lime stone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66900</a:t>
                      </a:r>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Celica</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127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1139</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extLst>
                  <a:ext uri="{0D108BD9-81ED-4DB2-BD59-A6C34878D82A}">
                    <a16:rowId xmlns:a16="http://schemas.microsoft.com/office/drawing/2014/main" val="10002"/>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Manganese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1363</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Canite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127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38</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extLst>
                  <a:ext uri="{0D108BD9-81ED-4DB2-BD59-A6C34878D82A}">
                    <a16:rowId xmlns:a16="http://schemas.microsoft.com/office/drawing/2014/main" val="10003"/>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Lead- Zink</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43- 138</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Steatite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254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390</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extLst>
                  <a:ext uri="{0D108BD9-81ED-4DB2-BD59-A6C34878D82A}">
                    <a16:rowId xmlns:a16="http://schemas.microsoft.com/office/drawing/2014/main" val="10004"/>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Bauxite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4773</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Dolomite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3175"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2505</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extLst>
                  <a:ext uri="{0D108BD9-81ED-4DB2-BD59-A6C34878D82A}">
                    <a16:rowId xmlns:a16="http://schemas.microsoft.com/office/drawing/2014/main" val="10005"/>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Chromite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635"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939</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Mica</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635"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4</a:t>
                      </a:r>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extLst>
                  <a:ext uri="{0D108BD9-81ED-4DB2-BD59-A6C34878D82A}">
                    <a16:rowId xmlns:a16="http://schemas.microsoft.com/office/drawing/2014/main" val="10006"/>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Asbestos</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26</a:t>
                      </a:r>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Gypsum</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254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1657</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extLst>
                  <a:ext uri="{0D108BD9-81ED-4DB2-BD59-A6C34878D82A}">
                    <a16:rowId xmlns:a16="http://schemas.microsoft.com/office/drawing/2014/main" val="10007"/>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Pyrite</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94</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Iron</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53700</a:t>
                      </a:r>
                      <a:endParaRPr sz="1800" u="none" strike="noStrike" cap="none">
                        <a:latin typeface="Constantia"/>
                        <a:ea typeface="Constantia"/>
                        <a:cs typeface="Constantia"/>
                        <a:sym typeface="Constantia"/>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extLst>
                  <a:ext uri="{0D108BD9-81ED-4DB2-BD59-A6C34878D82A}">
                    <a16:rowId xmlns:a16="http://schemas.microsoft.com/office/drawing/2014/main" val="10008"/>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Gold</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1983 kg</a:t>
                      </a:r>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Lignite</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13900</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extLst>
                  <a:ext uri="{0D108BD9-81ED-4DB2-BD59-A6C34878D82A}">
                    <a16:rowId xmlns:a16="http://schemas.microsoft.com/office/drawing/2014/main" val="10009"/>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Diamond</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18000 carets</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Magnetite</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544</a:t>
                      </a:r>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extLst>
                  <a:ext uri="{0D108BD9-81ED-4DB2-BD59-A6C34878D82A}">
                    <a16:rowId xmlns:a16="http://schemas.microsoft.com/office/drawing/2014/main" val="10010"/>
                  </a:ext>
                </a:extLst>
              </a:tr>
              <a:tr h="36580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Silver</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33</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Silmenite</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17</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extLst>
                  <a:ext uri="{0D108BD9-81ED-4DB2-BD59-A6C34878D82A}">
                    <a16:rowId xmlns:a16="http://schemas.microsoft.com/office/drawing/2014/main" val="10011"/>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Falspar</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46837</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Barytes</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707</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F7F8"/>
                    </a:solidFill>
                  </a:tcPr>
                </a:tc>
                <a:extLst>
                  <a:ext uri="{0D108BD9-81ED-4DB2-BD59-A6C34878D82A}">
                    <a16:rowId xmlns:a16="http://schemas.microsoft.com/office/drawing/2014/main" val="10012"/>
                  </a:ext>
                </a:extLst>
              </a:tr>
              <a:tr h="365750">
                <a:tc>
                  <a:txBody>
                    <a:bodyPr/>
                    <a:lstStyle/>
                    <a:p>
                      <a:pPr marL="91440"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Salt</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0"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3</a:t>
                      </a:r>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92075" marR="0" lvl="0" indent="0" algn="l" rtl="0">
                        <a:lnSpc>
                          <a:spcPct val="100000"/>
                        </a:lnSpc>
                        <a:spcBef>
                          <a:spcPts val="0"/>
                        </a:spcBef>
                        <a:spcAft>
                          <a:spcPts val="0"/>
                        </a:spcAft>
                        <a:buNone/>
                      </a:pPr>
                      <a:r>
                        <a:rPr lang="en-US" sz="1800" u="none" strike="noStrike" cap="none">
                          <a:latin typeface="Constantia"/>
                          <a:ea typeface="Constantia"/>
                          <a:cs typeface="Constantia"/>
                          <a:sym typeface="Constantia"/>
                        </a:rPr>
                        <a:t>Tugsten</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tc>
                  <a:txBody>
                    <a:bodyPr/>
                    <a:lstStyle/>
                    <a:p>
                      <a:pPr marL="635" marR="0" lvl="0" indent="0" algn="ctr" rtl="0">
                        <a:lnSpc>
                          <a:spcPct val="100000"/>
                        </a:lnSpc>
                        <a:spcBef>
                          <a:spcPts val="0"/>
                        </a:spcBef>
                        <a:spcAft>
                          <a:spcPts val="0"/>
                        </a:spcAft>
                        <a:buNone/>
                      </a:pPr>
                      <a:r>
                        <a:rPr lang="en-US" sz="1800" u="none" strike="noStrike" cap="none">
                          <a:latin typeface="Constantia"/>
                          <a:ea typeface="Constantia"/>
                          <a:cs typeface="Constantia"/>
                          <a:sym typeface="Constantia"/>
                        </a:rPr>
                        <a:t>22</a:t>
                      </a:r>
                      <a:endParaRPr sz="1800" u="none" strike="noStrike" cap="none">
                        <a:latin typeface="Constantia"/>
                        <a:ea typeface="Constantia"/>
                        <a:cs typeface="Constantia"/>
                        <a:sym typeface="Constantia"/>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EDF0"/>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3"/>
          <p:cNvSpPr txBox="1">
            <a:spLocks noGrp="1"/>
          </p:cNvSpPr>
          <p:nvPr>
            <p:ph type="title"/>
          </p:nvPr>
        </p:nvSpPr>
        <p:spPr>
          <a:xfrm>
            <a:off x="1815134" y="791736"/>
            <a:ext cx="5702300"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Exploitation	of Minerals:</a:t>
            </a:r>
            <a:endParaRPr sz="4000" b="1">
              <a:latin typeface="Times New Roman"/>
              <a:ea typeface="Times New Roman"/>
              <a:cs typeface="Times New Roman"/>
              <a:sym typeface="Times New Roman"/>
            </a:endParaRPr>
          </a:p>
        </p:txBody>
      </p:sp>
      <p:sp>
        <p:nvSpPr>
          <p:cNvPr id="352" name="Google Shape;352;p43"/>
          <p:cNvSpPr/>
          <p:nvPr/>
        </p:nvSpPr>
        <p:spPr>
          <a:xfrm>
            <a:off x="548640" y="1481582"/>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3" name="Google Shape;353;p43"/>
          <p:cNvSpPr/>
          <p:nvPr/>
        </p:nvSpPr>
        <p:spPr>
          <a:xfrm>
            <a:off x="548640" y="2631058"/>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4" name="Google Shape;354;p43"/>
          <p:cNvSpPr txBox="1"/>
          <p:nvPr/>
        </p:nvSpPr>
        <p:spPr>
          <a:xfrm>
            <a:off x="810564" y="1420113"/>
            <a:ext cx="7711440" cy="4708340"/>
          </a:xfrm>
          <a:prstGeom prst="rect">
            <a:avLst/>
          </a:prstGeom>
          <a:noFill/>
          <a:ln>
            <a:noFill/>
          </a:ln>
        </p:spPr>
        <p:txBody>
          <a:bodyPr spcFirstLastPara="1" wrap="square" lIns="0" tIns="52700" rIns="0" bIns="0" anchor="t" anchorCtr="0">
            <a:spAutoFit/>
          </a:bodyPr>
          <a:lstStyle/>
          <a:p>
            <a:pPr marL="12700" marR="109854" lvl="0" indent="0" algn="l" rtl="0">
              <a:lnSpc>
                <a:spcPct val="90000"/>
              </a:lnSpc>
              <a:spcBef>
                <a:spcPts val="0"/>
              </a:spcBef>
              <a:spcAft>
                <a:spcPts val="0"/>
              </a:spcAft>
              <a:buNone/>
            </a:pPr>
            <a:r>
              <a:rPr lang="en-US" sz="2500">
                <a:solidFill>
                  <a:schemeClr val="dk1"/>
                </a:solidFill>
                <a:latin typeface="Times New Roman"/>
                <a:ea typeface="Times New Roman"/>
                <a:cs typeface="Times New Roman"/>
                <a:sym typeface="Times New Roman"/>
              </a:rPr>
              <a:t>Minerals are recovered by the process of mining. It is  the physical removal of minerals from the crust of the  earth.</a:t>
            </a:r>
            <a:endParaRPr/>
          </a:p>
          <a:p>
            <a:pPr marL="12700" marR="0" lvl="0" indent="0" algn="l" rtl="0">
              <a:lnSpc>
                <a:spcPct val="100000"/>
              </a:lnSpc>
              <a:spcBef>
                <a:spcPts val="310"/>
              </a:spcBef>
              <a:spcAft>
                <a:spcPts val="0"/>
              </a:spcAft>
              <a:buNone/>
            </a:pPr>
            <a:r>
              <a:rPr lang="en-US" sz="2500">
                <a:solidFill>
                  <a:schemeClr val="dk1"/>
                </a:solidFill>
                <a:latin typeface="Times New Roman"/>
                <a:ea typeface="Times New Roman"/>
                <a:cs typeface="Times New Roman"/>
                <a:sym typeface="Times New Roman"/>
              </a:rPr>
              <a:t>Methods of mining:</a:t>
            </a:r>
            <a:endParaRPr sz="2500">
              <a:solidFill>
                <a:schemeClr val="dk1"/>
              </a:solidFill>
              <a:latin typeface="Times New Roman"/>
              <a:ea typeface="Times New Roman"/>
              <a:cs typeface="Times New Roman"/>
              <a:sym typeface="Times New Roman"/>
            </a:endParaRPr>
          </a:p>
          <a:p>
            <a:pPr marL="461644" marR="0" lvl="0" indent="-358140" algn="l" rtl="0">
              <a:lnSpc>
                <a:spcPct val="100000"/>
              </a:lnSpc>
              <a:spcBef>
                <a:spcPts val="300"/>
              </a:spcBef>
              <a:spcAft>
                <a:spcPts val="0"/>
              </a:spcAft>
              <a:buClr>
                <a:schemeClr val="dk1"/>
              </a:buClr>
              <a:buSzPts val="2500"/>
              <a:buFont typeface="Times New Roman"/>
              <a:buAutoNum type="alphaUcPeriod"/>
            </a:pPr>
            <a:r>
              <a:rPr lang="en-US" sz="2500" u="sng">
                <a:solidFill>
                  <a:schemeClr val="dk1"/>
                </a:solidFill>
                <a:latin typeface="Times New Roman"/>
                <a:ea typeface="Times New Roman"/>
                <a:cs typeface="Times New Roman"/>
                <a:sym typeface="Times New Roman"/>
              </a:rPr>
              <a:t>Surface Mining:</a:t>
            </a:r>
            <a:endParaRPr sz="2500">
              <a:solidFill>
                <a:schemeClr val="dk1"/>
              </a:solidFill>
              <a:latin typeface="Times New Roman"/>
              <a:ea typeface="Times New Roman"/>
              <a:cs typeface="Times New Roman"/>
              <a:sym typeface="Times New Roman"/>
            </a:endParaRPr>
          </a:p>
          <a:p>
            <a:pPr marL="835025" marR="467359" lvl="1" indent="-457200" algn="l" rtl="0">
              <a:lnSpc>
                <a:spcPct val="90800"/>
              </a:lnSpc>
              <a:spcBef>
                <a:spcPts val="560"/>
              </a:spcBef>
              <a:spcAft>
                <a:spcPts val="0"/>
              </a:spcAft>
              <a:buClr>
                <a:srgbClr val="009DD9"/>
              </a:buClr>
              <a:buSzPts val="1726"/>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Open pit mining: For obtaining Lime-stone, sand stone,  marble, granite, mica etc.</a:t>
            </a:r>
            <a:endParaRPr sz="2500" b="0" i="0" u="none" strike="noStrike" cap="none">
              <a:solidFill>
                <a:schemeClr val="dk1"/>
              </a:solidFill>
              <a:latin typeface="Times New Roman"/>
              <a:ea typeface="Times New Roman"/>
              <a:cs typeface="Times New Roman"/>
              <a:sym typeface="Times New Roman"/>
            </a:endParaRPr>
          </a:p>
          <a:p>
            <a:pPr marL="835025" marR="0" lvl="1" indent="-457833" algn="l" rtl="0">
              <a:lnSpc>
                <a:spcPct val="100000"/>
              </a:lnSpc>
              <a:spcBef>
                <a:spcPts val="215"/>
              </a:spcBef>
              <a:spcAft>
                <a:spcPts val="0"/>
              </a:spcAft>
              <a:buClr>
                <a:srgbClr val="009DD9"/>
              </a:buClr>
              <a:buSzPts val="1726"/>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Dredging: To Obtain the under water Mineral deposits.</a:t>
            </a:r>
            <a:endParaRPr sz="2500" b="0" i="0" u="none" strike="noStrike" cap="none">
              <a:solidFill>
                <a:schemeClr val="dk1"/>
              </a:solidFill>
              <a:latin typeface="Times New Roman"/>
              <a:ea typeface="Times New Roman"/>
              <a:cs typeface="Times New Roman"/>
              <a:sym typeface="Times New Roman"/>
            </a:endParaRPr>
          </a:p>
          <a:p>
            <a:pPr marL="835025" marR="0" lvl="1" indent="-457833" algn="l" rtl="0">
              <a:lnSpc>
                <a:spcPct val="95800"/>
              </a:lnSpc>
              <a:spcBef>
                <a:spcPts val="254"/>
              </a:spcBef>
              <a:spcAft>
                <a:spcPts val="0"/>
              </a:spcAft>
              <a:buClr>
                <a:srgbClr val="009DD9"/>
              </a:buClr>
              <a:buSzPts val="1726"/>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Strip mining: Use of big digging tools to obtain the minerals</a:t>
            </a:r>
            <a:endParaRPr sz="2500" b="0" i="0" u="none" strike="noStrike" cap="none">
              <a:solidFill>
                <a:schemeClr val="dk1"/>
              </a:solidFill>
              <a:latin typeface="Times New Roman"/>
              <a:ea typeface="Times New Roman"/>
              <a:cs typeface="Times New Roman"/>
              <a:sym typeface="Times New Roman"/>
            </a:endParaRPr>
          </a:p>
          <a:p>
            <a:pPr marL="835025" marR="0" lvl="0" indent="0" algn="l" rtl="0">
              <a:lnSpc>
                <a:spcPct val="95800"/>
              </a:lnSpc>
              <a:spcBef>
                <a:spcPts val="0"/>
              </a:spcBef>
              <a:spcAft>
                <a:spcPts val="0"/>
              </a:spcAft>
              <a:buNone/>
            </a:pPr>
            <a:r>
              <a:rPr lang="en-US" sz="2500">
                <a:solidFill>
                  <a:schemeClr val="dk1"/>
                </a:solidFill>
                <a:latin typeface="Times New Roman"/>
                <a:ea typeface="Times New Roman"/>
                <a:cs typeface="Times New Roman"/>
                <a:sym typeface="Times New Roman"/>
              </a:rPr>
              <a:t>from the ore.</a:t>
            </a:r>
            <a:endParaRPr sz="2500">
              <a:solidFill>
                <a:schemeClr val="dk1"/>
              </a:solidFill>
              <a:latin typeface="Times New Roman"/>
              <a:ea typeface="Times New Roman"/>
              <a:cs typeface="Times New Roman"/>
              <a:sym typeface="Times New Roman"/>
            </a:endParaRPr>
          </a:p>
          <a:p>
            <a:pPr marL="104139" marR="159385" lvl="0" indent="-158750" algn="l" rtl="0">
              <a:lnSpc>
                <a:spcPct val="103600"/>
              </a:lnSpc>
              <a:spcBef>
                <a:spcPts val="595"/>
              </a:spcBef>
              <a:spcAft>
                <a:spcPts val="0"/>
              </a:spcAft>
              <a:buClr>
                <a:schemeClr val="dk1"/>
              </a:buClr>
              <a:buSzPts val="2500"/>
              <a:buFont typeface="Times New Roman"/>
              <a:buAutoNum type="alphaUcPeriod" startAt="2"/>
            </a:pPr>
            <a:r>
              <a:rPr lang="en-US" sz="2500" u="sng">
                <a:solidFill>
                  <a:schemeClr val="dk1"/>
                </a:solidFill>
                <a:latin typeface="Times New Roman"/>
                <a:ea typeface="Times New Roman"/>
                <a:cs typeface="Times New Roman"/>
                <a:sym typeface="Times New Roman"/>
              </a:rPr>
              <a:t>Underground Mining:</a:t>
            </a:r>
            <a:r>
              <a:rPr lang="en-US" sz="2500">
                <a:solidFill>
                  <a:schemeClr val="dk1"/>
                </a:solidFill>
                <a:latin typeface="Times New Roman"/>
                <a:ea typeface="Times New Roman"/>
                <a:cs typeface="Times New Roman"/>
                <a:sym typeface="Times New Roman"/>
              </a:rPr>
              <a:t> By making big Holes into the  earth’s surface to bring out the minerals lying in the deep  earth ore.</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4"/>
          <p:cNvSpPr txBox="1">
            <a:spLocks noGrp="1"/>
          </p:cNvSpPr>
          <p:nvPr>
            <p:ph type="title"/>
          </p:nvPr>
        </p:nvSpPr>
        <p:spPr>
          <a:xfrm>
            <a:off x="0" y="168004"/>
            <a:ext cx="9067800" cy="1356269"/>
          </a:xfrm>
          <a:prstGeom prst="rect">
            <a:avLst/>
          </a:prstGeom>
          <a:noFill/>
          <a:ln>
            <a:noFill/>
          </a:ln>
        </p:spPr>
        <p:txBody>
          <a:bodyPr spcFirstLastPara="1" wrap="square" lIns="0" tIns="123950" rIns="0" bIns="0" anchor="ctr" anchorCtr="0">
            <a:spAutoFit/>
          </a:bodyPr>
          <a:lstStyle/>
          <a:p>
            <a:pPr marL="12700" marR="508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Impact of Mines and Minerals on  Environment</a:t>
            </a:r>
            <a:endParaRPr sz="4000" b="1">
              <a:latin typeface="Times New Roman"/>
              <a:ea typeface="Times New Roman"/>
              <a:cs typeface="Times New Roman"/>
              <a:sym typeface="Times New Roman"/>
            </a:endParaRPr>
          </a:p>
        </p:txBody>
      </p:sp>
      <p:sp>
        <p:nvSpPr>
          <p:cNvPr id="360" name="Google Shape;360;p44"/>
          <p:cNvSpPr txBox="1"/>
          <p:nvPr/>
        </p:nvSpPr>
        <p:spPr>
          <a:xfrm>
            <a:off x="535940" y="1652981"/>
            <a:ext cx="7995920" cy="4576253"/>
          </a:xfrm>
          <a:prstGeom prst="rect">
            <a:avLst/>
          </a:prstGeom>
          <a:noFill/>
          <a:ln>
            <a:noFill/>
          </a:ln>
        </p:spPr>
        <p:txBody>
          <a:bodyPr spcFirstLastPara="1" wrap="square" lIns="0" tIns="48875" rIns="0" bIns="0" anchor="t" anchorCtr="0">
            <a:spAutoFit/>
          </a:bodyPr>
          <a:lstStyle/>
          <a:p>
            <a:pPr marL="527685" marR="471805" lvl="0" indent="-515619" algn="just" rtl="0">
              <a:lnSpc>
                <a:spcPct val="90100"/>
              </a:lnSpc>
              <a:spcBef>
                <a:spcPts val="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Air pollution by the emission of Sulphur Dioxide and  Nitrogen Monoxide (SO2 and NO) during the mining  process.</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29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Various types of diseases arises due to air pollution.</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285"/>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Possibility of Acid Rain due to Toxic substances in the air.</a:t>
            </a:r>
            <a:endParaRPr sz="2500">
              <a:solidFill>
                <a:schemeClr val="dk1"/>
              </a:solidFill>
              <a:latin typeface="Times New Roman"/>
              <a:ea typeface="Times New Roman"/>
              <a:cs typeface="Times New Roman"/>
              <a:sym typeface="Times New Roman"/>
            </a:endParaRPr>
          </a:p>
          <a:p>
            <a:pPr marL="527685" marR="812165" lvl="0" indent="-515619" algn="just" rtl="0">
              <a:lnSpc>
                <a:spcPct val="103600"/>
              </a:lnSpc>
              <a:spcBef>
                <a:spcPts val="62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Increase in Noise pollution due to the use of Heavy  machineries in mining process.</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25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Emission of Radon and Thorone in the Uranium Mines.</a:t>
            </a:r>
            <a:endParaRPr sz="2500">
              <a:solidFill>
                <a:schemeClr val="dk1"/>
              </a:solidFill>
              <a:latin typeface="Times New Roman"/>
              <a:ea typeface="Times New Roman"/>
              <a:cs typeface="Times New Roman"/>
              <a:sym typeface="Times New Roman"/>
            </a:endParaRPr>
          </a:p>
          <a:p>
            <a:pPr marL="527685" marR="0" lvl="0" indent="-515619" algn="just" rtl="0">
              <a:lnSpc>
                <a:spcPct val="109400"/>
              </a:lnSpc>
              <a:spcBef>
                <a:spcPts val="29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When water flows from mines, there will be Water</a:t>
            </a:r>
            <a:endParaRPr sz="2500">
              <a:solidFill>
                <a:schemeClr val="dk1"/>
              </a:solidFill>
              <a:latin typeface="Times New Roman"/>
              <a:ea typeface="Times New Roman"/>
              <a:cs typeface="Times New Roman"/>
              <a:sym typeface="Times New Roman"/>
            </a:endParaRPr>
          </a:p>
          <a:p>
            <a:pPr marL="527685" marR="0" lvl="0" indent="0" algn="just" rtl="0">
              <a:lnSpc>
                <a:spcPct val="109400"/>
              </a:lnSpc>
              <a:spcBef>
                <a:spcPts val="0"/>
              </a:spcBef>
              <a:spcAft>
                <a:spcPts val="0"/>
              </a:spcAft>
              <a:buNone/>
            </a:pPr>
            <a:r>
              <a:rPr lang="en-US" sz="2500">
                <a:solidFill>
                  <a:schemeClr val="dk1"/>
                </a:solidFill>
                <a:latin typeface="Times New Roman"/>
                <a:ea typeface="Times New Roman"/>
                <a:cs typeface="Times New Roman"/>
                <a:sym typeface="Times New Roman"/>
              </a:rPr>
              <a:t>Pollution.</a:t>
            </a:r>
            <a:endParaRPr sz="2500">
              <a:solidFill>
                <a:schemeClr val="dk1"/>
              </a:solidFill>
              <a:latin typeface="Times New Roman"/>
              <a:ea typeface="Times New Roman"/>
              <a:cs typeface="Times New Roman"/>
              <a:sym typeface="Times New Roman"/>
            </a:endParaRPr>
          </a:p>
          <a:p>
            <a:pPr marL="527685" marR="302260" lvl="0" indent="-515619" algn="just" rtl="0">
              <a:lnSpc>
                <a:spcPct val="103600"/>
              </a:lnSpc>
              <a:spcBef>
                <a:spcPts val="615"/>
              </a:spcBef>
              <a:spcAft>
                <a:spcPts val="0"/>
              </a:spcAft>
              <a:buClr>
                <a:srgbClr val="0AD0D9"/>
              </a:buClr>
              <a:buSzPts val="2344"/>
              <a:buFont typeface="Times New Roman"/>
              <a:buAutoNum type="arabicPeriod" startAt="7"/>
            </a:pPr>
            <a:r>
              <a:rPr lang="en-US" sz="2500">
                <a:solidFill>
                  <a:schemeClr val="dk1"/>
                </a:solidFill>
                <a:latin typeface="Times New Roman"/>
                <a:ea typeface="Times New Roman"/>
                <a:cs typeface="Times New Roman"/>
                <a:sym typeface="Times New Roman"/>
              </a:rPr>
              <a:t>Polluted water obtained from the Natural oil wells may  create Land pollution.</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5"/>
          <p:cNvSpPr txBox="1">
            <a:spLocks noGrp="1"/>
          </p:cNvSpPr>
          <p:nvPr>
            <p:ph type="title"/>
          </p:nvPr>
        </p:nvSpPr>
        <p:spPr>
          <a:xfrm>
            <a:off x="1603437" y="76200"/>
            <a:ext cx="5994400" cy="628377"/>
          </a:xfrm>
          <a:prstGeom prst="rect">
            <a:avLst/>
          </a:prstGeom>
          <a:noFill/>
          <a:ln>
            <a:noFill/>
          </a:ln>
        </p:spPr>
        <p:txBody>
          <a:bodyPr spcFirstLastPara="1" wrap="square" lIns="0" tIns="12700" rIns="0" bIns="0" anchor="ctr" anchorCtr="0">
            <a:spAutoFit/>
          </a:bodyPr>
          <a:lstStyle/>
          <a:p>
            <a:pPr marL="12700" lvl="0" indent="0" algn="just"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Conservation of Minerals</a:t>
            </a:r>
            <a:endParaRPr sz="4000" b="1">
              <a:latin typeface="Times New Roman"/>
              <a:ea typeface="Times New Roman"/>
              <a:cs typeface="Times New Roman"/>
              <a:sym typeface="Times New Roman"/>
            </a:endParaRPr>
          </a:p>
        </p:txBody>
      </p:sp>
      <p:sp>
        <p:nvSpPr>
          <p:cNvPr id="366" name="Google Shape;366;p45"/>
          <p:cNvSpPr/>
          <p:nvPr/>
        </p:nvSpPr>
        <p:spPr>
          <a:xfrm>
            <a:off x="548640" y="2009267"/>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7" name="Google Shape;367;p45"/>
          <p:cNvSpPr/>
          <p:nvPr/>
        </p:nvSpPr>
        <p:spPr>
          <a:xfrm>
            <a:off x="548640" y="2880995"/>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45"/>
          <p:cNvSpPr/>
          <p:nvPr/>
        </p:nvSpPr>
        <p:spPr>
          <a:xfrm>
            <a:off x="548640" y="3752977"/>
            <a:ext cx="469391" cy="35051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45"/>
          <p:cNvSpPr/>
          <p:nvPr/>
        </p:nvSpPr>
        <p:spPr>
          <a:xfrm>
            <a:off x="548640" y="4624400"/>
            <a:ext cx="469391" cy="3508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45"/>
          <p:cNvSpPr/>
          <p:nvPr/>
        </p:nvSpPr>
        <p:spPr>
          <a:xfrm>
            <a:off x="548640" y="5496763"/>
            <a:ext cx="469391" cy="35051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1" name="Google Shape;371;p45"/>
          <p:cNvSpPr txBox="1"/>
          <p:nvPr/>
        </p:nvSpPr>
        <p:spPr>
          <a:xfrm>
            <a:off x="381000" y="990600"/>
            <a:ext cx="8534399" cy="5181547"/>
          </a:xfrm>
          <a:prstGeom prst="rect">
            <a:avLst/>
          </a:prstGeom>
          <a:noFill/>
          <a:ln>
            <a:noFill/>
          </a:ln>
        </p:spPr>
        <p:txBody>
          <a:bodyPr spcFirstLastPara="1" wrap="square" lIns="0" tIns="13325" rIns="0" bIns="0" anchor="t" anchorCtr="0">
            <a:spAutoFit/>
          </a:bodyPr>
          <a:lstStyle/>
          <a:p>
            <a:pPr marL="12700" marR="644525"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Recycling: Reusing of useless articles by adopting  proper processes for them.</a:t>
            </a:r>
            <a:endParaRPr sz="2500">
              <a:solidFill>
                <a:schemeClr val="dk1"/>
              </a:solidFill>
              <a:latin typeface="Times New Roman"/>
              <a:ea typeface="Times New Roman"/>
              <a:cs typeface="Times New Roman"/>
              <a:sym typeface="Times New Roman"/>
            </a:endParaRPr>
          </a:p>
          <a:p>
            <a:pPr marL="12700" marR="644525" lvl="0" indent="0" algn="just" rtl="0">
              <a:lnSpc>
                <a:spcPct val="100000"/>
              </a:lnSpc>
              <a:spcBef>
                <a:spcPts val="105"/>
              </a:spcBef>
              <a:spcAft>
                <a:spcPts val="0"/>
              </a:spcAft>
              <a:buNone/>
            </a:pPr>
            <a:endParaRPr sz="2500">
              <a:solidFill>
                <a:schemeClr val="dk1"/>
              </a:solidFill>
              <a:latin typeface="Times New Roman"/>
              <a:ea typeface="Times New Roman"/>
              <a:cs typeface="Times New Roman"/>
              <a:sym typeface="Times New Roman"/>
            </a:endParaRPr>
          </a:p>
          <a:p>
            <a:pPr marL="12700" marR="201295" lvl="0" indent="0" algn="just" rtl="0">
              <a:lnSpc>
                <a:spcPct val="100000"/>
              </a:lnSpc>
              <a:spcBef>
                <a:spcPts val="620"/>
              </a:spcBef>
              <a:spcAft>
                <a:spcPts val="0"/>
              </a:spcAft>
              <a:buNone/>
            </a:pPr>
            <a:r>
              <a:rPr lang="en-US" sz="2500">
                <a:solidFill>
                  <a:schemeClr val="dk1"/>
                </a:solidFill>
                <a:latin typeface="Times New Roman"/>
                <a:ea typeface="Times New Roman"/>
                <a:cs typeface="Times New Roman"/>
                <a:sym typeface="Times New Roman"/>
              </a:rPr>
              <a:t>Reusing: Reusing the Articles again and again.( glass  bottles)</a:t>
            </a:r>
            <a:endParaRPr sz="2500">
              <a:solidFill>
                <a:schemeClr val="dk1"/>
              </a:solidFill>
              <a:latin typeface="Times New Roman"/>
              <a:ea typeface="Times New Roman"/>
              <a:cs typeface="Times New Roman"/>
              <a:sym typeface="Times New Roman"/>
            </a:endParaRPr>
          </a:p>
          <a:p>
            <a:pPr marL="12700" marR="201295" lvl="0" indent="0" algn="just" rtl="0">
              <a:lnSpc>
                <a:spcPct val="100000"/>
              </a:lnSpc>
              <a:spcBef>
                <a:spcPts val="620"/>
              </a:spcBef>
              <a:spcAft>
                <a:spcPts val="0"/>
              </a:spcAft>
              <a:buNone/>
            </a:pPr>
            <a:endParaRPr sz="2500">
              <a:solidFill>
                <a:schemeClr val="dk1"/>
              </a:solidFill>
              <a:latin typeface="Times New Roman"/>
              <a:ea typeface="Times New Roman"/>
              <a:cs typeface="Times New Roman"/>
              <a:sym typeface="Times New Roman"/>
            </a:endParaRPr>
          </a:p>
          <a:p>
            <a:pPr marL="12700" marR="5080" lvl="0" indent="0" algn="just" rtl="0">
              <a:lnSpc>
                <a:spcPct val="100000"/>
              </a:lnSpc>
              <a:spcBef>
                <a:spcPts val="630"/>
              </a:spcBef>
              <a:spcAft>
                <a:spcPts val="0"/>
              </a:spcAft>
              <a:buNone/>
            </a:pPr>
            <a:r>
              <a:rPr lang="en-US" sz="2500">
                <a:solidFill>
                  <a:schemeClr val="dk1"/>
                </a:solidFill>
                <a:latin typeface="Times New Roman"/>
                <a:ea typeface="Times New Roman"/>
                <a:cs typeface="Times New Roman"/>
                <a:sym typeface="Times New Roman"/>
              </a:rPr>
              <a:t>Decrease consumption: Minimizing the requirements  of certain minerals and reducing the wastage.</a:t>
            </a:r>
            <a:endParaRPr sz="2500">
              <a:solidFill>
                <a:schemeClr val="dk1"/>
              </a:solidFill>
              <a:latin typeface="Times New Roman"/>
              <a:ea typeface="Times New Roman"/>
              <a:cs typeface="Times New Roman"/>
              <a:sym typeface="Times New Roman"/>
            </a:endParaRPr>
          </a:p>
          <a:p>
            <a:pPr marL="12700" marR="5080" lvl="0" indent="0" algn="just" rtl="0">
              <a:lnSpc>
                <a:spcPct val="100000"/>
              </a:lnSpc>
              <a:spcBef>
                <a:spcPts val="630"/>
              </a:spcBef>
              <a:spcAft>
                <a:spcPts val="0"/>
              </a:spcAft>
              <a:buNone/>
            </a:pPr>
            <a:endParaRPr sz="2500">
              <a:solidFill>
                <a:schemeClr val="dk1"/>
              </a:solidFill>
              <a:latin typeface="Times New Roman"/>
              <a:ea typeface="Times New Roman"/>
              <a:cs typeface="Times New Roman"/>
              <a:sym typeface="Times New Roman"/>
            </a:endParaRPr>
          </a:p>
          <a:p>
            <a:pPr marL="12700" marR="1222375" lvl="0" indent="0" algn="just" rtl="0">
              <a:lnSpc>
                <a:spcPct val="100000"/>
              </a:lnSpc>
              <a:spcBef>
                <a:spcPts val="620"/>
              </a:spcBef>
              <a:spcAft>
                <a:spcPts val="0"/>
              </a:spcAft>
              <a:buNone/>
            </a:pPr>
            <a:r>
              <a:rPr lang="en-US" sz="2500">
                <a:solidFill>
                  <a:schemeClr val="dk1"/>
                </a:solidFill>
                <a:latin typeface="Times New Roman"/>
                <a:ea typeface="Times New Roman"/>
                <a:cs typeface="Times New Roman"/>
                <a:sym typeface="Times New Roman"/>
              </a:rPr>
              <a:t>Substitution: Try to find the Substitute of the  Minerals.</a:t>
            </a:r>
            <a:endParaRPr sz="2500">
              <a:solidFill>
                <a:schemeClr val="dk1"/>
              </a:solidFill>
              <a:latin typeface="Times New Roman"/>
              <a:ea typeface="Times New Roman"/>
              <a:cs typeface="Times New Roman"/>
              <a:sym typeface="Times New Roman"/>
            </a:endParaRPr>
          </a:p>
          <a:p>
            <a:pPr marL="12700" marR="1222375" lvl="0" indent="0" algn="just" rtl="0">
              <a:lnSpc>
                <a:spcPct val="100000"/>
              </a:lnSpc>
              <a:spcBef>
                <a:spcPts val="620"/>
              </a:spcBef>
              <a:spcAft>
                <a:spcPts val="0"/>
              </a:spcAft>
              <a:buNone/>
            </a:pPr>
            <a:endParaRPr sz="2500">
              <a:solidFill>
                <a:schemeClr val="dk1"/>
              </a:solidFill>
              <a:latin typeface="Times New Roman"/>
              <a:ea typeface="Times New Roman"/>
              <a:cs typeface="Times New Roman"/>
              <a:sym typeface="Times New Roman"/>
            </a:endParaRPr>
          </a:p>
          <a:p>
            <a:pPr marL="12700" marR="200025" lvl="0" indent="0" algn="just" rtl="0">
              <a:lnSpc>
                <a:spcPct val="100000"/>
              </a:lnSpc>
              <a:spcBef>
                <a:spcPts val="630"/>
              </a:spcBef>
              <a:spcAft>
                <a:spcPts val="0"/>
              </a:spcAft>
              <a:buNone/>
            </a:pPr>
            <a:r>
              <a:rPr lang="en-US" sz="2500">
                <a:solidFill>
                  <a:schemeClr val="dk1"/>
                </a:solidFill>
                <a:latin typeface="Times New Roman"/>
                <a:ea typeface="Times New Roman"/>
                <a:cs typeface="Times New Roman"/>
                <a:sym typeface="Times New Roman"/>
              </a:rPr>
              <a:t>Use of Waste: the Wastage of some industries can be  used as Raw materials in other Industries.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6"/>
          <p:cNvSpPr txBox="1">
            <a:spLocks noGrp="1"/>
          </p:cNvSpPr>
          <p:nvPr>
            <p:ph type="title"/>
          </p:nvPr>
        </p:nvSpPr>
        <p:spPr>
          <a:xfrm>
            <a:off x="3581400" y="304800"/>
            <a:ext cx="154559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FOOD</a:t>
            </a:r>
            <a:endParaRPr sz="4000" b="1">
              <a:latin typeface="Times New Roman"/>
              <a:ea typeface="Times New Roman"/>
              <a:cs typeface="Times New Roman"/>
              <a:sym typeface="Times New Roman"/>
            </a:endParaRPr>
          </a:p>
        </p:txBody>
      </p:sp>
      <p:sp>
        <p:nvSpPr>
          <p:cNvPr id="377" name="Google Shape;377;p46"/>
          <p:cNvSpPr/>
          <p:nvPr/>
        </p:nvSpPr>
        <p:spPr>
          <a:xfrm>
            <a:off x="548640" y="2009267"/>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46"/>
          <p:cNvSpPr/>
          <p:nvPr/>
        </p:nvSpPr>
        <p:spPr>
          <a:xfrm>
            <a:off x="548640" y="4545152"/>
            <a:ext cx="469391" cy="3508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46"/>
          <p:cNvSpPr txBox="1"/>
          <p:nvPr/>
        </p:nvSpPr>
        <p:spPr>
          <a:xfrm>
            <a:off x="810564" y="1947799"/>
            <a:ext cx="7776209" cy="2719334"/>
          </a:xfrm>
          <a:prstGeom prst="rect">
            <a:avLst/>
          </a:prstGeom>
          <a:noFill/>
          <a:ln>
            <a:noFill/>
          </a:ln>
        </p:spPr>
        <p:txBody>
          <a:bodyPr spcFirstLastPara="1" wrap="square" lIns="0" tIns="13325" rIns="0" bIns="0" anchor="t" anchorCtr="0">
            <a:spAutoFit/>
          </a:bodyPr>
          <a:lstStyle/>
          <a:p>
            <a:pPr marL="12700" marR="5080"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Any substance or thing which is able to satisfy appetite  to meet the physiological needs for growth to maintain  all body processes and to supply essential energy  required for maintaining body temperature and  activity.</a:t>
            </a:r>
            <a:endParaRPr sz="2500">
              <a:solidFill>
                <a:schemeClr val="dk1"/>
              </a:solidFill>
              <a:latin typeface="Times New Roman"/>
              <a:ea typeface="Times New Roman"/>
              <a:cs typeface="Times New Roman"/>
              <a:sym typeface="Times New Roman"/>
            </a:endParaRPr>
          </a:p>
          <a:p>
            <a:pPr marL="0" marR="0" lvl="0" indent="0" algn="just" rtl="0">
              <a:lnSpc>
                <a:spcPct val="100000"/>
              </a:lnSpc>
              <a:spcBef>
                <a:spcPts val="55"/>
              </a:spcBef>
              <a:spcAft>
                <a:spcPts val="0"/>
              </a:spcAft>
              <a:buNone/>
            </a:pPr>
            <a:endParaRPr sz="2500">
              <a:solidFill>
                <a:schemeClr val="dk1"/>
              </a:solidFill>
              <a:latin typeface="Times New Roman"/>
              <a:ea typeface="Times New Roman"/>
              <a:cs typeface="Times New Roman"/>
              <a:sym typeface="Times New Roman"/>
            </a:endParaRPr>
          </a:p>
          <a:p>
            <a:pPr marL="12700" marR="396240"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Chapatti, rice, bread, butter, fruits, vegetables, milk,  edible oil, etc are the routine examples of food.</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7"/>
          <p:cNvSpPr txBox="1">
            <a:spLocks noGrp="1"/>
          </p:cNvSpPr>
          <p:nvPr>
            <p:ph type="title"/>
          </p:nvPr>
        </p:nvSpPr>
        <p:spPr>
          <a:xfrm>
            <a:off x="2438400" y="460826"/>
            <a:ext cx="479425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Functions of Food</a:t>
            </a:r>
            <a:endParaRPr sz="4000" b="1">
              <a:latin typeface="Times New Roman"/>
              <a:ea typeface="Times New Roman"/>
              <a:cs typeface="Times New Roman"/>
              <a:sym typeface="Times New Roman"/>
            </a:endParaRPr>
          </a:p>
        </p:txBody>
      </p:sp>
      <p:sp>
        <p:nvSpPr>
          <p:cNvPr id="385" name="Google Shape;385;p47"/>
          <p:cNvSpPr/>
          <p:nvPr/>
        </p:nvSpPr>
        <p:spPr>
          <a:xfrm>
            <a:off x="548640" y="2009267"/>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p47"/>
          <p:cNvSpPr/>
          <p:nvPr/>
        </p:nvSpPr>
        <p:spPr>
          <a:xfrm>
            <a:off x="548640" y="2880995"/>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47"/>
          <p:cNvSpPr/>
          <p:nvPr/>
        </p:nvSpPr>
        <p:spPr>
          <a:xfrm>
            <a:off x="548640" y="3752977"/>
            <a:ext cx="469391" cy="35051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8" name="Google Shape;388;p47"/>
          <p:cNvSpPr txBox="1"/>
          <p:nvPr/>
        </p:nvSpPr>
        <p:spPr>
          <a:xfrm>
            <a:off x="304800" y="1078230"/>
            <a:ext cx="8610600" cy="3783728"/>
          </a:xfrm>
          <a:prstGeom prst="rect">
            <a:avLst/>
          </a:prstGeom>
          <a:noFill/>
          <a:ln>
            <a:noFill/>
          </a:ln>
        </p:spPr>
        <p:txBody>
          <a:bodyPr spcFirstLastPara="1" wrap="square" lIns="0" tIns="13325" rIns="0" bIns="0" anchor="t" anchorCtr="0">
            <a:spAutoFit/>
          </a:bodyPr>
          <a:lstStyle/>
          <a:p>
            <a:pPr marL="12700" marR="5080" lvl="0" indent="0" algn="just" rtl="0">
              <a:lnSpc>
                <a:spcPct val="100000"/>
              </a:lnSpc>
              <a:spcBef>
                <a:spcPts val="0"/>
              </a:spcBef>
              <a:spcAft>
                <a:spcPts val="0"/>
              </a:spcAft>
              <a:buNone/>
            </a:pPr>
            <a:r>
              <a:rPr lang="en-US" sz="2500" dirty="0">
                <a:solidFill>
                  <a:schemeClr val="dk1"/>
                </a:solidFill>
                <a:latin typeface="Times New Roman"/>
                <a:ea typeface="Times New Roman"/>
                <a:cs typeface="Times New Roman"/>
                <a:sym typeface="Times New Roman"/>
              </a:rPr>
              <a:t>It provides energy to do day to day work and maintains  body temperature.</a:t>
            </a:r>
            <a:endParaRPr sz="2500" dirty="0">
              <a:solidFill>
                <a:schemeClr val="dk1"/>
              </a:solidFill>
              <a:latin typeface="Times New Roman"/>
              <a:ea typeface="Times New Roman"/>
              <a:cs typeface="Times New Roman"/>
              <a:sym typeface="Times New Roman"/>
            </a:endParaRPr>
          </a:p>
          <a:p>
            <a:pPr marL="12700" marR="728980" lvl="0" indent="0" algn="just" rtl="0">
              <a:lnSpc>
                <a:spcPct val="100000"/>
              </a:lnSpc>
              <a:spcBef>
                <a:spcPts val="620"/>
              </a:spcBef>
              <a:spcAft>
                <a:spcPts val="0"/>
              </a:spcAft>
              <a:buNone/>
            </a:pPr>
            <a:r>
              <a:rPr lang="en-US" sz="2500" dirty="0">
                <a:solidFill>
                  <a:schemeClr val="dk1"/>
                </a:solidFill>
                <a:latin typeface="Times New Roman"/>
                <a:ea typeface="Times New Roman"/>
                <a:cs typeface="Times New Roman"/>
                <a:sym typeface="Times New Roman"/>
              </a:rPr>
              <a:t>It provides nutrients for the development and the  growth of the body.</a:t>
            </a:r>
            <a:endParaRPr sz="2500" dirty="0">
              <a:solidFill>
                <a:schemeClr val="dk1"/>
              </a:solidFill>
              <a:latin typeface="Times New Roman"/>
              <a:ea typeface="Times New Roman"/>
              <a:cs typeface="Times New Roman"/>
              <a:sym typeface="Times New Roman"/>
            </a:endParaRPr>
          </a:p>
          <a:p>
            <a:pPr marL="12700" marR="137795" lvl="0" indent="0" algn="just" rtl="0">
              <a:lnSpc>
                <a:spcPct val="100000"/>
              </a:lnSpc>
              <a:spcBef>
                <a:spcPts val="630"/>
              </a:spcBef>
              <a:spcAft>
                <a:spcPts val="0"/>
              </a:spcAft>
              <a:buNone/>
            </a:pPr>
            <a:r>
              <a:rPr lang="en-US" sz="2500" dirty="0">
                <a:solidFill>
                  <a:schemeClr val="dk1"/>
                </a:solidFill>
                <a:latin typeface="Times New Roman"/>
                <a:ea typeface="Times New Roman"/>
                <a:cs typeface="Times New Roman"/>
                <a:sym typeface="Times New Roman"/>
              </a:rPr>
              <a:t>It provides substances to replace the catabolic cells by  new cells or to appropriately repair the damaged cells.</a:t>
            </a:r>
            <a:endParaRPr sz="2500" dirty="0">
              <a:solidFill>
                <a:schemeClr val="dk1"/>
              </a:solidFill>
              <a:latin typeface="Times New Roman"/>
              <a:ea typeface="Times New Roman"/>
              <a:cs typeface="Times New Roman"/>
              <a:sym typeface="Times New Roman"/>
            </a:endParaRPr>
          </a:p>
          <a:p>
            <a:pPr marL="12700" marR="469900" lvl="0" indent="0" algn="just" rtl="0">
              <a:lnSpc>
                <a:spcPct val="100000"/>
              </a:lnSpc>
              <a:spcBef>
                <a:spcPts val="620"/>
              </a:spcBef>
              <a:spcAft>
                <a:spcPts val="0"/>
              </a:spcAft>
              <a:buNone/>
            </a:pPr>
            <a:r>
              <a:rPr lang="en-US" sz="2500" dirty="0">
                <a:solidFill>
                  <a:schemeClr val="dk1"/>
                </a:solidFill>
                <a:latin typeface="Times New Roman"/>
                <a:ea typeface="Times New Roman"/>
                <a:cs typeface="Times New Roman"/>
                <a:sym typeface="Times New Roman"/>
              </a:rPr>
              <a:t>It provides substances for the proper functioning of  the reproductive system.</a:t>
            </a:r>
            <a:endParaRPr sz="2500" dirty="0">
              <a:solidFill>
                <a:schemeClr val="dk1"/>
              </a:solidFill>
              <a:latin typeface="Times New Roman"/>
              <a:ea typeface="Times New Roman"/>
              <a:cs typeface="Times New Roman"/>
              <a:sym typeface="Times New Roman"/>
            </a:endParaRPr>
          </a:p>
          <a:p>
            <a:pPr marL="12700" marR="222250" lvl="0" indent="0" algn="just" rtl="0">
              <a:lnSpc>
                <a:spcPct val="100000"/>
              </a:lnSpc>
              <a:spcBef>
                <a:spcPts val="630"/>
              </a:spcBef>
              <a:spcAft>
                <a:spcPts val="0"/>
              </a:spcAft>
              <a:buNone/>
            </a:pPr>
            <a:r>
              <a:rPr lang="en-US" sz="2500" dirty="0">
                <a:solidFill>
                  <a:schemeClr val="dk1"/>
                </a:solidFill>
                <a:latin typeface="Times New Roman"/>
                <a:ea typeface="Times New Roman"/>
                <a:cs typeface="Times New Roman"/>
                <a:sym typeface="Times New Roman"/>
              </a:rPr>
              <a:t>It r</a:t>
            </a:r>
            <a:r>
              <a:rPr lang="en-US" sz="2500" b="1" dirty="0">
                <a:solidFill>
                  <a:schemeClr val="dk1"/>
                </a:solidFill>
                <a:latin typeface="Times New Roman"/>
                <a:ea typeface="Times New Roman"/>
                <a:cs typeface="Times New Roman"/>
                <a:sym typeface="Times New Roman"/>
              </a:rPr>
              <a:t>e</a:t>
            </a:r>
            <a:r>
              <a:rPr lang="en-US" sz="2500" dirty="0">
                <a:solidFill>
                  <a:schemeClr val="dk1"/>
                </a:solidFill>
                <a:latin typeface="Times New Roman"/>
                <a:ea typeface="Times New Roman"/>
                <a:cs typeface="Times New Roman"/>
                <a:sym typeface="Times New Roman"/>
              </a:rPr>
              <a:t>gulates body activities to ensure </a:t>
            </a:r>
            <a:r>
              <a:rPr lang="en-US" sz="2500" dirty="0" err="1">
                <a:solidFill>
                  <a:schemeClr val="dk1"/>
                </a:solidFill>
                <a:latin typeface="Times New Roman"/>
                <a:ea typeface="Times New Roman"/>
                <a:cs typeface="Times New Roman"/>
                <a:sym typeface="Times New Roman"/>
              </a:rPr>
              <a:t>longitivity</a:t>
            </a:r>
            <a:r>
              <a:rPr lang="en-US" sz="2500" dirty="0">
                <a:solidFill>
                  <a:schemeClr val="dk1"/>
                </a:solidFill>
                <a:latin typeface="Times New Roman"/>
                <a:ea typeface="Times New Roman"/>
                <a:cs typeface="Times New Roman"/>
                <a:sym typeface="Times New Roman"/>
              </a:rPr>
              <a:t> of life  and body.</a:t>
            </a:r>
            <a:endParaRPr sz="25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8"/>
          <p:cNvSpPr txBox="1">
            <a:spLocks noGrp="1"/>
          </p:cNvSpPr>
          <p:nvPr>
            <p:ph type="title"/>
          </p:nvPr>
        </p:nvSpPr>
        <p:spPr>
          <a:xfrm>
            <a:off x="0" y="507501"/>
            <a:ext cx="8991600"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Components of Food and their Functions</a:t>
            </a:r>
            <a:endParaRPr sz="4000">
              <a:latin typeface="Times New Roman"/>
              <a:ea typeface="Times New Roman"/>
              <a:cs typeface="Times New Roman"/>
              <a:sym typeface="Times New Roman"/>
            </a:endParaRPr>
          </a:p>
        </p:txBody>
      </p:sp>
      <p:graphicFrame>
        <p:nvGraphicFramePr>
          <p:cNvPr id="394" name="Google Shape;394;p48"/>
          <p:cNvGraphicFramePr/>
          <p:nvPr/>
        </p:nvGraphicFramePr>
        <p:xfrm>
          <a:off x="450850" y="1289050"/>
          <a:ext cx="8229600" cy="5329100"/>
        </p:xfrm>
        <a:graphic>
          <a:graphicData uri="http://schemas.openxmlformats.org/drawingml/2006/table">
            <a:tbl>
              <a:tblPr firstRow="1" bandRow="1">
                <a:noFill/>
                <a:tableStyleId>{5FB317E1-32DA-4949-87C5-9547F919FA31}</a:tableStyleId>
              </a:tblPr>
              <a:tblGrid>
                <a:gridCol w="1828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84150">
                <a:tc>
                  <a:txBody>
                    <a:bodyPr/>
                    <a:lstStyle/>
                    <a:p>
                      <a:pPr marL="91440" marR="631825" lvl="0" indent="0" algn="l" rtl="0">
                        <a:lnSpc>
                          <a:spcPct val="100000"/>
                        </a:lnSpc>
                        <a:spcBef>
                          <a:spcPts val="0"/>
                        </a:spcBef>
                        <a:spcAft>
                          <a:spcPts val="0"/>
                        </a:spcAft>
                        <a:buNone/>
                      </a:pPr>
                      <a:r>
                        <a:rPr lang="en-US" sz="1800" b="1" u="none" strike="noStrike" cap="none">
                          <a:solidFill>
                            <a:srgbClr val="FFFFFF"/>
                          </a:solidFill>
                          <a:latin typeface="Times New Roman"/>
                          <a:ea typeface="Times New Roman"/>
                          <a:cs typeface="Times New Roman"/>
                          <a:sym typeface="Times New Roman"/>
                        </a:rPr>
                        <a:t>Element/  component</a:t>
                      </a:r>
                      <a:endParaRPr sz="1800" u="none" strike="noStrike" cap="none">
                        <a:latin typeface="Times New Roman"/>
                        <a:ea typeface="Times New Roman"/>
                        <a:cs typeface="Times New Roman"/>
                        <a:sym typeface="Times New Roman"/>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tc>
                  <a:txBody>
                    <a:bodyPr/>
                    <a:lstStyle/>
                    <a:p>
                      <a:pPr marL="91440" marR="134620" lvl="0" indent="0" algn="l" rtl="0">
                        <a:lnSpc>
                          <a:spcPct val="100000"/>
                        </a:lnSpc>
                        <a:spcBef>
                          <a:spcPts val="0"/>
                        </a:spcBef>
                        <a:spcAft>
                          <a:spcPts val="0"/>
                        </a:spcAft>
                        <a:buNone/>
                      </a:pPr>
                      <a:r>
                        <a:rPr lang="en-US" sz="1800" b="1" u="none" strike="noStrike" cap="none">
                          <a:solidFill>
                            <a:srgbClr val="FFFFFF"/>
                          </a:solidFill>
                          <a:latin typeface="Times New Roman"/>
                          <a:ea typeface="Times New Roman"/>
                          <a:cs typeface="Times New Roman"/>
                          <a:sym typeface="Times New Roman"/>
                        </a:rPr>
                        <a:t>Daily  requirement</a:t>
                      </a:r>
                      <a:endParaRPr sz="1800" u="none" strike="noStrike" cap="none">
                        <a:latin typeface="Times New Roman"/>
                        <a:ea typeface="Times New Roman"/>
                        <a:cs typeface="Times New Roman"/>
                        <a:sym typeface="Times New Roman"/>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tc>
                  <a:txBody>
                    <a:bodyPr/>
                    <a:lstStyle/>
                    <a:p>
                      <a:pPr marL="92075" marR="0" lvl="0" indent="0" algn="l" rtl="0">
                        <a:lnSpc>
                          <a:spcPct val="100000"/>
                        </a:lnSpc>
                        <a:spcBef>
                          <a:spcPts val="0"/>
                        </a:spcBef>
                        <a:spcAft>
                          <a:spcPts val="0"/>
                        </a:spcAft>
                        <a:buNone/>
                      </a:pPr>
                      <a:r>
                        <a:rPr lang="en-US" sz="1800" b="1" u="none" strike="noStrike" cap="none">
                          <a:solidFill>
                            <a:srgbClr val="FFFFFF"/>
                          </a:solidFill>
                          <a:latin typeface="Times New Roman"/>
                          <a:ea typeface="Times New Roman"/>
                          <a:cs typeface="Times New Roman"/>
                          <a:sym typeface="Times New Roman"/>
                        </a:rPr>
                        <a:t>Function</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tc>
                  <a:txBody>
                    <a:bodyPr/>
                    <a:lstStyle/>
                    <a:p>
                      <a:pPr marL="92075" marR="0" lvl="0" indent="0" algn="l" rtl="0">
                        <a:lnSpc>
                          <a:spcPct val="100000"/>
                        </a:lnSpc>
                        <a:spcBef>
                          <a:spcPts val="0"/>
                        </a:spcBef>
                        <a:spcAft>
                          <a:spcPts val="0"/>
                        </a:spcAft>
                        <a:buNone/>
                      </a:pPr>
                      <a:r>
                        <a:rPr lang="en-US" sz="1800" b="1" u="none" strike="noStrike" cap="none">
                          <a:solidFill>
                            <a:srgbClr val="FFFFFF"/>
                          </a:solidFill>
                          <a:latin typeface="Times New Roman"/>
                          <a:ea typeface="Times New Roman"/>
                          <a:cs typeface="Times New Roman"/>
                          <a:sym typeface="Times New Roman"/>
                        </a:rPr>
                        <a:t>Sources</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extLst>
                  <a:ext uri="{0D108BD9-81ED-4DB2-BD59-A6C34878D82A}">
                    <a16:rowId xmlns:a16="http://schemas.microsoft.com/office/drawing/2014/main" val="10000"/>
                  </a:ext>
                </a:extLst>
              </a:tr>
              <a:tr h="1080250">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1. Carbohydrates</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500 gms.</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13081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Energy and Temperature of  the body is maintained</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258445"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Grains, potatoes,  sugar, banana,  carrot, honey, etc</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extLst>
                  <a:ext uri="{0D108BD9-81ED-4DB2-BD59-A6C34878D82A}">
                    <a16:rowId xmlns:a16="http://schemas.microsoft.com/office/drawing/2014/main" val="10001"/>
                  </a:ext>
                </a:extLst>
              </a:tr>
              <a:tr h="1080125">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2. Fats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50 gms.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2075" marR="35560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Important for the  development of cells and  building tissues.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2075" marR="393700" lvl="0" indent="0" algn="just"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Clarified butter,  edible oil, milk,  butter, eggs, etc</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extLst>
                  <a:ext uri="{0D108BD9-81ED-4DB2-BD59-A6C34878D82A}">
                    <a16:rowId xmlns:a16="http://schemas.microsoft.com/office/drawing/2014/main" val="10002"/>
                  </a:ext>
                </a:extLst>
              </a:tr>
              <a:tr h="1404375">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3. Proteins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100 gms.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28448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Necessary for the growth  and development of body  tissues.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29591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Cereals, milk,  curd, cheese,  meat, fishes, and  eggs.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extLst>
                  <a:ext uri="{0D108BD9-81ED-4DB2-BD59-A6C34878D82A}">
                    <a16:rowId xmlns:a16="http://schemas.microsoft.com/office/drawing/2014/main" val="10003"/>
                  </a:ext>
                </a:extLst>
              </a:tr>
              <a:tr h="1080200">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4. Water</a:t>
                      </a:r>
                      <a:endParaRPr sz="1800" u="none" strike="noStrike" cap="none">
                        <a:latin typeface="Times New Roman"/>
                        <a:ea typeface="Times New Roman"/>
                        <a:cs typeface="Times New Roman"/>
                        <a:sym typeface="Times New Roman"/>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2.5 liters</a:t>
                      </a:r>
                      <a:endParaRPr sz="1800" u="none" strike="noStrike" cap="none">
                        <a:latin typeface="Times New Roman"/>
                        <a:ea typeface="Times New Roman"/>
                        <a:cs typeface="Times New Roman"/>
                        <a:sym typeface="Times New Roman"/>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2075" marR="499109"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Essential for the bio-  chemical process in the  body.</a:t>
                      </a:r>
                      <a:endParaRPr sz="1800" u="none" strike="noStrike" cap="none">
                        <a:latin typeface="Times New Roman"/>
                        <a:ea typeface="Times New Roman"/>
                        <a:cs typeface="Times New Roman"/>
                        <a:sym typeface="Times New Roman"/>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2075"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Water</a:t>
                      </a:r>
                      <a:endParaRPr sz="1800" u="none" strike="noStrike" cap="none">
                        <a:latin typeface="Times New Roman"/>
                        <a:ea typeface="Times New Roman"/>
                        <a:cs typeface="Times New Roman"/>
                        <a:sym typeface="Times New Roman"/>
                      </a:endParaRPr>
                    </a:p>
                  </a:txBody>
                  <a:tcPr marL="0" marR="0" marT="317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9"/>
          <p:cNvSpPr/>
          <p:nvPr/>
        </p:nvSpPr>
        <p:spPr>
          <a:xfrm>
            <a:off x="-828" y="0"/>
            <a:ext cx="9145590" cy="102057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aphicFrame>
        <p:nvGraphicFramePr>
          <p:cNvPr id="400" name="Google Shape;400;p49"/>
          <p:cNvGraphicFramePr/>
          <p:nvPr/>
        </p:nvGraphicFramePr>
        <p:xfrm>
          <a:off x="450850" y="1441450"/>
          <a:ext cx="8229600" cy="3327150"/>
        </p:xfrm>
        <a:graphic>
          <a:graphicData uri="http://schemas.openxmlformats.org/drawingml/2006/table">
            <a:tbl>
              <a:tblPr firstRow="1" bandRow="1">
                <a:noFill/>
                <a:tableStyleId>{5FB317E1-32DA-4949-87C5-9547F919FA31}</a:tableStyleId>
              </a:tblPr>
              <a:tblGrid>
                <a:gridCol w="20574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344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E6EC5"/>
                    </a:solidFill>
                  </a:tcPr>
                </a:tc>
                <a:extLst>
                  <a:ext uri="{0D108BD9-81ED-4DB2-BD59-A6C34878D82A}">
                    <a16:rowId xmlns:a16="http://schemas.microsoft.com/office/drawing/2014/main" val="10000"/>
                  </a:ext>
                </a:extLst>
              </a:tr>
              <a:tr h="749925">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5. Salt (minerals)</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0.7 gm.</a:t>
                      </a:r>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16002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Security against damage and  strengthens bones.</a:t>
                      </a:r>
                      <a:endParaRPr sz="1800" u="none" strike="noStrike" cap="none">
                        <a:latin typeface="Times New Roman"/>
                        <a:ea typeface="Times New Roman"/>
                        <a:cs typeface="Times New Roman"/>
                        <a:sym typeface="Times New Roman"/>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47625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Grains, cereals,  salt</a:t>
                      </a:r>
                      <a:endParaRPr/>
                    </a:p>
                  </a:txBody>
                  <a:tcPr marL="0" marR="0" marT="30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extLst>
                  <a:ext uri="{0D108BD9-81ED-4DB2-BD59-A6C34878D82A}">
                    <a16:rowId xmlns:a16="http://schemas.microsoft.com/office/drawing/2014/main" val="10001"/>
                  </a:ext>
                </a:extLst>
              </a:tr>
              <a:tr h="1071375">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6. Vitamins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2075"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0.6 gm</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2075" marR="462915"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Useful for bio chemical  processes, health, growth</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tc>
                  <a:txBody>
                    <a:bodyPr/>
                    <a:lstStyle/>
                    <a:p>
                      <a:pPr marL="92075" marR="396875"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Milk, butter,  vegetables, eggs  and meat</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BF5"/>
                    </a:solidFill>
                  </a:tcPr>
                </a:tc>
                <a:extLst>
                  <a:ext uri="{0D108BD9-81ED-4DB2-BD59-A6C34878D82A}">
                    <a16:rowId xmlns:a16="http://schemas.microsoft.com/office/drawing/2014/main" val="10002"/>
                  </a:ext>
                </a:extLst>
              </a:tr>
              <a:tr h="1071375">
                <a:tc>
                  <a:txBody>
                    <a:bodyPr/>
                    <a:lstStyle/>
                    <a:p>
                      <a:pPr marL="91440"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7. Roughage</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344805"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Rarely  taken</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847089" lvl="0" indent="0" algn="just"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It is useful for proper  digestion and bowel’s  movement.</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tc>
                  <a:txBody>
                    <a:bodyPr/>
                    <a:lstStyle/>
                    <a:p>
                      <a:pPr marL="92075" marR="0" lvl="0" indent="0" algn="l"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Chaff of grains.</a:t>
                      </a:r>
                      <a:endParaRPr sz="1800" u="none" strike="noStrike" cap="none">
                        <a:latin typeface="Times New Roman"/>
                        <a:ea typeface="Times New Roman"/>
                        <a:cs typeface="Times New Roman"/>
                        <a:sym typeface="Times New Roman"/>
                      </a:endParaRPr>
                    </a:p>
                  </a:txBody>
                  <a:tcPr marL="0" marR="0" marT="311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D4E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Modern Agriculture</a:t>
            </a:r>
            <a:endParaRPr sz="4000" b="1">
              <a:latin typeface="Times New Roman"/>
              <a:ea typeface="Times New Roman"/>
              <a:cs typeface="Times New Roman"/>
              <a:sym typeface="Times New Roman"/>
            </a:endParaRPr>
          </a:p>
        </p:txBody>
      </p:sp>
      <p:sp>
        <p:nvSpPr>
          <p:cNvPr id="423" name="Google Shape;423;p52"/>
          <p:cNvSpPr/>
          <p:nvPr/>
        </p:nvSpPr>
        <p:spPr>
          <a:xfrm>
            <a:off x="838200" y="1981201"/>
            <a:ext cx="7924800" cy="3554819"/>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Clr>
                <a:schemeClr val="dk1"/>
              </a:buClr>
              <a:buSzPts val="2500"/>
              <a:buFont typeface="Arial"/>
              <a:buChar char="•"/>
            </a:pPr>
            <a:r>
              <a:rPr lang="en-US" sz="2500" dirty="0">
                <a:solidFill>
                  <a:schemeClr val="dk1"/>
                </a:solidFill>
                <a:latin typeface="Times New Roman"/>
                <a:ea typeface="Times New Roman"/>
                <a:cs typeface="Times New Roman"/>
                <a:sym typeface="Times New Roman"/>
              </a:rPr>
              <a:t>Modern agriculture is an evolving approach to agricultural innovations and farming practices that help farmers increase efficiency and reduce the number of natural resources like water, land, and energy necessary to meet the world’s food, fuel, and </a:t>
            </a:r>
            <a:r>
              <a:rPr lang="en-US" sz="2500" dirty="0" err="1">
                <a:solidFill>
                  <a:schemeClr val="dk1"/>
                </a:solidFill>
                <a:latin typeface="Times New Roman"/>
                <a:ea typeface="Times New Roman"/>
                <a:cs typeface="Times New Roman"/>
                <a:sym typeface="Times New Roman"/>
              </a:rPr>
              <a:t>fibre</a:t>
            </a:r>
            <a:r>
              <a:rPr lang="en-US" sz="2500" dirty="0">
                <a:solidFill>
                  <a:schemeClr val="dk1"/>
                </a:solidFill>
                <a:latin typeface="Times New Roman"/>
                <a:ea typeface="Times New Roman"/>
                <a:cs typeface="Times New Roman"/>
                <a:sym typeface="Times New Roman"/>
              </a:rPr>
              <a:t> needs.</a:t>
            </a:r>
            <a:endParaRPr dirty="0"/>
          </a:p>
          <a:p>
            <a:pPr marL="342900" marR="0" lvl="0" indent="-184150" algn="just" rtl="0">
              <a:spcBef>
                <a:spcPts val="0"/>
              </a:spcBef>
              <a:spcAft>
                <a:spcPts val="0"/>
              </a:spcAft>
              <a:buClr>
                <a:schemeClr val="dk1"/>
              </a:buClr>
              <a:buSzPts val="2500"/>
              <a:buFont typeface="Arial"/>
              <a:buNone/>
            </a:pPr>
            <a:endParaRPr sz="25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Effects of Modern Agriculture</a:t>
            </a:r>
            <a:endParaRPr sz="4000" b="1">
              <a:latin typeface="Times New Roman"/>
              <a:ea typeface="Times New Roman"/>
              <a:cs typeface="Times New Roman"/>
              <a:sym typeface="Times New Roman"/>
            </a:endParaRPr>
          </a:p>
        </p:txBody>
      </p:sp>
      <p:sp>
        <p:nvSpPr>
          <p:cNvPr id="429" name="Google Shape;429;p53"/>
          <p:cNvSpPr/>
          <p:nvPr/>
        </p:nvSpPr>
        <p:spPr>
          <a:xfrm>
            <a:off x="762000" y="1618011"/>
            <a:ext cx="8382000" cy="4108817"/>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Font typeface="Arial" panose="020B0604020202020204" pitchFamily="34" charset="0"/>
              <a:buChar char="•"/>
            </a:pPr>
            <a:r>
              <a:rPr lang="en-US" sz="2500" b="1" dirty="0">
                <a:solidFill>
                  <a:schemeClr val="dk1"/>
                </a:solidFill>
                <a:latin typeface="Times New Roman"/>
                <a:ea typeface="Times New Roman"/>
                <a:cs typeface="Times New Roman"/>
                <a:sym typeface="Times New Roman"/>
              </a:rPr>
              <a:t>Soil Erosion</a:t>
            </a:r>
          </a:p>
          <a:p>
            <a:pPr marL="342900" marR="0" lvl="0" indent="-342900" algn="just" rtl="0">
              <a:spcBef>
                <a:spcPts val="0"/>
              </a:spcBef>
              <a:spcAft>
                <a:spcPts val="0"/>
              </a:spcAft>
              <a:buFont typeface="Arial" panose="020B0604020202020204" pitchFamily="34" charset="0"/>
              <a:buChar char="•"/>
            </a:pPr>
            <a:endParaRPr lang="en-US" sz="2500" b="1" dirty="0">
              <a:solidFill>
                <a:schemeClr val="dk1"/>
              </a:solidFill>
              <a:latin typeface="Times New Roman"/>
              <a:ea typeface="Times New Roman"/>
              <a:cs typeface="Times New Roman"/>
              <a:sym typeface="Times New Roman"/>
            </a:endParaRPr>
          </a:p>
          <a:p>
            <a:pPr marL="342900" indent="-342900" algn="just">
              <a:buFont typeface="Arial" panose="020B0604020202020204" pitchFamily="34" charset="0"/>
              <a:buChar char="•"/>
            </a:pPr>
            <a:r>
              <a:rPr lang="en-US" sz="2500" b="1" dirty="0">
                <a:solidFill>
                  <a:schemeClr val="dk1"/>
                </a:solidFill>
                <a:latin typeface="Times New Roman"/>
                <a:cs typeface="Times New Roman"/>
                <a:sym typeface="Times New Roman"/>
              </a:rPr>
              <a:t>Contamination of ground water</a:t>
            </a:r>
          </a:p>
          <a:p>
            <a:pPr marL="342900" indent="-342900" algn="just">
              <a:buFont typeface="Arial" panose="020B0604020202020204" pitchFamily="34" charset="0"/>
              <a:buChar char="•"/>
            </a:pPr>
            <a:endParaRPr lang="en-US" sz="2500" b="1" dirty="0">
              <a:solidFill>
                <a:schemeClr val="dk1"/>
              </a:solidFill>
              <a:latin typeface="Times New Roman"/>
              <a:cs typeface="Times New Roman"/>
              <a:sym typeface="Times New Roman"/>
            </a:endParaRPr>
          </a:p>
          <a:p>
            <a:pPr marL="342900" indent="-342900" algn="just">
              <a:buFont typeface="Arial" panose="020B0604020202020204" pitchFamily="34" charset="0"/>
              <a:buChar char="•"/>
            </a:pPr>
            <a:r>
              <a:rPr lang="en-US" sz="2500" b="1" dirty="0">
                <a:solidFill>
                  <a:schemeClr val="dk1"/>
                </a:solidFill>
                <a:latin typeface="Times New Roman"/>
                <a:cs typeface="Times New Roman"/>
                <a:sym typeface="Times New Roman"/>
              </a:rPr>
              <a:t>Water-logging and salinity</a:t>
            </a:r>
          </a:p>
          <a:p>
            <a:pPr marL="342900" indent="-342900" algn="just">
              <a:buFont typeface="Arial" panose="020B0604020202020204" pitchFamily="34" charset="0"/>
              <a:buChar char="•"/>
            </a:pPr>
            <a:endParaRPr lang="en-US" sz="2500" b="1" dirty="0">
              <a:solidFill>
                <a:schemeClr val="dk1"/>
              </a:solidFill>
              <a:latin typeface="Times New Roman"/>
              <a:cs typeface="Times New Roman"/>
              <a:sym typeface="Times New Roman"/>
            </a:endParaRPr>
          </a:p>
          <a:p>
            <a:pPr marL="342900" indent="-342900" algn="just">
              <a:buFont typeface="Arial" panose="020B0604020202020204" pitchFamily="34" charset="0"/>
              <a:buChar char="•"/>
            </a:pPr>
            <a:r>
              <a:rPr lang="en-US" sz="2500" b="1" dirty="0">
                <a:solidFill>
                  <a:schemeClr val="dk1"/>
                </a:solidFill>
                <a:latin typeface="Times New Roman"/>
                <a:cs typeface="Times New Roman"/>
                <a:sym typeface="Times New Roman"/>
              </a:rPr>
              <a:t>Eutrophication</a:t>
            </a:r>
          </a:p>
          <a:p>
            <a:pPr marL="342900" indent="-342900" algn="just">
              <a:buFont typeface="Arial" panose="020B0604020202020204" pitchFamily="34" charset="0"/>
              <a:buChar char="•"/>
            </a:pPr>
            <a:endParaRPr lang="en-US" sz="2500" b="1" dirty="0">
              <a:solidFill>
                <a:schemeClr val="dk1"/>
              </a:solidFill>
              <a:latin typeface="Times New Roman"/>
              <a:cs typeface="Times New Roman"/>
              <a:sym typeface="Times New Roman"/>
            </a:endParaRPr>
          </a:p>
          <a:p>
            <a:pPr marL="342900" indent="-342900" algn="just">
              <a:buFont typeface="Arial" panose="020B0604020202020204" pitchFamily="34" charset="0"/>
              <a:buChar char="•"/>
            </a:pPr>
            <a:r>
              <a:rPr lang="en-US" sz="2500" b="1" dirty="0">
                <a:solidFill>
                  <a:schemeClr val="dk1"/>
                </a:solidFill>
                <a:latin typeface="Times New Roman"/>
                <a:cs typeface="Times New Roman"/>
                <a:sym typeface="Times New Roman"/>
              </a:rPr>
              <a:t>Fertilizers</a:t>
            </a:r>
            <a:endParaRPr lang="en-US" sz="2500" b="1" dirty="0">
              <a:solidFill>
                <a:schemeClr val="dk1"/>
              </a:solidFill>
              <a:latin typeface="Times New Roman"/>
              <a:cs typeface="Times New Roman"/>
            </a:endParaRPr>
          </a:p>
          <a:p>
            <a:pPr algn="just"/>
            <a:endParaRPr lang="en-US" dirty="0"/>
          </a:p>
          <a:p>
            <a:pPr marL="0" marR="0" lvl="0" indent="0" algn="just" rtl="0">
              <a:spcBef>
                <a:spcPts val="0"/>
              </a:spcBef>
              <a:spcAft>
                <a:spcPts val="0"/>
              </a:spcAft>
              <a:buNone/>
            </a:pPr>
            <a:endParaRPr dirty="0"/>
          </a:p>
          <a:p>
            <a:pPr marL="0" marR="0" lvl="0" indent="0" algn="just" rtl="0">
              <a:spcBef>
                <a:spcPts val="0"/>
              </a:spcBef>
              <a:spcAft>
                <a:spcPts val="0"/>
              </a:spcAft>
              <a:buNone/>
            </a:pPr>
            <a:endParaRPr sz="25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7"/>
          <p:cNvSpPr txBox="1">
            <a:spLocks noGrp="1"/>
          </p:cNvSpPr>
          <p:nvPr>
            <p:ph type="title"/>
          </p:nvPr>
        </p:nvSpPr>
        <p:spPr>
          <a:xfrm>
            <a:off x="2590800" y="762000"/>
            <a:ext cx="4366133"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FERTILIZERS</a:t>
            </a:r>
            <a:endParaRPr sz="4000" b="1">
              <a:latin typeface="Times New Roman"/>
              <a:ea typeface="Times New Roman"/>
              <a:cs typeface="Times New Roman"/>
              <a:sym typeface="Times New Roman"/>
            </a:endParaRPr>
          </a:p>
        </p:txBody>
      </p:sp>
      <p:sp>
        <p:nvSpPr>
          <p:cNvPr id="453" name="Google Shape;453;p57"/>
          <p:cNvSpPr/>
          <p:nvPr/>
        </p:nvSpPr>
        <p:spPr>
          <a:xfrm>
            <a:off x="548640" y="2009267"/>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4" name="Google Shape;454;p57"/>
          <p:cNvSpPr txBox="1"/>
          <p:nvPr/>
        </p:nvSpPr>
        <p:spPr>
          <a:xfrm>
            <a:off x="685800" y="1887551"/>
            <a:ext cx="8128000" cy="2873222"/>
          </a:xfrm>
          <a:prstGeom prst="rect">
            <a:avLst/>
          </a:prstGeom>
          <a:noFill/>
          <a:ln>
            <a:noFill/>
          </a:ln>
        </p:spPr>
        <p:txBody>
          <a:bodyPr spcFirstLastPara="1" wrap="square" lIns="0" tIns="13325" rIns="0" bIns="0" anchor="t" anchorCtr="0">
            <a:spAutoFit/>
          </a:bodyPr>
          <a:lstStyle/>
          <a:p>
            <a:pPr marL="287020" marR="5080"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The substance which brings an improvement in the  productivity of the land and which is also helpful in  bringing up vegetation is called fertilizer.</a:t>
            </a:r>
            <a:endParaRPr sz="2500">
              <a:solidFill>
                <a:schemeClr val="dk1"/>
              </a:solidFill>
              <a:latin typeface="Times New Roman"/>
              <a:ea typeface="Times New Roman"/>
              <a:cs typeface="Times New Roman"/>
              <a:sym typeface="Times New Roman"/>
            </a:endParaRPr>
          </a:p>
          <a:p>
            <a:pPr marL="0" marR="0" lvl="0" indent="0" algn="l" rtl="0">
              <a:lnSpc>
                <a:spcPct val="100000"/>
              </a:lnSpc>
              <a:spcBef>
                <a:spcPts val="55"/>
              </a:spcBef>
              <a:spcAft>
                <a:spcPts val="0"/>
              </a:spcAft>
              <a:buNone/>
            </a:pPr>
            <a:endParaRPr sz="2500">
              <a:solidFill>
                <a:schemeClr val="dk1"/>
              </a:solidFill>
              <a:latin typeface="Times New Roman"/>
              <a:ea typeface="Times New Roman"/>
              <a:cs typeface="Times New Roman"/>
              <a:sym typeface="Times New Roman"/>
            </a:endParaRPr>
          </a:p>
          <a:p>
            <a:pPr marL="287020" marR="0" lvl="0" indent="0" algn="l"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The Fertilizers can be divided in to two parts</a:t>
            </a:r>
            <a:endParaRPr sz="2500">
              <a:solidFill>
                <a:schemeClr val="dk1"/>
              </a:solidFill>
              <a:latin typeface="Times New Roman"/>
              <a:ea typeface="Times New Roman"/>
              <a:cs typeface="Times New Roman"/>
              <a:sym typeface="Times New Roman"/>
            </a:endParaRPr>
          </a:p>
          <a:p>
            <a:pPr marL="527685" marR="0" lvl="0" indent="-515619" algn="l" rtl="0">
              <a:lnSpc>
                <a:spcPct val="100000"/>
              </a:lnSpc>
              <a:spcBef>
                <a:spcPts val="625"/>
              </a:spcBef>
              <a:spcAft>
                <a:spcPts val="0"/>
              </a:spcAft>
              <a:buClr>
                <a:srgbClr val="0AD0D9"/>
              </a:buClr>
              <a:buSzPts val="2356"/>
              <a:buFont typeface="Times New Roman"/>
              <a:buAutoNum type="alphaUcPeriod"/>
            </a:pPr>
            <a:r>
              <a:rPr lang="en-US" sz="2500">
                <a:solidFill>
                  <a:schemeClr val="dk1"/>
                </a:solidFill>
                <a:latin typeface="Times New Roman"/>
                <a:ea typeface="Times New Roman"/>
                <a:cs typeface="Times New Roman"/>
                <a:sym typeface="Times New Roman"/>
              </a:rPr>
              <a:t>Chemical or mineral Fertilizers</a:t>
            </a:r>
            <a:endParaRPr sz="2500">
              <a:solidFill>
                <a:schemeClr val="dk1"/>
              </a:solidFill>
              <a:latin typeface="Times New Roman"/>
              <a:ea typeface="Times New Roman"/>
              <a:cs typeface="Times New Roman"/>
              <a:sym typeface="Times New Roman"/>
            </a:endParaRPr>
          </a:p>
          <a:p>
            <a:pPr marL="527685" marR="0" lvl="0" indent="-515619" algn="l" rtl="0">
              <a:lnSpc>
                <a:spcPct val="100000"/>
              </a:lnSpc>
              <a:spcBef>
                <a:spcPts val="625"/>
              </a:spcBef>
              <a:spcAft>
                <a:spcPts val="0"/>
              </a:spcAft>
              <a:buClr>
                <a:srgbClr val="0AD0D9"/>
              </a:buClr>
              <a:buSzPts val="2356"/>
              <a:buFont typeface="Times New Roman"/>
              <a:buAutoNum type="alphaUcPeriod"/>
            </a:pPr>
            <a:r>
              <a:rPr lang="en-US" sz="2500">
                <a:solidFill>
                  <a:schemeClr val="dk1"/>
                </a:solidFill>
                <a:latin typeface="Times New Roman"/>
                <a:ea typeface="Times New Roman"/>
                <a:cs typeface="Times New Roman"/>
                <a:sym typeface="Times New Roman"/>
              </a:rPr>
              <a:t>Biological or Natural Fertilizers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58"/>
          <p:cNvSpPr txBox="1">
            <a:spLocks noGrp="1"/>
          </p:cNvSpPr>
          <p:nvPr>
            <p:ph type="title"/>
          </p:nvPr>
        </p:nvSpPr>
        <p:spPr>
          <a:xfrm>
            <a:off x="1600200" y="685800"/>
            <a:ext cx="584962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Chemical Fertilizers</a:t>
            </a:r>
            <a:endParaRPr sz="4000" b="1">
              <a:latin typeface="Times New Roman"/>
              <a:ea typeface="Times New Roman"/>
              <a:cs typeface="Times New Roman"/>
              <a:sym typeface="Times New Roman"/>
            </a:endParaRPr>
          </a:p>
        </p:txBody>
      </p:sp>
      <p:sp>
        <p:nvSpPr>
          <p:cNvPr id="460" name="Google Shape;460;p58"/>
          <p:cNvSpPr/>
          <p:nvPr/>
        </p:nvSpPr>
        <p:spPr>
          <a:xfrm>
            <a:off x="548640" y="1595882"/>
            <a:ext cx="435864" cy="32308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1" name="Google Shape;461;p58"/>
          <p:cNvSpPr/>
          <p:nvPr/>
        </p:nvSpPr>
        <p:spPr>
          <a:xfrm>
            <a:off x="548640" y="2766695"/>
            <a:ext cx="435864" cy="32308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2" name="Google Shape;462;p58"/>
          <p:cNvSpPr/>
          <p:nvPr/>
        </p:nvSpPr>
        <p:spPr>
          <a:xfrm>
            <a:off x="576072" y="4412869"/>
            <a:ext cx="435864" cy="32308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3" name="Google Shape;463;p58"/>
          <p:cNvSpPr txBox="1"/>
          <p:nvPr/>
        </p:nvSpPr>
        <p:spPr>
          <a:xfrm>
            <a:off x="810564" y="1537461"/>
            <a:ext cx="8104836" cy="4796185"/>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The continuous crop yield will exhaust the level of minerals  (nitrogen, phosphorus, calcium and potassium). To regain  the minerals chemical fertilizers are used.</a:t>
            </a:r>
            <a:endParaRPr sz="2500">
              <a:solidFill>
                <a:schemeClr val="dk1"/>
              </a:solidFill>
              <a:latin typeface="Times New Roman"/>
              <a:ea typeface="Times New Roman"/>
              <a:cs typeface="Times New Roman"/>
              <a:sym typeface="Times New Roman"/>
            </a:endParaRPr>
          </a:p>
          <a:p>
            <a:pPr marL="12700" marR="0" lvl="0" indent="0" algn="just" rtl="0">
              <a:lnSpc>
                <a:spcPct val="100000"/>
              </a:lnSpc>
              <a:spcBef>
                <a:spcPts val="580"/>
              </a:spcBef>
              <a:spcAft>
                <a:spcPts val="0"/>
              </a:spcAft>
              <a:buNone/>
            </a:pPr>
            <a:r>
              <a:rPr lang="en-US" sz="2500">
                <a:solidFill>
                  <a:schemeClr val="dk1"/>
                </a:solidFill>
                <a:latin typeface="Times New Roman"/>
                <a:ea typeface="Times New Roman"/>
                <a:cs typeface="Times New Roman"/>
                <a:sym typeface="Times New Roman"/>
              </a:rPr>
              <a:t>Characteristics of Chemical Fertilizers:</a:t>
            </a:r>
            <a:endParaRPr sz="2500">
              <a:solidFill>
                <a:schemeClr val="dk1"/>
              </a:solidFill>
              <a:latin typeface="Times New Roman"/>
              <a:ea typeface="Times New Roman"/>
              <a:cs typeface="Times New Roman"/>
              <a:sym typeface="Times New Roman"/>
            </a:endParaRPr>
          </a:p>
          <a:p>
            <a:pPr marL="588645" marR="0" lvl="0" indent="-457833" algn="just" rtl="0">
              <a:lnSpc>
                <a:spcPct val="100000"/>
              </a:lnSpc>
              <a:spcBef>
                <a:spcPts val="545"/>
              </a:spcBef>
              <a:spcAft>
                <a:spcPts val="0"/>
              </a:spcAft>
              <a:buClr>
                <a:srgbClr val="0E6EC5"/>
              </a:buClr>
              <a:buSzPts val="2102"/>
              <a:buFont typeface="Times New Roman"/>
              <a:buAutoNum type="arabicPeriod"/>
            </a:pPr>
            <a:r>
              <a:rPr lang="en-US" sz="2500">
                <a:solidFill>
                  <a:schemeClr val="dk1"/>
                </a:solidFill>
                <a:latin typeface="Times New Roman"/>
                <a:ea typeface="Times New Roman"/>
                <a:cs typeface="Times New Roman"/>
                <a:sym typeface="Times New Roman"/>
              </a:rPr>
              <a:t>It is soluble in water.</a:t>
            </a:r>
            <a:endParaRPr sz="2500">
              <a:solidFill>
                <a:schemeClr val="dk1"/>
              </a:solidFill>
              <a:latin typeface="Times New Roman"/>
              <a:ea typeface="Times New Roman"/>
              <a:cs typeface="Times New Roman"/>
              <a:sym typeface="Times New Roman"/>
            </a:endParaRPr>
          </a:p>
          <a:p>
            <a:pPr marL="588645" marR="0" lvl="0" indent="-457833" algn="just" rtl="0">
              <a:lnSpc>
                <a:spcPct val="100000"/>
              </a:lnSpc>
              <a:spcBef>
                <a:spcPts val="530"/>
              </a:spcBef>
              <a:spcAft>
                <a:spcPts val="0"/>
              </a:spcAft>
              <a:buClr>
                <a:srgbClr val="0E6EC5"/>
              </a:buClr>
              <a:buSzPts val="2102"/>
              <a:buFont typeface="Times New Roman"/>
              <a:buAutoNum type="arabicPeriod"/>
            </a:pPr>
            <a:r>
              <a:rPr lang="en-US" sz="2500">
                <a:solidFill>
                  <a:schemeClr val="dk1"/>
                </a:solidFill>
                <a:latin typeface="Times New Roman"/>
                <a:ea typeface="Times New Roman"/>
                <a:cs typeface="Times New Roman"/>
                <a:sym typeface="Times New Roman"/>
              </a:rPr>
              <a:t>It is durable.</a:t>
            </a:r>
            <a:endParaRPr sz="2500">
              <a:solidFill>
                <a:schemeClr val="dk1"/>
              </a:solidFill>
              <a:latin typeface="Times New Roman"/>
              <a:ea typeface="Times New Roman"/>
              <a:cs typeface="Times New Roman"/>
              <a:sym typeface="Times New Roman"/>
            </a:endParaRPr>
          </a:p>
          <a:p>
            <a:pPr marL="588645" marR="0" lvl="0" indent="-457833" algn="just" rtl="0">
              <a:lnSpc>
                <a:spcPct val="100000"/>
              </a:lnSpc>
              <a:spcBef>
                <a:spcPts val="530"/>
              </a:spcBef>
              <a:spcAft>
                <a:spcPts val="0"/>
              </a:spcAft>
              <a:buClr>
                <a:srgbClr val="0E6EC5"/>
              </a:buClr>
              <a:buSzPts val="2102"/>
              <a:buFont typeface="Times New Roman"/>
              <a:buAutoNum type="arabicPeriod"/>
            </a:pPr>
            <a:r>
              <a:rPr lang="en-US" sz="2500">
                <a:solidFill>
                  <a:schemeClr val="dk1"/>
                </a:solidFill>
                <a:latin typeface="Times New Roman"/>
                <a:ea typeface="Times New Roman"/>
                <a:cs typeface="Times New Roman"/>
                <a:sym typeface="Times New Roman"/>
              </a:rPr>
              <a:t>It should not be harmful to the plans.</a:t>
            </a:r>
            <a:endParaRPr sz="2500">
              <a:solidFill>
                <a:schemeClr val="dk1"/>
              </a:solidFill>
              <a:latin typeface="Times New Roman"/>
              <a:ea typeface="Times New Roman"/>
              <a:cs typeface="Times New Roman"/>
              <a:sym typeface="Times New Roman"/>
            </a:endParaRPr>
          </a:p>
          <a:p>
            <a:pPr marL="222884" marR="0" lvl="0" indent="0" algn="just" rtl="0">
              <a:lnSpc>
                <a:spcPct val="100000"/>
              </a:lnSpc>
              <a:spcBef>
                <a:spcPts val="555"/>
              </a:spcBef>
              <a:spcAft>
                <a:spcPts val="0"/>
              </a:spcAft>
              <a:buNone/>
            </a:pPr>
            <a:r>
              <a:rPr lang="en-US" sz="2500">
                <a:solidFill>
                  <a:schemeClr val="dk1"/>
                </a:solidFill>
                <a:latin typeface="Times New Roman"/>
                <a:ea typeface="Times New Roman"/>
                <a:cs typeface="Times New Roman"/>
                <a:sym typeface="Times New Roman"/>
              </a:rPr>
              <a:t>Types of Chemical Fertilizers:</a:t>
            </a:r>
            <a:endParaRPr sz="2500">
              <a:solidFill>
                <a:schemeClr val="dk1"/>
              </a:solidFill>
              <a:latin typeface="Times New Roman"/>
              <a:ea typeface="Times New Roman"/>
              <a:cs typeface="Times New Roman"/>
              <a:sym typeface="Times New Roman"/>
            </a:endParaRPr>
          </a:p>
          <a:p>
            <a:pPr marL="588645" marR="0" lvl="0" indent="-457833" algn="just" rtl="0">
              <a:lnSpc>
                <a:spcPct val="100000"/>
              </a:lnSpc>
              <a:spcBef>
                <a:spcPts val="550"/>
              </a:spcBef>
              <a:spcAft>
                <a:spcPts val="0"/>
              </a:spcAft>
              <a:buClr>
                <a:srgbClr val="0E6EC5"/>
              </a:buClr>
              <a:buSzPts val="2102"/>
              <a:buFont typeface="Times New Roman"/>
              <a:buAutoNum type="arabicPeriod"/>
            </a:pPr>
            <a:r>
              <a:rPr lang="en-US" sz="2500">
                <a:solidFill>
                  <a:schemeClr val="dk1"/>
                </a:solidFill>
                <a:latin typeface="Times New Roman"/>
                <a:ea typeface="Times New Roman"/>
                <a:cs typeface="Times New Roman"/>
                <a:sym typeface="Times New Roman"/>
              </a:rPr>
              <a:t>Phosphatic</a:t>
            </a:r>
            <a:endParaRPr sz="2500">
              <a:solidFill>
                <a:schemeClr val="dk1"/>
              </a:solidFill>
              <a:latin typeface="Times New Roman"/>
              <a:ea typeface="Times New Roman"/>
              <a:cs typeface="Times New Roman"/>
              <a:sym typeface="Times New Roman"/>
            </a:endParaRPr>
          </a:p>
          <a:p>
            <a:pPr marL="588645" marR="0" lvl="0" indent="-457833" algn="just" rtl="0">
              <a:lnSpc>
                <a:spcPct val="100000"/>
              </a:lnSpc>
              <a:spcBef>
                <a:spcPts val="530"/>
              </a:spcBef>
              <a:spcAft>
                <a:spcPts val="0"/>
              </a:spcAft>
              <a:buClr>
                <a:srgbClr val="0E6EC5"/>
              </a:buClr>
              <a:buSzPts val="2102"/>
              <a:buFont typeface="Times New Roman"/>
              <a:buAutoNum type="arabicPeriod"/>
            </a:pPr>
            <a:r>
              <a:rPr lang="en-US" sz="2500">
                <a:solidFill>
                  <a:schemeClr val="dk1"/>
                </a:solidFill>
                <a:latin typeface="Times New Roman"/>
                <a:ea typeface="Times New Roman"/>
                <a:cs typeface="Times New Roman"/>
                <a:sym typeface="Times New Roman"/>
              </a:rPr>
              <a:t>Nitrogenous</a:t>
            </a:r>
            <a:endParaRPr sz="2500">
              <a:solidFill>
                <a:schemeClr val="dk1"/>
              </a:solidFill>
              <a:latin typeface="Times New Roman"/>
              <a:ea typeface="Times New Roman"/>
              <a:cs typeface="Times New Roman"/>
              <a:sym typeface="Times New Roman"/>
            </a:endParaRPr>
          </a:p>
          <a:p>
            <a:pPr marL="588645" marR="0" lvl="0" indent="-457833" algn="just" rtl="0">
              <a:lnSpc>
                <a:spcPct val="100000"/>
              </a:lnSpc>
              <a:spcBef>
                <a:spcPts val="525"/>
              </a:spcBef>
              <a:spcAft>
                <a:spcPts val="0"/>
              </a:spcAft>
              <a:buClr>
                <a:srgbClr val="0E6EC5"/>
              </a:buClr>
              <a:buSzPts val="2102"/>
              <a:buFont typeface="Times New Roman"/>
              <a:buAutoNum type="arabicPeriod"/>
            </a:pPr>
            <a:r>
              <a:rPr lang="en-US" sz="2500">
                <a:solidFill>
                  <a:schemeClr val="dk1"/>
                </a:solidFill>
                <a:latin typeface="Times New Roman"/>
                <a:ea typeface="Times New Roman"/>
                <a:cs typeface="Times New Roman"/>
                <a:sym typeface="Times New Roman"/>
              </a:rPr>
              <a:t>Phospho-nitrous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9"/>
          <p:cNvSpPr txBox="1">
            <a:spLocks noGrp="1"/>
          </p:cNvSpPr>
          <p:nvPr>
            <p:ph type="title"/>
          </p:nvPr>
        </p:nvSpPr>
        <p:spPr>
          <a:xfrm>
            <a:off x="444500" y="1059189"/>
            <a:ext cx="6718300"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Biological Fertilizers</a:t>
            </a:r>
            <a:endParaRPr sz="4000" b="1">
              <a:latin typeface="Times New Roman"/>
              <a:ea typeface="Times New Roman"/>
              <a:cs typeface="Times New Roman"/>
              <a:sym typeface="Times New Roman"/>
            </a:endParaRPr>
          </a:p>
        </p:txBody>
      </p:sp>
      <p:sp>
        <p:nvSpPr>
          <p:cNvPr id="469" name="Google Shape;469;p59"/>
          <p:cNvSpPr/>
          <p:nvPr/>
        </p:nvSpPr>
        <p:spPr>
          <a:xfrm>
            <a:off x="548640" y="2132710"/>
            <a:ext cx="509016" cy="37795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0" name="Google Shape;470;p59"/>
          <p:cNvSpPr txBox="1"/>
          <p:nvPr/>
        </p:nvSpPr>
        <p:spPr>
          <a:xfrm>
            <a:off x="609600" y="1982241"/>
            <a:ext cx="8305800" cy="4272915"/>
          </a:xfrm>
          <a:prstGeom prst="rect">
            <a:avLst/>
          </a:prstGeom>
          <a:noFill/>
          <a:ln>
            <a:noFill/>
          </a:ln>
        </p:spPr>
        <p:txBody>
          <a:bodyPr spcFirstLastPara="1" wrap="square" lIns="0" tIns="97775" rIns="0" bIns="0" anchor="t" anchorCtr="0">
            <a:spAutoFit/>
          </a:bodyPr>
          <a:lstStyle/>
          <a:p>
            <a:pPr marL="12700" marR="0" lvl="0" indent="0" algn="just" rtl="0">
              <a:lnSpc>
                <a:spcPct val="100000"/>
              </a:lnSpc>
              <a:spcBef>
                <a:spcPts val="0"/>
              </a:spcBef>
              <a:spcAft>
                <a:spcPts val="0"/>
              </a:spcAft>
              <a:buNone/>
            </a:pPr>
            <a:r>
              <a:rPr lang="en-US" sz="2500">
                <a:solidFill>
                  <a:schemeClr val="dk1"/>
                </a:solidFill>
                <a:latin typeface="Times New Roman"/>
                <a:ea typeface="Times New Roman"/>
                <a:cs typeface="Times New Roman"/>
                <a:sym typeface="Times New Roman"/>
              </a:rPr>
              <a:t>Classification of Biological Fertilizers:</a:t>
            </a:r>
            <a:endParaRPr sz="2500">
              <a:solidFill>
                <a:schemeClr val="dk1"/>
              </a:solidFill>
              <a:latin typeface="Times New Roman"/>
              <a:ea typeface="Times New Roman"/>
              <a:cs typeface="Times New Roman"/>
              <a:sym typeface="Times New Roman"/>
            </a:endParaRPr>
          </a:p>
          <a:p>
            <a:pPr marL="560705" marR="0" lvl="0" indent="-457200" algn="just" rtl="0">
              <a:lnSpc>
                <a:spcPct val="100000"/>
              </a:lnSpc>
              <a:spcBef>
                <a:spcPts val="675"/>
              </a:spcBef>
              <a:spcAft>
                <a:spcPts val="0"/>
              </a:spcAft>
              <a:buClr>
                <a:srgbClr val="0E6EC5"/>
              </a:buClr>
              <a:buSzPts val="2098"/>
              <a:buFont typeface="Times New Roman"/>
              <a:buAutoNum type="arabicPeriod"/>
            </a:pPr>
            <a:r>
              <a:rPr lang="en-US" sz="2500">
                <a:solidFill>
                  <a:schemeClr val="dk1"/>
                </a:solidFill>
                <a:latin typeface="Times New Roman"/>
                <a:ea typeface="Times New Roman"/>
                <a:cs typeface="Times New Roman"/>
                <a:sym typeface="Times New Roman"/>
              </a:rPr>
              <a:t>Manures:</a:t>
            </a:r>
            <a:endParaRPr sz="2500">
              <a:solidFill>
                <a:schemeClr val="dk1"/>
              </a:solidFill>
              <a:latin typeface="Times New Roman"/>
              <a:ea typeface="Times New Roman"/>
              <a:cs typeface="Times New Roman"/>
              <a:sym typeface="Times New Roman"/>
            </a:endParaRPr>
          </a:p>
          <a:p>
            <a:pPr marL="377825" marR="0" lvl="0" indent="0" algn="just" rtl="0">
              <a:lnSpc>
                <a:spcPct val="100000"/>
              </a:lnSpc>
              <a:spcBef>
                <a:spcPts val="600"/>
              </a:spcBef>
              <a:spcAft>
                <a:spcPts val="0"/>
              </a:spcAft>
              <a:buNone/>
            </a:pPr>
            <a:r>
              <a:rPr lang="en-US" sz="2500">
                <a:solidFill>
                  <a:schemeClr val="dk1"/>
                </a:solidFill>
                <a:latin typeface="Times New Roman"/>
                <a:ea typeface="Times New Roman"/>
                <a:cs typeface="Times New Roman"/>
                <a:sym typeface="Times New Roman"/>
              </a:rPr>
              <a:t>It is obtained by decomposition of organic substances</a:t>
            </a:r>
            <a:endParaRPr sz="2500">
              <a:solidFill>
                <a:schemeClr val="dk1"/>
              </a:solidFill>
              <a:latin typeface="Times New Roman"/>
              <a:ea typeface="Times New Roman"/>
              <a:cs typeface="Times New Roman"/>
              <a:sym typeface="Times New Roman"/>
            </a:endParaRPr>
          </a:p>
          <a:p>
            <a:pPr marL="377825" marR="0" lvl="0" indent="0" algn="just" rtl="0">
              <a:lnSpc>
                <a:spcPct val="100000"/>
              </a:lnSpc>
              <a:spcBef>
                <a:spcPts val="5"/>
              </a:spcBef>
              <a:spcAft>
                <a:spcPts val="0"/>
              </a:spcAft>
              <a:buNone/>
            </a:pPr>
            <a:r>
              <a:rPr lang="en-US" sz="2500">
                <a:solidFill>
                  <a:schemeClr val="dk1"/>
                </a:solidFill>
                <a:latin typeface="Times New Roman"/>
                <a:ea typeface="Times New Roman"/>
                <a:cs typeface="Times New Roman"/>
                <a:sym typeface="Times New Roman"/>
              </a:rPr>
              <a:t>and bacteria.</a:t>
            </a:r>
            <a:endParaRPr sz="2500">
              <a:solidFill>
                <a:schemeClr val="dk1"/>
              </a:solidFill>
              <a:latin typeface="Times New Roman"/>
              <a:ea typeface="Times New Roman"/>
              <a:cs typeface="Times New Roman"/>
              <a:sym typeface="Times New Roman"/>
            </a:endParaRPr>
          </a:p>
          <a:p>
            <a:pPr marL="560705" marR="0" lvl="0" indent="-457200" algn="just" rtl="0">
              <a:lnSpc>
                <a:spcPct val="100000"/>
              </a:lnSpc>
              <a:spcBef>
                <a:spcPts val="645"/>
              </a:spcBef>
              <a:spcAft>
                <a:spcPts val="0"/>
              </a:spcAft>
              <a:buClr>
                <a:srgbClr val="0E6EC5"/>
              </a:buClr>
              <a:buSzPts val="2098"/>
              <a:buFont typeface="Times New Roman"/>
              <a:buAutoNum type="arabicPeriod" startAt="2"/>
            </a:pPr>
            <a:r>
              <a:rPr lang="en-US" sz="2500">
                <a:solidFill>
                  <a:schemeClr val="dk1"/>
                </a:solidFill>
                <a:latin typeface="Times New Roman"/>
                <a:ea typeface="Times New Roman"/>
                <a:cs typeface="Times New Roman"/>
                <a:sym typeface="Times New Roman"/>
              </a:rPr>
              <a:t>Bio Fertilizers:</a:t>
            </a:r>
            <a:endParaRPr sz="2500">
              <a:solidFill>
                <a:schemeClr val="dk1"/>
              </a:solidFill>
              <a:latin typeface="Times New Roman"/>
              <a:ea typeface="Times New Roman"/>
              <a:cs typeface="Times New Roman"/>
              <a:sym typeface="Times New Roman"/>
            </a:endParaRPr>
          </a:p>
          <a:p>
            <a:pPr marL="377825" marR="5080" lvl="0" indent="0" algn="just" rtl="0">
              <a:lnSpc>
                <a:spcPct val="100000"/>
              </a:lnSpc>
              <a:spcBef>
                <a:spcPts val="600"/>
              </a:spcBef>
              <a:spcAft>
                <a:spcPts val="0"/>
              </a:spcAft>
              <a:buNone/>
            </a:pPr>
            <a:r>
              <a:rPr lang="en-US" sz="2500">
                <a:solidFill>
                  <a:schemeClr val="dk1"/>
                </a:solidFill>
                <a:latin typeface="Times New Roman"/>
                <a:ea typeface="Times New Roman"/>
                <a:cs typeface="Times New Roman"/>
                <a:sym typeface="Times New Roman"/>
              </a:rPr>
              <a:t>It includes the micro living organisms in the land which  is used to increase the fertility of the land. It provides  the nitrogenous elements to the plants and vegetation.</a:t>
            </a:r>
            <a:endParaRPr sz="2500">
              <a:solidFill>
                <a:schemeClr val="dk1"/>
              </a:solidFill>
              <a:latin typeface="Times New Roman"/>
              <a:ea typeface="Times New Roman"/>
              <a:cs typeface="Times New Roman"/>
              <a:sym typeface="Times New Roman"/>
            </a:endParaRPr>
          </a:p>
          <a:p>
            <a:pPr marL="377825" marR="218440" lvl="0" indent="0" algn="just" rtl="0">
              <a:lnSpc>
                <a:spcPct val="100000"/>
              </a:lnSpc>
              <a:spcBef>
                <a:spcPts val="5"/>
              </a:spcBef>
              <a:spcAft>
                <a:spcPts val="0"/>
              </a:spcAft>
              <a:buNone/>
            </a:pPr>
            <a:r>
              <a:rPr lang="en-US" sz="2500">
                <a:solidFill>
                  <a:schemeClr val="dk1"/>
                </a:solidFill>
                <a:latin typeface="Times New Roman"/>
                <a:ea typeface="Times New Roman"/>
                <a:cs typeface="Times New Roman"/>
                <a:sym typeface="Times New Roman"/>
              </a:rPr>
              <a:t>The main resource of bio fertilizers are; bacteria, algae  and fungus.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60"/>
          <p:cNvSpPr txBox="1">
            <a:spLocks noGrp="1"/>
          </p:cNvSpPr>
          <p:nvPr>
            <p:ph type="title"/>
          </p:nvPr>
        </p:nvSpPr>
        <p:spPr>
          <a:xfrm>
            <a:off x="1098550" y="304800"/>
            <a:ext cx="6718300" cy="627736"/>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Clr>
                <a:srgbClr val="000000"/>
              </a:buClr>
              <a:buSzPts val="4000"/>
              <a:buFont typeface="Times New Roman"/>
              <a:buNone/>
            </a:pPr>
            <a:r>
              <a:rPr lang="en-US" sz="4000" b="1">
                <a:solidFill>
                  <a:srgbClr val="000000"/>
                </a:solidFill>
                <a:latin typeface="Times New Roman"/>
                <a:ea typeface="Times New Roman"/>
                <a:cs typeface="Times New Roman"/>
                <a:sym typeface="Times New Roman"/>
              </a:rPr>
              <a:t>Forms of Manures</a:t>
            </a:r>
            <a:endParaRPr sz="4000">
              <a:latin typeface="Times New Roman"/>
              <a:ea typeface="Times New Roman"/>
              <a:cs typeface="Times New Roman"/>
              <a:sym typeface="Times New Roman"/>
            </a:endParaRPr>
          </a:p>
        </p:txBody>
      </p:sp>
      <p:sp>
        <p:nvSpPr>
          <p:cNvPr id="476" name="Google Shape;476;p60"/>
          <p:cNvSpPr txBox="1"/>
          <p:nvPr/>
        </p:nvSpPr>
        <p:spPr>
          <a:xfrm>
            <a:off x="228600" y="1912746"/>
            <a:ext cx="8458200" cy="3965829"/>
          </a:xfrm>
          <a:prstGeom prst="rect">
            <a:avLst/>
          </a:prstGeom>
          <a:noFill/>
          <a:ln>
            <a:noFill/>
          </a:ln>
        </p:spPr>
        <p:txBody>
          <a:bodyPr spcFirstLastPara="1" wrap="square" lIns="0" tIns="53975" rIns="0" bIns="0" anchor="t" anchorCtr="0">
            <a:spAutoFit/>
          </a:bodyPr>
          <a:lstStyle/>
          <a:p>
            <a:pPr marL="469265" marR="113664" lvl="0" indent="-457200" algn="just" rtl="0">
              <a:lnSpc>
                <a:spcPct val="103600"/>
              </a:lnSpc>
              <a:spcBef>
                <a:spcPts val="0"/>
              </a:spcBef>
              <a:spcAft>
                <a:spcPts val="0"/>
              </a:spcAft>
              <a:buClr>
                <a:srgbClr val="0E6EC5"/>
              </a:buClr>
              <a:buSzPts val="2135"/>
              <a:buFont typeface="Times New Roman"/>
              <a:buAutoNum type="arabicPeriod"/>
            </a:pPr>
            <a:r>
              <a:rPr lang="en-US" sz="2500" b="1">
                <a:solidFill>
                  <a:schemeClr val="dk1"/>
                </a:solidFill>
                <a:latin typeface="Times New Roman"/>
                <a:ea typeface="Times New Roman"/>
                <a:cs typeface="Times New Roman"/>
                <a:sym typeface="Times New Roman"/>
              </a:rPr>
              <a:t>Farmyard manures: </a:t>
            </a:r>
            <a:r>
              <a:rPr lang="en-US" sz="2500">
                <a:solidFill>
                  <a:schemeClr val="dk1"/>
                </a:solidFill>
                <a:latin typeface="Times New Roman"/>
                <a:ea typeface="Times New Roman"/>
                <a:cs typeface="Times New Roman"/>
                <a:sym typeface="Times New Roman"/>
              </a:rPr>
              <a:t>Mixture of crop residues and  excreta of animals. It has all maintenance elements of  land and makes the land fertile.</a:t>
            </a:r>
            <a:endParaRPr sz="2500">
              <a:solidFill>
                <a:schemeClr val="dk1"/>
              </a:solidFill>
              <a:latin typeface="Times New Roman"/>
              <a:ea typeface="Times New Roman"/>
              <a:cs typeface="Times New Roman"/>
              <a:sym typeface="Times New Roman"/>
            </a:endParaRPr>
          </a:p>
          <a:p>
            <a:pPr marL="469265" marR="5080" lvl="0" indent="-457200" algn="just" rtl="0">
              <a:lnSpc>
                <a:spcPct val="90000"/>
              </a:lnSpc>
              <a:spcBef>
                <a:spcPts val="545"/>
              </a:spcBef>
              <a:spcAft>
                <a:spcPts val="0"/>
              </a:spcAft>
              <a:buClr>
                <a:srgbClr val="0E6EC5"/>
              </a:buClr>
              <a:buSzPts val="2135"/>
              <a:buFont typeface="Times New Roman"/>
              <a:buAutoNum type="arabicPeriod"/>
            </a:pPr>
            <a:r>
              <a:rPr lang="en-US" sz="2500" b="1">
                <a:solidFill>
                  <a:schemeClr val="dk1"/>
                </a:solidFill>
                <a:latin typeface="Times New Roman"/>
                <a:ea typeface="Times New Roman"/>
                <a:cs typeface="Times New Roman"/>
                <a:sym typeface="Times New Roman"/>
              </a:rPr>
              <a:t>Compost: </a:t>
            </a:r>
            <a:r>
              <a:rPr lang="en-US" sz="2500">
                <a:solidFill>
                  <a:schemeClr val="dk1"/>
                </a:solidFill>
                <a:latin typeface="Times New Roman"/>
                <a:ea typeface="Times New Roman"/>
                <a:cs typeface="Times New Roman"/>
                <a:sym typeface="Times New Roman"/>
              </a:rPr>
              <a:t>Decomposition of organic matter by the  micro- organisms: like fungi and bacteria.	To prepare  the compost, layers of plant materials, cattle dung and  soil are arranged and water is sprinkled to keep it  moisted.</a:t>
            </a:r>
            <a:endParaRPr sz="2500">
              <a:solidFill>
                <a:schemeClr val="dk1"/>
              </a:solidFill>
              <a:latin typeface="Times New Roman"/>
              <a:ea typeface="Times New Roman"/>
              <a:cs typeface="Times New Roman"/>
              <a:sym typeface="Times New Roman"/>
            </a:endParaRPr>
          </a:p>
          <a:p>
            <a:pPr marL="469265" marR="163830" lvl="0" indent="-457200" algn="just" rtl="0">
              <a:lnSpc>
                <a:spcPct val="90000"/>
              </a:lnSpc>
              <a:spcBef>
                <a:spcPts val="575"/>
              </a:spcBef>
              <a:spcAft>
                <a:spcPts val="0"/>
              </a:spcAft>
              <a:buClr>
                <a:srgbClr val="0E6EC5"/>
              </a:buClr>
              <a:buSzPts val="2135"/>
              <a:buFont typeface="Times New Roman"/>
              <a:buAutoNum type="arabicPeriod"/>
            </a:pPr>
            <a:r>
              <a:rPr lang="en-US" sz="2500" b="1">
                <a:solidFill>
                  <a:schemeClr val="dk1"/>
                </a:solidFill>
                <a:latin typeface="Times New Roman"/>
                <a:ea typeface="Times New Roman"/>
                <a:cs typeface="Times New Roman"/>
                <a:sym typeface="Times New Roman"/>
              </a:rPr>
              <a:t>Green manures: </a:t>
            </a:r>
            <a:r>
              <a:rPr lang="en-US" sz="2500">
                <a:solidFill>
                  <a:schemeClr val="dk1"/>
                </a:solidFill>
                <a:latin typeface="Times New Roman"/>
                <a:ea typeface="Times New Roman"/>
                <a:cs typeface="Times New Roman"/>
                <a:sym typeface="Times New Roman"/>
              </a:rPr>
              <a:t>It consists of fast growing green  plant materials. The leguminous and the non  leguminous plants are planted on the same land. The  process is called green manuring.</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1"/>
          <p:cNvSpPr txBox="1">
            <a:spLocks noGrp="1"/>
          </p:cNvSpPr>
          <p:nvPr>
            <p:ph type="title"/>
          </p:nvPr>
        </p:nvSpPr>
        <p:spPr>
          <a:xfrm>
            <a:off x="444500" y="787914"/>
            <a:ext cx="816610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Manures v/s Bio Fertilizers</a:t>
            </a:r>
            <a:endParaRPr sz="4000" b="1">
              <a:latin typeface="Times New Roman"/>
              <a:ea typeface="Times New Roman"/>
              <a:cs typeface="Times New Roman"/>
              <a:sym typeface="Times New Roman"/>
            </a:endParaRPr>
          </a:p>
        </p:txBody>
      </p:sp>
      <p:graphicFrame>
        <p:nvGraphicFramePr>
          <p:cNvPr id="482" name="Google Shape;482;p61"/>
          <p:cNvGraphicFramePr/>
          <p:nvPr/>
        </p:nvGraphicFramePr>
        <p:xfrm>
          <a:off x="457200" y="1517650"/>
          <a:ext cx="8228975" cy="5042050"/>
        </p:xfrm>
        <a:graphic>
          <a:graphicData uri="http://schemas.openxmlformats.org/drawingml/2006/table">
            <a:tbl>
              <a:tblPr firstRow="1" bandRow="1">
                <a:noFill/>
                <a:tableStyleId>{5FB317E1-32DA-4949-87C5-9547F919FA31}</a:tableStyleId>
              </a:tblPr>
              <a:tblGrid>
                <a:gridCol w="4066550">
                  <a:extLst>
                    <a:ext uri="{9D8B030D-6E8A-4147-A177-3AD203B41FA5}">
                      <a16:colId xmlns:a16="http://schemas.microsoft.com/office/drawing/2014/main" val="20000"/>
                    </a:ext>
                  </a:extLst>
                </a:gridCol>
                <a:gridCol w="4162425">
                  <a:extLst>
                    <a:ext uri="{9D8B030D-6E8A-4147-A177-3AD203B41FA5}">
                      <a16:colId xmlns:a16="http://schemas.microsoft.com/office/drawing/2014/main" val="20001"/>
                    </a:ext>
                  </a:extLst>
                </a:gridCol>
              </a:tblGrid>
              <a:tr h="471425">
                <a:tc>
                  <a:txBody>
                    <a:bodyPr/>
                    <a:lstStyle/>
                    <a:p>
                      <a:pPr marL="48260" marR="0" lvl="0" indent="0" algn="ctr"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Manures</a:t>
                      </a:r>
                      <a:endParaRPr sz="2000" u="none" strike="noStrike" cap="none">
                        <a:latin typeface="Times New Roman"/>
                        <a:ea typeface="Times New Roman"/>
                        <a:cs typeface="Times New Roman"/>
                        <a:sym typeface="Times New Roman"/>
                      </a:endParaRPr>
                    </a:p>
                  </a:txBody>
                  <a:tcPr marL="0" marR="0" marT="29200" marB="0">
                    <a:lnT w="12700" cap="flat" cmpd="sng">
                      <a:solidFill>
                        <a:srgbClr val="0AD0D9"/>
                      </a:solidFill>
                      <a:prstDash val="solid"/>
                      <a:round/>
                      <a:headEnd type="none" w="sm" len="sm"/>
                      <a:tailEnd type="none" w="sm" len="sm"/>
                    </a:lnT>
                    <a:lnB w="12700" cap="flat" cmpd="sng">
                      <a:solidFill>
                        <a:srgbClr val="0AD0D9"/>
                      </a:solidFill>
                      <a:prstDash val="solid"/>
                      <a:round/>
                      <a:headEnd type="none" w="sm" len="sm"/>
                      <a:tailEnd type="none" w="sm" len="sm"/>
                    </a:lnB>
                  </a:tcPr>
                </a:tc>
                <a:tc>
                  <a:txBody>
                    <a:bodyPr/>
                    <a:lstStyle/>
                    <a:p>
                      <a:pPr marL="1265555" marR="0" lvl="0" indent="0" algn="l" rtl="0">
                        <a:lnSpc>
                          <a:spcPct val="100000"/>
                        </a:lnSpc>
                        <a:spcBef>
                          <a:spcPts val="0"/>
                        </a:spcBef>
                        <a:spcAft>
                          <a:spcPts val="0"/>
                        </a:spcAft>
                        <a:buNone/>
                      </a:pPr>
                      <a:r>
                        <a:rPr lang="en-US" sz="2000" b="1" u="none" strike="noStrike" cap="none">
                          <a:latin typeface="Times New Roman"/>
                          <a:ea typeface="Times New Roman"/>
                          <a:cs typeface="Times New Roman"/>
                          <a:sym typeface="Times New Roman"/>
                        </a:rPr>
                        <a:t>Bio Fertilizers</a:t>
                      </a:r>
                      <a:endParaRPr sz="2000" u="none" strike="noStrike" cap="none">
                        <a:latin typeface="Times New Roman"/>
                        <a:ea typeface="Times New Roman"/>
                        <a:cs typeface="Times New Roman"/>
                        <a:sym typeface="Times New Roman"/>
                      </a:endParaRPr>
                    </a:p>
                  </a:txBody>
                  <a:tcPr marL="0" marR="0" marT="29200" marB="0">
                    <a:lnT w="12700" cap="flat" cmpd="sng">
                      <a:solidFill>
                        <a:srgbClr val="0AD0D9"/>
                      </a:solidFill>
                      <a:prstDash val="solid"/>
                      <a:round/>
                      <a:headEnd type="none" w="sm" len="sm"/>
                      <a:tailEnd type="none" w="sm" len="sm"/>
                    </a:lnT>
                    <a:lnB w="12700" cap="flat" cmpd="sng">
                      <a:solidFill>
                        <a:srgbClr val="0AD0D9"/>
                      </a:solidFill>
                      <a:prstDash val="solid"/>
                      <a:round/>
                      <a:headEnd type="none" w="sm" len="sm"/>
                      <a:tailEnd type="none" w="sm" len="sm"/>
                    </a:lnB>
                  </a:tcPr>
                </a:tc>
                <a:extLst>
                  <a:ext uri="{0D108BD9-81ED-4DB2-BD59-A6C34878D82A}">
                    <a16:rowId xmlns:a16="http://schemas.microsoft.com/office/drawing/2014/main" val="10000"/>
                  </a:ext>
                </a:extLst>
              </a:tr>
              <a:tr h="996450">
                <a:tc>
                  <a:txBody>
                    <a:bodyPr/>
                    <a:lstStyle/>
                    <a:p>
                      <a:pPr marL="91440" marR="132715"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It is semi rotten or decayed organic  substance, which is added to the soil.</a:t>
                      </a:r>
                      <a:endParaRPr sz="2000" u="none" strike="noStrike" cap="none">
                        <a:latin typeface="Times New Roman"/>
                        <a:ea typeface="Times New Roman"/>
                        <a:cs typeface="Times New Roman"/>
                        <a:sym typeface="Times New Roman"/>
                      </a:endParaRPr>
                    </a:p>
                  </a:txBody>
                  <a:tcPr marL="0" marR="0" marT="30475" marB="0">
                    <a:lnT w="12700" cap="flat" cmpd="sng">
                      <a:solidFill>
                        <a:srgbClr val="0AD0D9"/>
                      </a:solidFill>
                      <a:prstDash val="solid"/>
                      <a:round/>
                      <a:headEnd type="none" w="sm" len="sm"/>
                      <a:tailEnd type="none" w="sm" len="sm"/>
                    </a:lnT>
                    <a:solidFill>
                      <a:srgbClr val="0AD0D9">
                        <a:alpha val="19607"/>
                      </a:srgbClr>
                    </a:solidFill>
                  </a:tcPr>
                </a:tc>
                <a:tc>
                  <a:txBody>
                    <a:bodyPr/>
                    <a:lstStyle/>
                    <a:p>
                      <a:pPr marL="140335" marR="461644"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It is a living formation which  increases the fertility of the soil by  microbial process.</a:t>
                      </a:r>
                      <a:endParaRPr sz="2000" u="none" strike="noStrike" cap="none">
                        <a:latin typeface="Times New Roman"/>
                        <a:ea typeface="Times New Roman"/>
                        <a:cs typeface="Times New Roman"/>
                        <a:sym typeface="Times New Roman"/>
                      </a:endParaRPr>
                    </a:p>
                  </a:txBody>
                  <a:tcPr marL="0" marR="0" marT="30475" marB="0">
                    <a:lnT w="12700" cap="flat" cmpd="sng">
                      <a:solidFill>
                        <a:srgbClr val="0AD0D9"/>
                      </a:solidFill>
                      <a:prstDash val="solid"/>
                      <a:round/>
                      <a:headEnd type="none" w="sm" len="sm"/>
                      <a:tailEnd type="none" w="sm" len="sm"/>
                    </a:lnT>
                    <a:solidFill>
                      <a:srgbClr val="0AD0D9">
                        <a:alpha val="19607"/>
                      </a:srgbClr>
                    </a:solidFill>
                  </a:tcPr>
                </a:tc>
                <a:extLst>
                  <a:ext uri="{0D108BD9-81ED-4DB2-BD59-A6C34878D82A}">
                    <a16:rowId xmlns:a16="http://schemas.microsoft.com/office/drawing/2014/main" val="10001"/>
                  </a:ext>
                </a:extLst>
              </a:tr>
              <a:tr h="1295400">
                <a:tc>
                  <a:txBody>
                    <a:bodyPr/>
                    <a:lstStyle/>
                    <a:p>
                      <a:pPr marL="91440" marR="712470"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This fertilizer provides nutrient  elements (such as organic and  inorganic) to the soil.</a:t>
                      </a:r>
                      <a:endParaRPr sz="2000" u="none" strike="noStrike" cap="none">
                        <a:latin typeface="Times New Roman"/>
                        <a:ea typeface="Times New Roman"/>
                        <a:cs typeface="Times New Roman"/>
                        <a:sym typeface="Times New Roman"/>
                      </a:endParaRPr>
                    </a:p>
                  </a:txBody>
                  <a:tcPr marL="0" marR="0" marT="30475" marB="0"/>
                </a:tc>
                <a:tc>
                  <a:txBody>
                    <a:bodyPr/>
                    <a:lstStyle/>
                    <a:p>
                      <a:pPr marL="140335" marR="220979"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It provides inorganic elements to the  soil. When the living species of this  fertilizer are dead, it provides the  organic elements in some extent.</a:t>
                      </a:r>
                      <a:endParaRPr sz="2000" u="none" strike="noStrike" cap="none">
                        <a:latin typeface="Times New Roman"/>
                        <a:ea typeface="Times New Roman"/>
                        <a:cs typeface="Times New Roman"/>
                        <a:sym typeface="Times New Roman"/>
                      </a:endParaRPr>
                    </a:p>
                  </a:txBody>
                  <a:tcPr marL="0" marR="0" marT="30475" marB="0"/>
                </a:tc>
                <a:extLst>
                  <a:ext uri="{0D108BD9-81ED-4DB2-BD59-A6C34878D82A}">
                    <a16:rowId xmlns:a16="http://schemas.microsoft.com/office/drawing/2014/main" val="10002"/>
                  </a:ext>
                </a:extLst>
              </a:tr>
              <a:tr h="1288675">
                <a:tc>
                  <a:txBody>
                    <a:bodyPr/>
                    <a:lstStyle/>
                    <a:p>
                      <a:pPr marL="91440" marR="308610"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This fertilizers keep the soil in its  proper form and forms the aeration  and hydration in appropriate  proportion in soil.</a:t>
                      </a:r>
                      <a:endParaRPr sz="2000" u="none" strike="noStrike" cap="none">
                        <a:latin typeface="Times New Roman"/>
                        <a:ea typeface="Times New Roman"/>
                        <a:cs typeface="Times New Roman"/>
                        <a:sym typeface="Times New Roman"/>
                      </a:endParaRPr>
                    </a:p>
                  </a:txBody>
                  <a:tcPr marL="0" marR="0" marT="31125" marB="0">
                    <a:solidFill>
                      <a:srgbClr val="0AD0D9">
                        <a:alpha val="19607"/>
                      </a:srgbClr>
                    </a:solidFill>
                  </a:tcPr>
                </a:tc>
                <a:tc>
                  <a:txBody>
                    <a:bodyPr/>
                    <a:lstStyle/>
                    <a:p>
                      <a:pPr marL="140335" marR="0"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It does not keep the soil in the proper</a:t>
                      </a:r>
                      <a:endParaRPr sz="2000" u="none" strike="noStrike" cap="none">
                        <a:latin typeface="Times New Roman"/>
                        <a:ea typeface="Times New Roman"/>
                        <a:cs typeface="Times New Roman"/>
                        <a:sym typeface="Times New Roman"/>
                      </a:endParaRPr>
                    </a:p>
                    <a:p>
                      <a:pPr marL="140335" marR="0" lvl="0" indent="0" algn="l"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form.</a:t>
                      </a:r>
                      <a:endParaRPr sz="2000" u="none" strike="noStrike" cap="none">
                        <a:latin typeface="Times New Roman"/>
                        <a:ea typeface="Times New Roman"/>
                        <a:cs typeface="Times New Roman"/>
                        <a:sym typeface="Times New Roman"/>
                      </a:endParaRPr>
                    </a:p>
                  </a:txBody>
                  <a:tcPr marL="0" marR="0" marT="31125" marB="0">
                    <a:solidFill>
                      <a:srgbClr val="0AD0D9">
                        <a:alpha val="19607"/>
                      </a:srgbClr>
                    </a:solidFill>
                  </a:tcPr>
                </a:tc>
                <a:extLst>
                  <a:ext uri="{0D108BD9-81ED-4DB2-BD59-A6C34878D82A}">
                    <a16:rowId xmlns:a16="http://schemas.microsoft.com/office/drawing/2014/main" val="10003"/>
                  </a:ext>
                </a:extLst>
              </a:tr>
              <a:tr h="990100">
                <a:tc>
                  <a:txBody>
                    <a:bodyPr/>
                    <a:lstStyle/>
                    <a:p>
                      <a:pPr marL="91440" marR="262255" lvl="0" indent="0" algn="just"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These fertilizers are not available in  the sufficient necessary quantity for  the agriculture.</a:t>
                      </a:r>
                      <a:endParaRPr sz="2000" u="none" strike="noStrike" cap="none">
                        <a:latin typeface="Times New Roman"/>
                        <a:ea typeface="Times New Roman"/>
                        <a:cs typeface="Times New Roman"/>
                        <a:sym typeface="Times New Roman"/>
                      </a:endParaRPr>
                    </a:p>
                  </a:txBody>
                  <a:tcPr marL="0" marR="0" marT="31125" marB="0">
                    <a:lnB w="12700" cap="flat" cmpd="sng">
                      <a:solidFill>
                        <a:srgbClr val="0AD0D9"/>
                      </a:solidFill>
                      <a:prstDash val="solid"/>
                      <a:round/>
                      <a:headEnd type="none" w="sm" len="sm"/>
                      <a:tailEnd type="none" w="sm" len="sm"/>
                    </a:lnB>
                  </a:tcPr>
                </a:tc>
                <a:tc>
                  <a:txBody>
                    <a:bodyPr/>
                    <a:lstStyle/>
                    <a:p>
                      <a:pPr marL="140335" marR="309245" lvl="0" indent="0" algn="just" rtl="0">
                        <a:lnSpc>
                          <a:spcPct val="100000"/>
                        </a:lnSpc>
                        <a:spcBef>
                          <a:spcPts val="0"/>
                        </a:spcBef>
                        <a:spcAft>
                          <a:spcPts val="0"/>
                        </a:spcAft>
                        <a:buNone/>
                      </a:pPr>
                      <a:r>
                        <a:rPr lang="en-US" sz="2000" u="none" strike="noStrike" cap="none">
                          <a:latin typeface="Times New Roman"/>
                          <a:ea typeface="Times New Roman"/>
                          <a:cs typeface="Times New Roman"/>
                          <a:sym typeface="Times New Roman"/>
                        </a:rPr>
                        <a:t>These fertilizers are available in the  sufficient necessary quantity for the  agriculture.</a:t>
                      </a:r>
                      <a:endParaRPr sz="2000" u="none" strike="noStrike" cap="none">
                        <a:latin typeface="Times New Roman"/>
                        <a:ea typeface="Times New Roman"/>
                        <a:cs typeface="Times New Roman"/>
                        <a:sym typeface="Times New Roman"/>
                      </a:endParaRPr>
                    </a:p>
                  </a:txBody>
                  <a:tcPr marL="0" marR="0" marT="31125" marB="0">
                    <a:lnB w="12700" cap="flat" cmpd="sng">
                      <a:solidFill>
                        <a:srgbClr val="0AD0D9"/>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62"/>
          <p:cNvSpPr txBox="1">
            <a:spLocks noGrp="1"/>
          </p:cNvSpPr>
          <p:nvPr>
            <p:ph type="title"/>
          </p:nvPr>
        </p:nvSpPr>
        <p:spPr>
          <a:xfrm>
            <a:off x="2133600" y="990600"/>
            <a:ext cx="377571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Drip irrigation</a:t>
            </a:r>
            <a:endParaRPr sz="4000" b="1">
              <a:latin typeface="Times New Roman"/>
              <a:ea typeface="Times New Roman"/>
              <a:cs typeface="Times New Roman"/>
              <a:sym typeface="Times New Roman"/>
            </a:endParaRPr>
          </a:p>
        </p:txBody>
      </p:sp>
      <p:sp>
        <p:nvSpPr>
          <p:cNvPr id="488" name="Google Shape;488;p62"/>
          <p:cNvSpPr/>
          <p:nvPr/>
        </p:nvSpPr>
        <p:spPr>
          <a:xfrm>
            <a:off x="548640" y="2085467"/>
            <a:ext cx="469391" cy="3505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9" name="Google Shape;489;p62"/>
          <p:cNvSpPr/>
          <p:nvPr/>
        </p:nvSpPr>
        <p:spPr>
          <a:xfrm>
            <a:off x="548640" y="4621352"/>
            <a:ext cx="469391" cy="3508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0" name="Google Shape;490;p62"/>
          <p:cNvSpPr txBox="1"/>
          <p:nvPr/>
        </p:nvSpPr>
        <p:spPr>
          <a:xfrm>
            <a:off x="810564" y="2023999"/>
            <a:ext cx="8028636" cy="3104055"/>
          </a:xfrm>
          <a:prstGeom prst="rect">
            <a:avLst/>
          </a:prstGeom>
          <a:noFill/>
          <a:ln>
            <a:noFill/>
          </a:ln>
        </p:spPr>
        <p:txBody>
          <a:bodyPr spcFirstLastPara="1" wrap="square" lIns="0" tIns="13325" rIns="0" bIns="0" anchor="t" anchorCtr="0">
            <a:spAutoFit/>
          </a:bodyPr>
          <a:lstStyle/>
          <a:p>
            <a:pPr marL="355600" marR="5080" lvl="0" indent="-342900" algn="just" rtl="0">
              <a:lnSpc>
                <a:spcPct val="100000"/>
              </a:lnSpc>
              <a:spcBef>
                <a:spcPts val="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Drip irrigation or trickle irrigation is an irrigation  method which saves water and fertilizer by allowing  water to drip slowly to the roots of plants, either on to  the soil surface or directly on to the root zone, through  a network of valves, pipes, tubes, and   emitters.</a:t>
            </a:r>
            <a:endParaRPr sz="2500">
              <a:solidFill>
                <a:schemeClr val="dk1"/>
              </a:solidFill>
              <a:latin typeface="Times New Roman"/>
              <a:ea typeface="Times New Roman"/>
              <a:cs typeface="Times New Roman"/>
              <a:sym typeface="Times New Roman"/>
            </a:endParaRPr>
          </a:p>
          <a:p>
            <a:pPr marL="342900" marR="0" lvl="0" indent="-184150" algn="just" rtl="0">
              <a:lnSpc>
                <a:spcPct val="100000"/>
              </a:lnSpc>
              <a:spcBef>
                <a:spcPts val="55"/>
              </a:spcBef>
              <a:spcAft>
                <a:spcPts val="0"/>
              </a:spcAft>
              <a:buClr>
                <a:schemeClr val="dk1"/>
              </a:buClr>
              <a:buSzPts val="2500"/>
              <a:buFont typeface="Arial"/>
              <a:buNone/>
            </a:pPr>
            <a:endParaRPr sz="2500">
              <a:solidFill>
                <a:schemeClr val="dk1"/>
              </a:solidFill>
              <a:latin typeface="Times New Roman"/>
              <a:ea typeface="Times New Roman"/>
              <a:cs typeface="Times New Roman"/>
              <a:sym typeface="Times New Roman"/>
            </a:endParaRPr>
          </a:p>
          <a:p>
            <a:pPr marL="355600" marR="26034" lvl="0" indent="-342900" algn="just" rtl="0">
              <a:lnSpc>
                <a:spcPct val="100000"/>
              </a:lnSpc>
              <a:spcBef>
                <a:spcPts val="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There are certain advantages and disadvantages of this  irrigation method which are</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494"/>
        <p:cNvGrpSpPr/>
        <p:nvPr/>
      </p:nvGrpSpPr>
      <p:grpSpPr>
        <a:xfrm>
          <a:off x="0" y="0"/>
          <a:ext cx="0" cy="0"/>
          <a:chOff x="0" y="0"/>
          <a:chExt cx="0" cy="0"/>
        </a:xfrm>
      </p:grpSpPr>
      <p:sp>
        <p:nvSpPr>
          <p:cNvPr id="495" name="Google Shape;495;p6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6" name="Google Shape;496;p63"/>
          <p:cNvSpPr/>
          <p:nvPr/>
        </p:nvSpPr>
        <p:spPr>
          <a:xfrm>
            <a:off x="0" y="223"/>
            <a:ext cx="9143999" cy="10287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7" name="Google Shape;497;p63"/>
          <p:cNvSpPr/>
          <p:nvPr/>
        </p:nvSpPr>
        <p:spPr>
          <a:xfrm>
            <a:off x="4401357" y="0"/>
            <a:ext cx="4742642" cy="59994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8" name="Google Shape;498;p63"/>
          <p:cNvSpPr/>
          <p:nvPr/>
        </p:nvSpPr>
        <p:spPr>
          <a:xfrm>
            <a:off x="-828" y="0"/>
            <a:ext cx="9145590" cy="10205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9" name="Google Shape;499;p63"/>
          <p:cNvSpPr txBox="1">
            <a:spLocks noGrp="1"/>
          </p:cNvSpPr>
          <p:nvPr>
            <p:ph type="title"/>
          </p:nvPr>
        </p:nvSpPr>
        <p:spPr>
          <a:xfrm>
            <a:off x="1090149" y="514573"/>
            <a:ext cx="6622415"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Advantages of drip Irrigation</a:t>
            </a:r>
            <a:endParaRPr sz="4000" b="1">
              <a:latin typeface="Times New Roman"/>
              <a:ea typeface="Times New Roman"/>
              <a:cs typeface="Times New Roman"/>
              <a:sym typeface="Times New Roman"/>
            </a:endParaRPr>
          </a:p>
        </p:txBody>
      </p:sp>
      <p:sp>
        <p:nvSpPr>
          <p:cNvPr id="500" name="Google Shape;500;p63"/>
          <p:cNvSpPr txBox="1"/>
          <p:nvPr/>
        </p:nvSpPr>
        <p:spPr>
          <a:xfrm>
            <a:off x="535940" y="1609002"/>
            <a:ext cx="7828915" cy="4227830"/>
          </a:xfrm>
          <a:prstGeom prst="rect">
            <a:avLst/>
          </a:prstGeom>
          <a:noFill/>
          <a:ln>
            <a:noFill/>
          </a:ln>
        </p:spPr>
        <p:txBody>
          <a:bodyPr spcFirstLastPara="1" wrap="square" lIns="0" tIns="92075" rIns="0" bIns="0" anchor="t" anchorCtr="0">
            <a:spAutoFit/>
          </a:bodyPr>
          <a:lstStyle/>
          <a:p>
            <a:pPr marL="527685" marR="0" lvl="0" indent="-515619" algn="just" rtl="0">
              <a:lnSpc>
                <a:spcPct val="100000"/>
              </a:lnSpc>
              <a:spcBef>
                <a:spcPts val="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Minimizes the use of fertilizers.</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63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High water application efficiency.</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625"/>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Leveling of the field not necessary.</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62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Ability to irrigate irregular shaped fields.</a:t>
            </a:r>
            <a:endParaRPr/>
          </a:p>
          <a:p>
            <a:pPr marL="527685" marR="5080" lvl="0" indent="-515619" algn="just" rtl="0">
              <a:lnSpc>
                <a:spcPct val="100000"/>
              </a:lnSpc>
              <a:spcBef>
                <a:spcPts val="63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Moisture within the root zone can be maintained at  field capacity.</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62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Minimized soil erosion.</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63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Highly uniform distribution of water.</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625"/>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Lower labour cost.</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64"/>
          <p:cNvSpPr txBox="1">
            <a:spLocks noGrp="1"/>
          </p:cNvSpPr>
          <p:nvPr>
            <p:ph type="title"/>
          </p:nvPr>
        </p:nvSpPr>
        <p:spPr>
          <a:xfrm>
            <a:off x="1066800" y="990600"/>
            <a:ext cx="7322820"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Disadvantages of Drip Irrigation</a:t>
            </a:r>
            <a:endParaRPr sz="4000" b="1">
              <a:latin typeface="Times New Roman"/>
              <a:ea typeface="Times New Roman"/>
              <a:cs typeface="Times New Roman"/>
              <a:sym typeface="Times New Roman"/>
            </a:endParaRPr>
          </a:p>
        </p:txBody>
      </p:sp>
      <p:sp>
        <p:nvSpPr>
          <p:cNvPr id="506" name="Google Shape;506;p64"/>
          <p:cNvSpPr txBox="1"/>
          <p:nvPr/>
        </p:nvSpPr>
        <p:spPr>
          <a:xfrm>
            <a:off x="535940" y="2210841"/>
            <a:ext cx="8303260" cy="3150863"/>
          </a:xfrm>
          <a:prstGeom prst="rect">
            <a:avLst/>
          </a:prstGeom>
          <a:noFill/>
          <a:ln>
            <a:noFill/>
          </a:ln>
        </p:spPr>
        <p:txBody>
          <a:bodyPr spcFirstLastPara="1" wrap="square" lIns="0" tIns="97775" rIns="0" bIns="0" anchor="t" anchorCtr="0">
            <a:spAutoFit/>
          </a:bodyPr>
          <a:lstStyle/>
          <a:p>
            <a:pPr marL="527685" marR="0" lvl="0" indent="-515619" algn="just" rtl="0">
              <a:lnSpc>
                <a:spcPct val="100000"/>
              </a:lnSpc>
              <a:spcBef>
                <a:spcPts val="0"/>
              </a:spcBef>
              <a:spcAft>
                <a:spcPts val="0"/>
              </a:spcAft>
              <a:buClr>
                <a:srgbClr val="0AD0D9"/>
              </a:buClr>
              <a:buSzPts val="2366"/>
              <a:buFont typeface="Times New Roman"/>
              <a:buAutoNum type="arabicPeriod"/>
            </a:pPr>
            <a:r>
              <a:rPr lang="en-US" sz="2500">
                <a:solidFill>
                  <a:schemeClr val="dk1"/>
                </a:solidFill>
                <a:latin typeface="Times New Roman"/>
                <a:ea typeface="Times New Roman"/>
                <a:cs typeface="Times New Roman"/>
                <a:sym typeface="Times New Roman"/>
              </a:rPr>
              <a:t>High initial cost.</a:t>
            </a:r>
            <a:endParaRPr sz="2500">
              <a:solidFill>
                <a:schemeClr val="dk1"/>
              </a:solidFill>
              <a:latin typeface="Times New Roman"/>
              <a:ea typeface="Times New Roman"/>
              <a:cs typeface="Times New Roman"/>
              <a:sym typeface="Times New Roman"/>
            </a:endParaRPr>
          </a:p>
          <a:p>
            <a:pPr marL="527685" marR="514984" lvl="0" indent="-515619" algn="just" rtl="0">
              <a:lnSpc>
                <a:spcPct val="100000"/>
              </a:lnSpc>
              <a:spcBef>
                <a:spcPts val="675"/>
              </a:spcBef>
              <a:spcAft>
                <a:spcPts val="0"/>
              </a:spcAft>
              <a:buClr>
                <a:srgbClr val="0AD0D9"/>
              </a:buClr>
              <a:buSzPts val="2366"/>
              <a:buFont typeface="Times New Roman"/>
              <a:buAutoNum type="arabicPeriod"/>
            </a:pPr>
            <a:r>
              <a:rPr lang="en-US" sz="2500">
                <a:solidFill>
                  <a:schemeClr val="dk1"/>
                </a:solidFill>
                <a:latin typeface="Times New Roman"/>
                <a:ea typeface="Times New Roman"/>
                <a:cs typeface="Times New Roman"/>
                <a:sym typeface="Times New Roman"/>
              </a:rPr>
              <a:t>The sun can affect the longetivity of the tubes  used in the drip irrigation.</a:t>
            </a:r>
            <a:endParaRPr sz="2500">
              <a:solidFill>
                <a:schemeClr val="dk1"/>
              </a:solidFill>
              <a:latin typeface="Times New Roman"/>
              <a:ea typeface="Times New Roman"/>
              <a:cs typeface="Times New Roman"/>
              <a:sym typeface="Times New Roman"/>
            </a:endParaRPr>
          </a:p>
          <a:p>
            <a:pPr marL="527685" marR="0" lvl="0" indent="-515619" algn="just" rtl="0">
              <a:lnSpc>
                <a:spcPct val="100000"/>
              </a:lnSpc>
              <a:spcBef>
                <a:spcPts val="670"/>
              </a:spcBef>
              <a:spcAft>
                <a:spcPts val="0"/>
              </a:spcAft>
              <a:buClr>
                <a:srgbClr val="0AD0D9"/>
              </a:buClr>
              <a:buSzPts val="2366"/>
              <a:buFont typeface="Times New Roman"/>
              <a:buAutoNum type="arabicPeriod"/>
            </a:pPr>
            <a:r>
              <a:rPr lang="en-US" sz="2500">
                <a:solidFill>
                  <a:schemeClr val="dk1"/>
                </a:solidFill>
                <a:latin typeface="Times New Roman"/>
                <a:ea typeface="Times New Roman"/>
                <a:cs typeface="Times New Roman"/>
                <a:sym typeface="Times New Roman"/>
              </a:rPr>
              <a:t>Clogging problem will arise.</a:t>
            </a:r>
            <a:endParaRPr sz="2500">
              <a:solidFill>
                <a:schemeClr val="dk1"/>
              </a:solidFill>
              <a:latin typeface="Times New Roman"/>
              <a:ea typeface="Times New Roman"/>
              <a:cs typeface="Times New Roman"/>
              <a:sym typeface="Times New Roman"/>
            </a:endParaRPr>
          </a:p>
          <a:p>
            <a:pPr marL="527685" marR="1116965" lvl="0" indent="-515619" algn="just" rtl="0">
              <a:lnSpc>
                <a:spcPct val="100000"/>
              </a:lnSpc>
              <a:spcBef>
                <a:spcPts val="675"/>
              </a:spcBef>
              <a:spcAft>
                <a:spcPts val="0"/>
              </a:spcAft>
              <a:buClr>
                <a:srgbClr val="0AD0D9"/>
              </a:buClr>
              <a:buSzPts val="2366"/>
              <a:buFont typeface="Times New Roman"/>
              <a:buAutoNum type="arabicPeriod"/>
            </a:pPr>
            <a:r>
              <a:rPr lang="en-US" sz="2500">
                <a:solidFill>
                  <a:schemeClr val="dk1"/>
                </a:solidFill>
                <a:latin typeface="Times New Roman"/>
                <a:ea typeface="Times New Roman"/>
                <a:cs typeface="Times New Roman"/>
                <a:sym typeface="Times New Roman"/>
              </a:rPr>
              <a:t>Drip tape causes extra clean up costs after  harvest.</a:t>
            </a:r>
            <a:endParaRPr sz="2500">
              <a:solidFill>
                <a:schemeClr val="dk1"/>
              </a:solidFill>
              <a:latin typeface="Times New Roman"/>
              <a:ea typeface="Times New Roman"/>
              <a:cs typeface="Times New Roman"/>
              <a:sym typeface="Times New Roman"/>
            </a:endParaRPr>
          </a:p>
          <a:p>
            <a:pPr marL="527685" marR="5080" lvl="0" indent="-515619" algn="just" rtl="0">
              <a:lnSpc>
                <a:spcPct val="100000"/>
              </a:lnSpc>
              <a:spcBef>
                <a:spcPts val="675"/>
              </a:spcBef>
              <a:spcAft>
                <a:spcPts val="0"/>
              </a:spcAft>
              <a:buClr>
                <a:srgbClr val="0AD0D9"/>
              </a:buClr>
              <a:buSzPts val="2366"/>
              <a:buFont typeface="Times New Roman"/>
              <a:buAutoNum type="arabicPeriod"/>
            </a:pPr>
            <a:r>
              <a:rPr lang="en-US" sz="2500">
                <a:solidFill>
                  <a:schemeClr val="dk1"/>
                </a:solidFill>
                <a:latin typeface="Times New Roman"/>
                <a:ea typeface="Times New Roman"/>
                <a:cs typeface="Times New Roman"/>
                <a:sym typeface="Times New Roman"/>
              </a:rPr>
              <a:t>If not installed properly, then it may create waste  of water, time and harvest.</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5"/>
          <p:cNvSpPr txBox="1">
            <a:spLocks noGrp="1"/>
          </p:cNvSpPr>
          <p:nvPr>
            <p:ph type="title"/>
          </p:nvPr>
        </p:nvSpPr>
        <p:spPr>
          <a:xfrm>
            <a:off x="2743200" y="533400"/>
            <a:ext cx="2740660" cy="62901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Pesticides:</a:t>
            </a:r>
            <a:endParaRPr/>
          </a:p>
        </p:txBody>
      </p:sp>
      <p:sp>
        <p:nvSpPr>
          <p:cNvPr id="512" name="Google Shape;512;p65"/>
          <p:cNvSpPr txBox="1"/>
          <p:nvPr/>
        </p:nvSpPr>
        <p:spPr>
          <a:xfrm>
            <a:off x="810564" y="1863978"/>
            <a:ext cx="7595234" cy="3362458"/>
          </a:xfrm>
          <a:prstGeom prst="rect">
            <a:avLst/>
          </a:prstGeom>
          <a:noFill/>
          <a:ln>
            <a:noFill/>
          </a:ln>
        </p:spPr>
        <p:txBody>
          <a:bodyPr spcFirstLastPara="1" wrap="square" lIns="0" tIns="104125" rIns="0" bIns="0" anchor="t" anchorCtr="0">
            <a:spAutoFit/>
          </a:bodyPr>
          <a:lstStyle/>
          <a:p>
            <a:pPr marL="355600" marR="0" lvl="0" indent="-342900" algn="just" rtl="0">
              <a:lnSpc>
                <a:spcPct val="100000"/>
              </a:lnSpc>
              <a:spcBef>
                <a:spcPts val="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Pesticides are poisons used to kill pests.</a:t>
            </a:r>
            <a:endParaRPr sz="2500">
              <a:solidFill>
                <a:schemeClr val="dk1"/>
              </a:solidFill>
              <a:latin typeface="Times New Roman"/>
              <a:ea typeface="Times New Roman"/>
              <a:cs typeface="Times New Roman"/>
              <a:sym typeface="Times New Roman"/>
            </a:endParaRPr>
          </a:p>
          <a:p>
            <a:pPr marL="355600" marR="140335" lvl="0" indent="-342900" algn="just" rtl="0">
              <a:lnSpc>
                <a:spcPct val="100000"/>
              </a:lnSpc>
              <a:spcBef>
                <a:spcPts val="72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We use pesticides to kill off pests that hurts us,  animals or plants. Farmers first used them to kill  off bugs and weeds because they have big fields.  After a while the cities and towns started using  them.</a:t>
            </a:r>
            <a:endParaRPr sz="2500">
              <a:solidFill>
                <a:schemeClr val="dk1"/>
              </a:solidFill>
              <a:latin typeface="Times New Roman"/>
              <a:ea typeface="Times New Roman"/>
              <a:cs typeface="Times New Roman"/>
              <a:sym typeface="Times New Roman"/>
            </a:endParaRPr>
          </a:p>
          <a:p>
            <a:pPr marL="355600" marR="5080" lvl="0" indent="-342900" algn="just" rtl="0">
              <a:lnSpc>
                <a:spcPct val="100000"/>
              </a:lnSpc>
              <a:spcBef>
                <a:spcPts val="725"/>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Pests don’t have to be just bugs they can be weeds, diseases that kill plants, and other animals  such as rats or mice.</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66"/>
          <p:cNvSpPr/>
          <p:nvPr/>
        </p:nvSpPr>
        <p:spPr>
          <a:xfrm>
            <a:off x="-828" y="0"/>
            <a:ext cx="9145590" cy="102057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8" name="Google Shape;518;p66"/>
          <p:cNvSpPr txBox="1"/>
          <p:nvPr/>
        </p:nvSpPr>
        <p:spPr>
          <a:xfrm>
            <a:off x="810564" y="1543253"/>
            <a:ext cx="8104836" cy="4321696"/>
          </a:xfrm>
          <a:prstGeom prst="rect">
            <a:avLst/>
          </a:prstGeom>
          <a:noFill/>
          <a:ln>
            <a:noFill/>
          </a:ln>
        </p:spPr>
        <p:txBody>
          <a:bodyPr spcFirstLastPara="1" wrap="square" lIns="0" tIns="12700" rIns="0" bIns="0" anchor="t" anchorCtr="0">
            <a:spAutoFit/>
          </a:bodyPr>
          <a:lstStyle/>
          <a:p>
            <a:pPr marL="355600" marR="882014" lvl="0" indent="-342900" algn="just" rtl="0">
              <a:lnSpc>
                <a:spcPct val="100000"/>
              </a:lnSpc>
              <a:spcBef>
                <a:spcPts val="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At least three million people are poisoned by  pesticides every year.</a:t>
            </a:r>
            <a:endParaRPr sz="2500">
              <a:solidFill>
                <a:schemeClr val="dk1"/>
              </a:solidFill>
              <a:latin typeface="Times New Roman"/>
              <a:ea typeface="Times New Roman"/>
              <a:cs typeface="Times New Roman"/>
              <a:sym typeface="Times New Roman"/>
            </a:endParaRPr>
          </a:p>
          <a:p>
            <a:pPr marL="355600" marR="882014" lvl="0" indent="-184150" algn="just" rtl="0">
              <a:lnSpc>
                <a:spcPct val="100000"/>
              </a:lnSpc>
              <a:spcBef>
                <a:spcPts val="100"/>
              </a:spcBef>
              <a:spcAft>
                <a:spcPts val="0"/>
              </a:spcAft>
              <a:buClr>
                <a:schemeClr val="dk1"/>
              </a:buClr>
              <a:buSzPts val="2500"/>
              <a:buFont typeface="Arial"/>
              <a:buNone/>
            </a:pPr>
            <a:endParaRPr sz="2500">
              <a:solidFill>
                <a:schemeClr val="dk1"/>
              </a:solidFill>
              <a:latin typeface="Times New Roman"/>
              <a:ea typeface="Times New Roman"/>
              <a:cs typeface="Times New Roman"/>
              <a:sym typeface="Times New Roman"/>
            </a:endParaRPr>
          </a:p>
          <a:p>
            <a:pPr marL="355600" marR="5080" lvl="0" indent="-342900" algn="just" rtl="0">
              <a:lnSpc>
                <a:spcPct val="100000"/>
              </a:lnSpc>
              <a:spcBef>
                <a:spcPts val="725"/>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25 million agricultural workers are poisoned every  year.</a:t>
            </a:r>
            <a:endParaRPr sz="2500">
              <a:solidFill>
                <a:schemeClr val="dk1"/>
              </a:solidFill>
              <a:latin typeface="Times New Roman"/>
              <a:ea typeface="Times New Roman"/>
              <a:cs typeface="Times New Roman"/>
              <a:sym typeface="Times New Roman"/>
            </a:endParaRPr>
          </a:p>
          <a:p>
            <a:pPr marL="12700" marR="5080" lvl="0" indent="0" algn="just" rtl="0">
              <a:lnSpc>
                <a:spcPct val="100000"/>
              </a:lnSpc>
              <a:spcBef>
                <a:spcPts val="725"/>
              </a:spcBef>
              <a:spcAft>
                <a:spcPts val="0"/>
              </a:spcAft>
              <a:buNone/>
            </a:pPr>
            <a:endParaRPr sz="2500">
              <a:solidFill>
                <a:schemeClr val="dk1"/>
              </a:solidFill>
              <a:latin typeface="Times New Roman"/>
              <a:ea typeface="Times New Roman"/>
              <a:cs typeface="Times New Roman"/>
              <a:sym typeface="Times New Roman"/>
            </a:endParaRPr>
          </a:p>
          <a:p>
            <a:pPr marL="355600" marR="767715" lvl="0" indent="-342900" algn="just" rtl="0">
              <a:lnSpc>
                <a:spcPct val="100000"/>
              </a:lnSpc>
              <a:spcBef>
                <a:spcPts val="72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More than 200,000 people die each year from  pesticides</a:t>
            </a:r>
            <a:endParaRPr sz="2500">
              <a:solidFill>
                <a:schemeClr val="dk1"/>
              </a:solidFill>
              <a:latin typeface="Times New Roman"/>
              <a:ea typeface="Times New Roman"/>
              <a:cs typeface="Times New Roman"/>
              <a:sym typeface="Times New Roman"/>
            </a:endParaRPr>
          </a:p>
          <a:p>
            <a:pPr marL="12700" marR="767715" lvl="0" indent="0" algn="just" rtl="0">
              <a:lnSpc>
                <a:spcPct val="100000"/>
              </a:lnSpc>
              <a:spcBef>
                <a:spcPts val="720"/>
              </a:spcBef>
              <a:spcAft>
                <a:spcPts val="0"/>
              </a:spcAft>
              <a:buNone/>
            </a:pPr>
            <a:endParaRPr sz="2500">
              <a:solidFill>
                <a:schemeClr val="dk1"/>
              </a:solidFill>
              <a:latin typeface="Times New Roman"/>
              <a:ea typeface="Times New Roman"/>
              <a:cs typeface="Times New Roman"/>
              <a:sym typeface="Times New Roman"/>
            </a:endParaRPr>
          </a:p>
          <a:p>
            <a:pPr marL="355600" marR="297180" lvl="0" indent="-342900" algn="just" rtl="0">
              <a:lnSpc>
                <a:spcPct val="100000"/>
              </a:lnSpc>
              <a:spcBef>
                <a:spcPts val="720"/>
              </a:spcBef>
              <a:spcAft>
                <a:spcPts val="0"/>
              </a:spcAft>
              <a:buClr>
                <a:schemeClr val="dk1"/>
              </a:buClr>
              <a:buSzPts val="2500"/>
              <a:buFont typeface="Arial"/>
              <a:buChar char="•"/>
            </a:pPr>
            <a:r>
              <a:rPr lang="en-US" sz="2500">
                <a:solidFill>
                  <a:schemeClr val="dk1"/>
                </a:solidFill>
                <a:latin typeface="Times New Roman"/>
                <a:ea typeface="Times New Roman"/>
                <a:cs typeface="Times New Roman"/>
                <a:sym typeface="Times New Roman"/>
              </a:rPr>
              <a:t>Half of all pesticides are used on the five main  crops- cereals, corn/maize, rice, cotton and soya.</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522"/>
        <p:cNvGrpSpPr/>
        <p:nvPr/>
      </p:nvGrpSpPr>
      <p:grpSpPr>
        <a:xfrm>
          <a:off x="0" y="0"/>
          <a:ext cx="0" cy="0"/>
          <a:chOff x="0" y="0"/>
          <a:chExt cx="0" cy="0"/>
        </a:xfrm>
      </p:grpSpPr>
      <p:sp>
        <p:nvSpPr>
          <p:cNvPr id="523" name="Google Shape;523;p67"/>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4" name="Google Shape;524;p67"/>
          <p:cNvSpPr/>
          <p:nvPr/>
        </p:nvSpPr>
        <p:spPr>
          <a:xfrm>
            <a:off x="0" y="223"/>
            <a:ext cx="9143999" cy="10287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5" name="Google Shape;525;p67"/>
          <p:cNvSpPr/>
          <p:nvPr/>
        </p:nvSpPr>
        <p:spPr>
          <a:xfrm>
            <a:off x="4401357" y="0"/>
            <a:ext cx="4742642" cy="59994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6" name="Google Shape;526;p67"/>
          <p:cNvSpPr/>
          <p:nvPr/>
        </p:nvSpPr>
        <p:spPr>
          <a:xfrm>
            <a:off x="-828" y="0"/>
            <a:ext cx="9145590" cy="10205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7" name="Google Shape;527;p67"/>
          <p:cNvSpPr txBox="1">
            <a:spLocks noGrp="1"/>
          </p:cNvSpPr>
          <p:nvPr>
            <p:ph type="title"/>
          </p:nvPr>
        </p:nvSpPr>
        <p:spPr>
          <a:xfrm>
            <a:off x="2015172" y="1020572"/>
            <a:ext cx="5113655"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Benefits of pesticides</a:t>
            </a:r>
            <a:endParaRPr sz="4000" b="1">
              <a:latin typeface="Times New Roman"/>
              <a:ea typeface="Times New Roman"/>
              <a:cs typeface="Times New Roman"/>
              <a:sym typeface="Times New Roman"/>
            </a:endParaRPr>
          </a:p>
        </p:txBody>
      </p:sp>
      <p:sp>
        <p:nvSpPr>
          <p:cNvPr id="528" name="Google Shape;528;p67"/>
          <p:cNvSpPr txBox="1"/>
          <p:nvPr/>
        </p:nvSpPr>
        <p:spPr>
          <a:xfrm>
            <a:off x="535940" y="1869160"/>
            <a:ext cx="8531860" cy="3909695"/>
          </a:xfrm>
          <a:prstGeom prst="rect">
            <a:avLst/>
          </a:prstGeom>
          <a:noFill/>
          <a:ln>
            <a:noFill/>
          </a:ln>
        </p:spPr>
        <p:txBody>
          <a:bodyPr spcFirstLastPara="1" wrap="square" lIns="0" tIns="91425" rIns="0" bIns="0" anchor="t" anchorCtr="0">
            <a:spAutoFit/>
          </a:bodyPr>
          <a:lstStyle/>
          <a:p>
            <a:pPr marL="527685" marR="0" lvl="0" indent="-515619" algn="just" rtl="0">
              <a:lnSpc>
                <a:spcPct val="100000"/>
              </a:lnSpc>
              <a:spcBef>
                <a:spcPts val="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It helps in increasing the yield of crop plants.</a:t>
            </a:r>
            <a:endParaRPr sz="2500">
              <a:solidFill>
                <a:schemeClr val="dk1"/>
              </a:solidFill>
              <a:latin typeface="Times New Roman"/>
              <a:ea typeface="Times New Roman"/>
              <a:cs typeface="Times New Roman"/>
              <a:sym typeface="Times New Roman"/>
            </a:endParaRPr>
          </a:p>
          <a:p>
            <a:pPr marL="527685" marR="5080" lvl="0" indent="-515619" algn="just" rtl="0">
              <a:lnSpc>
                <a:spcPct val="100000"/>
              </a:lnSpc>
              <a:spcBef>
                <a:spcPts val="625"/>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Application of pesticides may be beneficial in Public  Health Programmes. (e.g. for controlling the growth  of mosquitoes causing malaria, yellow fever, etc.  houseflies, lice, cockroaches, poisonous insects, etc.</a:t>
            </a:r>
            <a:endParaRPr sz="2500">
              <a:solidFill>
                <a:schemeClr val="dk1"/>
              </a:solidFill>
              <a:latin typeface="Times New Roman"/>
              <a:ea typeface="Times New Roman"/>
              <a:cs typeface="Times New Roman"/>
              <a:sym typeface="Times New Roman"/>
            </a:endParaRPr>
          </a:p>
          <a:p>
            <a:pPr marL="527685" marR="325755" lvl="0" indent="-515619" algn="just" rtl="0">
              <a:lnSpc>
                <a:spcPct val="100000"/>
              </a:lnSpc>
              <a:spcBef>
                <a:spcPts val="625"/>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It helps in controlling the pests causing damage to  animals, stored food, books, wooden articles, etc.</a:t>
            </a:r>
            <a:endParaRPr sz="2500">
              <a:solidFill>
                <a:schemeClr val="dk1"/>
              </a:solidFill>
              <a:latin typeface="Times New Roman"/>
              <a:ea typeface="Times New Roman"/>
              <a:cs typeface="Times New Roman"/>
              <a:sym typeface="Times New Roman"/>
            </a:endParaRPr>
          </a:p>
          <a:p>
            <a:pPr marL="527685" marR="59689" lvl="0" indent="-515619" algn="just" rtl="0">
              <a:lnSpc>
                <a:spcPct val="100000"/>
              </a:lnSpc>
              <a:spcBef>
                <a:spcPts val="630"/>
              </a:spcBef>
              <a:spcAft>
                <a:spcPts val="0"/>
              </a:spcAft>
              <a:buClr>
                <a:srgbClr val="0AD0D9"/>
              </a:buClr>
              <a:buSzPts val="2356"/>
              <a:buFont typeface="Times New Roman"/>
              <a:buAutoNum type="arabicPeriod"/>
            </a:pPr>
            <a:r>
              <a:rPr lang="en-US" sz="2500">
                <a:solidFill>
                  <a:schemeClr val="dk1"/>
                </a:solidFill>
                <a:latin typeface="Times New Roman"/>
                <a:ea typeface="Times New Roman"/>
                <a:cs typeface="Times New Roman"/>
                <a:sym typeface="Times New Roman"/>
              </a:rPr>
              <a:t>Pesticides are also used to protect stored food grains  in godowns.</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532"/>
        <p:cNvGrpSpPr/>
        <p:nvPr/>
      </p:nvGrpSpPr>
      <p:grpSpPr>
        <a:xfrm>
          <a:off x="0" y="0"/>
          <a:ext cx="0" cy="0"/>
          <a:chOff x="0" y="0"/>
          <a:chExt cx="0" cy="0"/>
        </a:xfrm>
      </p:grpSpPr>
      <p:sp>
        <p:nvSpPr>
          <p:cNvPr id="533" name="Google Shape;533;p68"/>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4" name="Google Shape;534;p68"/>
          <p:cNvSpPr/>
          <p:nvPr/>
        </p:nvSpPr>
        <p:spPr>
          <a:xfrm>
            <a:off x="0" y="223"/>
            <a:ext cx="9143999" cy="10287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5" name="Google Shape;535;p68"/>
          <p:cNvSpPr/>
          <p:nvPr/>
        </p:nvSpPr>
        <p:spPr>
          <a:xfrm>
            <a:off x="4401357" y="0"/>
            <a:ext cx="4742642" cy="59994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6" name="Google Shape;536;p68"/>
          <p:cNvSpPr/>
          <p:nvPr/>
        </p:nvSpPr>
        <p:spPr>
          <a:xfrm>
            <a:off x="-828" y="0"/>
            <a:ext cx="9145590" cy="10205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7" name="Google Shape;537;p68"/>
          <p:cNvSpPr txBox="1">
            <a:spLocks noGrp="1"/>
          </p:cNvSpPr>
          <p:nvPr>
            <p:ph type="title"/>
          </p:nvPr>
        </p:nvSpPr>
        <p:spPr>
          <a:xfrm>
            <a:off x="1135552" y="285760"/>
            <a:ext cx="6531609"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Disadvantages of Pesticides;</a:t>
            </a:r>
            <a:endParaRPr sz="4000" b="1">
              <a:latin typeface="Times New Roman"/>
              <a:ea typeface="Times New Roman"/>
              <a:cs typeface="Times New Roman"/>
              <a:sym typeface="Times New Roman"/>
            </a:endParaRPr>
          </a:p>
        </p:txBody>
      </p:sp>
      <p:sp>
        <p:nvSpPr>
          <p:cNvPr id="538" name="Google Shape;538;p68"/>
          <p:cNvSpPr txBox="1"/>
          <p:nvPr/>
        </p:nvSpPr>
        <p:spPr>
          <a:xfrm>
            <a:off x="535940" y="1028923"/>
            <a:ext cx="8379460" cy="4770537"/>
          </a:xfrm>
          <a:prstGeom prst="rect">
            <a:avLst/>
          </a:prstGeom>
          <a:noFill/>
          <a:ln>
            <a:noFill/>
          </a:ln>
        </p:spPr>
        <p:txBody>
          <a:bodyPr spcFirstLastPara="1" wrap="square" lIns="0" tIns="12700" rIns="0" bIns="0" anchor="t" anchorCtr="0">
            <a:spAutoFit/>
          </a:bodyPr>
          <a:lstStyle/>
          <a:p>
            <a:pPr marL="527685" marR="0" lvl="0" indent="-515619" algn="just" rtl="0">
              <a:lnSpc>
                <a:spcPct val="109600"/>
              </a:lnSpc>
              <a:spcBef>
                <a:spcPts val="0"/>
              </a:spcBef>
              <a:spcAft>
                <a:spcPts val="0"/>
              </a:spcAft>
              <a:buClr>
                <a:srgbClr val="0AD0D9"/>
              </a:buClr>
              <a:buSzPts val="2344"/>
              <a:buFont typeface="Times New Roman"/>
              <a:buAutoNum type="arabicPeriod"/>
            </a:pPr>
            <a:r>
              <a:rPr lang="en-US" sz="2500">
                <a:solidFill>
                  <a:schemeClr val="dk1"/>
                </a:solidFill>
                <a:latin typeface="Times New Roman"/>
                <a:ea typeface="Times New Roman"/>
                <a:cs typeface="Times New Roman"/>
                <a:sym typeface="Times New Roman"/>
              </a:rPr>
              <a:t>Along with the harmful pests, it may also damage the</a:t>
            </a:r>
            <a:endParaRPr sz="2500">
              <a:solidFill>
                <a:schemeClr val="dk1"/>
              </a:solidFill>
              <a:latin typeface="Times New Roman"/>
              <a:ea typeface="Times New Roman"/>
              <a:cs typeface="Times New Roman"/>
              <a:sym typeface="Times New Roman"/>
            </a:endParaRPr>
          </a:p>
          <a:p>
            <a:pPr marL="527685" marR="0" lvl="0" indent="0" algn="just" rtl="0">
              <a:lnSpc>
                <a:spcPct val="109600"/>
              </a:lnSpc>
              <a:spcBef>
                <a:spcPts val="0"/>
              </a:spcBef>
              <a:spcAft>
                <a:spcPts val="0"/>
              </a:spcAft>
              <a:buNone/>
            </a:pPr>
            <a:r>
              <a:rPr lang="en-US" sz="2500">
                <a:solidFill>
                  <a:schemeClr val="dk1"/>
                </a:solidFill>
                <a:latin typeface="Times New Roman"/>
                <a:ea typeface="Times New Roman"/>
                <a:cs typeface="Times New Roman"/>
                <a:sym typeface="Times New Roman"/>
              </a:rPr>
              <a:t>crops or plants.</a:t>
            </a:r>
            <a:endParaRPr sz="2500">
              <a:solidFill>
                <a:schemeClr val="dk1"/>
              </a:solidFill>
              <a:latin typeface="Times New Roman"/>
              <a:ea typeface="Times New Roman"/>
              <a:cs typeface="Times New Roman"/>
              <a:sym typeface="Times New Roman"/>
            </a:endParaRPr>
          </a:p>
          <a:p>
            <a:pPr marL="527685" marR="5080" lvl="0" indent="-515619" algn="just" rtl="0">
              <a:lnSpc>
                <a:spcPct val="103600"/>
              </a:lnSpc>
              <a:spcBef>
                <a:spcPts val="615"/>
              </a:spcBef>
              <a:spcAft>
                <a:spcPts val="0"/>
              </a:spcAft>
              <a:buClr>
                <a:srgbClr val="0AD0D9"/>
              </a:buClr>
              <a:buSzPts val="2344"/>
              <a:buFont typeface="Times New Roman"/>
              <a:buAutoNum type="arabicPeriod" startAt="2"/>
            </a:pPr>
            <a:r>
              <a:rPr lang="en-US" sz="2500">
                <a:solidFill>
                  <a:schemeClr val="dk1"/>
                </a:solidFill>
                <a:latin typeface="Times New Roman"/>
                <a:ea typeface="Times New Roman"/>
                <a:cs typeface="Times New Roman"/>
                <a:sym typeface="Times New Roman"/>
              </a:rPr>
              <a:t>It may cause the damage to the bacteria which are useful  for the growth of plants.</a:t>
            </a:r>
            <a:endParaRPr sz="2500">
              <a:solidFill>
                <a:schemeClr val="dk1"/>
              </a:solidFill>
              <a:latin typeface="Times New Roman"/>
              <a:ea typeface="Times New Roman"/>
              <a:cs typeface="Times New Roman"/>
              <a:sym typeface="Times New Roman"/>
            </a:endParaRPr>
          </a:p>
          <a:p>
            <a:pPr marL="527685" marR="0" lvl="0" indent="-515619" algn="just" rtl="0">
              <a:lnSpc>
                <a:spcPct val="109400"/>
              </a:lnSpc>
              <a:spcBef>
                <a:spcPts val="254"/>
              </a:spcBef>
              <a:spcAft>
                <a:spcPts val="0"/>
              </a:spcAft>
              <a:buClr>
                <a:srgbClr val="0AD0D9"/>
              </a:buClr>
              <a:buSzPts val="2344"/>
              <a:buFont typeface="Times New Roman"/>
              <a:buAutoNum type="arabicPeriod" startAt="2"/>
            </a:pPr>
            <a:r>
              <a:rPr lang="en-US" sz="2500">
                <a:solidFill>
                  <a:schemeClr val="dk1"/>
                </a:solidFill>
                <a:latin typeface="Times New Roman"/>
                <a:ea typeface="Times New Roman"/>
                <a:cs typeface="Times New Roman"/>
                <a:sym typeface="Times New Roman"/>
              </a:rPr>
              <a:t>It causes the damage to the health of the person who is</a:t>
            </a:r>
            <a:endParaRPr sz="2500">
              <a:solidFill>
                <a:schemeClr val="dk1"/>
              </a:solidFill>
              <a:latin typeface="Times New Roman"/>
              <a:ea typeface="Times New Roman"/>
              <a:cs typeface="Times New Roman"/>
              <a:sym typeface="Times New Roman"/>
            </a:endParaRPr>
          </a:p>
          <a:p>
            <a:pPr marL="527685" marR="0" lvl="0" indent="0" algn="just" rtl="0">
              <a:lnSpc>
                <a:spcPct val="109400"/>
              </a:lnSpc>
              <a:spcBef>
                <a:spcPts val="0"/>
              </a:spcBef>
              <a:spcAft>
                <a:spcPts val="0"/>
              </a:spcAft>
              <a:buNone/>
            </a:pPr>
            <a:r>
              <a:rPr lang="en-US" sz="2500">
                <a:solidFill>
                  <a:schemeClr val="dk1"/>
                </a:solidFill>
                <a:latin typeface="Times New Roman"/>
                <a:ea typeface="Times New Roman"/>
                <a:cs typeface="Times New Roman"/>
                <a:sym typeface="Times New Roman"/>
              </a:rPr>
              <a:t>spraying it in the field.</a:t>
            </a:r>
            <a:endParaRPr sz="2500">
              <a:solidFill>
                <a:schemeClr val="dk1"/>
              </a:solidFill>
              <a:latin typeface="Times New Roman"/>
              <a:ea typeface="Times New Roman"/>
              <a:cs typeface="Times New Roman"/>
              <a:sym typeface="Times New Roman"/>
            </a:endParaRPr>
          </a:p>
          <a:p>
            <a:pPr marL="527685" marR="523240" lvl="0" indent="-515619" algn="just" rtl="0">
              <a:lnSpc>
                <a:spcPct val="103600"/>
              </a:lnSpc>
              <a:spcBef>
                <a:spcPts val="615"/>
              </a:spcBef>
              <a:spcAft>
                <a:spcPts val="0"/>
              </a:spcAft>
              <a:buClr>
                <a:srgbClr val="0AD0D9"/>
              </a:buClr>
              <a:buSzPts val="2344"/>
              <a:buFont typeface="Times New Roman"/>
              <a:buAutoNum type="arabicPeriod" startAt="4"/>
            </a:pPr>
            <a:r>
              <a:rPr lang="en-US" sz="2500">
                <a:solidFill>
                  <a:schemeClr val="dk1"/>
                </a:solidFill>
                <a:latin typeface="Times New Roman"/>
                <a:ea typeface="Times New Roman"/>
                <a:cs typeface="Times New Roman"/>
                <a:sym typeface="Times New Roman"/>
              </a:rPr>
              <a:t>Some pesticides are able to mix with the air and may  pollute the atmosphere.</a:t>
            </a:r>
            <a:endParaRPr sz="2500">
              <a:solidFill>
                <a:schemeClr val="dk1"/>
              </a:solidFill>
              <a:latin typeface="Times New Roman"/>
              <a:ea typeface="Times New Roman"/>
              <a:cs typeface="Times New Roman"/>
              <a:sym typeface="Times New Roman"/>
            </a:endParaRPr>
          </a:p>
          <a:p>
            <a:pPr marL="527685" marR="175895" lvl="0" indent="-515619" algn="just" rtl="0">
              <a:lnSpc>
                <a:spcPct val="90100"/>
              </a:lnSpc>
              <a:spcBef>
                <a:spcPts val="535"/>
              </a:spcBef>
              <a:spcAft>
                <a:spcPts val="0"/>
              </a:spcAft>
              <a:buClr>
                <a:srgbClr val="0AD0D9"/>
              </a:buClr>
              <a:buSzPts val="2344"/>
              <a:buFont typeface="Times New Roman"/>
              <a:buAutoNum type="arabicPeriod" startAt="4"/>
            </a:pPr>
            <a:r>
              <a:rPr lang="en-US" sz="2500">
                <a:solidFill>
                  <a:schemeClr val="dk1"/>
                </a:solidFill>
                <a:latin typeface="Times New Roman"/>
                <a:ea typeface="Times New Roman"/>
                <a:cs typeface="Times New Roman"/>
                <a:sym typeface="Times New Roman"/>
              </a:rPr>
              <a:t>The durable poisonous pesticides may cause the water  pollution as it can flow with the water and mixes to the  water resources.</a:t>
            </a:r>
            <a:endParaRPr sz="2500">
              <a:solidFill>
                <a:schemeClr val="dk1"/>
              </a:solidFill>
              <a:latin typeface="Times New Roman"/>
              <a:ea typeface="Times New Roman"/>
              <a:cs typeface="Times New Roman"/>
              <a:sym typeface="Times New Roman"/>
            </a:endParaRPr>
          </a:p>
          <a:p>
            <a:pPr marL="527685" marR="227965" lvl="0" indent="-515619" algn="just" rtl="0">
              <a:lnSpc>
                <a:spcPct val="103600"/>
              </a:lnSpc>
              <a:spcBef>
                <a:spcPts val="620"/>
              </a:spcBef>
              <a:spcAft>
                <a:spcPts val="0"/>
              </a:spcAft>
              <a:buClr>
                <a:srgbClr val="0AD0D9"/>
              </a:buClr>
              <a:buSzPts val="2344"/>
              <a:buFont typeface="Times New Roman"/>
              <a:buAutoNum type="arabicPeriod" startAt="4"/>
            </a:pPr>
            <a:r>
              <a:rPr lang="en-US" sz="2500">
                <a:solidFill>
                  <a:schemeClr val="dk1"/>
                </a:solidFill>
                <a:latin typeface="Times New Roman"/>
                <a:ea typeface="Times New Roman"/>
                <a:cs typeface="Times New Roman"/>
                <a:sym typeface="Times New Roman"/>
              </a:rPr>
              <a:t>Some types of pesticides may enter into the food chain  and can harm the human health.</a:t>
            </a:r>
            <a:endParaRPr sz="25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69"/>
          <p:cNvSpPr txBox="1">
            <a:spLocks noGrp="1"/>
          </p:cNvSpPr>
          <p:nvPr>
            <p:ph type="title"/>
          </p:nvPr>
        </p:nvSpPr>
        <p:spPr>
          <a:xfrm>
            <a:off x="3657600" y="533400"/>
            <a:ext cx="4114800" cy="628377"/>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Land</a:t>
            </a:r>
            <a:endParaRPr sz="4000" b="1">
              <a:latin typeface="Times New Roman"/>
              <a:ea typeface="Times New Roman"/>
              <a:cs typeface="Times New Roman"/>
              <a:sym typeface="Times New Roman"/>
            </a:endParaRPr>
          </a:p>
        </p:txBody>
      </p:sp>
      <p:sp>
        <p:nvSpPr>
          <p:cNvPr id="544" name="Google Shape;544;p69"/>
          <p:cNvSpPr txBox="1"/>
          <p:nvPr/>
        </p:nvSpPr>
        <p:spPr>
          <a:xfrm>
            <a:off x="535940" y="1303607"/>
            <a:ext cx="8074660" cy="5516895"/>
          </a:xfrm>
          <a:prstGeom prst="rect">
            <a:avLst/>
          </a:prstGeom>
          <a:noFill/>
          <a:ln>
            <a:noFill/>
          </a:ln>
        </p:spPr>
        <p:txBody>
          <a:bodyPr spcFirstLastPara="1" wrap="square" lIns="0" tIns="53325" rIns="0" bIns="0" anchor="t" anchorCtr="0">
            <a:spAutoFit/>
          </a:bodyPr>
          <a:lstStyle/>
          <a:p>
            <a:pPr marL="287020" marR="0" lvl="0" indent="-274955" algn="just" rtl="0">
              <a:lnSpc>
                <a:spcPct val="100000"/>
              </a:lnSpc>
              <a:spcBef>
                <a:spcPts val="0"/>
              </a:spcBef>
              <a:spcAft>
                <a:spcPts val="0"/>
              </a:spcAft>
              <a:buClr>
                <a:srgbClr val="0AD0D9"/>
              </a:buClr>
              <a:buSzPts val="2356"/>
              <a:buFont typeface="Noto Sans Symbols"/>
              <a:buChar char="▪"/>
            </a:pPr>
            <a:r>
              <a:rPr lang="en-US" sz="2500">
                <a:solidFill>
                  <a:schemeClr val="dk1"/>
                </a:solidFill>
                <a:latin typeface="Times New Roman"/>
                <a:ea typeface="Times New Roman"/>
                <a:cs typeface="Times New Roman"/>
                <a:sym typeface="Times New Roman"/>
              </a:rPr>
              <a:t>Uses of Land:</a:t>
            </a:r>
            <a:endParaRPr sz="2500">
              <a:solidFill>
                <a:schemeClr val="dk1"/>
              </a:solidFill>
              <a:latin typeface="Times New Roman"/>
              <a:ea typeface="Times New Roman"/>
              <a:cs typeface="Times New Roman"/>
              <a:sym typeface="Times New Roman"/>
            </a:endParaRPr>
          </a:p>
          <a:p>
            <a:pPr marL="862964" marR="0" lvl="1" indent="-457833" algn="just" rtl="0">
              <a:lnSpc>
                <a:spcPct val="100000"/>
              </a:lnSpc>
              <a:spcBef>
                <a:spcPts val="295"/>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For Residential and for Construction purpose.</a:t>
            </a:r>
            <a:endParaRPr/>
          </a:p>
          <a:p>
            <a:pPr marL="862964" marR="0" lvl="1" indent="-457833" algn="just" rtl="0">
              <a:lnSpc>
                <a:spcPct val="100000"/>
              </a:lnSpc>
              <a:spcBef>
                <a:spcPts val="290"/>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For the construction of roads.</a:t>
            </a:r>
            <a:endParaRPr sz="2500" b="0" i="0" u="none" strike="noStrike" cap="none">
              <a:solidFill>
                <a:schemeClr val="dk1"/>
              </a:solidFill>
              <a:latin typeface="Times New Roman"/>
              <a:ea typeface="Times New Roman"/>
              <a:cs typeface="Times New Roman"/>
              <a:sym typeface="Times New Roman"/>
            </a:endParaRPr>
          </a:p>
          <a:p>
            <a:pPr marL="862964" marR="0" lvl="1" indent="-457833" algn="just" rtl="0">
              <a:lnSpc>
                <a:spcPct val="100000"/>
              </a:lnSpc>
              <a:spcBef>
                <a:spcPts val="290"/>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For Agricultural and for Gardening purpose.</a:t>
            </a:r>
            <a:endParaRPr/>
          </a:p>
          <a:p>
            <a:pPr marL="862964" marR="0" lvl="1" indent="-457833" algn="just" rtl="0">
              <a:lnSpc>
                <a:spcPct val="100000"/>
              </a:lnSpc>
              <a:spcBef>
                <a:spcPts val="290"/>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For creating Forests.</a:t>
            </a:r>
            <a:endParaRPr sz="2500" b="0" i="0" u="none" strike="noStrike" cap="none">
              <a:solidFill>
                <a:schemeClr val="dk1"/>
              </a:solidFill>
              <a:latin typeface="Times New Roman"/>
              <a:ea typeface="Times New Roman"/>
              <a:cs typeface="Times New Roman"/>
              <a:sym typeface="Times New Roman"/>
            </a:endParaRPr>
          </a:p>
          <a:p>
            <a:pPr marL="862964" marR="0" lvl="1" indent="-457833" algn="just" rtl="0">
              <a:lnSpc>
                <a:spcPct val="100000"/>
              </a:lnSpc>
              <a:spcBef>
                <a:spcPts val="290"/>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For the construction of big Industrial Units.</a:t>
            </a:r>
            <a:endParaRPr sz="2500" b="0" i="0" u="none" strike="noStrike" cap="none">
              <a:solidFill>
                <a:schemeClr val="dk1"/>
              </a:solidFill>
              <a:latin typeface="Times New Roman"/>
              <a:ea typeface="Times New Roman"/>
              <a:cs typeface="Times New Roman"/>
              <a:sym typeface="Times New Roman"/>
            </a:endParaRPr>
          </a:p>
          <a:p>
            <a:pPr marL="862964" marR="0" lvl="1" indent="-457833" algn="just" rtl="0">
              <a:lnSpc>
                <a:spcPct val="100000"/>
              </a:lnSpc>
              <a:spcBef>
                <a:spcPts val="285"/>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For preparing canal and water resources.</a:t>
            </a:r>
            <a:endParaRPr sz="2500" b="0" i="0" u="none" strike="noStrike" cap="none">
              <a:solidFill>
                <a:schemeClr val="dk1"/>
              </a:solidFill>
              <a:latin typeface="Times New Roman"/>
              <a:ea typeface="Times New Roman"/>
              <a:cs typeface="Times New Roman"/>
              <a:sym typeface="Times New Roman"/>
            </a:endParaRPr>
          </a:p>
          <a:p>
            <a:pPr marL="497205" marR="0" lvl="0" indent="-457834" algn="just" rtl="0">
              <a:lnSpc>
                <a:spcPct val="100000"/>
              </a:lnSpc>
              <a:spcBef>
                <a:spcPts val="305"/>
              </a:spcBef>
              <a:spcAft>
                <a:spcPts val="0"/>
              </a:spcAft>
              <a:buClr>
                <a:srgbClr val="0AD0D9"/>
              </a:buClr>
              <a:buSzPts val="2356"/>
              <a:buFont typeface="Noto Sans Symbols"/>
              <a:buChar char="▪"/>
            </a:pPr>
            <a:r>
              <a:rPr lang="en-US" sz="2500">
                <a:solidFill>
                  <a:schemeClr val="dk1"/>
                </a:solidFill>
                <a:latin typeface="Times New Roman"/>
                <a:ea typeface="Times New Roman"/>
                <a:cs typeface="Times New Roman"/>
                <a:sym typeface="Times New Roman"/>
              </a:rPr>
              <a:t>Misuses of Land:</a:t>
            </a:r>
            <a:endParaRPr sz="2500">
              <a:solidFill>
                <a:schemeClr val="dk1"/>
              </a:solidFill>
              <a:latin typeface="Times New Roman"/>
              <a:ea typeface="Times New Roman"/>
              <a:cs typeface="Times New Roman"/>
              <a:sym typeface="Times New Roman"/>
            </a:endParaRPr>
          </a:p>
          <a:p>
            <a:pPr marL="919480" marR="0" lvl="1" indent="-514350" algn="just" rtl="0">
              <a:lnSpc>
                <a:spcPct val="100000"/>
              </a:lnSpc>
              <a:spcBef>
                <a:spcPts val="295"/>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Destruction of forests.</a:t>
            </a:r>
            <a:endParaRPr sz="2500" b="0" i="0" u="none" strike="noStrike" cap="none">
              <a:solidFill>
                <a:schemeClr val="dk1"/>
              </a:solidFill>
              <a:latin typeface="Times New Roman"/>
              <a:ea typeface="Times New Roman"/>
              <a:cs typeface="Times New Roman"/>
              <a:sym typeface="Times New Roman"/>
            </a:endParaRPr>
          </a:p>
          <a:p>
            <a:pPr marL="919480" marR="0" lvl="1" indent="-514350" algn="just" rtl="0">
              <a:lnSpc>
                <a:spcPct val="100000"/>
              </a:lnSpc>
              <a:spcBef>
                <a:spcPts val="290"/>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Unused grass land.</a:t>
            </a:r>
            <a:endParaRPr sz="2500" b="0" i="0" u="none" strike="noStrike" cap="none">
              <a:solidFill>
                <a:schemeClr val="dk1"/>
              </a:solidFill>
              <a:latin typeface="Times New Roman"/>
              <a:ea typeface="Times New Roman"/>
              <a:cs typeface="Times New Roman"/>
              <a:sym typeface="Times New Roman"/>
            </a:endParaRPr>
          </a:p>
          <a:p>
            <a:pPr marL="919480" marR="0" lvl="1" indent="-514350" algn="just" rtl="0">
              <a:lnSpc>
                <a:spcPct val="100000"/>
              </a:lnSpc>
              <a:spcBef>
                <a:spcPts val="290"/>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Non planned urbanization.</a:t>
            </a:r>
            <a:endParaRPr sz="2500" b="0" i="0" u="none" strike="noStrike" cap="none">
              <a:solidFill>
                <a:schemeClr val="dk1"/>
              </a:solidFill>
              <a:latin typeface="Times New Roman"/>
              <a:ea typeface="Times New Roman"/>
              <a:cs typeface="Times New Roman"/>
              <a:sym typeface="Times New Roman"/>
            </a:endParaRPr>
          </a:p>
          <a:p>
            <a:pPr marL="919480" marR="0" lvl="1" indent="-514350" algn="just" rtl="0">
              <a:lnSpc>
                <a:spcPct val="100000"/>
              </a:lnSpc>
              <a:spcBef>
                <a:spcPts val="285"/>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Excess use of chemical fertilizers.</a:t>
            </a:r>
            <a:endParaRPr sz="2500" b="0" i="0" u="none" strike="noStrike" cap="none">
              <a:solidFill>
                <a:schemeClr val="dk1"/>
              </a:solidFill>
              <a:latin typeface="Times New Roman"/>
              <a:ea typeface="Times New Roman"/>
              <a:cs typeface="Times New Roman"/>
              <a:sym typeface="Times New Roman"/>
            </a:endParaRPr>
          </a:p>
          <a:p>
            <a:pPr marL="919480" marR="0" lvl="1" indent="-514350" algn="just" rtl="0">
              <a:lnSpc>
                <a:spcPct val="100000"/>
              </a:lnSpc>
              <a:spcBef>
                <a:spcPts val="295"/>
              </a:spcBef>
              <a:spcAft>
                <a:spcPts val="0"/>
              </a:spcAft>
              <a:buClr>
                <a:srgbClr val="0E6EC5"/>
              </a:buClr>
              <a:buSzPts val="2135"/>
              <a:buFont typeface="Times New Roman"/>
              <a:buAutoNum type="arabicPeriod"/>
            </a:pPr>
            <a:r>
              <a:rPr lang="en-US" sz="2500" b="0" i="0" u="none" strike="noStrike" cap="none">
                <a:solidFill>
                  <a:schemeClr val="dk1"/>
                </a:solidFill>
                <a:latin typeface="Times New Roman"/>
                <a:ea typeface="Times New Roman"/>
                <a:cs typeface="Times New Roman"/>
                <a:sym typeface="Times New Roman"/>
              </a:rPr>
              <a:t>Use of land for mineral industries.</a:t>
            </a:r>
            <a:endParaRPr sz="25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Land slides</a:t>
            </a:r>
            <a:endParaRPr sz="4000" b="1">
              <a:latin typeface="Times New Roman"/>
              <a:ea typeface="Times New Roman"/>
              <a:cs typeface="Times New Roman"/>
              <a:sym typeface="Times New Roman"/>
            </a:endParaRPr>
          </a:p>
        </p:txBody>
      </p:sp>
      <p:sp>
        <p:nvSpPr>
          <p:cNvPr id="551" name="Google Shape;551;p7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500"/>
              <a:buChar char="•"/>
            </a:pPr>
            <a:r>
              <a:rPr lang="en-US" sz="2500">
                <a:latin typeface="Times New Roman"/>
                <a:ea typeface="Times New Roman"/>
                <a:cs typeface="Times New Roman"/>
                <a:sym typeface="Times New Roman"/>
              </a:rPr>
              <a:t>It refers to the sliding or dislodging of a large mas s of rocks materials , soils etc… down the side of amount a inorcliff landslides represent the most extreme hazards , especially    in terms of loss of life Overpopulation and socio-economic pressures have forced some of the most vulnerable populations into areas of high risk (hill sides)</a:t>
            </a:r>
            <a:endParaRPr sz="2500">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Causes</a:t>
            </a:r>
            <a:endParaRPr sz="4000" b="1">
              <a:latin typeface="Times New Roman"/>
              <a:ea typeface="Times New Roman"/>
              <a:cs typeface="Times New Roman"/>
              <a:sym typeface="Times New Roman"/>
            </a:endParaRPr>
          </a:p>
        </p:txBody>
      </p:sp>
      <p:sp>
        <p:nvSpPr>
          <p:cNvPr id="557" name="Google Shape;557;p7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Climate</a:t>
            </a:r>
            <a:endParaRPr/>
          </a:p>
          <a:p>
            <a:pPr marL="342900" lvl="0" indent="-342900" algn="l" rtl="0">
              <a:spcBef>
                <a:spcPts val="640"/>
              </a:spcBef>
              <a:spcAft>
                <a:spcPts val="0"/>
              </a:spcAft>
              <a:buClr>
                <a:schemeClr val="dk1"/>
              </a:buClr>
              <a:buSzPts val="3200"/>
              <a:buChar char="•"/>
            </a:pPr>
            <a:r>
              <a:rPr lang="en-US"/>
              <a:t>Earthquake</a:t>
            </a:r>
            <a:endParaRPr/>
          </a:p>
          <a:p>
            <a:pPr marL="342900" lvl="0" indent="-342900" algn="l" rtl="0">
              <a:spcBef>
                <a:spcPts val="640"/>
              </a:spcBef>
              <a:spcAft>
                <a:spcPts val="0"/>
              </a:spcAft>
              <a:buClr>
                <a:schemeClr val="dk1"/>
              </a:buClr>
              <a:buSzPts val="3200"/>
              <a:buChar char="•"/>
            </a:pPr>
            <a:r>
              <a:rPr lang="en-US"/>
              <a:t>Weathering</a:t>
            </a:r>
            <a:endParaRPr/>
          </a:p>
          <a:p>
            <a:pPr marL="342900" lvl="0" indent="-342900" algn="l" rtl="0">
              <a:spcBef>
                <a:spcPts val="640"/>
              </a:spcBef>
              <a:spcAft>
                <a:spcPts val="0"/>
              </a:spcAft>
              <a:buClr>
                <a:schemeClr val="dk1"/>
              </a:buClr>
              <a:buSzPts val="3200"/>
              <a:buChar char="•"/>
            </a:pPr>
            <a:r>
              <a:rPr lang="en-US"/>
              <a:t>Erosion</a:t>
            </a:r>
            <a:endParaRPr/>
          </a:p>
          <a:p>
            <a:pPr marL="342900" lvl="0" indent="-342900" algn="l" rtl="0">
              <a:spcBef>
                <a:spcPts val="640"/>
              </a:spcBef>
              <a:spcAft>
                <a:spcPts val="0"/>
              </a:spcAft>
              <a:buClr>
                <a:schemeClr val="dk1"/>
              </a:buClr>
              <a:buSzPts val="3200"/>
              <a:buChar char="•"/>
            </a:pPr>
            <a:r>
              <a:rPr lang="en-US"/>
              <a:t>Volcanoes</a:t>
            </a:r>
            <a:endParaRPr/>
          </a:p>
          <a:p>
            <a:pPr marL="342900" lvl="0" indent="-342900" algn="l" rtl="0">
              <a:spcBef>
                <a:spcPts val="640"/>
              </a:spcBef>
              <a:spcAft>
                <a:spcPts val="0"/>
              </a:spcAft>
              <a:buClr>
                <a:schemeClr val="dk1"/>
              </a:buClr>
              <a:buSzPts val="3200"/>
              <a:buChar char="•"/>
            </a:pPr>
            <a:r>
              <a:rPr lang="en-US"/>
              <a:t>Forest fire</a:t>
            </a:r>
            <a:endParaRPr/>
          </a:p>
          <a:p>
            <a:pPr marL="342900" lvl="0" indent="-342900" algn="l" rtl="0">
              <a:spcBef>
                <a:spcPts val="640"/>
              </a:spcBef>
              <a:spcAft>
                <a:spcPts val="0"/>
              </a:spcAft>
              <a:buClr>
                <a:schemeClr val="dk1"/>
              </a:buClr>
              <a:buSzPts val="3200"/>
              <a:buChar char="•"/>
            </a:pPr>
            <a:r>
              <a:rPr lang="en-US"/>
              <a:t>Gravity</a:t>
            </a:r>
            <a:endParaRPr/>
          </a:p>
          <a:p>
            <a:pPr marL="342900" lvl="0" indent="-342900" algn="l" rtl="0">
              <a:spcBef>
                <a:spcPts val="640"/>
              </a:spcBef>
              <a:spcAft>
                <a:spcPts val="0"/>
              </a:spcAft>
              <a:buClr>
                <a:schemeClr val="dk1"/>
              </a:buClr>
              <a:buSzPts val="3200"/>
              <a:buChar char="•"/>
            </a:pPr>
            <a:r>
              <a:rPr lang="en-US"/>
              <a:t>Mining</a:t>
            </a:r>
            <a:endParaRPr/>
          </a:p>
          <a:p>
            <a:pPr marL="0" lvl="0" indent="0" algn="l" rtl="0">
              <a:spcBef>
                <a:spcPts val="640"/>
              </a:spcBef>
              <a:spcAft>
                <a:spcPts val="0"/>
              </a:spcAft>
              <a:buClr>
                <a:schemeClr val="dk1"/>
              </a:buClr>
              <a:buSzPts val="3200"/>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Effects</a:t>
            </a:r>
            <a:endParaRPr sz="4000" b="1">
              <a:latin typeface="Times New Roman"/>
              <a:ea typeface="Times New Roman"/>
              <a:cs typeface="Times New Roman"/>
              <a:sym typeface="Times New Roman"/>
            </a:endParaRPr>
          </a:p>
        </p:txBody>
      </p:sp>
      <p:sp>
        <p:nvSpPr>
          <p:cNvPr id="563" name="Google Shape;563;p7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500"/>
              <a:buChar char="•"/>
            </a:pPr>
            <a:r>
              <a:rPr lang="en-US" sz="2500">
                <a:latin typeface="Times New Roman"/>
                <a:ea typeface="Times New Roman"/>
                <a:cs typeface="Times New Roman"/>
                <a:sym typeface="Times New Roman"/>
              </a:rPr>
              <a:t>Lead to economic decline</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Decimation of infrastructure</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Loss of life</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Affects beauty of landscapes</a:t>
            </a:r>
            <a:endParaRPr/>
          </a:p>
          <a:p>
            <a:pPr marL="342900" lvl="0" indent="-342900" algn="l" rtl="0">
              <a:spcBef>
                <a:spcPts val="500"/>
              </a:spcBef>
              <a:spcAft>
                <a:spcPts val="0"/>
              </a:spcAft>
              <a:buClr>
                <a:schemeClr val="dk1"/>
              </a:buClr>
              <a:buSzPts val="2500"/>
              <a:buChar char="•"/>
            </a:pPr>
            <a:r>
              <a:rPr lang="en-US" sz="2500">
                <a:latin typeface="Times New Roman"/>
                <a:ea typeface="Times New Roman"/>
                <a:cs typeface="Times New Roman"/>
                <a:sym typeface="Times New Roman"/>
              </a:rPr>
              <a:t>Impacts river ecosystems</a:t>
            </a:r>
            <a:endParaRPr/>
          </a:p>
          <a:p>
            <a:pPr marL="0" lvl="0" indent="0" algn="l" rtl="0">
              <a:spcBef>
                <a:spcPts val="640"/>
              </a:spcBef>
              <a:spcAft>
                <a:spcPts val="0"/>
              </a:spcAft>
              <a:buClr>
                <a:schemeClr val="dk1"/>
              </a:buClr>
              <a:buSzPts val="3200"/>
              <a:buNone/>
            </a:pPr>
            <a:br>
              <a:rPr lang="en-US"/>
            </a:br>
            <a:br>
              <a:rPr lang="en-US"/>
            </a:b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US" b="1">
                <a:latin typeface="Times New Roman"/>
                <a:ea typeface="Times New Roman"/>
                <a:cs typeface="Times New Roman"/>
                <a:sym typeface="Times New Roman"/>
              </a:rPr>
              <a:t>Various Causes of Soil Erosion</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569" name="Google Shape;569;p7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endParaRPr/>
          </a:p>
          <a:p>
            <a:pPr marL="0" lvl="0" indent="0" algn="l" rtl="0">
              <a:spcBef>
                <a:spcPts val="540"/>
              </a:spcBef>
              <a:spcAft>
                <a:spcPts val="0"/>
              </a:spcAft>
              <a:buClr>
                <a:schemeClr val="dk1"/>
              </a:buClr>
              <a:buSzPts val="2700"/>
              <a:buNone/>
            </a:pPr>
            <a:r>
              <a:rPr lang="en-US" sz="2700">
                <a:latin typeface="Times New Roman"/>
                <a:ea typeface="Times New Roman"/>
                <a:cs typeface="Times New Roman"/>
                <a:sym typeface="Times New Roman"/>
              </a:rPr>
              <a:t>1. Rain and Rainwater Runoff</a:t>
            </a:r>
            <a:endParaRPr/>
          </a:p>
          <a:p>
            <a:pPr marL="0" lvl="0" indent="0" algn="l" rtl="0">
              <a:spcBef>
                <a:spcPts val="540"/>
              </a:spcBef>
              <a:spcAft>
                <a:spcPts val="0"/>
              </a:spcAft>
              <a:buClr>
                <a:schemeClr val="dk1"/>
              </a:buClr>
              <a:buSzPts val="2700"/>
              <a:buNone/>
            </a:pPr>
            <a:r>
              <a:rPr lang="en-US" sz="2700">
                <a:latin typeface="Times New Roman"/>
                <a:ea typeface="Times New Roman"/>
                <a:cs typeface="Times New Roman"/>
                <a:sym typeface="Times New Roman"/>
              </a:rPr>
              <a:t>2. Farming</a:t>
            </a:r>
            <a:endParaRPr/>
          </a:p>
          <a:p>
            <a:pPr marL="0" lvl="0" indent="0" algn="l" rtl="0">
              <a:spcBef>
                <a:spcPts val="540"/>
              </a:spcBef>
              <a:spcAft>
                <a:spcPts val="0"/>
              </a:spcAft>
              <a:buClr>
                <a:schemeClr val="dk1"/>
              </a:buClr>
              <a:buSzPts val="2700"/>
              <a:buNone/>
            </a:pPr>
            <a:r>
              <a:rPr lang="en-US" sz="2700">
                <a:latin typeface="Times New Roman"/>
                <a:ea typeface="Times New Roman"/>
                <a:cs typeface="Times New Roman"/>
                <a:sym typeface="Times New Roman"/>
              </a:rPr>
              <a:t>3. The slope of the Land</a:t>
            </a:r>
            <a:endParaRPr/>
          </a:p>
          <a:p>
            <a:pPr marL="0" lvl="0" indent="0" algn="l" rtl="0">
              <a:spcBef>
                <a:spcPts val="540"/>
              </a:spcBef>
              <a:spcAft>
                <a:spcPts val="0"/>
              </a:spcAft>
              <a:buClr>
                <a:schemeClr val="dk1"/>
              </a:buClr>
              <a:buSzPts val="2700"/>
              <a:buNone/>
            </a:pPr>
            <a:r>
              <a:rPr lang="en-US" sz="2700">
                <a:latin typeface="Times New Roman"/>
                <a:ea typeface="Times New Roman"/>
                <a:cs typeface="Times New Roman"/>
                <a:sym typeface="Times New Roman"/>
              </a:rPr>
              <a:t>4. Soil Erodibility</a:t>
            </a:r>
            <a:endParaRPr sz="2700">
              <a:latin typeface="Times New Roman"/>
              <a:ea typeface="Times New Roman"/>
              <a:cs typeface="Times New Roman"/>
              <a:sym typeface="Times New Roman"/>
            </a:endParaRPr>
          </a:p>
          <a:p>
            <a:pPr marL="0" lvl="0" indent="0" algn="l" rtl="0">
              <a:spcBef>
                <a:spcPts val="540"/>
              </a:spcBef>
              <a:spcAft>
                <a:spcPts val="0"/>
              </a:spcAft>
              <a:buClr>
                <a:schemeClr val="dk1"/>
              </a:buClr>
              <a:buSzPts val="2700"/>
              <a:buNone/>
            </a:pPr>
            <a:r>
              <a:rPr lang="en-US" sz="2700">
                <a:latin typeface="Times New Roman"/>
                <a:ea typeface="Times New Roman"/>
                <a:cs typeface="Times New Roman"/>
                <a:sym typeface="Times New Roman"/>
              </a:rPr>
              <a:t>5. Lack of Vegetation</a:t>
            </a:r>
            <a:endParaRPr/>
          </a:p>
          <a:p>
            <a:pPr marL="0" lvl="0" indent="0" algn="l" rtl="0">
              <a:spcBef>
                <a:spcPts val="540"/>
              </a:spcBef>
              <a:spcAft>
                <a:spcPts val="0"/>
              </a:spcAft>
              <a:buClr>
                <a:schemeClr val="dk1"/>
              </a:buClr>
              <a:buSzPts val="2700"/>
              <a:buNone/>
            </a:pPr>
            <a:r>
              <a:rPr lang="en-US" sz="2700">
                <a:latin typeface="Times New Roman"/>
                <a:ea typeface="Times New Roman"/>
                <a:cs typeface="Times New Roman"/>
                <a:sym typeface="Times New Roman"/>
              </a:rPr>
              <a:t>6. Unsheltered Distance</a:t>
            </a:r>
            <a:endParaRPr/>
          </a:p>
          <a:p>
            <a:pPr marL="0" lvl="0" indent="0" algn="l" rtl="0">
              <a:spcBef>
                <a:spcPts val="540"/>
              </a:spcBef>
              <a:spcAft>
                <a:spcPts val="0"/>
              </a:spcAft>
              <a:buClr>
                <a:schemeClr val="dk1"/>
              </a:buClr>
              <a:buSzPts val="2700"/>
              <a:buNone/>
            </a:pPr>
            <a:r>
              <a:rPr lang="en-US" sz="2700">
                <a:latin typeface="Times New Roman"/>
                <a:ea typeface="Times New Roman"/>
                <a:cs typeface="Times New Roman"/>
                <a:sym typeface="Times New Roman"/>
              </a:rPr>
              <a:t>7. Wind</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US" b="1">
                <a:latin typeface="Times New Roman"/>
                <a:ea typeface="Times New Roman"/>
                <a:cs typeface="Times New Roman"/>
                <a:sym typeface="Times New Roman"/>
              </a:rPr>
              <a:t>Effects of Soil Erosion</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575" name="Google Shape;575;p7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500"/>
              <a:buNone/>
            </a:pPr>
            <a:r>
              <a:rPr lang="en-US" sz="2500">
                <a:latin typeface="Times New Roman"/>
                <a:ea typeface="Times New Roman"/>
                <a:cs typeface="Times New Roman"/>
                <a:sym typeface="Times New Roman"/>
              </a:rPr>
              <a:t>1. Loss of Topsoil</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2. Soil Compaction</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3. Reduced Organic and Fertile Matter</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4. Poor Drainage</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5. Issues With Plant Reproduction</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7. Long Term Erosion</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8. Water Pollution</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9. Climate Change</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US" b="1">
                <a:latin typeface="Times New Roman"/>
                <a:ea typeface="Times New Roman"/>
                <a:cs typeface="Times New Roman"/>
                <a:sym typeface="Times New Roman"/>
              </a:rPr>
              <a:t>Preventive Measures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sp>
        <p:nvSpPr>
          <p:cNvPr id="581" name="Google Shape;581;p7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500"/>
              <a:buNone/>
            </a:pPr>
            <a:endParaRPr sz="2500">
              <a:latin typeface="Times New Roman"/>
              <a:ea typeface="Times New Roman"/>
              <a:cs typeface="Times New Roman"/>
              <a:sym typeface="Times New Roman"/>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1. Careful Tilling</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2. Crop Rotation</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3. Increased Structure For Plants</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4. Water Control</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5. Soil Conservation</a:t>
            </a:r>
            <a:endParaRPr/>
          </a:p>
          <a:p>
            <a:pPr marL="0" lvl="0" indent="0" algn="l" rtl="0">
              <a:spcBef>
                <a:spcPts val="500"/>
              </a:spcBef>
              <a:spcAft>
                <a:spcPts val="0"/>
              </a:spcAft>
              <a:buClr>
                <a:schemeClr val="dk1"/>
              </a:buClr>
              <a:buSzPts val="2500"/>
              <a:buNone/>
            </a:pPr>
            <a:r>
              <a:rPr lang="en-US" sz="2500">
                <a:latin typeface="Times New Roman"/>
                <a:ea typeface="Times New Roman"/>
                <a:cs typeface="Times New Roman"/>
                <a:sym typeface="Times New Roman"/>
              </a:rPr>
              <a:t>6. Increased Knowledge</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585"/>
        <p:cNvGrpSpPr/>
        <p:nvPr/>
      </p:nvGrpSpPr>
      <p:grpSpPr>
        <a:xfrm>
          <a:off x="0" y="0"/>
          <a:ext cx="0" cy="0"/>
          <a:chOff x="0" y="0"/>
          <a:chExt cx="0" cy="0"/>
        </a:xfrm>
      </p:grpSpPr>
      <p:sp>
        <p:nvSpPr>
          <p:cNvPr id="586" name="Google Shape;586;p76"/>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7" name="Google Shape;587;p76"/>
          <p:cNvSpPr/>
          <p:nvPr/>
        </p:nvSpPr>
        <p:spPr>
          <a:xfrm>
            <a:off x="0" y="223"/>
            <a:ext cx="9143999" cy="10287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8" name="Google Shape;588;p76"/>
          <p:cNvSpPr/>
          <p:nvPr/>
        </p:nvSpPr>
        <p:spPr>
          <a:xfrm>
            <a:off x="4401357" y="0"/>
            <a:ext cx="4742642" cy="59994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9" name="Google Shape;589;p76"/>
          <p:cNvSpPr/>
          <p:nvPr/>
        </p:nvSpPr>
        <p:spPr>
          <a:xfrm>
            <a:off x="-828" y="0"/>
            <a:ext cx="9145590" cy="10205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0" name="Google Shape;590;p76"/>
          <p:cNvSpPr txBox="1">
            <a:spLocks noGrp="1"/>
          </p:cNvSpPr>
          <p:nvPr>
            <p:ph type="title"/>
          </p:nvPr>
        </p:nvSpPr>
        <p:spPr>
          <a:xfrm>
            <a:off x="444500" y="712978"/>
            <a:ext cx="3562350" cy="71120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500"/>
              <a:buFont typeface="Calibri"/>
              <a:buNone/>
            </a:pPr>
            <a:r>
              <a:rPr lang="en-US" sz="4500">
                <a:latin typeface="Calibri"/>
                <a:ea typeface="Calibri"/>
                <a:cs typeface="Calibri"/>
                <a:sym typeface="Calibri"/>
              </a:rPr>
              <a:t>Soil protection:</a:t>
            </a:r>
            <a:endParaRPr sz="4500">
              <a:latin typeface="Calibri"/>
              <a:ea typeface="Calibri"/>
              <a:cs typeface="Calibri"/>
              <a:sym typeface="Calibri"/>
            </a:endParaRPr>
          </a:p>
        </p:txBody>
      </p:sp>
      <p:sp>
        <p:nvSpPr>
          <p:cNvPr id="591" name="Google Shape;591;p76"/>
          <p:cNvSpPr txBox="1"/>
          <p:nvPr/>
        </p:nvSpPr>
        <p:spPr>
          <a:xfrm>
            <a:off x="535940" y="1869160"/>
            <a:ext cx="7592695" cy="4067810"/>
          </a:xfrm>
          <a:prstGeom prst="rect">
            <a:avLst/>
          </a:prstGeom>
          <a:noFill/>
          <a:ln>
            <a:noFill/>
          </a:ln>
        </p:spPr>
        <p:txBody>
          <a:bodyPr spcFirstLastPara="1" wrap="square" lIns="0" tIns="91425" rIns="0" bIns="0" anchor="t" anchorCtr="0">
            <a:spAutoFit/>
          </a:bodyPr>
          <a:lstStyle/>
          <a:p>
            <a:pPr marL="527685" marR="0" lvl="0" indent="-515619" algn="l" rtl="0">
              <a:lnSpc>
                <a:spcPct val="100000"/>
              </a:lnSpc>
              <a:spcBef>
                <a:spcPts val="0"/>
              </a:spcBef>
              <a:spcAft>
                <a:spcPts val="0"/>
              </a:spcAft>
              <a:buClr>
                <a:srgbClr val="0AD0D9"/>
              </a:buClr>
              <a:buSzPts val="2450"/>
              <a:buFont typeface="Constantia"/>
              <a:buAutoNum type="arabicPeriod"/>
            </a:pPr>
            <a:r>
              <a:rPr lang="en-US" sz="2600">
                <a:solidFill>
                  <a:schemeClr val="dk1"/>
                </a:solidFill>
                <a:latin typeface="Constantia"/>
                <a:ea typeface="Constantia"/>
                <a:cs typeface="Constantia"/>
                <a:sym typeface="Constantia"/>
              </a:rPr>
              <a:t>Avoid Soil erosion.</a:t>
            </a:r>
            <a:endParaRPr sz="2600">
              <a:solidFill>
                <a:schemeClr val="dk1"/>
              </a:solidFill>
              <a:latin typeface="Constantia"/>
              <a:ea typeface="Constantia"/>
              <a:cs typeface="Constantia"/>
              <a:sym typeface="Constantia"/>
            </a:endParaRPr>
          </a:p>
          <a:p>
            <a:pPr marL="527685" marR="0" lvl="0" indent="-515619" algn="l" rtl="0">
              <a:lnSpc>
                <a:spcPct val="100000"/>
              </a:lnSpc>
              <a:spcBef>
                <a:spcPts val="625"/>
              </a:spcBef>
              <a:spcAft>
                <a:spcPts val="0"/>
              </a:spcAft>
              <a:buClr>
                <a:srgbClr val="0AD0D9"/>
              </a:buClr>
              <a:buSzPts val="2450"/>
              <a:buFont typeface="Constantia"/>
              <a:buAutoNum type="arabicPeriod"/>
            </a:pPr>
            <a:r>
              <a:rPr lang="en-US" sz="2600">
                <a:solidFill>
                  <a:schemeClr val="dk1"/>
                </a:solidFill>
                <a:latin typeface="Constantia"/>
                <a:ea typeface="Constantia"/>
                <a:cs typeface="Constantia"/>
                <a:sym typeface="Constantia"/>
              </a:rPr>
              <a:t>Avoid Water congestion.</a:t>
            </a:r>
            <a:endParaRPr sz="2600">
              <a:solidFill>
                <a:schemeClr val="dk1"/>
              </a:solidFill>
              <a:latin typeface="Constantia"/>
              <a:ea typeface="Constantia"/>
              <a:cs typeface="Constantia"/>
              <a:sym typeface="Constantia"/>
            </a:endParaRPr>
          </a:p>
          <a:p>
            <a:pPr marL="527685" marR="502284" lvl="0" indent="-515619" algn="l" rtl="0">
              <a:lnSpc>
                <a:spcPct val="100000"/>
              </a:lnSpc>
              <a:spcBef>
                <a:spcPts val="625"/>
              </a:spcBef>
              <a:spcAft>
                <a:spcPts val="0"/>
              </a:spcAft>
              <a:buClr>
                <a:srgbClr val="0AD0D9"/>
              </a:buClr>
              <a:buSzPts val="2450"/>
              <a:buFont typeface="Constantia"/>
              <a:buAutoNum type="arabicPeriod"/>
            </a:pPr>
            <a:r>
              <a:rPr lang="en-US" sz="2600">
                <a:solidFill>
                  <a:schemeClr val="dk1"/>
                </a:solidFill>
                <a:latin typeface="Constantia"/>
                <a:ea typeface="Constantia"/>
                <a:cs typeface="Constantia"/>
                <a:sym typeface="Constantia"/>
              </a:rPr>
              <a:t>Water slop on the slope has to be controlled to  minimum speed.</a:t>
            </a:r>
            <a:endParaRPr/>
          </a:p>
          <a:p>
            <a:pPr marL="527685" marR="220979" lvl="0" indent="-515619" algn="l" rtl="0">
              <a:lnSpc>
                <a:spcPct val="100000"/>
              </a:lnSpc>
              <a:spcBef>
                <a:spcPts val="625"/>
              </a:spcBef>
              <a:spcAft>
                <a:spcPts val="0"/>
              </a:spcAft>
              <a:buClr>
                <a:srgbClr val="0AD0D9"/>
              </a:buClr>
              <a:buSzPts val="2450"/>
              <a:buFont typeface="Constantia"/>
              <a:buAutoNum type="arabicPeriod"/>
            </a:pPr>
            <a:r>
              <a:rPr lang="en-US" sz="2600">
                <a:solidFill>
                  <a:schemeClr val="dk1"/>
                </a:solidFill>
                <a:latin typeface="Constantia"/>
                <a:ea typeface="Constantia"/>
                <a:cs typeface="Constantia"/>
                <a:sym typeface="Constantia"/>
              </a:rPr>
              <a:t>Water should be absorbed in the soil with a slow  speed.</a:t>
            </a:r>
            <a:endParaRPr/>
          </a:p>
          <a:p>
            <a:pPr marL="527685" marR="0" lvl="0" indent="-515619" algn="l" rtl="0">
              <a:lnSpc>
                <a:spcPct val="100000"/>
              </a:lnSpc>
              <a:spcBef>
                <a:spcPts val="625"/>
              </a:spcBef>
              <a:spcAft>
                <a:spcPts val="0"/>
              </a:spcAft>
              <a:buClr>
                <a:srgbClr val="0AD0D9"/>
              </a:buClr>
              <a:buSzPts val="2450"/>
              <a:buFont typeface="Constantia"/>
              <a:buAutoNum type="arabicPeriod"/>
            </a:pPr>
            <a:r>
              <a:rPr lang="en-US" sz="2600">
                <a:solidFill>
                  <a:schemeClr val="dk1"/>
                </a:solidFill>
                <a:latin typeface="Constantia"/>
                <a:ea typeface="Constantia"/>
                <a:cs typeface="Constantia"/>
                <a:sym typeface="Constantia"/>
              </a:rPr>
              <a:t>Control the wind velocity by growing more trees.</a:t>
            </a:r>
            <a:endParaRPr sz="2600">
              <a:solidFill>
                <a:schemeClr val="dk1"/>
              </a:solidFill>
              <a:latin typeface="Constantia"/>
              <a:ea typeface="Constantia"/>
              <a:cs typeface="Constantia"/>
              <a:sym typeface="Constantia"/>
            </a:endParaRPr>
          </a:p>
          <a:p>
            <a:pPr marL="527685" marR="5080" lvl="0" indent="-515619" algn="l" rtl="0">
              <a:lnSpc>
                <a:spcPct val="100000"/>
              </a:lnSpc>
              <a:spcBef>
                <a:spcPts val="625"/>
              </a:spcBef>
              <a:spcAft>
                <a:spcPts val="0"/>
              </a:spcAft>
              <a:buClr>
                <a:srgbClr val="0AD0D9"/>
              </a:buClr>
              <a:buSzPts val="2450"/>
              <a:buFont typeface="Constantia"/>
              <a:buAutoNum type="arabicPeriod"/>
            </a:pPr>
            <a:r>
              <a:rPr lang="en-US" sz="2600">
                <a:solidFill>
                  <a:schemeClr val="dk1"/>
                </a:solidFill>
                <a:latin typeface="Constantia"/>
                <a:ea typeface="Constantia"/>
                <a:cs typeface="Constantia"/>
                <a:sym typeface="Constantia"/>
              </a:rPr>
              <a:t>Construct the drain of such a breadth that the soil  particles may be kept to stick one another.</a:t>
            </a:r>
            <a:endParaRPr sz="2600">
              <a:solidFill>
                <a:schemeClr val="dk1"/>
              </a:solidFill>
              <a:latin typeface="Constantia"/>
              <a:ea typeface="Constantia"/>
              <a:cs typeface="Constantia"/>
              <a:sym typeface="Constanti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595"/>
        <p:cNvGrpSpPr/>
        <p:nvPr/>
      </p:nvGrpSpPr>
      <p:grpSpPr>
        <a:xfrm>
          <a:off x="0" y="0"/>
          <a:ext cx="0" cy="0"/>
          <a:chOff x="0" y="0"/>
          <a:chExt cx="0" cy="0"/>
        </a:xfrm>
      </p:grpSpPr>
      <p:sp>
        <p:nvSpPr>
          <p:cNvPr id="596" name="Google Shape;596;p77"/>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7" name="Google Shape;597;p77"/>
          <p:cNvSpPr/>
          <p:nvPr/>
        </p:nvSpPr>
        <p:spPr>
          <a:xfrm>
            <a:off x="0" y="223"/>
            <a:ext cx="9143999" cy="10287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8" name="Google Shape;598;p77"/>
          <p:cNvSpPr/>
          <p:nvPr/>
        </p:nvSpPr>
        <p:spPr>
          <a:xfrm>
            <a:off x="4401357" y="0"/>
            <a:ext cx="4742642" cy="59994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9" name="Google Shape;599;p77"/>
          <p:cNvSpPr/>
          <p:nvPr/>
        </p:nvSpPr>
        <p:spPr>
          <a:xfrm>
            <a:off x="-828" y="0"/>
            <a:ext cx="9145590" cy="10205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00" name="Google Shape;600;p77"/>
          <p:cNvSpPr txBox="1">
            <a:spLocks noGrp="1"/>
          </p:cNvSpPr>
          <p:nvPr>
            <p:ph type="title"/>
          </p:nvPr>
        </p:nvSpPr>
        <p:spPr>
          <a:xfrm>
            <a:off x="3344417" y="3113354"/>
            <a:ext cx="2455545" cy="51435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rgbClr val="000000"/>
              </a:buClr>
              <a:buSzPts val="4400"/>
              <a:buFont typeface="Constantia"/>
              <a:buNone/>
            </a:pPr>
            <a:r>
              <a:rPr lang="en-US" b="1">
                <a:solidFill>
                  <a:srgbClr val="000000"/>
                </a:solidFill>
                <a:latin typeface="Constantia"/>
                <a:ea typeface="Constantia"/>
                <a:cs typeface="Constantia"/>
                <a:sym typeface="Constantia"/>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3573</Words>
  <Application>Microsoft Office PowerPoint</Application>
  <PresentationFormat>On-screen Show (4:3)</PresentationFormat>
  <Paragraphs>557</Paragraphs>
  <Slides>60</Slides>
  <Notes>60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Calibri</vt:lpstr>
      <vt:lpstr>Arial</vt:lpstr>
      <vt:lpstr>Constantia</vt:lpstr>
      <vt:lpstr>Noto Sans Symbols</vt:lpstr>
      <vt:lpstr>Times New Roman</vt:lpstr>
      <vt:lpstr>Office Theme</vt:lpstr>
      <vt:lpstr>PowerPoint Presentation</vt:lpstr>
      <vt:lpstr>What is Natural Resource?</vt:lpstr>
      <vt:lpstr>Classification of Natural Resources</vt:lpstr>
      <vt:lpstr>4. Based on Source:</vt:lpstr>
      <vt:lpstr>Forests</vt:lpstr>
      <vt:lpstr>Classification of Indian Forests</vt:lpstr>
      <vt:lpstr>Tropical Forests</vt:lpstr>
      <vt:lpstr>Temperate deciduous Forests</vt:lpstr>
      <vt:lpstr>Coniferous Forests</vt:lpstr>
      <vt:lpstr>PowerPoint Presentation</vt:lpstr>
      <vt:lpstr>Importance of Forests</vt:lpstr>
      <vt:lpstr>Importance of Forest</vt:lpstr>
      <vt:lpstr>Importance of Forest</vt:lpstr>
      <vt:lpstr>Deforestation</vt:lpstr>
      <vt:lpstr>Causes</vt:lpstr>
      <vt:lpstr>Threats associated with Deforestation:</vt:lpstr>
      <vt:lpstr>Effects</vt:lpstr>
      <vt:lpstr>Need and measures of Forest Conservation</vt:lpstr>
      <vt:lpstr> Water</vt:lpstr>
      <vt:lpstr>Sources of Water: (Water sheds)</vt:lpstr>
      <vt:lpstr>Types of Wells:</vt:lpstr>
      <vt:lpstr>3. Tube Wells:</vt:lpstr>
      <vt:lpstr>PowerPoint Presentation</vt:lpstr>
      <vt:lpstr>Dams and its Social and Environmental Impacts:</vt:lpstr>
      <vt:lpstr>Problems Caused by Dams:</vt:lpstr>
      <vt:lpstr>Impact of Over Utilization of Water:</vt:lpstr>
      <vt:lpstr>Recharging and Conservation of Water:</vt:lpstr>
      <vt:lpstr>MINERALS</vt:lpstr>
      <vt:lpstr>Classification of Minerals:</vt:lpstr>
      <vt:lpstr>Mineral Resources of India</vt:lpstr>
      <vt:lpstr>Exploitation of Minerals:</vt:lpstr>
      <vt:lpstr>Impact of Mines and Minerals on  Environment</vt:lpstr>
      <vt:lpstr>Conservation of Minerals</vt:lpstr>
      <vt:lpstr>FOOD</vt:lpstr>
      <vt:lpstr>Functions of Food</vt:lpstr>
      <vt:lpstr>Components of Food and their Functions</vt:lpstr>
      <vt:lpstr>PowerPoint Presentation</vt:lpstr>
      <vt:lpstr>Modern Agriculture</vt:lpstr>
      <vt:lpstr>Effects of Modern Agriculture</vt:lpstr>
      <vt:lpstr>FERTILIZERS</vt:lpstr>
      <vt:lpstr>Chemical Fertilizers</vt:lpstr>
      <vt:lpstr>Biological Fertilizers</vt:lpstr>
      <vt:lpstr>Forms of Manures</vt:lpstr>
      <vt:lpstr>Manures v/s Bio Fertilizers</vt:lpstr>
      <vt:lpstr>Drip irrigation</vt:lpstr>
      <vt:lpstr>Advantages of drip Irrigation</vt:lpstr>
      <vt:lpstr>Disadvantages of Drip Irrigation</vt:lpstr>
      <vt:lpstr>Pesticides:</vt:lpstr>
      <vt:lpstr>PowerPoint Presentation</vt:lpstr>
      <vt:lpstr>Benefits of pesticides</vt:lpstr>
      <vt:lpstr>Disadvantages of Pesticides;</vt:lpstr>
      <vt:lpstr>Land</vt:lpstr>
      <vt:lpstr>Land slides</vt:lpstr>
      <vt:lpstr>Causes</vt:lpstr>
      <vt:lpstr>Effects</vt:lpstr>
      <vt:lpstr>Various Causes of Soil Erosion </vt:lpstr>
      <vt:lpstr>Effects of Soil Erosion </vt:lpstr>
      <vt:lpstr>Preventive Measures </vt:lpstr>
      <vt:lpstr>Soil protection: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KANCHI</cp:lastModifiedBy>
  <cp:revision>4</cp:revision>
  <dcterms:modified xsi:type="dcterms:W3CDTF">2021-05-20T09:37:29Z</dcterms:modified>
</cp:coreProperties>
</file>