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96" r:id="rId24"/>
    <p:sldId id="297" r:id="rId25"/>
    <p:sldId id="298" r:id="rId26"/>
    <p:sldId id="299" r:id="rId27"/>
    <p:sldId id="300" r:id="rId28"/>
    <p:sldId id="301" r:id="rId29"/>
    <p:sldId id="303" r:id="rId30"/>
    <p:sldId id="304" r:id="rId31"/>
    <p:sldId id="306" r:id="rId32"/>
    <p:sldId id="307" r:id="rId33"/>
    <p:sldId id="308" r:id="rId34"/>
    <p:sldId id="314" r:id="rId35"/>
    <p:sldId id="315" r:id="rId3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342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Schoolbook Uralic"/>
                <a:cs typeface="Schoolbook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63761" y="761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56447" y="571500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274320" y="0"/>
                </a:moveTo>
                <a:lnTo>
                  <a:pt x="225008" y="4419"/>
                </a:lnTo>
                <a:lnTo>
                  <a:pt x="178597" y="17162"/>
                </a:lnTo>
                <a:lnTo>
                  <a:pt x="135861" y="37453"/>
                </a:lnTo>
                <a:lnTo>
                  <a:pt x="97575" y="64518"/>
                </a:lnTo>
                <a:lnTo>
                  <a:pt x="64513" y="97580"/>
                </a:lnTo>
                <a:lnTo>
                  <a:pt x="37450" y="135867"/>
                </a:lnTo>
                <a:lnTo>
                  <a:pt x="17161" y="178602"/>
                </a:lnTo>
                <a:lnTo>
                  <a:pt x="4419" y="225011"/>
                </a:lnTo>
                <a:lnTo>
                  <a:pt x="0" y="274319"/>
                </a:lnTo>
                <a:lnTo>
                  <a:pt x="4419" y="323628"/>
                </a:lnTo>
                <a:lnTo>
                  <a:pt x="17161" y="370037"/>
                </a:lnTo>
                <a:lnTo>
                  <a:pt x="37450" y="412772"/>
                </a:lnTo>
                <a:lnTo>
                  <a:pt x="64513" y="451059"/>
                </a:lnTo>
                <a:lnTo>
                  <a:pt x="97575" y="484121"/>
                </a:lnTo>
                <a:lnTo>
                  <a:pt x="135861" y="511186"/>
                </a:lnTo>
                <a:lnTo>
                  <a:pt x="178597" y="531477"/>
                </a:lnTo>
                <a:lnTo>
                  <a:pt x="225008" y="544220"/>
                </a:lnTo>
                <a:lnTo>
                  <a:pt x="274320" y="548640"/>
                </a:lnTo>
                <a:lnTo>
                  <a:pt x="323631" y="544220"/>
                </a:lnTo>
                <a:lnTo>
                  <a:pt x="370042" y="531477"/>
                </a:lnTo>
                <a:lnTo>
                  <a:pt x="412778" y="511186"/>
                </a:lnTo>
                <a:lnTo>
                  <a:pt x="451064" y="484121"/>
                </a:lnTo>
                <a:lnTo>
                  <a:pt x="484126" y="451059"/>
                </a:lnTo>
                <a:lnTo>
                  <a:pt x="511189" y="412772"/>
                </a:lnTo>
                <a:lnTo>
                  <a:pt x="531478" y="370037"/>
                </a:lnTo>
                <a:lnTo>
                  <a:pt x="544220" y="323628"/>
                </a:lnTo>
                <a:lnTo>
                  <a:pt x="548640" y="274319"/>
                </a:lnTo>
                <a:lnTo>
                  <a:pt x="544220" y="225011"/>
                </a:lnTo>
                <a:lnTo>
                  <a:pt x="531478" y="178602"/>
                </a:lnTo>
                <a:lnTo>
                  <a:pt x="511189" y="135867"/>
                </a:lnTo>
                <a:lnTo>
                  <a:pt x="484126" y="97580"/>
                </a:lnTo>
                <a:lnTo>
                  <a:pt x="451064" y="64518"/>
                </a:lnTo>
                <a:lnTo>
                  <a:pt x="412778" y="37453"/>
                </a:lnTo>
                <a:lnTo>
                  <a:pt x="370042" y="17162"/>
                </a:lnTo>
                <a:lnTo>
                  <a:pt x="323631" y="4419"/>
                </a:lnTo>
                <a:lnTo>
                  <a:pt x="27432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7231" y="0"/>
            <a:ext cx="58419" cy="6858000"/>
          </a:xfrm>
          <a:custGeom>
            <a:avLst/>
            <a:gdLst/>
            <a:ahLst/>
            <a:cxnLst/>
            <a:rect l="l" t="t" r="r" b="b"/>
            <a:pathLst>
              <a:path w="58419" h="6858000">
                <a:moveTo>
                  <a:pt x="11595" y="0"/>
                </a:moveTo>
                <a:lnTo>
                  <a:pt x="0" y="0"/>
                </a:lnTo>
                <a:lnTo>
                  <a:pt x="12" y="6858000"/>
                </a:lnTo>
                <a:lnTo>
                  <a:pt x="11595" y="6858000"/>
                </a:lnTo>
                <a:lnTo>
                  <a:pt x="11595" y="0"/>
                </a:lnTo>
                <a:close/>
              </a:path>
              <a:path w="58419" h="6858000">
                <a:moveTo>
                  <a:pt x="57924" y="0"/>
                </a:moveTo>
                <a:lnTo>
                  <a:pt x="23177" y="0"/>
                </a:lnTo>
                <a:lnTo>
                  <a:pt x="23177" y="6858000"/>
                </a:lnTo>
                <a:lnTo>
                  <a:pt x="57924" y="6858000"/>
                </a:lnTo>
                <a:lnTo>
                  <a:pt x="57924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839200" y="0"/>
            <a:ext cx="304800" cy="6858000"/>
          </a:xfrm>
          <a:custGeom>
            <a:avLst/>
            <a:gdLst/>
            <a:ahLst/>
            <a:cxnLst/>
            <a:rect l="l" t="t" r="r" b="b"/>
            <a:pathLst>
              <a:path w="304800" h="6858000">
                <a:moveTo>
                  <a:pt x="304800" y="0"/>
                </a:moveTo>
                <a:lnTo>
                  <a:pt x="0" y="0"/>
                </a:lnTo>
                <a:lnTo>
                  <a:pt x="0" y="6858000"/>
                </a:lnTo>
                <a:lnTo>
                  <a:pt x="304800" y="6858000"/>
                </a:lnTo>
                <a:lnTo>
                  <a:pt x="304800" y="0"/>
                </a:lnTo>
                <a:close/>
              </a:path>
            </a:pathLst>
          </a:custGeom>
          <a:solidFill>
            <a:srgbClr val="FDC3AD">
              <a:alpha val="8705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154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144">
            <a:solidFill>
              <a:srgbClr val="FD85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189317" y="782509"/>
            <a:ext cx="2209103" cy="10347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Schoolbook Uralic"/>
                <a:cs typeface="Schoolbook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Schoolbook Uralic"/>
                <a:cs typeface="Schoolbook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63761" y="761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56447" y="571500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274320" y="0"/>
                </a:moveTo>
                <a:lnTo>
                  <a:pt x="225008" y="4419"/>
                </a:lnTo>
                <a:lnTo>
                  <a:pt x="178597" y="17162"/>
                </a:lnTo>
                <a:lnTo>
                  <a:pt x="135861" y="37453"/>
                </a:lnTo>
                <a:lnTo>
                  <a:pt x="97575" y="64518"/>
                </a:lnTo>
                <a:lnTo>
                  <a:pt x="64513" y="97580"/>
                </a:lnTo>
                <a:lnTo>
                  <a:pt x="37450" y="135867"/>
                </a:lnTo>
                <a:lnTo>
                  <a:pt x="17161" y="178602"/>
                </a:lnTo>
                <a:lnTo>
                  <a:pt x="4419" y="225011"/>
                </a:lnTo>
                <a:lnTo>
                  <a:pt x="0" y="274319"/>
                </a:lnTo>
                <a:lnTo>
                  <a:pt x="4419" y="323628"/>
                </a:lnTo>
                <a:lnTo>
                  <a:pt x="17161" y="370037"/>
                </a:lnTo>
                <a:lnTo>
                  <a:pt x="37450" y="412772"/>
                </a:lnTo>
                <a:lnTo>
                  <a:pt x="64513" y="451059"/>
                </a:lnTo>
                <a:lnTo>
                  <a:pt x="97575" y="484121"/>
                </a:lnTo>
                <a:lnTo>
                  <a:pt x="135861" y="511186"/>
                </a:lnTo>
                <a:lnTo>
                  <a:pt x="178597" y="531477"/>
                </a:lnTo>
                <a:lnTo>
                  <a:pt x="225008" y="544220"/>
                </a:lnTo>
                <a:lnTo>
                  <a:pt x="274320" y="548640"/>
                </a:lnTo>
                <a:lnTo>
                  <a:pt x="323631" y="544220"/>
                </a:lnTo>
                <a:lnTo>
                  <a:pt x="370042" y="531477"/>
                </a:lnTo>
                <a:lnTo>
                  <a:pt x="412778" y="511186"/>
                </a:lnTo>
                <a:lnTo>
                  <a:pt x="451064" y="484121"/>
                </a:lnTo>
                <a:lnTo>
                  <a:pt x="484126" y="451059"/>
                </a:lnTo>
                <a:lnTo>
                  <a:pt x="511189" y="412772"/>
                </a:lnTo>
                <a:lnTo>
                  <a:pt x="531478" y="370037"/>
                </a:lnTo>
                <a:lnTo>
                  <a:pt x="544220" y="323628"/>
                </a:lnTo>
                <a:lnTo>
                  <a:pt x="548640" y="274319"/>
                </a:lnTo>
                <a:lnTo>
                  <a:pt x="544220" y="225011"/>
                </a:lnTo>
                <a:lnTo>
                  <a:pt x="531478" y="178602"/>
                </a:lnTo>
                <a:lnTo>
                  <a:pt x="511189" y="135867"/>
                </a:lnTo>
                <a:lnTo>
                  <a:pt x="484126" y="97580"/>
                </a:lnTo>
                <a:lnTo>
                  <a:pt x="451064" y="64518"/>
                </a:lnTo>
                <a:lnTo>
                  <a:pt x="412778" y="37453"/>
                </a:lnTo>
                <a:lnTo>
                  <a:pt x="370042" y="17162"/>
                </a:lnTo>
                <a:lnTo>
                  <a:pt x="323631" y="4419"/>
                </a:lnTo>
                <a:lnTo>
                  <a:pt x="27432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7231" y="0"/>
            <a:ext cx="58419" cy="6858000"/>
          </a:xfrm>
          <a:custGeom>
            <a:avLst/>
            <a:gdLst/>
            <a:ahLst/>
            <a:cxnLst/>
            <a:rect l="l" t="t" r="r" b="b"/>
            <a:pathLst>
              <a:path w="58419" h="6858000">
                <a:moveTo>
                  <a:pt x="11595" y="0"/>
                </a:moveTo>
                <a:lnTo>
                  <a:pt x="0" y="0"/>
                </a:lnTo>
                <a:lnTo>
                  <a:pt x="12" y="6858000"/>
                </a:lnTo>
                <a:lnTo>
                  <a:pt x="11595" y="6858000"/>
                </a:lnTo>
                <a:lnTo>
                  <a:pt x="11595" y="0"/>
                </a:lnTo>
                <a:close/>
              </a:path>
              <a:path w="58419" h="6858000">
                <a:moveTo>
                  <a:pt x="57924" y="0"/>
                </a:moveTo>
                <a:lnTo>
                  <a:pt x="23177" y="0"/>
                </a:lnTo>
                <a:lnTo>
                  <a:pt x="23177" y="6858000"/>
                </a:lnTo>
                <a:lnTo>
                  <a:pt x="57924" y="6858000"/>
                </a:lnTo>
                <a:lnTo>
                  <a:pt x="57924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839200" y="0"/>
            <a:ext cx="304800" cy="6858000"/>
          </a:xfrm>
          <a:custGeom>
            <a:avLst/>
            <a:gdLst/>
            <a:ahLst/>
            <a:cxnLst/>
            <a:rect l="l" t="t" r="r" b="b"/>
            <a:pathLst>
              <a:path w="304800" h="6858000">
                <a:moveTo>
                  <a:pt x="304800" y="0"/>
                </a:moveTo>
                <a:lnTo>
                  <a:pt x="0" y="0"/>
                </a:lnTo>
                <a:lnTo>
                  <a:pt x="0" y="6858000"/>
                </a:lnTo>
                <a:lnTo>
                  <a:pt x="304800" y="6858000"/>
                </a:lnTo>
                <a:lnTo>
                  <a:pt x="304800" y="0"/>
                </a:lnTo>
                <a:close/>
              </a:path>
            </a:pathLst>
          </a:custGeom>
          <a:solidFill>
            <a:srgbClr val="FDC3AD">
              <a:alpha val="8705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154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144">
            <a:solidFill>
              <a:srgbClr val="FD85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4540" y="409143"/>
            <a:ext cx="3940810" cy="39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Schoolbook Uralic"/>
                <a:cs typeface="Schoolbook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671574"/>
            <a:ext cx="8072119" cy="4118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jpg"/><Relationship Id="rId7" Type="http://schemas.openxmlformats.org/officeDocument/2006/relationships/image" Target="../media/image18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1143000" y="0"/>
              <a:ext cx="6858000" cy="685799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060448" y="5768340"/>
              <a:ext cx="5419344" cy="8214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685799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8839200" cy="6858000"/>
          </a:xfrm>
          <a:custGeom>
            <a:avLst/>
            <a:gdLst/>
            <a:ahLst/>
            <a:cxnLst/>
            <a:rect l="l" t="t" r="r" b="b"/>
            <a:pathLst>
              <a:path w="8839200" h="6858000">
                <a:moveTo>
                  <a:pt x="0" y="6858000"/>
                </a:moveTo>
                <a:lnTo>
                  <a:pt x="8839200" y="6858000"/>
                </a:lnTo>
                <a:lnTo>
                  <a:pt x="88392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763761" y="761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8839200" y="0"/>
            <a:ext cx="304800" cy="6858000"/>
            <a:chOff x="8839200" y="0"/>
            <a:chExt cx="304800" cy="6858000"/>
          </a:xfrm>
        </p:grpSpPr>
        <p:sp>
          <p:nvSpPr>
            <p:cNvPr id="5" name="object 5"/>
            <p:cNvSpPr/>
            <p:nvPr/>
          </p:nvSpPr>
          <p:spPr>
            <a:xfrm>
              <a:off x="8839200" y="0"/>
              <a:ext cx="304800" cy="6858000"/>
            </a:xfrm>
            <a:custGeom>
              <a:avLst/>
              <a:gdLst/>
              <a:ahLst/>
              <a:cxnLst/>
              <a:rect l="l" t="t" r="r" b="b"/>
              <a:pathLst>
                <a:path w="304800" h="6858000">
                  <a:moveTo>
                    <a:pt x="3048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04800" y="68580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DC3AD">
                <a:alpha val="8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915400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9144">
              <a:solidFill>
                <a:srgbClr val="FD85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02692" y="0"/>
            <a:ext cx="8941435" cy="6858000"/>
            <a:chOff x="202692" y="0"/>
            <a:chExt cx="8941435" cy="6858000"/>
          </a:xfrm>
        </p:grpSpPr>
        <p:sp>
          <p:nvSpPr>
            <p:cNvPr id="8" name="object 8"/>
            <p:cNvSpPr/>
            <p:nvPr/>
          </p:nvSpPr>
          <p:spPr>
            <a:xfrm>
              <a:off x="8156448" y="571500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008" y="4419"/>
                  </a:lnTo>
                  <a:lnTo>
                    <a:pt x="178597" y="17162"/>
                  </a:lnTo>
                  <a:lnTo>
                    <a:pt x="135861" y="37453"/>
                  </a:lnTo>
                  <a:lnTo>
                    <a:pt x="97575" y="64518"/>
                  </a:lnTo>
                  <a:lnTo>
                    <a:pt x="64513" y="97580"/>
                  </a:lnTo>
                  <a:lnTo>
                    <a:pt x="37450" y="135867"/>
                  </a:lnTo>
                  <a:lnTo>
                    <a:pt x="17161" y="178602"/>
                  </a:lnTo>
                  <a:lnTo>
                    <a:pt x="4419" y="225011"/>
                  </a:lnTo>
                  <a:lnTo>
                    <a:pt x="0" y="274319"/>
                  </a:lnTo>
                  <a:lnTo>
                    <a:pt x="4419" y="323628"/>
                  </a:lnTo>
                  <a:lnTo>
                    <a:pt x="17161" y="370037"/>
                  </a:lnTo>
                  <a:lnTo>
                    <a:pt x="37450" y="412772"/>
                  </a:lnTo>
                  <a:lnTo>
                    <a:pt x="64513" y="451059"/>
                  </a:lnTo>
                  <a:lnTo>
                    <a:pt x="97575" y="484121"/>
                  </a:lnTo>
                  <a:lnTo>
                    <a:pt x="135861" y="511186"/>
                  </a:lnTo>
                  <a:lnTo>
                    <a:pt x="178597" y="531477"/>
                  </a:lnTo>
                  <a:lnTo>
                    <a:pt x="225008" y="544220"/>
                  </a:lnTo>
                  <a:lnTo>
                    <a:pt x="274320" y="548640"/>
                  </a:lnTo>
                  <a:lnTo>
                    <a:pt x="323631" y="544220"/>
                  </a:lnTo>
                  <a:lnTo>
                    <a:pt x="370042" y="531477"/>
                  </a:lnTo>
                  <a:lnTo>
                    <a:pt x="412778" y="511186"/>
                  </a:lnTo>
                  <a:lnTo>
                    <a:pt x="451064" y="484121"/>
                  </a:lnTo>
                  <a:lnTo>
                    <a:pt x="484126" y="451059"/>
                  </a:lnTo>
                  <a:lnTo>
                    <a:pt x="511189" y="412772"/>
                  </a:lnTo>
                  <a:lnTo>
                    <a:pt x="531478" y="370037"/>
                  </a:lnTo>
                  <a:lnTo>
                    <a:pt x="544220" y="323628"/>
                  </a:lnTo>
                  <a:lnTo>
                    <a:pt x="548640" y="274319"/>
                  </a:lnTo>
                  <a:lnTo>
                    <a:pt x="544220" y="225011"/>
                  </a:lnTo>
                  <a:lnTo>
                    <a:pt x="531478" y="178602"/>
                  </a:lnTo>
                  <a:lnTo>
                    <a:pt x="511189" y="135867"/>
                  </a:lnTo>
                  <a:lnTo>
                    <a:pt x="484126" y="97580"/>
                  </a:lnTo>
                  <a:lnTo>
                    <a:pt x="451064" y="64518"/>
                  </a:lnTo>
                  <a:lnTo>
                    <a:pt x="412778" y="37453"/>
                  </a:lnTo>
                  <a:lnTo>
                    <a:pt x="370042" y="17162"/>
                  </a:lnTo>
                  <a:lnTo>
                    <a:pt x="323631" y="4419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133599" y="0"/>
              <a:ext cx="7010399" cy="6857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7763" y="4466844"/>
              <a:ext cx="5152644" cy="89001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2692" y="5533644"/>
              <a:ext cx="6362700" cy="89001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63761" y="761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839200" y="0"/>
            <a:ext cx="304800" cy="6858000"/>
            <a:chOff x="8839200" y="0"/>
            <a:chExt cx="304800" cy="6858000"/>
          </a:xfrm>
        </p:grpSpPr>
        <p:sp>
          <p:nvSpPr>
            <p:cNvPr id="4" name="object 4"/>
            <p:cNvSpPr/>
            <p:nvPr/>
          </p:nvSpPr>
          <p:spPr>
            <a:xfrm>
              <a:off x="8839200" y="0"/>
              <a:ext cx="304800" cy="6858000"/>
            </a:xfrm>
            <a:custGeom>
              <a:avLst/>
              <a:gdLst/>
              <a:ahLst/>
              <a:cxnLst/>
              <a:rect l="l" t="t" r="r" b="b"/>
              <a:pathLst>
                <a:path w="304800" h="6858000">
                  <a:moveTo>
                    <a:pt x="3048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04800" y="68580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DC3AD">
                <a:alpha val="8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915400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9144">
              <a:solidFill>
                <a:srgbClr val="FD85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156447" y="571500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274320" y="0"/>
                </a:moveTo>
                <a:lnTo>
                  <a:pt x="225008" y="4419"/>
                </a:lnTo>
                <a:lnTo>
                  <a:pt x="178597" y="17162"/>
                </a:lnTo>
                <a:lnTo>
                  <a:pt x="135861" y="37453"/>
                </a:lnTo>
                <a:lnTo>
                  <a:pt x="97575" y="64518"/>
                </a:lnTo>
                <a:lnTo>
                  <a:pt x="64513" y="97580"/>
                </a:lnTo>
                <a:lnTo>
                  <a:pt x="37450" y="135867"/>
                </a:lnTo>
                <a:lnTo>
                  <a:pt x="17161" y="178602"/>
                </a:lnTo>
                <a:lnTo>
                  <a:pt x="4419" y="225011"/>
                </a:lnTo>
                <a:lnTo>
                  <a:pt x="0" y="274319"/>
                </a:lnTo>
                <a:lnTo>
                  <a:pt x="4419" y="323628"/>
                </a:lnTo>
                <a:lnTo>
                  <a:pt x="17161" y="370037"/>
                </a:lnTo>
                <a:lnTo>
                  <a:pt x="37450" y="412772"/>
                </a:lnTo>
                <a:lnTo>
                  <a:pt x="64513" y="451059"/>
                </a:lnTo>
                <a:lnTo>
                  <a:pt x="97575" y="484121"/>
                </a:lnTo>
                <a:lnTo>
                  <a:pt x="135861" y="511186"/>
                </a:lnTo>
                <a:lnTo>
                  <a:pt x="178597" y="531477"/>
                </a:lnTo>
                <a:lnTo>
                  <a:pt x="225008" y="544220"/>
                </a:lnTo>
                <a:lnTo>
                  <a:pt x="274320" y="548640"/>
                </a:lnTo>
                <a:lnTo>
                  <a:pt x="323631" y="544220"/>
                </a:lnTo>
                <a:lnTo>
                  <a:pt x="370042" y="531477"/>
                </a:lnTo>
                <a:lnTo>
                  <a:pt x="412778" y="511186"/>
                </a:lnTo>
                <a:lnTo>
                  <a:pt x="451064" y="484121"/>
                </a:lnTo>
                <a:lnTo>
                  <a:pt x="484126" y="451059"/>
                </a:lnTo>
                <a:lnTo>
                  <a:pt x="511189" y="412772"/>
                </a:lnTo>
                <a:lnTo>
                  <a:pt x="531478" y="370037"/>
                </a:lnTo>
                <a:lnTo>
                  <a:pt x="544220" y="323628"/>
                </a:lnTo>
                <a:lnTo>
                  <a:pt x="548640" y="274319"/>
                </a:lnTo>
                <a:lnTo>
                  <a:pt x="544220" y="225011"/>
                </a:lnTo>
                <a:lnTo>
                  <a:pt x="531478" y="178602"/>
                </a:lnTo>
                <a:lnTo>
                  <a:pt x="511189" y="135867"/>
                </a:lnTo>
                <a:lnTo>
                  <a:pt x="484126" y="97580"/>
                </a:lnTo>
                <a:lnTo>
                  <a:pt x="451064" y="64518"/>
                </a:lnTo>
                <a:lnTo>
                  <a:pt x="412778" y="37453"/>
                </a:lnTo>
                <a:lnTo>
                  <a:pt x="370042" y="17162"/>
                </a:lnTo>
                <a:lnTo>
                  <a:pt x="323631" y="4419"/>
                </a:lnTo>
                <a:lnTo>
                  <a:pt x="27432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0" y="0"/>
            <a:ext cx="5424170" cy="6858000"/>
            <a:chOff x="0" y="0"/>
            <a:chExt cx="5424170" cy="6858000"/>
          </a:xfrm>
        </p:grpSpPr>
        <p:sp>
          <p:nvSpPr>
            <p:cNvPr id="8" name="object 8"/>
            <p:cNvSpPr/>
            <p:nvPr/>
          </p:nvSpPr>
          <p:spPr>
            <a:xfrm>
              <a:off x="0" y="0"/>
              <a:ext cx="5417820" cy="685799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34561" y="6325361"/>
              <a:ext cx="1676400" cy="381000"/>
            </a:xfrm>
            <a:custGeom>
              <a:avLst/>
              <a:gdLst/>
              <a:ahLst/>
              <a:cxnLst/>
              <a:rect l="l" t="t" r="r" b="b"/>
              <a:pathLst>
                <a:path w="1676400" h="381000">
                  <a:moveTo>
                    <a:pt x="0" y="381000"/>
                  </a:moveTo>
                  <a:lnTo>
                    <a:pt x="1676400" y="381000"/>
                  </a:lnTo>
                  <a:lnTo>
                    <a:pt x="16764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489828" y="638302"/>
            <a:ext cx="3085465" cy="5146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C00000"/>
                </a:solidFill>
                <a:latin typeface="Schoolbook Uralic"/>
                <a:cs typeface="Schoolbook Uralic"/>
              </a:rPr>
              <a:t>GLOBAL</a:t>
            </a:r>
            <a:endParaRPr sz="2800">
              <a:latin typeface="Schoolbook Uralic"/>
              <a:cs typeface="Schoolbook Uralic"/>
            </a:endParaRPr>
          </a:p>
          <a:p>
            <a:pPr marL="12700" marR="5080">
              <a:lnSpc>
                <a:spcPct val="100000"/>
              </a:lnSpc>
            </a:pPr>
            <a:r>
              <a:rPr sz="2800" spc="-5" dirty="0">
                <a:solidFill>
                  <a:srgbClr val="C00000"/>
                </a:solidFill>
                <a:latin typeface="Schoolbook Uralic"/>
                <a:cs typeface="Schoolbook Uralic"/>
              </a:rPr>
              <a:t>WARMING </a:t>
            </a:r>
            <a:r>
              <a:rPr sz="2800" spc="-5" dirty="0">
                <a:latin typeface="Schoolbook Uralic"/>
                <a:cs typeface="Schoolbook Uralic"/>
              </a:rPr>
              <a:t>is </a:t>
            </a:r>
            <a:r>
              <a:rPr sz="2800" spc="-10" dirty="0">
                <a:latin typeface="Schoolbook Uralic"/>
                <a:cs typeface="Schoolbook Uralic"/>
              </a:rPr>
              <a:t>an  </a:t>
            </a:r>
            <a:r>
              <a:rPr sz="2800" spc="-5" dirty="0">
                <a:latin typeface="Schoolbook Uralic"/>
                <a:cs typeface="Schoolbook Uralic"/>
              </a:rPr>
              <a:t>increase in </a:t>
            </a:r>
            <a:r>
              <a:rPr sz="2800" spc="-10" dirty="0">
                <a:latin typeface="Schoolbook Uralic"/>
                <a:cs typeface="Schoolbook Uralic"/>
              </a:rPr>
              <a:t>the  </a:t>
            </a:r>
            <a:r>
              <a:rPr sz="2800" spc="-5" dirty="0">
                <a:latin typeface="Schoolbook Uralic"/>
                <a:cs typeface="Schoolbook Uralic"/>
              </a:rPr>
              <a:t>earth's </a:t>
            </a:r>
            <a:r>
              <a:rPr sz="2800" spc="-10" dirty="0">
                <a:latin typeface="Schoolbook Uralic"/>
                <a:cs typeface="Schoolbook Uralic"/>
              </a:rPr>
              <a:t>average  </a:t>
            </a:r>
            <a:r>
              <a:rPr sz="2800" spc="-5" dirty="0">
                <a:latin typeface="Schoolbook Uralic"/>
                <a:cs typeface="Schoolbook Uralic"/>
              </a:rPr>
              <a:t>atmospheric  temperature </a:t>
            </a:r>
            <a:r>
              <a:rPr sz="2800" spc="-10" dirty="0">
                <a:latin typeface="Schoolbook Uralic"/>
                <a:cs typeface="Schoolbook Uralic"/>
              </a:rPr>
              <a:t>that  </a:t>
            </a:r>
            <a:r>
              <a:rPr sz="2800" spc="-5" dirty="0">
                <a:latin typeface="Schoolbook Uralic"/>
                <a:cs typeface="Schoolbook Uralic"/>
              </a:rPr>
              <a:t>causes  corresponding  </a:t>
            </a:r>
            <a:r>
              <a:rPr sz="2800" spc="-10" dirty="0">
                <a:latin typeface="Schoolbook Uralic"/>
                <a:cs typeface="Schoolbook Uralic"/>
              </a:rPr>
              <a:t>changes </a:t>
            </a:r>
            <a:r>
              <a:rPr sz="2800" spc="-5" dirty="0">
                <a:latin typeface="Schoolbook Uralic"/>
                <a:cs typeface="Schoolbook Uralic"/>
              </a:rPr>
              <a:t>in climate  </a:t>
            </a:r>
            <a:r>
              <a:rPr sz="2800" spc="-10" dirty="0">
                <a:latin typeface="Schoolbook Uralic"/>
                <a:cs typeface="Schoolbook Uralic"/>
              </a:rPr>
              <a:t>and that may  </a:t>
            </a:r>
            <a:r>
              <a:rPr sz="2800" spc="-5" dirty="0">
                <a:latin typeface="Schoolbook Uralic"/>
                <a:cs typeface="Schoolbook Uralic"/>
              </a:rPr>
              <a:t>result from </a:t>
            </a:r>
            <a:r>
              <a:rPr sz="2800" spc="-10" dirty="0">
                <a:latin typeface="Schoolbook Uralic"/>
                <a:cs typeface="Schoolbook Uralic"/>
              </a:rPr>
              <a:t>the  greenhouse</a:t>
            </a:r>
            <a:r>
              <a:rPr sz="2800" spc="-5" dirty="0">
                <a:latin typeface="Schoolbook Uralic"/>
                <a:cs typeface="Schoolbook Uralic"/>
              </a:rPr>
              <a:t> effect.</a:t>
            </a:r>
            <a:endParaRPr sz="2800">
              <a:latin typeface="Schoolbook Uralic"/>
              <a:cs typeface="Schoolbook Ural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734561" y="6325361"/>
            <a:ext cx="1676400" cy="381000"/>
          </a:xfrm>
          <a:custGeom>
            <a:avLst/>
            <a:gdLst/>
            <a:ahLst/>
            <a:cxnLst/>
            <a:rect l="l" t="t" r="r" b="b"/>
            <a:pathLst>
              <a:path w="1676400" h="381000">
                <a:moveTo>
                  <a:pt x="1676400" y="0"/>
                </a:moveTo>
                <a:lnTo>
                  <a:pt x="0" y="0"/>
                </a:lnTo>
                <a:lnTo>
                  <a:pt x="0" y="381000"/>
                </a:lnTo>
                <a:lnTo>
                  <a:pt x="1676400" y="381000"/>
                </a:lnTo>
                <a:lnTo>
                  <a:pt x="1676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15000" y="685800"/>
            <a:ext cx="3048000" cy="4953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3540" y="1471930"/>
            <a:ext cx="5624830" cy="4599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marR="56515" indent="-240665">
              <a:lnSpc>
                <a:spcPct val="100000"/>
              </a:lnSpc>
              <a:spcBef>
                <a:spcPts val="105"/>
              </a:spcBef>
              <a:buClr>
                <a:srgbClr val="C00000"/>
              </a:buClr>
              <a:buSzPct val="95000"/>
              <a:buFont typeface="Wingdings"/>
              <a:buChar char="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A gradual increase in the overall </a:t>
            </a:r>
            <a:r>
              <a:rPr sz="2000" spc="-5" dirty="0">
                <a:latin typeface="Times New Roman"/>
                <a:cs typeface="Times New Roman"/>
              </a:rPr>
              <a:t>temperature </a:t>
            </a:r>
            <a:r>
              <a:rPr sz="2000" dirty="0">
                <a:latin typeface="Times New Roman"/>
                <a:cs typeface="Times New Roman"/>
              </a:rPr>
              <a:t>of the  earth's </a:t>
            </a:r>
            <a:r>
              <a:rPr sz="2000" spc="-5" dirty="0">
                <a:latin typeface="Times New Roman"/>
                <a:cs typeface="Times New Roman"/>
              </a:rPr>
              <a:t>atmosphere </a:t>
            </a:r>
            <a:r>
              <a:rPr sz="2000" dirty="0">
                <a:latin typeface="Times New Roman"/>
                <a:cs typeface="Times New Roman"/>
              </a:rPr>
              <a:t>generally </a:t>
            </a:r>
            <a:r>
              <a:rPr sz="2000" spc="-5" dirty="0">
                <a:latin typeface="Times New Roman"/>
                <a:cs typeface="Times New Roman"/>
              </a:rPr>
              <a:t>attributed </a:t>
            </a:r>
            <a:r>
              <a:rPr sz="2000" dirty="0">
                <a:latin typeface="Times New Roman"/>
                <a:cs typeface="Times New Roman"/>
              </a:rPr>
              <a:t>to the  greenhouse </a:t>
            </a:r>
            <a:r>
              <a:rPr sz="2000" spc="-5" dirty="0">
                <a:latin typeface="Times New Roman"/>
                <a:cs typeface="Times New Roman"/>
              </a:rPr>
              <a:t>effect </a:t>
            </a:r>
            <a:r>
              <a:rPr sz="2000" dirty="0">
                <a:latin typeface="Times New Roman"/>
                <a:cs typeface="Times New Roman"/>
              </a:rPr>
              <a:t>caused by increased </a:t>
            </a:r>
            <a:r>
              <a:rPr sz="2000" spc="-5" dirty="0">
                <a:latin typeface="Times New Roman"/>
                <a:cs typeface="Times New Roman"/>
              </a:rPr>
              <a:t>levels</a:t>
            </a:r>
            <a:r>
              <a:rPr sz="2000" spc="-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carbon  dioxide, </a:t>
            </a:r>
            <a:r>
              <a:rPr sz="2000" spc="-5" dirty="0">
                <a:latin typeface="Times New Roman"/>
                <a:cs typeface="Times New Roman"/>
              </a:rPr>
              <a:t>CFCs, </a:t>
            </a:r>
            <a:r>
              <a:rPr sz="2000" dirty="0">
                <a:latin typeface="Times New Roman"/>
                <a:cs typeface="Times New Roman"/>
              </a:rPr>
              <a:t>and other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pollutants.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C00000"/>
              </a:buClr>
              <a:buFont typeface="Wingdings"/>
              <a:buChar char=""/>
            </a:pPr>
            <a:endParaRPr sz="2050">
              <a:latin typeface="Times New Roman"/>
              <a:cs typeface="Times New Roman"/>
            </a:endParaRPr>
          </a:p>
          <a:p>
            <a:pPr marL="240665" marR="5080" indent="-240665">
              <a:lnSpc>
                <a:spcPct val="100000"/>
              </a:lnSpc>
              <a:spcBef>
                <a:spcPts val="5"/>
              </a:spcBef>
              <a:buClr>
                <a:srgbClr val="C00000"/>
              </a:buClr>
              <a:buSzPct val="95000"/>
              <a:buFont typeface="Wingdings"/>
              <a:buChar char="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Since the early 20th </a:t>
            </a:r>
            <a:r>
              <a:rPr sz="2000" spc="-20" dirty="0">
                <a:latin typeface="Times New Roman"/>
                <a:cs typeface="Times New Roman"/>
              </a:rPr>
              <a:t>century, </a:t>
            </a:r>
            <a:r>
              <a:rPr sz="2000" dirty="0">
                <a:latin typeface="Times New Roman"/>
                <a:cs typeface="Times New Roman"/>
              </a:rPr>
              <a:t>Earth's </a:t>
            </a:r>
            <a:r>
              <a:rPr sz="2000" spc="-5" dirty="0">
                <a:latin typeface="Times New Roman"/>
                <a:cs typeface="Times New Roman"/>
              </a:rPr>
              <a:t>mean </a:t>
            </a:r>
            <a:r>
              <a:rPr sz="2000" dirty="0">
                <a:latin typeface="Times New Roman"/>
                <a:cs typeface="Times New Roman"/>
              </a:rPr>
              <a:t>surface  </a:t>
            </a:r>
            <a:r>
              <a:rPr sz="2000" spc="-5" dirty="0">
                <a:latin typeface="Times New Roman"/>
                <a:cs typeface="Times New Roman"/>
              </a:rPr>
              <a:t>temperature </a:t>
            </a:r>
            <a:r>
              <a:rPr sz="2000" dirty="0">
                <a:latin typeface="Times New Roman"/>
                <a:cs typeface="Times New Roman"/>
              </a:rPr>
              <a:t>has increased by about 0.8 °C (1.4 °F),  with about two-thirds of the increase occurring</a:t>
            </a:r>
            <a:r>
              <a:rPr sz="2000" spc="-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since  </a:t>
            </a:r>
            <a:r>
              <a:rPr sz="2000" spc="5" dirty="0">
                <a:latin typeface="Times New Roman"/>
                <a:cs typeface="Times New Roman"/>
              </a:rPr>
              <a:t>1980.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C00000"/>
              </a:buClr>
              <a:buFont typeface="Wingdings"/>
              <a:buChar char=""/>
            </a:pPr>
            <a:endParaRPr sz="2050">
              <a:latin typeface="Times New Roman"/>
              <a:cs typeface="Times New Roman"/>
            </a:endParaRPr>
          </a:p>
          <a:p>
            <a:pPr marL="240665" marR="187325" indent="-240665">
              <a:lnSpc>
                <a:spcPct val="100000"/>
              </a:lnSpc>
              <a:spcBef>
                <a:spcPts val="5"/>
              </a:spcBef>
              <a:buClr>
                <a:srgbClr val="C00000"/>
              </a:buClr>
              <a:buSzPct val="95000"/>
              <a:buFont typeface="Wingdings"/>
              <a:buChar char=""/>
              <a:tabLst>
                <a:tab pos="240665" algn="l"/>
              </a:tabLst>
            </a:pPr>
            <a:r>
              <a:rPr sz="2000" spc="-25" dirty="0">
                <a:latin typeface="Times New Roman"/>
                <a:cs typeface="Times New Roman"/>
              </a:rPr>
              <a:t>Warming </a:t>
            </a:r>
            <a:r>
              <a:rPr sz="2000" dirty="0">
                <a:latin typeface="Times New Roman"/>
                <a:cs typeface="Times New Roman"/>
              </a:rPr>
              <a:t>of the </a:t>
            </a:r>
            <a:r>
              <a:rPr sz="2000" spc="-10" dirty="0">
                <a:latin typeface="Times New Roman"/>
                <a:cs typeface="Times New Roman"/>
              </a:rPr>
              <a:t>climate </a:t>
            </a:r>
            <a:r>
              <a:rPr sz="2000" dirty="0">
                <a:latin typeface="Times New Roman"/>
                <a:cs typeface="Times New Roman"/>
              </a:rPr>
              <a:t>system is unequivocal,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 </a:t>
            </a:r>
            <a:r>
              <a:rPr sz="2000" spc="-5" dirty="0">
                <a:latin typeface="Times New Roman"/>
                <a:cs typeface="Times New Roman"/>
              </a:rPr>
              <a:t>scientists </a:t>
            </a:r>
            <a:r>
              <a:rPr sz="2000" dirty="0">
                <a:latin typeface="Times New Roman"/>
                <a:cs typeface="Times New Roman"/>
              </a:rPr>
              <a:t>are </a:t>
            </a:r>
            <a:r>
              <a:rPr sz="2000" spc="5" dirty="0">
                <a:latin typeface="Times New Roman"/>
                <a:cs typeface="Times New Roman"/>
              </a:rPr>
              <a:t>95-100% </a:t>
            </a:r>
            <a:r>
              <a:rPr sz="2000" dirty="0">
                <a:latin typeface="Times New Roman"/>
                <a:cs typeface="Times New Roman"/>
              </a:rPr>
              <a:t>certain that it is </a:t>
            </a:r>
            <a:r>
              <a:rPr sz="2000" spc="-5" dirty="0">
                <a:latin typeface="Times New Roman"/>
                <a:cs typeface="Times New Roman"/>
              </a:rPr>
              <a:t>primarily  </a:t>
            </a:r>
            <a:r>
              <a:rPr sz="2000" dirty="0">
                <a:latin typeface="Times New Roman"/>
                <a:cs typeface="Times New Roman"/>
              </a:rPr>
              <a:t>caused by increasing concentrations of</a:t>
            </a:r>
            <a:r>
              <a:rPr sz="2000" spc="-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greenhouse  gases produced by </a:t>
            </a:r>
            <a:r>
              <a:rPr sz="2000" spc="-5" dirty="0">
                <a:latin typeface="Times New Roman"/>
                <a:cs typeface="Times New Roman"/>
              </a:rPr>
              <a:t>human activities </a:t>
            </a:r>
            <a:r>
              <a:rPr sz="2000" dirty="0">
                <a:latin typeface="Times New Roman"/>
                <a:cs typeface="Times New Roman"/>
              </a:rPr>
              <a:t>such as the  burning of fossil fuels and</a:t>
            </a:r>
            <a:r>
              <a:rPr sz="2000" spc="-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deforestation.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626608" y="5321808"/>
            <a:ext cx="3074035" cy="330835"/>
            <a:chOff x="5626608" y="5321808"/>
            <a:chExt cx="3074035" cy="330835"/>
          </a:xfrm>
        </p:grpSpPr>
        <p:sp>
          <p:nvSpPr>
            <p:cNvPr id="5" name="object 5"/>
            <p:cNvSpPr/>
            <p:nvPr/>
          </p:nvSpPr>
          <p:spPr>
            <a:xfrm>
              <a:off x="5639562" y="5334762"/>
              <a:ext cx="3048000" cy="304800"/>
            </a:xfrm>
            <a:custGeom>
              <a:avLst/>
              <a:gdLst/>
              <a:ahLst/>
              <a:cxnLst/>
              <a:rect l="l" t="t" r="r" b="b"/>
              <a:pathLst>
                <a:path w="3048000" h="304800">
                  <a:moveTo>
                    <a:pt x="3047999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7999" y="304800"/>
                  </a:lnTo>
                  <a:lnTo>
                    <a:pt x="30479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39562" y="5334762"/>
              <a:ext cx="3048000" cy="304800"/>
            </a:xfrm>
            <a:custGeom>
              <a:avLst/>
              <a:gdLst/>
              <a:ahLst/>
              <a:cxnLst/>
              <a:rect l="l" t="t" r="r" b="b"/>
              <a:pathLst>
                <a:path w="3048000" h="304800">
                  <a:moveTo>
                    <a:pt x="0" y="304800"/>
                  </a:moveTo>
                  <a:lnTo>
                    <a:pt x="3047999" y="304800"/>
                  </a:lnTo>
                  <a:lnTo>
                    <a:pt x="3047999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64540" y="714502"/>
            <a:ext cx="5328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C00000"/>
                </a:solidFill>
              </a:rPr>
              <a:t>MORE </a:t>
            </a:r>
            <a:r>
              <a:rPr spc="-5" dirty="0">
                <a:solidFill>
                  <a:srgbClr val="C00000"/>
                </a:solidFill>
              </a:rPr>
              <a:t>ABOUT </a:t>
            </a:r>
            <a:r>
              <a:rPr dirty="0">
                <a:solidFill>
                  <a:srgbClr val="C00000"/>
                </a:solidFill>
              </a:rPr>
              <a:t>GLOBAL</a:t>
            </a:r>
            <a:r>
              <a:rPr spc="-120" dirty="0">
                <a:solidFill>
                  <a:srgbClr val="C00000"/>
                </a:solidFill>
              </a:rPr>
              <a:t> </a:t>
            </a:r>
            <a:r>
              <a:rPr dirty="0">
                <a:solidFill>
                  <a:srgbClr val="C00000"/>
                </a:solidFill>
              </a:rPr>
              <a:t>WARMING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2437" y="203006"/>
            <a:ext cx="7614390" cy="1087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5972" y="374980"/>
            <a:ext cx="62915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FFFF"/>
                </a:solidFill>
              </a:rPr>
              <a:t>Causes </a:t>
            </a:r>
            <a:r>
              <a:rPr sz="4000" spc="-5" dirty="0">
                <a:solidFill>
                  <a:srgbClr val="FFFFFF"/>
                </a:solidFill>
              </a:rPr>
              <a:t>of Global</a:t>
            </a:r>
            <a:r>
              <a:rPr sz="4000" spc="15" dirty="0">
                <a:solidFill>
                  <a:srgbClr val="FFFFFF"/>
                </a:solidFill>
              </a:rPr>
              <a:t> </a:t>
            </a:r>
            <a:r>
              <a:rPr sz="4000" spc="-5" dirty="0">
                <a:solidFill>
                  <a:srgbClr val="FFFFFF"/>
                </a:solidFill>
              </a:rPr>
              <a:t>Warming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612140" y="1700529"/>
            <a:ext cx="6938645" cy="4049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95"/>
              </a:spcBef>
              <a:buClr>
                <a:srgbClr val="C00000"/>
              </a:buClr>
              <a:buFont typeface="Wingdings"/>
              <a:buChar char=""/>
              <a:tabLst>
                <a:tab pos="287020" algn="l"/>
              </a:tabLst>
            </a:pPr>
            <a:r>
              <a:rPr sz="2200" spc="-5" dirty="0">
                <a:latin typeface="Times New Roman"/>
                <a:cs typeface="Times New Roman"/>
              </a:rPr>
              <a:t>Global warming is primarily a </a:t>
            </a:r>
            <a:r>
              <a:rPr sz="2200" dirty="0">
                <a:latin typeface="Times New Roman"/>
                <a:cs typeface="Times New Roman"/>
              </a:rPr>
              <a:t>problem of too </a:t>
            </a:r>
            <a:r>
              <a:rPr sz="2200" spc="-5" dirty="0">
                <a:latin typeface="Times New Roman"/>
                <a:cs typeface="Times New Roman"/>
              </a:rPr>
              <a:t>much carbon  </a:t>
            </a:r>
            <a:r>
              <a:rPr sz="2200" dirty="0">
                <a:latin typeface="Times New Roman"/>
                <a:cs typeface="Times New Roman"/>
              </a:rPr>
              <a:t>dioxide </a:t>
            </a:r>
            <a:r>
              <a:rPr sz="2200" spc="-5" dirty="0">
                <a:latin typeface="Times New Roman"/>
                <a:cs typeface="Times New Roman"/>
              </a:rPr>
              <a:t>(CO2) in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latin typeface="Times New Roman"/>
                <a:cs typeface="Times New Roman"/>
              </a:rPr>
              <a:t>atmosphere—which acts as a blanket,  trapping heat and warming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planet.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C00000"/>
              </a:buClr>
              <a:buFont typeface="Wingdings"/>
              <a:buChar char=""/>
            </a:pPr>
            <a:endParaRPr sz="2250">
              <a:latin typeface="Times New Roman"/>
              <a:cs typeface="Times New Roman"/>
            </a:endParaRPr>
          </a:p>
          <a:p>
            <a:pPr marL="286385" marR="131445" indent="-274320">
              <a:lnSpc>
                <a:spcPct val="100000"/>
              </a:lnSpc>
              <a:buClr>
                <a:srgbClr val="C00000"/>
              </a:buClr>
              <a:buFont typeface="Wingdings"/>
              <a:buChar char=""/>
              <a:tabLst>
                <a:tab pos="342265" algn="l"/>
              </a:tabLst>
            </a:pPr>
            <a:r>
              <a:rPr dirty="0"/>
              <a:t>	</a:t>
            </a:r>
            <a:r>
              <a:rPr sz="2200" spc="-5" dirty="0">
                <a:latin typeface="Times New Roman"/>
                <a:cs typeface="Times New Roman"/>
              </a:rPr>
              <a:t>As we </a:t>
            </a:r>
            <a:r>
              <a:rPr sz="2200" dirty="0">
                <a:latin typeface="Times New Roman"/>
                <a:cs typeface="Times New Roman"/>
              </a:rPr>
              <a:t>burn </a:t>
            </a:r>
            <a:r>
              <a:rPr sz="2200" spc="-5" dirty="0">
                <a:latin typeface="Times New Roman"/>
                <a:cs typeface="Times New Roman"/>
              </a:rPr>
              <a:t>fossil fuels like coal, </a:t>
            </a:r>
            <a:r>
              <a:rPr sz="2200" dirty="0">
                <a:latin typeface="Times New Roman"/>
                <a:cs typeface="Times New Roman"/>
              </a:rPr>
              <a:t>oil </a:t>
            </a:r>
            <a:r>
              <a:rPr sz="2200" spc="-5" dirty="0">
                <a:latin typeface="Times New Roman"/>
                <a:cs typeface="Times New Roman"/>
              </a:rPr>
              <a:t>and natural gas for  </a:t>
            </a:r>
            <a:r>
              <a:rPr sz="2200" spc="-10" dirty="0">
                <a:latin typeface="Times New Roman"/>
                <a:cs typeface="Times New Roman"/>
              </a:rPr>
              <a:t>energy </a:t>
            </a:r>
            <a:r>
              <a:rPr sz="2200" spc="-5" dirty="0">
                <a:latin typeface="Times New Roman"/>
                <a:cs typeface="Times New Roman"/>
              </a:rPr>
              <a:t>or cut down and </a:t>
            </a:r>
            <a:r>
              <a:rPr sz="2200" dirty="0">
                <a:latin typeface="Times New Roman"/>
                <a:cs typeface="Times New Roman"/>
              </a:rPr>
              <a:t>burn </a:t>
            </a:r>
            <a:r>
              <a:rPr sz="2200" spc="-5" dirty="0">
                <a:latin typeface="Times New Roman"/>
                <a:cs typeface="Times New Roman"/>
              </a:rPr>
              <a:t>forests to create pastures and  plantations, carbon accumulates and overloads our  atmosphere.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C00000"/>
              </a:buClr>
              <a:buFont typeface="Wingdings"/>
              <a:buChar char=""/>
            </a:pPr>
            <a:endParaRPr sz="2250">
              <a:latin typeface="Times New Roman"/>
              <a:cs typeface="Times New Roman"/>
            </a:endParaRPr>
          </a:p>
          <a:p>
            <a:pPr marL="286385" marR="532765" indent="-274320">
              <a:lnSpc>
                <a:spcPct val="100000"/>
              </a:lnSpc>
              <a:buClr>
                <a:srgbClr val="C00000"/>
              </a:buClr>
              <a:buFont typeface="Wingdings"/>
              <a:buChar char=""/>
              <a:tabLst>
                <a:tab pos="287020" algn="l"/>
              </a:tabLst>
            </a:pPr>
            <a:r>
              <a:rPr sz="2200" spc="-5" dirty="0">
                <a:latin typeface="Times New Roman"/>
                <a:cs typeface="Times New Roman"/>
              </a:rPr>
              <a:t>Certain waste management and agricultural practices  aggravate the problem by releasing </a:t>
            </a:r>
            <a:r>
              <a:rPr sz="2200" dirty="0">
                <a:latin typeface="Times New Roman"/>
                <a:cs typeface="Times New Roman"/>
              </a:rPr>
              <a:t>other potent global  </a:t>
            </a:r>
            <a:r>
              <a:rPr sz="2200" spc="-5" dirty="0">
                <a:latin typeface="Times New Roman"/>
                <a:cs typeface="Times New Roman"/>
              </a:rPr>
              <a:t>warming gases, such as methane and </a:t>
            </a:r>
            <a:r>
              <a:rPr sz="2200" dirty="0">
                <a:latin typeface="Times New Roman"/>
                <a:cs typeface="Times New Roman"/>
              </a:rPr>
              <a:t>nitrous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oxide.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91000" y="381000"/>
            <a:ext cx="4550663" cy="6324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9240" y="786130"/>
            <a:ext cx="4084320" cy="4928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7665" marR="665480" indent="-317500">
              <a:lnSpc>
                <a:spcPct val="100000"/>
              </a:lnSpc>
              <a:spcBef>
                <a:spcPts val="105"/>
              </a:spcBef>
              <a:buClr>
                <a:srgbClr val="C00000"/>
              </a:buClr>
              <a:buFont typeface="Wingdings"/>
              <a:buChar char=""/>
              <a:tabLst>
                <a:tab pos="337820" algn="l"/>
              </a:tabLst>
            </a:pP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major </a:t>
            </a:r>
            <a:r>
              <a:rPr sz="2000" dirty="0">
                <a:latin typeface="Times New Roman"/>
                <a:cs typeface="Times New Roman"/>
              </a:rPr>
              <a:t>greenhouse gases  are water </a:t>
            </a:r>
            <a:r>
              <a:rPr sz="2000" spc="-10" dirty="0">
                <a:latin typeface="Times New Roman"/>
                <a:cs typeface="Times New Roman"/>
              </a:rPr>
              <a:t>vapor,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causes</a:t>
            </a:r>
            <a:endParaRPr sz="2000">
              <a:latin typeface="Times New Roman"/>
              <a:cs typeface="Times New Roman"/>
            </a:endParaRPr>
          </a:p>
          <a:p>
            <a:pPr marL="367665" marR="3048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about </a:t>
            </a:r>
            <a:r>
              <a:rPr sz="2000" spc="5" dirty="0">
                <a:latin typeface="Times New Roman"/>
                <a:cs typeface="Times New Roman"/>
              </a:rPr>
              <a:t>36–70% </a:t>
            </a:r>
            <a:r>
              <a:rPr sz="2000" dirty="0">
                <a:latin typeface="Times New Roman"/>
                <a:cs typeface="Times New Roman"/>
              </a:rPr>
              <a:t>of the greenhouse  </a:t>
            </a:r>
            <a:r>
              <a:rPr sz="2000" spc="-5" dirty="0">
                <a:latin typeface="Times New Roman"/>
                <a:cs typeface="Times New Roman"/>
              </a:rPr>
              <a:t>effect; </a:t>
            </a:r>
            <a:r>
              <a:rPr sz="2000" dirty="0">
                <a:latin typeface="Times New Roman"/>
                <a:cs typeface="Times New Roman"/>
              </a:rPr>
              <a:t>carbon dioxide </a:t>
            </a:r>
            <a:r>
              <a:rPr sz="2000" spc="5" dirty="0">
                <a:latin typeface="Times New Roman"/>
                <a:cs typeface="Times New Roman"/>
              </a:rPr>
              <a:t>(CO</a:t>
            </a:r>
            <a:r>
              <a:rPr sz="1950" spc="7" baseline="-21367" dirty="0">
                <a:latin typeface="Times New Roman"/>
                <a:cs typeface="Times New Roman"/>
              </a:rPr>
              <a:t>2</a:t>
            </a:r>
            <a:r>
              <a:rPr sz="2000" spc="5" dirty="0">
                <a:latin typeface="Times New Roman"/>
                <a:cs typeface="Times New Roman"/>
              </a:rPr>
              <a:t>), </a:t>
            </a:r>
            <a:r>
              <a:rPr sz="2000" dirty="0">
                <a:latin typeface="Times New Roman"/>
                <a:cs typeface="Times New Roman"/>
              </a:rPr>
              <a:t>which  causes </a:t>
            </a:r>
            <a:r>
              <a:rPr sz="2000" spc="5" dirty="0">
                <a:latin typeface="Times New Roman"/>
                <a:cs typeface="Times New Roman"/>
              </a:rPr>
              <a:t>9–26%; </a:t>
            </a:r>
            <a:r>
              <a:rPr sz="2000" spc="-5" dirty="0">
                <a:latin typeface="Times New Roman"/>
                <a:cs typeface="Times New Roman"/>
              </a:rPr>
              <a:t>methane </a:t>
            </a:r>
            <a:r>
              <a:rPr sz="2000" spc="5" dirty="0">
                <a:latin typeface="Times New Roman"/>
                <a:cs typeface="Times New Roman"/>
              </a:rPr>
              <a:t>(CH</a:t>
            </a:r>
            <a:r>
              <a:rPr sz="1950" spc="7" baseline="-21367" dirty="0">
                <a:latin typeface="Times New Roman"/>
                <a:cs typeface="Times New Roman"/>
              </a:rPr>
              <a:t>4</a:t>
            </a:r>
            <a:r>
              <a:rPr sz="2000" spc="5" dirty="0">
                <a:latin typeface="Times New Roman"/>
                <a:cs typeface="Times New Roman"/>
              </a:rPr>
              <a:t>),  </a:t>
            </a:r>
            <a:r>
              <a:rPr sz="2000" dirty="0">
                <a:latin typeface="Times New Roman"/>
                <a:cs typeface="Times New Roman"/>
              </a:rPr>
              <a:t>which causes 4–9%;and ozone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(O</a:t>
            </a:r>
            <a:r>
              <a:rPr sz="1950" spc="7" baseline="-21367" dirty="0">
                <a:latin typeface="Times New Roman"/>
                <a:cs typeface="Times New Roman"/>
              </a:rPr>
              <a:t>3</a:t>
            </a:r>
            <a:r>
              <a:rPr sz="2000" spc="5" dirty="0">
                <a:latin typeface="Times New Roman"/>
                <a:cs typeface="Times New Roman"/>
              </a:rPr>
              <a:t>),  </a:t>
            </a:r>
            <a:r>
              <a:rPr sz="2000" dirty="0">
                <a:latin typeface="Times New Roman"/>
                <a:cs typeface="Times New Roman"/>
              </a:rPr>
              <a:t>which causes 3-7%. Clouds </a:t>
            </a:r>
            <a:r>
              <a:rPr sz="2000" spc="-5" dirty="0">
                <a:latin typeface="Times New Roman"/>
                <a:cs typeface="Times New Roman"/>
              </a:rPr>
              <a:t>also  affect </a:t>
            </a: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radiation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balance.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50">
              <a:latin typeface="Times New Roman"/>
              <a:cs typeface="Times New Roman"/>
            </a:endParaRPr>
          </a:p>
          <a:p>
            <a:pPr marL="367665" marR="168275" indent="-317500">
              <a:lnSpc>
                <a:spcPct val="101400"/>
              </a:lnSpc>
              <a:buClr>
                <a:srgbClr val="C00000"/>
              </a:buClr>
              <a:buFont typeface="Wingdings"/>
              <a:buChar char=""/>
              <a:tabLst>
                <a:tab pos="342265" algn="l"/>
              </a:tabLst>
            </a:pPr>
            <a:r>
              <a:rPr sz="2000" spc="-5" dirty="0">
                <a:latin typeface="Times New Roman"/>
                <a:cs typeface="Times New Roman"/>
              </a:rPr>
              <a:t>Human activity </a:t>
            </a:r>
            <a:r>
              <a:rPr sz="2000" dirty="0">
                <a:latin typeface="Times New Roman"/>
                <a:cs typeface="Times New Roman"/>
              </a:rPr>
              <a:t>since the </a:t>
            </a:r>
            <a:r>
              <a:rPr sz="2000" spc="-5" dirty="0">
                <a:latin typeface="Times New Roman"/>
                <a:cs typeface="Times New Roman"/>
              </a:rPr>
              <a:t>Industrial  </a:t>
            </a:r>
            <a:r>
              <a:rPr sz="2000" dirty="0">
                <a:latin typeface="Times New Roman"/>
                <a:cs typeface="Times New Roman"/>
              </a:rPr>
              <a:t>Revolution has increased the  </a:t>
            </a:r>
            <a:r>
              <a:rPr sz="2000" spc="-5" dirty="0">
                <a:latin typeface="Times New Roman"/>
                <a:cs typeface="Times New Roman"/>
              </a:rPr>
              <a:t>amount </a:t>
            </a:r>
            <a:r>
              <a:rPr sz="2000" dirty="0">
                <a:latin typeface="Times New Roman"/>
                <a:cs typeface="Times New Roman"/>
              </a:rPr>
              <a:t>of greenhouse gases in the  </a:t>
            </a:r>
            <a:r>
              <a:rPr sz="2000" spc="-5" dirty="0">
                <a:latin typeface="Times New Roman"/>
                <a:cs typeface="Times New Roman"/>
              </a:rPr>
              <a:t>atmosphere, </a:t>
            </a:r>
            <a:r>
              <a:rPr sz="2000" dirty="0">
                <a:latin typeface="Times New Roman"/>
                <a:cs typeface="Times New Roman"/>
              </a:rPr>
              <a:t>leading to increased  </a:t>
            </a:r>
            <a:r>
              <a:rPr sz="2000" spc="-5" dirty="0">
                <a:latin typeface="Times New Roman"/>
                <a:cs typeface="Times New Roman"/>
              </a:rPr>
              <a:t>radiative </a:t>
            </a:r>
            <a:r>
              <a:rPr sz="2000" dirty="0">
                <a:latin typeface="Times New Roman"/>
                <a:cs typeface="Times New Roman"/>
              </a:rPr>
              <a:t>forcing from </a:t>
            </a:r>
            <a:r>
              <a:rPr sz="2000" spc="5" dirty="0">
                <a:latin typeface="Times New Roman"/>
                <a:cs typeface="Times New Roman"/>
              </a:rPr>
              <a:t>CO</a:t>
            </a:r>
            <a:r>
              <a:rPr sz="1950" spc="7" baseline="-21367" dirty="0">
                <a:latin typeface="Times New Roman"/>
                <a:cs typeface="Times New Roman"/>
              </a:rPr>
              <a:t>2</a:t>
            </a:r>
            <a:r>
              <a:rPr sz="2000" spc="5" dirty="0">
                <a:latin typeface="Times New Roman"/>
                <a:cs typeface="Times New Roman"/>
              </a:rPr>
              <a:t>,  </a:t>
            </a:r>
            <a:r>
              <a:rPr sz="2000" spc="-5" dirty="0">
                <a:latin typeface="Times New Roman"/>
                <a:cs typeface="Times New Roman"/>
              </a:rPr>
              <a:t>methane, </a:t>
            </a:r>
            <a:r>
              <a:rPr sz="2000" dirty="0">
                <a:latin typeface="Times New Roman"/>
                <a:cs typeface="Times New Roman"/>
              </a:rPr>
              <a:t>tropospheric ozone,  </a:t>
            </a:r>
            <a:r>
              <a:rPr sz="2000" spc="-5" dirty="0">
                <a:latin typeface="Times New Roman"/>
                <a:cs typeface="Times New Roman"/>
              </a:rPr>
              <a:t>CFCs </a:t>
            </a:r>
            <a:r>
              <a:rPr sz="2000" dirty="0">
                <a:latin typeface="Times New Roman"/>
                <a:cs typeface="Times New Roman"/>
              </a:rPr>
              <a:t>and nitrous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oxide.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5940" y="256743"/>
            <a:ext cx="10026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5" dirty="0">
                <a:solidFill>
                  <a:srgbClr val="C00000"/>
                </a:solidFill>
                <a:latin typeface="Verdana"/>
                <a:cs typeface="Verdana"/>
              </a:rPr>
              <a:t>Cont….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7937" y="279587"/>
            <a:ext cx="7247402" cy="10725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8716" y="432307"/>
            <a:ext cx="6150610" cy="650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100" spc="-5" dirty="0">
                <a:solidFill>
                  <a:srgbClr val="FFFFFF"/>
                </a:solidFill>
              </a:rPr>
              <a:t>Effects </a:t>
            </a:r>
            <a:r>
              <a:rPr sz="4100" dirty="0">
                <a:solidFill>
                  <a:srgbClr val="FFFFFF"/>
                </a:solidFill>
              </a:rPr>
              <a:t>of </a:t>
            </a:r>
            <a:r>
              <a:rPr sz="4100" spc="-5" dirty="0">
                <a:solidFill>
                  <a:srgbClr val="FFFFFF"/>
                </a:solidFill>
              </a:rPr>
              <a:t>global</a:t>
            </a:r>
            <a:r>
              <a:rPr sz="4100" spc="-70" dirty="0">
                <a:solidFill>
                  <a:srgbClr val="FFFFFF"/>
                </a:solidFill>
              </a:rPr>
              <a:t> </a:t>
            </a:r>
            <a:r>
              <a:rPr sz="4100" dirty="0">
                <a:solidFill>
                  <a:srgbClr val="FFFFFF"/>
                </a:solidFill>
              </a:rPr>
              <a:t>warming</a:t>
            </a:r>
            <a:endParaRPr sz="4100"/>
          </a:p>
        </p:txBody>
      </p:sp>
      <p:sp>
        <p:nvSpPr>
          <p:cNvPr id="4" name="object 4"/>
          <p:cNvSpPr txBox="1"/>
          <p:nvPr/>
        </p:nvSpPr>
        <p:spPr>
          <a:xfrm>
            <a:off x="612140" y="1776729"/>
            <a:ext cx="7559040" cy="3714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95"/>
              </a:spcBef>
              <a:buClr>
                <a:srgbClr val="C00000"/>
              </a:buClr>
              <a:buFont typeface="Wingdings"/>
              <a:buChar char=""/>
              <a:tabLst>
                <a:tab pos="332740" algn="l"/>
              </a:tabLst>
            </a:pPr>
            <a:r>
              <a:rPr sz="2200" spc="-5" dirty="0">
                <a:latin typeface="Times New Roman"/>
                <a:cs typeface="Times New Roman"/>
              </a:rPr>
              <a:t>Sea level rise is accelerating. The planet's temperature is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rising.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C00000"/>
              </a:buClr>
              <a:buFont typeface="Wingdings"/>
              <a:buChar char=""/>
            </a:pPr>
            <a:endParaRPr sz="2250">
              <a:latin typeface="Times New Roman"/>
              <a:cs typeface="Times New Roman"/>
            </a:endParaRPr>
          </a:p>
          <a:p>
            <a:pPr marL="327660" indent="-315595">
              <a:lnSpc>
                <a:spcPct val="100000"/>
              </a:lnSpc>
              <a:buClr>
                <a:srgbClr val="C00000"/>
              </a:buClr>
              <a:buFont typeface="Wingdings"/>
              <a:buChar char=""/>
              <a:tabLst>
                <a:tab pos="328295" algn="l"/>
              </a:tabLst>
            </a:pP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latin typeface="Times New Roman"/>
                <a:cs typeface="Times New Roman"/>
              </a:rPr>
              <a:t>number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10" dirty="0">
                <a:latin typeface="Times New Roman"/>
                <a:cs typeface="Times New Roman"/>
              </a:rPr>
              <a:t>large </a:t>
            </a:r>
            <a:r>
              <a:rPr sz="2200" spc="-5" dirty="0">
                <a:latin typeface="Times New Roman"/>
                <a:cs typeface="Times New Roman"/>
              </a:rPr>
              <a:t>wildfires is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growing.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C00000"/>
              </a:buClr>
              <a:buFont typeface="Wingdings"/>
              <a:buChar char=""/>
            </a:pPr>
            <a:endParaRPr sz="225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spcBef>
                <a:spcPts val="5"/>
              </a:spcBef>
              <a:buClr>
                <a:srgbClr val="C00000"/>
              </a:buClr>
              <a:buFont typeface="Wingdings"/>
              <a:buChar char=""/>
              <a:tabLst>
                <a:tab pos="332740" algn="l"/>
              </a:tabLst>
            </a:pPr>
            <a:r>
              <a:rPr sz="2200" dirty="0">
                <a:latin typeface="Times New Roman"/>
                <a:cs typeface="Times New Roman"/>
              </a:rPr>
              <a:t>Dangerous </a:t>
            </a:r>
            <a:r>
              <a:rPr sz="2200" spc="-5" dirty="0">
                <a:latin typeface="Times New Roman"/>
                <a:cs typeface="Times New Roman"/>
              </a:rPr>
              <a:t>heat waves are becoming more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common.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C00000"/>
              </a:buClr>
              <a:buFont typeface="Wingdings"/>
              <a:buChar char=""/>
            </a:pPr>
            <a:endParaRPr sz="2250">
              <a:latin typeface="Times New Roman"/>
              <a:cs typeface="Times New Roman"/>
            </a:endParaRPr>
          </a:p>
          <a:p>
            <a:pPr marL="291465" marR="5080" indent="-279400">
              <a:lnSpc>
                <a:spcPct val="100000"/>
              </a:lnSpc>
              <a:spcBef>
                <a:spcPts val="5"/>
              </a:spcBef>
              <a:buClr>
                <a:srgbClr val="C00000"/>
              </a:buClr>
              <a:buFont typeface="Wingdings"/>
              <a:buChar char=""/>
              <a:tabLst>
                <a:tab pos="332740" algn="l"/>
              </a:tabLst>
            </a:pPr>
            <a:r>
              <a:rPr dirty="0"/>
              <a:t>	</a:t>
            </a:r>
            <a:r>
              <a:rPr sz="2200" spc="-5" dirty="0">
                <a:latin typeface="Times New Roman"/>
                <a:cs typeface="Times New Roman"/>
              </a:rPr>
              <a:t>Extreme storm events are increasing in </a:t>
            </a:r>
            <a:r>
              <a:rPr sz="2200" spc="-10" dirty="0">
                <a:latin typeface="Times New Roman"/>
                <a:cs typeface="Times New Roman"/>
              </a:rPr>
              <a:t>many </a:t>
            </a:r>
            <a:r>
              <a:rPr sz="2200" spc="-5" dirty="0">
                <a:latin typeface="Times New Roman"/>
                <a:cs typeface="Times New Roman"/>
              </a:rPr>
              <a:t>areas. </a:t>
            </a:r>
            <a:r>
              <a:rPr sz="2200" dirty="0">
                <a:latin typeface="Times New Roman"/>
                <a:cs typeface="Times New Roman"/>
              </a:rPr>
              <a:t>More </a:t>
            </a:r>
            <a:r>
              <a:rPr sz="2200" spc="-5" dirty="0">
                <a:latin typeface="Times New Roman"/>
                <a:cs typeface="Times New Roman"/>
              </a:rPr>
              <a:t>severe  </a:t>
            </a:r>
            <a:r>
              <a:rPr sz="2200" dirty="0">
                <a:latin typeface="Times New Roman"/>
                <a:cs typeface="Times New Roman"/>
              </a:rPr>
              <a:t>droughts </a:t>
            </a:r>
            <a:r>
              <a:rPr sz="2200" spc="-5" dirty="0">
                <a:latin typeface="Times New Roman"/>
                <a:cs typeface="Times New Roman"/>
              </a:rPr>
              <a:t>are </a:t>
            </a:r>
            <a:r>
              <a:rPr sz="2200" dirty="0">
                <a:latin typeface="Times New Roman"/>
                <a:cs typeface="Times New Roman"/>
              </a:rPr>
              <a:t>occurring </a:t>
            </a:r>
            <a:r>
              <a:rPr sz="2200" spc="-5" dirty="0">
                <a:latin typeface="Times New Roman"/>
                <a:cs typeface="Times New Roman"/>
              </a:rPr>
              <a:t>in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others.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C00000"/>
              </a:buClr>
              <a:buFont typeface="Wingdings"/>
              <a:buChar char=""/>
            </a:pPr>
            <a:endParaRPr sz="2250">
              <a:latin typeface="Times New Roman"/>
              <a:cs typeface="Times New Roman"/>
            </a:endParaRPr>
          </a:p>
          <a:p>
            <a:pPr marL="328295" marR="212725" indent="-328295">
              <a:lnSpc>
                <a:spcPct val="100000"/>
              </a:lnSpc>
              <a:buClr>
                <a:srgbClr val="C00000"/>
              </a:buClr>
              <a:buFont typeface="Wingdings"/>
              <a:buChar char=""/>
              <a:tabLst>
                <a:tab pos="328295" algn="l"/>
              </a:tabLst>
            </a:pPr>
            <a:r>
              <a:rPr sz="2200" dirty="0">
                <a:latin typeface="Times New Roman"/>
                <a:cs typeface="Times New Roman"/>
              </a:rPr>
              <a:t>These </a:t>
            </a:r>
            <a:r>
              <a:rPr sz="2200" spc="-5" dirty="0">
                <a:latin typeface="Times New Roman"/>
                <a:cs typeface="Times New Roman"/>
              </a:rPr>
              <a:t>are having significant and harmful </a:t>
            </a:r>
            <a:r>
              <a:rPr sz="2200" spc="-10" dirty="0">
                <a:latin typeface="Times New Roman"/>
                <a:cs typeface="Times New Roman"/>
              </a:rPr>
              <a:t>effects </a:t>
            </a:r>
            <a:r>
              <a:rPr sz="2200" dirty="0">
                <a:latin typeface="Times New Roman"/>
                <a:cs typeface="Times New Roman"/>
              </a:rPr>
              <a:t>on our </a:t>
            </a:r>
            <a:r>
              <a:rPr sz="2200" spc="-5" dirty="0">
                <a:latin typeface="Times New Roman"/>
                <a:cs typeface="Times New Roman"/>
              </a:rPr>
              <a:t>health,  our environment, and our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communities.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8839200" cy="6858000"/>
          </a:xfrm>
          <a:custGeom>
            <a:avLst/>
            <a:gdLst/>
            <a:ahLst/>
            <a:cxnLst/>
            <a:rect l="l" t="t" r="r" b="b"/>
            <a:pathLst>
              <a:path w="8839200" h="6858000">
                <a:moveTo>
                  <a:pt x="0" y="6858000"/>
                </a:moveTo>
                <a:lnTo>
                  <a:pt x="8839200" y="6858000"/>
                </a:lnTo>
                <a:lnTo>
                  <a:pt x="88392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763761" y="761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8839200" y="0"/>
            <a:ext cx="304800" cy="6858000"/>
            <a:chOff x="8839200" y="0"/>
            <a:chExt cx="304800" cy="6858000"/>
          </a:xfrm>
        </p:grpSpPr>
        <p:sp>
          <p:nvSpPr>
            <p:cNvPr id="5" name="object 5"/>
            <p:cNvSpPr/>
            <p:nvPr/>
          </p:nvSpPr>
          <p:spPr>
            <a:xfrm>
              <a:off x="8839200" y="0"/>
              <a:ext cx="304800" cy="6858000"/>
            </a:xfrm>
            <a:custGeom>
              <a:avLst/>
              <a:gdLst/>
              <a:ahLst/>
              <a:cxnLst/>
              <a:rect l="l" t="t" r="r" b="b"/>
              <a:pathLst>
                <a:path w="304800" h="6858000">
                  <a:moveTo>
                    <a:pt x="3048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04800" y="68580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DC3AD">
                <a:alpha val="8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915400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9144">
              <a:solidFill>
                <a:srgbClr val="FD85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8156447" y="571500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274320" y="0"/>
                </a:moveTo>
                <a:lnTo>
                  <a:pt x="225008" y="4419"/>
                </a:lnTo>
                <a:lnTo>
                  <a:pt x="178597" y="17162"/>
                </a:lnTo>
                <a:lnTo>
                  <a:pt x="135861" y="37453"/>
                </a:lnTo>
                <a:lnTo>
                  <a:pt x="97575" y="64518"/>
                </a:lnTo>
                <a:lnTo>
                  <a:pt x="64513" y="97580"/>
                </a:lnTo>
                <a:lnTo>
                  <a:pt x="37450" y="135867"/>
                </a:lnTo>
                <a:lnTo>
                  <a:pt x="17161" y="178602"/>
                </a:lnTo>
                <a:lnTo>
                  <a:pt x="4419" y="225011"/>
                </a:lnTo>
                <a:lnTo>
                  <a:pt x="0" y="274319"/>
                </a:lnTo>
                <a:lnTo>
                  <a:pt x="4419" y="323628"/>
                </a:lnTo>
                <a:lnTo>
                  <a:pt x="17161" y="370037"/>
                </a:lnTo>
                <a:lnTo>
                  <a:pt x="37450" y="412772"/>
                </a:lnTo>
                <a:lnTo>
                  <a:pt x="64513" y="451059"/>
                </a:lnTo>
                <a:lnTo>
                  <a:pt x="97575" y="484121"/>
                </a:lnTo>
                <a:lnTo>
                  <a:pt x="135861" y="511186"/>
                </a:lnTo>
                <a:lnTo>
                  <a:pt x="178597" y="531477"/>
                </a:lnTo>
                <a:lnTo>
                  <a:pt x="225008" y="544220"/>
                </a:lnTo>
                <a:lnTo>
                  <a:pt x="274320" y="548640"/>
                </a:lnTo>
                <a:lnTo>
                  <a:pt x="323631" y="544220"/>
                </a:lnTo>
                <a:lnTo>
                  <a:pt x="370042" y="531477"/>
                </a:lnTo>
                <a:lnTo>
                  <a:pt x="412778" y="511186"/>
                </a:lnTo>
                <a:lnTo>
                  <a:pt x="451064" y="484121"/>
                </a:lnTo>
                <a:lnTo>
                  <a:pt x="484126" y="451059"/>
                </a:lnTo>
                <a:lnTo>
                  <a:pt x="511189" y="412772"/>
                </a:lnTo>
                <a:lnTo>
                  <a:pt x="531478" y="370037"/>
                </a:lnTo>
                <a:lnTo>
                  <a:pt x="544220" y="323628"/>
                </a:lnTo>
                <a:lnTo>
                  <a:pt x="548640" y="274319"/>
                </a:lnTo>
                <a:lnTo>
                  <a:pt x="544220" y="225011"/>
                </a:lnTo>
                <a:lnTo>
                  <a:pt x="531478" y="178602"/>
                </a:lnTo>
                <a:lnTo>
                  <a:pt x="511189" y="135867"/>
                </a:lnTo>
                <a:lnTo>
                  <a:pt x="484126" y="97580"/>
                </a:lnTo>
                <a:lnTo>
                  <a:pt x="451064" y="64518"/>
                </a:lnTo>
                <a:lnTo>
                  <a:pt x="412778" y="37453"/>
                </a:lnTo>
                <a:lnTo>
                  <a:pt x="370042" y="17162"/>
                </a:lnTo>
                <a:lnTo>
                  <a:pt x="323631" y="4419"/>
                </a:lnTo>
                <a:lnTo>
                  <a:pt x="27432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19200" y="1828800"/>
            <a:ext cx="1409700" cy="1409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81400" y="1524000"/>
            <a:ext cx="1981200" cy="1981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477000" y="1981200"/>
            <a:ext cx="1143000" cy="1143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57400" y="4038600"/>
            <a:ext cx="1981200" cy="19812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34000" y="4267200"/>
            <a:ext cx="1219200" cy="12192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1245108" y="470916"/>
            <a:ext cx="6579234" cy="710565"/>
            <a:chOff x="1245108" y="470916"/>
            <a:chExt cx="6579234" cy="710565"/>
          </a:xfrm>
        </p:grpSpPr>
        <p:sp>
          <p:nvSpPr>
            <p:cNvPr id="14" name="object 14"/>
            <p:cNvSpPr/>
            <p:nvPr/>
          </p:nvSpPr>
          <p:spPr>
            <a:xfrm>
              <a:off x="1245108" y="470916"/>
              <a:ext cx="6579108" cy="71018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02258" y="529336"/>
              <a:ext cx="6463792" cy="593217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145844" y="3077082"/>
            <a:ext cx="17659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FFFFFF"/>
                </a:solidFill>
                <a:latin typeface="Schoolbook Uralic"/>
                <a:cs typeface="Schoolbook Uralic"/>
              </a:rPr>
              <a:t>Nitrous</a:t>
            </a:r>
            <a:r>
              <a:rPr sz="2200" spc="-75" dirty="0">
                <a:solidFill>
                  <a:srgbClr val="FFFFFF"/>
                </a:solidFill>
                <a:latin typeface="Schoolbook Uralic"/>
                <a:cs typeface="Schoolbook Uralic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choolbook Uralic"/>
                <a:cs typeface="Schoolbook Uralic"/>
              </a:rPr>
              <a:t>oxide</a:t>
            </a:r>
            <a:endParaRPr sz="2200">
              <a:latin typeface="Schoolbook Uralic"/>
              <a:cs typeface="Schoolbook Ural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68446" y="1511046"/>
            <a:ext cx="2007235" cy="2007235"/>
          </a:xfrm>
          <a:prstGeom prst="rect">
            <a:avLst/>
          </a:prstGeom>
          <a:ln w="25907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000">
              <a:latin typeface="Times New Roman"/>
              <a:cs typeface="Times New Roman"/>
            </a:endParaRPr>
          </a:p>
          <a:p>
            <a:pPr marL="28575">
              <a:lnSpc>
                <a:spcPct val="100000"/>
              </a:lnSpc>
            </a:pPr>
            <a:r>
              <a:rPr sz="2200" spc="-10" dirty="0">
                <a:solidFill>
                  <a:srgbClr val="FFFFFF"/>
                </a:solidFill>
                <a:latin typeface="Schoolbook Uralic"/>
                <a:cs typeface="Schoolbook Uralic"/>
              </a:rPr>
              <a:t>Carbon</a:t>
            </a:r>
            <a:r>
              <a:rPr sz="2200" spc="-20" dirty="0">
                <a:solidFill>
                  <a:srgbClr val="FFFFFF"/>
                </a:solidFill>
                <a:latin typeface="Schoolbook Uralic"/>
                <a:cs typeface="Schoolbook Uralic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choolbook Uralic"/>
                <a:cs typeface="Schoolbook Uralic"/>
              </a:rPr>
              <a:t>dioxide</a:t>
            </a:r>
            <a:endParaRPr sz="2200">
              <a:latin typeface="Schoolbook Uralic"/>
              <a:cs typeface="Schoolbook Ural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44445" y="4025646"/>
            <a:ext cx="2007235" cy="2007235"/>
          </a:xfrm>
          <a:prstGeom prst="rect">
            <a:avLst/>
          </a:prstGeom>
          <a:ln w="25907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000">
              <a:latin typeface="Times New Roman"/>
              <a:cs typeface="Times New Roman"/>
            </a:endParaRPr>
          </a:p>
          <a:p>
            <a:pPr marL="637540">
              <a:lnSpc>
                <a:spcPct val="100000"/>
              </a:lnSpc>
            </a:pPr>
            <a:r>
              <a:rPr sz="2200" spc="-5" dirty="0">
                <a:solidFill>
                  <a:srgbClr val="FFFFFF"/>
                </a:solidFill>
                <a:latin typeface="Schoolbook Uralic"/>
                <a:cs typeface="Schoolbook Uralic"/>
              </a:rPr>
              <a:t>Water</a:t>
            </a:r>
            <a:endParaRPr sz="2200">
              <a:latin typeface="Schoolbook Uralic"/>
              <a:cs typeface="Schoolbook Ural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32375" y="5439867"/>
            <a:ext cx="25488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FFFFFF"/>
                </a:solidFill>
                <a:latin typeface="Schoolbook Uralic"/>
                <a:cs typeface="Schoolbook Uralic"/>
              </a:rPr>
              <a:t>Sulfur hexafluoride</a:t>
            </a:r>
            <a:endParaRPr sz="2200">
              <a:latin typeface="Schoolbook Uralic"/>
              <a:cs typeface="Schoolbook Uralic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6480428" y="3077082"/>
            <a:ext cx="11728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FFFFFF"/>
                </a:solidFill>
              </a:rPr>
              <a:t>Methane</a:t>
            </a:r>
            <a:endParaRPr sz="2200"/>
          </a:p>
        </p:txBody>
      </p:sp>
      <p:sp>
        <p:nvSpPr>
          <p:cNvPr id="21" name="object 21"/>
          <p:cNvSpPr/>
          <p:nvPr/>
        </p:nvSpPr>
        <p:spPr>
          <a:xfrm>
            <a:off x="761" y="761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8141207" y="0"/>
            <a:ext cx="1016635" cy="6884034"/>
            <a:chOff x="8141207" y="0"/>
            <a:chExt cx="1016635" cy="6884034"/>
          </a:xfrm>
        </p:grpSpPr>
        <p:sp>
          <p:nvSpPr>
            <p:cNvPr id="23" name="object 23"/>
            <p:cNvSpPr/>
            <p:nvPr/>
          </p:nvSpPr>
          <p:spPr>
            <a:xfrm>
              <a:off x="8154161" y="761"/>
              <a:ext cx="990600" cy="6858000"/>
            </a:xfrm>
            <a:custGeom>
              <a:avLst/>
              <a:gdLst/>
              <a:ahLst/>
              <a:cxnLst/>
              <a:rect l="l" t="t" r="r" b="b"/>
              <a:pathLst>
                <a:path w="990600" h="6858000">
                  <a:moveTo>
                    <a:pt x="9906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90600" y="6858000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154161" y="761"/>
              <a:ext cx="990600" cy="6858000"/>
            </a:xfrm>
            <a:custGeom>
              <a:avLst/>
              <a:gdLst/>
              <a:ahLst/>
              <a:cxnLst/>
              <a:rect l="l" t="t" r="r" b="b"/>
              <a:pathLst>
                <a:path w="990600" h="6858000">
                  <a:moveTo>
                    <a:pt x="0" y="6858000"/>
                  </a:moveTo>
                  <a:lnTo>
                    <a:pt x="990600" y="6858000"/>
                  </a:lnTo>
                  <a:lnTo>
                    <a:pt x="9906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30127" y="350785"/>
            <a:ext cx="887094" cy="518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029"/>
              </a:lnSpc>
            </a:pPr>
            <a:r>
              <a:rPr sz="3400" spc="-5" dirty="0">
                <a:solidFill>
                  <a:srgbClr val="FFFFFF"/>
                </a:solidFill>
                <a:latin typeface="Schoolbook Uralic"/>
                <a:cs typeface="Schoolbook Uralic"/>
              </a:rPr>
              <a:t>heat</a:t>
            </a:r>
            <a:endParaRPr sz="3400">
              <a:latin typeface="Schoolbook Uralic"/>
              <a:cs typeface="Schoolbook Uralic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399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75175" y="330453"/>
            <a:ext cx="41719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95" dirty="0">
                <a:solidFill>
                  <a:srgbClr val="FFFFFF"/>
                </a:solidFill>
                <a:latin typeface="Verdana"/>
                <a:cs typeface="Verdana"/>
              </a:rPr>
              <a:t>“Greenhouse</a:t>
            </a:r>
            <a:r>
              <a:rPr sz="3600" spc="-2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600" spc="-200" dirty="0">
                <a:solidFill>
                  <a:srgbClr val="FFFFFF"/>
                </a:solidFill>
                <a:latin typeface="Verdana"/>
                <a:cs typeface="Verdana"/>
              </a:rPr>
              <a:t>effect”</a:t>
            </a:r>
            <a:endParaRPr sz="36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99428" y="4296536"/>
            <a:ext cx="2662555" cy="2037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spc="-35" dirty="0">
                <a:solidFill>
                  <a:srgbClr val="FFFFFF"/>
                </a:solidFill>
                <a:latin typeface="Verdana"/>
                <a:cs typeface="Verdana"/>
              </a:rPr>
              <a:t>Earth’s </a:t>
            </a:r>
            <a:r>
              <a:rPr sz="2200" spc="-100" dirty="0">
                <a:solidFill>
                  <a:srgbClr val="FFFFFF"/>
                </a:solidFill>
                <a:latin typeface="Verdana"/>
                <a:cs typeface="Verdana"/>
              </a:rPr>
              <a:t>surface  </a:t>
            </a:r>
            <a:r>
              <a:rPr sz="2200" spc="-5" dirty="0">
                <a:solidFill>
                  <a:srgbClr val="FFFFFF"/>
                </a:solidFill>
                <a:latin typeface="Schoolbook Uralic"/>
                <a:cs typeface="Schoolbook Uralic"/>
              </a:rPr>
              <a:t>absorbs heat from  the sun and then </a:t>
            </a:r>
            <a:r>
              <a:rPr sz="2200" dirty="0">
                <a:solidFill>
                  <a:srgbClr val="FFFFFF"/>
                </a:solidFill>
                <a:latin typeface="Schoolbook Uralic"/>
                <a:cs typeface="Schoolbook Uralic"/>
              </a:rPr>
              <a:t>re-  </a:t>
            </a:r>
            <a:r>
              <a:rPr sz="2200" spc="-5" dirty="0">
                <a:solidFill>
                  <a:srgbClr val="FFFFFF"/>
                </a:solidFill>
                <a:latin typeface="Schoolbook Uralic"/>
                <a:cs typeface="Schoolbook Uralic"/>
              </a:rPr>
              <a:t>radiates it </a:t>
            </a:r>
            <a:r>
              <a:rPr sz="2200" spc="-10" dirty="0">
                <a:solidFill>
                  <a:srgbClr val="FFFFFF"/>
                </a:solidFill>
                <a:latin typeface="Schoolbook Uralic"/>
                <a:cs typeface="Schoolbook Uralic"/>
              </a:rPr>
              <a:t>back </a:t>
            </a:r>
            <a:r>
              <a:rPr sz="2200" spc="-5" dirty="0">
                <a:solidFill>
                  <a:srgbClr val="FFFFFF"/>
                </a:solidFill>
                <a:latin typeface="Schoolbook Uralic"/>
                <a:cs typeface="Schoolbook Uralic"/>
              </a:rPr>
              <a:t>into  </a:t>
            </a:r>
            <a:r>
              <a:rPr sz="2200" spc="-10" dirty="0">
                <a:solidFill>
                  <a:srgbClr val="FFFFFF"/>
                </a:solidFill>
                <a:latin typeface="Schoolbook Uralic"/>
                <a:cs typeface="Schoolbook Uralic"/>
              </a:rPr>
              <a:t>the </a:t>
            </a:r>
            <a:r>
              <a:rPr sz="2200" spc="-5" dirty="0">
                <a:solidFill>
                  <a:srgbClr val="FFFFFF"/>
                </a:solidFill>
                <a:latin typeface="Schoolbook Uralic"/>
                <a:cs typeface="Schoolbook Uralic"/>
              </a:rPr>
              <a:t>atmosphere </a:t>
            </a:r>
            <a:r>
              <a:rPr sz="2200" spc="-10" dirty="0">
                <a:solidFill>
                  <a:srgbClr val="FFFFFF"/>
                </a:solidFill>
                <a:latin typeface="Schoolbook Uralic"/>
                <a:cs typeface="Schoolbook Uralic"/>
              </a:rPr>
              <a:t>and  </a:t>
            </a:r>
            <a:r>
              <a:rPr sz="2200" spc="-5" dirty="0">
                <a:solidFill>
                  <a:srgbClr val="FFFFFF"/>
                </a:solidFill>
                <a:latin typeface="Schoolbook Uralic"/>
                <a:cs typeface="Schoolbook Uralic"/>
              </a:rPr>
              <a:t>to</a:t>
            </a:r>
            <a:r>
              <a:rPr sz="2200" spc="-10" dirty="0">
                <a:solidFill>
                  <a:srgbClr val="FFFFFF"/>
                </a:solidFill>
                <a:latin typeface="Schoolbook Uralic"/>
                <a:cs typeface="Schoolbook Uralic"/>
              </a:rPr>
              <a:t> space.</a:t>
            </a:r>
            <a:endParaRPr sz="2200">
              <a:latin typeface="Schoolbook Uralic"/>
              <a:cs typeface="Schoolbook Ural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9285" y="255219"/>
            <a:ext cx="832865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FFFFFF"/>
                </a:solidFill>
              </a:rPr>
              <a:t>Increasing greenhouse gases trap </a:t>
            </a:r>
            <a:r>
              <a:rPr sz="3200" dirty="0">
                <a:solidFill>
                  <a:srgbClr val="FFFFFF"/>
                </a:solidFill>
              </a:rPr>
              <a:t>more</a:t>
            </a:r>
            <a:r>
              <a:rPr sz="3200" spc="-50" dirty="0">
                <a:solidFill>
                  <a:srgbClr val="FFFFFF"/>
                </a:solidFill>
              </a:rPr>
              <a:t> </a:t>
            </a:r>
            <a:r>
              <a:rPr sz="3200" dirty="0">
                <a:solidFill>
                  <a:srgbClr val="FFFFFF"/>
                </a:solidFill>
              </a:rPr>
              <a:t>heat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78739" y="1020826"/>
            <a:ext cx="3340100" cy="551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Schoolbook Uralic"/>
                <a:cs typeface="Schoolbook Uralic"/>
              </a:rPr>
              <a:t>Much of </a:t>
            </a:r>
            <a:r>
              <a:rPr sz="1800" spc="-5" dirty="0">
                <a:solidFill>
                  <a:srgbClr val="FFFFFF"/>
                </a:solidFill>
                <a:latin typeface="Schoolbook Uralic"/>
                <a:cs typeface="Schoolbook Uralic"/>
              </a:rPr>
              <a:t>this </a:t>
            </a:r>
            <a:r>
              <a:rPr sz="1800" dirty="0">
                <a:solidFill>
                  <a:srgbClr val="FFFFFF"/>
                </a:solidFill>
                <a:latin typeface="Schoolbook Uralic"/>
                <a:cs typeface="Schoolbook Uralic"/>
              </a:rPr>
              <a:t>heat </a:t>
            </a:r>
            <a:r>
              <a:rPr sz="1800" spc="-5" dirty="0">
                <a:solidFill>
                  <a:srgbClr val="FFFFFF"/>
                </a:solidFill>
                <a:latin typeface="Schoolbook Uralic"/>
                <a:cs typeface="Schoolbook Uralic"/>
              </a:rPr>
              <a:t>is absorbed  by greenhouse gases, </a:t>
            </a:r>
            <a:r>
              <a:rPr sz="1800" dirty="0">
                <a:solidFill>
                  <a:srgbClr val="FFFFFF"/>
                </a:solidFill>
                <a:latin typeface="Schoolbook Uralic"/>
                <a:cs typeface="Schoolbook Uralic"/>
              </a:rPr>
              <a:t>which  </a:t>
            </a:r>
            <a:r>
              <a:rPr sz="1800" spc="-5" dirty="0">
                <a:solidFill>
                  <a:srgbClr val="FFFFFF"/>
                </a:solidFill>
                <a:latin typeface="Schoolbook Uralic"/>
                <a:cs typeface="Schoolbook Uralic"/>
              </a:rPr>
              <a:t>then send the </a:t>
            </a:r>
            <a:r>
              <a:rPr sz="1800" dirty="0">
                <a:solidFill>
                  <a:srgbClr val="FFFFFF"/>
                </a:solidFill>
                <a:latin typeface="Schoolbook Uralic"/>
                <a:cs typeface="Schoolbook Uralic"/>
              </a:rPr>
              <a:t>heat </a:t>
            </a:r>
            <a:r>
              <a:rPr sz="1800" spc="-5" dirty="0">
                <a:solidFill>
                  <a:srgbClr val="FFFFFF"/>
                </a:solidFill>
                <a:latin typeface="Schoolbook Uralic"/>
                <a:cs typeface="Schoolbook Uralic"/>
              </a:rPr>
              <a:t>back to the  surface, to </a:t>
            </a:r>
            <a:r>
              <a:rPr sz="1800" dirty="0">
                <a:solidFill>
                  <a:srgbClr val="FFFFFF"/>
                </a:solidFill>
                <a:latin typeface="Schoolbook Uralic"/>
                <a:cs typeface="Schoolbook Uralic"/>
              </a:rPr>
              <a:t>other greenhouse  </a:t>
            </a:r>
            <a:r>
              <a:rPr sz="1800" spc="-5" dirty="0">
                <a:solidFill>
                  <a:srgbClr val="FFFFFF"/>
                </a:solidFill>
                <a:latin typeface="Schoolbook Uralic"/>
                <a:cs typeface="Schoolbook Uralic"/>
              </a:rPr>
              <a:t>gas molecules, or </a:t>
            </a:r>
            <a:r>
              <a:rPr sz="1800" dirty="0">
                <a:solidFill>
                  <a:srgbClr val="FFFFFF"/>
                </a:solidFill>
                <a:latin typeface="Schoolbook Uralic"/>
                <a:cs typeface="Schoolbook Uralic"/>
              </a:rPr>
              <a:t>out </a:t>
            </a:r>
            <a:r>
              <a:rPr sz="1800" spc="-5" dirty="0">
                <a:solidFill>
                  <a:srgbClr val="FFFFFF"/>
                </a:solidFill>
                <a:latin typeface="Schoolbook Uralic"/>
                <a:cs typeface="Schoolbook Uralic"/>
              </a:rPr>
              <a:t>to space.  </a:t>
            </a:r>
            <a:r>
              <a:rPr sz="1800" dirty="0">
                <a:solidFill>
                  <a:srgbClr val="FFFFFF"/>
                </a:solidFill>
                <a:latin typeface="Schoolbook Uralic"/>
                <a:cs typeface="Schoolbook Uralic"/>
              </a:rPr>
              <a:t>Though only </a:t>
            </a:r>
            <a:r>
              <a:rPr sz="1800" spc="-5" dirty="0">
                <a:solidFill>
                  <a:srgbClr val="FFFFFF"/>
                </a:solidFill>
                <a:latin typeface="Schoolbook Uralic"/>
                <a:cs typeface="Schoolbook Uralic"/>
              </a:rPr>
              <a:t>1% </a:t>
            </a:r>
            <a:r>
              <a:rPr sz="1800" dirty="0">
                <a:solidFill>
                  <a:srgbClr val="FFFFFF"/>
                </a:solidFill>
                <a:latin typeface="Schoolbook Uralic"/>
                <a:cs typeface="Schoolbook Uralic"/>
              </a:rPr>
              <a:t>of</a:t>
            </a:r>
            <a:r>
              <a:rPr sz="1800" spc="-114" dirty="0">
                <a:solidFill>
                  <a:srgbClr val="FFFFFF"/>
                </a:solidFill>
                <a:latin typeface="Schoolbook Uralic"/>
                <a:cs typeface="Schoolbook Uralic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choolbook Uralic"/>
                <a:cs typeface="Schoolbook Uralic"/>
              </a:rPr>
              <a:t>atmospheric  gases are greenhouse gases,  they are extremely powerful  </a:t>
            </a:r>
            <a:r>
              <a:rPr sz="1800" dirty="0">
                <a:solidFill>
                  <a:srgbClr val="FFFFFF"/>
                </a:solidFill>
                <a:latin typeface="Schoolbook Uralic"/>
                <a:cs typeface="Schoolbook Uralic"/>
              </a:rPr>
              <a:t>heat</a:t>
            </a:r>
            <a:r>
              <a:rPr sz="1800" spc="-5" dirty="0">
                <a:solidFill>
                  <a:srgbClr val="FFFFFF"/>
                </a:solidFill>
                <a:latin typeface="Schoolbook Uralic"/>
                <a:cs typeface="Schoolbook Uralic"/>
              </a:rPr>
              <a:t> trappers.</a:t>
            </a:r>
            <a:endParaRPr sz="1800">
              <a:latin typeface="Schoolbook Uralic"/>
              <a:cs typeface="Schoolbook Uralic"/>
            </a:endParaRPr>
          </a:p>
          <a:p>
            <a:pPr marL="12700" marR="1518920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Schoolbook Uralic"/>
                <a:cs typeface="Schoolbook Uralic"/>
              </a:rPr>
              <a:t>By </a:t>
            </a:r>
            <a:r>
              <a:rPr sz="1800" dirty="0">
                <a:solidFill>
                  <a:srgbClr val="FFFFFF"/>
                </a:solidFill>
                <a:latin typeface="Schoolbook Uralic"/>
                <a:cs typeface="Schoolbook Uralic"/>
              </a:rPr>
              <a:t>burning</a:t>
            </a:r>
            <a:r>
              <a:rPr sz="1800" spc="-105" dirty="0">
                <a:solidFill>
                  <a:srgbClr val="FFFFFF"/>
                </a:solidFill>
                <a:latin typeface="Schoolbook Uralic"/>
                <a:cs typeface="Schoolbook Uralic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choolbook Uralic"/>
                <a:cs typeface="Schoolbook Uralic"/>
              </a:rPr>
              <a:t>fossil  fuels faster and  faster, humans  are</a:t>
            </a:r>
            <a:r>
              <a:rPr sz="1800" spc="-15" dirty="0">
                <a:solidFill>
                  <a:srgbClr val="FFFFFF"/>
                </a:solidFill>
                <a:latin typeface="Schoolbook Uralic"/>
                <a:cs typeface="Schoolbook Uralic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choolbook Uralic"/>
                <a:cs typeface="Schoolbook Uralic"/>
              </a:rPr>
              <a:t>effectively</a:t>
            </a:r>
            <a:endParaRPr sz="1800">
              <a:latin typeface="Schoolbook Uralic"/>
              <a:cs typeface="Schoolbook Uralic"/>
            </a:endParaRPr>
          </a:p>
          <a:p>
            <a:pPr marL="12700" marR="7620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FFFFFF"/>
                </a:solidFill>
                <a:latin typeface="Schoolbook Uralic"/>
                <a:cs typeface="Schoolbook Uralic"/>
              </a:rPr>
              <a:t>piling on more </a:t>
            </a:r>
            <a:r>
              <a:rPr sz="1800" spc="-10" dirty="0">
                <a:solidFill>
                  <a:srgbClr val="FFFFFF"/>
                </a:solidFill>
                <a:latin typeface="Schoolbook Uralic"/>
                <a:cs typeface="Schoolbook Uralic"/>
              </a:rPr>
              <a:t>blankets,  </a:t>
            </a:r>
            <a:r>
              <a:rPr sz="1800" spc="-5" dirty="0">
                <a:solidFill>
                  <a:srgbClr val="FFFFFF"/>
                </a:solidFill>
                <a:latin typeface="Schoolbook Uralic"/>
                <a:cs typeface="Schoolbook Uralic"/>
              </a:rPr>
              <a:t>heating the</a:t>
            </a:r>
            <a:r>
              <a:rPr sz="1800" spc="-20" dirty="0">
                <a:solidFill>
                  <a:srgbClr val="FFFFFF"/>
                </a:solidFill>
                <a:latin typeface="Schoolbook Uralic"/>
                <a:cs typeface="Schoolbook Uralic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choolbook Uralic"/>
                <a:cs typeface="Schoolbook Uralic"/>
              </a:rPr>
              <a:t>planet</a:t>
            </a:r>
            <a:endParaRPr sz="1800">
              <a:latin typeface="Schoolbook Uralic"/>
              <a:cs typeface="Schoolbook Uralic"/>
            </a:endParaRPr>
          </a:p>
          <a:p>
            <a:pPr marL="12700" marR="1287145" indent="63500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Schoolbook Uralic"/>
                <a:cs typeface="Schoolbook Uralic"/>
              </a:rPr>
              <a:t>so much and </a:t>
            </a:r>
            <a:r>
              <a:rPr sz="1800" dirty="0">
                <a:solidFill>
                  <a:srgbClr val="FFFFFF"/>
                </a:solidFill>
                <a:latin typeface="Schoolbook Uralic"/>
                <a:cs typeface="Schoolbook Uralic"/>
              </a:rPr>
              <a:t>so  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quickly that it’s  </a:t>
            </a:r>
            <a:r>
              <a:rPr sz="1800" dirty="0">
                <a:solidFill>
                  <a:srgbClr val="FFFFFF"/>
                </a:solidFill>
                <a:latin typeface="Schoolbook Uralic"/>
                <a:cs typeface="Schoolbook Uralic"/>
              </a:rPr>
              <a:t>hard </a:t>
            </a:r>
            <a:r>
              <a:rPr sz="1800" spc="-5" dirty="0">
                <a:solidFill>
                  <a:srgbClr val="FFFFFF"/>
                </a:solidFill>
                <a:latin typeface="Schoolbook Uralic"/>
                <a:cs typeface="Schoolbook Uralic"/>
              </a:rPr>
              <a:t>for </a:t>
            </a:r>
            <a:r>
              <a:rPr sz="1800" dirty="0">
                <a:solidFill>
                  <a:srgbClr val="FFFFFF"/>
                </a:solidFill>
                <a:latin typeface="Schoolbook Uralic"/>
                <a:cs typeface="Schoolbook Uralic"/>
              </a:rPr>
              <a:t>Mother  </a:t>
            </a:r>
            <a:r>
              <a:rPr sz="1800" spc="-5" dirty="0">
                <a:solidFill>
                  <a:srgbClr val="FFFFFF"/>
                </a:solidFill>
                <a:latin typeface="Schoolbook Uralic"/>
                <a:cs typeface="Schoolbook Uralic"/>
              </a:rPr>
              <a:t>Nature and</a:t>
            </a:r>
            <a:r>
              <a:rPr sz="1800" spc="-60" dirty="0">
                <a:solidFill>
                  <a:srgbClr val="FFFFFF"/>
                </a:solidFill>
                <a:latin typeface="Schoolbook Uralic"/>
                <a:cs typeface="Schoolbook Uralic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choolbook Uralic"/>
                <a:cs typeface="Schoolbook Uralic"/>
              </a:rPr>
              <a:t>human  societies to</a:t>
            </a:r>
            <a:r>
              <a:rPr sz="1800" spc="-20" dirty="0">
                <a:solidFill>
                  <a:srgbClr val="FFFFFF"/>
                </a:solidFill>
                <a:latin typeface="Schoolbook Uralic"/>
                <a:cs typeface="Schoolbook Uralic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choolbook Uralic"/>
                <a:cs typeface="Schoolbook Uralic"/>
              </a:rPr>
              <a:t>adapt.</a:t>
            </a:r>
            <a:endParaRPr sz="1800">
              <a:latin typeface="Schoolbook Uralic"/>
              <a:cs typeface="Schoolbook Ural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2597" y="297879"/>
            <a:ext cx="7845224" cy="11297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5266" y="517397"/>
            <a:ext cx="68751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04265" algn="l"/>
                <a:tab pos="4677410" algn="l"/>
              </a:tabLst>
            </a:pPr>
            <a:r>
              <a:rPr sz="3600" spc="-10" dirty="0">
                <a:solidFill>
                  <a:srgbClr val="FFFFFF"/>
                </a:solidFill>
              </a:rPr>
              <a:t>Ho</a:t>
            </a:r>
            <a:r>
              <a:rPr sz="3600" spc="-5" dirty="0">
                <a:solidFill>
                  <a:srgbClr val="FFFFFF"/>
                </a:solidFill>
              </a:rPr>
              <a:t>w	t</a:t>
            </a:r>
            <a:r>
              <a:rPr sz="3600" dirty="0">
                <a:solidFill>
                  <a:srgbClr val="FFFFFF"/>
                </a:solidFill>
              </a:rPr>
              <a:t>o</a:t>
            </a:r>
            <a:r>
              <a:rPr sz="3600" spc="-5" dirty="0">
                <a:solidFill>
                  <a:srgbClr val="FFFFFF"/>
                </a:solidFill>
              </a:rPr>
              <a:t> </a:t>
            </a:r>
            <a:r>
              <a:rPr sz="3600" dirty="0">
                <a:solidFill>
                  <a:srgbClr val="FFFFFF"/>
                </a:solidFill>
              </a:rPr>
              <a:t>reduce </a:t>
            </a:r>
            <a:r>
              <a:rPr sz="3600" spc="-5" dirty="0">
                <a:solidFill>
                  <a:srgbClr val="FFFFFF"/>
                </a:solidFill>
              </a:rPr>
              <a:t>G</a:t>
            </a:r>
            <a:r>
              <a:rPr sz="3600" spc="-20" dirty="0">
                <a:solidFill>
                  <a:srgbClr val="FFFFFF"/>
                </a:solidFill>
              </a:rPr>
              <a:t>l</a:t>
            </a:r>
            <a:r>
              <a:rPr sz="3600" dirty="0">
                <a:solidFill>
                  <a:srgbClr val="FFFFFF"/>
                </a:solidFill>
              </a:rPr>
              <a:t>obal	Warming?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993444" y="1628902"/>
            <a:ext cx="6757034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4480" indent="-272415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SzPct val="95833"/>
              <a:buFont typeface="Wingdings"/>
              <a:buChar char=""/>
              <a:tabLst>
                <a:tab pos="285115" algn="l"/>
              </a:tabLst>
            </a:pPr>
            <a:r>
              <a:rPr sz="2400" dirty="0">
                <a:latin typeface="Schoolbook Uralic"/>
                <a:cs typeface="Schoolbook Uralic"/>
              </a:rPr>
              <a:t>Produce </a:t>
            </a:r>
            <a:r>
              <a:rPr sz="2400" spc="-5" dirty="0">
                <a:latin typeface="Schoolbook Uralic"/>
                <a:cs typeface="Schoolbook Uralic"/>
              </a:rPr>
              <a:t>more fuel-efficient</a:t>
            </a:r>
            <a:r>
              <a:rPr sz="2400" spc="-55" dirty="0">
                <a:latin typeface="Schoolbook Uralic"/>
                <a:cs typeface="Schoolbook Uralic"/>
              </a:rPr>
              <a:t> </a:t>
            </a:r>
            <a:r>
              <a:rPr sz="2400" spc="-5" dirty="0">
                <a:latin typeface="Schoolbook Uralic"/>
                <a:cs typeface="Schoolbook Uralic"/>
              </a:rPr>
              <a:t>vehicles</a:t>
            </a:r>
            <a:endParaRPr sz="2400">
              <a:latin typeface="Schoolbook Uralic"/>
              <a:cs typeface="Schoolbook Uralic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C00000"/>
              </a:buClr>
              <a:buFont typeface="Wingdings"/>
              <a:buChar char=""/>
            </a:pPr>
            <a:endParaRPr sz="2500">
              <a:latin typeface="Schoolbook Uralic"/>
              <a:cs typeface="Schoolbook Uralic"/>
            </a:endParaRPr>
          </a:p>
          <a:p>
            <a:pPr marL="284480" indent="-272415">
              <a:lnSpc>
                <a:spcPct val="100000"/>
              </a:lnSpc>
              <a:buClr>
                <a:srgbClr val="C00000"/>
              </a:buClr>
              <a:buSzPct val="95833"/>
              <a:buFont typeface="Wingdings"/>
              <a:buChar char=""/>
              <a:tabLst>
                <a:tab pos="285115" algn="l"/>
              </a:tabLst>
            </a:pPr>
            <a:r>
              <a:rPr sz="2400" spc="-5" dirty="0">
                <a:latin typeface="Schoolbook Uralic"/>
                <a:cs typeface="Schoolbook Uralic"/>
              </a:rPr>
              <a:t>Reduce vehicle</a:t>
            </a:r>
            <a:r>
              <a:rPr sz="2400" spc="-35" dirty="0">
                <a:latin typeface="Schoolbook Uralic"/>
                <a:cs typeface="Schoolbook Uralic"/>
              </a:rPr>
              <a:t> </a:t>
            </a:r>
            <a:r>
              <a:rPr sz="2400" spc="-5" dirty="0">
                <a:latin typeface="Schoolbook Uralic"/>
                <a:cs typeface="Schoolbook Uralic"/>
              </a:rPr>
              <a:t>use</a:t>
            </a:r>
            <a:endParaRPr sz="2400">
              <a:latin typeface="Schoolbook Uralic"/>
              <a:cs typeface="Schoolbook Uralic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C00000"/>
              </a:buClr>
              <a:buFont typeface="Wingdings"/>
              <a:buChar char=""/>
            </a:pPr>
            <a:endParaRPr sz="2500">
              <a:latin typeface="Schoolbook Uralic"/>
              <a:cs typeface="Schoolbook Uralic"/>
            </a:endParaRPr>
          </a:p>
          <a:p>
            <a:pPr marL="284480" indent="-272415">
              <a:lnSpc>
                <a:spcPct val="100000"/>
              </a:lnSpc>
              <a:buClr>
                <a:srgbClr val="C00000"/>
              </a:buClr>
              <a:buSzPct val="95833"/>
              <a:buFont typeface="Wingdings"/>
              <a:buChar char=""/>
              <a:tabLst>
                <a:tab pos="285115" algn="l"/>
              </a:tabLst>
            </a:pPr>
            <a:r>
              <a:rPr sz="2400" spc="-5" dirty="0">
                <a:latin typeface="Schoolbook Uralic"/>
                <a:cs typeface="Schoolbook Uralic"/>
              </a:rPr>
              <a:t>Improve energy-efficiency in</a:t>
            </a:r>
            <a:r>
              <a:rPr sz="2400" spc="-70" dirty="0">
                <a:latin typeface="Schoolbook Uralic"/>
                <a:cs typeface="Schoolbook Uralic"/>
              </a:rPr>
              <a:t> </a:t>
            </a:r>
            <a:r>
              <a:rPr sz="2400" spc="-5" dirty="0">
                <a:latin typeface="Schoolbook Uralic"/>
                <a:cs typeface="Schoolbook Uralic"/>
              </a:rPr>
              <a:t>buildings</a:t>
            </a:r>
            <a:endParaRPr sz="2400">
              <a:latin typeface="Schoolbook Uralic"/>
              <a:cs typeface="Schoolbook Uralic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C00000"/>
              </a:buClr>
              <a:buFont typeface="Wingdings"/>
              <a:buChar char=""/>
            </a:pPr>
            <a:endParaRPr sz="2500">
              <a:latin typeface="Schoolbook Uralic"/>
              <a:cs typeface="Schoolbook Uralic"/>
            </a:endParaRPr>
          </a:p>
          <a:p>
            <a:pPr marL="284480" indent="-272415">
              <a:lnSpc>
                <a:spcPct val="100000"/>
              </a:lnSpc>
              <a:buClr>
                <a:srgbClr val="C00000"/>
              </a:buClr>
              <a:buSzPct val="95833"/>
              <a:buFont typeface="Wingdings"/>
              <a:buChar char=""/>
              <a:tabLst>
                <a:tab pos="285115" algn="l"/>
              </a:tabLst>
            </a:pPr>
            <a:r>
              <a:rPr sz="2400" dirty="0">
                <a:latin typeface="Schoolbook Uralic"/>
                <a:cs typeface="Schoolbook Uralic"/>
              </a:rPr>
              <a:t>Develop carbon capture </a:t>
            </a:r>
            <a:r>
              <a:rPr sz="2400" spc="-5" dirty="0">
                <a:latin typeface="Schoolbook Uralic"/>
                <a:cs typeface="Schoolbook Uralic"/>
              </a:rPr>
              <a:t>and </a:t>
            </a:r>
            <a:r>
              <a:rPr sz="2400" dirty="0">
                <a:latin typeface="Schoolbook Uralic"/>
                <a:cs typeface="Schoolbook Uralic"/>
              </a:rPr>
              <a:t>storage</a:t>
            </a:r>
            <a:r>
              <a:rPr sz="2400" spc="-120" dirty="0">
                <a:latin typeface="Schoolbook Uralic"/>
                <a:cs typeface="Schoolbook Uralic"/>
              </a:rPr>
              <a:t> </a:t>
            </a:r>
            <a:r>
              <a:rPr sz="2400" spc="-5" dirty="0">
                <a:latin typeface="Schoolbook Uralic"/>
                <a:cs typeface="Schoolbook Uralic"/>
              </a:rPr>
              <a:t>processes</a:t>
            </a:r>
            <a:endParaRPr sz="2400">
              <a:latin typeface="Schoolbook Uralic"/>
              <a:cs typeface="Schoolbook Uralic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C00000"/>
              </a:buClr>
              <a:buFont typeface="Wingdings"/>
              <a:buChar char=""/>
            </a:pPr>
            <a:endParaRPr sz="2500">
              <a:latin typeface="Schoolbook Uralic"/>
              <a:cs typeface="Schoolbook Uralic"/>
            </a:endParaRPr>
          </a:p>
          <a:p>
            <a:pPr marL="284480" indent="-272415">
              <a:lnSpc>
                <a:spcPct val="100000"/>
              </a:lnSpc>
              <a:buClr>
                <a:srgbClr val="C00000"/>
              </a:buClr>
              <a:buSzPct val="95833"/>
              <a:buFont typeface="Wingdings"/>
              <a:buChar char=""/>
              <a:tabLst>
                <a:tab pos="285115" algn="l"/>
              </a:tabLst>
            </a:pPr>
            <a:r>
              <a:rPr sz="2400" dirty="0">
                <a:latin typeface="Schoolbook Uralic"/>
                <a:cs typeface="Schoolbook Uralic"/>
              </a:rPr>
              <a:t>Triple </a:t>
            </a:r>
            <a:r>
              <a:rPr sz="2400" spc="-5" dirty="0">
                <a:latin typeface="Schoolbook Uralic"/>
                <a:cs typeface="Schoolbook Uralic"/>
              </a:rPr>
              <a:t>nuclear</a:t>
            </a:r>
            <a:r>
              <a:rPr sz="2400" spc="-50" dirty="0">
                <a:latin typeface="Schoolbook Uralic"/>
                <a:cs typeface="Schoolbook Uralic"/>
              </a:rPr>
              <a:t> </a:t>
            </a:r>
            <a:r>
              <a:rPr sz="2400" spc="-5" dirty="0">
                <a:latin typeface="Schoolbook Uralic"/>
                <a:cs typeface="Schoolbook Uralic"/>
              </a:rPr>
              <a:t>power</a:t>
            </a:r>
            <a:endParaRPr sz="2400">
              <a:latin typeface="Schoolbook Uralic"/>
              <a:cs typeface="Schoolbook Uralic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C00000"/>
              </a:buClr>
              <a:buFont typeface="Wingdings"/>
              <a:buChar char=""/>
            </a:pPr>
            <a:endParaRPr sz="2500">
              <a:latin typeface="Schoolbook Uralic"/>
              <a:cs typeface="Schoolbook Uralic"/>
            </a:endParaRPr>
          </a:p>
          <a:p>
            <a:pPr marL="284480" indent="-272415">
              <a:lnSpc>
                <a:spcPct val="100000"/>
              </a:lnSpc>
              <a:buClr>
                <a:srgbClr val="C00000"/>
              </a:buClr>
              <a:buSzPct val="95833"/>
              <a:buFont typeface="Wingdings"/>
              <a:buChar char=""/>
              <a:tabLst>
                <a:tab pos="285115" algn="l"/>
              </a:tabLst>
            </a:pPr>
            <a:r>
              <a:rPr sz="2400" spc="-5" dirty="0">
                <a:latin typeface="Schoolbook Uralic"/>
                <a:cs typeface="Schoolbook Uralic"/>
              </a:rPr>
              <a:t>Increase </a:t>
            </a:r>
            <a:r>
              <a:rPr sz="2400" dirty="0">
                <a:latin typeface="Schoolbook Uralic"/>
                <a:cs typeface="Schoolbook Uralic"/>
              </a:rPr>
              <a:t>solar</a:t>
            </a:r>
            <a:r>
              <a:rPr sz="2400" spc="-15" dirty="0">
                <a:latin typeface="Schoolbook Uralic"/>
                <a:cs typeface="Schoolbook Uralic"/>
              </a:rPr>
              <a:t> </a:t>
            </a:r>
            <a:r>
              <a:rPr sz="2400" spc="-5" dirty="0">
                <a:latin typeface="Schoolbook Uralic"/>
                <a:cs typeface="Schoolbook Uralic"/>
              </a:rPr>
              <a:t>power</a:t>
            </a:r>
            <a:endParaRPr sz="2400">
              <a:latin typeface="Schoolbook Uralic"/>
              <a:cs typeface="Schoolbook Uralic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C00000"/>
              </a:buClr>
              <a:buFont typeface="Wingdings"/>
              <a:buChar char=""/>
            </a:pPr>
            <a:endParaRPr sz="2500">
              <a:latin typeface="Schoolbook Uralic"/>
              <a:cs typeface="Schoolbook Uralic"/>
            </a:endParaRPr>
          </a:p>
          <a:p>
            <a:pPr marL="284480" indent="-272415">
              <a:lnSpc>
                <a:spcPct val="100000"/>
              </a:lnSpc>
              <a:buClr>
                <a:srgbClr val="C00000"/>
              </a:buClr>
              <a:buSzPct val="95833"/>
              <a:buFont typeface="Wingdings"/>
              <a:buChar char=""/>
              <a:tabLst>
                <a:tab pos="285115" algn="l"/>
              </a:tabLst>
            </a:pPr>
            <a:r>
              <a:rPr sz="2400" dirty="0">
                <a:latin typeface="Schoolbook Uralic"/>
                <a:cs typeface="Schoolbook Uralic"/>
              </a:rPr>
              <a:t>Decrease </a:t>
            </a:r>
            <a:r>
              <a:rPr sz="2400" spc="-5" dirty="0">
                <a:latin typeface="Schoolbook Uralic"/>
                <a:cs typeface="Schoolbook Uralic"/>
              </a:rPr>
              <a:t>deforestation/plant</a:t>
            </a:r>
            <a:r>
              <a:rPr sz="2400" spc="-70" dirty="0">
                <a:latin typeface="Schoolbook Uralic"/>
                <a:cs typeface="Schoolbook Uralic"/>
              </a:rPr>
              <a:t> </a:t>
            </a:r>
            <a:r>
              <a:rPr sz="2400" spc="-5" dirty="0">
                <a:latin typeface="Schoolbook Uralic"/>
                <a:cs typeface="Schoolbook Uralic"/>
              </a:rPr>
              <a:t>forests</a:t>
            </a:r>
            <a:endParaRPr sz="2400">
              <a:latin typeface="Schoolbook Uralic"/>
              <a:cs typeface="Schoolbook Ural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799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5091" y="490727"/>
              <a:ext cx="7755635" cy="17952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80033"/>
            <a:ext cx="7993380" cy="5143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7665" marR="531495" indent="-279400">
              <a:lnSpc>
                <a:spcPct val="100000"/>
              </a:lnSpc>
              <a:spcBef>
                <a:spcPts val="105"/>
              </a:spcBef>
              <a:buClr>
                <a:srgbClr val="C00000"/>
              </a:buClr>
              <a:buSzPct val="95000"/>
              <a:buFont typeface="Wingdings"/>
              <a:buChar char=""/>
              <a:tabLst>
                <a:tab pos="316865" algn="l"/>
                <a:tab pos="2303145" algn="l"/>
              </a:tabLst>
            </a:pPr>
            <a:r>
              <a:rPr sz="2000" dirty="0">
                <a:latin typeface="Schoolbook Uralic"/>
                <a:cs typeface="Schoolbook Uralic"/>
              </a:rPr>
              <a:t>The</a:t>
            </a:r>
            <a:r>
              <a:rPr sz="2000" spc="5" dirty="0">
                <a:latin typeface="Schoolbook Uralic"/>
                <a:cs typeface="Schoolbook Uralic"/>
              </a:rPr>
              <a:t> </a:t>
            </a:r>
            <a:r>
              <a:rPr sz="2000" dirty="0">
                <a:solidFill>
                  <a:srgbClr val="C00000"/>
                </a:solidFill>
                <a:latin typeface="Schoolbook Uralic"/>
                <a:cs typeface="Schoolbook Uralic"/>
              </a:rPr>
              <a:t>ozone</a:t>
            </a:r>
            <a:r>
              <a:rPr sz="2000" spc="-10" dirty="0">
                <a:solidFill>
                  <a:srgbClr val="C00000"/>
                </a:solidFill>
                <a:latin typeface="Schoolbook Uralic"/>
                <a:cs typeface="Schoolbook Uralic"/>
              </a:rPr>
              <a:t> </a:t>
            </a:r>
            <a:r>
              <a:rPr sz="2000" dirty="0">
                <a:solidFill>
                  <a:srgbClr val="C00000"/>
                </a:solidFill>
                <a:latin typeface="Schoolbook Uralic"/>
                <a:cs typeface="Schoolbook Uralic"/>
              </a:rPr>
              <a:t>layer	</a:t>
            </a:r>
            <a:r>
              <a:rPr sz="2000" dirty="0">
                <a:latin typeface="Schoolbook Uralic"/>
                <a:cs typeface="Schoolbook Uralic"/>
              </a:rPr>
              <a:t>in </a:t>
            </a:r>
            <a:r>
              <a:rPr sz="2000" spc="-5" dirty="0">
                <a:latin typeface="Schoolbook Uralic"/>
                <a:cs typeface="Schoolbook Uralic"/>
              </a:rPr>
              <a:t>the </a:t>
            </a:r>
            <a:r>
              <a:rPr sz="2000" dirty="0">
                <a:latin typeface="Schoolbook Uralic"/>
                <a:cs typeface="Schoolbook Uralic"/>
              </a:rPr>
              <a:t>upper </a:t>
            </a:r>
            <a:r>
              <a:rPr sz="2000" spc="-5" dirty="0">
                <a:latin typeface="Schoolbook Uralic"/>
                <a:cs typeface="Schoolbook Uralic"/>
              </a:rPr>
              <a:t>atmosphere absorbs the </a:t>
            </a:r>
            <a:r>
              <a:rPr sz="2000" spc="-90" dirty="0">
                <a:latin typeface="Verdana"/>
                <a:cs typeface="Verdana"/>
              </a:rPr>
              <a:t>sun’s  </a:t>
            </a:r>
            <a:r>
              <a:rPr sz="2000" dirty="0">
                <a:latin typeface="Schoolbook Uralic"/>
                <a:cs typeface="Schoolbook Uralic"/>
              </a:rPr>
              <a:t>ultraviolet</a:t>
            </a:r>
            <a:r>
              <a:rPr sz="2000" spc="-45" dirty="0">
                <a:latin typeface="Schoolbook Uralic"/>
                <a:cs typeface="Schoolbook Uralic"/>
              </a:rPr>
              <a:t> </a:t>
            </a:r>
            <a:r>
              <a:rPr sz="2000" spc="-20" dirty="0">
                <a:latin typeface="Schoolbook Uralic"/>
                <a:cs typeface="Schoolbook Uralic"/>
              </a:rPr>
              <a:t>radiation</a:t>
            </a:r>
            <a:r>
              <a:rPr sz="2000" spc="-20" dirty="0">
                <a:latin typeface="Verdana"/>
                <a:cs typeface="Verdana"/>
              </a:rPr>
              <a:t>,</a:t>
            </a:r>
            <a:r>
              <a:rPr sz="2000" spc="-195" dirty="0">
                <a:latin typeface="Verdana"/>
                <a:cs typeface="Verdana"/>
              </a:rPr>
              <a:t> </a:t>
            </a:r>
            <a:r>
              <a:rPr sz="2000" spc="-75" dirty="0">
                <a:latin typeface="Verdana"/>
                <a:cs typeface="Verdana"/>
              </a:rPr>
              <a:t>preventing</a:t>
            </a:r>
            <a:r>
              <a:rPr sz="2000" spc="-185" dirty="0">
                <a:latin typeface="Verdana"/>
                <a:cs typeface="Verdana"/>
              </a:rPr>
              <a:t> </a:t>
            </a:r>
            <a:r>
              <a:rPr sz="2000" spc="35" dirty="0">
                <a:latin typeface="Verdana"/>
                <a:cs typeface="Verdana"/>
              </a:rPr>
              <a:t>it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-95" dirty="0">
                <a:latin typeface="Verdana"/>
                <a:cs typeface="Verdana"/>
              </a:rPr>
              <a:t>from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spc="-70" dirty="0">
                <a:latin typeface="Verdana"/>
                <a:cs typeface="Verdana"/>
              </a:rPr>
              <a:t>reaching</a:t>
            </a:r>
            <a:r>
              <a:rPr sz="2000" spc="-185" dirty="0">
                <a:latin typeface="Verdana"/>
                <a:cs typeface="Verdana"/>
              </a:rPr>
              <a:t> </a:t>
            </a:r>
            <a:r>
              <a:rPr sz="2000" spc="-85" dirty="0">
                <a:latin typeface="Verdana"/>
                <a:cs typeface="Verdana"/>
              </a:rPr>
              <a:t>the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80" dirty="0">
                <a:latin typeface="Verdana"/>
                <a:cs typeface="Verdana"/>
              </a:rPr>
              <a:t>earth’s  </a:t>
            </a:r>
            <a:r>
              <a:rPr sz="2000" dirty="0">
                <a:latin typeface="Schoolbook Uralic"/>
                <a:cs typeface="Schoolbook Uralic"/>
              </a:rPr>
              <a:t>surface.</a:t>
            </a:r>
            <a:endParaRPr sz="2000">
              <a:latin typeface="Schoolbook Uralic"/>
              <a:cs typeface="Schoolbook Uralic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C00000"/>
              </a:buClr>
              <a:buFont typeface="Wingdings"/>
              <a:buChar char=""/>
            </a:pPr>
            <a:endParaRPr sz="2100">
              <a:latin typeface="Schoolbook Uralic"/>
              <a:cs typeface="Schoolbook Uralic"/>
            </a:endParaRPr>
          </a:p>
          <a:p>
            <a:pPr marL="297180" marR="697865" indent="-208915">
              <a:lnSpc>
                <a:spcPct val="100000"/>
              </a:lnSpc>
              <a:buClr>
                <a:srgbClr val="C00000"/>
              </a:buClr>
              <a:buSzPct val="95000"/>
              <a:buFont typeface="Wingdings"/>
              <a:buChar char=""/>
              <a:tabLst>
                <a:tab pos="316865" algn="l"/>
              </a:tabLst>
            </a:pPr>
            <a:r>
              <a:rPr sz="2000" dirty="0">
                <a:latin typeface="Schoolbook Uralic"/>
                <a:cs typeface="Schoolbook Uralic"/>
              </a:rPr>
              <a:t>This layer in </a:t>
            </a:r>
            <a:r>
              <a:rPr sz="2000" spc="-5" dirty="0">
                <a:latin typeface="Schoolbook Uralic"/>
                <a:cs typeface="Schoolbook Uralic"/>
              </a:rPr>
              <a:t>the </a:t>
            </a:r>
            <a:r>
              <a:rPr sz="2000" dirty="0">
                <a:latin typeface="Schoolbook Uralic"/>
                <a:cs typeface="Schoolbook Uralic"/>
              </a:rPr>
              <a:t>atmosphere protects life on earth from</a:t>
            </a:r>
            <a:r>
              <a:rPr sz="2000" spc="-235" dirty="0">
                <a:latin typeface="Schoolbook Uralic"/>
                <a:cs typeface="Schoolbook Uralic"/>
              </a:rPr>
              <a:t> </a:t>
            </a:r>
            <a:r>
              <a:rPr sz="2000" dirty="0">
                <a:latin typeface="Schoolbook Uralic"/>
                <a:cs typeface="Schoolbook Uralic"/>
              </a:rPr>
              <a:t>the  dangerous UV radiation from </a:t>
            </a:r>
            <a:r>
              <a:rPr sz="2000" spc="-5" dirty="0">
                <a:latin typeface="Schoolbook Uralic"/>
                <a:cs typeface="Schoolbook Uralic"/>
              </a:rPr>
              <a:t>the</a:t>
            </a:r>
            <a:r>
              <a:rPr sz="2000" spc="-125" dirty="0">
                <a:latin typeface="Schoolbook Uralic"/>
                <a:cs typeface="Schoolbook Uralic"/>
              </a:rPr>
              <a:t> </a:t>
            </a:r>
            <a:r>
              <a:rPr sz="2000" dirty="0">
                <a:latin typeface="Schoolbook Uralic"/>
                <a:cs typeface="Schoolbook Uralic"/>
              </a:rPr>
              <a:t>sun.</a:t>
            </a:r>
            <a:endParaRPr sz="2000">
              <a:latin typeface="Schoolbook Uralic"/>
              <a:cs typeface="Schoolbook Uralic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C00000"/>
              </a:buClr>
              <a:buFont typeface="Wingdings"/>
              <a:buChar char=""/>
            </a:pPr>
            <a:endParaRPr sz="2100">
              <a:latin typeface="Schoolbook Uralic"/>
              <a:cs typeface="Schoolbook Uralic"/>
            </a:endParaRPr>
          </a:p>
          <a:p>
            <a:pPr marL="297180" marR="182880" indent="-208915">
              <a:lnSpc>
                <a:spcPct val="100000"/>
              </a:lnSpc>
              <a:buClr>
                <a:srgbClr val="C00000"/>
              </a:buClr>
              <a:buSzPct val="95000"/>
              <a:buFont typeface="Wingdings"/>
              <a:buChar char=""/>
              <a:tabLst>
                <a:tab pos="316865" algn="l"/>
              </a:tabLst>
            </a:pPr>
            <a:r>
              <a:rPr sz="2000" spc="-5" dirty="0">
                <a:latin typeface="Schoolbook Uralic"/>
                <a:cs typeface="Schoolbook Uralic"/>
              </a:rPr>
              <a:t>In the </a:t>
            </a:r>
            <a:r>
              <a:rPr sz="2000" dirty="0">
                <a:latin typeface="Schoolbook Uralic"/>
                <a:cs typeface="Schoolbook Uralic"/>
              </a:rPr>
              <a:t>1970s, scientists discovered </a:t>
            </a:r>
            <a:r>
              <a:rPr sz="2000" spc="-5" dirty="0">
                <a:latin typeface="Schoolbook Uralic"/>
                <a:cs typeface="Schoolbook Uralic"/>
              </a:rPr>
              <a:t>that </a:t>
            </a:r>
            <a:r>
              <a:rPr sz="2000" dirty="0">
                <a:latin typeface="Schoolbook Uralic"/>
                <a:cs typeface="Schoolbook Uralic"/>
              </a:rPr>
              <a:t>chemicals called  chlorofluorocarbons or </a:t>
            </a:r>
            <a:r>
              <a:rPr sz="2000" spc="-5" dirty="0">
                <a:latin typeface="Schoolbook Uralic"/>
                <a:cs typeface="Schoolbook Uralic"/>
              </a:rPr>
              <a:t>CFCs, </a:t>
            </a:r>
            <a:r>
              <a:rPr sz="2000" dirty="0">
                <a:latin typeface="Schoolbook Uralic"/>
                <a:cs typeface="Schoolbook Uralic"/>
              </a:rPr>
              <a:t>which were used </a:t>
            </a:r>
            <a:r>
              <a:rPr sz="2000" spc="-5" dirty="0">
                <a:latin typeface="Schoolbook Uralic"/>
                <a:cs typeface="Schoolbook Uralic"/>
              </a:rPr>
              <a:t>as refrigerants  and </a:t>
            </a:r>
            <a:r>
              <a:rPr sz="2000" dirty="0">
                <a:latin typeface="Schoolbook Uralic"/>
                <a:cs typeface="Schoolbook Uralic"/>
              </a:rPr>
              <a:t>aerosol spray propellants, posed a </a:t>
            </a:r>
            <a:r>
              <a:rPr sz="2000" spc="-5" dirty="0">
                <a:latin typeface="Schoolbook Uralic"/>
                <a:cs typeface="Schoolbook Uralic"/>
              </a:rPr>
              <a:t>threat to the </a:t>
            </a:r>
            <a:r>
              <a:rPr sz="2000" dirty="0">
                <a:latin typeface="Schoolbook Uralic"/>
                <a:cs typeface="Schoolbook Uralic"/>
              </a:rPr>
              <a:t>ozone</a:t>
            </a:r>
            <a:r>
              <a:rPr sz="2000" spc="-165" dirty="0">
                <a:latin typeface="Schoolbook Uralic"/>
                <a:cs typeface="Schoolbook Uralic"/>
              </a:rPr>
              <a:t> </a:t>
            </a:r>
            <a:r>
              <a:rPr sz="2000" dirty="0">
                <a:latin typeface="Schoolbook Uralic"/>
                <a:cs typeface="Schoolbook Uralic"/>
              </a:rPr>
              <a:t>layer.</a:t>
            </a:r>
            <a:endParaRPr sz="2000">
              <a:latin typeface="Schoolbook Uralic"/>
              <a:cs typeface="Schoolbook Uralic"/>
            </a:endParaRPr>
          </a:p>
          <a:p>
            <a:pPr marL="220979" marR="5080" indent="-208915">
              <a:lnSpc>
                <a:spcPct val="100000"/>
              </a:lnSpc>
              <a:spcBef>
                <a:spcPts val="1890"/>
              </a:spcBef>
              <a:buClr>
                <a:srgbClr val="C00000"/>
              </a:buClr>
              <a:buSzPct val="95000"/>
              <a:buFont typeface="Wingdings"/>
              <a:buChar char=""/>
              <a:tabLst>
                <a:tab pos="240665" algn="l"/>
              </a:tabLst>
            </a:pPr>
            <a:r>
              <a:rPr sz="2000" dirty="0">
                <a:latin typeface="Schoolbook Uralic"/>
                <a:cs typeface="Schoolbook Uralic"/>
              </a:rPr>
              <a:t>The </a:t>
            </a:r>
            <a:r>
              <a:rPr sz="2000" spc="-5" dirty="0">
                <a:latin typeface="Schoolbook Uralic"/>
                <a:cs typeface="Schoolbook Uralic"/>
              </a:rPr>
              <a:t>destruction </a:t>
            </a:r>
            <a:r>
              <a:rPr sz="2000" dirty="0">
                <a:latin typeface="Schoolbook Uralic"/>
                <a:cs typeface="Schoolbook Uralic"/>
              </a:rPr>
              <a:t>of </a:t>
            </a:r>
            <a:r>
              <a:rPr sz="2000" spc="-5" dirty="0">
                <a:latin typeface="Schoolbook Uralic"/>
                <a:cs typeface="Schoolbook Uralic"/>
              </a:rPr>
              <a:t>the </a:t>
            </a:r>
            <a:r>
              <a:rPr sz="2000" dirty="0">
                <a:latin typeface="Schoolbook Uralic"/>
                <a:cs typeface="Schoolbook Uralic"/>
              </a:rPr>
              <a:t>ozone layer is seen </a:t>
            </a:r>
            <a:r>
              <a:rPr sz="2000" spc="-5" dirty="0">
                <a:latin typeface="Schoolbook Uralic"/>
                <a:cs typeface="Schoolbook Uralic"/>
              </a:rPr>
              <a:t>to </a:t>
            </a:r>
            <a:r>
              <a:rPr sz="2000" dirty="0">
                <a:latin typeface="Schoolbook Uralic"/>
                <a:cs typeface="Schoolbook Uralic"/>
              </a:rPr>
              <a:t>cause increased</a:t>
            </a:r>
            <a:r>
              <a:rPr sz="2000" spc="-180" dirty="0">
                <a:latin typeface="Schoolbook Uralic"/>
                <a:cs typeface="Schoolbook Uralic"/>
              </a:rPr>
              <a:t> </a:t>
            </a:r>
            <a:r>
              <a:rPr sz="2000" dirty="0">
                <a:latin typeface="Schoolbook Uralic"/>
                <a:cs typeface="Schoolbook Uralic"/>
              </a:rPr>
              <a:t>cases  of skin cancer </a:t>
            </a:r>
            <a:r>
              <a:rPr sz="2000" spc="-5" dirty="0">
                <a:latin typeface="Schoolbook Uralic"/>
                <a:cs typeface="Schoolbook Uralic"/>
              </a:rPr>
              <a:t>and</a:t>
            </a:r>
            <a:r>
              <a:rPr sz="2000" spc="-60" dirty="0">
                <a:latin typeface="Schoolbook Uralic"/>
                <a:cs typeface="Schoolbook Uralic"/>
              </a:rPr>
              <a:t> </a:t>
            </a:r>
            <a:r>
              <a:rPr sz="2000" dirty="0">
                <a:latin typeface="Schoolbook Uralic"/>
                <a:cs typeface="Schoolbook Uralic"/>
              </a:rPr>
              <a:t>cataracts.</a:t>
            </a:r>
            <a:endParaRPr sz="2000">
              <a:latin typeface="Schoolbook Uralic"/>
              <a:cs typeface="Schoolbook Uralic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C00000"/>
              </a:buClr>
              <a:buFont typeface="Wingdings"/>
              <a:buChar char=""/>
            </a:pPr>
            <a:endParaRPr sz="2100">
              <a:latin typeface="Schoolbook Uralic"/>
              <a:cs typeface="Schoolbook Uralic"/>
            </a:endParaRPr>
          </a:p>
          <a:p>
            <a:pPr marL="220979" marR="257810" indent="-208915">
              <a:lnSpc>
                <a:spcPct val="100000"/>
              </a:lnSpc>
              <a:buClr>
                <a:srgbClr val="C00000"/>
              </a:buClr>
              <a:buSzPct val="95000"/>
              <a:buFont typeface="Wingdings"/>
              <a:buChar char=""/>
              <a:tabLst>
                <a:tab pos="240665" algn="l"/>
              </a:tabLst>
            </a:pPr>
            <a:r>
              <a:rPr sz="2000" dirty="0">
                <a:latin typeface="Schoolbook Uralic"/>
                <a:cs typeface="Schoolbook Uralic"/>
              </a:rPr>
              <a:t>It </a:t>
            </a:r>
            <a:r>
              <a:rPr sz="2000" spc="-5" dirty="0">
                <a:latin typeface="Schoolbook Uralic"/>
                <a:cs typeface="Schoolbook Uralic"/>
              </a:rPr>
              <a:t>also </a:t>
            </a:r>
            <a:r>
              <a:rPr sz="2000" dirty="0">
                <a:latin typeface="Schoolbook Uralic"/>
                <a:cs typeface="Schoolbook Uralic"/>
              </a:rPr>
              <a:t>causes </a:t>
            </a:r>
            <a:r>
              <a:rPr sz="2000" spc="-5" dirty="0">
                <a:latin typeface="Schoolbook Uralic"/>
                <a:cs typeface="Schoolbook Uralic"/>
              </a:rPr>
              <a:t>damage </a:t>
            </a:r>
            <a:r>
              <a:rPr sz="2000" dirty="0">
                <a:latin typeface="Schoolbook Uralic"/>
                <a:cs typeface="Schoolbook Uralic"/>
              </a:rPr>
              <a:t>to certain crops and to </a:t>
            </a:r>
            <a:r>
              <a:rPr sz="2000" spc="-5" dirty="0">
                <a:latin typeface="Schoolbook Uralic"/>
                <a:cs typeface="Schoolbook Uralic"/>
              </a:rPr>
              <a:t>plankton, thus  </a:t>
            </a:r>
            <a:r>
              <a:rPr sz="2000" dirty="0">
                <a:latin typeface="Schoolbook Uralic"/>
                <a:cs typeface="Schoolbook Uralic"/>
              </a:rPr>
              <a:t>affecting natures food chains </a:t>
            </a:r>
            <a:r>
              <a:rPr sz="2000" spc="-5" dirty="0">
                <a:latin typeface="Schoolbook Uralic"/>
                <a:cs typeface="Schoolbook Uralic"/>
              </a:rPr>
              <a:t>and </a:t>
            </a:r>
            <a:r>
              <a:rPr sz="2000" dirty="0">
                <a:latin typeface="Schoolbook Uralic"/>
                <a:cs typeface="Schoolbook Uralic"/>
              </a:rPr>
              <a:t>food </a:t>
            </a:r>
            <a:r>
              <a:rPr sz="2000" spc="-5" dirty="0">
                <a:latin typeface="Schoolbook Uralic"/>
                <a:cs typeface="Schoolbook Uralic"/>
              </a:rPr>
              <a:t>webs. </a:t>
            </a:r>
            <a:r>
              <a:rPr sz="2000" dirty="0">
                <a:latin typeface="Schoolbook Uralic"/>
                <a:cs typeface="Schoolbook Uralic"/>
              </a:rPr>
              <a:t>This in </a:t>
            </a:r>
            <a:r>
              <a:rPr sz="2000" spc="-5" dirty="0">
                <a:latin typeface="Schoolbook Uralic"/>
                <a:cs typeface="Schoolbook Uralic"/>
              </a:rPr>
              <a:t>turn</a:t>
            </a:r>
            <a:r>
              <a:rPr sz="2000" spc="-170" dirty="0">
                <a:latin typeface="Schoolbook Uralic"/>
                <a:cs typeface="Schoolbook Uralic"/>
              </a:rPr>
              <a:t> </a:t>
            </a:r>
            <a:r>
              <a:rPr sz="2000" dirty="0">
                <a:latin typeface="Schoolbook Uralic"/>
                <a:cs typeface="Schoolbook Uralic"/>
              </a:rPr>
              <a:t>causes  </a:t>
            </a:r>
            <a:r>
              <a:rPr sz="2000" spc="-5" dirty="0">
                <a:latin typeface="Schoolbook Uralic"/>
                <a:cs typeface="Schoolbook Uralic"/>
              </a:rPr>
              <a:t>an </a:t>
            </a:r>
            <a:r>
              <a:rPr sz="2000" dirty="0">
                <a:latin typeface="Schoolbook Uralic"/>
                <a:cs typeface="Schoolbook Uralic"/>
              </a:rPr>
              <a:t>increase in carbon dioxide </a:t>
            </a:r>
            <a:r>
              <a:rPr sz="2000" spc="-5" dirty="0">
                <a:latin typeface="Schoolbook Uralic"/>
                <a:cs typeface="Schoolbook Uralic"/>
              </a:rPr>
              <a:t>due to the </a:t>
            </a:r>
            <a:r>
              <a:rPr sz="2000" dirty="0">
                <a:latin typeface="Schoolbook Uralic"/>
                <a:cs typeface="Schoolbook Uralic"/>
              </a:rPr>
              <a:t>decrease in</a:t>
            </a:r>
            <a:r>
              <a:rPr sz="2000" spc="-125" dirty="0">
                <a:latin typeface="Schoolbook Uralic"/>
                <a:cs typeface="Schoolbook Uralic"/>
              </a:rPr>
              <a:t> </a:t>
            </a:r>
            <a:r>
              <a:rPr sz="2000" spc="-5" dirty="0">
                <a:latin typeface="Schoolbook Uralic"/>
                <a:cs typeface="Schoolbook Uralic"/>
              </a:rPr>
              <a:t>vegetation.</a:t>
            </a:r>
            <a:endParaRPr sz="2000">
              <a:latin typeface="Schoolbook Uralic"/>
              <a:cs typeface="Schoolbook Ural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" y="0"/>
            <a:ext cx="911352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58611" y="2028444"/>
            <a:ext cx="1879091" cy="19613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24600" y="4114800"/>
            <a:ext cx="1447800" cy="19385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0708" y="438133"/>
            <a:ext cx="6713632" cy="11419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6051" y="601218"/>
            <a:ext cx="47301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FFFF"/>
                </a:solidFill>
              </a:rPr>
              <a:t>What is </a:t>
            </a:r>
            <a:r>
              <a:rPr sz="4400" spc="-5" dirty="0">
                <a:solidFill>
                  <a:srgbClr val="FFFFFF"/>
                </a:solidFill>
              </a:rPr>
              <a:t>acid</a:t>
            </a:r>
            <a:r>
              <a:rPr sz="4400" spc="-55" dirty="0">
                <a:solidFill>
                  <a:srgbClr val="FFFFFF"/>
                </a:solidFill>
              </a:rPr>
              <a:t> </a:t>
            </a:r>
            <a:r>
              <a:rPr sz="4400" dirty="0">
                <a:solidFill>
                  <a:srgbClr val="FFFFFF"/>
                </a:solidFill>
              </a:rPr>
              <a:t>rain?</a:t>
            </a:r>
            <a:endParaRPr sz="4400"/>
          </a:p>
        </p:txBody>
      </p:sp>
      <p:sp>
        <p:nvSpPr>
          <p:cNvPr id="6" name="object 6"/>
          <p:cNvSpPr txBox="1"/>
          <p:nvPr/>
        </p:nvSpPr>
        <p:spPr>
          <a:xfrm>
            <a:off x="1298194" y="1933397"/>
            <a:ext cx="32734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C00000"/>
                </a:solidFill>
                <a:latin typeface="Schoolbook Uralic"/>
                <a:cs typeface="Schoolbook Uralic"/>
              </a:rPr>
              <a:t>ACID</a:t>
            </a:r>
            <a:r>
              <a:rPr sz="2200" spc="305" dirty="0">
                <a:solidFill>
                  <a:srgbClr val="C00000"/>
                </a:solidFill>
                <a:latin typeface="Schoolbook Uralic"/>
                <a:cs typeface="Schoolbook Uralic"/>
              </a:rPr>
              <a:t> </a:t>
            </a:r>
            <a:r>
              <a:rPr sz="2200" dirty="0">
                <a:solidFill>
                  <a:srgbClr val="C00000"/>
                </a:solidFill>
                <a:latin typeface="Schoolbook Uralic"/>
                <a:cs typeface="Schoolbook Uralic"/>
              </a:rPr>
              <a:t>RAIN</a:t>
            </a:r>
            <a:r>
              <a:rPr sz="2200" spc="315" dirty="0">
                <a:solidFill>
                  <a:srgbClr val="C00000"/>
                </a:solidFill>
                <a:latin typeface="Schoolbook Uralic"/>
                <a:cs typeface="Schoolbook Uralic"/>
              </a:rPr>
              <a:t> </a:t>
            </a:r>
            <a:r>
              <a:rPr sz="2200" spc="-10" dirty="0">
                <a:latin typeface="Schoolbook Uralic"/>
                <a:cs typeface="Schoolbook Uralic"/>
              </a:rPr>
              <a:t>is</a:t>
            </a:r>
            <a:r>
              <a:rPr sz="2200" spc="315" dirty="0">
                <a:latin typeface="Schoolbook Uralic"/>
                <a:cs typeface="Schoolbook Uralic"/>
              </a:rPr>
              <a:t> </a:t>
            </a:r>
            <a:r>
              <a:rPr sz="2200" spc="-5" dirty="0">
                <a:latin typeface="Schoolbook Uralic"/>
                <a:cs typeface="Schoolbook Uralic"/>
              </a:rPr>
              <a:t>a</a:t>
            </a:r>
            <a:r>
              <a:rPr sz="2200" spc="310" dirty="0">
                <a:latin typeface="Schoolbook Uralic"/>
                <a:cs typeface="Schoolbook Uralic"/>
              </a:rPr>
              <a:t> </a:t>
            </a:r>
            <a:r>
              <a:rPr sz="2200" spc="-10" dirty="0">
                <a:latin typeface="Schoolbook Uralic"/>
                <a:cs typeface="Schoolbook Uralic"/>
              </a:rPr>
              <a:t>rain</a:t>
            </a:r>
            <a:r>
              <a:rPr sz="2200" spc="320" dirty="0">
                <a:latin typeface="Schoolbook Uralic"/>
                <a:cs typeface="Schoolbook Uralic"/>
              </a:rPr>
              <a:t> </a:t>
            </a:r>
            <a:r>
              <a:rPr sz="2200" spc="-5" dirty="0">
                <a:latin typeface="Schoolbook Uralic"/>
                <a:cs typeface="Schoolbook Uralic"/>
              </a:rPr>
              <a:t>or</a:t>
            </a:r>
            <a:endParaRPr sz="2200">
              <a:latin typeface="Schoolbook Uralic"/>
              <a:cs typeface="Schoolbook Ural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98194" y="2269362"/>
            <a:ext cx="167703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905510" algn="l"/>
              </a:tabLst>
            </a:pPr>
            <a:r>
              <a:rPr sz="2200" dirty="0">
                <a:latin typeface="Schoolbook Uralic"/>
                <a:cs typeface="Schoolbook Uralic"/>
              </a:rPr>
              <a:t>any	</a:t>
            </a:r>
            <a:r>
              <a:rPr sz="2200" spc="-5" dirty="0">
                <a:latin typeface="Schoolbook Uralic"/>
                <a:cs typeface="Schoolbook Uralic"/>
              </a:rPr>
              <a:t>other  </a:t>
            </a:r>
            <a:r>
              <a:rPr sz="2200" spc="-10" dirty="0">
                <a:latin typeface="Schoolbook Uralic"/>
                <a:cs typeface="Schoolbook Uralic"/>
              </a:rPr>
              <a:t>precip</a:t>
            </a:r>
            <a:r>
              <a:rPr sz="2200" spc="-5" dirty="0">
                <a:latin typeface="Schoolbook Uralic"/>
                <a:cs typeface="Schoolbook Uralic"/>
              </a:rPr>
              <a:t>i</a:t>
            </a:r>
            <a:r>
              <a:rPr sz="2200" spc="-10" dirty="0">
                <a:latin typeface="Schoolbook Uralic"/>
                <a:cs typeface="Schoolbook Uralic"/>
              </a:rPr>
              <a:t>ta</a:t>
            </a:r>
            <a:r>
              <a:rPr sz="2200" spc="-20" dirty="0">
                <a:latin typeface="Schoolbook Uralic"/>
                <a:cs typeface="Schoolbook Uralic"/>
              </a:rPr>
              <a:t>t</a:t>
            </a:r>
            <a:r>
              <a:rPr sz="2200" spc="-5" dirty="0">
                <a:latin typeface="Schoolbook Uralic"/>
                <a:cs typeface="Schoolbook Uralic"/>
              </a:rPr>
              <a:t>ion</a:t>
            </a:r>
            <a:endParaRPr sz="2200">
              <a:latin typeface="Schoolbook Uralic"/>
              <a:cs typeface="Schoolbook Ural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90442" y="2269362"/>
            <a:ext cx="12788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31875" algn="l"/>
              </a:tabLst>
            </a:pPr>
            <a:r>
              <a:rPr sz="2200" spc="-5" dirty="0">
                <a:latin typeface="Schoolbook Uralic"/>
                <a:cs typeface="Schoolbook Uralic"/>
              </a:rPr>
              <a:t>form	</a:t>
            </a:r>
            <a:r>
              <a:rPr sz="2200" dirty="0">
                <a:latin typeface="Schoolbook Uralic"/>
                <a:cs typeface="Schoolbook Uralic"/>
              </a:rPr>
              <a:t>of</a:t>
            </a:r>
            <a:endParaRPr sz="2200">
              <a:latin typeface="Schoolbook Uralic"/>
              <a:cs typeface="Schoolbook Uralic"/>
            </a:endParaRPr>
          </a:p>
          <a:p>
            <a:pPr marL="88900">
              <a:lnSpc>
                <a:spcPct val="100000"/>
              </a:lnSpc>
              <a:tabLst>
                <a:tab pos="1050290" algn="l"/>
              </a:tabLst>
            </a:pPr>
            <a:r>
              <a:rPr sz="2200" spc="-10" dirty="0">
                <a:latin typeface="Schoolbook Uralic"/>
                <a:cs typeface="Schoolbook Uralic"/>
              </a:rPr>
              <a:t>tha</a:t>
            </a:r>
            <a:r>
              <a:rPr sz="2200" spc="-5" dirty="0">
                <a:latin typeface="Schoolbook Uralic"/>
                <a:cs typeface="Schoolbook Uralic"/>
              </a:rPr>
              <a:t>t</a:t>
            </a:r>
            <a:r>
              <a:rPr sz="2200" dirty="0">
                <a:latin typeface="Schoolbook Uralic"/>
                <a:cs typeface="Schoolbook Uralic"/>
              </a:rPr>
              <a:t>	</a:t>
            </a:r>
            <a:r>
              <a:rPr sz="2200" spc="-15" dirty="0">
                <a:latin typeface="Schoolbook Uralic"/>
                <a:cs typeface="Schoolbook Uralic"/>
              </a:rPr>
              <a:t>is</a:t>
            </a:r>
            <a:endParaRPr sz="2200">
              <a:latin typeface="Schoolbook Uralic"/>
              <a:cs typeface="Schoolbook Ural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98194" y="2939923"/>
            <a:ext cx="3272154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Schoolbook Uralic"/>
                <a:cs typeface="Schoolbook Uralic"/>
              </a:rPr>
              <a:t>usually acidic i.e. it has </a:t>
            </a:r>
            <a:r>
              <a:rPr sz="2200" spc="600" dirty="0">
                <a:latin typeface="Schoolbook Uralic"/>
                <a:cs typeface="Schoolbook Uralic"/>
              </a:rPr>
              <a:t> </a:t>
            </a:r>
            <a:r>
              <a:rPr sz="2200" spc="-5" dirty="0">
                <a:latin typeface="Schoolbook Uralic"/>
                <a:cs typeface="Schoolbook Uralic"/>
              </a:rPr>
              <a:t>low</a:t>
            </a:r>
            <a:r>
              <a:rPr sz="2200" spc="600" dirty="0">
                <a:latin typeface="Schoolbook Uralic"/>
                <a:cs typeface="Schoolbook Uralic"/>
              </a:rPr>
              <a:t> </a:t>
            </a:r>
            <a:r>
              <a:rPr sz="2200" spc="-10" dirty="0">
                <a:latin typeface="Schoolbook Uralic"/>
                <a:cs typeface="Schoolbook Uralic"/>
              </a:rPr>
              <a:t>pH. Acid </a:t>
            </a:r>
            <a:r>
              <a:rPr sz="2200" spc="-5" dirty="0">
                <a:latin typeface="Schoolbook Uralic"/>
                <a:cs typeface="Schoolbook Uralic"/>
              </a:rPr>
              <a:t>rain  is  caused</a:t>
            </a:r>
            <a:r>
              <a:rPr sz="2200" spc="600" dirty="0">
                <a:latin typeface="Schoolbook Uralic"/>
                <a:cs typeface="Schoolbook Uralic"/>
              </a:rPr>
              <a:t> </a:t>
            </a:r>
            <a:r>
              <a:rPr sz="2200" spc="-5" dirty="0">
                <a:latin typeface="Schoolbook Uralic"/>
                <a:cs typeface="Schoolbook Uralic"/>
              </a:rPr>
              <a:t>by  emissions</a:t>
            </a:r>
            <a:r>
              <a:rPr sz="2200" spc="160" dirty="0">
                <a:latin typeface="Schoolbook Uralic"/>
                <a:cs typeface="Schoolbook Uralic"/>
              </a:rPr>
              <a:t> </a:t>
            </a:r>
            <a:r>
              <a:rPr sz="2200" dirty="0">
                <a:latin typeface="Schoolbook Uralic"/>
                <a:cs typeface="Schoolbook Uralic"/>
              </a:rPr>
              <a:t>of</a:t>
            </a:r>
            <a:endParaRPr sz="2200">
              <a:latin typeface="Schoolbook Uralic"/>
              <a:cs typeface="Schoolbook Ural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98194" y="3946016"/>
            <a:ext cx="1292225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Schoolbook Uralic"/>
                <a:cs typeface="Schoolbook Uralic"/>
              </a:rPr>
              <a:t>sulfhur  nitrogen  react  </a:t>
            </a:r>
            <a:r>
              <a:rPr sz="2200" spc="-10" dirty="0">
                <a:latin typeface="Schoolbook Uralic"/>
                <a:cs typeface="Schoolbook Uralic"/>
              </a:rPr>
              <a:t>molecules</a:t>
            </a:r>
            <a:endParaRPr sz="2200">
              <a:latin typeface="Schoolbook Uralic"/>
              <a:cs typeface="Schoolbook Ural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81401" y="3946016"/>
            <a:ext cx="1057910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04775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Schoolbook Uralic"/>
                <a:cs typeface="Schoolbook Uralic"/>
              </a:rPr>
              <a:t>d</a:t>
            </a:r>
            <a:r>
              <a:rPr sz="2200" spc="-5" dirty="0">
                <a:latin typeface="Schoolbook Uralic"/>
                <a:cs typeface="Schoolbook Uralic"/>
              </a:rPr>
              <a:t>i</a:t>
            </a:r>
            <a:r>
              <a:rPr sz="2200" dirty="0">
                <a:latin typeface="Schoolbook Uralic"/>
                <a:cs typeface="Schoolbook Uralic"/>
              </a:rPr>
              <a:t>o</a:t>
            </a:r>
            <a:r>
              <a:rPr sz="2200" spc="-10" dirty="0">
                <a:latin typeface="Schoolbook Uralic"/>
                <a:cs typeface="Schoolbook Uralic"/>
              </a:rPr>
              <a:t>xide  </a:t>
            </a:r>
            <a:r>
              <a:rPr sz="2200" spc="-5" dirty="0">
                <a:latin typeface="Schoolbook Uralic"/>
                <a:cs typeface="Schoolbook Uralic"/>
              </a:rPr>
              <a:t>oxide,  with</a:t>
            </a:r>
            <a:endParaRPr sz="2200">
              <a:latin typeface="Schoolbook Uralic"/>
              <a:cs typeface="Schoolbook Uralic"/>
            </a:endParaRPr>
          </a:p>
          <a:p>
            <a:pPr marL="645160">
              <a:lnSpc>
                <a:spcPct val="100000"/>
              </a:lnSpc>
            </a:pPr>
            <a:r>
              <a:rPr sz="2200" spc="-5" dirty="0">
                <a:latin typeface="Schoolbook Uralic"/>
                <a:cs typeface="Schoolbook Uralic"/>
              </a:rPr>
              <a:t>in</a:t>
            </a:r>
            <a:endParaRPr sz="2200">
              <a:latin typeface="Schoolbook Uralic"/>
              <a:cs typeface="Schoolbook Ural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72027" y="3946016"/>
            <a:ext cx="797560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84480" algn="just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Schoolbook Uralic"/>
                <a:cs typeface="Schoolbook Uralic"/>
              </a:rPr>
              <a:t>and  which  water</a:t>
            </a:r>
            <a:endParaRPr sz="2200">
              <a:latin typeface="Schoolbook Uralic"/>
              <a:cs typeface="Schoolbook Uralic"/>
            </a:endParaRPr>
          </a:p>
          <a:p>
            <a:pPr marL="364490">
              <a:lnSpc>
                <a:spcPct val="100000"/>
              </a:lnSpc>
            </a:pPr>
            <a:r>
              <a:rPr sz="2200" spc="-10" dirty="0">
                <a:latin typeface="Schoolbook Uralic"/>
                <a:cs typeface="Schoolbook Uralic"/>
              </a:rPr>
              <a:t>the</a:t>
            </a:r>
            <a:endParaRPr sz="2200">
              <a:latin typeface="Schoolbook Uralic"/>
              <a:cs typeface="Schoolbook Ural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98194" y="5287517"/>
            <a:ext cx="326961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758950" algn="l"/>
                <a:tab pos="2239010" algn="l"/>
              </a:tabLst>
            </a:pPr>
            <a:r>
              <a:rPr sz="2200" spc="-10" dirty="0">
                <a:latin typeface="Schoolbook Uralic"/>
                <a:cs typeface="Schoolbook Uralic"/>
              </a:rPr>
              <a:t>atmosph</a:t>
            </a:r>
            <a:r>
              <a:rPr sz="2200" dirty="0">
                <a:latin typeface="Schoolbook Uralic"/>
                <a:cs typeface="Schoolbook Uralic"/>
              </a:rPr>
              <a:t>e</a:t>
            </a:r>
            <a:r>
              <a:rPr sz="2200" spc="-5" dirty="0">
                <a:latin typeface="Schoolbook Uralic"/>
                <a:cs typeface="Schoolbook Uralic"/>
              </a:rPr>
              <a:t>re</a:t>
            </a:r>
            <a:r>
              <a:rPr sz="2200" dirty="0">
                <a:latin typeface="Schoolbook Uralic"/>
                <a:cs typeface="Schoolbook Uralic"/>
              </a:rPr>
              <a:t>	</a:t>
            </a:r>
            <a:r>
              <a:rPr sz="2200" spc="-10" dirty="0">
                <a:latin typeface="Schoolbook Uralic"/>
                <a:cs typeface="Schoolbook Uralic"/>
              </a:rPr>
              <a:t>t</a:t>
            </a:r>
            <a:r>
              <a:rPr sz="2200" spc="-5" dirty="0">
                <a:latin typeface="Schoolbook Uralic"/>
                <a:cs typeface="Schoolbook Uralic"/>
              </a:rPr>
              <a:t>o</a:t>
            </a:r>
            <a:r>
              <a:rPr sz="2200" dirty="0">
                <a:latin typeface="Schoolbook Uralic"/>
                <a:cs typeface="Schoolbook Uralic"/>
              </a:rPr>
              <a:t>	</a:t>
            </a:r>
            <a:r>
              <a:rPr sz="2200" spc="-10" dirty="0">
                <a:latin typeface="Schoolbook Uralic"/>
                <a:cs typeface="Schoolbook Uralic"/>
              </a:rPr>
              <a:t>produce  </a:t>
            </a:r>
            <a:r>
              <a:rPr sz="2200" spc="-5" dirty="0">
                <a:latin typeface="Schoolbook Uralic"/>
                <a:cs typeface="Schoolbook Uralic"/>
              </a:rPr>
              <a:t>acids.</a:t>
            </a:r>
            <a:endParaRPr sz="2200">
              <a:latin typeface="Schoolbook Uralic"/>
              <a:cs typeface="Schoolbook Ural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0709" y="447649"/>
            <a:ext cx="6866032" cy="11324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15746" y="601218"/>
            <a:ext cx="51879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FFFFFF"/>
                </a:solidFill>
              </a:rPr>
              <a:t>Causes </a:t>
            </a:r>
            <a:r>
              <a:rPr sz="4400" dirty="0">
                <a:solidFill>
                  <a:srgbClr val="FFFFFF"/>
                </a:solidFill>
              </a:rPr>
              <a:t>of </a:t>
            </a:r>
            <a:r>
              <a:rPr sz="4400" spc="-5" dirty="0">
                <a:solidFill>
                  <a:srgbClr val="FFFFFF"/>
                </a:solidFill>
              </a:rPr>
              <a:t>Acid</a:t>
            </a:r>
            <a:r>
              <a:rPr sz="4400" spc="-90" dirty="0">
                <a:solidFill>
                  <a:srgbClr val="FFFFFF"/>
                </a:solidFill>
              </a:rPr>
              <a:t> </a:t>
            </a:r>
            <a:r>
              <a:rPr sz="4400" spc="-5" dirty="0">
                <a:solidFill>
                  <a:srgbClr val="FFFFFF"/>
                </a:solidFill>
              </a:rPr>
              <a:t>Rain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688340" y="2056002"/>
            <a:ext cx="4311650" cy="362331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0665" marR="5080" indent="-240665">
              <a:lnSpc>
                <a:spcPts val="2160"/>
              </a:lnSpc>
              <a:spcBef>
                <a:spcPts val="375"/>
              </a:spcBef>
              <a:buClr>
                <a:srgbClr val="C00000"/>
              </a:buClr>
              <a:buSzPct val="95000"/>
              <a:buFont typeface="Wingdings"/>
              <a:buChar char=""/>
              <a:tabLst>
                <a:tab pos="240665" algn="l"/>
              </a:tabLst>
            </a:pPr>
            <a:r>
              <a:rPr sz="2000" dirty="0">
                <a:latin typeface="Schoolbook Uralic"/>
                <a:cs typeface="Schoolbook Uralic"/>
              </a:rPr>
              <a:t>The </a:t>
            </a:r>
            <a:r>
              <a:rPr sz="2000" spc="-5" dirty="0">
                <a:latin typeface="Schoolbook Uralic"/>
                <a:cs typeface="Schoolbook Uralic"/>
              </a:rPr>
              <a:t>primary </a:t>
            </a:r>
            <a:r>
              <a:rPr sz="2000" dirty="0">
                <a:latin typeface="Schoolbook Uralic"/>
                <a:cs typeface="Schoolbook Uralic"/>
              </a:rPr>
              <a:t>cause of acid rain is  </a:t>
            </a:r>
            <a:r>
              <a:rPr sz="2000" spc="-5" dirty="0">
                <a:latin typeface="Schoolbook Uralic"/>
                <a:cs typeface="Schoolbook Uralic"/>
              </a:rPr>
              <a:t>the </a:t>
            </a:r>
            <a:r>
              <a:rPr sz="2000" dirty="0">
                <a:latin typeface="Schoolbook Uralic"/>
                <a:cs typeface="Schoolbook Uralic"/>
              </a:rPr>
              <a:t>emission of harmful gases</a:t>
            </a:r>
            <a:r>
              <a:rPr sz="2000" spc="-170" dirty="0">
                <a:latin typeface="Schoolbook Uralic"/>
                <a:cs typeface="Schoolbook Uralic"/>
              </a:rPr>
              <a:t> </a:t>
            </a:r>
            <a:r>
              <a:rPr sz="2000" spc="-5" dirty="0">
                <a:latin typeface="Schoolbook Uralic"/>
                <a:cs typeface="Schoolbook Uralic"/>
              </a:rPr>
              <a:t>and  </a:t>
            </a:r>
            <a:r>
              <a:rPr sz="2000" dirty="0">
                <a:latin typeface="Schoolbook Uralic"/>
                <a:cs typeface="Schoolbook Uralic"/>
              </a:rPr>
              <a:t>emissions </a:t>
            </a:r>
            <a:r>
              <a:rPr sz="2000" spc="-5" dirty="0">
                <a:latin typeface="Schoolbook Uralic"/>
                <a:cs typeface="Schoolbook Uralic"/>
              </a:rPr>
              <a:t>by </a:t>
            </a:r>
            <a:r>
              <a:rPr sz="2000" dirty="0">
                <a:latin typeface="Schoolbook Uralic"/>
                <a:cs typeface="Schoolbook Uralic"/>
              </a:rPr>
              <a:t>industrial power  </a:t>
            </a:r>
            <a:r>
              <a:rPr sz="2000" spc="-5" dirty="0">
                <a:latin typeface="Schoolbook Uralic"/>
                <a:cs typeface="Schoolbook Uralic"/>
              </a:rPr>
              <a:t>plants and </a:t>
            </a:r>
            <a:r>
              <a:rPr sz="2000" dirty="0">
                <a:latin typeface="Schoolbook Uralic"/>
                <a:cs typeface="Schoolbook Uralic"/>
              </a:rPr>
              <a:t>factories, </a:t>
            </a:r>
            <a:r>
              <a:rPr sz="2000" spc="-5" dirty="0">
                <a:latin typeface="Schoolbook Uralic"/>
                <a:cs typeface="Schoolbook Uralic"/>
              </a:rPr>
              <a:t>and to </a:t>
            </a:r>
            <a:r>
              <a:rPr sz="2000" dirty="0">
                <a:latin typeface="Schoolbook Uralic"/>
                <a:cs typeface="Schoolbook Uralic"/>
              </a:rPr>
              <a:t>some  extent, cars </a:t>
            </a:r>
            <a:r>
              <a:rPr sz="2000" spc="-5" dirty="0">
                <a:latin typeface="Schoolbook Uralic"/>
                <a:cs typeface="Schoolbook Uralic"/>
              </a:rPr>
              <a:t>as</a:t>
            </a:r>
            <a:r>
              <a:rPr sz="2000" spc="-75" dirty="0">
                <a:latin typeface="Schoolbook Uralic"/>
                <a:cs typeface="Schoolbook Uralic"/>
              </a:rPr>
              <a:t> </a:t>
            </a:r>
            <a:r>
              <a:rPr sz="2000" dirty="0">
                <a:latin typeface="Schoolbook Uralic"/>
                <a:cs typeface="Schoolbook Uralic"/>
              </a:rPr>
              <a:t>well.</a:t>
            </a:r>
            <a:endParaRPr sz="2000">
              <a:latin typeface="Schoolbook Uralic"/>
              <a:cs typeface="Schoolbook Uralic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C00000"/>
              </a:buClr>
              <a:buFont typeface="Wingdings"/>
              <a:buChar char=""/>
            </a:pPr>
            <a:endParaRPr sz="1850">
              <a:latin typeface="Schoolbook Uralic"/>
              <a:cs typeface="Schoolbook Uralic"/>
            </a:endParaRPr>
          </a:p>
          <a:p>
            <a:pPr marL="240665" marR="74930" indent="-240665">
              <a:lnSpc>
                <a:spcPts val="2160"/>
              </a:lnSpc>
              <a:buClr>
                <a:srgbClr val="C00000"/>
              </a:buClr>
              <a:buSzPct val="95000"/>
              <a:buFont typeface="Wingdings"/>
              <a:buChar char=""/>
              <a:tabLst>
                <a:tab pos="240665" algn="l"/>
              </a:tabLst>
            </a:pPr>
            <a:r>
              <a:rPr sz="2000" dirty="0">
                <a:latin typeface="Schoolbook Uralic"/>
                <a:cs typeface="Schoolbook Uralic"/>
              </a:rPr>
              <a:t>Burning of fossil fuels lead </a:t>
            </a:r>
            <a:r>
              <a:rPr sz="2000" spc="-5" dirty="0">
                <a:latin typeface="Schoolbook Uralic"/>
                <a:cs typeface="Schoolbook Uralic"/>
              </a:rPr>
              <a:t>to  </a:t>
            </a:r>
            <a:r>
              <a:rPr sz="2000" dirty="0">
                <a:latin typeface="Schoolbook Uralic"/>
                <a:cs typeface="Schoolbook Uralic"/>
              </a:rPr>
              <a:t>emission of gases </a:t>
            </a:r>
            <a:r>
              <a:rPr sz="2000" spc="-5" dirty="0">
                <a:latin typeface="Schoolbook Uralic"/>
                <a:cs typeface="Schoolbook Uralic"/>
              </a:rPr>
              <a:t>that </a:t>
            </a:r>
            <a:r>
              <a:rPr sz="2000" dirty="0">
                <a:latin typeface="Schoolbook Uralic"/>
                <a:cs typeface="Schoolbook Uralic"/>
              </a:rPr>
              <a:t>give</a:t>
            </a:r>
            <a:r>
              <a:rPr sz="2000" spc="-180" dirty="0">
                <a:latin typeface="Schoolbook Uralic"/>
                <a:cs typeface="Schoolbook Uralic"/>
              </a:rPr>
              <a:t> </a:t>
            </a:r>
            <a:r>
              <a:rPr sz="2000" dirty="0">
                <a:latin typeface="Schoolbook Uralic"/>
                <a:cs typeface="Schoolbook Uralic"/>
              </a:rPr>
              <a:t>oxides  of sulfur </a:t>
            </a:r>
            <a:r>
              <a:rPr sz="2000" spc="-5" dirty="0">
                <a:latin typeface="Schoolbook Uralic"/>
                <a:cs typeface="Schoolbook Uralic"/>
              </a:rPr>
              <a:t>and</a:t>
            </a:r>
            <a:r>
              <a:rPr sz="2000" spc="-40" dirty="0">
                <a:latin typeface="Schoolbook Uralic"/>
                <a:cs typeface="Schoolbook Uralic"/>
              </a:rPr>
              <a:t> </a:t>
            </a:r>
            <a:r>
              <a:rPr sz="2000" spc="-5" dirty="0">
                <a:latin typeface="Schoolbook Uralic"/>
                <a:cs typeface="Schoolbook Uralic"/>
              </a:rPr>
              <a:t>nitrogen.</a:t>
            </a:r>
            <a:endParaRPr sz="2000">
              <a:latin typeface="Schoolbook Uralic"/>
              <a:cs typeface="Schoolbook Uralic"/>
            </a:endParaRPr>
          </a:p>
          <a:p>
            <a:pPr marL="220979" marR="102235" indent="-208915" algn="just">
              <a:lnSpc>
                <a:spcPct val="90100"/>
              </a:lnSpc>
              <a:spcBef>
                <a:spcPts val="2125"/>
              </a:spcBef>
              <a:buClr>
                <a:srgbClr val="C00000"/>
              </a:buClr>
              <a:buSzPct val="95000"/>
              <a:buFont typeface="Wingdings"/>
              <a:buChar char=""/>
              <a:tabLst>
                <a:tab pos="240665" algn="l"/>
              </a:tabLst>
            </a:pPr>
            <a:r>
              <a:rPr sz="2000" dirty="0">
                <a:latin typeface="Schoolbook Uralic"/>
                <a:cs typeface="Schoolbook Uralic"/>
              </a:rPr>
              <a:t>Burning of gasoline and diesel in  cars </a:t>
            </a:r>
            <a:r>
              <a:rPr sz="2000" spc="-5" dirty="0">
                <a:latin typeface="Schoolbook Uralic"/>
                <a:cs typeface="Schoolbook Uralic"/>
              </a:rPr>
              <a:t>build the amount </a:t>
            </a:r>
            <a:r>
              <a:rPr sz="2000" dirty="0">
                <a:latin typeface="Schoolbook Uralic"/>
                <a:cs typeface="Schoolbook Uralic"/>
              </a:rPr>
              <a:t>of acidified  water droplets in </a:t>
            </a:r>
            <a:r>
              <a:rPr sz="2000" spc="-5" dirty="0">
                <a:latin typeface="Schoolbook Uralic"/>
                <a:cs typeface="Schoolbook Uralic"/>
              </a:rPr>
              <a:t>the</a:t>
            </a:r>
            <a:r>
              <a:rPr sz="2000" spc="-150" dirty="0">
                <a:latin typeface="Schoolbook Uralic"/>
                <a:cs typeface="Schoolbook Uralic"/>
              </a:rPr>
              <a:t> </a:t>
            </a:r>
            <a:r>
              <a:rPr sz="2000" dirty="0">
                <a:latin typeface="Schoolbook Uralic"/>
                <a:cs typeface="Schoolbook Uralic"/>
              </a:rPr>
              <a:t>atmosphere.</a:t>
            </a:r>
            <a:endParaRPr sz="2000">
              <a:latin typeface="Schoolbook Uralic"/>
              <a:cs typeface="Schoolbook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62600" y="1981200"/>
            <a:ext cx="3124200" cy="4610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8308" y="362305"/>
            <a:ext cx="6713632" cy="11324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3346" y="515823"/>
            <a:ext cx="51161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FFFFFF"/>
                </a:solidFill>
              </a:rPr>
              <a:t>Effects </a:t>
            </a:r>
            <a:r>
              <a:rPr sz="4400" dirty="0">
                <a:solidFill>
                  <a:srgbClr val="FFFFFF"/>
                </a:solidFill>
              </a:rPr>
              <a:t>of </a:t>
            </a:r>
            <a:r>
              <a:rPr sz="4400" spc="-5" dirty="0">
                <a:solidFill>
                  <a:srgbClr val="FFFFFF"/>
                </a:solidFill>
              </a:rPr>
              <a:t>Acid</a:t>
            </a:r>
            <a:r>
              <a:rPr sz="4400" spc="-80" dirty="0">
                <a:solidFill>
                  <a:srgbClr val="FFFFFF"/>
                </a:solidFill>
              </a:rPr>
              <a:t> </a:t>
            </a:r>
            <a:r>
              <a:rPr sz="4400" spc="-5" dirty="0">
                <a:solidFill>
                  <a:srgbClr val="FFFFFF"/>
                </a:solidFill>
              </a:rPr>
              <a:t>Rain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798068" y="1781301"/>
            <a:ext cx="7249795" cy="4384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8605" marR="324485" indent="-256540" algn="just">
              <a:lnSpc>
                <a:spcPct val="100000"/>
              </a:lnSpc>
              <a:spcBef>
                <a:spcPts val="95"/>
              </a:spcBef>
              <a:buClr>
                <a:srgbClr val="C00000"/>
              </a:buClr>
              <a:buSzPct val="95454"/>
              <a:buFont typeface="Wingdings"/>
              <a:buChar char=""/>
              <a:tabLst>
                <a:tab pos="269240" algn="l"/>
              </a:tabLst>
            </a:pPr>
            <a:r>
              <a:rPr sz="2200" spc="-5" dirty="0">
                <a:latin typeface="Schoolbook Uralic"/>
                <a:cs typeface="Schoolbook Uralic"/>
              </a:rPr>
              <a:t>The effects of </a:t>
            </a:r>
            <a:r>
              <a:rPr sz="2200" spc="-10" dirty="0">
                <a:latin typeface="Schoolbook Uralic"/>
                <a:cs typeface="Schoolbook Uralic"/>
              </a:rPr>
              <a:t>acid </a:t>
            </a:r>
            <a:r>
              <a:rPr sz="2200" spc="-5" dirty="0">
                <a:latin typeface="Schoolbook Uralic"/>
                <a:cs typeface="Schoolbook Uralic"/>
              </a:rPr>
              <a:t>rain </a:t>
            </a:r>
            <a:r>
              <a:rPr sz="2200" spc="-10" dirty="0">
                <a:latin typeface="Schoolbook Uralic"/>
                <a:cs typeface="Schoolbook Uralic"/>
              </a:rPr>
              <a:t>are </a:t>
            </a:r>
            <a:r>
              <a:rPr sz="2200" spc="-5" dirty="0">
                <a:latin typeface="Schoolbook Uralic"/>
                <a:cs typeface="Schoolbook Uralic"/>
              </a:rPr>
              <a:t>unhealthy </a:t>
            </a:r>
            <a:r>
              <a:rPr sz="2200" spc="-10" dirty="0">
                <a:latin typeface="Schoolbook Uralic"/>
                <a:cs typeface="Schoolbook Uralic"/>
              </a:rPr>
              <a:t>and </a:t>
            </a:r>
            <a:r>
              <a:rPr sz="2200" spc="-5" dirty="0">
                <a:latin typeface="Schoolbook Uralic"/>
                <a:cs typeface="Schoolbook Uralic"/>
              </a:rPr>
              <a:t>harmful.  </a:t>
            </a:r>
            <a:r>
              <a:rPr sz="2200" spc="-10" dirty="0">
                <a:latin typeface="Schoolbook Uralic"/>
                <a:cs typeface="Schoolbook Uralic"/>
              </a:rPr>
              <a:t>Buildings, </a:t>
            </a:r>
            <a:r>
              <a:rPr sz="2200" spc="-5" dirty="0">
                <a:latin typeface="Schoolbook Uralic"/>
                <a:cs typeface="Schoolbook Uralic"/>
              </a:rPr>
              <a:t>national monuments </a:t>
            </a:r>
            <a:r>
              <a:rPr sz="2200" spc="-10" dirty="0">
                <a:latin typeface="Schoolbook Uralic"/>
                <a:cs typeface="Schoolbook Uralic"/>
              </a:rPr>
              <a:t>and bridges </a:t>
            </a:r>
            <a:r>
              <a:rPr sz="2200" spc="-5" dirty="0">
                <a:latin typeface="Schoolbook Uralic"/>
                <a:cs typeface="Schoolbook Uralic"/>
              </a:rPr>
              <a:t>tend </a:t>
            </a:r>
            <a:r>
              <a:rPr sz="2200" spc="-10" dirty="0">
                <a:latin typeface="Schoolbook Uralic"/>
                <a:cs typeface="Schoolbook Uralic"/>
              </a:rPr>
              <a:t>to  </a:t>
            </a:r>
            <a:r>
              <a:rPr sz="2200" spc="-5" dirty="0">
                <a:latin typeface="Schoolbook Uralic"/>
                <a:cs typeface="Schoolbook Uralic"/>
              </a:rPr>
              <a:t>deteriorate</a:t>
            </a:r>
            <a:r>
              <a:rPr sz="2200" spc="-30" dirty="0">
                <a:latin typeface="Schoolbook Uralic"/>
                <a:cs typeface="Schoolbook Uralic"/>
              </a:rPr>
              <a:t> </a:t>
            </a:r>
            <a:r>
              <a:rPr sz="2200" spc="-5" dirty="0">
                <a:latin typeface="Schoolbook Uralic"/>
                <a:cs typeface="Schoolbook Uralic"/>
              </a:rPr>
              <a:t>faster.</a:t>
            </a:r>
            <a:endParaRPr sz="2200">
              <a:latin typeface="Schoolbook Uralic"/>
              <a:cs typeface="Schoolbook Uralic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C00000"/>
              </a:buClr>
              <a:buFont typeface="Wingdings"/>
              <a:buChar char=""/>
            </a:pPr>
            <a:endParaRPr sz="2300">
              <a:latin typeface="Schoolbook Uralic"/>
              <a:cs typeface="Schoolbook Uralic"/>
            </a:endParaRPr>
          </a:p>
          <a:p>
            <a:pPr marL="268605" marR="5080" indent="-256540">
              <a:lnSpc>
                <a:spcPct val="100000"/>
              </a:lnSpc>
              <a:spcBef>
                <a:spcPts val="5"/>
              </a:spcBef>
              <a:buClr>
                <a:srgbClr val="C00000"/>
              </a:buClr>
              <a:buSzPct val="95454"/>
              <a:buFont typeface="Wingdings"/>
              <a:buChar char=""/>
              <a:tabLst>
                <a:tab pos="269240" algn="l"/>
              </a:tabLst>
            </a:pPr>
            <a:r>
              <a:rPr sz="2200" spc="-5" dirty="0">
                <a:latin typeface="Schoolbook Uralic"/>
                <a:cs typeface="Schoolbook Uralic"/>
              </a:rPr>
              <a:t>The </a:t>
            </a:r>
            <a:r>
              <a:rPr sz="2200" spc="-10" dirty="0">
                <a:latin typeface="Schoolbook Uralic"/>
                <a:cs typeface="Schoolbook Uralic"/>
              </a:rPr>
              <a:t>biggest </a:t>
            </a:r>
            <a:r>
              <a:rPr sz="2200" spc="-5" dirty="0">
                <a:latin typeface="Schoolbook Uralic"/>
                <a:cs typeface="Schoolbook Uralic"/>
              </a:rPr>
              <a:t>reason to find satisfactory solutions for  acid rains is the damage to natural ecosystems. This  rain will affect </a:t>
            </a:r>
            <a:r>
              <a:rPr sz="2200" spc="-10" dirty="0">
                <a:latin typeface="Schoolbook Uralic"/>
                <a:cs typeface="Schoolbook Uralic"/>
              </a:rPr>
              <a:t>the </a:t>
            </a:r>
            <a:r>
              <a:rPr sz="2200" spc="-5" dirty="0">
                <a:latin typeface="Schoolbook Uralic"/>
                <a:cs typeface="Schoolbook Uralic"/>
              </a:rPr>
              <a:t>plants, trees, rivers, </a:t>
            </a:r>
            <a:r>
              <a:rPr sz="2200" spc="-10" dirty="0">
                <a:latin typeface="Schoolbook Uralic"/>
                <a:cs typeface="Schoolbook Uralic"/>
              </a:rPr>
              <a:t>lakes, </a:t>
            </a:r>
            <a:r>
              <a:rPr sz="2200" spc="-5" dirty="0">
                <a:latin typeface="Schoolbook Uralic"/>
                <a:cs typeface="Schoolbook Uralic"/>
              </a:rPr>
              <a:t>soil </a:t>
            </a:r>
            <a:r>
              <a:rPr sz="2200" spc="-10" dirty="0">
                <a:latin typeface="Schoolbook Uralic"/>
                <a:cs typeface="Schoolbook Uralic"/>
              </a:rPr>
              <a:t>and  </a:t>
            </a:r>
            <a:r>
              <a:rPr sz="2200" spc="-5" dirty="0">
                <a:latin typeface="Schoolbook Uralic"/>
                <a:cs typeface="Schoolbook Uralic"/>
              </a:rPr>
              <a:t>land wherever it may fall</a:t>
            </a:r>
            <a:r>
              <a:rPr sz="2200" spc="25" dirty="0">
                <a:latin typeface="Schoolbook Uralic"/>
                <a:cs typeface="Schoolbook Uralic"/>
              </a:rPr>
              <a:t> </a:t>
            </a:r>
            <a:r>
              <a:rPr sz="2200" spc="-5" dirty="0">
                <a:latin typeface="Schoolbook Uralic"/>
                <a:cs typeface="Schoolbook Uralic"/>
              </a:rPr>
              <a:t>on.</a:t>
            </a:r>
            <a:endParaRPr sz="2200">
              <a:latin typeface="Schoolbook Uralic"/>
              <a:cs typeface="Schoolbook Uralic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C00000"/>
              </a:buClr>
              <a:buFont typeface="Wingdings"/>
              <a:buChar char=""/>
            </a:pPr>
            <a:endParaRPr sz="2300">
              <a:latin typeface="Schoolbook Uralic"/>
              <a:cs typeface="Schoolbook Uralic"/>
            </a:endParaRPr>
          </a:p>
          <a:p>
            <a:pPr marL="268605" marR="12700" indent="-256540">
              <a:lnSpc>
                <a:spcPct val="100000"/>
              </a:lnSpc>
              <a:buClr>
                <a:srgbClr val="C00000"/>
              </a:buClr>
              <a:buSzPct val="95454"/>
              <a:buFont typeface="Wingdings"/>
              <a:buChar char=""/>
              <a:tabLst>
                <a:tab pos="269240" algn="l"/>
                <a:tab pos="5085080" algn="l"/>
              </a:tabLst>
            </a:pPr>
            <a:r>
              <a:rPr sz="2200" spc="-5" dirty="0">
                <a:latin typeface="Schoolbook Uralic"/>
                <a:cs typeface="Schoolbook Uralic"/>
              </a:rPr>
              <a:t>Animals </a:t>
            </a:r>
            <a:r>
              <a:rPr sz="2200" spc="-10" dirty="0">
                <a:latin typeface="Schoolbook Uralic"/>
                <a:cs typeface="Schoolbook Uralic"/>
              </a:rPr>
              <a:t>and </a:t>
            </a:r>
            <a:r>
              <a:rPr sz="2200" spc="-5" dirty="0">
                <a:latin typeface="Schoolbook Uralic"/>
                <a:cs typeface="Schoolbook Uralic"/>
              </a:rPr>
              <a:t>plants that live in such areas </a:t>
            </a:r>
            <a:r>
              <a:rPr sz="2200" spc="-10" dirty="0">
                <a:latin typeface="Schoolbook Uralic"/>
                <a:cs typeface="Schoolbook Uralic"/>
              </a:rPr>
              <a:t>are  </a:t>
            </a:r>
            <a:r>
              <a:rPr sz="2200" spc="-5" dirty="0">
                <a:latin typeface="Schoolbook Uralic"/>
                <a:cs typeface="Schoolbook Uralic"/>
              </a:rPr>
              <a:t>severely affected. Their</a:t>
            </a:r>
            <a:r>
              <a:rPr sz="2200" spc="50" dirty="0">
                <a:latin typeface="Schoolbook Uralic"/>
                <a:cs typeface="Schoolbook Uralic"/>
              </a:rPr>
              <a:t> </a:t>
            </a:r>
            <a:r>
              <a:rPr sz="2200" spc="-5" dirty="0">
                <a:latin typeface="Schoolbook Uralic"/>
                <a:cs typeface="Schoolbook Uralic"/>
              </a:rPr>
              <a:t>food</a:t>
            </a:r>
            <a:r>
              <a:rPr sz="2200" spc="15" dirty="0">
                <a:latin typeface="Schoolbook Uralic"/>
                <a:cs typeface="Schoolbook Uralic"/>
              </a:rPr>
              <a:t> </a:t>
            </a:r>
            <a:r>
              <a:rPr sz="2200" spc="-5" dirty="0">
                <a:latin typeface="Schoolbook Uralic"/>
                <a:cs typeface="Schoolbook Uralic"/>
              </a:rPr>
              <a:t>sources	get diminished,  </a:t>
            </a:r>
            <a:r>
              <a:rPr sz="2200" spc="-10" dirty="0">
                <a:latin typeface="Schoolbook Uralic"/>
                <a:cs typeface="Schoolbook Uralic"/>
              </a:rPr>
              <a:t>they </a:t>
            </a:r>
            <a:r>
              <a:rPr sz="2200" spc="-5" dirty="0">
                <a:latin typeface="Schoolbook Uralic"/>
                <a:cs typeface="Schoolbook Uralic"/>
              </a:rPr>
              <a:t>may develop unhealthy diseases or mutations, or  </a:t>
            </a:r>
            <a:r>
              <a:rPr sz="2200" spc="-10" dirty="0">
                <a:latin typeface="Schoolbook Uralic"/>
                <a:cs typeface="Schoolbook Uralic"/>
              </a:rPr>
              <a:t>they </a:t>
            </a:r>
            <a:r>
              <a:rPr sz="2200" spc="-5" dirty="0">
                <a:latin typeface="Schoolbook Uralic"/>
                <a:cs typeface="Schoolbook Uralic"/>
              </a:rPr>
              <a:t>may even die in extreme</a:t>
            </a:r>
            <a:r>
              <a:rPr sz="2200" spc="35" dirty="0">
                <a:latin typeface="Schoolbook Uralic"/>
                <a:cs typeface="Schoolbook Uralic"/>
              </a:rPr>
              <a:t> </a:t>
            </a:r>
            <a:r>
              <a:rPr sz="2200" spc="-5" dirty="0">
                <a:latin typeface="Schoolbook Uralic"/>
                <a:cs typeface="Schoolbook Uralic"/>
              </a:rPr>
              <a:t>cases.</a:t>
            </a:r>
            <a:endParaRPr sz="2200">
              <a:latin typeface="Schoolbook Uralic"/>
              <a:cs typeface="Schoolbook Ural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00600" y="304800"/>
            <a:ext cx="3899915" cy="63169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9740" y="1552701"/>
            <a:ext cx="3963035" cy="4599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885825" algn="l"/>
              </a:tabLst>
            </a:pPr>
            <a:r>
              <a:rPr sz="2000" dirty="0">
                <a:latin typeface="Schoolbook Uralic"/>
                <a:cs typeface="Schoolbook Uralic"/>
              </a:rPr>
              <a:t>The pollutants </a:t>
            </a:r>
            <a:r>
              <a:rPr sz="2000" spc="-5" dirty="0">
                <a:latin typeface="Schoolbook Uralic"/>
                <a:cs typeface="Schoolbook Uralic"/>
              </a:rPr>
              <a:t>that </a:t>
            </a:r>
            <a:r>
              <a:rPr sz="2000" dirty="0">
                <a:latin typeface="Schoolbook Uralic"/>
                <a:cs typeface="Schoolbook Uralic"/>
              </a:rPr>
              <a:t>cause </a:t>
            </a:r>
            <a:r>
              <a:rPr sz="2000" spc="-5" dirty="0">
                <a:latin typeface="Schoolbook Uralic"/>
                <a:cs typeface="Schoolbook Uralic"/>
              </a:rPr>
              <a:t>acid  </a:t>
            </a:r>
            <a:r>
              <a:rPr sz="2000" dirty="0">
                <a:latin typeface="Schoolbook Uralic"/>
                <a:cs typeface="Schoolbook Uralic"/>
              </a:rPr>
              <a:t>rain</a:t>
            </a:r>
            <a:r>
              <a:rPr sz="2000" dirty="0">
                <a:latin typeface="Verdana"/>
                <a:cs typeface="Verdana"/>
              </a:rPr>
              <a:t>—</a:t>
            </a:r>
            <a:r>
              <a:rPr sz="2000" dirty="0">
                <a:latin typeface="Schoolbook Uralic"/>
                <a:cs typeface="Schoolbook Uralic"/>
              </a:rPr>
              <a:t>sulfur dioxide and</a:t>
            </a:r>
            <a:r>
              <a:rPr sz="2000" spc="-160" dirty="0">
                <a:latin typeface="Schoolbook Uralic"/>
                <a:cs typeface="Schoolbook Uralic"/>
              </a:rPr>
              <a:t> </a:t>
            </a:r>
            <a:r>
              <a:rPr sz="2000" dirty="0">
                <a:latin typeface="Schoolbook Uralic"/>
                <a:cs typeface="Schoolbook Uralic"/>
              </a:rPr>
              <a:t>nitrogen  oxides	</a:t>
            </a:r>
            <a:r>
              <a:rPr sz="2000" spc="-5" dirty="0">
                <a:latin typeface="Schoolbook Uralic"/>
                <a:cs typeface="Schoolbook Uralic"/>
              </a:rPr>
              <a:t>damage human</a:t>
            </a:r>
            <a:r>
              <a:rPr sz="2000" spc="-35" dirty="0">
                <a:latin typeface="Schoolbook Uralic"/>
                <a:cs typeface="Schoolbook Uralic"/>
              </a:rPr>
              <a:t> </a:t>
            </a:r>
            <a:r>
              <a:rPr sz="2000" dirty="0">
                <a:latin typeface="Schoolbook Uralic"/>
                <a:cs typeface="Schoolbook Uralic"/>
              </a:rPr>
              <a:t>health.</a:t>
            </a:r>
            <a:endParaRPr sz="2000">
              <a:latin typeface="Schoolbook Uralic"/>
              <a:cs typeface="Schoolbook Uralic"/>
            </a:endParaRPr>
          </a:p>
          <a:p>
            <a:pPr marL="12700" marR="110489">
              <a:lnSpc>
                <a:spcPct val="100000"/>
              </a:lnSpc>
            </a:pPr>
            <a:r>
              <a:rPr sz="2000" dirty="0">
                <a:latin typeface="Schoolbook Uralic"/>
                <a:cs typeface="Schoolbook Uralic"/>
              </a:rPr>
              <a:t>These gases interact in </a:t>
            </a:r>
            <a:r>
              <a:rPr sz="2000" spc="-5" dirty="0">
                <a:latin typeface="Schoolbook Uralic"/>
                <a:cs typeface="Schoolbook Uralic"/>
              </a:rPr>
              <a:t>the  atmosphere to </a:t>
            </a:r>
            <a:r>
              <a:rPr sz="2000" dirty="0">
                <a:latin typeface="Schoolbook Uralic"/>
                <a:cs typeface="Schoolbook Uralic"/>
              </a:rPr>
              <a:t>form fine sulfate  </a:t>
            </a:r>
            <a:r>
              <a:rPr sz="2000" spc="-5" dirty="0">
                <a:latin typeface="Schoolbook Uralic"/>
                <a:cs typeface="Schoolbook Uralic"/>
              </a:rPr>
              <a:t>and </a:t>
            </a:r>
            <a:r>
              <a:rPr sz="2000" dirty="0">
                <a:latin typeface="Schoolbook Uralic"/>
                <a:cs typeface="Schoolbook Uralic"/>
              </a:rPr>
              <a:t>nitrate </a:t>
            </a:r>
            <a:r>
              <a:rPr sz="2000" spc="-5" dirty="0">
                <a:latin typeface="Schoolbook Uralic"/>
                <a:cs typeface="Schoolbook Uralic"/>
              </a:rPr>
              <a:t>particles that </a:t>
            </a:r>
            <a:r>
              <a:rPr sz="2000" dirty="0">
                <a:latin typeface="Schoolbook Uralic"/>
                <a:cs typeface="Schoolbook Uralic"/>
              </a:rPr>
              <a:t>can </a:t>
            </a:r>
            <a:r>
              <a:rPr sz="2000" spc="-5" dirty="0">
                <a:latin typeface="Schoolbook Uralic"/>
                <a:cs typeface="Schoolbook Uralic"/>
              </a:rPr>
              <a:t>be  transported </a:t>
            </a:r>
            <a:r>
              <a:rPr sz="2000" dirty="0">
                <a:latin typeface="Schoolbook Uralic"/>
                <a:cs typeface="Schoolbook Uralic"/>
              </a:rPr>
              <a:t>long </a:t>
            </a:r>
            <a:r>
              <a:rPr sz="2000" spc="-5" dirty="0">
                <a:latin typeface="Schoolbook Uralic"/>
                <a:cs typeface="Schoolbook Uralic"/>
              </a:rPr>
              <a:t>distances by  </a:t>
            </a:r>
            <a:r>
              <a:rPr sz="2000" dirty="0">
                <a:latin typeface="Schoolbook Uralic"/>
                <a:cs typeface="Schoolbook Uralic"/>
              </a:rPr>
              <a:t>winds </a:t>
            </a:r>
            <a:r>
              <a:rPr sz="2000" spc="-5" dirty="0">
                <a:latin typeface="Schoolbook Uralic"/>
                <a:cs typeface="Schoolbook Uralic"/>
              </a:rPr>
              <a:t>and </a:t>
            </a:r>
            <a:r>
              <a:rPr sz="2000" dirty="0">
                <a:latin typeface="Schoolbook Uralic"/>
                <a:cs typeface="Schoolbook Uralic"/>
              </a:rPr>
              <a:t>inhaled deep into  people's lungs. When we</a:t>
            </a:r>
            <a:r>
              <a:rPr sz="2000" spc="-140" dirty="0">
                <a:latin typeface="Schoolbook Uralic"/>
                <a:cs typeface="Schoolbook Uralic"/>
              </a:rPr>
              <a:t> </a:t>
            </a:r>
            <a:r>
              <a:rPr sz="2000" spc="-5" dirty="0">
                <a:latin typeface="Schoolbook Uralic"/>
                <a:cs typeface="Schoolbook Uralic"/>
              </a:rPr>
              <a:t>breathe  </a:t>
            </a:r>
            <a:r>
              <a:rPr sz="2000" dirty="0">
                <a:latin typeface="Schoolbook Uralic"/>
                <a:cs typeface="Schoolbook Uralic"/>
              </a:rPr>
              <a:t>in air pollution, </a:t>
            </a:r>
            <a:r>
              <a:rPr sz="2000" spc="-5" dirty="0">
                <a:latin typeface="Schoolbook Uralic"/>
                <a:cs typeface="Schoolbook Uralic"/>
              </a:rPr>
              <a:t>these </a:t>
            </a:r>
            <a:r>
              <a:rPr sz="2000" dirty="0">
                <a:latin typeface="Schoolbook Uralic"/>
                <a:cs typeface="Schoolbook Uralic"/>
              </a:rPr>
              <a:t>very fine  particulates can easily enter our  body, where </a:t>
            </a:r>
            <a:r>
              <a:rPr sz="2000" spc="-5" dirty="0">
                <a:latin typeface="Schoolbook Uralic"/>
                <a:cs typeface="Schoolbook Uralic"/>
              </a:rPr>
              <a:t>they </a:t>
            </a:r>
            <a:r>
              <a:rPr sz="2000" dirty="0">
                <a:latin typeface="Schoolbook Uralic"/>
                <a:cs typeface="Schoolbook Uralic"/>
              </a:rPr>
              <a:t>can </a:t>
            </a:r>
            <a:r>
              <a:rPr sz="2000" spc="-5" dirty="0">
                <a:latin typeface="Schoolbook Uralic"/>
                <a:cs typeface="Schoolbook Uralic"/>
              </a:rPr>
              <a:t>cause  breathing </a:t>
            </a:r>
            <a:r>
              <a:rPr sz="2000" dirty="0">
                <a:latin typeface="Schoolbook Uralic"/>
                <a:cs typeface="Schoolbook Uralic"/>
              </a:rPr>
              <a:t>problems (asthma),  </a:t>
            </a:r>
            <a:r>
              <a:rPr sz="2000" spc="-5" dirty="0">
                <a:latin typeface="Schoolbook Uralic"/>
                <a:cs typeface="Schoolbook Uralic"/>
              </a:rPr>
              <a:t>bronchitis and </a:t>
            </a:r>
            <a:r>
              <a:rPr sz="2000" dirty="0">
                <a:latin typeface="Schoolbook Uralic"/>
                <a:cs typeface="Schoolbook Uralic"/>
              </a:rPr>
              <a:t>over </a:t>
            </a:r>
            <a:r>
              <a:rPr sz="2000" spc="-5" dirty="0">
                <a:latin typeface="Schoolbook Uralic"/>
                <a:cs typeface="Schoolbook Uralic"/>
              </a:rPr>
              <a:t>time </a:t>
            </a:r>
            <a:r>
              <a:rPr sz="2000" dirty="0">
                <a:latin typeface="Schoolbook Uralic"/>
                <a:cs typeface="Schoolbook Uralic"/>
              </a:rPr>
              <a:t>even  cause skin</a:t>
            </a:r>
            <a:r>
              <a:rPr sz="2000" spc="-45" dirty="0">
                <a:latin typeface="Schoolbook Uralic"/>
                <a:cs typeface="Schoolbook Uralic"/>
              </a:rPr>
              <a:t> </a:t>
            </a:r>
            <a:r>
              <a:rPr sz="2000" dirty="0">
                <a:latin typeface="Schoolbook Uralic"/>
                <a:cs typeface="Schoolbook Uralic"/>
              </a:rPr>
              <a:t>cancer.</a:t>
            </a:r>
            <a:endParaRPr sz="2000">
              <a:latin typeface="Schoolbook Uralic"/>
              <a:cs typeface="Schoolbook Uralic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5940" y="866902"/>
            <a:ext cx="34010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C00000"/>
                </a:solidFill>
              </a:rPr>
              <a:t>EFFECT ON</a:t>
            </a:r>
            <a:r>
              <a:rPr spc="-55" dirty="0">
                <a:solidFill>
                  <a:srgbClr val="C00000"/>
                </a:solidFill>
              </a:rPr>
              <a:t> </a:t>
            </a:r>
            <a:r>
              <a:rPr spc="-5" dirty="0">
                <a:solidFill>
                  <a:srgbClr val="C00000"/>
                </a:solidFill>
              </a:rPr>
              <a:t>HUMANS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6003" y="300995"/>
            <a:ext cx="6788339" cy="11528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0765" y="465201"/>
            <a:ext cx="57581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FFFF"/>
                </a:solidFill>
              </a:rPr>
              <a:t>Solutions </a:t>
            </a:r>
            <a:r>
              <a:rPr sz="4400" spc="-5" dirty="0">
                <a:solidFill>
                  <a:srgbClr val="FFFFFF"/>
                </a:solidFill>
              </a:rPr>
              <a:t>for acid</a:t>
            </a:r>
            <a:r>
              <a:rPr sz="4400" spc="-105" dirty="0">
                <a:solidFill>
                  <a:srgbClr val="FFFFFF"/>
                </a:solidFill>
              </a:rPr>
              <a:t> </a:t>
            </a:r>
            <a:r>
              <a:rPr sz="4400" dirty="0">
                <a:solidFill>
                  <a:srgbClr val="FFFFFF"/>
                </a:solidFill>
              </a:rPr>
              <a:t>rain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840739" y="1705101"/>
            <a:ext cx="7266940" cy="4523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2235" indent="-90170">
              <a:lnSpc>
                <a:spcPct val="100000"/>
              </a:lnSpc>
              <a:spcBef>
                <a:spcPts val="105"/>
              </a:spcBef>
              <a:buSzPct val="95000"/>
              <a:buFont typeface="Arial"/>
              <a:buChar char="•"/>
              <a:tabLst>
                <a:tab pos="102870" algn="l"/>
              </a:tabLst>
            </a:pPr>
            <a:r>
              <a:rPr sz="2000" b="1" dirty="0">
                <a:solidFill>
                  <a:srgbClr val="C00000"/>
                </a:solidFill>
                <a:latin typeface="Schoolbook Uralic"/>
                <a:cs typeface="Schoolbook Uralic"/>
              </a:rPr>
              <a:t>Understand acid deposition's </a:t>
            </a:r>
            <a:r>
              <a:rPr sz="2000" b="1" spc="-5" dirty="0">
                <a:solidFill>
                  <a:srgbClr val="C00000"/>
                </a:solidFill>
                <a:latin typeface="Schoolbook Uralic"/>
                <a:cs typeface="Schoolbook Uralic"/>
              </a:rPr>
              <a:t>causes </a:t>
            </a:r>
            <a:r>
              <a:rPr sz="2000" b="1" dirty="0">
                <a:solidFill>
                  <a:srgbClr val="C00000"/>
                </a:solidFill>
                <a:latin typeface="Schoolbook Uralic"/>
                <a:cs typeface="Schoolbook Uralic"/>
              </a:rPr>
              <a:t>and </a:t>
            </a:r>
            <a:r>
              <a:rPr sz="2000" b="1" spc="-5" dirty="0">
                <a:solidFill>
                  <a:srgbClr val="C00000"/>
                </a:solidFill>
                <a:latin typeface="Schoolbook Uralic"/>
                <a:cs typeface="Schoolbook Uralic"/>
              </a:rPr>
              <a:t>effects</a:t>
            </a:r>
            <a:endParaRPr sz="2000">
              <a:latin typeface="Schoolbook Uralic"/>
              <a:cs typeface="Schoolbook Uralic"/>
            </a:endParaRPr>
          </a:p>
          <a:p>
            <a:pPr marL="153035" marR="64769">
              <a:lnSpc>
                <a:spcPct val="100000"/>
              </a:lnSpc>
            </a:pPr>
            <a:r>
              <a:rPr sz="2000" spc="-5" dirty="0">
                <a:latin typeface="Schoolbook Uralic"/>
                <a:cs typeface="Schoolbook Uralic"/>
              </a:rPr>
              <a:t>To </a:t>
            </a:r>
            <a:r>
              <a:rPr sz="2000" dirty="0">
                <a:latin typeface="Schoolbook Uralic"/>
                <a:cs typeface="Schoolbook Uralic"/>
              </a:rPr>
              <a:t>solve </a:t>
            </a:r>
            <a:r>
              <a:rPr sz="2000" spc="-5" dirty="0">
                <a:latin typeface="Schoolbook Uralic"/>
                <a:cs typeface="Schoolbook Uralic"/>
              </a:rPr>
              <a:t>the acid </a:t>
            </a:r>
            <a:r>
              <a:rPr sz="2000" dirty="0">
                <a:latin typeface="Schoolbook Uralic"/>
                <a:cs typeface="Schoolbook Uralic"/>
              </a:rPr>
              <a:t>rain problem, people need to understand  how </a:t>
            </a:r>
            <a:r>
              <a:rPr sz="2000" spc="-5" dirty="0">
                <a:latin typeface="Schoolbook Uralic"/>
                <a:cs typeface="Schoolbook Uralic"/>
              </a:rPr>
              <a:t>acid </a:t>
            </a:r>
            <a:r>
              <a:rPr sz="2000" dirty="0">
                <a:latin typeface="Schoolbook Uralic"/>
                <a:cs typeface="Schoolbook Uralic"/>
              </a:rPr>
              <a:t>rain </a:t>
            </a:r>
            <a:r>
              <a:rPr sz="2000" spc="-5" dirty="0">
                <a:latin typeface="Schoolbook Uralic"/>
                <a:cs typeface="Schoolbook Uralic"/>
              </a:rPr>
              <a:t>damages the </a:t>
            </a:r>
            <a:r>
              <a:rPr sz="2000" dirty="0">
                <a:latin typeface="Schoolbook Uralic"/>
                <a:cs typeface="Schoolbook Uralic"/>
              </a:rPr>
              <a:t>environment. They also need </a:t>
            </a:r>
            <a:r>
              <a:rPr sz="2000" spc="-5" dirty="0">
                <a:latin typeface="Schoolbook Uralic"/>
                <a:cs typeface="Schoolbook Uralic"/>
              </a:rPr>
              <a:t>to  </a:t>
            </a:r>
            <a:r>
              <a:rPr sz="2000" dirty="0">
                <a:latin typeface="Schoolbook Uralic"/>
                <a:cs typeface="Schoolbook Uralic"/>
              </a:rPr>
              <a:t>understand what changes could </a:t>
            </a:r>
            <a:r>
              <a:rPr sz="2000" spc="-5" dirty="0">
                <a:latin typeface="Schoolbook Uralic"/>
                <a:cs typeface="Schoolbook Uralic"/>
              </a:rPr>
              <a:t>be made to the </a:t>
            </a:r>
            <a:r>
              <a:rPr sz="2000" dirty="0">
                <a:latin typeface="Schoolbook Uralic"/>
                <a:cs typeface="Schoolbook Uralic"/>
              </a:rPr>
              <a:t>air</a:t>
            </a:r>
            <a:r>
              <a:rPr sz="2000" spc="-160" dirty="0">
                <a:latin typeface="Schoolbook Uralic"/>
                <a:cs typeface="Schoolbook Uralic"/>
              </a:rPr>
              <a:t> </a:t>
            </a:r>
            <a:r>
              <a:rPr sz="2000" dirty="0">
                <a:latin typeface="Schoolbook Uralic"/>
                <a:cs typeface="Schoolbook Uralic"/>
              </a:rPr>
              <a:t>pollution  sources </a:t>
            </a:r>
            <a:r>
              <a:rPr sz="2000" spc="-5" dirty="0">
                <a:latin typeface="Schoolbook Uralic"/>
                <a:cs typeface="Schoolbook Uralic"/>
              </a:rPr>
              <a:t>that </a:t>
            </a:r>
            <a:r>
              <a:rPr sz="2000" dirty="0">
                <a:latin typeface="Schoolbook Uralic"/>
                <a:cs typeface="Schoolbook Uralic"/>
              </a:rPr>
              <a:t>cause </a:t>
            </a:r>
            <a:r>
              <a:rPr sz="2000" spc="-5" dirty="0">
                <a:latin typeface="Schoolbook Uralic"/>
                <a:cs typeface="Schoolbook Uralic"/>
              </a:rPr>
              <a:t>the</a:t>
            </a:r>
            <a:r>
              <a:rPr sz="2000" spc="-75" dirty="0">
                <a:latin typeface="Schoolbook Uralic"/>
                <a:cs typeface="Schoolbook Uralic"/>
              </a:rPr>
              <a:t> </a:t>
            </a:r>
            <a:r>
              <a:rPr sz="2000" dirty="0">
                <a:latin typeface="Schoolbook Uralic"/>
                <a:cs typeface="Schoolbook Uralic"/>
              </a:rPr>
              <a:t>problem.</a:t>
            </a:r>
            <a:endParaRPr sz="2000">
              <a:latin typeface="Schoolbook Uralic"/>
              <a:cs typeface="Schoolbook Uralic"/>
            </a:endParaRPr>
          </a:p>
          <a:p>
            <a:pPr marL="102235" indent="-90170" algn="just">
              <a:lnSpc>
                <a:spcPct val="100000"/>
              </a:lnSpc>
              <a:spcBef>
                <a:spcPts val="1200"/>
              </a:spcBef>
              <a:buSzPct val="95000"/>
              <a:buFont typeface="Arial"/>
              <a:buChar char="•"/>
              <a:tabLst>
                <a:tab pos="102870" algn="l"/>
              </a:tabLst>
            </a:pPr>
            <a:r>
              <a:rPr sz="2000" b="1" dirty="0">
                <a:solidFill>
                  <a:srgbClr val="C00000"/>
                </a:solidFill>
                <a:latin typeface="Schoolbook Uralic"/>
                <a:cs typeface="Schoolbook Uralic"/>
              </a:rPr>
              <a:t>Use Low </a:t>
            </a:r>
            <a:r>
              <a:rPr sz="2000" b="1" spc="-5" dirty="0">
                <a:solidFill>
                  <a:srgbClr val="C00000"/>
                </a:solidFill>
                <a:latin typeface="Schoolbook Uralic"/>
                <a:cs typeface="Schoolbook Uralic"/>
              </a:rPr>
              <a:t>Sulfur</a:t>
            </a:r>
            <a:r>
              <a:rPr sz="2000" b="1" spc="-35" dirty="0">
                <a:solidFill>
                  <a:srgbClr val="C00000"/>
                </a:solidFill>
                <a:latin typeface="Schoolbook Uralic"/>
                <a:cs typeface="Schoolbook Uralic"/>
              </a:rPr>
              <a:t> </a:t>
            </a:r>
            <a:r>
              <a:rPr sz="2000" b="1" dirty="0">
                <a:solidFill>
                  <a:srgbClr val="C00000"/>
                </a:solidFill>
                <a:latin typeface="Schoolbook Uralic"/>
                <a:cs typeface="Schoolbook Uralic"/>
              </a:rPr>
              <a:t>Coal</a:t>
            </a:r>
            <a:endParaRPr sz="2000">
              <a:latin typeface="Schoolbook Uralic"/>
              <a:cs typeface="Schoolbook Uralic"/>
            </a:endParaRPr>
          </a:p>
          <a:p>
            <a:pPr marL="153035" marR="508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Schoolbook Uralic"/>
                <a:cs typeface="Schoolbook Uralic"/>
              </a:rPr>
              <a:t>The </a:t>
            </a:r>
            <a:r>
              <a:rPr sz="2000" spc="-5" dirty="0">
                <a:latin typeface="Schoolbook Uralic"/>
                <a:cs typeface="Schoolbook Uralic"/>
              </a:rPr>
              <a:t>amount </a:t>
            </a:r>
            <a:r>
              <a:rPr sz="2000" dirty="0">
                <a:latin typeface="Schoolbook Uralic"/>
                <a:cs typeface="Schoolbook Uralic"/>
              </a:rPr>
              <a:t>of sulfur oxides emitted </a:t>
            </a:r>
            <a:r>
              <a:rPr sz="2000" spc="-5" dirty="0">
                <a:latin typeface="Schoolbook Uralic"/>
                <a:cs typeface="Schoolbook Uralic"/>
              </a:rPr>
              <a:t>by </a:t>
            </a:r>
            <a:r>
              <a:rPr sz="2000" dirty="0">
                <a:latin typeface="Schoolbook Uralic"/>
                <a:cs typeface="Schoolbook Uralic"/>
              </a:rPr>
              <a:t>a power </a:t>
            </a:r>
            <a:r>
              <a:rPr sz="2000" spc="-5" dirty="0">
                <a:latin typeface="Schoolbook Uralic"/>
                <a:cs typeface="Schoolbook Uralic"/>
              </a:rPr>
              <a:t>plant </a:t>
            </a:r>
            <a:r>
              <a:rPr sz="2000" dirty="0">
                <a:latin typeface="Schoolbook Uralic"/>
                <a:cs typeface="Schoolbook Uralic"/>
              </a:rPr>
              <a:t>can</a:t>
            </a:r>
            <a:r>
              <a:rPr sz="2000" spc="-220" dirty="0">
                <a:latin typeface="Schoolbook Uralic"/>
                <a:cs typeface="Schoolbook Uralic"/>
              </a:rPr>
              <a:t> </a:t>
            </a:r>
            <a:r>
              <a:rPr sz="2000" spc="-5" dirty="0">
                <a:latin typeface="Schoolbook Uralic"/>
                <a:cs typeface="Schoolbook Uralic"/>
              </a:rPr>
              <a:t>be  </a:t>
            </a:r>
            <a:r>
              <a:rPr sz="2000" dirty="0">
                <a:latin typeface="Schoolbook Uralic"/>
                <a:cs typeface="Schoolbook Uralic"/>
              </a:rPr>
              <a:t>reduced </a:t>
            </a:r>
            <a:r>
              <a:rPr sz="2000" spc="-5" dirty="0">
                <a:latin typeface="Schoolbook Uralic"/>
                <a:cs typeface="Schoolbook Uralic"/>
              </a:rPr>
              <a:t>by burning </a:t>
            </a:r>
            <a:r>
              <a:rPr sz="2000" dirty="0">
                <a:latin typeface="Schoolbook Uralic"/>
                <a:cs typeface="Schoolbook Uralic"/>
              </a:rPr>
              <a:t>coal with a very low percentage of</a:t>
            </a:r>
            <a:r>
              <a:rPr sz="2000" spc="-225" dirty="0">
                <a:latin typeface="Schoolbook Uralic"/>
                <a:cs typeface="Schoolbook Uralic"/>
              </a:rPr>
              <a:t> </a:t>
            </a:r>
            <a:r>
              <a:rPr sz="2000" dirty="0">
                <a:latin typeface="Schoolbook Uralic"/>
                <a:cs typeface="Schoolbook Uralic"/>
              </a:rPr>
              <a:t>sulfur  present.</a:t>
            </a:r>
            <a:endParaRPr sz="2000">
              <a:latin typeface="Schoolbook Uralic"/>
              <a:cs typeface="Schoolbook Uralic"/>
            </a:endParaRPr>
          </a:p>
          <a:p>
            <a:pPr marL="102235" indent="-90170" algn="just">
              <a:lnSpc>
                <a:spcPct val="100000"/>
              </a:lnSpc>
              <a:spcBef>
                <a:spcPts val="600"/>
              </a:spcBef>
              <a:buSzPct val="95000"/>
              <a:buFont typeface="Arial"/>
              <a:buChar char="•"/>
              <a:tabLst>
                <a:tab pos="102870" algn="l"/>
              </a:tabLst>
            </a:pPr>
            <a:r>
              <a:rPr sz="2000" b="1" dirty="0">
                <a:solidFill>
                  <a:srgbClr val="C00000"/>
                </a:solidFill>
                <a:latin typeface="Schoolbook Uralic"/>
                <a:cs typeface="Schoolbook Uralic"/>
              </a:rPr>
              <a:t>Use</a:t>
            </a:r>
            <a:r>
              <a:rPr sz="2000" b="1" spc="-15" dirty="0">
                <a:solidFill>
                  <a:srgbClr val="C00000"/>
                </a:solidFill>
                <a:latin typeface="Schoolbook Uralic"/>
                <a:cs typeface="Schoolbook Uralic"/>
              </a:rPr>
              <a:t> </a:t>
            </a:r>
            <a:r>
              <a:rPr sz="2000" b="1" dirty="0">
                <a:solidFill>
                  <a:srgbClr val="C00000"/>
                </a:solidFill>
                <a:latin typeface="Schoolbook Uralic"/>
                <a:cs typeface="Schoolbook Uralic"/>
              </a:rPr>
              <a:t>Scrubbers</a:t>
            </a:r>
            <a:endParaRPr sz="2000">
              <a:latin typeface="Schoolbook Uralic"/>
              <a:cs typeface="Schoolbook Uralic"/>
            </a:endParaRPr>
          </a:p>
          <a:p>
            <a:pPr marL="153035" marR="574675">
              <a:lnSpc>
                <a:spcPct val="100000"/>
              </a:lnSpc>
            </a:pPr>
            <a:r>
              <a:rPr sz="2000" dirty="0">
                <a:latin typeface="Schoolbook Uralic"/>
                <a:cs typeface="Schoolbook Uralic"/>
              </a:rPr>
              <a:t>Scrubbers remove 80-95 </a:t>
            </a:r>
            <a:r>
              <a:rPr sz="2000" spc="-5" dirty="0">
                <a:latin typeface="Schoolbook Uralic"/>
                <a:cs typeface="Schoolbook Uralic"/>
              </a:rPr>
              <a:t>percent </a:t>
            </a:r>
            <a:r>
              <a:rPr sz="2000" dirty="0">
                <a:latin typeface="Schoolbook Uralic"/>
                <a:cs typeface="Schoolbook Uralic"/>
              </a:rPr>
              <a:t>of </a:t>
            </a:r>
            <a:r>
              <a:rPr sz="2000" spc="-5" dirty="0">
                <a:latin typeface="Schoolbook Uralic"/>
                <a:cs typeface="Schoolbook Uralic"/>
              </a:rPr>
              <a:t>the </a:t>
            </a:r>
            <a:r>
              <a:rPr sz="2000" dirty="0">
                <a:latin typeface="Schoolbook Uralic"/>
                <a:cs typeface="Schoolbook Uralic"/>
              </a:rPr>
              <a:t>sulfur oxides.  Certain types </a:t>
            </a:r>
            <a:r>
              <a:rPr sz="2000" spc="-5" dirty="0">
                <a:latin typeface="Schoolbook Uralic"/>
                <a:cs typeface="Schoolbook Uralic"/>
              </a:rPr>
              <a:t>do </a:t>
            </a:r>
            <a:r>
              <a:rPr sz="2000" dirty="0">
                <a:latin typeface="Schoolbook Uralic"/>
                <a:cs typeface="Schoolbook Uralic"/>
              </a:rPr>
              <a:t>not remove nitrogen oxides. They </a:t>
            </a:r>
            <a:r>
              <a:rPr sz="2000" spc="-5" dirty="0">
                <a:latin typeface="Schoolbook Uralic"/>
                <a:cs typeface="Schoolbook Uralic"/>
              </a:rPr>
              <a:t>are  </a:t>
            </a:r>
            <a:r>
              <a:rPr sz="2000" dirty="0">
                <a:latin typeface="Schoolbook Uralic"/>
                <a:cs typeface="Schoolbook Uralic"/>
              </a:rPr>
              <a:t>costly </a:t>
            </a:r>
            <a:r>
              <a:rPr sz="2000" spc="-5" dirty="0">
                <a:latin typeface="Schoolbook Uralic"/>
                <a:cs typeface="Schoolbook Uralic"/>
              </a:rPr>
              <a:t>to </a:t>
            </a:r>
            <a:r>
              <a:rPr sz="2000" dirty="0">
                <a:latin typeface="Schoolbook Uralic"/>
                <a:cs typeface="Schoolbook Uralic"/>
              </a:rPr>
              <a:t>retrofit </a:t>
            </a:r>
            <a:r>
              <a:rPr sz="2000" spc="-5" dirty="0">
                <a:latin typeface="Schoolbook Uralic"/>
                <a:cs typeface="Schoolbook Uralic"/>
              </a:rPr>
              <a:t>to </a:t>
            </a:r>
            <a:r>
              <a:rPr sz="2000" dirty="0">
                <a:latin typeface="Schoolbook Uralic"/>
                <a:cs typeface="Schoolbook Uralic"/>
              </a:rPr>
              <a:t>existing power </a:t>
            </a:r>
            <a:r>
              <a:rPr sz="2000" spc="-5" dirty="0">
                <a:latin typeface="Schoolbook Uralic"/>
                <a:cs typeface="Schoolbook Uralic"/>
              </a:rPr>
              <a:t>plants. </a:t>
            </a:r>
            <a:r>
              <a:rPr sz="2000" dirty="0">
                <a:latin typeface="Schoolbook Uralic"/>
                <a:cs typeface="Schoolbook Uralic"/>
              </a:rPr>
              <a:t>They</a:t>
            </a:r>
            <a:r>
              <a:rPr sz="2000" spc="-185" dirty="0">
                <a:latin typeface="Schoolbook Uralic"/>
                <a:cs typeface="Schoolbook Uralic"/>
              </a:rPr>
              <a:t> </a:t>
            </a:r>
            <a:r>
              <a:rPr sz="2000" spc="-5" dirty="0">
                <a:latin typeface="Schoolbook Uralic"/>
                <a:cs typeface="Schoolbook Uralic"/>
              </a:rPr>
              <a:t>increase  the </a:t>
            </a:r>
            <a:r>
              <a:rPr sz="2000" dirty="0">
                <a:latin typeface="Schoolbook Uralic"/>
                <a:cs typeface="Schoolbook Uralic"/>
              </a:rPr>
              <a:t>electric generating costs </a:t>
            </a:r>
            <a:r>
              <a:rPr sz="2000" spc="-5" dirty="0">
                <a:latin typeface="Schoolbook Uralic"/>
                <a:cs typeface="Schoolbook Uralic"/>
              </a:rPr>
              <a:t>by </a:t>
            </a:r>
            <a:r>
              <a:rPr sz="2000" dirty="0">
                <a:latin typeface="Schoolbook Uralic"/>
                <a:cs typeface="Schoolbook Uralic"/>
              </a:rPr>
              <a:t>10-15</a:t>
            </a:r>
            <a:r>
              <a:rPr sz="2000" spc="-165" dirty="0">
                <a:latin typeface="Schoolbook Uralic"/>
                <a:cs typeface="Schoolbook Uralic"/>
              </a:rPr>
              <a:t> </a:t>
            </a:r>
            <a:r>
              <a:rPr sz="2000" dirty="0">
                <a:latin typeface="Schoolbook Uralic"/>
                <a:cs typeface="Schoolbook Uralic"/>
              </a:rPr>
              <a:t>%.</a:t>
            </a:r>
            <a:endParaRPr sz="2000">
              <a:latin typeface="Schoolbook Uralic"/>
              <a:cs typeface="Schoolbook Ural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799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9747" y="188976"/>
              <a:ext cx="8651748" cy="62788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0659" y="194818"/>
              <a:ext cx="8606485" cy="58140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1691" y="441124"/>
            <a:ext cx="6710254" cy="11480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3780" y="669493"/>
            <a:ext cx="61379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FFFFFF"/>
                </a:solidFill>
              </a:rPr>
              <a:t>What are Nuclear</a:t>
            </a:r>
            <a:r>
              <a:rPr sz="3600" spc="-25" dirty="0">
                <a:solidFill>
                  <a:srgbClr val="FFFFFF"/>
                </a:solidFill>
              </a:rPr>
              <a:t> </a:t>
            </a:r>
            <a:r>
              <a:rPr sz="3600" spc="-5" dirty="0">
                <a:solidFill>
                  <a:srgbClr val="FFFFFF"/>
                </a:solidFill>
              </a:rPr>
              <a:t>Disasters?</a:t>
            </a:r>
            <a:endParaRPr sz="3600"/>
          </a:p>
        </p:txBody>
      </p:sp>
      <p:grpSp>
        <p:nvGrpSpPr>
          <p:cNvPr id="4" name="object 4"/>
          <p:cNvGrpSpPr/>
          <p:nvPr/>
        </p:nvGrpSpPr>
        <p:grpSpPr>
          <a:xfrm>
            <a:off x="4693046" y="2015298"/>
            <a:ext cx="3614420" cy="3713479"/>
            <a:chOff x="4693046" y="2015298"/>
            <a:chExt cx="3614420" cy="3713479"/>
          </a:xfrm>
        </p:grpSpPr>
        <p:sp>
          <p:nvSpPr>
            <p:cNvPr id="5" name="object 5"/>
            <p:cNvSpPr/>
            <p:nvPr/>
          </p:nvSpPr>
          <p:spPr>
            <a:xfrm>
              <a:off x="4693046" y="2015298"/>
              <a:ext cx="3614094" cy="364940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34761" y="5410961"/>
              <a:ext cx="2362200" cy="304800"/>
            </a:xfrm>
            <a:custGeom>
              <a:avLst/>
              <a:gdLst/>
              <a:ahLst/>
              <a:cxnLst/>
              <a:rect l="l" t="t" r="r" b="b"/>
              <a:pathLst>
                <a:path w="2362200" h="304800">
                  <a:moveTo>
                    <a:pt x="2362199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362199" y="304800"/>
                  </a:lnTo>
                  <a:lnTo>
                    <a:pt x="23621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34761" y="5410961"/>
              <a:ext cx="2362200" cy="304800"/>
            </a:xfrm>
            <a:custGeom>
              <a:avLst/>
              <a:gdLst/>
              <a:ahLst/>
              <a:cxnLst/>
              <a:rect l="l" t="t" r="r" b="b"/>
              <a:pathLst>
                <a:path w="2362200" h="304800">
                  <a:moveTo>
                    <a:pt x="0" y="304800"/>
                  </a:moveTo>
                  <a:lnTo>
                    <a:pt x="2362199" y="304800"/>
                  </a:lnTo>
                  <a:lnTo>
                    <a:pt x="2362199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12140" y="1933397"/>
            <a:ext cx="3618229" cy="40500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Schoolbook Uralic"/>
                <a:cs typeface="Schoolbook Uralic"/>
              </a:rPr>
              <a:t>Nuclear energy is  generated by </a:t>
            </a:r>
            <a:r>
              <a:rPr sz="2200" spc="-10" dirty="0">
                <a:latin typeface="Schoolbook Uralic"/>
                <a:cs typeface="Schoolbook Uralic"/>
              </a:rPr>
              <a:t>the </a:t>
            </a:r>
            <a:r>
              <a:rPr sz="2200" spc="-5" dirty="0">
                <a:latin typeface="Schoolbook Uralic"/>
                <a:cs typeface="Schoolbook Uralic"/>
              </a:rPr>
              <a:t>process of  molecular fission, molcular  fusion and molecular </a:t>
            </a:r>
            <a:r>
              <a:rPr sz="2200" spc="-10" dirty="0">
                <a:latin typeface="Schoolbook Uralic"/>
                <a:cs typeface="Schoolbook Uralic"/>
              </a:rPr>
              <a:t>decay.  </a:t>
            </a:r>
            <a:r>
              <a:rPr sz="2200" spc="-5" dirty="0">
                <a:latin typeface="Schoolbook Uralic"/>
                <a:cs typeface="Schoolbook Uralic"/>
              </a:rPr>
              <a:t>Uncontrolled formation of  such energy leads </a:t>
            </a:r>
            <a:r>
              <a:rPr sz="2200" spc="-10" dirty="0">
                <a:latin typeface="Schoolbook Uralic"/>
                <a:cs typeface="Schoolbook Uralic"/>
              </a:rPr>
              <a:t>to  </a:t>
            </a:r>
            <a:r>
              <a:rPr sz="2200" spc="-5" dirty="0">
                <a:latin typeface="Schoolbook Uralic"/>
                <a:cs typeface="Schoolbook Uralic"/>
              </a:rPr>
              <a:t>nuclear</a:t>
            </a:r>
            <a:r>
              <a:rPr sz="2200" dirty="0">
                <a:latin typeface="Schoolbook Uralic"/>
                <a:cs typeface="Schoolbook Uralic"/>
              </a:rPr>
              <a:t> </a:t>
            </a:r>
            <a:r>
              <a:rPr sz="2200" spc="-5" dirty="0">
                <a:latin typeface="Schoolbook Uralic"/>
                <a:cs typeface="Schoolbook Uralic"/>
              </a:rPr>
              <a:t>disasters.</a:t>
            </a:r>
            <a:endParaRPr sz="2200">
              <a:latin typeface="Schoolbook Uralic"/>
              <a:cs typeface="Schoolbook Uralic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00">
              <a:latin typeface="Schoolbook Uralic"/>
              <a:cs typeface="Schoolbook Uralic"/>
            </a:endParaRPr>
          </a:p>
          <a:p>
            <a:pPr marL="12700" marR="344805">
              <a:lnSpc>
                <a:spcPct val="100000"/>
              </a:lnSpc>
            </a:pPr>
            <a:r>
              <a:rPr sz="2200" spc="-5" dirty="0">
                <a:latin typeface="Schoolbook Uralic"/>
                <a:cs typeface="Schoolbook Uralic"/>
              </a:rPr>
              <a:t>These disasters  significantly affect </a:t>
            </a:r>
            <a:r>
              <a:rPr sz="2200" spc="-10" dirty="0">
                <a:latin typeface="Schoolbook Uralic"/>
                <a:cs typeface="Schoolbook Uralic"/>
              </a:rPr>
              <a:t>the  </a:t>
            </a:r>
            <a:r>
              <a:rPr sz="2200" spc="-5" dirty="0">
                <a:latin typeface="Schoolbook Uralic"/>
                <a:cs typeface="Schoolbook Uralic"/>
              </a:rPr>
              <a:t>population </a:t>
            </a:r>
            <a:r>
              <a:rPr sz="2200" spc="-10" dirty="0">
                <a:latin typeface="Schoolbook Uralic"/>
                <a:cs typeface="Schoolbook Uralic"/>
              </a:rPr>
              <a:t>and </a:t>
            </a:r>
            <a:r>
              <a:rPr sz="2200" spc="-5" dirty="0">
                <a:latin typeface="Schoolbook Uralic"/>
                <a:cs typeface="Schoolbook Uralic"/>
              </a:rPr>
              <a:t>its effects  </a:t>
            </a:r>
            <a:r>
              <a:rPr sz="2200" spc="-10" dirty="0">
                <a:latin typeface="Schoolbook Uralic"/>
                <a:cs typeface="Schoolbook Uralic"/>
              </a:rPr>
              <a:t>are </a:t>
            </a:r>
            <a:r>
              <a:rPr sz="2200" spc="-5" dirty="0">
                <a:latin typeface="Schoolbook Uralic"/>
                <a:cs typeface="Schoolbook Uralic"/>
              </a:rPr>
              <a:t>observed for </a:t>
            </a:r>
            <a:r>
              <a:rPr sz="2200" spc="-10" dirty="0">
                <a:latin typeface="Schoolbook Uralic"/>
                <a:cs typeface="Schoolbook Uralic"/>
              </a:rPr>
              <a:t>years.</a:t>
            </a:r>
            <a:endParaRPr sz="2200">
              <a:latin typeface="Schoolbook Uralic"/>
              <a:cs typeface="Schoolbook Ural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18440" y="1600200"/>
            <a:ext cx="3424175" cy="40965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6691" y="249682"/>
            <a:ext cx="7871459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b="1" spc="-5" dirty="0">
                <a:solidFill>
                  <a:srgbClr val="C00000"/>
                </a:solidFill>
                <a:latin typeface="Schoolbook Uralic"/>
                <a:cs typeface="Schoolbook Uralic"/>
              </a:rPr>
              <a:t>Effects </a:t>
            </a:r>
            <a:r>
              <a:rPr sz="5000" b="1" dirty="0">
                <a:solidFill>
                  <a:srgbClr val="C00000"/>
                </a:solidFill>
                <a:latin typeface="Schoolbook Uralic"/>
                <a:cs typeface="Schoolbook Uralic"/>
              </a:rPr>
              <a:t>on</a:t>
            </a:r>
            <a:r>
              <a:rPr sz="5000" b="1" spc="-50" dirty="0">
                <a:solidFill>
                  <a:srgbClr val="C00000"/>
                </a:solidFill>
                <a:latin typeface="Schoolbook Uralic"/>
                <a:cs typeface="Schoolbook Uralic"/>
              </a:rPr>
              <a:t> </a:t>
            </a:r>
            <a:r>
              <a:rPr sz="5000" b="1" spc="-5" dirty="0">
                <a:solidFill>
                  <a:srgbClr val="C00000"/>
                </a:solidFill>
                <a:latin typeface="Schoolbook Uralic"/>
                <a:cs typeface="Schoolbook Uralic"/>
              </a:rPr>
              <a:t>Environment</a:t>
            </a:r>
            <a:endParaRPr sz="5000">
              <a:latin typeface="Schoolbook Uralic"/>
              <a:cs typeface="Schoolbook Ural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6868" y="82296"/>
            <a:ext cx="8613648" cy="13365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88340" y="1400302"/>
            <a:ext cx="3964940" cy="4049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buClr>
                <a:srgbClr val="C00000"/>
              </a:buClr>
              <a:buSzPct val="95454"/>
              <a:buFont typeface="Wingdings"/>
              <a:buChar char=""/>
              <a:tabLst>
                <a:tab pos="262890" algn="l"/>
              </a:tabLst>
            </a:pPr>
            <a:r>
              <a:rPr sz="2200" spc="-5" dirty="0">
                <a:latin typeface="Schoolbook Uralic"/>
                <a:cs typeface="Schoolbook Uralic"/>
              </a:rPr>
              <a:t>A single nuclear accident  can cause loss of life, long  </a:t>
            </a:r>
            <a:r>
              <a:rPr sz="2200" spc="-10" dirty="0">
                <a:latin typeface="Schoolbook Uralic"/>
                <a:cs typeface="Schoolbook Uralic"/>
              </a:rPr>
              <a:t>term </a:t>
            </a:r>
            <a:r>
              <a:rPr sz="2200" spc="-5" dirty="0">
                <a:latin typeface="Schoolbook Uralic"/>
                <a:cs typeface="Schoolbook Uralic"/>
              </a:rPr>
              <a:t>illness </a:t>
            </a:r>
            <a:r>
              <a:rPr sz="2200" spc="-10" dirty="0">
                <a:latin typeface="Schoolbook Uralic"/>
                <a:cs typeface="Schoolbook Uralic"/>
              </a:rPr>
              <a:t>and </a:t>
            </a:r>
            <a:r>
              <a:rPr sz="2200" spc="-5" dirty="0">
                <a:latin typeface="Schoolbook Uralic"/>
                <a:cs typeface="Schoolbook Uralic"/>
              </a:rPr>
              <a:t>destruction of  property o a large</a:t>
            </a:r>
            <a:r>
              <a:rPr sz="2200" spc="-10" dirty="0">
                <a:latin typeface="Schoolbook Uralic"/>
                <a:cs typeface="Schoolbook Uralic"/>
              </a:rPr>
              <a:t> </a:t>
            </a:r>
            <a:r>
              <a:rPr sz="2200" spc="-5" dirty="0">
                <a:latin typeface="Schoolbook Uralic"/>
                <a:cs typeface="Schoolbook Uralic"/>
              </a:rPr>
              <a:t>scale.</a:t>
            </a:r>
            <a:endParaRPr sz="2200">
              <a:latin typeface="Schoolbook Uralic"/>
              <a:cs typeface="Schoolbook Uralic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C00000"/>
              </a:buClr>
              <a:buFont typeface="Wingdings"/>
              <a:buChar char=""/>
            </a:pPr>
            <a:endParaRPr sz="2300">
              <a:latin typeface="Schoolbook Uralic"/>
              <a:cs typeface="Schoolbook Uralic"/>
            </a:endParaRPr>
          </a:p>
          <a:p>
            <a:pPr marL="12700" marR="196215">
              <a:lnSpc>
                <a:spcPct val="100000"/>
              </a:lnSpc>
              <a:spcBef>
                <a:spcPts val="5"/>
              </a:spcBef>
              <a:buClr>
                <a:srgbClr val="C00000"/>
              </a:buClr>
              <a:buSzPct val="95454"/>
              <a:buFont typeface="Wingdings"/>
              <a:buChar char=""/>
              <a:tabLst>
                <a:tab pos="262890" algn="l"/>
              </a:tabLst>
            </a:pPr>
            <a:r>
              <a:rPr sz="2200" spc="-5" dirty="0">
                <a:latin typeface="Schoolbook Uralic"/>
                <a:cs typeface="Schoolbook Uralic"/>
              </a:rPr>
              <a:t>Radioactivity leads </a:t>
            </a:r>
            <a:r>
              <a:rPr sz="2200" spc="-10" dirty="0">
                <a:latin typeface="Schoolbook Uralic"/>
                <a:cs typeface="Schoolbook Uralic"/>
              </a:rPr>
              <a:t>to  </a:t>
            </a:r>
            <a:r>
              <a:rPr sz="2200" spc="-5" dirty="0">
                <a:latin typeface="Schoolbook Uralic"/>
                <a:cs typeface="Schoolbook Uralic"/>
              </a:rPr>
              <a:t>cancer, </a:t>
            </a:r>
            <a:r>
              <a:rPr sz="2200" spc="-10" dirty="0">
                <a:latin typeface="Schoolbook Uralic"/>
                <a:cs typeface="Schoolbook Uralic"/>
              </a:rPr>
              <a:t>genetic </a:t>
            </a:r>
            <a:r>
              <a:rPr sz="2200" spc="-5" dirty="0">
                <a:latin typeface="Schoolbook Uralic"/>
                <a:cs typeface="Schoolbook Uralic"/>
              </a:rPr>
              <a:t>disorders </a:t>
            </a:r>
            <a:r>
              <a:rPr sz="2200" spc="-10" dirty="0">
                <a:latin typeface="Schoolbook Uralic"/>
                <a:cs typeface="Schoolbook Uralic"/>
              </a:rPr>
              <a:t>and  </a:t>
            </a:r>
            <a:r>
              <a:rPr sz="2200" spc="-5" dirty="0">
                <a:latin typeface="Schoolbook Uralic"/>
                <a:cs typeface="Schoolbook Uralic"/>
              </a:rPr>
              <a:t>death in </a:t>
            </a:r>
            <a:r>
              <a:rPr sz="2200" spc="-10" dirty="0">
                <a:latin typeface="Schoolbook Uralic"/>
                <a:cs typeface="Schoolbook Uralic"/>
              </a:rPr>
              <a:t>the </a:t>
            </a:r>
            <a:r>
              <a:rPr sz="2200" spc="-5" dirty="0">
                <a:latin typeface="Schoolbook Uralic"/>
                <a:cs typeface="Schoolbook Uralic"/>
              </a:rPr>
              <a:t>affected </a:t>
            </a:r>
            <a:r>
              <a:rPr sz="2200" spc="-10" dirty="0">
                <a:latin typeface="Schoolbook Uralic"/>
                <a:cs typeface="Schoolbook Uralic"/>
              </a:rPr>
              <a:t>area </a:t>
            </a:r>
            <a:r>
              <a:rPr sz="2200" spc="-5" dirty="0">
                <a:latin typeface="Schoolbook Uralic"/>
                <a:cs typeface="Schoolbook Uralic"/>
              </a:rPr>
              <a:t>for  decades.</a:t>
            </a:r>
            <a:endParaRPr sz="2200">
              <a:latin typeface="Schoolbook Uralic"/>
              <a:cs typeface="Schoolbook Uralic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C00000"/>
              </a:buClr>
              <a:buFont typeface="Wingdings"/>
              <a:buChar char=""/>
            </a:pPr>
            <a:endParaRPr sz="2300">
              <a:latin typeface="Schoolbook Uralic"/>
              <a:cs typeface="Schoolbook Uralic"/>
            </a:endParaRPr>
          </a:p>
          <a:p>
            <a:pPr marL="262255" indent="-250190">
              <a:lnSpc>
                <a:spcPct val="100000"/>
              </a:lnSpc>
              <a:buClr>
                <a:srgbClr val="C00000"/>
              </a:buClr>
              <a:buSzPct val="95454"/>
              <a:buFont typeface="Wingdings"/>
              <a:buChar char=""/>
              <a:tabLst>
                <a:tab pos="262890" algn="l"/>
              </a:tabLst>
            </a:pPr>
            <a:r>
              <a:rPr sz="2200" spc="-5" dirty="0">
                <a:latin typeface="Schoolbook Uralic"/>
                <a:cs typeface="Schoolbook Uralic"/>
              </a:rPr>
              <a:t>It thus affects all forms</a:t>
            </a:r>
            <a:r>
              <a:rPr sz="2200" spc="-20" dirty="0">
                <a:latin typeface="Schoolbook Uralic"/>
                <a:cs typeface="Schoolbook Uralic"/>
              </a:rPr>
              <a:t> </a:t>
            </a:r>
            <a:r>
              <a:rPr sz="2200" dirty="0">
                <a:latin typeface="Schoolbook Uralic"/>
                <a:cs typeface="Schoolbook Uralic"/>
              </a:rPr>
              <a:t>of</a:t>
            </a:r>
            <a:endParaRPr sz="2200">
              <a:latin typeface="Schoolbook Uralic"/>
              <a:cs typeface="Schoolbook Uralic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Schoolbook Uralic"/>
                <a:cs typeface="Schoolbook Uralic"/>
              </a:rPr>
              <a:t>life for generation to</a:t>
            </a:r>
            <a:r>
              <a:rPr sz="2200" dirty="0">
                <a:latin typeface="Schoolbook Uralic"/>
                <a:cs typeface="Schoolbook Uralic"/>
              </a:rPr>
              <a:t> </a:t>
            </a:r>
            <a:r>
              <a:rPr sz="2200" spc="-5" dirty="0">
                <a:latin typeface="Schoolbook Uralic"/>
                <a:cs typeface="Schoolbook Uralic"/>
              </a:rPr>
              <a:t>come.</a:t>
            </a:r>
            <a:endParaRPr sz="2200">
              <a:latin typeface="Schoolbook Uralic"/>
              <a:cs typeface="Schoolbook Ural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577341"/>
            <a:ext cx="50958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/>
              <a:t>Air Pollution Control</a:t>
            </a:r>
            <a:r>
              <a:rPr sz="3200" spc="-65" dirty="0"/>
              <a:t> </a:t>
            </a:r>
            <a:r>
              <a:rPr sz="3200" spc="-5" dirty="0"/>
              <a:t>Acts</a:t>
            </a:r>
            <a:endParaRPr sz="32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6480428" y="6401332"/>
            <a:ext cx="143700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dirty="0">
                <a:solidFill>
                  <a:srgbClr val="464652"/>
                </a:solidFill>
                <a:latin typeface="Arial"/>
                <a:cs typeface="Arial"/>
              </a:rPr>
              <a:t>3 </a:t>
            </a:r>
            <a:r>
              <a:rPr sz="1400" spc="-5" dirty="0">
                <a:solidFill>
                  <a:srgbClr val="464652"/>
                </a:solidFill>
                <a:latin typeface="Arial"/>
                <a:cs typeface="Arial"/>
              </a:rPr>
              <a:t>December</a:t>
            </a:r>
            <a:r>
              <a:rPr sz="1400" spc="-90" dirty="0">
                <a:solidFill>
                  <a:srgbClr val="46465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64652"/>
                </a:solidFill>
                <a:latin typeface="Arial"/>
                <a:cs typeface="Arial"/>
              </a:rPr>
              <a:t>2018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168113"/>
            <a:ext cx="7914005" cy="191579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95"/>
              </a:spcBef>
              <a:buClr>
                <a:srgbClr val="717BA2"/>
              </a:buClr>
              <a:buSzPct val="75000"/>
              <a:buChar char=""/>
              <a:tabLst>
                <a:tab pos="286385" algn="l"/>
                <a:tab pos="287020" algn="l"/>
              </a:tabLst>
            </a:pPr>
            <a:r>
              <a:rPr sz="2600" dirty="0">
                <a:latin typeface="Arial"/>
                <a:cs typeface="Arial"/>
              </a:rPr>
              <a:t>1948:-Factories Act and Amendment </a:t>
            </a:r>
            <a:r>
              <a:rPr sz="2600" spc="-5" dirty="0">
                <a:latin typeface="Arial"/>
                <a:cs typeface="Arial"/>
              </a:rPr>
              <a:t>in</a:t>
            </a:r>
            <a:r>
              <a:rPr sz="2600" spc="-3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1987.</a:t>
            </a:r>
            <a:endParaRPr sz="260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717BA2"/>
              </a:buClr>
              <a:buSzPct val="75000"/>
              <a:buChar char=""/>
              <a:tabLst>
                <a:tab pos="286385" algn="l"/>
                <a:tab pos="287020" algn="l"/>
              </a:tabLst>
            </a:pPr>
            <a:r>
              <a:rPr sz="2600" dirty="0">
                <a:latin typeface="Arial"/>
                <a:cs typeface="Arial"/>
              </a:rPr>
              <a:t>1981:-Air(Prevention and Control of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Pollution)Act.</a:t>
            </a:r>
            <a:endParaRPr sz="260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Clr>
                <a:srgbClr val="717BA2"/>
              </a:buClr>
              <a:buSzPct val="75000"/>
              <a:buChar char=""/>
              <a:tabLst>
                <a:tab pos="286385" algn="l"/>
                <a:tab pos="287020" algn="l"/>
              </a:tabLst>
            </a:pPr>
            <a:r>
              <a:rPr sz="2600" dirty="0">
                <a:latin typeface="Arial"/>
                <a:cs typeface="Arial"/>
              </a:rPr>
              <a:t>1982:-Air(Prevention and Control of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Pollution)Rules.</a:t>
            </a:r>
            <a:endParaRPr sz="260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717BA2"/>
              </a:buClr>
              <a:buSzPct val="75000"/>
              <a:buChar char=""/>
              <a:tabLst>
                <a:tab pos="286385" algn="l"/>
                <a:tab pos="287020" algn="l"/>
              </a:tabLst>
            </a:pPr>
            <a:r>
              <a:rPr sz="2600" dirty="0">
                <a:latin typeface="Arial"/>
                <a:cs typeface="Arial"/>
              </a:rPr>
              <a:t>1982:-Atomic Energy</a:t>
            </a:r>
            <a:r>
              <a:rPr sz="2600" spc="-1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Act.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133470"/>
            <a:ext cx="4105275" cy="1291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717BA2"/>
              </a:buClr>
              <a:buSzPct val="75000"/>
              <a:buChar char=""/>
              <a:tabLst>
                <a:tab pos="286385" algn="l"/>
                <a:tab pos="287020" algn="l"/>
              </a:tabLst>
            </a:pPr>
            <a:r>
              <a:rPr sz="2600" dirty="0">
                <a:latin typeface="Arial"/>
                <a:cs typeface="Arial"/>
              </a:rPr>
              <a:t>1987:-Air(Prevention  Pollution)Amendment</a:t>
            </a:r>
            <a:r>
              <a:rPr sz="2600" spc="-2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Act.</a:t>
            </a:r>
            <a:endParaRPr sz="260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717BA2"/>
              </a:buClr>
              <a:buSzPct val="75000"/>
              <a:buChar char=""/>
              <a:tabLst>
                <a:tab pos="286385" algn="l"/>
                <a:tab pos="287020" algn="l"/>
              </a:tabLst>
            </a:pPr>
            <a:r>
              <a:rPr sz="2600" dirty="0">
                <a:latin typeface="Arial"/>
                <a:cs typeface="Arial"/>
              </a:rPr>
              <a:t>1988:-Motor </a:t>
            </a:r>
            <a:r>
              <a:rPr sz="2600" spc="-20" dirty="0">
                <a:latin typeface="Arial"/>
                <a:cs typeface="Arial"/>
              </a:rPr>
              <a:t>Vehicle</a:t>
            </a:r>
            <a:r>
              <a:rPr sz="2600" spc="-19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Act.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91583" y="3133470"/>
            <a:ext cx="381762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513840" algn="l"/>
                <a:tab pos="3527425" algn="l"/>
              </a:tabLst>
            </a:pPr>
            <a:r>
              <a:rPr sz="2600" dirty="0">
                <a:latin typeface="Arial"/>
                <a:cs typeface="Arial"/>
              </a:rPr>
              <a:t>and	Control	of</a:t>
            </a:r>
            <a:endParaRPr sz="2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5007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39" y="409143"/>
            <a:ext cx="7844155" cy="391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/>
              <a:t>The </a:t>
            </a:r>
            <a:r>
              <a:rPr spc="-5" dirty="0"/>
              <a:t>Air (Prevention </a:t>
            </a:r>
            <a:r>
              <a:rPr dirty="0"/>
              <a:t>and Control of </a:t>
            </a:r>
            <a:r>
              <a:rPr spc="-5" dirty="0"/>
              <a:t>Pollution)  Act,</a:t>
            </a:r>
            <a:r>
              <a:rPr spc="-20" dirty="0"/>
              <a:t> </a:t>
            </a:r>
            <a:r>
              <a:rPr spc="-5" dirty="0"/>
              <a:t>1981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6480428" y="6401332"/>
            <a:ext cx="143700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dirty="0">
                <a:solidFill>
                  <a:srgbClr val="464652"/>
                </a:solidFill>
                <a:latin typeface="Arial"/>
                <a:cs typeface="Arial"/>
              </a:rPr>
              <a:t>3 </a:t>
            </a:r>
            <a:r>
              <a:rPr sz="1400" spc="-5" dirty="0">
                <a:solidFill>
                  <a:srgbClr val="464652"/>
                </a:solidFill>
                <a:latin typeface="Arial"/>
                <a:cs typeface="Arial"/>
              </a:rPr>
              <a:t>December</a:t>
            </a:r>
            <a:r>
              <a:rPr sz="1400" spc="-90" dirty="0">
                <a:solidFill>
                  <a:srgbClr val="46465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64652"/>
                </a:solidFill>
                <a:latin typeface="Arial"/>
                <a:cs typeface="Arial"/>
              </a:rPr>
              <a:t>2018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243330"/>
            <a:ext cx="8072755" cy="37452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5"/>
              </a:spcBef>
              <a:buClr>
                <a:srgbClr val="717BA2"/>
              </a:buClr>
              <a:buSzPct val="75000"/>
              <a:buChar char=""/>
              <a:tabLst>
                <a:tab pos="287020" algn="l"/>
              </a:tabLst>
            </a:pPr>
            <a:r>
              <a:rPr sz="2600" spc="5" dirty="0">
                <a:latin typeface="Arial"/>
                <a:cs typeface="Arial"/>
              </a:rPr>
              <a:t>The </a:t>
            </a:r>
            <a:r>
              <a:rPr sz="2600" spc="-5" dirty="0">
                <a:latin typeface="Arial"/>
                <a:cs typeface="Arial"/>
              </a:rPr>
              <a:t>Air(Prevention </a:t>
            </a:r>
            <a:r>
              <a:rPr sz="2600" dirty="0">
                <a:latin typeface="Arial"/>
                <a:cs typeface="Arial"/>
              </a:rPr>
              <a:t>and Control of </a:t>
            </a:r>
            <a:r>
              <a:rPr sz="2600" spc="-25" dirty="0">
                <a:latin typeface="Arial"/>
                <a:cs typeface="Arial"/>
              </a:rPr>
              <a:t>Pollution)Act,  </a:t>
            </a:r>
            <a:r>
              <a:rPr sz="2600" dirty="0">
                <a:latin typeface="Arial"/>
                <a:cs typeface="Arial"/>
              </a:rPr>
              <a:t>1981 </a:t>
            </a:r>
            <a:r>
              <a:rPr sz="2600" spc="-5" dirty="0">
                <a:latin typeface="Arial"/>
                <a:cs typeface="Arial"/>
              </a:rPr>
              <a:t>is </a:t>
            </a:r>
            <a:r>
              <a:rPr sz="2600" dirty="0">
                <a:latin typeface="Arial"/>
                <a:cs typeface="Arial"/>
              </a:rPr>
              <a:t>a central </a:t>
            </a:r>
            <a:r>
              <a:rPr sz="2600" spc="-5" dirty="0">
                <a:latin typeface="Arial"/>
                <a:cs typeface="Arial"/>
              </a:rPr>
              <a:t>Act </a:t>
            </a:r>
            <a:r>
              <a:rPr sz="2600" dirty="0">
                <a:latin typeface="Arial"/>
                <a:cs typeface="Arial"/>
              </a:rPr>
              <a:t>of Parliament, which </a:t>
            </a:r>
            <a:r>
              <a:rPr sz="2600" spc="-5" dirty="0">
                <a:latin typeface="Arial"/>
                <a:cs typeface="Arial"/>
              </a:rPr>
              <a:t>provides  </a:t>
            </a:r>
            <a:r>
              <a:rPr sz="2600" dirty="0">
                <a:latin typeface="Arial"/>
                <a:cs typeface="Arial"/>
              </a:rPr>
              <a:t>for the prevention and </a:t>
            </a:r>
            <a:r>
              <a:rPr sz="2600" spc="-5" dirty="0">
                <a:latin typeface="Arial"/>
                <a:cs typeface="Arial"/>
              </a:rPr>
              <a:t>control </a:t>
            </a:r>
            <a:r>
              <a:rPr sz="2600" dirty="0">
                <a:latin typeface="Arial"/>
                <a:cs typeface="Arial"/>
              </a:rPr>
              <a:t>of air pollution and  maintaining the good quality of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spc="-35" dirty="0">
                <a:latin typeface="Arial"/>
                <a:cs typeface="Arial"/>
              </a:rPr>
              <a:t>air.</a:t>
            </a:r>
            <a:endParaRPr sz="2600">
              <a:latin typeface="Arial"/>
              <a:cs typeface="Arial"/>
            </a:endParaRPr>
          </a:p>
          <a:p>
            <a:pPr marL="286385" marR="5715" indent="-274320" algn="just">
              <a:lnSpc>
                <a:spcPct val="100000"/>
              </a:lnSpc>
              <a:spcBef>
                <a:spcPts val="600"/>
              </a:spcBef>
              <a:buClr>
                <a:srgbClr val="717BA2"/>
              </a:buClr>
              <a:buSzPct val="75000"/>
              <a:buChar char=""/>
              <a:tabLst>
                <a:tab pos="287020" algn="l"/>
              </a:tabLst>
            </a:pPr>
            <a:r>
              <a:rPr sz="2600" spc="-5" dirty="0">
                <a:latin typeface="Arial"/>
                <a:cs typeface="Arial"/>
              </a:rPr>
              <a:t>It </a:t>
            </a:r>
            <a:r>
              <a:rPr sz="2600" dirty="0">
                <a:latin typeface="Arial"/>
                <a:cs typeface="Arial"/>
              </a:rPr>
              <a:t>also provided for </a:t>
            </a:r>
            <a:r>
              <a:rPr sz="2600" spc="-5" dirty="0">
                <a:latin typeface="Arial"/>
                <a:cs typeface="Arial"/>
              </a:rPr>
              <a:t>the </a:t>
            </a:r>
            <a:r>
              <a:rPr sz="2600" dirty="0">
                <a:latin typeface="Arial"/>
                <a:cs typeface="Arial"/>
              </a:rPr>
              <a:t>establishment of the </a:t>
            </a:r>
            <a:r>
              <a:rPr sz="2600" spc="-55" dirty="0">
                <a:latin typeface="Arial"/>
                <a:cs typeface="Arial"/>
              </a:rPr>
              <a:t>Central  </a:t>
            </a:r>
            <a:r>
              <a:rPr sz="2600" dirty="0">
                <a:latin typeface="Arial"/>
                <a:cs typeface="Arial"/>
              </a:rPr>
              <a:t>and State Boards </a:t>
            </a:r>
            <a:r>
              <a:rPr sz="2600" spc="-5" dirty="0">
                <a:latin typeface="Arial"/>
                <a:cs typeface="Arial"/>
              </a:rPr>
              <a:t>for </a:t>
            </a:r>
            <a:r>
              <a:rPr sz="2600" dirty="0">
                <a:latin typeface="Arial"/>
                <a:cs typeface="Arial"/>
              </a:rPr>
              <a:t>the Prevention </a:t>
            </a:r>
            <a:r>
              <a:rPr sz="2600" spc="-5" dirty="0">
                <a:latin typeface="Arial"/>
                <a:cs typeface="Arial"/>
              </a:rPr>
              <a:t>and </a:t>
            </a:r>
            <a:r>
              <a:rPr sz="2600" dirty="0">
                <a:latin typeface="Arial"/>
                <a:cs typeface="Arial"/>
              </a:rPr>
              <a:t>Control of  Air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Pollution.</a:t>
            </a:r>
            <a:endParaRPr sz="2600">
              <a:latin typeface="Arial"/>
              <a:cs typeface="Arial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Clr>
                <a:srgbClr val="717BA2"/>
              </a:buClr>
              <a:buSzPct val="75000"/>
              <a:buChar char=""/>
              <a:tabLst>
                <a:tab pos="287020" algn="l"/>
              </a:tabLst>
            </a:pPr>
            <a:r>
              <a:rPr sz="2600" spc="-5" dirty="0">
                <a:latin typeface="Arial"/>
                <a:cs typeface="Arial"/>
              </a:rPr>
              <a:t>It is </a:t>
            </a:r>
            <a:r>
              <a:rPr sz="2600" dirty="0">
                <a:latin typeface="Arial"/>
                <a:cs typeface="Arial"/>
              </a:rPr>
              <a:t>applicable </a:t>
            </a:r>
            <a:r>
              <a:rPr sz="2600" spc="-5" dirty="0">
                <a:latin typeface="Arial"/>
                <a:cs typeface="Arial"/>
              </a:rPr>
              <a:t>to </a:t>
            </a:r>
            <a:r>
              <a:rPr sz="2600" dirty="0">
                <a:latin typeface="Arial"/>
                <a:cs typeface="Arial"/>
              </a:rPr>
              <a:t>whole of India except Jammu </a:t>
            </a:r>
            <a:r>
              <a:rPr sz="2600" spc="-120" dirty="0">
                <a:latin typeface="Arial"/>
                <a:cs typeface="Arial"/>
              </a:rPr>
              <a:t>and  </a:t>
            </a:r>
            <a:r>
              <a:rPr sz="2600" spc="-15" dirty="0">
                <a:latin typeface="Arial"/>
                <a:cs typeface="Arial"/>
              </a:rPr>
              <a:t>Kashmir.</a:t>
            </a:r>
            <a:endParaRPr sz="2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63204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577341"/>
            <a:ext cx="18497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O</a:t>
            </a:r>
            <a:r>
              <a:rPr sz="3200" spc="5" dirty="0"/>
              <a:t>b</a:t>
            </a:r>
            <a:r>
              <a:rPr sz="3200" dirty="0"/>
              <a:t>jective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6480428" y="6401332"/>
            <a:ext cx="143700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dirty="0">
                <a:solidFill>
                  <a:srgbClr val="464652"/>
                </a:solidFill>
                <a:latin typeface="Arial"/>
                <a:cs typeface="Arial"/>
              </a:rPr>
              <a:t>3 </a:t>
            </a:r>
            <a:r>
              <a:rPr sz="1400" spc="-5" dirty="0">
                <a:solidFill>
                  <a:srgbClr val="464652"/>
                </a:solidFill>
                <a:latin typeface="Arial"/>
                <a:cs typeface="Arial"/>
              </a:rPr>
              <a:t>December</a:t>
            </a:r>
            <a:r>
              <a:rPr sz="1400" spc="-90" dirty="0">
                <a:solidFill>
                  <a:srgbClr val="46465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64652"/>
                </a:solidFill>
                <a:latin typeface="Arial"/>
                <a:cs typeface="Arial"/>
              </a:rPr>
              <a:t>2018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243330"/>
            <a:ext cx="8074659" cy="2952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5"/>
              </a:spcBef>
              <a:buClr>
                <a:srgbClr val="717BA2"/>
              </a:buClr>
              <a:buSzPct val="75000"/>
              <a:buChar char=""/>
              <a:tabLst>
                <a:tab pos="287020" algn="l"/>
              </a:tabLst>
            </a:pPr>
            <a:r>
              <a:rPr sz="2600" spc="-145" dirty="0">
                <a:latin typeface="Arial"/>
                <a:cs typeface="Arial"/>
              </a:rPr>
              <a:t>To </a:t>
            </a:r>
            <a:r>
              <a:rPr sz="2600" dirty="0">
                <a:latin typeface="Arial"/>
                <a:cs typeface="Arial"/>
              </a:rPr>
              <a:t>provide for the prevention, control and </a:t>
            </a:r>
            <a:r>
              <a:rPr sz="2600" spc="-40" dirty="0">
                <a:latin typeface="Arial"/>
                <a:cs typeface="Arial"/>
              </a:rPr>
              <a:t>abatement  </a:t>
            </a:r>
            <a:r>
              <a:rPr sz="2600" dirty="0">
                <a:latin typeface="Arial"/>
                <a:cs typeface="Arial"/>
              </a:rPr>
              <a:t>of air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pollution.</a:t>
            </a:r>
            <a:endParaRPr sz="2600">
              <a:latin typeface="Arial"/>
              <a:cs typeface="Arial"/>
            </a:endParaRPr>
          </a:p>
          <a:p>
            <a:pPr marL="286385" marR="7620" indent="-274320" algn="just">
              <a:lnSpc>
                <a:spcPct val="100000"/>
              </a:lnSpc>
              <a:spcBef>
                <a:spcPts val="600"/>
              </a:spcBef>
              <a:buClr>
                <a:srgbClr val="717BA2"/>
              </a:buClr>
              <a:buSzPct val="75000"/>
              <a:buChar char=""/>
              <a:tabLst>
                <a:tab pos="287020" algn="l"/>
              </a:tabLst>
            </a:pPr>
            <a:r>
              <a:rPr sz="2600" spc="-145" dirty="0">
                <a:latin typeface="Arial"/>
                <a:cs typeface="Arial"/>
              </a:rPr>
              <a:t>To </a:t>
            </a:r>
            <a:r>
              <a:rPr sz="2600" dirty="0">
                <a:latin typeface="Arial"/>
                <a:cs typeface="Arial"/>
              </a:rPr>
              <a:t>provide for the establishment of central and </a:t>
            </a:r>
            <a:r>
              <a:rPr sz="2600" spc="-65" dirty="0">
                <a:latin typeface="Arial"/>
                <a:cs typeface="Arial"/>
              </a:rPr>
              <a:t>state  </a:t>
            </a:r>
            <a:r>
              <a:rPr sz="2600" dirty="0">
                <a:latin typeface="Arial"/>
                <a:cs typeface="Arial"/>
              </a:rPr>
              <a:t>board with a view </a:t>
            </a:r>
            <a:r>
              <a:rPr sz="2600" spc="-5" dirty="0">
                <a:latin typeface="Arial"/>
                <a:cs typeface="Arial"/>
              </a:rPr>
              <a:t>to </a:t>
            </a:r>
            <a:r>
              <a:rPr sz="2600" dirty="0">
                <a:latin typeface="Arial"/>
                <a:cs typeface="Arial"/>
              </a:rPr>
              <a:t>implement the</a:t>
            </a:r>
            <a:r>
              <a:rPr sz="2600" spc="-17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Act.</a:t>
            </a:r>
            <a:endParaRPr sz="2600">
              <a:latin typeface="Arial"/>
              <a:cs typeface="Arial"/>
            </a:endParaRPr>
          </a:p>
          <a:p>
            <a:pPr marL="286385" marR="6350" indent="-274320" algn="just">
              <a:lnSpc>
                <a:spcPct val="100000"/>
              </a:lnSpc>
              <a:spcBef>
                <a:spcPts val="600"/>
              </a:spcBef>
              <a:buClr>
                <a:srgbClr val="717BA2"/>
              </a:buClr>
              <a:buSzPct val="75000"/>
              <a:buChar char=""/>
              <a:tabLst>
                <a:tab pos="287020" algn="l"/>
              </a:tabLst>
            </a:pPr>
            <a:r>
              <a:rPr sz="2600" spc="-145" dirty="0">
                <a:latin typeface="Arial"/>
                <a:cs typeface="Arial"/>
              </a:rPr>
              <a:t>To </a:t>
            </a:r>
            <a:r>
              <a:rPr sz="2600" dirty="0">
                <a:latin typeface="Arial"/>
                <a:cs typeface="Arial"/>
              </a:rPr>
              <a:t>confer on the boards the power </a:t>
            </a:r>
            <a:r>
              <a:rPr sz="2600" spc="-5" dirty="0">
                <a:latin typeface="Arial"/>
                <a:cs typeface="Arial"/>
              </a:rPr>
              <a:t>to </a:t>
            </a:r>
            <a:r>
              <a:rPr sz="2600" dirty="0">
                <a:latin typeface="Arial"/>
                <a:cs typeface="Arial"/>
              </a:rPr>
              <a:t>implement </a:t>
            </a:r>
            <a:r>
              <a:rPr sz="2600" spc="-110" dirty="0">
                <a:latin typeface="Arial"/>
                <a:cs typeface="Arial"/>
              </a:rPr>
              <a:t>the  </a:t>
            </a:r>
            <a:r>
              <a:rPr sz="2600" dirty="0">
                <a:latin typeface="Arial"/>
                <a:cs typeface="Arial"/>
              </a:rPr>
              <a:t>provisions of the Act and assign to the </a:t>
            </a:r>
            <a:r>
              <a:rPr sz="2600" spc="5" dirty="0">
                <a:latin typeface="Arial"/>
                <a:cs typeface="Arial"/>
              </a:rPr>
              <a:t>boards  </a:t>
            </a:r>
            <a:r>
              <a:rPr sz="2600" dirty="0">
                <a:latin typeface="Arial"/>
                <a:cs typeface="Arial"/>
              </a:rPr>
              <a:t>functions relating </a:t>
            </a:r>
            <a:r>
              <a:rPr sz="2600" spc="-5" dirty="0">
                <a:latin typeface="Arial"/>
                <a:cs typeface="Arial"/>
              </a:rPr>
              <a:t>to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pollution.</a:t>
            </a:r>
            <a:endParaRPr sz="2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00170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577341"/>
            <a:ext cx="55816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Definition Under the </a:t>
            </a:r>
            <a:r>
              <a:rPr sz="3200" spc="-5" dirty="0"/>
              <a:t>Air</a:t>
            </a:r>
            <a:r>
              <a:rPr sz="3200" spc="-95" dirty="0"/>
              <a:t> </a:t>
            </a:r>
            <a:r>
              <a:rPr sz="3200" dirty="0"/>
              <a:t>Act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35940" y="1243330"/>
            <a:ext cx="8072755" cy="1215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5"/>
              </a:spcBef>
            </a:pPr>
            <a:r>
              <a:rPr sz="1950" spc="-555" dirty="0">
                <a:solidFill>
                  <a:srgbClr val="717BA2"/>
                </a:solidFill>
                <a:latin typeface="Arial"/>
                <a:cs typeface="Arial"/>
              </a:rPr>
              <a:t></a:t>
            </a:r>
            <a:r>
              <a:rPr sz="1950" spc="560" dirty="0">
                <a:solidFill>
                  <a:srgbClr val="717BA2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“Air Pollutant” means any solid, liquid or </a:t>
            </a:r>
            <a:r>
              <a:rPr sz="2600" spc="-50" dirty="0">
                <a:latin typeface="Arial"/>
                <a:cs typeface="Arial"/>
              </a:rPr>
              <a:t>gaseous  </a:t>
            </a:r>
            <a:r>
              <a:rPr sz="2600" dirty="0">
                <a:latin typeface="Arial"/>
                <a:cs typeface="Arial"/>
              </a:rPr>
              <a:t>substance(including noise) present </a:t>
            </a:r>
            <a:r>
              <a:rPr sz="2600" spc="-5" dirty="0">
                <a:latin typeface="Arial"/>
                <a:cs typeface="Arial"/>
              </a:rPr>
              <a:t>in </a:t>
            </a:r>
            <a:r>
              <a:rPr sz="2600" dirty="0">
                <a:latin typeface="Arial"/>
                <a:cs typeface="Arial"/>
              </a:rPr>
              <a:t>the  atmosphere </a:t>
            </a:r>
            <a:r>
              <a:rPr sz="2600" spc="-5" dirty="0">
                <a:latin typeface="Arial"/>
                <a:cs typeface="Arial"/>
              </a:rPr>
              <a:t>in </a:t>
            </a:r>
            <a:r>
              <a:rPr sz="2600" dirty="0">
                <a:latin typeface="Arial"/>
                <a:cs typeface="Arial"/>
              </a:rPr>
              <a:t>such concentration as may be or</a:t>
            </a:r>
            <a:r>
              <a:rPr sz="2600" spc="509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tend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259" y="2432431"/>
            <a:ext cx="286448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16890" algn="l"/>
                <a:tab pos="1114425" algn="l"/>
                <a:tab pos="2576195" algn="l"/>
              </a:tabLst>
            </a:pPr>
            <a:r>
              <a:rPr sz="2600" spc="-5" dirty="0">
                <a:latin typeface="Arial"/>
                <a:cs typeface="Arial"/>
              </a:rPr>
              <a:t>t</a:t>
            </a:r>
            <a:r>
              <a:rPr sz="2600" dirty="0">
                <a:latin typeface="Arial"/>
                <a:cs typeface="Arial"/>
              </a:rPr>
              <a:t>o	be	injurious	</a:t>
            </a:r>
            <a:r>
              <a:rPr sz="2600" spc="-5" dirty="0">
                <a:latin typeface="Arial"/>
                <a:cs typeface="Arial"/>
              </a:rPr>
              <a:t>to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0259" y="2828670"/>
            <a:ext cx="238125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073275" algn="l"/>
              </a:tabLst>
            </a:pPr>
            <a:r>
              <a:rPr sz="2600" dirty="0">
                <a:latin typeface="Arial"/>
                <a:cs typeface="Arial"/>
              </a:rPr>
              <a:t>cre</a:t>
            </a:r>
            <a:r>
              <a:rPr sz="2600" spc="5" dirty="0">
                <a:latin typeface="Arial"/>
                <a:cs typeface="Arial"/>
              </a:rPr>
              <a:t>a</a:t>
            </a:r>
            <a:r>
              <a:rPr sz="2600" dirty="0">
                <a:latin typeface="Arial"/>
                <a:cs typeface="Arial"/>
              </a:rPr>
              <a:t>tur</a:t>
            </a:r>
            <a:r>
              <a:rPr sz="2600" spc="-15" dirty="0">
                <a:latin typeface="Arial"/>
                <a:cs typeface="Arial"/>
              </a:rPr>
              <a:t>e</a:t>
            </a:r>
            <a:r>
              <a:rPr sz="2600" dirty="0">
                <a:latin typeface="Arial"/>
                <a:cs typeface="Arial"/>
              </a:rPr>
              <a:t>s	or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8227" y="2432431"/>
            <a:ext cx="3776345" cy="818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8575">
              <a:lnSpc>
                <a:spcPct val="100000"/>
              </a:lnSpc>
              <a:spcBef>
                <a:spcPts val="105"/>
              </a:spcBef>
              <a:tabLst>
                <a:tab pos="1282065" algn="l"/>
                <a:tab pos="1579245" algn="l"/>
                <a:tab pos="2487295" algn="l"/>
                <a:tab pos="3008630" algn="l"/>
              </a:tabLst>
            </a:pPr>
            <a:r>
              <a:rPr sz="2600" dirty="0">
                <a:latin typeface="Arial"/>
                <a:cs typeface="Arial"/>
              </a:rPr>
              <a:t>h</a:t>
            </a:r>
            <a:r>
              <a:rPr sz="2600" spc="5" dirty="0">
                <a:latin typeface="Arial"/>
                <a:cs typeface="Arial"/>
              </a:rPr>
              <a:t>u</a:t>
            </a:r>
            <a:r>
              <a:rPr sz="2600" dirty="0">
                <a:latin typeface="Arial"/>
                <a:cs typeface="Arial"/>
              </a:rPr>
              <a:t>man	b</a:t>
            </a:r>
            <a:r>
              <a:rPr sz="2600" spc="5" dirty="0">
                <a:latin typeface="Arial"/>
                <a:cs typeface="Arial"/>
              </a:rPr>
              <a:t>e</a:t>
            </a:r>
            <a:r>
              <a:rPr sz="2600" dirty="0">
                <a:latin typeface="Arial"/>
                <a:cs typeface="Arial"/>
              </a:rPr>
              <a:t>ings	or	oth</a:t>
            </a:r>
            <a:r>
              <a:rPr sz="2600" spc="5" dirty="0">
                <a:latin typeface="Arial"/>
                <a:cs typeface="Arial"/>
              </a:rPr>
              <a:t>e</a:t>
            </a:r>
            <a:r>
              <a:rPr sz="2600" dirty="0">
                <a:latin typeface="Arial"/>
                <a:cs typeface="Arial"/>
              </a:rPr>
              <a:t>r  plants		or</a:t>
            </a:r>
            <a:endParaRPr sz="2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90513" y="2828670"/>
            <a:ext cx="123952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Arial"/>
                <a:cs typeface="Arial"/>
              </a:rPr>
              <a:t>pro</a:t>
            </a:r>
            <a:r>
              <a:rPr sz="2600" spc="5" dirty="0">
                <a:latin typeface="Arial"/>
                <a:cs typeface="Arial"/>
              </a:rPr>
              <a:t>p</a:t>
            </a:r>
            <a:r>
              <a:rPr sz="2600" dirty="0">
                <a:latin typeface="Arial"/>
                <a:cs typeface="Arial"/>
              </a:rPr>
              <a:t>erty</a:t>
            </a:r>
            <a:endParaRPr sz="2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28026" y="2432431"/>
            <a:ext cx="781050" cy="818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6985" algn="r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Arial"/>
                <a:cs typeface="Arial"/>
              </a:rPr>
              <a:t>living</a:t>
            </a:r>
            <a:endParaRPr sz="26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2600" dirty="0">
                <a:latin typeface="Arial"/>
                <a:cs typeface="Arial"/>
              </a:rPr>
              <a:t>or</a:t>
            </a:r>
            <a:endParaRPr sz="2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0259" y="3224606"/>
            <a:ext cx="341249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Arial"/>
                <a:cs typeface="Arial"/>
              </a:rPr>
              <a:t>environment.(Sec.2(a))</a:t>
            </a:r>
            <a:endParaRPr sz="2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40" y="3697604"/>
            <a:ext cx="397954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6385" algn="l"/>
                <a:tab pos="1187450" algn="l"/>
                <a:tab pos="2972435" algn="l"/>
              </a:tabLst>
            </a:pPr>
            <a:r>
              <a:rPr sz="1950" spc="-555" dirty="0">
                <a:solidFill>
                  <a:srgbClr val="717BA2"/>
                </a:solidFill>
                <a:latin typeface="Arial"/>
                <a:cs typeface="Arial"/>
              </a:rPr>
              <a:t>	</a:t>
            </a:r>
            <a:r>
              <a:rPr sz="2600" dirty="0">
                <a:latin typeface="Arial"/>
                <a:cs typeface="Arial"/>
              </a:rPr>
              <a:t>“Air	Polluta</a:t>
            </a:r>
            <a:r>
              <a:rPr sz="2600" spc="10" dirty="0">
                <a:latin typeface="Arial"/>
                <a:cs typeface="Arial"/>
              </a:rPr>
              <a:t>n</a:t>
            </a:r>
            <a:r>
              <a:rPr sz="2600" dirty="0">
                <a:latin typeface="Arial"/>
                <a:cs typeface="Arial"/>
              </a:rPr>
              <a:t>t”	me</a:t>
            </a:r>
            <a:r>
              <a:rPr sz="2600" spc="5" dirty="0">
                <a:latin typeface="Arial"/>
                <a:cs typeface="Arial"/>
              </a:rPr>
              <a:t>a</a:t>
            </a:r>
            <a:r>
              <a:rPr sz="2600" dirty="0">
                <a:latin typeface="Arial"/>
                <a:cs typeface="Arial"/>
              </a:rPr>
              <a:t>ns</a:t>
            </a:r>
            <a:endParaRPr sz="2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78451" y="3697604"/>
            <a:ext cx="372745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9790" algn="l"/>
                <a:tab pos="2609850" algn="l"/>
                <a:tab pos="3254375" algn="l"/>
              </a:tabLst>
            </a:pPr>
            <a:r>
              <a:rPr sz="2600" dirty="0">
                <a:latin typeface="Arial"/>
                <a:cs typeface="Arial"/>
              </a:rPr>
              <a:t>the	pre</a:t>
            </a:r>
            <a:r>
              <a:rPr sz="2600" spc="5" dirty="0">
                <a:latin typeface="Arial"/>
                <a:cs typeface="Arial"/>
              </a:rPr>
              <a:t>s</a:t>
            </a:r>
            <a:r>
              <a:rPr sz="2600" spc="-10" dirty="0">
                <a:latin typeface="Arial"/>
                <a:cs typeface="Arial"/>
              </a:rPr>
              <a:t>e</a:t>
            </a:r>
            <a:r>
              <a:rPr sz="2600" dirty="0">
                <a:latin typeface="Arial"/>
                <a:cs typeface="Arial"/>
              </a:rPr>
              <a:t>n</a:t>
            </a:r>
            <a:r>
              <a:rPr sz="2600" spc="5" dirty="0">
                <a:latin typeface="Arial"/>
                <a:cs typeface="Arial"/>
              </a:rPr>
              <a:t>c</a:t>
            </a:r>
            <a:r>
              <a:rPr sz="2600" dirty="0">
                <a:latin typeface="Arial"/>
                <a:cs typeface="Arial"/>
              </a:rPr>
              <a:t>e	</a:t>
            </a:r>
            <a:r>
              <a:rPr sz="2600" spc="-5" dirty="0">
                <a:latin typeface="Arial"/>
                <a:cs typeface="Arial"/>
              </a:rPr>
              <a:t>i</a:t>
            </a:r>
            <a:r>
              <a:rPr sz="2600" dirty="0">
                <a:latin typeface="Arial"/>
                <a:cs typeface="Arial"/>
              </a:rPr>
              <a:t>n	the</a:t>
            </a:r>
            <a:endParaRPr sz="2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5940" y="4018254"/>
            <a:ext cx="8074659" cy="22358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6385">
              <a:lnSpc>
                <a:spcPct val="100000"/>
              </a:lnSpc>
              <a:spcBef>
                <a:spcPts val="700"/>
              </a:spcBef>
            </a:pPr>
            <a:r>
              <a:rPr sz="2600" dirty="0">
                <a:latin typeface="Arial"/>
                <a:cs typeface="Arial"/>
              </a:rPr>
              <a:t>atmosphere of any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air.(Sec.(b))</a:t>
            </a:r>
            <a:endParaRPr sz="2600">
              <a:latin typeface="Arial"/>
              <a:cs typeface="Arial"/>
            </a:endParaRPr>
          </a:p>
          <a:p>
            <a:pPr marL="286385" marR="10160" indent="-274320">
              <a:lnSpc>
                <a:spcPct val="100000"/>
              </a:lnSpc>
              <a:spcBef>
                <a:spcPts val="600"/>
              </a:spcBef>
              <a:buClr>
                <a:srgbClr val="717BA2"/>
              </a:buClr>
              <a:buSzPct val="75000"/>
              <a:buChar char=""/>
              <a:tabLst>
                <a:tab pos="286385" algn="l"/>
                <a:tab pos="287020" algn="l"/>
                <a:tab pos="1952625" algn="l"/>
                <a:tab pos="3510279" algn="l"/>
                <a:tab pos="4536440" algn="l"/>
                <a:tab pos="6167120" algn="l"/>
                <a:tab pos="7284720" algn="l"/>
              </a:tabLst>
            </a:pPr>
            <a:r>
              <a:rPr sz="2600" dirty="0">
                <a:latin typeface="Arial"/>
                <a:cs typeface="Arial"/>
              </a:rPr>
              <a:t>“Bo</a:t>
            </a:r>
            <a:r>
              <a:rPr sz="2600" spc="5" dirty="0">
                <a:latin typeface="Arial"/>
                <a:cs typeface="Arial"/>
              </a:rPr>
              <a:t>a</a:t>
            </a:r>
            <a:r>
              <a:rPr sz="2600" dirty="0">
                <a:latin typeface="Arial"/>
                <a:cs typeface="Arial"/>
              </a:rPr>
              <a:t>rd”	me</a:t>
            </a:r>
            <a:r>
              <a:rPr sz="2600" spc="5" dirty="0">
                <a:latin typeface="Arial"/>
                <a:cs typeface="Arial"/>
              </a:rPr>
              <a:t>a</a:t>
            </a:r>
            <a:r>
              <a:rPr sz="2600" dirty="0">
                <a:latin typeface="Arial"/>
                <a:cs typeface="Arial"/>
              </a:rPr>
              <a:t>ns	the	C</a:t>
            </a:r>
            <a:r>
              <a:rPr sz="2600" spc="10" dirty="0">
                <a:latin typeface="Arial"/>
                <a:cs typeface="Arial"/>
              </a:rPr>
              <a:t>e</a:t>
            </a:r>
            <a:r>
              <a:rPr sz="2600" dirty="0">
                <a:latin typeface="Arial"/>
                <a:cs typeface="Arial"/>
              </a:rPr>
              <a:t>ntral	and	State  Board.(Sec.2(f))</a:t>
            </a:r>
            <a:endParaRPr sz="2600">
              <a:latin typeface="Arial"/>
              <a:cs typeface="Arial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717BA2"/>
              </a:buClr>
              <a:buSzPct val="75000"/>
              <a:buChar char=""/>
              <a:tabLst>
                <a:tab pos="286385" algn="l"/>
                <a:tab pos="287020" algn="l"/>
              </a:tabLst>
            </a:pPr>
            <a:r>
              <a:rPr sz="2600" dirty="0">
                <a:latin typeface="Arial"/>
                <a:cs typeface="Arial"/>
              </a:rPr>
              <a:t>“Member” means a member </a:t>
            </a:r>
            <a:r>
              <a:rPr sz="2600" spc="-5" dirty="0">
                <a:latin typeface="Arial"/>
                <a:cs typeface="Arial"/>
              </a:rPr>
              <a:t>of </a:t>
            </a:r>
            <a:r>
              <a:rPr sz="2600" dirty="0">
                <a:latin typeface="Arial"/>
                <a:cs typeface="Arial"/>
              </a:rPr>
              <a:t>the Central Board or  a State Board, as </a:t>
            </a:r>
            <a:r>
              <a:rPr sz="2600" spc="-5" dirty="0">
                <a:latin typeface="Arial"/>
                <a:cs typeface="Arial"/>
              </a:rPr>
              <a:t>the </a:t>
            </a:r>
            <a:r>
              <a:rPr sz="2600" dirty="0">
                <a:latin typeface="Arial"/>
                <a:cs typeface="Arial"/>
              </a:rPr>
              <a:t>case may be, and includes</a:t>
            </a:r>
            <a:r>
              <a:rPr sz="2600" spc="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</a:t>
            </a:r>
            <a:endParaRPr sz="2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1387" y="6232042"/>
            <a:ext cx="415099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64652"/>
                </a:solidFill>
                <a:latin typeface="Arial"/>
                <a:cs typeface="Arial"/>
              </a:rPr>
              <a:t>7 </a:t>
            </a:r>
            <a:r>
              <a:rPr sz="3900" baseline="1068" dirty="0">
                <a:latin typeface="Arial"/>
                <a:cs typeface="Arial"/>
              </a:rPr>
              <a:t>Chairman</a:t>
            </a:r>
            <a:r>
              <a:rPr sz="3900" spc="-450" baseline="1068" dirty="0">
                <a:latin typeface="Arial"/>
                <a:cs typeface="Arial"/>
              </a:rPr>
              <a:t> </a:t>
            </a:r>
            <a:r>
              <a:rPr sz="3900" baseline="1068" dirty="0">
                <a:latin typeface="Arial"/>
                <a:cs typeface="Arial"/>
              </a:rPr>
              <a:t>thereof.(Sec.2(l))</a:t>
            </a:r>
            <a:endParaRPr sz="3900" baseline="1068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80428" y="6384442"/>
            <a:ext cx="14370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64652"/>
                </a:solidFill>
                <a:latin typeface="Arial"/>
                <a:cs typeface="Arial"/>
              </a:rPr>
              <a:t>3 </a:t>
            </a:r>
            <a:r>
              <a:rPr sz="1400" spc="-5" dirty="0">
                <a:solidFill>
                  <a:srgbClr val="464652"/>
                </a:solidFill>
                <a:latin typeface="Arial"/>
                <a:cs typeface="Arial"/>
              </a:rPr>
              <a:t>December</a:t>
            </a:r>
            <a:r>
              <a:rPr sz="1400" spc="-90" dirty="0">
                <a:solidFill>
                  <a:srgbClr val="46465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64652"/>
                </a:solidFill>
                <a:latin typeface="Arial"/>
                <a:cs typeface="Arial"/>
              </a:rPr>
              <a:t>2018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40534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577341"/>
            <a:ext cx="63360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Central Pollution </a:t>
            </a:r>
            <a:r>
              <a:rPr sz="3200" spc="-5" dirty="0"/>
              <a:t>Control</a:t>
            </a:r>
            <a:r>
              <a:rPr sz="3200" spc="-110" dirty="0"/>
              <a:t> </a:t>
            </a:r>
            <a:r>
              <a:rPr sz="3200" dirty="0"/>
              <a:t>Board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35940" y="1243330"/>
            <a:ext cx="8073390" cy="3196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5"/>
              </a:spcBef>
            </a:pPr>
            <a:r>
              <a:rPr sz="1950" spc="-555" dirty="0">
                <a:solidFill>
                  <a:srgbClr val="717BA2"/>
                </a:solidFill>
                <a:latin typeface="Arial"/>
                <a:cs typeface="Arial"/>
              </a:rPr>
              <a:t></a:t>
            </a:r>
            <a:r>
              <a:rPr sz="1950" spc="565" dirty="0">
                <a:solidFill>
                  <a:srgbClr val="717BA2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Central Pollution Control Board constituted </a:t>
            </a:r>
            <a:r>
              <a:rPr sz="2600" spc="-70" dirty="0">
                <a:latin typeface="Arial"/>
                <a:cs typeface="Arial"/>
              </a:rPr>
              <a:t>under  </a:t>
            </a:r>
            <a:r>
              <a:rPr sz="2600" dirty="0">
                <a:latin typeface="Arial"/>
                <a:cs typeface="Arial"/>
              </a:rPr>
              <a:t>sec.3 of the </a:t>
            </a:r>
            <a:r>
              <a:rPr sz="2600" spc="-20" dirty="0">
                <a:latin typeface="Arial"/>
                <a:cs typeface="Arial"/>
              </a:rPr>
              <a:t>Water </a:t>
            </a:r>
            <a:r>
              <a:rPr sz="2600" dirty="0">
                <a:latin typeface="Arial"/>
                <a:cs typeface="Arial"/>
              </a:rPr>
              <a:t>Prevention and Control Act,1974  was authorized </a:t>
            </a:r>
            <a:r>
              <a:rPr sz="2600" spc="-5" dirty="0">
                <a:latin typeface="Arial"/>
                <a:cs typeface="Arial"/>
              </a:rPr>
              <a:t>to </a:t>
            </a:r>
            <a:r>
              <a:rPr sz="2600" dirty="0">
                <a:latin typeface="Arial"/>
                <a:cs typeface="Arial"/>
              </a:rPr>
              <a:t>exercise the powers and performs  the functions for the prevention and control of air  pollution.(CPCB) of India </a:t>
            </a:r>
            <a:r>
              <a:rPr sz="2600" spc="-5" dirty="0">
                <a:latin typeface="Arial"/>
                <a:cs typeface="Arial"/>
              </a:rPr>
              <a:t>is </a:t>
            </a:r>
            <a:r>
              <a:rPr sz="2600" dirty="0">
                <a:latin typeface="Arial"/>
                <a:cs typeface="Arial"/>
              </a:rPr>
              <a:t>a statutory organisation  under the Ministry of Environment, Forest and  Climate Change. </a:t>
            </a:r>
            <a:r>
              <a:rPr sz="2600" spc="-5" dirty="0">
                <a:latin typeface="Arial"/>
                <a:cs typeface="Arial"/>
              </a:rPr>
              <a:t>It </a:t>
            </a:r>
            <a:r>
              <a:rPr sz="2600" dirty="0">
                <a:latin typeface="Arial"/>
                <a:cs typeface="Arial"/>
              </a:rPr>
              <a:t>serves </a:t>
            </a:r>
            <a:r>
              <a:rPr sz="2600" spc="-5" dirty="0">
                <a:latin typeface="Arial"/>
                <a:cs typeface="Arial"/>
              </a:rPr>
              <a:t>as </a:t>
            </a:r>
            <a:r>
              <a:rPr sz="2600" dirty="0">
                <a:latin typeface="Arial"/>
                <a:cs typeface="Arial"/>
              </a:rPr>
              <a:t>a field formation </a:t>
            </a:r>
            <a:r>
              <a:rPr sz="2600" spc="-5" dirty="0">
                <a:latin typeface="Arial"/>
                <a:cs typeface="Arial"/>
              </a:rPr>
              <a:t>and  </a:t>
            </a:r>
            <a:r>
              <a:rPr sz="2600" dirty="0">
                <a:latin typeface="Arial"/>
                <a:cs typeface="Arial"/>
              </a:rPr>
              <a:t>provide technical and financial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services.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80428" y="6384442"/>
            <a:ext cx="14370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64652"/>
                </a:solidFill>
                <a:latin typeface="Arial"/>
                <a:cs typeface="Arial"/>
              </a:rPr>
              <a:t>3 </a:t>
            </a:r>
            <a:r>
              <a:rPr sz="1400" spc="-5" dirty="0">
                <a:solidFill>
                  <a:srgbClr val="464652"/>
                </a:solidFill>
                <a:latin typeface="Arial"/>
                <a:cs typeface="Arial"/>
              </a:rPr>
              <a:t>December</a:t>
            </a:r>
            <a:r>
              <a:rPr sz="1400" spc="-90" dirty="0">
                <a:solidFill>
                  <a:srgbClr val="46465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64652"/>
                </a:solidFill>
                <a:latin typeface="Arial"/>
                <a:cs typeface="Arial"/>
              </a:rPr>
              <a:t>2018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1387" y="6384442"/>
            <a:ext cx="1250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64652"/>
                </a:solidFill>
                <a:latin typeface="Arial"/>
                <a:cs typeface="Arial"/>
              </a:rPr>
              <a:t>8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17481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1143000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9144">
            <a:solidFill>
              <a:srgbClr val="9FB8CD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432803"/>
            <a:ext cx="120650" cy="190500"/>
          </a:xfrm>
          <a:custGeom>
            <a:avLst/>
            <a:gdLst/>
            <a:ahLst/>
            <a:cxnLst/>
            <a:rect l="l" t="t" r="r" b="b"/>
            <a:pathLst>
              <a:path w="120650" h="190500">
                <a:moveTo>
                  <a:pt x="0" y="0"/>
                </a:moveTo>
                <a:lnTo>
                  <a:pt x="0" y="190500"/>
                </a:lnTo>
                <a:lnTo>
                  <a:pt x="120396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9FB8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5940" y="182067"/>
            <a:ext cx="7486015" cy="910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/>
              <a:t>The functions of </a:t>
            </a:r>
            <a:r>
              <a:rPr spc="-5" dirty="0"/>
              <a:t>Central </a:t>
            </a:r>
            <a:r>
              <a:rPr dirty="0"/>
              <a:t>Board under</a:t>
            </a:r>
            <a:r>
              <a:rPr spc="-105" dirty="0"/>
              <a:t> </a:t>
            </a:r>
            <a:r>
              <a:rPr dirty="0"/>
              <a:t>the  Air</a:t>
            </a:r>
            <a:r>
              <a:rPr spc="-15" dirty="0"/>
              <a:t> </a:t>
            </a:r>
            <a:r>
              <a:rPr spc="-5" dirty="0"/>
              <a:t>Act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4500" y="1244853"/>
            <a:ext cx="8255000" cy="5162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885" marR="96520" indent="-274955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main </a:t>
            </a:r>
            <a:r>
              <a:rPr sz="2400" spc="-5" dirty="0">
                <a:latin typeface="Arial"/>
                <a:cs typeface="Arial"/>
              </a:rPr>
              <a:t>functions </a:t>
            </a:r>
            <a:r>
              <a:rPr sz="2400" dirty="0">
                <a:latin typeface="Arial"/>
                <a:cs typeface="Arial"/>
              </a:rPr>
              <a:t>of the </a:t>
            </a:r>
            <a:r>
              <a:rPr sz="2400" spc="-5" dirty="0">
                <a:latin typeface="Arial"/>
                <a:cs typeface="Arial"/>
              </a:rPr>
              <a:t>Central Board, as specified </a:t>
            </a:r>
            <a:r>
              <a:rPr sz="2400" dirty="0">
                <a:latin typeface="Arial"/>
                <a:cs typeface="Arial"/>
              </a:rPr>
              <a:t>in  </a:t>
            </a:r>
            <a:r>
              <a:rPr sz="2400" spc="-5" dirty="0">
                <a:latin typeface="Arial"/>
                <a:cs typeface="Arial"/>
              </a:rPr>
              <a:t>Section 16 of </a:t>
            </a:r>
            <a:r>
              <a:rPr sz="2400" dirty="0">
                <a:latin typeface="Arial"/>
                <a:cs typeface="Arial"/>
              </a:rPr>
              <a:t>the Act, </a:t>
            </a:r>
            <a:r>
              <a:rPr sz="2400" spc="-5" dirty="0">
                <a:latin typeface="Arial"/>
                <a:cs typeface="Arial"/>
              </a:rPr>
              <a:t>shall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be:-</a:t>
            </a:r>
            <a:endParaRPr sz="2400">
              <a:latin typeface="Arial"/>
              <a:cs typeface="Arial"/>
            </a:endParaRPr>
          </a:p>
          <a:p>
            <a:pPr marL="349885" marR="97790" indent="-274955" algn="just">
              <a:lnSpc>
                <a:spcPct val="100000"/>
              </a:lnSpc>
              <a:spcBef>
                <a:spcPts val="600"/>
              </a:spcBef>
              <a:buClr>
                <a:srgbClr val="717BA2"/>
              </a:buClr>
              <a:buSzPct val="75000"/>
              <a:buChar char=""/>
              <a:tabLst>
                <a:tab pos="350520" algn="l"/>
              </a:tabLst>
            </a:pPr>
            <a:r>
              <a:rPr sz="2400" spc="-5" dirty="0">
                <a:latin typeface="Arial"/>
                <a:cs typeface="Arial"/>
              </a:rPr>
              <a:t>Advise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Central Government on any matter </a:t>
            </a:r>
            <a:r>
              <a:rPr sz="2400" spc="-35" dirty="0">
                <a:latin typeface="Arial"/>
                <a:cs typeface="Arial"/>
              </a:rPr>
              <a:t>concerning  </a:t>
            </a:r>
            <a:r>
              <a:rPr sz="2400" spc="-5" dirty="0">
                <a:latin typeface="Arial"/>
                <a:cs typeface="Arial"/>
              </a:rPr>
              <a:t>the improvement of the </a:t>
            </a:r>
            <a:r>
              <a:rPr sz="2400" dirty="0">
                <a:latin typeface="Arial"/>
                <a:cs typeface="Arial"/>
              </a:rPr>
              <a:t>quality </a:t>
            </a:r>
            <a:r>
              <a:rPr sz="2400" spc="-5" dirty="0">
                <a:latin typeface="Arial"/>
                <a:cs typeface="Arial"/>
              </a:rPr>
              <a:t>of air and the prevention,  control of abatement of air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pollution.</a:t>
            </a:r>
            <a:endParaRPr sz="2400">
              <a:latin typeface="Arial"/>
              <a:cs typeface="Arial"/>
            </a:endParaRPr>
          </a:p>
          <a:p>
            <a:pPr marL="349885" marR="96520" indent="-274955" algn="just">
              <a:lnSpc>
                <a:spcPct val="100000"/>
              </a:lnSpc>
              <a:spcBef>
                <a:spcPts val="600"/>
              </a:spcBef>
              <a:buClr>
                <a:srgbClr val="717BA2"/>
              </a:buClr>
              <a:buSzPct val="75000"/>
              <a:buChar char=""/>
              <a:tabLst>
                <a:tab pos="350520" algn="l"/>
              </a:tabLst>
            </a:pPr>
            <a:r>
              <a:rPr sz="2400" spc="-5" dirty="0">
                <a:latin typeface="Arial"/>
                <a:cs typeface="Arial"/>
              </a:rPr>
              <a:t>Plan </a:t>
            </a:r>
            <a:r>
              <a:rPr sz="2400" dirty="0">
                <a:latin typeface="Arial"/>
                <a:cs typeface="Arial"/>
              </a:rPr>
              <a:t>and cause to </a:t>
            </a:r>
            <a:r>
              <a:rPr sz="2400" spc="-5" dirty="0">
                <a:latin typeface="Arial"/>
                <a:cs typeface="Arial"/>
              </a:rPr>
              <a:t>be executed a </a:t>
            </a:r>
            <a:r>
              <a:rPr sz="2400" dirty="0">
                <a:latin typeface="Arial"/>
                <a:cs typeface="Arial"/>
              </a:rPr>
              <a:t>nation-wide </a:t>
            </a:r>
            <a:r>
              <a:rPr sz="2400" spc="-35" dirty="0">
                <a:latin typeface="Arial"/>
                <a:cs typeface="Arial"/>
              </a:rPr>
              <a:t>programme  </a:t>
            </a:r>
            <a:r>
              <a:rPr sz="2400" dirty="0">
                <a:latin typeface="Arial"/>
                <a:cs typeface="Arial"/>
              </a:rPr>
              <a:t>for </a:t>
            </a:r>
            <a:r>
              <a:rPr sz="2400" spc="-5" dirty="0">
                <a:latin typeface="Arial"/>
                <a:cs typeface="Arial"/>
              </a:rPr>
              <a:t>the prevention and control of air</a:t>
            </a:r>
            <a:r>
              <a:rPr sz="2400" spc="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pollution.</a:t>
            </a:r>
            <a:endParaRPr sz="2400">
              <a:latin typeface="Arial"/>
              <a:cs typeface="Arial"/>
            </a:endParaRPr>
          </a:p>
          <a:p>
            <a:pPr marL="349885" marR="96520" indent="-274955" algn="just">
              <a:lnSpc>
                <a:spcPct val="100000"/>
              </a:lnSpc>
              <a:spcBef>
                <a:spcPts val="605"/>
              </a:spcBef>
              <a:buClr>
                <a:srgbClr val="717BA2"/>
              </a:buClr>
              <a:buSzPct val="75000"/>
              <a:buChar char=""/>
              <a:tabLst>
                <a:tab pos="350520" algn="l"/>
              </a:tabLst>
            </a:pPr>
            <a:r>
              <a:rPr sz="2400" dirty="0">
                <a:latin typeface="Arial"/>
                <a:cs typeface="Arial"/>
              </a:rPr>
              <a:t>Coordinate the </a:t>
            </a:r>
            <a:r>
              <a:rPr sz="2400" spc="-5" dirty="0">
                <a:latin typeface="Arial"/>
                <a:cs typeface="Arial"/>
              </a:rPr>
              <a:t>activities of </a:t>
            </a:r>
            <a:r>
              <a:rPr sz="2400" dirty="0">
                <a:latin typeface="Arial"/>
                <a:cs typeface="Arial"/>
              </a:rPr>
              <a:t>the State </a:t>
            </a:r>
            <a:r>
              <a:rPr sz="2400" spc="-5" dirty="0">
                <a:latin typeface="Arial"/>
                <a:cs typeface="Arial"/>
              </a:rPr>
              <a:t>Boards and </a:t>
            </a:r>
            <a:r>
              <a:rPr sz="2400" spc="-50" dirty="0">
                <a:latin typeface="Arial"/>
                <a:cs typeface="Arial"/>
              </a:rPr>
              <a:t>resolve  </a:t>
            </a:r>
            <a:r>
              <a:rPr sz="2400" spc="-5" dirty="0">
                <a:latin typeface="Arial"/>
                <a:cs typeface="Arial"/>
              </a:rPr>
              <a:t>dispute among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them.</a:t>
            </a:r>
            <a:endParaRPr sz="2400">
              <a:latin typeface="Arial"/>
              <a:cs typeface="Arial"/>
            </a:endParaRPr>
          </a:p>
          <a:p>
            <a:pPr marL="349885" indent="-275590" algn="just">
              <a:lnSpc>
                <a:spcPct val="100000"/>
              </a:lnSpc>
              <a:spcBef>
                <a:spcPts val="600"/>
              </a:spcBef>
              <a:buClr>
                <a:srgbClr val="717BA2"/>
              </a:buClr>
              <a:buSzPct val="75000"/>
              <a:buChar char=""/>
              <a:tabLst>
                <a:tab pos="350520" algn="l"/>
              </a:tabLst>
            </a:pPr>
            <a:r>
              <a:rPr sz="2400" spc="-5" dirty="0">
                <a:latin typeface="Arial"/>
                <a:cs typeface="Arial"/>
              </a:rPr>
              <a:t>Provide</a:t>
            </a:r>
            <a:r>
              <a:rPr sz="2400" spc="4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technical</a:t>
            </a:r>
            <a:r>
              <a:rPr sz="2400" spc="44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assistance</a:t>
            </a:r>
            <a:r>
              <a:rPr sz="2400" spc="4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4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guidance</a:t>
            </a:r>
            <a:r>
              <a:rPr sz="2400" spc="4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4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44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State</a:t>
            </a:r>
            <a:endParaRPr sz="2400">
              <a:latin typeface="Arial"/>
              <a:cs typeface="Arial"/>
            </a:endParaRPr>
          </a:p>
          <a:p>
            <a:pPr marL="349885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Boards.</a:t>
            </a:r>
            <a:endParaRPr sz="2400">
              <a:latin typeface="Arial"/>
              <a:cs typeface="Arial"/>
            </a:endParaRPr>
          </a:p>
          <a:p>
            <a:pPr marL="349885" indent="-275590">
              <a:lnSpc>
                <a:spcPct val="100000"/>
              </a:lnSpc>
              <a:spcBef>
                <a:spcPts val="600"/>
              </a:spcBef>
              <a:buClr>
                <a:srgbClr val="717BA2"/>
              </a:buClr>
              <a:buSzPct val="75000"/>
              <a:buChar char=""/>
              <a:tabLst>
                <a:tab pos="349885" algn="l"/>
                <a:tab pos="350520" algn="l"/>
              </a:tabLst>
            </a:pPr>
            <a:r>
              <a:rPr sz="2400" spc="-5" dirty="0">
                <a:latin typeface="Arial"/>
                <a:cs typeface="Arial"/>
              </a:rPr>
              <a:t>Collect, compile </a:t>
            </a:r>
            <a:r>
              <a:rPr sz="2400" dirty="0">
                <a:latin typeface="Arial"/>
                <a:cs typeface="Arial"/>
              </a:rPr>
              <a:t>and publish technical </a:t>
            </a:r>
            <a:r>
              <a:rPr sz="2400" spc="-5" dirty="0">
                <a:latin typeface="Arial"/>
                <a:cs typeface="Arial"/>
              </a:rPr>
              <a:t>and statistical</a:t>
            </a:r>
            <a:r>
              <a:rPr sz="2400" spc="2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49885" algn="l"/>
                <a:tab pos="1538605" algn="l"/>
                <a:tab pos="1981835" algn="l"/>
                <a:tab pos="2509520" algn="l"/>
                <a:tab pos="3835400" algn="l"/>
                <a:tab pos="4533900" algn="l"/>
                <a:tab pos="6061075" algn="l"/>
                <a:tab pos="7301865" algn="l"/>
                <a:tab pos="7847330" algn="l"/>
              </a:tabLst>
            </a:pPr>
            <a:r>
              <a:rPr sz="2400" u="dash" dirty="0">
                <a:uFill>
                  <a:solidFill>
                    <a:srgbClr val="9FB8CD"/>
                  </a:solidFill>
                </a:uFill>
                <a:latin typeface="Arial"/>
                <a:cs typeface="Arial"/>
              </a:rPr>
              <a:t> 	</a:t>
            </a:r>
            <a:r>
              <a:rPr sz="2400" u="dash" spc="-5" dirty="0">
                <a:uFill>
                  <a:solidFill>
                    <a:srgbClr val="9FB8CD"/>
                  </a:solidFill>
                </a:uFill>
                <a:latin typeface="Arial"/>
                <a:cs typeface="Arial"/>
              </a:rPr>
              <a:t>relating	</a:t>
            </a:r>
            <a:r>
              <a:rPr sz="2400" u="dash" dirty="0">
                <a:uFill>
                  <a:solidFill>
                    <a:srgbClr val="9FB8CD"/>
                  </a:solidFill>
                </a:uFill>
                <a:latin typeface="Arial"/>
                <a:cs typeface="Arial"/>
              </a:rPr>
              <a:t>to	</a:t>
            </a:r>
            <a:r>
              <a:rPr sz="2400" u="dash" spc="-5" dirty="0">
                <a:uFill>
                  <a:solidFill>
                    <a:srgbClr val="9FB8CD"/>
                  </a:solidFill>
                </a:uFill>
                <a:latin typeface="Arial"/>
                <a:cs typeface="Arial"/>
              </a:rPr>
              <a:t>air	</a:t>
            </a:r>
            <a:r>
              <a:rPr sz="2400" u="dash" dirty="0">
                <a:uFill>
                  <a:solidFill>
                    <a:srgbClr val="9FB8CD"/>
                  </a:solidFill>
                </a:uFill>
                <a:latin typeface="Arial"/>
                <a:cs typeface="Arial"/>
              </a:rPr>
              <a:t>pollution	</a:t>
            </a:r>
            <a:r>
              <a:rPr sz="2400" u="dash" spc="-5" dirty="0">
                <a:uFill>
                  <a:solidFill>
                    <a:srgbClr val="9FB8CD"/>
                  </a:solidFill>
                </a:uFill>
                <a:latin typeface="Arial"/>
                <a:cs typeface="Arial"/>
              </a:rPr>
              <a:t>and	measures	</a:t>
            </a:r>
            <a:r>
              <a:rPr sz="2400" u="dash" dirty="0">
                <a:uFill>
                  <a:solidFill>
                    <a:srgbClr val="9FB8CD"/>
                  </a:solidFill>
                </a:uFill>
                <a:latin typeface="Arial"/>
                <a:cs typeface="Arial"/>
              </a:rPr>
              <a:t>devised	for	its</a:t>
            </a:r>
            <a:r>
              <a:rPr sz="2400" u="dash" spc="40" dirty="0">
                <a:uFill>
                  <a:solidFill>
                    <a:srgbClr val="9FB8CD"/>
                  </a:solidFill>
                </a:uFill>
                <a:latin typeface="Arial"/>
                <a:cs typeface="Arial"/>
              </a:rPr>
              <a:t> 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80428" y="6384442"/>
            <a:ext cx="14370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64652"/>
                </a:solidFill>
                <a:latin typeface="Arial"/>
                <a:cs typeface="Arial"/>
              </a:rPr>
              <a:t>3 </a:t>
            </a:r>
            <a:r>
              <a:rPr sz="1400" spc="-5" dirty="0">
                <a:solidFill>
                  <a:srgbClr val="464652"/>
                </a:solidFill>
                <a:latin typeface="Arial"/>
                <a:cs typeface="Arial"/>
              </a:rPr>
              <a:t>December</a:t>
            </a:r>
            <a:r>
              <a:rPr sz="1400" spc="-90" dirty="0">
                <a:solidFill>
                  <a:srgbClr val="46465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64652"/>
                </a:solidFill>
                <a:latin typeface="Arial"/>
                <a:cs typeface="Arial"/>
              </a:rPr>
              <a:t>2018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5987" y="6381394"/>
            <a:ext cx="44843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spc="-22" baseline="37698" dirty="0">
                <a:solidFill>
                  <a:srgbClr val="464652"/>
                </a:solidFill>
                <a:latin typeface="Arial"/>
                <a:cs typeface="Arial"/>
              </a:rPr>
              <a:t>9</a:t>
            </a:r>
            <a:r>
              <a:rPr sz="2400" spc="-15" dirty="0">
                <a:latin typeface="Arial"/>
                <a:cs typeface="Arial"/>
              </a:rPr>
              <a:t>effective </a:t>
            </a:r>
            <a:r>
              <a:rPr sz="2400" spc="-5" dirty="0">
                <a:latin typeface="Arial"/>
                <a:cs typeface="Arial"/>
              </a:rPr>
              <a:t>prevention and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control.</a:t>
            </a:r>
            <a:endParaRPr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085730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1143000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9144">
            <a:solidFill>
              <a:srgbClr val="9FB8CD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4151" y="6432803"/>
            <a:ext cx="120650" cy="190500"/>
          </a:xfrm>
          <a:custGeom>
            <a:avLst/>
            <a:gdLst/>
            <a:ahLst/>
            <a:cxnLst/>
            <a:rect l="l" t="t" r="r" b="b"/>
            <a:pathLst>
              <a:path w="120650" h="190500">
                <a:moveTo>
                  <a:pt x="0" y="0"/>
                </a:moveTo>
                <a:lnTo>
                  <a:pt x="0" y="190500"/>
                </a:lnTo>
                <a:lnTo>
                  <a:pt x="120396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9FB8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4540" y="409143"/>
            <a:ext cx="7084060" cy="391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/>
              <a:t>The functions of </a:t>
            </a:r>
            <a:r>
              <a:rPr spc="-5" dirty="0"/>
              <a:t>State </a:t>
            </a:r>
            <a:r>
              <a:rPr dirty="0"/>
              <a:t>Boards under the</a:t>
            </a:r>
            <a:r>
              <a:rPr spc="-120" dirty="0"/>
              <a:t> </a:t>
            </a:r>
            <a:r>
              <a:rPr spc="-5" dirty="0"/>
              <a:t>Air  Act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7865" y="1203147"/>
            <a:ext cx="8340090" cy="5635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algn="just">
              <a:lnSpc>
                <a:spcPts val="2735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The</a:t>
            </a:r>
            <a:r>
              <a:rPr sz="2400" spc="7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functions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of</a:t>
            </a:r>
            <a:r>
              <a:rPr sz="2400" spc="7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the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State</a:t>
            </a:r>
            <a:r>
              <a:rPr sz="2400" spc="10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Board,</a:t>
            </a:r>
            <a:r>
              <a:rPr sz="2400" spc="6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as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specified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in</a:t>
            </a:r>
            <a:endParaRPr sz="2400">
              <a:latin typeface="Arial"/>
              <a:cs typeface="Arial"/>
            </a:endParaRPr>
          </a:p>
          <a:p>
            <a:pPr marL="324485" algn="just">
              <a:lnSpc>
                <a:spcPts val="2735"/>
              </a:lnSpc>
            </a:pPr>
            <a:r>
              <a:rPr sz="2400" spc="-5" dirty="0">
                <a:latin typeface="Arial"/>
                <a:cs typeface="Arial"/>
              </a:rPr>
              <a:t>Sec.17,shall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be:-</a:t>
            </a:r>
            <a:endParaRPr sz="2400">
              <a:latin typeface="Arial"/>
              <a:cs typeface="Arial"/>
            </a:endParaRPr>
          </a:p>
          <a:p>
            <a:pPr marL="324485" marR="132715" indent="-274320" algn="just">
              <a:lnSpc>
                <a:spcPts val="2590"/>
              </a:lnSpc>
              <a:spcBef>
                <a:spcPts val="640"/>
              </a:spcBef>
              <a:buClr>
                <a:srgbClr val="717BA2"/>
              </a:buClr>
              <a:buSzPct val="75000"/>
              <a:buChar char=""/>
              <a:tabLst>
                <a:tab pos="325120" algn="l"/>
              </a:tabLst>
            </a:pPr>
            <a:r>
              <a:rPr sz="2400" spc="-135" dirty="0">
                <a:latin typeface="Arial"/>
                <a:cs typeface="Arial"/>
              </a:rPr>
              <a:t>To </a:t>
            </a:r>
            <a:r>
              <a:rPr sz="2400" dirty="0">
                <a:latin typeface="Arial"/>
                <a:cs typeface="Arial"/>
              </a:rPr>
              <a:t>advise the </a:t>
            </a:r>
            <a:r>
              <a:rPr sz="2400" spc="-5" dirty="0">
                <a:latin typeface="Arial"/>
                <a:cs typeface="Arial"/>
              </a:rPr>
              <a:t>State </a:t>
            </a:r>
            <a:r>
              <a:rPr sz="2400" dirty="0">
                <a:latin typeface="Arial"/>
                <a:cs typeface="Arial"/>
              </a:rPr>
              <a:t>Government </a:t>
            </a:r>
            <a:r>
              <a:rPr sz="2400" spc="-5" dirty="0">
                <a:latin typeface="Arial"/>
                <a:cs typeface="Arial"/>
              </a:rPr>
              <a:t>on any </a:t>
            </a:r>
            <a:r>
              <a:rPr sz="2400" spc="-55" dirty="0">
                <a:latin typeface="Arial"/>
                <a:cs typeface="Arial"/>
              </a:rPr>
              <a:t>matter  </a:t>
            </a:r>
            <a:r>
              <a:rPr sz="2400" spc="-5" dirty="0">
                <a:latin typeface="Arial"/>
                <a:cs typeface="Arial"/>
              </a:rPr>
              <a:t>concerning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prevention, control or abatement of air  pollution.</a:t>
            </a:r>
            <a:endParaRPr sz="2400">
              <a:latin typeface="Arial"/>
              <a:cs typeface="Arial"/>
            </a:endParaRPr>
          </a:p>
          <a:p>
            <a:pPr marL="324485" marR="134620" indent="-274320" algn="just">
              <a:lnSpc>
                <a:spcPct val="90000"/>
              </a:lnSpc>
              <a:spcBef>
                <a:spcPts val="565"/>
              </a:spcBef>
              <a:buClr>
                <a:srgbClr val="717BA2"/>
              </a:buClr>
              <a:buSzPct val="75000"/>
              <a:buChar char=""/>
              <a:tabLst>
                <a:tab pos="325120" algn="l"/>
              </a:tabLst>
            </a:pPr>
            <a:r>
              <a:rPr sz="2400" spc="-135" dirty="0">
                <a:latin typeface="Arial"/>
                <a:cs typeface="Arial"/>
              </a:rPr>
              <a:t>To </a:t>
            </a:r>
            <a:r>
              <a:rPr sz="2400" dirty="0">
                <a:latin typeface="Arial"/>
                <a:cs typeface="Arial"/>
              </a:rPr>
              <a:t>collaborate </a:t>
            </a:r>
            <a:r>
              <a:rPr sz="2400" spc="-5" dirty="0">
                <a:latin typeface="Arial"/>
                <a:cs typeface="Arial"/>
              </a:rPr>
              <a:t>with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Central Board </a:t>
            </a:r>
            <a:r>
              <a:rPr sz="2400" dirty="0">
                <a:latin typeface="Arial"/>
                <a:cs typeface="Arial"/>
              </a:rPr>
              <a:t>in organising </a:t>
            </a:r>
            <a:r>
              <a:rPr sz="2400" spc="-110" dirty="0">
                <a:latin typeface="Arial"/>
                <a:cs typeface="Arial"/>
              </a:rPr>
              <a:t>the  </a:t>
            </a:r>
            <a:r>
              <a:rPr sz="2400" spc="-5" dirty="0">
                <a:latin typeface="Arial"/>
                <a:cs typeface="Arial"/>
              </a:rPr>
              <a:t>training of persons </a:t>
            </a:r>
            <a:r>
              <a:rPr sz="2400" dirty="0">
                <a:latin typeface="Arial"/>
                <a:cs typeface="Arial"/>
              </a:rPr>
              <a:t>engaged </a:t>
            </a:r>
            <a:r>
              <a:rPr sz="2400" spc="-5" dirty="0">
                <a:latin typeface="Arial"/>
                <a:cs typeface="Arial"/>
              </a:rPr>
              <a:t>or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be engaged </a:t>
            </a:r>
            <a:r>
              <a:rPr sz="2400" spc="-10" dirty="0">
                <a:latin typeface="Arial"/>
                <a:cs typeface="Arial"/>
              </a:rPr>
              <a:t>in  </a:t>
            </a:r>
            <a:r>
              <a:rPr sz="2400" dirty="0">
                <a:latin typeface="Arial"/>
                <a:cs typeface="Arial"/>
              </a:rPr>
              <a:t>programmes </a:t>
            </a:r>
            <a:r>
              <a:rPr sz="2400" spc="-5" dirty="0">
                <a:latin typeface="Arial"/>
                <a:cs typeface="Arial"/>
              </a:rPr>
              <a:t>relating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prevention </a:t>
            </a:r>
            <a:r>
              <a:rPr sz="2400" dirty="0">
                <a:latin typeface="Arial"/>
                <a:cs typeface="Arial"/>
              </a:rPr>
              <a:t>and </a:t>
            </a:r>
            <a:r>
              <a:rPr sz="2400" spc="-5" dirty="0">
                <a:latin typeface="Arial"/>
                <a:cs typeface="Arial"/>
              </a:rPr>
              <a:t>control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air  </a:t>
            </a:r>
            <a:r>
              <a:rPr sz="2400" dirty="0">
                <a:latin typeface="Arial"/>
                <a:cs typeface="Arial"/>
              </a:rPr>
              <a:t>pollution </a:t>
            </a:r>
            <a:r>
              <a:rPr sz="2400" spc="-5" dirty="0">
                <a:latin typeface="Arial"/>
                <a:cs typeface="Arial"/>
              </a:rPr>
              <a:t>and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provide </a:t>
            </a:r>
            <a:r>
              <a:rPr sz="2400" dirty="0">
                <a:latin typeface="Arial"/>
                <a:cs typeface="Arial"/>
              </a:rPr>
              <a:t>mass </a:t>
            </a:r>
            <a:r>
              <a:rPr sz="2400" spc="-5" dirty="0">
                <a:latin typeface="Arial"/>
                <a:cs typeface="Arial"/>
              </a:rPr>
              <a:t>education </a:t>
            </a:r>
            <a:r>
              <a:rPr sz="2400" dirty="0">
                <a:latin typeface="Arial"/>
                <a:cs typeface="Arial"/>
              </a:rPr>
              <a:t>programmer  </a:t>
            </a:r>
            <a:r>
              <a:rPr sz="2400" spc="-5" dirty="0">
                <a:latin typeface="Arial"/>
                <a:cs typeface="Arial"/>
              </a:rPr>
              <a:t>relating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thereof.</a:t>
            </a:r>
            <a:endParaRPr sz="2400">
              <a:latin typeface="Arial"/>
              <a:cs typeface="Arial"/>
            </a:endParaRPr>
          </a:p>
          <a:p>
            <a:pPr marL="324485" marR="133985" indent="-274320" algn="just">
              <a:lnSpc>
                <a:spcPts val="2590"/>
              </a:lnSpc>
              <a:spcBef>
                <a:spcPts val="645"/>
              </a:spcBef>
              <a:buClr>
                <a:srgbClr val="717BA2"/>
              </a:buClr>
              <a:buSzPct val="75000"/>
              <a:buChar char=""/>
              <a:tabLst>
                <a:tab pos="325120" algn="l"/>
              </a:tabLst>
            </a:pPr>
            <a:r>
              <a:rPr sz="2400" spc="-135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advise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State </a:t>
            </a:r>
            <a:r>
              <a:rPr sz="2400" dirty="0">
                <a:latin typeface="Arial"/>
                <a:cs typeface="Arial"/>
              </a:rPr>
              <a:t>Government </a:t>
            </a:r>
            <a:r>
              <a:rPr sz="2400" spc="-5" dirty="0">
                <a:latin typeface="Arial"/>
                <a:cs typeface="Arial"/>
              </a:rPr>
              <a:t>with respect to </a:t>
            </a:r>
            <a:r>
              <a:rPr sz="2400" spc="-110" dirty="0">
                <a:latin typeface="Arial"/>
                <a:cs typeface="Arial"/>
              </a:rPr>
              <a:t>the  </a:t>
            </a:r>
            <a:r>
              <a:rPr sz="2400" dirty="0">
                <a:latin typeface="Arial"/>
                <a:cs typeface="Arial"/>
              </a:rPr>
              <a:t>suitability </a:t>
            </a:r>
            <a:r>
              <a:rPr sz="2400" spc="-5" dirty="0">
                <a:latin typeface="Arial"/>
                <a:cs typeface="Arial"/>
              </a:rPr>
              <a:t>of any premises or location </a:t>
            </a:r>
            <a:r>
              <a:rPr sz="2400" dirty="0">
                <a:latin typeface="Arial"/>
                <a:cs typeface="Arial"/>
              </a:rPr>
              <a:t>for </a:t>
            </a:r>
            <a:r>
              <a:rPr sz="2400" spc="-5" dirty="0">
                <a:latin typeface="Arial"/>
                <a:cs typeface="Arial"/>
              </a:rPr>
              <a:t>carrying </a:t>
            </a:r>
            <a:r>
              <a:rPr sz="2400" dirty="0">
                <a:latin typeface="Arial"/>
                <a:cs typeface="Arial"/>
              </a:rPr>
              <a:t>on </a:t>
            </a:r>
            <a:r>
              <a:rPr sz="2400" spc="-5" dirty="0">
                <a:latin typeface="Arial"/>
                <a:cs typeface="Arial"/>
              </a:rPr>
              <a:t>any  industry which is likely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cause air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pollution.</a:t>
            </a:r>
            <a:endParaRPr sz="2400">
              <a:latin typeface="Arial"/>
              <a:cs typeface="Arial"/>
            </a:endParaRPr>
          </a:p>
          <a:p>
            <a:pPr marL="325120" indent="-274320" algn="just">
              <a:lnSpc>
                <a:spcPts val="2735"/>
              </a:lnSpc>
              <a:spcBef>
                <a:spcPts val="275"/>
              </a:spcBef>
              <a:buClr>
                <a:srgbClr val="717BA2"/>
              </a:buClr>
              <a:buSzPct val="75000"/>
              <a:buChar char=""/>
              <a:tabLst>
                <a:tab pos="325120" algn="l"/>
              </a:tabLst>
            </a:pPr>
            <a:r>
              <a:rPr sz="2400" spc="-135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provide various standards </a:t>
            </a:r>
            <a:r>
              <a:rPr sz="2400" dirty="0">
                <a:latin typeface="Arial"/>
                <a:cs typeface="Arial"/>
              </a:rPr>
              <a:t>for </a:t>
            </a:r>
            <a:r>
              <a:rPr sz="2400" spc="-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emissions </a:t>
            </a:r>
            <a:r>
              <a:rPr sz="2400" spc="-5" dirty="0">
                <a:latin typeface="Arial"/>
                <a:cs typeface="Arial"/>
              </a:rPr>
              <a:t>of</a:t>
            </a:r>
            <a:r>
              <a:rPr sz="2400" spc="1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different</a:t>
            </a:r>
            <a:endParaRPr sz="2400">
              <a:latin typeface="Arial"/>
              <a:cs typeface="Arial"/>
            </a:endParaRPr>
          </a:p>
          <a:p>
            <a:pPr marL="59055" algn="just">
              <a:lnSpc>
                <a:spcPts val="2595"/>
              </a:lnSpc>
            </a:pPr>
            <a:r>
              <a:rPr sz="2400" u="dash" dirty="0">
                <a:uFill>
                  <a:solidFill>
                    <a:srgbClr val="9FB8CD"/>
                  </a:solidFill>
                </a:uFill>
                <a:latin typeface="Arial"/>
                <a:cs typeface="Arial"/>
              </a:rPr>
              <a:t>  </a:t>
            </a:r>
            <a:r>
              <a:rPr sz="2400" u="dash" spc="90" dirty="0">
                <a:uFill>
                  <a:solidFill>
                    <a:srgbClr val="9FB8CD"/>
                  </a:solidFill>
                </a:uFill>
                <a:latin typeface="Arial"/>
                <a:cs typeface="Arial"/>
              </a:rPr>
              <a:t> </a:t>
            </a:r>
            <a:r>
              <a:rPr sz="2400" u="dash" dirty="0">
                <a:uFill>
                  <a:solidFill>
                    <a:srgbClr val="9FB8CD"/>
                  </a:solidFill>
                </a:uFill>
                <a:latin typeface="Arial"/>
                <a:cs typeface="Arial"/>
              </a:rPr>
              <a:t>industrial plants </a:t>
            </a:r>
            <a:r>
              <a:rPr sz="2400" u="dash" spc="-5" dirty="0">
                <a:uFill>
                  <a:solidFill>
                    <a:srgbClr val="9FB8CD"/>
                  </a:solidFill>
                </a:uFill>
                <a:latin typeface="Arial"/>
                <a:cs typeface="Arial"/>
              </a:rPr>
              <a:t>with regard </a:t>
            </a:r>
            <a:r>
              <a:rPr sz="2400" u="dash" dirty="0">
                <a:uFill>
                  <a:solidFill>
                    <a:srgbClr val="9FB8CD"/>
                  </a:solidFill>
                </a:uFill>
                <a:latin typeface="Arial"/>
                <a:cs typeface="Arial"/>
              </a:rPr>
              <a:t>to </a:t>
            </a:r>
            <a:r>
              <a:rPr sz="2400" u="dash" spc="-5" dirty="0">
                <a:uFill>
                  <a:solidFill>
                    <a:srgbClr val="9FB8CD"/>
                  </a:solidFill>
                </a:uFill>
                <a:latin typeface="Arial"/>
                <a:cs typeface="Arial"/>
              </a:rPr>
              <a:t>quantify and </a:t>
            </a:r>
            <a:r>
              <a:rPr sz="2400" u="dash" dirty="0">
                <a:uFill>
                  <a:solidFill>
                    <a:srgbClr val="9FB8CD"/>
                  </a:solidFill>
                </a:uFill>
                <a:latin typeface="Arial"/>
                <a:cs typeface="Arial"/>
              </a:rPr>
              <a:t>composition</a:t>
            </a:r>
            <a:r>
              <a:rPr sz="2400" u="dash" spc="204" dirty="0">
                <a:uFill>
                  <a:solidFill>
                    <a:srgbClr val="9FB8CD"/>
                  </a:solidFill>
                </a:uFill>
                <a:latin typeface="Arial"/>
                <a:cs typeface="Arial"/>
              </a:rPr>
              <a:t> </a:t>
            </a:r>
            <a:r>
              <a:rPr sz="2400" u="dash" spc="-5" dirty="0">
                <a:uFill>
                  <a:solidFill>
                    <a:srgbClr val="9FB8CD"/>
                  </a:solidFill>
                </a:uFill>
                <a:latin typeface="Arial"/>
                <a:cs typeface="Arial"/>
              </a:rPr>
              <a:t>of</a:t>
            </a:r>
            <a:r>
              <a:rPr sz="2400" u="dash" spc="55" dirty="0">
                <a:uFill>
                  <a:solidFill>
                    <a:srgbClr val="9FB8CD"/>
                  </a:solidFill>
                </a:uFill>
                <a:latin typeface="Arial"/>
                <a:cs typeface="Arial"/>
              </a:rPr>
              <a:t> </a:t>
            </a:r>
            <a:endParaRPr sz="2400">
              <a:latin typeface="Arial"/>
              <a:cs typeface="Arial"/>
            </a:endParaRPr>
          </a:p>
          <a:p>
            <a:pPr marL="306070" algn="just">
              <a:lnSpc>
                <a:spcPts val="2735"/>
              </a:lnSpc>
            </a:pPr>
            <a:r>
              <a:rPr sz="2100" spc="-217" baseline="59523" dirty="0">
                <a:solidFill>
                  <a:srgbClr val="464652"/>
                </a:solidFill>
                <a:latin typeface="Arial"/>
                <a:cs typeface="Arial"/>
              </a:rPr>
              <a:t>1</a:t>
            </a:r>
            <a:r>
              <a:rPr sz="2400" spc="-145" dirty="0">
                <a:latin typeface="Arial"/>
                <a:cs typeface="Arial"/>
              </a:rPr>
              <a:t>e</a:t>
            </a:r>
            <a:r>
              <a:rPr sz="2100" spc="-217" baseline="59523" dirty="0">
                <a:solidFill>
                  <a:srgbClr val="464652"/>
                </a:solidFill>
                <a:latin typeface="Arial"/>
                <a:cs typeface="Arial"/>
              </a:rPr>
              <a:t>1</a:t>
            </a:r>
            <a:r>
              <a:rPr sz="2400" spc="-145" dirty="0">
                <a:latin typeface="Arial"/>
                <a:cs typeface="Arial"/>
              </a:rPr>
              <a:t>mission </a:t>
            </a:r>
            <a:r>
              <a:rPr sz="2400" spc="-5" dirty="0">
                <a:latin typeface="Arial"/>
                <a:cs typeface="Arial"/>
              </a:rPr>
              <a:t>of air pollutant into the </a:t>
            </a:r>
            <a:r>
              <a:rPr sz="2400" spc="-100" dirty="0">
                <a:latin typeface="Arial"/>
                <a:cs typeface="Arial"/>
              </a:rPr>
              <a:t>atmospher</a:t>
            </a:r>
            <a:r>
              <a:rPr sz="2100" spc="-150" baseline="59523" dirty="0">
                <a:solidFill>
                  <a:srgbClr val="464652"/>
                </a:solidFill>
                <a:latin typeface="Arial"/>
                <a:cs typeface="Arial"/>
              </a:rPr>
              <a:t>3</a:t>
            </a:r>
            <a:r>
              <a:rPr sz="2400" spc="-100" dirty="0">
                <a:latin typeface="Arial"/>
                <a:cs typeface="Arial"/>
              </a:rPr>
              <a:t>e</a:t>
            </a:r>
            <a:r>
              <a:rPr sz="2100" spc="-150" baseline="59523" dirty="0">
                <a:solidFill>
                  <a:srgbClr val="464652"/>
                </a:solidFill>
                <a:latin typeface="Arial"/>
                <a:cs typeface="Arial"/>
              </a:rPr>
              <a:t>D</a:t>
            </a:r>
            <a:r>
              <a:rPr sz="2400" spc="-100" dirty="0">
                <a:latin typeface="Arial"/>
                <a:cs typeface="Arial"/>
              </a:rPr>
              <a:t>.</a:t>
            </a:r>
            <a:r>
              <a:rPr sz="2100" spc="-150" baseline="59523" dirty="0">
                <a:solidFill>
                  <a:srgbClr val="464652"/>
                </a:solidFill>
                <a:latin typeface="Arial"/>
                <a:cs typeface="Arial"/>
              </a:rPr>
              <a:t>ecember</a:t>
            </a:r>
            <a:r>
              <a:rPr sz="2100" spc="-127" baseline="59523" dirty="0">
                <a:solidFill>
                  <a:srgbClr val="464652"/>
                </a:solidFill>
                <a:latin typeface="Arial"/>
                <a:cs typeface="Arial"/>
              </a:rPr>
              <a:t> </a:t>
            </a:r>
            <a:r>
              <a:rPr sz="2100" baseline="59523" dirty="0">
                <a:solidFill>
                  <a:srgbClr val="464652"/>
                </a:solidFill>
                <a:latin typeface="Arial"/>
                <a:cs typeface="Arial"/>
              </a:rPr>
              <a:t>2018</a:t>
            </a:r>
            <a:endParaRPr sz="2100" baseline="59523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342391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577341"/>
            <a:ext cx="181546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/>
              <a:t>Penalties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35940" y="1243330"/>
            <a:ext cx="8074025" cy="3272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6350" indent="-274320" algn="just">
              <a:lnSpc>
                <a:spcPct val="100000"/>
              </a:lnSpc>
              <a:spcBef>
                <a:spcPts val="105"/>
              </a:spcBef>
              <a:buClr>
                <a:srgbClr val="717BA2"/>
              </a:buClr>
              <a:buSzPct val="75000"/>
              <a:buChar char=""/>
              <a:tabLst>
                <a:tab pos="287020" algn="l"/>
              </a:tabLst>
            </a:pPr>
            <a:r>
              <a:rPr sz="2600" spc="5" dirty="0">
                <a:latin typeface="Arial"/>
                <a:cs typeface="Arial"/>
              </a:rPr>
              <a:t>The </a:t>
            </a:r>
            <a:r>
              <a:rPr sz="2600" spc="-5" dirty="0">
                <a:latin typeface="Arial"/>
                <a:cs typeface="Arial"/>
              </a:rPr>
              <a:t>persons </a:t>
            </a:r>
            <a:r>
              <a:rPr sz="2600" dirty="0">
                <a:latin typeface="Arial"/>
                <a:cs typeface="Arial"/>
              </a:rPr>
              <a:t>managing industry are </a:t>
            </a:r>
            <a:r>
              <a:rPr sz="2600" spc="-5" dirty="0">
                <a:latin typeface="Arial"/>
                <a:cs typeface="Arial"/>
              </a:rPr>
              <a:t>to be </a:t>
            </a:r>
            <a:r>
              <a:rPr sz="2600" spc="-45" dirty="0">
                <a:latin typeface="Arial"/>
                <a:cs typeface="Arial"/>
              </a:rPr>
              <a:t>penalized  </a:t>
            </a:r>
            <a:r>
              <a:rPr sz="2600" spc="-5" dirty="0">
                <a:latin typeface="Arial"/>
                <a:cs typeface="Arial"/>
              </a:rPr>
              <a:t>if </a:t>
            </a:r>
            <a:r>
              <a:rPr sz="2600" dirty="0">
                <a:latin typeface="Arial"/>
                <a:cs typeface="Arial"/>
              </a:rPr>
              <a:t>they produce </a:t>
            </a:r>
            <a:r>
              <a:rPr sz="2600" spc="-5" dirty="0">
                <a:latin typeface="Arial"/>
                <a:cs typeface="Arial"/>
              </a:rPr>
              <a:t>emissions </a:t>
            </a:r>
            <a:r>
              <a:rPr sz="2600" dirty="0">
                <a:latin typeface="Arial"/>
                <a:cs typeface="Arial"/>
              </a:rPr>
              <a:t>of air pollutants </a:t>
            </a:r>
            <a:r>
              <a:rPr sz="2600" spc="-5" dirty="0">
                <a:latin typeface="Arial"/>
                <a:cs typeface="Arial"/>
              </a:rPr>
              <a:t>in </a:t>
            </a:r>
            <a:r>
              <a:rPr sz="2600" dirty="0">
                <a:latin typeface="Arial"/>
                <a:cs typeface="Arial"/>
              </a:rPr>
              <a:t>excess  of the standards laid down by the State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Board.</a:t>
            </a:r>
            <a:endParaRPr sz="2600">
              <a:latin typeface="Arial"/>
              <a:cs typeface="Arial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Clr>
                <a:srgbClr val="717BA2"/>
              </a:buClr>
              <a:buSzPct val="75000"/>
              <a:buChar char=""/>
              <a:tabLst>
                <a:tab pos="287020" algn="l"/>
              </a:tabLst>
            </a:pPr>
            <a:r>
              <a:rPr sz="2600" dirty="0">
                <a:latin typeface="Arial"/>
                <a:cs typeface="Arial"/>
              </a:rPr>
              <a:t>Whoever </a:t>
            </a:r>
            <a:r>
              <a:rPr sz="2600" spc="-10" dirty="0">
                <a:latin typeface="Arial"/>
                <a:cs typeface="Arial"/>
              </a:rPr>
              <a:t>is </a:t>
            </a:r>
            <a:r>
              <a:rPr sz="2600" dirty="0">
                <a:latin typeface="Arial"/>
                <a:cs typeface="Arial"/>
              </a:rPr>
              <a:t>founded </a:t>
            </a:r>
            <a:r>
              <a:rPr sz="2600" spc="-5" dirty="0">
                <a:latin typeface="Arial"/>
                <a:cs typeface="Arial"/>
              </a:rPr>
              <a:t>to </a:t>
            </a:r>
            <a:r>
              <a:rPr sz="2600" dirty="0">
                <a:latin typeface="Arial"/>
                <a:cs typeface="Arial"/>
              </a:rPr>
              <a:t>be work against the </a:t>
            </a:r>
            <a:r>
              <a:rPr sz="2600" spc="-50" dirty="0">
                <a:latin typeface="Arial"/>
                <a:cs typeface="Arial"/>
              </a:rPr>
              <a:t>clauses  </a:t>
            </a:r>
            <a:r>
              <a:rPr sz="2600" dirty="0">
                <a:latin typeface="Arial"/>
                <a:cs typeface="Arial"/>
              </a:rPr>
              <a:t>of the Act or any order or direction issued </a:t>
            </a:r>
            <a:r>
              <a:rPr sz="2600" spc="-5" dirty="0">
                <a:latin typeface="Arial"/>
                <a:cs typeface="Arial"/>
              </a:rPr>
              <a:t>is  </a:t>
            </a:r>
            <a:r>
              <a:rPr sz="2600" dirty="0">
                <a:latin typeface="Arial"/>
                <a:cs typeface="Arial"/>
              </a:rPr>
              <a:t>punishable with Rs.10,000 </a:t>
            </a:r>
            <a:r>
              <a:rPr sz="2600" spc="-5" dirty="0">
                <a:latin typeface="Arial"/>
                <a:cs typeface="Arial"/>
              </a:rPr>
              <a:t>in </a:t>
            </a:r>
            <a:r>
              <a:rPr sz="2600" dirty="0">
                <a:latin typeface="Arial"/>
                <a:cs typeface="Arial"/>
              </a:rPr>
              <a:t>case of three months  and </a:t>
            </a:r>
            <a:r>
              <a:rPr sz="2600" spc="-5" dirty="0">
                <a:latin typeface="Arial"/>
                <a:cs typeface="Arial"/>
              </a:rPr>
              <a:t>if in </a:t>
            </a:r>
            <a:r>
              <a:rPr sz="2600" spc="5" dirty="0">
                <a:latin typeface="Arial"/>
                <a:cs typeface="Arial"/>
              </a:rPr>
              <a:t>case </a:t>
            </a:r>
            <a:r>
              <a:rPr sz="2600" spc="-5" dirty="0">
                <a:latin typeface="Arial"/>
                <a:cs typeface="Arial"/>
              </a:rPr>
              <a:t>offence is </a:t>
            </a:r>
            <a:r>
              <a:rPr sz="2600" dirty="0">
                <a:latin typeface="Arial"/>
                <a:cs typeface="Arial"/>
              </a:rPr>
              <a:t>continue then extra Rs.5000  </a:t>
            </a:r>
            <a:r>
              <a:rPr sz="2600" spc="-5" dirty="0">
                <a:latin typeface="Arial"/>
                <a:cs typeface="Arial"/>
              </a:rPr>
              <a:t>is </a:t>
            </a:r>
            <a:r>
              <a:rPr sz="2600" dirty="0">
                <a:latin typeface="Arial"/>
                <a:cs typeface="Arial"/>
              </a:rPr>
              <a:t>charged for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everyday.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80428" y="6384442"/>
            <a:ext cx="14370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64652"/>
                </a:solidFill>
                <a:latin typeface="Arial"/>
                <a:cs typeface="Arial"/>
              </a:rPr>
              <a:t>3 </a:t>
            </a:r>
            <a:r>
              <a:rPr sz="1400" spc="-5" dirty="0">
                <a:solidFill>
                  <a:srgbClr val="464652"/>
                </a:solidFill>
                <a:latin typeface="Arial"/>
                <a:cs typeface="Arial"/>
              </a:rPr>
              <a:t>December</a:t>
            </a:r>
            <a:r>
              <a:rPr sz="1400" spc="-90" dirty="0">
                <a:solidFill>
                  <a:srgbClr val="46465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64652"/>
                </a:solidFill>
                <a:latin typeface="Arial"/>
                <a:cs typeface="Arial"/>
              </a:rPr>
              <a:t>2018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1387" y="6384442"/>
            <a:ext cx="2235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64652"/>
                </a:solidFill>
                <a:latin typeface="Arial"/>
                <a:cs typeface="Arial"/>
              </a:rPr>
              <a:t>12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7562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027" y="310133"/>
            <a:ext cx="7443311" cy="112649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 marR="5080">
              <a:lnSpc>
                <a:spcPts val="4100"/>
              </a:lnSpc>
              <a:spcBef>
                <a:spcPts val="620"/>
              </a:spcBef>
            </a:pPr>
            <a:r>
              <a:rPr sz="3800" dirty="0">
                <a:solidFill>
                  <a:srgbClr val="000000"/>
                </a:solidFill>
              </a:rPr>
              <a:t>The </a:t>
            </a:r>
            <a:r>
              <a:rPr sz="3800" spc="-40" dirty="0">
                <a:solidFill>
                  <a:srgbClr val="000000"/>
                </a:solidFill>
              </a:rPr>
              <a:t>Water </a:t>
            </a:r>
            <a:r>
              <a:rPr sz="3800" spc="-15" dirty="0">
                <a:solidFill>
                  <a:srgbClr val="000000"/>
                </a:solidFill>
              </a:rPr>
              <a:t>(Prevention </a:t>
            </a:r>
            <a:r>
              <a:rPr sz="3800" spc="-5" dirty="0">
                <a:solidFill>
                  <a:srgbClr val="000000"/>
                </a:solidFill>
              </a:rPr>
              <a:t>and </a:t>
            </a:r>
            <a:r>
              <a:rPr sz="3800" spc="-15" dirty="0">
                <a:solidFill>
                  <a:srgbClr val="000000"/>
                </a:solidFill>
              </a:rPr>
              <a:t>Control </a:t>
            </a:r>
            <a:r>
              <a:rPr sz="3800" dirty="0">
                <a:solidFill>
                  <a:srgbClr val="000000"/>
                </a:solidFill>
              </a:rPr>
              <a:t>of </a:t>
            </a:r>
            <a:r>
              <a:rPr sz="3800" spc="-10" dirty="0">
                <a:solidFill>
                  <a:srgbClr val="000000"/>
                </a:solidFill>
              </a:rPr>
              <a:t>Pollution)  </a:t>
            </a:r>
            <a:r>
              <a:rPr sz="3800" spc="10" dirty="0">
                <a:solidFill>
                  <a:srgbClr val="000000"/>
                </a:solidFill>
              </a:rPr>
              <a:t>Act,</a:t>
            </a:r>
            <a:r>
              <a:rPr sz="3800" spc="-40" dirty="0">
                <a:solidFill>
                  <a:srgbClr val="000000"/>
                </a:solidFill>
              </a:rPr>
              <a:t> </a:t>
            </a:r>
            <a:r>
              <a:rPr sz="3800" dirty="0">
                <a:solidFill>
                  <a:srgbClr val="000000"/>
                </a:solidFill>
              </a:rPr>
              <a:t>1974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751027" y="1449680"/>
            <a:ext cx="7770495" cy="42960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5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000" spc="-5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Federal </a:t>
            </a:r>
            <a:r>
              <a:rPr sz="2000" spc="-25" dirty="0">
                <a:latin typeface="Calibri"/>
                <a:cs typeface="Calibri"/>
              </a:rPr>
              <a:t>Water </a:t>
            </a:r>
            <a:r>
              <a:rPr sz="2000" spc="-10" dirty="0">
                <a:latin typeface="Calibri"/>
                <a:cs typeface="Calibri"/>
              </a:rPr>
              <a:t>Pollution Control </a:t>
            </a:r>
            <a:r>
              <a:rPr sz="2000" dirty="0">
                <a:latin typeface="Calibri"/>
                <a:cs typeface="Calibri"/>
              </a:rPr>
              <a:t>Act </a:t>
            </a:r>
            <a:r>
              <a:rPr sz="2000" spc="-5" dirty="0">
                <a:latin typeface="Calibri"/>
                <a:cs typeface="Calibri"/>
              </a:rPr>
              <a:t>of 1948 </a:t>
            </a:r>
            <a:r>
              <a:rPr sz="2000" spc="-10" dirty="0">
                <a:latin typeface="Calibri"/>
                <a:cs typeface="Calibri"/>
              </a:rPr>
              <a:t>was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5" dirty="0">
                <a:latin typeface="Calibri"/>
                <a:cs typeface="Calibri"/>
              </a:rPr>
              <a:t>first </a:t>
            </a:r>
            <a:r>
              <a:rPr sz="2000" dirty="0">
                <a:latin typeface="Calibri"/>
                <a:cs typeface="Calibri"/>
              </a:rPr>
              <a:t>major </a:t>
            </a:r>
            <a:r>
              <a:rPr sz="2000" spc="-10" dirty="0">
                <a:latin typeface="Calibri"/>
                <a:cs typeface="Calibri"/>
              </a:rPr>
              <a:t>U.S. </a:t>
            </a:r>
            <a:r>
              <a:rPr sz="2000" spc="-5" dirty="0">
                <a:latin typeface="Calibri"/>
                <a:cs typeface="Calibri"/>
              </a:rPr>
              <a:t>law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spc="-10" dirty="0">
                <a:latin typeface="Calibri"/>
                <a:cs typeface="Calibri"/>
              </a:rPr>
              <a:t>address </a:t>
            </a:r>
            <a:r>
              <a:rPr sz="2000" spc="-15" dirty="0">
                <a:latin typeface="Calibri"/>
                <a:cs typeface="Calibri"/>
              </a:rPr>
              <a:t>water  </a:t>
            </a:r>
            <a:r>
              <a:rPr sz="2000" spc="-5" dirty="0">
                <a:latin typeface="Calibri"/>
                <a:cs typeface="Calibri"/>
              </a:rPr>
              <a:t>pollution. </a:t>
            </a:r>
            <a:r>
              <a:rPr sz="2000" spc="-10" dirty="0">
                <a:latin typeface="Calibri"/>
                <a:cs typeface="Calibri"/>
              </a:rPr>
              <a:t>Growing </a:t>
            </a:r>
            <a:r>
              <a:rPr sz="2000" spc="-5" dirty="0">
                <a:latin typeface="Calibri"/>
                <a:cs typeface="Calibri"/>
              </a:rPr>
              <a:t>public </a:t>
            </a:r>
            <a:r>
              <a:rPr sz="2000" spc="-10" dirty="0">
                <a:latin typeface="Calibri"/>
                <a:cs typeface="Calibri"/>
              </a:rPr>
              <a:t>awareness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-5" dirty="0">
                <a:latin typeface="Calibri"/>
                <a:cs typeface="Calibri"/>
              </a:rPr>
              <a:t>concern </a:t>
            </a: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spc="-10" dirty="0">
                <a:latin typeface="Calibri"/>
                <a:cs typeface="Calibri"/>
              </a:rPr>
              <a:t>controlling </a:t>
            </a:r>
            <a:r>
              <a:rPr sz="2000" spc="-15" dirty="0">
                <a:latin typeface="Calibri"/>
                <a:cs typeface="Calibri"/>
              </a:rPr>
              <a:t>water </a:t>
            </a:r>
            <a:r>
              <a:rPr sz="2000" spc="-5" dirty="0">
                <a:latin typeface="Calibri"/>
                <a:cs typeface="Calibri"/>
              </a:rPr>
              <a:t>pollution </a:t>
            </a:r>
            <a:r>
              <a:rPr sz="2000" dirty="0">
                <a:latin typeface="Calibri"/>
                <a:cs typeface="Calibri"/>
              </a:rPr>
              <a:t>led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spc="-5" dirty="0">
                <a:latin typeface="Calibri"/>
                <a:cs typeface="Calibri"/>
              </a:rPr>
              <a:t>sweeping  amendments </a:t>
            </a:r>
            <a:r>
              <a:rPr sz="2000" dirty="0">
                <a:latin typeface="Calibri"/>
                <a:cs typeface="Calibri"/>
              </a:rPr>
              <a:t>in </a:t>
            </a:r>
            <a:r>
              <a:rPr sz="2000" spc="-5" dirty="0">
                <a:latin typeface="Calibri"/>
                <a:cs typeface="Calibri"/>
              </a:rPr>
              <a:t>1972. </a:t>
            </a:r>
            <a:r>
              <a:rPr sz="2000" dirty="0">
                <a:latin typeface="Calibri"/>
                <a:cs typeface="Calibri"/>
              </a:rPr>
              <a:t>As amended </a:t>
            </a:r>
            <a:r>
              <a:rPr sz="2000" spc="-5" dirty="0">
                <a:latin typeface="Calibri"/>
                <a:cs typeface="Calibri"/>
              </a:rPr>
              <a:t>in 1972,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law became commonly known </a:t>
            </a:r>
            <a:r>
              <a:rPr sz="2000" dirty="0">
                <a:latin typeface="Calibri"/>
                <a:cs typeface="Calibri"/>
              </a:rPr>
              <a:t>as the </a:t>
            </a:r>
            <a:r>
              <a:rPr sz="2000" spc="-5" dirty="0">
                <a:latin typeface="Calibri"/>
                <a:cs typeface="Calibri"/>
              </a:rPr>
              <a:t>Clean </a:t>
            </a:r>
            <a:r>
              <a:rPr sz="2000" spc="-25" dirty="0">
                <a:latin typeface="Calibri"/>
                <a:cs typeface="Calibri"/>
              </a:rPr>
              <a:t>Water  </a:t>
            </a:r>
            <a:r>
              <a:rPr sz="2000" dirty="0">
                <a:latin typeface="Calibri"/>
                <a:cs typeface="Calibri"/>
              </a:rPr>
              <a:t>Act</a:t>
            </a:r>
            <a:r>
              <a:rPr sz="2000" spc="-15" dirty="0">
                <a:latin typeface="Calibri"/>
                <a:cs typeface="Calibri"/>
              </a:rPr>
              <a:t> (CWA).</a:t>
            </a:r>
            <a:endParaRPr sz="2000">
              <a:latin typeface="Calibri"/>
              <a:cs typeface="Calibri"/>
            </a:endParaRPr>
          </a:p>
          <a:p>
            <a:pPr marL="241300" marR="6350" indent="-228600" algn="just">
              <a:lnSpc>
                <a:spcPct val="15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000" spc="-5" dirty="0">
                <a:latin typeface="Calibri"/>
                <a:cs typeface="Calibri"/>
              </a:rPr>
              <a:t>The need </a:t>
            </a:r>
            <a:r>
              <a:rPr sz="2000" spc="-20" dirty="0">
                <a:latin typeface="Calibri"/>
                <a:cs typeface="Calibri"/>
              </a:rPr>
              <a:t>for </a:t>
            </a:r>
            <a:r>
              <a:rPr sz="2000" spc="-5" dirty="0">
                <a:latin typeface="Calibri"/>
                <a:cs typeface="Calibri"/>
              </a:rPr>
              <a:t>legislating </a:t>
            </a:r>
            <a:r>
              <a:rPr sz="2000" dirty="0">
                <a:latin typeface="Calibri"/>
                <a:cs typeface="Calibri"/>
              </a:rPr>
              <a:t>the act </a:t>
            </a:r>
            <a:r>
              <a:rPr sz="2000" spc="-10" dirty="0">
                <a:latin typeface="Calibri"/>
                <a:cs typeface="Calibri"/>
              </a:rPr>
              <a:t>was </a:t>
            </a:r>
            <a:r>
              <a:rPr sz="2000" spc="-15" dirty="0">
                <a:latin typeface="Calibri"/>
                <a:cs typeface="Calibri"/>
              </a:rPr>
              <a:t>felt </a:t>
            </a:r>
            <a:r>
              <a:rPr sz="2000" spc="-5" dirty="0">
                <a:latin typeface="Calibri"/>
                <a:cs typeface="Calibri"/>
              </a:rPr>
              <a:t>in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year 1962, it </a:t>
            </a:r>
            <a:r>
              <a:rPr sz="2000" spc="-10" dirty="0">
                <a:latin typeface="Calibri"/>
                <a:cs typeface="Calibri"/>
              </a:rPr>
              <a:t>was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same year </a:t>
            </a:r>
            <a:r>
              <a:rPr sz="2000" dirty="0">
                <a:latin typeface="Calibri"/>
                <a:cs typeface="Calibri"/>
              </a:rPr>
              <a:t>when </a:t>
            </a:r>
            <a:r>
              <a:rPr sz="2000" spc="-5" dirty="0">
                <a:latin typeface="Calibri"/>
                <a:cs typeface="Calibri"/>
              </a:rPr>
              <a:t>independent  </a:t>
            </a:r>
            <a:r>
              <a:rPr sz="2000" dirty="0">
                <a:latin typeface="Calibri"/>
                <a:cs typeface="Calibri"/>
              </a:rPr>
              <a:t>India </a:t>
            </a:r>
            <a:r>
              <a:rPr sz="2000" spc="-15" dirty="0">
                <a:latin typeface="Calibri"/>
                <a:cs typeface="Calibri"/>
              </a:rPr>
              <a:t>fought </a:t>
            </a:r>
            <a:r>
              <a:rPr sz="2000" spc="-5" dirty="0">
                <a:latin typeface="Calibri"/>
                <a:cs typeface="Calibri"/>
              </a:rPr>
              <a:t>its </a:t>
            </a:r>
            <a:r>
              <a:rPr sz="2000" spc="-15" dirty="0">
                <a:latin typeface="Calibri"/>
                <a:cs typeface="Calibri"/>
              </a:rPr>
              <a:t>first </a:t>
            </a:r>
            <a:r>
              <a:rPr sz="2000" spc="-10" dirty="0">
                <a:latin typeface="Calibri"/>
                <a:cs typeface="Calibri"/>
              </a:rPr>
              <a:t>war </a:t>
            </a:r>
            <a:r>
              <a:rPr sz="2000" dirty="0">
                <a:latin typeface="Calibri"/>
                <a:cs typeface="Calibri"/>
              </a:rPr>
              <a:t>with </a:t>
            </a:r>
            <a:r>
              <a:rPr sz="2000" spc="-5" dirty="0">
                <a:latin typeface="Calibri"/>
                <a:cs typeface="Calibri"/>
              </a:rPr>
              <a:t>china.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committee </a:t>
            </a:r>
            <a:r>
              <a:rPr sz="2000" spc="-5" dirty="0">
                <a:latin typeface="Calibri"/>
                <a:cs typeface="Calibri"/>
              </a:rPr>
              <a:t>was set </a:t>
            </a:r>
            <a:r>
              <a:rPr sz="2000" dirty="0">
                <a:latin typeface="Calibri"/>
                <a:cs typeface="Calibri"/>
              </a:rPr>
              <a:t>up </a:t>
            </a:r>
            <a:r>
              <a:rPr sz="2000" spc="-5" dirty="0">
                <a:latin typeface="Calibri"/>
                <a:cs typeface="Calibri"/>
              </a:rPr>
              <a:t>in 1962 </a:t>
            </a:r>
            <a:r>
              <a:rPr sz="2000" spc="-15" dirty="0">
                <a:latin typeface="Calibri"/>
                <a:cs typeface="Calibri"/>
              </a:rPr>
              <a:t>to draw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15" dirty="0">
                <a:latin typeface="Calibri"/>
                <a:cs typeface="Calibri"/>
              </a:rPr>
              <a:t>draft </a:t>
            </a:r>
            <a:r>
              <a:rPr sz="2000" spc="-5" dirty="0">
                <a:latin typeface="Calibri"/>
                <a:cs typeface="Calibri"/>
              </a:rPr>
              <a:t>enactment  </a:t>
            </a: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prevention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spc="-15" dirty="0">
                <a:latin typeface="Calibri"/>
                <a:cs typeface="Calibri"/>
              </a:rPr>
              <a:t>water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pollution.</a:t>
            </a:r>
            <a:endParaRPr sz="20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739019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9383" y="496265"/>
            <a:ext cx="2287905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000000"/>
                </a:solidFill>
              </a:rPr>
              <a:t>Int</a:t>
            </a:r>
            <a:r>
              <a:rPr spc="-65" dirty="0">
                <a:solidFill>
                  <a:srgbClr val="000000"/>
                </a:solidFill>
              </a:rPr>
              <a:t>r</a:t>
            </a:r>
            <a:r>
              <a:rPr dirty="0">
                <a:solidFill>
                  <a:srgbClr val="000000"/>
                </a:solidFill>
              </a:rPr>
              <a:t>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9383" y="1320521"/>
            <a:ext cx="7482364" cy="23211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5080" indent="-228600">
              <a:lnSpc>
                <a:spcPct val="15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  <a:tab pos="241300" algn="l"/>
                <a:tab pos="9390380" algn="l"/>
              </a:tabLst>
            </a:pPr>
            <a:r>
              <a:rPr sz="2000" spc="-5" dirty="0">
                <a:latin typeface="Calibri"/>
                <a:cs typeface="Calibri"/>
              </a:rPr>
              <a:t>The </a:t>
            </a:r>
            <a:r>
              <a:rPr sz="2000" spc="-25" dirty="0">
                <a:latin typeface="Calibri"/>
                <a:cs typeface="Calibri"/>
              </a:rPr>
              <a:t>Water </a:t>
            </a:r>
            <a:r>
              <a:rPr sz="2000" dirty="0">
                <a:latin typeface="Calibri"/>
                <a:cs typeface="Calibri"/>
              </a:rPr>
              <a:t>Act </a:t>
            </a:r>
            <a:r>
              <a:rPr sz="2000" spc="-10" dirty="0">
                <a:latin typeface="Calibri"/>
                <a:cs typeface="Calibri"/>
              </a:rPr>
              <a:t>was </a:t>
            </a:r>
            <a:r>
              <a:rPr sz="2000" spc="-5" dirty="0">
                <a:latin typeface="Calibri"/>
                <a:cs typeface="Calibri"/>
              </a:rPr>
              <a:t>enacted by </a:t>
            </a:r>
            <a:r>
              <a:rPr sz="2000" spc="-10" dirty="0">
                <a:latin typeface="Calibri"/>
                <a:cs typeface="Calibri"/>
              </a:rPr>
              <a:t>Parliament </a:t>
            </a:r>
            <a:r>
              <a:rPr sz="2000" dirty="0">
                <a:latin typeface="Calibri"/>
                <a:cs typeface="Calibri"/>
              </a:rPr>
              <a:t>Act, 1974 purpose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spc="-10" dirty="0">
                <a:latin typeface="Calibri"/>
                <a:cs typeface="Calibri"/>
              </a:rPr>
              <a:t>provide </a:t>
            </a: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prevention </a:t>
            </a:r>
            <a:r>
              <a:rPr sz="2000" spc="-5" dirty="0">
                <a:latin typeface="Calibri"/>
                <a:cs typeface="Calibri"/>
              </a:rPr>
              <a:t>of  </a:t>
            </a:r>
            <a:r>
              <a:rPr sz="2000" spc="-15" dirty="0">
                <a:latin typeface="Calibri"/>
                <a:cs typeface="Calibri"/>
              </a:rPr>
              <a:t>control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spc="-15" dirty="0">
                <a:latin typeface="Calibri"/>
                <a:cs typeface="Calibri"/>
              </a:rPr>
              <a:t>water </a:t>
            </a:r>
            <a:r>
              <a:rPr sz="2000" spc="-5" dirty="0">
                <a:latin typeface="Calibri"/>
                <a:cs typeface="Calibri"/>
              </a:rPr>
              <a:t>pollution </a:t>
            </a:r>
            <a:r>
              <a:rPr sz="2000" dirty="0">
                <a:latin typeface="Calibri"/>
                <a:cs typeface="Calibri"/>
              </a:rPr>
              <a:t>and the </a:t>
            </a:r>
            <a:r>
              <a:rPr sz="2000" spc="-5" dirty="0">
                <a:latin typeface="Calibri"/>
                <a:cs typeface="Calibri"/>
              </a:rPr>
              <a:t>maintaining or </a:t>
            </a:r>
            <a:r>
              <a:rPr sz="2000" spc="-15" dirty="0">
                <a:latin typeface="Calibri"/>
                <a:cs typeface="Calibri"/>
              </a:rPr>
              <a:t>restoring </a:t>
            </a:r>
            <a:r>
              <a:rPr sz="2000" spc="-5" dirty="0">
                <a:latin typeface="Calibri"/>
                <a:cs typeface="Calibri"/>
              </a:rPr>
              <a:t>of wholesomeness</a:t>
            </a:r>
            <a:r>
              <a:rPr sz="2000" spc="2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water.	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  </a:t>
            </a:r>
            <a:r>
              <a:rPr sz="2000" spc="-45" dirty="0">
                <a:latin typeface="Calibri"/>
                <a:cs typeface="Calibri"/>
              </a:rPr>
              <a:t>day, </a:t>
            </a:r>
            <a:r>
              <a:rPr sz="2000" dirty="0">
                <a:latin typeface="Calibri"/>
                <a:cs typeface="Calibri"/>
              </a:rPr>
              <a:t>it </a:t>
            </a:r>
            <a:r>
              <a:rPr sz="2000" spc="-5" dirty="0">
                <a:latin typeface="Calibri"/>
                <a:cs typeface="Calibri"/>
              </a:rPr>
              <a:t>is </a:t>
            </a:r>
            <a:r>
              <a:rPr sz="2000" dirty="0">
                <a:latin typeface="Calibri"/>
                <a:cs typeface="Calibri"/>
              </a:rPr>
              <a:t>applicable in all the </a:t>
            </a:r>
            <a:r>
              <a:rPr sz="2000" spc="-15" dirty="0">
                <a:latin typeface="Calibri"/>
                <a:cs typeface="Calibri"/>
              </a:rPr>
              <a:t>states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India.</a:t>
            </a:r>
            <a:endParaRPr sz="20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813719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4398" y="250012"/>
            <a:ext cx="5427802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000000"/>
                </a:solidFill>
              </a:rPr>
              <a:t>OBJECTIVES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744398" y="1106551"/>
            <a:ext cx="8208645" cy="484299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mbria"/>
                <a:cs typeface="Cambria"/>
              </a:rPr>
              <a:t>The </a:t>
            </a:r>
            <a:r>
              <a:rPr sz="2000" spc="-10" dirty="0">
                <a:latin typeface="Cambria"/>
                <a:cs typeface="Cambria"/>
              </a:rPr>
              <a:t>water(prevention </a:t>
            </a:r>
            <a:r>
              <a:rPr sz="2000" dirty="0">
                <a:latin typeface="Cambria"/>
                <a:cs typeface="Cambria"/>
              </a:rPr>
              <a:t>and </a:t>
            </a:r>
            <a:r>
              <a:rPr sz="2000" spc="-5" dirty="0">
                <a:latin typeface="Cambria"/>
                <a:cs typeface="Cambria"/>
              </a:rPr>
              <a:t>pollution control) </a:t>
            </a:r>
            <a:r>
              <a:rPr sz="2000" dirty="0">
                <a:latin typeface="Cambria"/>
                <a:cs typeface="Cambria"/>
              </a:rPr>
              <a:t>act </a:t>
            </a:r>
            <a:r>
              <a:rPr sz="2000" spc="-10" dirty="0">
                <a:latin typeface="Cambria"/>
                <a:cs typeface="Cambria"/>
              </a:rPr>
              <a:t>1974, provides </a:t>
            </a:r>
            <a:r>
              <a:rPr sz="2000" spc="-5" dirty="0">
                <a:latin typeface="Cambria"/>
                <a:cs typeface="Cambria"/>
              </a:rPr>
              <a:t>for</a:t>
            </a:r>
            <a:r>
              <a:rPr sz="2000" spc="-12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following: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50">
              <a:latin typeface="Cambria"/>
              <a:cs typeface="Cambria"/>
            </a:endParaRPr>
          </a:p>
          <a:p>
            <a:pPr marL="469900" indent="-457834">
              <a:lnSpc>
                <a:spcPct val="100000"/>
              </a:lnSpc>
              <a:buAutoNum type="arabicPeriod"/>
              <a:tabLst>
                <a:tab pos="469900" algn="l"/>
                <a:tab pos="470534" algn="l"/>
              </a:tabLst>
            </a:pPr>
            <a:r>
              <a:rPr sz="2000" spc="-10" dirty="0">
                <a:latin typeface="Cambria"/>
                <a:cs typeface="Cambria"/>
              </a:rPr>
              <a:t>Prevention </a:t>
            </a:r>
            <a:r>
              <a:rPr sz="2000" dirty="0">
                <a:latin typeface="Cambria"/>
                <a:cs typeface="Cambria"/>
              </a:rPr>
              <a:t>and </a:t>
            </a:r>
            <a:r>
              <a:rPr sz="2000" spc="-5" dirty="0">
                <a:latin typeface="Cambria"/>
                <a:cs typeface="Cambria"/>
              </a:rPr>
              <a:t>control </a:t>
            </a:r>
            <a:r>
              <a:rPr sz="2000" dirty="0">
                <a:latin typeface="Cambria"/>
                <a:cs typeface="Cambria"/>
              </a:rPr>
              <a:t>of </a:t>
            </a:r>
            <a:r>
              <a:rPr sz="2000" spc="-15" dirty="0">
                <a:latin typeface="Cambria"/>
                <a:cs typeface="Cambria"/>
              </a:rPr>
              <a:t>water</a:t>
            </a:r>
            <a:r>
              <a:rPr sz="2000" spc="-114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pollution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Cambria"/>
              <a:buAutoNum type="arabicPeriod"/>
            </a:pPr>
            <a:endParaRPr sz="1850">
              <a:latin typeface="Cambria"/>
              <a:cs typeface="Cambria"/>
            </a:endParaRPr>
          </a:p>
          <a:p>
            <a:pPr marL="469900" indent="-457834">
              <a:lnSpc>
                <a:spcPct val="100000"/>
              </a:lnSpc>
              <a:buAutoNum type="arabicPeriod"/>
              <a:tabLst>
                <a:tab pos="469900" algn="l"/>
                <a:tab pos="470534" algn="l"/>
              </a:tabLst>
            </a:pPr>
            <a:r>
              <a:rPr sz="2000" spc="-5" dirty="0">
                <a:latin typeface="Cambria"/>
                <a:cs typeface="Cambria"/>
              </a:rPr>
              <a:t>Maintaining </a:t>
            </a:r>
            <a:r>
              <a:rPr sz="2000" dirty="0">
                <a:latin typeface="Cambria"/>
                <a:cs typeface="Cambria"/>
              </a:rPr>
              <a:t>or </a:t>
            </a:r>
            <a:r>
              <a:rPr sz="2000" spc="-5" dirty="0">
                <a:latin typeface="Cambria"/>
                <a:cs typeface="Cambria"/>
              </a:rPr>
              <a:t>restoring the wholesomeness </a:t>
            </a:r>
            <a:r>
              <a:rPr sz="2000" dirty="0">
                <a:latin typeface="Cambria"/>
                <a:cs typeface="Cambria"/>
              </a:rPr>
              <a:t>of </a:t>
            </a:r>
            <a:r>
              <a:rPr sz="2000" spc="-10" dirty="0">
                <a:latin typeface="Cambria"/>
                <a:cs typeface="Cambria"/>
              </a:rPr>
              <a:t>water;</a:t>
            </a:r>
            <a:r>
              <a:rPr sz="2000" spc="-175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and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Cambria"/>
              <a:buAutoNum type="arabicPeriod"/>
            </a:pPr>
            <a:endParaRPr sz="1850">
              <a:latin typeface="Cambria"/>
              <a:cs typeface="Cambria"/>
            </a:endParaRPr>
          </a:p>
          <a:p>
            <a:pPr marL="469900" indent="-457834" algn="just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70534" algn="l"/>
              </a:tabLst>
            </a:pPr>
            <a:r>
              <a:rPr sz="2000" spc="-5" dirty="0">
                <a:latin typeface="Cambria"/>
                <a:cs typeface="Cambria"/>
              </a:rPr>
              <a:t>Establishment </a:t>
            </a:r>
            <a:r>
              <a:rPr sz="2000" dirty="0">
                <a:latin typeface="Cambria"/>
                <a:cs typeface="Cambria"/>
              </a:rPr>
              <a:t>of </a:t>
            </a:r>
            <a:r>
              <a:rPr sz="2000" spc="-10" dirty="0">
                <a:latin typeface="Cambria"/>
                <a:cs typeface="Cambria"/>
              </a:rPr>
              <a:t>board </a:t>
            </a:r>
            <a:r>
              <a:rPr sz="2000" spc="-5" dirty="0">
                <a:latin typeface="Cambria"/>
                <a:cs typeface="Cambria"/>
              </a:rPr>
              <a:t>for </a:t>
            </a:r>
            <a:r>
              <a:rPr sz="2000" spc="-10" dirty="0">
                <a:latin typeface="Cambria"/>
                <a:cs typeface="Cambria"/>
              </a:rPr>
              <a:t>prevention </a:t>
            </a:r>
            <a:r>
              <a:rPr sz="2000" dirty="0">
                <a:latin typeface="Cambria"/>
                <a:cs typeface="Cambria"/>
              </a:rPr>
              <a:t>and </a:t>
            </a:r>
            <a:r>
              <a:rPr sz="2000" spc="-5" dirty="0">
                <a:latin typeface="Cambria"/>
                <a:cs typeface="Cambria"/>
              </a:rPr>
              <a:t>control </a:t>
            </a:r>
            <a:r>
              <a:rPr sz="2000" dirty="0">
                <a:latin typeface="Cambria"/>
                <a:cs typeface="Cambria"/>
              </a:rPr>
              <a:t>of </a:t>
            </a:r>
            <a:r>
              <a:rPr sz="2000" spc="-15" dirty="0">
                <a:latin typeface="Cambria"/>
                <a:cs typeface="Cambria"/>
              </a:rPr>
              <a:t>water</a:t>
            </a:r>
            <a:r>
              <a:rPr sz="2000" spc="-180" dirty="0">
                <a:latin typeface="Cambria"/>
                <a:cs typeface="Cambria"/>
              </a:rPr>
              <a:t> </a:t>
            </a:r>
            <a:r>
              <a:rPr sz="2000" spc="-5" dirty="0">
                <a:latin typeface="Cambria"/>
                <a:cs typeface="Cambria"/>
              </a:rPr>
              <a:t>pollution</a:t>
            </a:r>
            <a:endParaRPr sz="2000">
              <a:latin typeface="Cambria"/>
              <a:cs typeface="Cambria"/>
            </a:endParaRPr>
          </a:p>
          <a:p>
            <a:pPr marL="241300" marR="5080" indent="-228600" algn="just">
              <a:lnSpc>
                <a:spcPct val="15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000" dirty="0">
                <a:latin typeface="Cambria"/>
                <a:cs typeface="Cambria"/>
              </a:rPr>
              <a:t>An </a:t>
            </a:r>
            <a:r>
              <a:rPr sz="2000" spc="-5" dirty="0">
                <a:latin typeface="Cambria"/>
                <a:cs typeface="Cambria"/>
              </a:rPr>
              <a:t>act </a:t>
            </a:r>
            <a:r>
              <a:rPr sz="2000" spc="-10" dirty="0">
                <a:latin typeface="Cambria"/>
                <a:cs typeface="Cambria"/>
              </a:rPr>
              <a:t>to </a:t>
            </a:r>
            <a:r>
              <a:rPr sz="2000" spc="-15" dirty="0">
                <a:latin typeface="Cambria"/>
                <a:cs typeface="Cambria"/>
              </a:rPr>
              <a:t>provide </a:t>
            </a:r>
            <a:r>
              <a:rPr sz="2000" spc="-10" dirty="0">
                <a:latin typeface="Cambria"/>
                <a:cs typeface="Cambria"/>
              </a:rPr>
              <a:t>for </a:t>
            </a:r>
            <a:r>
              <a:rPr sz="2000" dirty="0">
                <a:latin typeface="Cambria"/>
                <a:cs typeface="Cambria"/>
              </a:rPr>
              <a:t>the </a:t>
            </a:r>
            <a:r>
              <a:rPr sz="2000" spc="-10" dirty="0">
                <a:latin typeface="Cambria"/>
                <a:cs typeface="Cambria"/>
              </a:rPr>
              <a:t>levy </a:t>
            </a:r>
            <a:r>
              <a:rPr sz="2000" dirty="0">
                <a:latin typeface="Cambria"/>
                <a:cs typeface="Cambria"/>
              </a:rPr>
              <a:t>and </a:t>
            </a:r>
            <a:r>
              <a:rPr sz="2000" spc="-5" dirty="0">
                <a:latin typeface="Cambria"/>
                <a:cs typeface="Cambria"/>
              </a:rPr>
              <a:t>collection of </a:t>
            </a:r>
            <a:r>
              <a:rPr sz="2000" dirty="0">
                <a:latin typeface="Cambria"/>
                <a:cs typeface="Cambria"/>
              </a:rPr>
              <a:t>a cess on </a:t>
            </a:r>
            <a:r>
              <a:rPr sz="2000" spc="-15" dirty="0">
                <a:latin typeface="Cambria"/>
                <a:cs typeface="Cambria"/>
              </a:rPr>
              <a:t>water </a:t>
            </a:r>
            <a:r>
              <a:rPr sz="2000" spc="-5" dirty="0">
                <a:latin typeface="Cambria"/>
                <a:cs typeface="Cambria"/>
              </a:rPr>
              <a:t>consumed </a:t>
            </a:r>
            <a:r>
              <a:rPr sz="2000" spc="-15" dirty="0">
                <a:latin typeface="Cambria"/>
                <a:cs typeface="Cambria"/>
              </a:rPr>
              <a:t>by </a:t>
            </a:r>
            <a:r>
              <a:rPr sz="2000" spc="-5" dirty="0">
                <a:latin typeface="Cambria"/>
                <a:cs typeface="Cambria"/>
              </a:rPr>
              <a:t>persons carrying </a:t>
            </a:r>
            <a:r>
              <a:rPr sz="2000" dirty="0">
                <a:latin typeface="Cambria"/>
                <a:cs typeface="Cambria"/>
              </a:rPr>
              <a:t>on  </a:t>
            </a:r>
            <a:r>
              <a:rPr sz="2000" spc="-5" dirty="0">
                <a:latin typeface="Cambria"/>
                <a:cs typeface="Cambria"/>
              </a:rPr>
              <a:t>certain industries </a:t>
            </a:r>
            <a:r>
              <a:rPr sz="2000" dirty="0">
                <a:latin typeface="Cambria"/>
                <a:cs typeface="Cambria"/>
              </a:rPr>
              <a:t>and </a:t>
            </a:r>
            <a:r>
              <a:rPr sz="2000" spc="-15" dirty="0">
                <a:latin typeface="Cambria"/>
                <a:cs typeface="Cambria"/>
              </a:rPr>
              <a:t>by </a:t>
            </a:r>
            <a:r>
              <a:rPr sz="2000" spc="-5" dirty="0">
                <a:latin typeface="Cambria"/>
                <a:cs typeface="Cambria"/>
              </a:rPr>
              <a:t>local authorities, with </a:t>
            </a:r>
            <a:r>
              <a:rPr sz="2000" dirty="0">
                <a:latin typeface="Cambria"/>
                <a:cs typeface="Cambria"/>
              </a:rPr>
              <a:t>a </a:t>
            </a:r>
            <a:r>
              <a:rPr sz="2000" spc="-5" dirty="0">
                <a:latin typeface="Cambria"/>
                <a:cs typeface="Cambria"/>
              </a:rPr>
              <a:t>view </a:t>
            </a:r>
            <a:r>
              <a:rPr sz="2000" spc="-10" dirty="0">
                <a:latin typeface="Cambria"/>
                <a:cs typeface="Cambria"/>
              </a:rPr>
              <a:t>to </a:t>
            </a:r>
            <a:r>
              <a:rPr sz="2000" spc="-5" dirty="0">
                <a:latin typeface="Cambria"/>
                <a:cs typeface="Cambria"/>
              </a:rPr>
              <a:t>augment the </a:t>
            </a:r>
            <a:r>
              <a:rPr sz="2000" spc="-10" dirty="0">
                <a:latin typeface="Cambria"/>
                <a:cs typeface="Cambria"/>
              </a:rPr>
              <a:t>resources </a:t>
            </a:r>
            <a:r>
              <a:rPr sz="2000" spc="-5" dirty="0">
                <a:latin typeface="Cambria"/>
                <a:cs typeface="Cambria"/>
              </a:rPr>
              <a:t>of the </a:t>
            </a:r>
            <a:r>
              <a:rPr sz="2000" spc="-10" dirty="0">
                <a:latin typeface="Cambria"/>
                <a:cs typeface="Cambria"/>
              </a:rPr>
              <a:t>central  board </a:t>
            </a:r>
            <a:r>
              <a:rPr sz="2000" dirty="0">
                <a:latin typeface="Cambria"/>
                <a:cs typeface="Cambria"/>
              </a:rPr>
              <a:t>and </a:t>
            </a:r>
            <a:r>
              <a:rPr sz="2000" spc="-5" dirty="0">
                <a:latin typeface="Cambria"/>
                <a:cs typeface="Cambria"/>
              </a:rPr>
              <a:t>the state </a:t>
            </a:r>
            <a:r>
              <a:rPr sz="2000" spc="-10" dirty="0">
                <a:latin typeface="Cambria"/>
                <a:cs typeface="Cambria"/>
              </a:rPr>
              <a:t>boards for </a:t>
            </a:r>
            <a:r>
              <a:rPr sz="2000" dirty="0">
                <a:latin typeface="Cambria"/>
                <a:cs typeface="Cambria"/>
              </a:rPr>
              <a:t>the </a:t>
            </a:r>
            <a:r>
              <a:rPr sz="2000" spc="-15" dirty="0">
                <a:latin typeface="Cambria"/>
                <a:cs typeface="Cambria"/>
              </a:rPr>
              <a:t>prevention </a:t>
            </a:r>
            <a:r>
              <a:rPr sz="2000" spc="-5" dirty="0">
                <a:latin typeface="Cambria"/>
                <a:cs typeface="Cambria"/>
              </a:rPr>
              <a:t>and </a:t>
            </a:r>
            <a:r>
              <a:rPr sz="2000" spc="-10" dirty="0">
                <a:latin typeface="Cambria"/>
                <a:cs typeface="Cambria"/>
              </a:rPr>
              <a:t>control </a:t>
            </a:r>
            <a:r>
              <a:rPr sz="2000" spc="-5" dirty="0">
                <a:latin typeface="Cambria"/>
                <a:cs typeface="Cambria"/>
              </a:rPr>
              <a:t>of </a:t>
            </a:r>
            <a:r>
              <a:rPr sz="2000" spc="-15" dirty="0">
                <a:latin typeface="Cambria"/>
                <a:cs typeface="Cambria"/>
              </a:rPr>
              <a:t>water </a:t>
            </a:r>
            <a:r>
              <a:rPr sz="2000" spc="-5" dirty="0">
                <a:latin typeface="Cambria"/>
                <a:cs typeface="Cambria"/>
              </a:rPr>
              <a:t>pollution constituted under the  </a:t>
            </a:r>
            <a:r>
              <a:rPr sz="2000" spc="-10" dirty="0">
                <a:latin typeface="Cambria"/>
                <a:cs typeface="Cambria"/>
              </a:rPr>
              <a:t>water (prevention </a:t>
            </a:r>
            <a:r>
              <a:rPr sz="2000" dirty="0">
                <a:latin typeface="Cambria"/>
                <a:cs typeface="Cambria"/>
              </a:rPr>
              <a:t>and </a:t>
            </a:r>
            <a:r>
              <a:rPr sz="2000" spc="-5" dirty="0">
                <a:latin typeface="Cambria"/>
                <a:cs typeface="Cambria"/>
              </a:rPr>
              <a:t>control </a:t>
            </a:r>
            <a:r>
              <a:rPr sz="2000" dirty="0">
                <a:latin typeface="Cambria"/>
                <a:cs typeface="Cambria"/>
              </a:rPr>
              <a:t>of </a:t>
            </a:r>
            <a:r>
              <a:rPr sz="2000" spc="-5" dirty="0">
                <a:latin typeface="Cambria"/>
                <a:cs typeface="Cambria"/>
              </a:rPr>
              <a:t>pollution) </a:t>
            </a:r>
            <a:r>
              <a:rPr sz="2000" spc="5" dirty="0">
                <a:latin typeface="Cambria"/>
                <a:cs typeface="Cambria"/>
              </a:rPr>
              <a:t>act,</a:t>
            </a:r>
            <a:r>
              <a:rPr sz="2000" spc="-16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1974.</a:t>
            </a:r>
            <a:endParaRPr sz="20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7597731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6729" y="657226"/>
            <a:ext cx="7506271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166360" algn="l"/>
              </a:tabLst>
            </a:pPr>
            <a:r>
              <a:rPr sz="3200" b="1" spc="-10" dirty="0">
                <a:solidFill>
                  <a:srgbClr val="000000"/>
                </a:solidFill>
                <a:latin typeface="Cambria"/>
                <a:cs typeface="Cambria"/>
              </a:rPr>
              <a:t>Functions </a:t>
            </a:r>
            <a:r>
              <a:rPr sz="3200" b="1" spc="-5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3200" b="1" spc="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b="1" spc="-10" dirty="0">
                <a:solidFill>
                  <a:srgbClr val="000000"/>
                </a:solidFill>
                <a:latin typeface="Cambria"/>
                <a:cs typeface="Cambria"/>
              </a:rPr>
              <a:t>Central</a:t>
            </a:r>
            <a:r>
              <a:rPr sz="3200" b="1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b="1" spc="-10" dirty="0">
                <a:solidFill>
                  <a:srgbClr val="000000"/>
                </a:solidFill>
                <a:latin typeface="Cambria"/>
                <a:cs typeface="Cambria"/>
              </a:rPr>
              <a:t>Board	</a:t>
            </a:r>
            <a:r>
              <a:rPr sz="3200" b="1" dirty="0">
                <a:solidFill>
                  <a:srgbClr val="000000"/>
                </a:solidFill>
                <a:latin typeface="Cambria"/>
                <a:cs typeface="Cambria"/>
              </a:rPr>
              <a:t>(sec.</a:t>
            </a:r>
            <a:r>
              <a:rPr sz="3200" b="1" spc="-10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b="1" spc="-5" dirty="0">
                <a:solidFill>
                  <a:srgbClr val="000000"/>
                </a:solidFill>
                <a:latin typeface="Cambria"/>
                <a:cs typeface="Cambria"/>
              </a:rPr>
              <a:t>16)</a:t>
            </a:r>
            <a:endParaRPr sz="320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5285" y="1255877"/>
            <a:ext cx="6700361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Central </a:t>
            </a:r>
            <a:r>
              <a:rPr sz="2000" spc="-5" dirty="0">
                <a:latin typeface="Calibri"/>
                <a:cs typeface="Calibri"/>
              </a:rPr>
              <a:t>Board </a:t>
            </a:r>
            <a:r>
              <a:rPr sz="2000" spc="-15" dirty="0">
                <a:latin typeface="Calibri"/>
                <a:cs typeface="Calibri"/>
              </a:rPr>
              <a:t>may </a:t>
            </a:r>
            <a:r>
              <a:rPr sz="2000" spc="-5" dirty="0">
                <a:latin typeface="Calibri"/>
                <a:cs typeface="Calibri"/>
              </a:rPr>
              <a:t>establish or </a:t>
            </a:r>
            <a:r>
              <a:rPr sz="2000" spc="-15" dirty="0">
                <a:latin typeface="Calibri"/>
                <a:cs typeface="Calibri"/>
              </a:rPr>
              <a:t>recognize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laboratory </a:t>
            </a:r>
            <a:r>
              <a:rPr sz="2000" spc="-5" dirty="0">
                <a:latin typeface="Calibri"/>
                <a:cs typeface="Calibri"/>
              </a:rPr>
              <a:t>or </a:t>
            </a:r>
            <a:r>
              <a:rPr sz="2000" spc="-10" dirty="0">
                <a:latin typeface="Calibri"/>
                <a:cs typeface="Calibri"/>
              </a:rPr>
              <a:t>laboratories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enable  the </a:t>
            </a:r>
            <a:r>
              <a:rPr sz="2000" spc="-10" dirty="0">
                <a:latin typeface="Calibri"/>
                <a:cs typeface="Calibri"/>
              </a:rPr>
              <a:t>Central </a:t>
            </a:r>
            <a:r>
              <a:rPr sz="2000" spc="-5" dirty="0">
                <a:latin typeface="Calibri"/>
                <a:cs typeface="Calibri"/>
              </a:rPr>
              <a:t>Board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spc="-10" dirty="0">
                <a:latin typeface="Calibri"/>
                <a:cs typeface="Calibri"/>
              </a:rPr>
              <a:t>perform </a:t>
            </a:r>
            <a:r>
              <a:rPr sz="2000" dirty="0">
                <a:latin typeface="Calibri"/>
                <a:cs typeface="Calibri"/>
              </a:rPr>
              <a:t>its functions </a:t>
            </a:r>
            <a:r>
              <a:rPr sz="2000" spc="-5" dirty="0">
                <a:latin typeface="Calibri"/>
                <a:cs typeface="Calibri"/>
              </a:rPr>
              <a:t>under </a:t>
            </a:r>
            <a:r>
              <a:rPr sz="2000" dirty="0">
                <a:latin typeface="Calibri"/>
                <a:cs typeface="Calibri"/>
              </a:rPr>
              <a:t>this </a:t>
            </a:r>
            <a:r>
              <a:rPr sz="2000" spc="-5" dirty="0">
                <a:latin typeface="Calibri"/>
                <a:cs typeface="Calibri"/>
              </a:rPr>
              <a:t>section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efficiently.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5285" y="3034031"/>
            <a:ext cx="6700838" cy="334771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000" spc="-5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Central </a:t>
            </a:r>
            <a:r>
              <a:rPr sz="2000" spc="-5" dirty="0">
                <a:latin typeface="Calibri"/>
                <a:cs typeface="Calibri"/>
              </a:rPr>
              <a:t>Board </a:t>
            </a:r>
            <a:r>
              <a:rPr sz="2000" spc="-10" dirty="0">
                <a:latin typeface="Calibri"/>
                <a:cs typeface="Calibri"/>
              </a:rPr>
              <a:t>may-</a:t>
            </a:r>
            <a:endParaRPr sz="2000">
              <a:latin typeface="Calibri"/>
              <a:cs typeface="Calibri"/>
            </a:endParaRPr>
          </a:p>
          <a:p>
            <a:pPr marL="241300" marR="5080" lvl="1" indent="-58419" algn="just">
              <a:lnSpc>
                <a:spcPct val="150100"/>
              </a:lnSpc>
              <a:spcBef>
                <a:spcPts val="990"/>
              </a:spcBef>
              <a:buAutoNum type="alphaLcParenBoth"/>
              <a:tabLst>
                <a:tab pos="545465" algn="l"/>
              </a:tabLst>
            </a:pPr>
            <a:r>
              <a:rPr sz="2000" spc="-15" dirty="0">
                <a:latin typeface="Calibri"/>
                <a:cs typeface="Calibri"/>
              </a:rPr>
              <a:t>delegate </a:t>
            </a:r>
            <a:r>
              <a:rPr sz="2000" spc="-10" dirty="0">
                <a:latin typeface="Calibri"/>
                <a:cs typeface="Calibri"/>
              </a:rPr>
              <a:t>any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its </a:t>
            </a:r>
            <a:r>
              <a:rPr sz="2000" spc="-5" dirty="0">
                <a:latin typeface="Calibri"/>
                <a:cs typeface="Calibri"/>
              </a:rPr>
              <a:t>functions under this </a:t>
            </a:r>
            <a:r>
              <a:rPr sz="2000" dirty="0">
                <a:latin typeface="Calibri"/>
                <a:cs typeface="Calibri"/>
              </a:rPr>
              <a:t>Act </a:t>
            </a:r>
            <a:r>
              <a:rPr sz="2000" spc="-10" dirty="0">
                <a:latin typeface="Calibri"/>
                <a:cs typeface="Calibri"/>
              </a:rPr>
              <a:t>generally </a:t>
            </a:r>
            <a:r>
              <a:rPr sz="2000" spc="-5" dirty="0">
                <a:latin typeface="Calibri"/>
                <a:cs typeface="Calibri"/>
              </a:rPr>
              <a:t>or specially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spc="-20" dirty="0">
                <a:latin typeface="Calibri"/>
                <a:cs typeface="Calibri"/>
              </a:rPr>
              <a:t>any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the  </a:t>
            </a:r>
            <a:r>
              <a:rPr sz="2000" spc="-10" dirty="0">
                <a:latin typeface="Calibri"/>
                <a:cs typeface="Calibri"/>
              </a:rPr>
              <a:t>committees </a:t>
            </a:r>
            <a:r>
              <a:rPr sz="2000" spc="-5" dirty="0">
                <a:latin typeface="Calibri"/>
                <a:cs typeface="Calibri"/>
              </a:rPr>
              <a:t>appointed by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it;</a:t>
            </a:r>
            <a:endParaRPr sz="2000">
              <a:latin typeface="Calibri"/>
              <a:cs typeface="Calibri"/>
            </a:endParaRPr>
          </a:p>
          <a:p>
            <a:pPr marL="241300" marR="5080" lvl="1" indent="-170815" algn="just">
              <a:lnSpc>
                <a:spcPct val="150000"/>
              </a:lnSpc>
              <a:spcBef>
                <a:spcPts val="994"/>
              </a:spcBef>
              <a:buAutoNum type="alphaLcParenBoth"/>
              <a:tabLst>
                <a:tab pos="418465" algn="l"/>
              </a:tabLst>
            </a:pPr>
            <a:r>
              <a:rPr sz="2000" spc="-5" dirty="0">
                <a:latin typeface="Calibri"/>
                <a:cs typeface="Calibri"/>
              </a:rPr>
              <a:t>do such other </a:t>
            </a:r>
            <a:r>
              <a:rPr sz="2000" dirty="0">
                <a:latin typeface="Calibri"/>
                <a:cs typeface="Calibri"/>
              </a:rPr>
              <a:t>things </a:t>
            </a:r>
            <a:r>
              <a:rPr sz="2000" spc="-5" dirty="0">
                <a:latin typeface="Calibri"/>
                <a:cs typeface="Calibri"/>
              </a:rPr>
              <a:t>and </a:t>
            </a:r>
            <a:r>
              <a:rPr sz="2000" spc="-10" dirty="0">
                <a:latin typeface="Calibri"/>
                <a:cs typeface="Calibri"/>
              </a:rPr>
              <a:t>perform </a:t>
            </a:r>
            <a:r>
              <a:rPr sz="2000" spc="-5" dirty="0">
                <a:latin typeface="Calibri"/>
                <a:cs typeface="Calibri"/>
              </a:rPr>
              <a:t>such other </a:t>
            </a:r>
            <a:r>
              <a:rPr sz="2000" dirty="0">
                <a:latin typeface="Calibri"/>
                <a:cs typeface="Calibri"/>
              </a:rPr>
              <a:t>acts as </a:t>
            </a:r>
            <a:r>
              <a:rPr sz="2000" spc="-5" dirty="0">
                <a:latin typeface="Calibri"/>
                <a:cs typeface="Calibri"/>
              </a:rPr>
              <a:t>it </a:t>
            </a:r>
            <a:r>
              <a:rPr sz="2000" spc="-15" dirty="0">
                <a:latin typeface="Calibri"/>
                <a:cs typeface="Calibri"/>
              </a:rPr>
              <a:t>may </a:t>
            </a:r>
            <a:r>
              <a:rPr sz="2000" dirty="0">
                <a:latin typeface="Calibri"/>
                <a:cs typeface="Calibri"/>
              </a:rPr>
              <a:t>think </a:t>
            </a:r>
            <a:r>
              <a:rPr sz="2000" spc="-5" dirty="0">
                <a:latin typeface="Calibri"/>
                <a:cs typeface="Calibri"/>
              </a:rPr>
              <a:t>necessary </a:t>
            </a:r>
            <a:r>
              <a:rPr sz="2000" spc="-20" dirty="0">
                <a:latin typeface="Calibri"/>
                <a:cs typeface="Calibri"/>
              </a:rPr>
              <a:t>for </a:t>
            </a:r>
            <a:r>
              <a:rPr sz="2000" dirty="0">
                <a:latin typeface="Calibri"/>
                <a:cs typeface="Calibri"/>
              </a:rPr>
              <a:t>the  </a:t>
            </a:r>
            <a:r>
              <a:rPr sz="2000" spc="-10" dirty="0">
                <a:latin typeface="Calibri"/>
                <a:cs typeface="Calibri"/>
              </a:rPr>
              <a:t>proper discharge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its </a:t>
            </a:r>
            <a:r>
              <a:rPr sz="2000" spc="-5" dirty="0">
                <a:latin typeface="Calibri"/>
                <a:cs typeface="Calibri"/>
              </a:rPr>
              <a:t>functions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-10" dirty="0">
                <a:latin typeface="Calibri"/>
                <a:cs typeface="Calibri"/>
              </a:rPr>
              <a:t>generally </a:t>
            </a: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purpose of carrying </a:t>
            </a:r>
            <a:r>
              <a:rPr sz="2000" spc="-15" dirty="0">
                <a:latin typeface="Calibri"/>
                <a:cs typeface="Calibri"/>
              </a:rPr>
              <a:t>into  effect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purposes </a:t>
            </a:r>
            <a:r>
              <a:rPr sz="2000" dirty="0">
                <a:latin typeface="Calibri"/>
                <a:cs typeface="Calibri"/>
              </a:rPr>
              <a:t>Of this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Act.</a:t>
            </a:r>
            <a:endParaRPr sz="20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02663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7705" y="631012"/>
            <a:ext cx="5061109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rgbClr val="000000"/>
                </a:solidFill>
              </a:rPr>
              <a:t>Functions </a:t>
            </a:r>
            <a:r>
              <a:rPr dirty="0">
                <a:solidFill>
                  <a:srgbClr val="000000"/>
                </a:solidFill>
              </a:rPr>
              <a:t>of </a:t>
            </a:r>
            <a:r>
              <a:rPr spc="-5" dirty="0">
                <a:solidFill>
                  <a:srgbClr val="000000"/>
                </a:solidFill>
              </a:rPr>
              <a:t>the </a:t>
            </a:r>
            <a:r>
              <a:rPr spc="-10" dirty="0">
                <a:solidFill>
                  <a:srgbClr val="000000"/>
                </a:solidFill>
              </a:rPr>
              <a:t>State</a:t>
            </a:r>
            <a:r>
              <a:rPr spc="-65" dirty="0">
                <a:solidFill>
                  <a:srgbClr val="000000"/>
                </a:solidFill>
              </a:rPr>
              <a:t> </a:t>
            </a:r>
            <a:r>
              <a:rPr spc="-15" dirty="0">
                <a:solidFill>
                  <a:srgbClr val="000000"/>
                </a:solidFill>
              </a:rPr>
              <a:t>Board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7705" y="1721256"/>
            <a:ext cx="7769066" cy="3578544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41300" indent="-229235" algn="just">
              <a:lnSpc>
                <a:spcPct val="100000"/>
              </a:lnSpc>
              <a:spcBef>
                <a:spcPts val="565"/>
              </a:spcBef>
              <a:buFont typeface="Arial"/>
              <a:buChar char="•"/>
              <a:tabLst>
                <a:tab pos="241935" algn="l"/>
              </a:tabLst>
            </a:pPr>
            <a:r>
              <a:rPr sz="2200" spc="-5" dirty="0">
                <a:latin typeface="Calibri"/>
                <a:cs typeface="Calibri"/>
              </a:rPr>
              <a:t>Functions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20" dirty="0">
                <a:latin typeface="Calibri"/>
                <a:cs typeface="Calibri"/>
              </a:rPr>
              <a:t>State </a:t>
            </a:r>
            <a:r>
              <a:rPr sz="2200" spc="-5" dirty="0">
                <a:latin typeface="Calibri"/>
                <a:cs typeface="Calibri"/>
              </a:rPr>
              <a:t>Board </a:t>
            </a:r>
            <a:r>
              <a:rPr sz="2200" spc="-10" dirty="0">
                <a:latin typeface="Calibri"/>
                <a:cs typeface="Calibri"/>
              </a:rPr>
              <a:t>has been </a:t>
            </a:r>
            <a:r>
              <a:rPr sz="2200" spc="-5" dirty="0">
                <a:latin typeface="Calibri"/>
                <a:cs typeface="Calibri"/>
              </a:rPr>
              <a:t>prescribed in </a:t>
            </a:r>
            <a:r>
              <a:rPr sz="2200" spc="-10" dirty="0">
                <a:latin typeface="Calibri"/>
                <a:cs typeface="Calibri"/>
              </a:rPr>
              <a:t>section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17</a:t>
            </a:r>
            <a:endParaRPr sz="2200">
              <a:latin typeface="Calibri"/>
              <a:cs typeface="Calibri"/>
            </a:endParaRPr>
          </a:p>
          <a:p>
            <a:pPr marL="241300" marR="6985" indent="-229235" algn="just">
              <a:lnSpc>
                <a:spcPts val="2110"/>
              </a:lnSpc>
              <a:spcBef>
                <a:spcPts val="980"/>
              </a:spcBef>
              <a:buFont typeface="Arial"/>
              <a:buChar char="•"/>
              <a:tabLst>
                <a:tab pos="241935" algn="l"/>
              </a:tabLst>
            </a:pPr>
            <a:r>
              <a:rPr sz="2200" spc="-5" dirty="0">
                <a:latin typeface="Calibri"/>
                <a:cs typeface="Calibri"/>
              </a:rPr>
              <a:t>But the </a:t>
            </a:r>
            <a:r>
              <a:rPr sz="2200" spc="-20" dirty="0">
                <a:latin typeface="Calibri"/>
                <a:cs typeface="Calibri"/>
              </a:rPr>
              <a:t>state </a:t>
            </a:r>
            <a:r>
              <a:rPr sz="2200" spc="-10" dirty="0">
                <a:latin typeface="Calibri"/>
                <a:cs typeface="Calibri"/>
              </a:rPr>
              <a:t>pollution </a:t>
            </a:r>
            <a:r>
              <a:rPr sz="2200" spc="-15" dirty="0">
                <a:latin typeface="Calibri"/>
                <a:cs typeface="Calibri"/>
              </a:rPr>
              <a:t>board </a:t>
            </a:r>
            <a:r>
              <a:rPr sz="2200" spc="-20" dirty="0">
                <a:latin typeface="Calibri"/>
                <a:cs typeface="Calibri"/>
              </a:rPr>
              <a:t>have </a:t>
            </a:r>
            <a:r>
              <a:rPr sz="2200" spc="-10" dirty="0">
                <a:latin typeface="Calibri"/>
                <a:cs typeface="Calibri"/>
              </a:rPr>
              <a:t>confined </a:t>
            </a:r>
            <a:r>
              <a:rPr sz="2200" spc="-5" dirty="0">
                <a:latin typeface="Calibri"/>
                <a:cs typeface="Calibri"/>
              </a:rPr>
              <a:t>themselves only </a:t>
            </a:r>
            <a:r>
              <a:rPr sz="2200" spc="-20" dirty="0">
                <a:latin typeface="Calibri"/>
                <a:cs typeface="Calibri"/>
              </a:rPr>
              <a:t>to grant </a:t>
            </a:r>
            <a:r>
              <a:rPr sz="2200" spc="-10" dirty="0">
                <a:latin typeface="Calibri"/>
                <a:cs typeface="Calibri"/>
              </a:rPr>
              <a:t>consents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the  industries.</a:t>
            </a:r>
            <a:endParaRPr sz="2200">
              <a:latin typeface="Calibri"/>
              <a:cs typeface="Calibri"/>
            </a:endParaRPr>
          </a:p>
          <a:p>
            <a:pPr marL="241300" marR="5080" indent="-229235" algn="just">
              <a:lnSpc>
                <a:spcPts val="2110"/>
              </a:lnSpc>
              <a:spcBef>
                <a:spcPts val="1015"/>
              </a:spcBef>
              <a:buFont typeface="Arial"/>
              <a:buChar char="•"/>
              <a:tabLst>
                <a:tab pos="241935" algn="l"/>
              </a:tabLst>
            </a:pPr>
            <a:r>
              <a:rPr sz="2200" spc="-5" dirty="0">
                <a:latin typeface="Calibri"/>
                <a:cs typeface="Calibri"/>
              </a:rPr>
              <a:t>After the legislation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20" dirty="0">
                <a:latin typeface="Calibri"/>
                <a:cs typeface="Calibri"/>
              </a:rPr>
              <a:t>Environment </a:t>
            </a:r>
            <a:r>
              <a:rPr sz="2200" spc="-10" dirty="0">
                <a:latin typeface="Calibri"/>
                <a:cs typeface="Calibri"/>
              </a:rPr>
              <a:t>(Protection) </a:t>
            </a:r>
            <a:r>
              <a:rPr sz="2200" spc="-5" dirty="0">
                <a:latin typeface="Calibri"/>
                <a:cs typeface="Calibri"/>
              </a:rPr>
              <a:t>Act, 1986 wherein the </a:t>
            </a:r>
            <a:r>
              <a:rPr sz="2200" spc="-10" dirty="0">
                <a:latin typeface="Calibri"/>
                <a:cs typeface="Calibri"/>
              </a:rPr>
              <a:t>Standards </a:t>
            </a:r>
            <a:r>
              <a:rPr sz="2200" spc="-20" dirty="0">
                <a:latin typeface="Calibri"/>
                <a:cs typeface="Calibri"/>
              </a:rPr>
              <a:t>for  Effluent </a:t>
            </a:r>
            <a:r>
              <a:rPr sz="2200" spc="-10" dirty="0">
                <a:latin typeface="Calibri"/>
                <a:cs typeface="Calibri"/>
              </a:rPr>
              <a:t>has </a:t>
            </a:r>
            <a:r>
              <a:rPr sz="2200" spc="-5" dirty="0">
                <a:latin typeface="Calibri"/>
                <a:cs typeface="Calibri"/>
              </a:rPr>
              <a:t>been prescribed in the EP Rules, the Boards </a:t>
            </a:r>
            <a:r>
              <a:rPr sz="2200" spc="-10" dirty="0">
                <a:latin typeface="Calibri"/>
                <a:cs typeface="Calibri"/>
              </a:rPr>
              <a:t>merely </a:t>
            </a:r>
            <a:r>
              <a:rPr sz="2200" spc="-5" dirty="0">
                <a:latin typeface="Calibri"/>
                <a:cs typeface="Calibri"/>
              </a:rPr>
              <a:t>mentioned those rules </a:t>
            </a:r>
            <a:r>
              <a:rPr sz="2200" spc="5" dirty="0">
                <a:latin typeface="Calibri"/>
                <a:cs typeface="Calibri"/>
              </a:rPr>
              <a:t>in 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conditions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consent.</a:t>
            </a:r>
            <a:endParaRPr sz="2200">
              <a:latin typeface="Calibri"/>
              <a:cs typeface="Calibri"/>
            </a:endParaRPr>
          </a:p>
          <a:p>
            <a:pPr marL="241300" indent="-229235" algn="just">
              <a:lnSpc>
                <a:spcPts val="2375"/>
              </a:lnSpc>
              <a:spcBef>
                <a:spcPts val="490"/>
              </a:spcBef>
              <a:buFont typeface="Arial"/>
              <a:buChar char="•"/>
              <a:tabLst>
                <a:tab pos="241935" algn="l"/>
              </a:tabLst>
            </a:pPr>
            <a:r>
              <a:rPr sz="2200" spc="-10" dirty="0">
                <a:latin typeface="Calibri"/>
                <a:cs typeface="Calibri"/>
              </a:rPr>
              <a:t>More</a:t>
            </a:r>
            <a:r>
              <a:rPr sz="2200" spc="2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</a:t>
            </a:r>
            <a:r>
              <a:rPr sz="2200" spc="2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Boards</a:t>
            </a:r>
            <a:r>
              <a:rPr sz="2200" spc="2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</a:t>
            </a:r>
            <a:r>
              <a:rPr sz="2200" spc="24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issuing</a:t>
            </a:r>
            <a:r>
              <a:rPr sz="2200" spc="2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consent</a:t>
            </a:r>
            <a:r>
              <a:rPr sz="2200" spc="25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with</a:t>
            </a:r>
            <a:r>
              <a:rPr sz="2200" spc="25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25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condition</a:t>
            </a:r>
            <a:r>
              <a:rPr sz="2200" spc="254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“Zero</a:t>
            </a:r>
            <a:r>
              <a:rPr sz="2200" spc="2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Discharge”</a:t>
            </a:r>
            <a:r>
              <a:rPr sz="2200" spc="25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without</a:t>
            </a:r>
            <a:endParaRPr sz="2200">
              <a:latin typeface="Calibri"/>
              <a:cs typeface="Calibri"/>
            </a:endParaRPr>
          </a:p>
          <a:p>
            <a:pPr marL="241300" algn="just">
              <a:lnSpc>
                <a:spcPts val="2375"/>
              </a:lnSpc>
            </a:pPr>
            <a:r>
              <a:rPr sz="2200" spc="-5" dirty="0">
                <a:latin typeface="Calibri"/>
                <a:cs typeface="Calibri"/>
              </a:rPr>
              <a:t>ensuring </a:t>
            </a:r>
            <a:r>
              <a:rPr sz="2200" spc="-10" dirty="0">
                <a:latin typeface="Calibri"/>
                <a:cs typeface="Calibri"/>
              </a:rPr>
              <a:t>whether </a:t>
            </a:r>
            <a:r>
              <a:rPr sz="2200" spc="-5" dirty="0">
                <a:latin typeface="Calibri"/>
                <a:cs typeface="Calibri"/>
              </a:rPr>
              <a:t>this </a:t>
            </a:r>
            <a:r>
              <a:rPr sz="2200" spc="-10" dirty="0">
                <a:latin typeface="Calibri"/>
                <a:cs typeface="Calibri"/>
              </a:rPr>
              <a:t>condition </a:t>
            </a:r>
            <a:r>
              <a:rPr sz="2200" spc="-15" dirty="0">
                <a:latin typeface="Calibri"/>
                <a:cs typeface="Calibri"/>
              </a:rPr>
              <a:t>could </a:t>
            </a:r>
            <a:r>
              <a:rPr sz="2200" spc="-5" dirty="0">
                <a:latin typeface="Calibri"/>
                <a:cs typeface="Calibri"/>
              </a:rPr>
              <a:t>be </a:t>
            </a:r>
            <a:r>
              <a:rPr sz="2200" spc="-10" dirty="0">
                <a:latin typeface="Calibri"/>
                <a:cs typeface="Calibri"/>
              </a:rPr>
              <a:t>met </a:t>
            </a:r>
            <a:r>
              <a:rPr sz="2200" spc="-5" dirty="0">
                <a:latin typeface="Calibri"/>
                <a:cs typeface="Calibri"/>
              </a:rPr>
              <a:t>or </a:t>
            </a:r>
            <a:r>
              <a:rPr sz="2200" spc="-10" dirty="0">
                <a:latin typeface="Calibri"/>
                <a:cs typeface="Calibri"/>
              </a:rPr>
              <a:t>complied </a:t>
            </a:r>
            <a:r>
              <a:rPr sz="2200" spc="-15" dirty="0">
                <a:latin typeface="Calibri"/>
                <a:cs typeface="Calibri"/>
              </a:rPr>
              <a:t>by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Industry.</a:t>
            </a:r>
            <a:endParaRPr sz="2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34113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1166</TotalTime>
  <Words>2437</Words>
  <Application>Microsoft Office PowerPoint</Application>
  <PresentationFormat>On-screen Show (4:3)</PresentationFormat>
  <Paragraphs>208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Arial</vt:lpstr>
      <vt:lpstr>Calibri</vt:lpstr>
      <vt:lpstr>Cambria</vt:lpstr>
      <vt:lpstr>Schoolbook Uralic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MORE ABOUT GLOBAL WARMING</vt:lpstr>
      <vt:lpstr>Causes of Global Warming</vt:lpstr>
      <vt:lpstr>Cont….</vt:lpstr>
      <vt:lpstr>Effects of global warming</vt:lpstr>
      <vt:lpstr>Methane</vt:lpstr>
      <vt:lpstr>“Greenhouse effect”</vt:lpstr>
      <vt:lpstr>Increasing greenhouse gases trap more heat</vt:lpstr>
      <vt:lpstr>How to reduce Global Warming?</vt:lpstr>
      <vt:lpstr>PowerPoint Presentation</vt:lpstr>
      <vt:lpstr>PowerPoint Presentation</vt:lpstr>
      <vt:lpstr>PowerPoint Presentation</vt:lpstr>
      <vt:lpstr>What is acid rain?</vt:lpstr>
      <vt:lpstr>Causes of Acid Rain</vt:lpstr>
      <vt:lpstr>Effects of Acid Rain</vt:lpstr>
      <vt:lpstr>EFFECT ON HUMANS</vt:lpstr>
      <vt:lpstr>Solutions for acid rain</vt:lpstr>
      <vt:lpstr>PowerPoint Presentation</vt:lpstr>
      <vt:lpstr>What are Nuclear Disasters?</vt:lpstr>
      <vt:lpstr>Effects on Environment</vt:lpstr>
      <vt:lpstr>Air Pollution Control Acts</vt:lpstr>
      <vt:lpstr>The Air (Prevention and Control of Pollution)  Act, 1981</vt:lpstr>
      <vt:lpstr>Objective</vt:lpstr>
      <vt:lpstr>Definition Under the Air Act</vt:lpstr>
      <vt:lpstr>Central Pollution Control Board</vt:lpstr>
      <vt:lpstr>The functions of Central Board under the  Air Act</vt:lpstr>
      <vt:lpstr>The functions of State Boards under the Air  Act</vt:lpstr>
      <vt:lpstr>Penalties</vt:lpstr>
      <vt:lpstr>The Water (Prevention and Control of Pollution)  Act, 1974</vt:lpstr>
      <vt:lpstr>Introduction</vt:lpstr>
      <vt:lpstr>OBJECTIVES</vt:lpstr>
      <vt:lpstr>Functions of Central Board (sec. 16)</vt:lpstr>
      <vt:lpstr>Functions of the State Board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Lakshmi H S</cp:lastModifiedBy>
  <cp:revision>3</cp:revision>
  <dcterms:created xsi:type="dcterms:W3CDTF">2020-09-23T07:17:38Z</dcterms:created>
  <dcterms:modified xsi:type="dcterms:W3CDTF">2021-09-22T06:20:41Z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2014-03-08T00:00:00Z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2020-09-23T00:00:00Z</vt:filetime>
  </property>
</Properties>
</file>