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92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11" r:id="rId52"/>
    <p:sldId id="312" r:id="rId53"/>
    <p:sldId id="319" r:id="rId54"/>
    <p:sldId id="320" r:id="rId55"/>
    <p:sldId id="323" r:id="rId56"/>
    <p:sldId id="324" r:id="rId57"/>
    <p:sldId id="325" r:id="rId58"/>
    <p:sldId id="330" r:id="rId59"/>
    <p:sldId id="334" r:id="rId60"/>
    <p:sldId id="335" r:id="rId61"/>
    <p:sldId id="336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53" r:id="rId70"/>
    <p:sldId id="354" r:id="rId71"/>
    <p:sldId id="355" r:id="rId72"/>
    <p:sldId id="356" r:id="rId73"/>
    <p:sldId id="357" r:id="rId74"/>
    <p:sldId id="358" r:id="rId75"/>
    <p:sldId id="368" r:id="rId76"/>
    <p:sldId id="369" r:id="rId77"/>
    <p:sldId id="370" r:id="rId78"/>
    <p:sldId id="371" r:id="rId79"/>
    <p:sldId id="372" r:id="rId80"/>
    <p:sldId id="373" r:id="rId81"/>
    <p:sldId id="376" r:id="rId82"/>
    <p:sldId id="377" r:id="rId83"/>
    <p:sldId id="379" r:id="rId84"/>
    <p:sldId id="380" r:id="rId85"/>
    <p:sldId id="381" r:id="rId86"/>
    <p:sldId id="382" r:id="rId87"/>
    <p:sldId id="383" r:id="rId88"/>
    <p:sldId id="384" r:id="rId89"/>
    <p:sldId id="385" r:id="rId90"/>
    <p:sldId id="386" r:id="rId91"/>
    <p:sldId id="387" r:id="rId92"/>
    <p:sldId id="388" r:id="rId93"/>
    <p:sldId id="389" r:id="rId94"/>
    <p:sldId id="390" r:id="rId95"/>
    <p:sldId id="391" r:id="rId9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6" d="100"/>
          <a:sy n="46" d="100"/>
        </p:scale>
        <p:origin x="576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2DD22-29B4-4762-A66D-144A6EA56BEB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62E47-4315-458C-8F34-77A980789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4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62E47-4315-458C-8F34-77A9807890F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5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145" y="192150"/>
            <a:ext cx="7677708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090929"/>
            <a:ext cx="8074025" cy="4561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6464909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Extinct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145" y="192150"/>
            <a:ext cx="767770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17470" marR="5080" indent="-2605405">
              <a:lnSpc>
                <a:spcPct val="100000"/>
              </a:lnSpc>
              <a:spcBef>
                <a:spcPts val="95"/>
              </a:spcBef>
            </a:pPr>
            <a:r>
              <a:rPr lang="en-US" spc="-5" dirty="0">
                <a:solidFill>
                  <a:srgbClr val="FF0000"/>
                </a:solidFill>
                <a:latin typeface="Carlito"/>
                <a:cs typeface="Carlito"/>
              </a:rPr>
              <a:t>HS 26 </a:t>
            </a:r>
            <a:r>
              <a:rPr spc="-20" dirty="0">
                <a:solidFill>
                  <a:srgbClr val="FF0000"/>
                </a:solidFill>
                <a:latin typeface="Carlito"/>
                <a:cs typeface="Carlito"/>
              </a:rPr>
              <a:t>Environmental </a:t>
            </a:r>
            <a:r>
              <a:rPr lang="en-US" spc="-5" dirty="0">
                <a:solidFill>
                  <a:srgbClr val="FF0000"/>
                </a:solidFill>
                <a:latin typeface="Carlito"/>
                <a:cs typeface="Carlito"/>
              </a:rPr>
              <a:t>Studies</a:t>
            </a:r>
            <a:endParaRPr spc="-10" dirty="0">
              <a:solidFill>
                <a:srgbClr val="FF0000"/>
              </a:solidFill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337" y="2226691"/>
            <a:ext cx="73526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5070" marR="5080" indent="-1183005">
              <a:lnSpc>
                <a:spcPct val="100000"/>
              </a:lnSpc>
              <a:spcBef>
                <a:spcPts val="95"/>
              </a:spcBef>
            </a:pPr>
            <a:r>
              <a:rPr sz="4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ENVIRONMENT, </a:t>
            </a:r>
            <a:r>
              <a:rPr sz="4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ECO</a:t>
            </a:r>
            <a:r>
              <a:rPr lang="en-US" sz="4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LOGY</a:t>
            </a:r>
            <a:r>
              <a:rPr sz="4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4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40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BIODIVERSITY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378075"/>
            <a:ext cx="7645400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7613" y="512191"/>
            <a:ext cx="46666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Environmental</a:t>
            </a:r>
            <a:r>
              <a:rPr spc="-20" dirty="0"/>
              <a:t> </a:t>
            </a:r>
            <a:r>
              <a:rPr spc="-5" dirty="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8444" y="1520333"/>
            <a:ext cx="7706995" cy="42176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3200" b="1" spc="-5" dirty="0">
                <a:latin typeface="Times New Roman"/>
                <a:cs typeface="Times New Roman"/>
              </a:rPr>
              <a:t>Environmental= </a:t>
            </a:r>
            <a:r>
              <a:rPr sz="3200" b="1" dirty="0">
                <a:latin typeface="Times New Roman"/>
                <a:cs typeface="Times New Roman"/>
              </a:rPr>
              <a:t>Living + Non-living</a:t>
            </a:r>
            <a:r>
              <a:rPr sz="3200" b="1" spc="-1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things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933450" marR="278765" indent="-228600">
              <a:lnSpc>
                <a:spcPts val="3020"/>
              </a:lnSpc>
              <a:spcBef>
                <a:spcPts val="730"/>
              </a:spcBef>
              <a:buSzPct val="96428"/>
              <a:buFont typeface="Wingdings"/>
              <a:buChar char=""/>
              <a:tabLst>
                <a:tab pos="988060" algn="l"/>
              </a:tabLst>
            </a:pPr>
            <a:r>
              <a:rPr sz="2800" dirty="0">
                <a:latin typeface="Times New Roman"/>
                <a:cs typeface="Times New Roman"/>
              </a:rPr>
              <a:t>Study </a:t>
            </a:r>
            <a:r>
              <a:rPr sz="2800" spc="-5" dirty="0">
                <a:latin typeface="Times New Roman"/>
                <a:cs typeface="Times New Roman"/>
              </a:rPr>
              <a:t>of the environment (Biotic </a:t>
            </a:r>
            <a:r>
              <a:rPr sz="2800" spc="-10" dirty="0">
                <a:latin typeface="Times New Roman"/>
                <a:cs typeface="Times New Roman"/>
              </a:rPr>
              <a:t>and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Abiotic  components)</a:t>
            </a:r>
            <a:endParaRPr sz="2800">
              <a:latin typeface="Times New Roman"/>
              <a:cs typeface="Times New Roman"/>
            </a:endParaRPr>
          </a:p>
          <a:p>
            <a:pPr marR="75565" algn="ctr">
              <a:lnSpc>
                <a:spcPct val="100000"/>
              </a:lnSpc>
              <a:spcBef>
                <a:spcPts val="340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TYPES OF</a:t>
            </a:r>
            <a:r>
              <a:rPr sz="3200" b="1" spc="-1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ENVIRONMENT</a:t>
            </a:r>
            <a:endParaRPr sz="3200">
              <a:latin typeface="Times New Roman"/>
              <a:cs typeface="Times New Roman"/>
            </a:endParaRPr>
          </a:p>
          <a:p>
            <a:pPr marL="1444625" lvl="1" indent="-283210">
              <a:lnSpc>
                <a:spcPct val="100000"/>
              </a:lnSpc>
              <a:spcBef>
                <a:spcPts val="340"/>
              </a:spcBef>
              <a:buSzPct val="96428"/>
              <a:buFont typeface="Wingdings"/>
              <a:buChar char=""/>
              <a:tabLst>
                <a:tab pos="1445260" algn="l"/>
              </a:tabLst>
            </a:pPr>
            <a:r>
              <a:rPr sz="2800" spc="-5" dirty="0">
                <a:latin typeface="Times New Roman"/>
                <a:cs typeface="Times New Roman"/>
              </a:rPr>
              <a:t>Natural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environment</a:t>
            </a:r>
            <a:endParaRPr sz="2800">
              <a:latin typeface="Times New Roman"/>
              <a:cs typeface="Times New Roman"/>
            </a:endParaRPr>
          </a:p>
          <a:p>
            <a:pPr marL="3676650" marR="5080" lvl="2" indent="-228600">
              <a:lnSpc>
                <a:spcPts val="3020"/>
              </a:lnSpc>
              <a:spcBef>
                <a:spcPts val="720"/>
              </a:spcBef>
              <a:buSzPct val="96428"/>
              <a:buFont typeface="Wingdings"/>
              <a:buChar char=""/>
              <a:tabLst>
                <a:tab pos="3765550" algn="l"/>
              </a:tabLst>
            </a:pPr>
            <a:r>
              <a:rPr sz="2800" spc="-5" dirty="0">
                <a:latin typeface="Times New Roman"/>
                <a:cs typeface="Times New Roman"/>
              </a:rPr>
              <a:t>Soil, </a:t>
            </a:r>
            <a:r>
              <a:rPr sz="2800" spc="-25" dirty="0">
                <a:latin typeface="Times New Roman"/>
                <a:cs typeface="Times New Roman"/>
              </a:rPr>
              <a:t>water, </a:t>
            </a:r>
            <a:r>
              <a:rPr sz="2800" spc="-30" dirty="0">
                <a:latin typeface="Times New Roman"/>
                <a:cs typeface="Times New Roman"/>
              </a:rPr>
              <a:t>air, </a:t>
            </a:r>
            <a:r>
              <a:rPr sz="2800" spc="-5" dirty="0">
                <a:latin typeface="Times New Roman"/>
                <a:cs typeface="Times New Roman"/>
              </a:rPr>
              <a:t>trees, noise,  etc.,</a:t>
            </a:r>
            <a:endParaRPr sz="2800">
              <a:latin typeface="Times New Roman"/>
              <a:cs typeface="Times New Roman"/>
            </a:endParaRPr>
          </a:p>
          <a:p>
            <a:pPr marL="1444625" lvl="1" indent="-283210">
              <a:lnSpc>
                <a:spcPct val="100000"/>
              </a:lnSpc>
              <a:spcBef>
                <a:spcPts val="295"/>
              </a:spcBef>
              <a:buSzPct val="96428"/>
              <a:buFont typeface="Wingdings"/>
              <a:buChar char=""/>
              <a:tabLst>
                <a:tab pos="1445260" algn="l"/>
              </a:tabLst>
            </a:pPr>
            <a:r>
              <a:rPr sz="2800" spc="-5" dirty="0">
                <a:latin typeface="Times New Roman"/>
                <a:cs typeface="Times New Roman"/>
              </a:rPr>
              <a:t>Man-made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environment</a:t>
            </a:r>
            <a:endParaRPr sz="2800">
              <a:latin typeface="Times New Roman"/>
              <a:cs typeface="Times New Roman"/>
            </a:endParaRPr>
          </a:p>
          <a:p>
            <a:pPr marL="3764915" lvl="2" indent="-317500">
              <a:lnSpc>
                <a:spcPct val="100000"/>
              </a:lnSpc>
              <a:spcBef>
                <a:spcPts val="340"/>
              </a:spcBef>
              <a:buSzPct val="96428"/>
              <a:buFont typeface="Wingdings"/>
              <a:buChar char=""/>
              <a:tabLst>
                <a:tab pos="3765550" algn="l"/>
              </a:tabLst>
            </a:pPr>
            <a:r>
              <a:rPr sz="2800" spc="-5" dirty="0">
                <a:latin typeface="Times New Roman"/>
                <a:cs typeface="Times New Roman"/>
              </a:rPr>
              <a:t>House, road, park, etc.,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0873" y="512191"/>
            <a:ext cx="5838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Components of 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4964" y="1522170"/>
            <a:ext cx="5893435" cy="43186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Abiotic or non-living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  <a:p>
            <a:pPr marL="841375" lvl="1" indent="-343535">
              <a:lnSpc>
                <a:spcPct val="100000"/>
              </a:lnSpc>
              <a:spcBef>
                <a:spcPts val="390"/>
              </a:spcBef>
              <a:buFont typeface="Wingdings"/>
              <a:buChar char=""/>
              <a:tabLst>
                <a:tab pos="842010" algn="l"/>
              </a:tabLst>
            </a:pPr>
            <a:r>
              <a:rPr sz="3200" dirty="0">
                <a:latin typeface="Times New Roman"/>
                <a:cs typeface="Times New Roman"/>
              </a:rPr>
              <a:t>Biotic or living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  <a:p>
            <a:pPr marL="1500505" lvl="2" indent="-342900">
              <a:lnSpc>
                <a:spcPct val="100000"/>
              </a:lnSpc>
              <a:spcBef>
                <a:spcPts val="384"/>
              </a:spcBef>
              <a:buFont typeface="Wingdings"/>
              <a:buChar char=""/>
              <a:tabLst>
                <a:tab pos="1500505" algn="l"/>
              </a:tabLst>
            </a:pPr>
            <a:r>
              <a:rPr sz="3200" spc="-10" dirty="0">
                <a:latin typeface="Times New Roman"/>
                <a:cs typeface="Times New Roman"/>
              </a:rPr>
              <a:t>Energy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4000">
              <a:latin typeface="Times New Roman"/>
              <a:cs typeface="Times New Roman"/>
            </a:endParaRPr>
          </a:p>
          <a:p>
            <a:pPr marL="554990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ABIOTIC</a:t>
            </a:r>
            <a:r>
              <a:rPr sz="3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  <a:p>
            <a:pPr marL="2122170" lvl="3" indent="-343535">
              <a:lnSpc>
                <a:spcPct val="100000"/>
              </a:lnSpc>
              <a:spcBef>
                <a:spcPts val="380"/>
              </a:spcBef>
              <a:buFont typeface="Wingdings"/>
              <a:buChar char=""/>
              <a:tabLst>
                <a:tab pos="2122805" algn="l"/>
              </a:tabLst>
            </a:pPr>
            <a:r>
              <a:rPr sz="3200" dirty="0">
                <a:latin typeface="Times New Roman"/>
                <a:cs typeface="Times New Roman"/>
              </a:rPr>
              <a:t>Atmosphere</a:t>
            </a:r>
            <a:endParaRPr sz="3200">
              <a:latin typeface="Times New Roman"/>
              <a:cs typeface="Times New Roman"/>
            </a:endParaRPr>
          </a:p>
          <a:p>
            <a:pPr marL="2145030" lvl="3" indent="-343535">
              <a:lnSpc>
                <a:spcPct val="100000"/>
              </a:lnSpc>
              <a:spcBef>
                <a:spcPts val="385"/>
              </a:spcBef>
              <a:buFont typeface="Wingdings"/>
              <a:buChar char=""/>
              <a:tabLst>
                <a:tab pos="2145665" algn="l"/>
              </a:tabLst>
            </a:pPr>
            <a:r>
              <a:rPr sz="3200" dirty="0">
                <a:latin typeface="Times New Roman"/>
                <a:cs typeface="Times New Roman"/>
              </a:rPr>
              <a:t>Lithosphere</a:t>
            </a:r>
            <a:endParaRPr sz="3200">
              <a:latin typeface="Times New Roman"/>
              <a:cs typeface="Times New Roman"/>
            </a:endParaRPr>
          </a:p>
          <a:p>
            <a:pPr marL="2065655" indent="-343535">
              <a:lnSpc>
                <a:spcPct val="100000"/>
              </a:lnSpc>
              <a:spcBef>
                <a:spcPts val="390"/>
              </a:spcBef>
              <a:buFont typeface="Wingdings"/>
              <a:buChar char=""/>
              <a:tabLst>
                <a:tab pos="2066289" algn="l"/>
              </a:tabLst>
            </a:pPr>
            <a:r>
              <a:rPr sz="3200" dirty="0">
                <a:latin typeface="Times New Roman"/>
                <a:cs typeface="Times New Roman"/>
              </a:rPr>
              <a:t>Hydrosphere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5589" y="512191"/>
            <a:ext cx="5048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Functions of</a:t>
            </a:r>
            <a:r>
              <a:rPr spc="-10" dirty="0"/>
              <a:t> </a:t>
            </a:r>
            <a:r>
              <a:rPr spc="-5" dirty="0"/>
              <a:t>atmosphere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527936"/>
            <a:ext cx="7926070" cy="41878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459"/>
              </a:spcBef>
              <a:buFont typeface="Wingdings"/>
              <a:buChar char=""/>
              <a:tabLst>
                <a:tab pos="381000" algn="l"/>
              </a:tabLst>
            </a:pPr>
            <a:r>
              <a:rPr sz="3000" dirty="0">
                <a:latin typeface="Times New Roman"/>
                <a:cs typeface="Times New Roman"/>
              </a:rPr>
              <a:t>It </a:t>
            </a:r>
            <a:r>
              <a:rPr sz="3000" spc="-5" dirty="0">
                <a:latin typeface="Times New Roman"/>
                <a:cs typeface="Times New Roman"/>
              </a:rPr>
              <a:t>sustains life </a:t>
            </a:r>
            <a:r>
              <a:rPr sz="3000" dirty="0">
                <a:latin typeface="Times New Roman"/>
                <a:cs typeface="Times New Roman"/>
              </a:rPr>
              <a:t>on the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earth.</a:t>
            </a:r>
            <a:endParaRPr sz="3000">
              <a:latin typeface="Times New Roman"/>
              <a:cs typeface="Times New Roman"/>
            </a:endParaRPr>
          </a:p>
          <a:p>
            <a:pPr marL="381000" marR="744220" indent="-342900">
              <a:lnSpc>
                <a:spcPts val="3240"/>
              </a:lnSpc>
              <a:spcBef>
                <a:spcPts val="775"/>
              </a:spcBef>
              <a:buFont typeface="Wingdings"/>
              <a:buChar char=""/>
              <a:tabLst>
                <a:tab pos="381000" algn="l"/>
              </a:tabLst>
            </a:pPr>
            <a:r>
              <a:rPr sz="3000" dirty="0">
                <a:latin typeface="Times New Roman"/>
                <a:cs typeface="Times New Roman"/>
              </a:rPr>
              <a:t>It observes the cosmic </a:t>
            </a:r>
            <a:r>
              <a:rPr sz="3000" spc="-5" dirty="0">
                <a:latin typeface="Times New Roman"/>
                <a:cs typeface="Times New Roman"/>
              </a:rPr>
              <a:t>rays </a:t>
            </a:r>
            <a:r>
              <a:rPr sz="3000" dirty="0">
                <a:latin typeface="Times New Roman"/>
                <a:cs typeface="Times New Roman"/>
              </a:rPr>
              <a:t>and other electro  magnetic </a:t>
            </a:r>
            <a:r>
              <a:rPr sz="3000" spc="-5" dirty="0">
                <a:latin typeface="Times New Roman"/>
                <a:cs typeface="Times New Roman"/>
              </a:rPr>
              <a:t>radiation </a:t>
            </a:r>
            <a:r>
              <a:rPr sz="3000" dirty="0">
                <a:latin typeface="Times New Roman"/>
                <a:cs typeface="Times New Roman"/>
              </a:rPr>
              <a:t>coming from the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sun.</a:t>
            </a:r>
            <a:endParaRPr sz="3000">
              <a:latin typeface="Times New Roman"/>
              <a:cs typeface="Times New Roman"/>
            </a:endParaRPr>
          </a:p>
          <a:p>
            <a:pPr marL="381000" marR="169545" indent="-342900">
              <a:lnSpc>
                <a:spcPts val="3240"/>
              </a:lnSpc>
              <a:spcBef>
                <a:spcPts val="720"/>
              </a:spcBef>
              <a:buFont typeface="Wingdings"/>
              <a:buChar char=""/>
              <a:tabLst>
                <a:tab pos="381000" algn="l"/>
              </a:tabLst>
            </a:pPr>
            <a:r>
              <a:rPr sz="3000" dirty="0">
                <a:latin typeface="Times New Roman"/>
                <a:cs typeface="Times New Roman"/>
              </a:rPr>
              <a:t>It balances heat of </a:t>
            </a:r>
            <a:r>
              <a:rPr sz="3000" spc="-5" dirty="0">
                <a:latin typeface="Times New Roman"/>
                <a:cs typeface="Times New Roman"/>
              </a:rPr>
              <a:t>earth </a:t>
            </a:r>
            <a:r>
              <a:rPr sz="3000" dirty="0">
                <a:latin typeface="Times New Roman"/>
                <a:cs typeface="Times New Roman"/>
              </a:rPr>
              <a:t>by absorption of IR and  UV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rays.</a:t>
            </a:r>
            <a:endParaRPr sz="3000">
              <a:latin typeface="Times New Roman"/>
              <a:cs typeface="Times New Roman"/>
            </a:endParaRPr>
          </a:p>
          <a:p>
            <a:pPr marL="381000" marR="30480" indent="-342900">
              <a:lnSpc>
                <a:spcPts val="3240"/>
              </a:lnSpc>
              <a:spcBef>
                <a:spcPts val="720"/>
              </a:spcBef>
              <a:buFont typeface="Wingdings"/>
              <a:buChar char=""/>
              <a:tabLst>
                <a:tab pos="381000" algn="l"/>
              </a:tabLst>
            </a:pPr>
            <a:r>
              <a:rPr sz="3000" dirty="0">
                <a:latin typeface="Times New Roman"/>
                <a:cs typeface="Times New Roman"/>
              </a:rPr>
              <a:t>It plays important role in carrying water from the  ocean to the land through hydrological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cycle.</a:t>
            </a:r>
            <a:endParaRPr sz="3000">
              <a:latin typeface="Times New Roman"/>
              <a:cs typeface="Times New Roman"/>
            </a:endParaRPr>
          </a:p>
          <a:p>
            <a:pPr marL="381000" marR="298450" indent="-342900">
              <a:lnSpc>
                <a:spcPts val="3240"/>
              </a:lnSpc>
              <a:spcBef>
                <a:spcPts val="720"/>
              </a:spcBef>
              <a:buFont typeface="Wingdings"/>
              <a:buChar char=""/>
              <a:tabLst>
                <a:tab pos="381000" algn="l"/>
              </a:tabLst>
            </a:pPr>
            <a:r>
              <a:rPr sz="3000" dirty="0">
                <a:latin typeface="Times New Roman"/>
                <a:cs typeface="Times New Roman"/>
              </a:rPr>
              <a:t>Oxygen </a:t>
            </a:r>
            <a:r>
              <a:rPr sz="3000" spc="-5" dirty="0">
                <a:latin typeface="Times New Roman"/>
                <a:cs typeface="Times New Roman"/>
              </a:rPr>
              <a:t>supports living </a:t>
            </a:r>
            <a:r>
              <a:rPr sz="3000" dirty="0">
                <a:latin typeface="Times New Roman"/>
                <a:cs typeface="Times New Roman"/>
              </a:rPr>
              <a:t>beings, </a:t>
            </a:r>
            <a:r>
              <a:rPr sz="3000" spc="-10" dirty="0">
                <a:latin typeface="Times New Roman"/>
                <a:cs typeface="Times New Roman"/>
              </a:rPr>
              <a:t>CO</a:t>
            </a:r>
            <a:r>
              <a:rPr sz="3000" spc="-15" baseline="-20833" dirty="0">
                <a:latin typeface="Times New Roman"/>
                <a:cs typeface="Times New Roman"/>
              </a:rPr>
              <a:t>2 </a:t>
            </a:r>
            <a:r>
              <a:rPr sz="3000" dirty="0">
                <a:latin typeface="Times New Roman"/>
                <a:cs typeface="Times New Roman"/>
              </a:rPr>
              <a:t>is </a:t>
            </a:r>
            <a:r>
              <a:rPr sz="3000" spc="-5" dirty="0">
                <a:latin typeface="Times New Roman"/>
                <a:cs typeface="Times New Roman"/>
              </a:rPr>
              <a:t>essential  </a:t>
            </a:r>
            <a:r>
              <a:rPr sz="3000" dirty="0">
                <a:latin typeface="Times New Roman"/>
                <a:cs typeface="Times New Roman"/>
              </a:rPr>
              <a:t>for photosynthesis of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plants.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5692" y="512191"/>
            <a:ext cx="4907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Structure of</a:t>
            </a:r>
            <a:r>
              <a:rPr dirty="0"/>
              <a:t> </a:t>
            </a:r>
            <a:r>
              <a:rPr spc="-5" dirty="0"/>
              <a:t>atmosphere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133"/>
            <a:ext cx="778827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spc="-10" dirty="0">
                <a:latin typeface="Times New Roman"/>
                <a:cs typeface="Times New Roman"/>
              </a:rPr>
              <a:t>Troposphere </a:t>
            </a:r>
            <a:r>
              <a:rPr sz="3200" dirty="0">
                <a:latin typeface="Times New Roman"/>
                <a:cs typeface="Times New Roman"/>
              </a:rPr>
              <a:t>(0 –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18kms)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Stratosphere (18 –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50kms)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Mesosphere (50 –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85kms)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Thermosphere (or) ionosphere (85 –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500kms)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Exosphere ( upto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1600kms)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7841" y="512191"/>
            <a:ext cx="4066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Energy</a:t>
            </a:r>
            <a:r>
              <a:rPr spc="-40" dirty="0"/>
              <a:t> </a:t>
            </a:r>
            <a:r>
              <a:rPr spc="-5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452"/>
            <a:ext cx="6428740" cy="3636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spc="-10" dirty="0">
                <a:latin typeface="Times New Roman"/>
                <a:cs typeface="Times New Roman"/>
              </a:rPr>
              <a:t>Energy </a:t>
            </a:r>
            <a:r>
              <a:rPr sz="3200" dirty="0">
                <a:latin typeface="Times New Roman"/>
                <a:cs typeface="Times New Roman"/>
              </a:rPr>
              <a:t>flow across biotic and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abiotic  components.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E.g:</a:t>
            </a:r>
            <a:endParaRPr sz="3200">
              <a:latin typeface="Times New Roman"/>
              <a:cs typeface="Times New Roman"/>
            </a:endParaRPr>
          </a:p>
          <a:p>
            <a:pPr marL="1210310" indent="-283845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1210945" algn="l"/>
              </a:tabLst>
            </a:pPr>
            <a:r>
              <a:rPr sz="2800" dirty="0">
                <a:latin typeface="Times New Roman"/>
                <a:cs typeface="Times New Roman"/>
              </a:rPr>
              <a:t>solar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energy,</a:t>
            </a:r>
            <a:endParaRPr sz="2800">
              <a:latin typeface="Times New Roman"/>
              <a:cs typeface="Times New Roman"/>
            </a:endParaRPr>
          </a:p>
          <a:p>
            <a:pPr marL="1297305" indent="-37084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1297940" algn="l"/>
              </a:tabLst>
            </a:pPr>
            <a:r>
              <a:rPr sz="2800" spc="-5" dirty="0">
                <a:latin typeface="Times New Roman"/>
                <a:cs typeface="Times New Roman"/>
              </a:rPr>
              <a:t>nuclear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energy,</a:t>
            </a:r>
            <a:endParaRPr sz="2800">
              <a:latin typeface="Times New Roman"/>
              <a:cs typeface="Times New Roman"/>
            </a:endParaRPr>
          </a:p>
          <a:p>
            <a:pPr marL="1209675" indent="-28321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1210310" algn="l"/>
              </a:tabLst>
            </a:pPr>
            <a:r>
              <a:rPr sz="2800" spc="-5" dirty="0">
                <a:latin typeface="Times New Roman"/>
                <a:cs typeface="Times New Roman"/>
              </a:rPr>
              <a:t>geochemical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energy,</a:t>
            </a:r>
            <a:endParaRPr sz="2800">
              <a:latin typeface="Times New Roman"/>
              <a:cs typeface="Times New Roman"/>
            </a:endParaRPr>
          </a:p>
          <a:p>
            <a:pPr marL="1210310" indent="-283845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121094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thermo electrical </a:t>
            </a:r>
            <a:r>
              <a:rPr sz="2800" spc="-35" dirty="0">
                <a:latin typeface="Times New Roman"/>
                <a:cs typeface="Times New Roman"/>
              </a:rPr>
              <a:t>energy,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etc.,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313" y="512191"/>
            <a:ext cx="6416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Scope of environmental</a:t>
            </a:r>
            <a:r>
              <a:rPr spc="-20" dirty="0"/>
              <a:t> </a:t>
            </a:r>
            <a:r>
              <a:rPr dirty="0"/>
              <a:t>studies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0685"/>
            <a:ext cx="7534275" cy="43192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6675" indent="-342900">
              <a:lnSpc>
                <a:spcPts val="3460"/>
              </a:lnSpc>
              <a:spcBef>
                <a:spcPts val="53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spc="-114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get </a:t>
            </a:r>
            <a:r>
              <a:rPr sz="3200" spc="5" dirty="0">
                <a:latin typeface="Times New Roman"/>
                <a:cs typeface="Times New Roman"/>
              </a:rPr>
              <a:t>awareness </a:t>
            </a:r>
            <a:r>
              <a:rPr sz="3200" dirty="0">
                <a:latin typeface="Times New Roman"/>
                <a:cs typeface="Times New Roman"/>
              </a:rPr>
              <a:t>and sensitivity to the total  environment.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460"/>
              </a:lnSpc>
              <a:spcBef>
                <a:spcPts val="76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spc="-114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motivate the active participation in  environmental protection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improvement.</a:t>
            </a:r>
            <a:endParaRPr sz="3200">
              <a:latin typeface="Times New Roman"/>
              <a:cs typeface="Times New Roman"/>
            </a:endParaRPr>
          </a:p>
          <a:p>
            <a:pPr marL="355600" marR="485775" indent="-342900">
              <a:lnSpc>
                <a:spcPts val="3460"/>
              </a:lnSpc>
              <a:spcBef>
                <a:spcPts val="76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spc="-114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know the necessity of conservation of  natural resources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marR="285750" indent="-342900">
              <a:lnSpc>
                <a:spcPct val="90000"/>
              </a:lnSpc>
              <a:spcBef>
                <a:spcPts val="71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spc="-114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evaluate environmental programmes in  terms of social, economic, ecological and  aesthetic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factors.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6613" y="512191"/>
            <a:ext cx="5427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Need for </a:t>
            </a:r>
            <a:r>
              <a:rPr dirty="0"/>
              <a:t>public</a:t>
            </a:r>
            <a:r>
              <a:rPr spc="-35" dirty="0"/>
              <a:t> </a:t>
            </a:r>
            <a:r>
              <a:rPr spc="-5" dirty="0"/>
              <a:t>awareness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0685"/>
            <a:ext cx="7930515" cy="41243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1435" indent="-342900">
              <a:lnSpc>
                <a:spcPct val="90000"/>
              </a:lnSpc>
              <a:spcBef>
                <a:spcPts val="49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Man has overexploited the natural resource  which leads to many environmental problems  such as acid rain, </a:t>
            </a:r>
            <a:r>
              <a:rPr sz="3200" spc="5" dirty="0">
                <a:latin typeface="Times New Roman"/>
                <a:cs typeface="Times New Roman"/>
              </a:rPr>
              <a:t>ozone </a:t>
            </a:r>
            <a:r>
              <a:rPr sz="3200" dirty="0">
                <a:latin typeface="Times New Roman"/>
                <a:cs typeface="Times New Roman"/>
              </a:rPr>
              <a:t>layer depletion,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green  house </a:t>
            </a:r>
            <a:r>
              <a:rPr sz="3200" spc="-10" dirty="0">
                <a:latin typeface="Times New Roman"/>
                <a:cs typeface="Times New Roman"/>
              </a:rPr>
              <a:t>effect, </a:t>
            </a:r>
            <a:r>
              <a:rPr sz="3200" dirty="0">
                <a:latin typeface="Times New Roman"/>
                <a:cs typeface="Times New Roman"/>
              </a:rPr>
              <a:t>landslides, </a:t>
            </a:r>
            <a:r>
              <a:rPr sz="3200" spc="-15" dirty="0">
                <a:latin typeface="Times New Roman"/>
                <a:cs typeface="Times New Roman"/>
              </a:rPr>
              <a:t>cancer, </a:t>
            </a:r>
            <a:r>
              <a:rPr sz="3200" spc="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other  health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problems.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Lack of awareness </a:t>
            </a:r>
            <a:r>
              <a:rPr sz="3200" spc="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less </a:t>
            </a:r>
            <a:r>
              <a:rPr sz="3200" spc="5" dirty="0">
                <a:latin typeface="Times New Roman"/>
                <a:cs typeface="Times New Roman"/>
              </a:rPr>
              <a:t>number </a:t>
            </a:r>
            <a:r>
              <a:rPr sz="3200" dirty="0">
                <a:latin typeface="Times New Roman"/>
                <a:cs typeface="Times New Roman"/>
              </a:rPr>
              <a:t>of people  participation leads to poor pollution  management which leads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climate instability  </a:t>
            </a:r>
            <a:r>
              <a:rPr sz="3200" spc="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unhealthy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eco-system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77211" y="2721864"/>
              <a:ext cx="4792980" cy="13243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61974"/>
            <a:ext cx="25806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ECOSYSTEM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6217"/>
            <a:ext cx="8072120" cy="4195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 marR="5080" indent="-28702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An ecosystem is formed by the interaction between  all </a:t>
            </a:r>
            <a:r>
              <a:rPr sz="2800" dirty="0">
                <a:latin typeface="Times New Roman"/>
                <a:cs typeface="Times New Roman"/>
              </a:rPr>
              <a:t>living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non-living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things.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BIOME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Set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ecosystem which </a:t>
            </a:r>
            <a:r>
              <a:rPr sz="3200" spc="-10" dirty="0">
                <a:latin typeface="Times New Roman"/>
                <a:cs typeface="Times New Roman"/>
              </a:rPr>
              <a:t>are </a:t>
            </a:r>
            <a:r>
              <a:rPr sz="3200" dirty="0">
                <a:latin typeface="Times New Roman"/>
                <a:cs typeface="Times New Roman"/>
              </a:rPr>
              <a:t>exposed </a:t>
            </a:r>
            <a:r>
              <a:rPr sz="3200" spc="-5" dirty="0">
                <a:latin typeface="Times New Roman"/>
                <a:cs typeface="Times New Roman"/>
              </a:rPr>
              <a:t>to same  </a:t>
            </a:r>
            <a:r>
              <a:rPr sz="3200" dirty="0">
                <a:latin typeface="Times New Roman"/>
                <a:cs typeface="Times New Roman"/>
              </a:rPr>
              <a:t>climatic conditions 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dirty="0">
                <a:latin typeface="Times New Roman"/>
                <a:cs typeface="Times New Roman"/>
              </a:rPr>
              <a:t>similar life cycle,  climatic conditions and physical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structure.</a:t>
            </a:r>
            <a:endParaRPr sz="3200">
              <a:latin typeface="Times New Roman"/>
              <a:cs typeface="Times New Roman"/>
            </a:endParaRPr>
          </a:p>
          <a:p>
            <a:pPr marL="375920" indent="-363855" algn="just">
              <a:lnSpc>
                <a:spcPct val="100000"/>
              </a:lnSpc>
              <a:spcBef>
                <a:spcPts val="775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Biome (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3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ecosystem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).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6873" y="476757"/>
            <a:ext cx="48075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ABIOTIC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636217"/>
            <a:ext cx="7616190" cy="181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7985" algn="l"/>
                <a:tab pos="1310640" algn="l"/>
                <a:tab pos="2444750" algn="l"/>
                <a:tab pos="3841115" algn="l"/>
                <a:tab pos="5511800" algn="l"/>
                <a:tab pos="6037580" algn="l"/>
                <a:tab pos="6642734" algn="l"/>
              </a:tabLst>
            </a:pP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lar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ene</a:t>
            </a:r>
            <a:r>
              <a:rPr sz="2800" spc="-6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ov</a:t>
            </a:r>
            <a:r>
              <a:rPr sz="2800" spc="-2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des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ti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ally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ene</a:t>
            </a:r>
            <a:r>
              <a:rPr sz="2800" spc="-6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gy 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ecosystems.</a:t>
            </a:r>
            <a:endParaRPr sz="2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387985" algn="l"/>
                <a:tab pos="1899285" algn="l"/>
                <a:tab pos="3662679" algn="l"/>
                <a:tab pos="4420235" algn="l"/>
                <a:tab pos="5482590" algn="l"/>
                <a:tab pos="6557645" algn="l"/>
                <a:tab pos="7325359" algn="l"/>
              </a:tabLst>
            </a:pP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-45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gan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anc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e.</a:t>
            </a:r>
            <a:r>
              <a:rPr sz="2800" dirty="0">
                <a:latin typeface="Times New Roman"/>
                <a:cs typeface="Times New Roman"/>
              </a:rPr>
              <a:t>g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r>
              <a:rPr sz="2800" spc="-5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lf</a:t>
            </a:r>
            <a:r>
              <a:rPr sz="2800" spc="5" dirty="0">
                <a:latin typeface="Times New Roman"/>
                <a:cs typeface="Times New Roman"/>
              </a:rPr>
              <a:t>u</a:t>
            </a:r>
            <a:r>
              <a:rPr sz="2800" spc="-11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tend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to  cycle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3514725"/>
            <a:ext cx="380872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7985" algn="l"/>
                <a:tab pos="2066925" algn="l"/>
                <a:tab pos="2850515" algn="l"/>
              </a:tabLst>
            </a:pP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-5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gan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,  carbohydrates,	lipids,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0457" y="3514725"/>
            <a:ext cx="34290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8430">
              <a:lnSpc>
                <a:spcPct val="100000"/>
              </a:lnSpc>
              <a:spcBef>
                <a:spcPts val="95"/>
              </a:spcBef>
              <a:tabLst>
                <a:tab pos="993775" algn="l"/>
                <a:tab pos="1343025" algn="l"/>
                <a:tab pos="2179955" algn="l"/>
              </a:tabLst>
            </a:pPr>
            <a:r>
              <a:rPr sz="2800" spc="-5" dirty="0">
                <a:latin typeface="Times New Roman"/>
                <a:cs typeface="Times New Roman"/>
              </a:rPr>
              <a:t>such		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ei</a:t>
            </a:r>
            <a:r>
              <a:rPr sz="2800" spc="-15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s,  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her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ex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9905" y="4368165"/>
            <a:ext cx="73298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molecules, </a:t>
            </a:r>
            <a:r>
              <a:rPr sz="2800" dirty="0">
                <a:latin typeface="Times New Roman"/>
                <a:cs typeface="Times New Roman"/>
              </a:rPr>
              <a:t>form </a:t>
            </a:r>
            <a:r>
              <a:rPr sz="2800" spc="-5" dirty="0">
                <a:latin typeface="Times New Roman"/>
                <a:cs typeface="Times New Roman"/>
              </a:rPr>
              <a:t>a link between </a:t>
            </a:r>
            <a:r>
              <a:rPr sz="2800" dirty="0">
                <a:latin typeface="Times New Roman"/>
                <a:cs typeface="Times New Roman"/>
              </a:rPr>
              <a:t>biotic </a:t>
            </a:r>
            <a:r>
              <a:rPr sz="2800" spc="-5" dirty="0">
                <a:latin typeface="Times New Roman"/>
                <a:cs typeface="Times New Roman"/>
              </a:rPr>
              <a:t>and abiotic  components of the system.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76757"/>
            <a:ext cx="8072755" cy="509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BIOTIC</a:t>
            </a:r>
            <a:r>
              <a:rPr sz="3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living </a:t>
            </a:r>
            <a:r>
              <a:rPr sz="3200" spc="-5" dirty="0">
                <a:latin typeface="Times New Roman"/>
                <a:cs typeface="Times New Roman"/>
              </a:rPr>
              <a:t>organisms </a:t>
            </a:r>
            <a:r>
              <a:rPr sz="3200" dirty="0">
                <a:latin typeface="Times New Roman"/>
                <a:cs typeface="Times New Roman"/>
              </a:rPr>
              <a:t>of an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ecosystem.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Classification of Biotic components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are: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770"/>
              </a:spcBef>
            </a:pPr>
            <a:r>
              <a:rPr sz="3200" b="1" u="heavy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AUTOTROPHS</a:t>
            </a:r>
            <a:endParaRPr sz="3200">
              <a:latin typeface="Times New Roman"/>
              <a:cs typeface="Times New Roman"/>
            </a:endParaRPr>
          </a:p>
          <a:p>
            <a:pPr marL="355600" marR="5080" algn="just">
              <a:lnSpc>
                <a:spcPct val="100000"/>
              </a:lnSpc>
            </a:pPr>
            <a:r>
              <a:rPr sz="3200" spc="-5" dirty="0">
                <a:latin typeface="Times New Roman"/>
                <a:cs typeface="Times New Roman"/>
              </a:rPr>
              <a:t>Organisms </a:t>
            </a:r>
            <a:r>
              <a:rPr sz="3200" dirty="0">
                <a:latin typeface="Times New Roman"/>
                <a:cs typeface="Times New Roman"/>
              </a:rPr>
              <a:t>that produce their </a:t>
            </a:r>
            <a:r>
              <a:rPr sz="3200" spc="-5" dirty="0">
                <a:latin typeface="Times New Roman"/>
                <a:cs typeface="Times New Roman"/>
              </a:rPr>
              <a:t>own food from  </a:t>
            </a:r>
            <a:r>
              <a:rPr sz="3200" spc="5" dirty="0">
                <a:latin typeface="Times New Roman"/>
                <a:cs typeface="Times New Roman"/>
              </a:rPr>
              <a:t>an </a:t>
            </a:r>
            <a:r>
              <a:rPr sz="3200" spc="-10" dirty="0">
                <a:latin typeface="Times New Roman"/>
                <a:cs typeface="Times New Roman"/>
              </a:rPr>
              <a:t>energy </a:t>
            </a:r>
            <a:r>
              <a:rPr sz="3200" dirty="0">
                <a:latin typeface="Times New Roman"/>
                <a:cs typeface="Times New Roman"/>
              </a:rPr>
              <a:t>source, such as the sun, </a:t>
            </a:r>
            <a:r>
              <a:rPr sz="3200" spc="-10" dirty="0">
                <a:latin typeface="Times New Roman"/>
                <a:cs typeface="Times New Roman"/>
              </a:rPr>
              <a:t>and  </a:t>
            </a:r>
            <a:r>
              <a:rPr sz="3200" spc="-5" dirty="0">
                <a:latin typeface="Times New Roman"/>
                <a:cs typeface="Times New Roman"/>
              </a:rPr>
              <a:t>inorganic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compounds.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5"/>
              </a:spcBef>
            </a:pPr>
            <a:r>
              <a:rPr sz="3200" b="1" u="heavy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HETEROTROPHS</a:t>
            </a:r>
            <a:endParaRPr sz="3200">
              <a:latin typeface="Times New Roman"/>
              <a:cs typeface="Times New Roman"/>
            </a:endParaRPr>
          </a:p>
          <a:p>
            <a:pPr marL="355600" marR="5080" algn="just">
              <a:lnSpc>
                <a:spcPct val="100000"/>
              </a:lnSpc>
            </a:pPr>
            <a:r>
              <a:rPr sz="3200" spc="-5" dirty="0">
                <a:latin typeface="Times New Roman"/>
                <a:cs typeface="Times New Roman"/>
              </a:rPr>
              <a:t>Organisms that </a:t>
            </a:r>
            <a:r>
              <a:rPr sz="3200" dirty="0">
                <a:latin typeface="Times New Roman"/>
                <a:cs typeface="Times New Roman"/>
              </a:rPr>
              <a:t>consume other </a:t>
            </a:r>
            <a:r>
              <a:rPr sz="3200" spc="-10" dirty="0">
                <a:latin typeface="Times New Roman"/>
                <a:cs typeface="Times New Roman"/>
              </a:rPr>
              <a:t>organisms </a:t>
            </a:r>
            <a:r>
              <a:rPr sz="3200" spc="-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a  food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source.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265" marR="5080" indent="-82041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MEMBERS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BIOTIC 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794" y="1534947"/>
            <a:ext cx="4866005" cy="30988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775"/>
              </a:spcBef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spc="-10" dirty="0">
                <a:latin typeface="Times New Roman"/>
                <a:cs typeface="Times New Roman"/>
              </a:rPr>
              <a:t>PRODUCERS.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CONSUMERS.</a:t>
            </a:r>
            <a:endParaRPr sz="2800">
              <a:latin typeface="Times New Roman"/>
              <a:cs typeface="Times New Roman"/>
            </a:endParaRPr>
          </a:p>
          <a:p>
            <a:pPr marL="1666875" lvl="1" indent="-28321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1667510" algn="l"/>
              </a:tabLst>
            </a:pPr>
            <a:r>
              <a:rPr sz="2800" spc="-5" dirty="0">
                <a:latin typeface="Times New Roman"/>
                <a:cs typeface="Times New Roman"/>
              </a:rPr>
              <a:t>Primary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Consumers</a:t>
            </a:r>
            <a:endParaRPr sz="2800">
              <a:latin typeface="Times New Roman"/>
              <a:cs typeface="Times New Roman"/>
            </a:endParaRPr>
          </a:p>
          <a:p>
            <a:pPr marL="1666875" lvl="1" indent="-28321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1667510" algn="l"/>
              </a:tabLst>
            </a:pPr>
            <a:r>
              <a:rPr sz="2800" spc="-5" dirty="0">
                <a:latin typeface="Times New Roman"/>
                <a:cs typeface="Times New Roman"/>
              </a:rPr>
              <a:t>Secondary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Consumers</a:t>
            </a:r>
            <a:endParaRPr sz="2800">
              <a:latin typeface="Times New Roman"/>
              <a:cs typeface="Times New Roman"/>
            </a:endParaRPr>
          </a:p>
          <a:p>
            <a:pPr marL="1666875" lvl="1" indent="-28321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1667510" algn="l"/>
              </a:tabLst>
            </a:pPr>
            <a:r>
              <a:rPr sz="2800" spc="-30" dirty="0">
                <a:latin typeface="Times New Roman"/>
                <a:cs typeface="Times New Roman"/>
              </a:rPr>
              <a:t>Tertiary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Consumers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DECOMPOSERS.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0492" y="248712"/>
            <a:ext cx="6603014" cy="6380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4400CF-A123-4B52-90B0-ACDDF3FCF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" y="1676400"/>
            <a:ext cx="8453259" cy="43481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806CD3-0C2D-45CD-AE6D-7E9D2B7D78F2}"/>
              </a:ext>
            </a:extLst>
          </p:cNvPr>
          <p:cNvSpPr/>
          <p:nvPr/>
        </p:nvSpPr>
        <p:spPr>
          <a:xfrm>
            <a:off x="3112015" y="381000"/>
            <a:ext cx="4435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pc="-10" dirty="0"/>
              <a:t>ENERGY AND MATERIAL  FLOW </a:t>
            </a:r>
            <a:r>
              <a:rPr lang="en-IN" spc="-5" dirty="0"/>
              <a:t>IN</a:t>
            </a:r>
            <a:r>
              <a:rPr lang="en-IN" spc="-229" dirty="0"/>
              <a:t> </a:t>
            </a:r>
            <a:r>
              <a:rPr lang="en-IN" spc="-10" dirty="0"/>
              <a:t>ECOSYSTEM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6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942" y="261569"/>
            <a:ext cx="7421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ENERGY FLOW </a:t>
            </a:r>
            <a:r>
              <a:rPr spc="-5" dirty="0"/>
              <a:t>IN</a:t>
            </a:r>
            <a:r>
              <a:rPr spc="-229" dirty="0"/>
              <a:t> </a:t>
            </a:r>
            <a:r>
              <a:rPr spc="-10" dirty="0"/>
              <a:t>ECOSYSTEM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26337"/>
            <a:ext cx="8073390" cy="48050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6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Energy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is defined 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as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capacity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do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work</a:t>
            </a:r>
            <a:r>
              <a:rPr sz="2800" dirty="0">
                <a:latin typeface="Times New Roman"/>
                <a:cs typeface="Times New Roman"/>
              </a:rPr>
              <a:t>. For  living </a:t>
            </a:r>
            <a:r>
              <a:rPr sz="2800" spc="-10" dirty="0">
                <a:latin typeface="Times New Roman"/>
                <a:cs typeface="Times New Roman"/>
              </a:rPr>
              <a:t>organisms, </a:t>
            </a:r>
            <a:r>
              <a:rPr sz="2800" spc="-5" dirty="0">
                <a:latin typeface="Times New Roman"/>
                <a:cs typeface="Times New Roman"/>
              </a:rPr>
              <a:t>it is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basic force responsible </a:t>
            </a:r>
            <a:r>
              <a:rPr sz="2800" dirty="0">
                <a:latin typeface="Times New Roman"/>
                <a:cs typeface="Times New Roman"/>
              </a:rPr>
              <a:t>for  running </a:t>
            </a:r>
            <a:r>
              <a:rPr sz="2800" spc="-10" dirty="0">
                <a:latin typeface="Times New Roman"/>
                <a:cs typeface="Times New Roman"/>
              </a:rPr>
              <a:t>all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metabolic activities.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flow of 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energy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from producer level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top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consumer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level is  called 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energy 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flow.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690"/>
              </a:lnSpc>
              <a:spcBef>
                <a:spcPts val="650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flow of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ecosystem is unidirectional.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It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flows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from producer level to consumer</a:t>
            </a:r>
            <a:r>
              <a:rPr sz="28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level.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69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process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5" dirty="0">
                <a:latin typeface="Times New Roman"/>
                <a:cs typeface="Times New Roman"/>
              </a:rPr>
              <a:t>energy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 </a:t>
            </a:r>
            <a:r>
              <a:rPr sz="2800" spc="-5" dirty="0">
                <a:latin typeface="Times New Roman"/>
                <a:cs typeface="Times New Roman"/>
              </a:rPr>
              <a:t>involves transfer </a:t>
            </a:r>
            <a:r>
              <a:rPr sz="2800" dirty="0">
                <a:latin typeface="Times New Roman"/>
                <a:cs typeface="Times New Roman"/>
              </a:rPr>
              <a:t>of  </a:t>
            </a:r>
            <a:r>
              <a:rPr sz="2800" spc="-10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from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autotrophs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to various components </a:t>
            </a:r>
            <a:r>
              <a:rPr sz="2800" spc="10" dirty="0">
                <a:solidFill>
                  <a:srgbClr val="FF0000"/>
                </a:solidFill>
                <a:latin typeface="Times New Roman"/>
                <a:cs typeface="Times New Roman"/>
              </a:rPr>
              <a:t>of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heterotrophs </a:t>
            </a:r>
            <a:r>
              <a:rPr sz="2800" spc="-5" dirty="0">
                <a:latin typeface="Times New Roman"/>
                <a:cs typeface="Times New Roman"/>
              </a:rPr>
              <a:t>and help in maintaining </a:t>
            </a:r>
            <a:r>
              <a:rPr sz="2800" dirty="0">
                <a:latin typeface="Times New Roman"/>
                <a:cs typeface="Times New Roman"/>
              </a:rPr>
              <a:t>bio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diversity.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670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main </a:t>
            </a:r>
            <a:r>
              <a:rPr sz="2800" spc="-5" dirty="0">
                <a:latin typeface="Times New Roman"/>
                <a:cs typeface="Times New Roman"/>
              </a:rPr>
              <a:t>source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5" dirty="0">
                <a:latin typeface="Times New Roman"/>
                <a:cs typeface="Times New Roman"/>
              </a:rPr>
              <a:t>energy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ecosystem </a:t>
            </a:r>
            <a:r>
              <a:rPr sz="2800" spc="-5" dirty="0">
                <a:latin typeface="Times New Roman"/>
                <a:cs typeface="Times New Roman"/>
              </a:rPr>
              <a:t>is  sunlight. </a:t>
            </a:r>
            <a:r>
              <a:rPr sz="2800" dirty="0">
                <a:latin typeface="Times New Roman"/>
                <a:cs typeface="Times New Roman"/>
              </a:rPr>
              <a:t>About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80% of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energy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is lost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during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flow </a:t>
            </a:r>
            <a:r>
              <a:rPr sz="2800" spc="10" dirty="0">
                <a:solidFill>
                  <a:srgbClr val="FF0000"/>
                </a:solidFill>
                <a:latin typeface="Times New Roman"/>
                <a:cs typeface="Times New Roman"/>
              </a:rPr>
              <a:t>of 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from </a:t>
            </a:r>
            <a:r>
              <a:rPr sz="2800" dirty="0">
                <a:latin typeface="Times New Roman"/>
                <a:cs typeface="Times New Roman"/>
              </a:rPr>
              <a:t>one tropic </a:t>
            </a:r>
            <a:r>
              <a:rPr sz="2800" spc="-5" dirty="0">
                <a:latin typeface="Times New Roman"/>
                <a:cs typeface="Times New Roman"/>
              </a:rPr>
              <a:t>level to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next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8429" y="57353"/>
            <a:ext cx="3787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 </a:t>
            </a:r>
            <a:r>
              <a:rPr sz="4400" spc="-70" dirty="0"/>
              <a:t>Water</a:t>
            </a:r>
            <a:r>
              <a:rPr sz="4400" spc="-190" dirty="0"/>
              <a:t> </a:t>
            </a:r>
            <a:r>
              <a:rPr sz="4400" dirty="0"/>
              <a:t>Cycle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304800" y="838200"/>
            <a:ext cx="8610600" cy="5334000"/>
            <a:chOff x="304800" y="838200"/>
            <a:chExt cx="8610600" cy="5334000"/>
          </a:xfrm>
        </p:grpSpPr>
        <p:sp>
          <p:nvSpPr>
            <p:cNvPr id="4" name="object 4"/>
            <p:cNvSpPr/>
            <p:nvPr/>
          </p:nvSpPr>
          <p:spPr>
            <a:xfrm>
              <a:off x="304800" y="838200"/>
              <a:ext cx="8610600" cy="5334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000" y="2133600"/>
              <a:ext cx="8382000" cy="2362200"/>
            </a:xfrm>
            <a:custGeom>
              <a:avLst/>
              <a:gdLst/>
              <a:ahLst/>
              <a:cxnLst/>
              <a:rect l="l" t="t" r="r" b="b"/>
              <a:pathLst>
                <a:path w="8382000" h="2362200">
                  <a:moveTo>
                    <a:pt x="6934200" y="1181100"/>
                  </a:moveTo>
                  <a:lnTo>
                    <a:pt x="6935085" y="1122153"/>
                  </a:lnTo>
                  <a:lnTo>
                    <a:pt x="6937716" y="1063955"/>
                  </a:lnTo>
                  <a:lnTo>
                    <a:pt x="6942049" y="1006572"/>
                  </a:lnTo>
                  <a:lnTo>
                    <a:pt x="6948043" y="950073"/>
                  </a:lnTo>
                  <a:lnTo>
                    <a:pt x="6955657" y="894524"/>
                  </a:lnTo>
                  <a:lnTo>
                    <a:pt x="6964849" y="839994"/>
                  </a:lnTo>
                  <a:lnTo>
                    <a:pt x="6975578" y="786550"/>
                  </a:lnTo>
                  <a:lnTo>
                    <a:pt x="6987803" y="734260"/>
                  </a:lnTo>
                  <a:lnTo>
                    <a:pt x="7001481" y="683191"/>
                  </a:lnTo>
                  <a:lnTo>
                    <a:pt x="7016572" y="633412"/>
                  </a:lnTo>
                  <a:lnTo>
                    <a:pt x="7033034" y="584990"/>
                  </a:lnTo>
                  <a:lnTo>
                    <a:pt x="7050825" y="537992"/>
                  </a:lnTo>
                  <a:lnTo>
                    <a:pt x="7069904" y="492487"/>
                  </a:lnTo>
                  <a:lnTo>
                    <a:pt x="7090230" y="448542"/>
                  </a:lnTo>
                  <a:lnTo>
                    <a:pt x="7111761" y="406224"/>
                  </a:lnTo>
                  <a:lnTo>
                    <a:pt x="7134455" y="365602"/>
                  </a:lnTo>
                  <a:lnTo>
                    <a:pt x="7158272" y="326743"/>
                  </a:lnTo>
                  <a:lnTo>
                    <a:pt x="7183169" y="289714"/>
                  </a:lnTo>
                  <a:lnTo>
                    <a:pt x="7209105" y="254584"/>
                  </a:lnTo>
                  <a:lnTo>
                    <a:pt x="7236039" y="221420"/>
                  </a:lnTo>
                  <a:lnTo>
                    <a:pt x="7263930" y="190290"/>
                  </a:lnTo>
                  <a:lnTo>
                    <a:pt x="7292735" y="161261"/>
                  </a:lnTo>
                  <a:lnTo>
                    <a:pt x="7322413" y="134402"/>
                  </a:lnTo>
                  <a:lnTo>
                    <a:pt x="7352923" y="109779"/>
                  </a:lnTo>
                  <a:lnTo>
                    <a:pt x="7384223" y="87461"/>
                  </a:lnTo>
                  <a:lnTo>
                    <a:pt x="7449029" y="50009"/>
                  </a:lnTo>
                  <a:lnTo>
                    <a:pt x="7516498" y="22587"/>
                  </a:lnTo>
                  <a:lnTo>
                    <a:pt x="7586299" y="5737"/>
                  </a:lnTo>
                  <a:lnTo>
                    <a:pt x="7658100" y="0"/>
                  </a:lnTo>
                  <a:lnTo>
                    <a:pt x="7694229" y="1445"/>
                  </a:lnTo>
                  <a:lnTo>
                    <a:pt x="7765071" y="12806"/>
                  </a:lnTo>
                  <a:lnTo>
                    <a:pt x="7833748" y="35010"/>
                  </a:lnTo>
                  <a:lnTo>
                    <a:pt x="7899927" y="67515"/>
                  </a:lnTo>
                  <a:lnTo>
                    <a:pt x="7963276" y="109779"/>
                  </a:lnTo>
                  <a:lnTo>
                    <a:pt x="7993786" y="134402"/>
                  </a:lnTo>
                  <a:lnTo>
                    <a:pt x="8023464" y="161261"/>
                  </a:lnTo>
                  <a:lnTo>
                    <a:pt x="8052269" y="190290"/>
                  </a:lnTo>
                  <a:lnTo>
                    <a:pt x="8080160" y="221420"/>
                  </a:lnTo>
                  <a:lnTo>
                    <a:pt x="8107094" y="254584"/>
                  </a:lnTo>
                  <a:lnTo>
                    <a:pt x="8133030" y="289714"/>
                  </a:lnTo>
                  <a:lnTo>
                    <a:pt x="8157927" y="326743"/>
                  </a:lnTo>
                  <a:lnTo>
                    <a:pt x="8181744" y="365602"/>
                  </a:lnTo>
                  <a:lnTo>
                    <a:pt x="8204438" y="406224"/>
                  </a:lnTo>
                  <a:lnTo>
                    <a:pt x="8225969" y="448542"/>
                  </a:lnTo>
                  <a:lnTo>
                    <a:pt x="8246295" y="492487"/>
                  </a:lnTo>
                  <a:lnTo>
                    <a:pt x="8265374" y="537992"/>
                  </a:lnTo>
                  <a:lnTo>
                    <a:pt x="8283165" y="584990"/>
                  </a:lnTo>
                  <a:lnTo>
                    <a:pt x="8299627" y="633412"/>
                  </a:lnTo>
                  <a:lnTo>
                    <a:pt x="8314718" y="683191"/>
                  </a:lnTo>
                  <a:lnTo>
                    <a:pt x="8328396" y="734260"/>
                  </a:lnTo>
                  <a:lnTo>
                    <a:pt x="8340621" y="786550"/>
                  </a:lnTo>
                  <a:lnTo>
                    <a:pt x="8351350" y="839994"/>
                  </a:lnTo>
                  <a:lnTo>
                    <a:pt x="8360542" y="894524"/>
                  </a:lnTo>
                  <a:lnTo>
                    <a:pt x="8368156" y="950073"/>
                  </a:lnTo>
                  <a:lnTo>
                    <a:pt x="8374150" y="1006572"/>
                  </a:lnTo>
                  <a:lnTo>
                    <a:pt x="8378483" y="1063955"/>
                  </a:lnTo>
                  <a:lnTo>
                    <a:pt x="8381114" y="1122153"/>
                  </a:lnTo>
                  <a:lnTo>
                    <a:pt x="8382000" y="1181100"/>
                  </a:lnTo>
                  <a:lnTo>
                    <a:pt x="8381114" y="1240046"/>
                  </a:lnTo>
                  <a:lnTo>
                    <a:pt x="8378483" y="1298244"/>
                  </a:lnTo>
                  <a:lnTo>
                    <a:pt x="8374150" y="1355627"/>
                  </a:lnTo>
                  <a:lnTo>
                    <a:pt x="8368156" y="1412126"/>
                  </a:lnTo>
                  <a:lnTo>
                    <a:pt x="8360542" y="1467675"/>
                  </a:lnTo>
                  <a:lnTo>
                    <a:pt x="8351350" y="1522205"/>
                  </a:lnTo>
                  <a:lnTo>
                    <a:pt x="8340621" y="1575649"/>
                  </a:lnTo>
                  <a:lnTo>
                    <a:pt x="8328396" y="1627939"/>
                  </a:lnTo>
                  <a:lnTo>
                    <a:pt x="8314718" y="1679008"/>
                  </a:lnTo>
                  <a:lnTo>
                    <a:pt x="8299627" y="1728787"/>
                  </a:lnTo>
                  <a:lnTo>
                    <a:pt x="8283165" y="1777209"/>
                  </a:lnTo>
                  <a:lnTo>
                    <a:pt x="8265374" y="1824207"/>
                  </a:lnTo>
                  <a:lnTo>
                    <a:pt x="8246295" y="1869712"/>
                  </a:lnTo>
                  <a:lnTo>
                    <a:pt x="8225969" y="1913657"/>
                  </a:lnTo>
                  <a:lnTo>
                    <a:pt x="8204438" y="1955975"/>
                  </a:lnTo>
                  <a:lnTo>
                    <a:pt x="8181744" y="1996597"/>
                  </a:lnTo>
                  <a:lnTo>
                    <a:pt x="8157927" y="2035456"/>
                  </a:lnTo>
                  <a:lnTo>
                    <a:pt x="8133030" y="2072485"/>
                  </a:lnTo>
                  <a:lnTo>
                    <a:pt x="8107094" y="2107615"/>
                  </a:lnTo>
                  <a:lnTo>
                    <a:pt x="8080160" y="2140779"/>
                  </a:lnTo>
                  <a:lnTo>
                    <a:pt x="8052269" y="2171909"/>
                  </a:lnTo>
                  <a:lnTo>
                    <a:pt x="8023464" y="2200938"/>
                  </a:lnTo>
                  <a:lnTo>
                    <a:pt x="7993786" y="2227797"/>
                  </a:lnTo>
                  <a:lnTo>
                    <a:pt x="7963276" y="2252420"/>
                  </a:lnTo>
                  <a:lnTo>
                    <a:pt x="7931976" y="2274738"/>
                  </a:lnTo>
                  <a:lnTo>
                    <a:pt x="7867170" y="2312190"/>
                  </a:lnTo>
                  <a:lnTo>
                    <a:pt x="7799701" y="2339612"/>
                  </a:lnTo>
                  <a:lnTo>
                    <a:pt x="7729900" y="2356462"/>
                  </a:lnTo>
                  <a:lnTo>
                    <a:pt x="7658100" y="2362200"/>
                  </a:lnTo>
                  <a:lnTo>
                    <a:pt x="7621970" y="2360754"/>
                  </a:lnTo>
                  <a:lnTo>
                    <a:pt x="7551128" y="2349393"/>
                  </a:lnTo>
                  <a:lnTo>
                    <a:pt x="7482451" y="2327189"/>
                  </a:lnTo>
                  <a:lnTo>
                    <a:pt x="7416272" y="2294684"/>
                  </a:lnTo>
                  <a:lnTo>
                    <a:pt x="7352923" y="2252420"/>
                  </a:lnTo>
                  <a:lnTo>
                    <a:pt x="7322413" y="2227797"/>
                  </a:lnTo>
                  <a:lnTo>
                    <a:pt x="7292735" y="2200938"/>
                  </a:lnTo>
                  <a:lnTo>
                    <a:pt x="7263930" y="2171909"/>
                  </a:lnTo>
                  <a:lnTo>
                    <a:pt x="7236039" y="2140779"/>
                  </a:lnTo>
                  <a:lnTo>
                    <a:pt x="7209105" y="2107615"/>
                  </a:lnTo>
                  <a:lnTo>
                    <a:pt x="7183169" y="2072485"/>
                  </a:lnTo>
                  <a:lnTo>
                    <a:pt x="7158272" y="2035456"/>
                  </a:lnTo>
                  <a:lnTo>
                    <a:pt x="7134455" y="1996597"/>
                  </a:lnTo>
                  <a:lnTo>
                    <a:pt x="7111761" y="1955975"/>
                  </a:lnTo>
                  <a:lnTo>
                    <a:pt x="7090230" y="1913657"/>
                  </a:lnTo>
                  <a:lnTo>
                    <a:pt x="7069904" y="1869712"/>
                  </a:lnTo>
                  <a:lnTo>
                    <a:pt x="7050825" y="1824207"/>
                  </a:lnTo>
                  <a:lnTo>
                    <a:pt x="7033034" y="1777209"/>
                  </a:lnTo>
                  <a:lnTo>
                    <a:pt x="7016572" y="1728787"/>
                  </a:lnTo>
                  <a:lnTo>
                    <a:pt x="7001481" y="1679008"/>
                  </a:lnTo>
                  <a:lnTo>
                    <a:pt x="6987803" y="1627939"/>
                  </a:lnTo>
                  <a:lnTo>
                    <a:pt x="6975578" y="1575649"/>
                  </a:lnTo>
                  <a:lnTo>
                    <a:pt x="6964849" y="1522205"/>
                  </a:lnTo>
                  <a:lnTo>
                    <a:pt x="6955657" y="1467675"/>
                  </a:lnTo>
                  <a:lnTo>
                    <a:pt x="6948043" y="1412126"/>
                  </a:lnTo>
                  <a:lnTo>
                    <a:pt x="6942049" y="1355627"/>
                  </a:lnTo>
                  <a:lnTo>
                    <a:pt x="6937716" y="1298244"/>
                  </a:lnTo>
                  <a:lnTo>
                    <a:pt x="6935085" y="1240046"/>
                  </a:lnTo>
                  <a:lnTo>
                    <a:pt x="6934200" y="1181100"/>
                  </a:lnTo>
                  <a:close/>
                </a:path>
                <a:path w="8382000" h="2362200">
                  <a:moveTo>
                    <a:pt x="0" y="1104900"/>
                  </a:moveTo>
                  <a:lnTo>
                    <a:pt x="950" y="1046218"/>
                  </a:lnTo>
                  <a:lnTo>
                    <a:pt x="3770" y="988334"/>
                  </a:lnTo>
                  <a:lnTo>
                    <a:pt x="8413" y="931325"/>
                  </a:lnTo>
                  <a:lnTo>
                    <a:pt x="14830" y="875266"/>
                  </a:lnTo>
                  <a:lnTo>
                    <a:pt x="22975" y="820235"/>
                  </a:lnTo>
                  <a:lnTo>
                    <a:pt x="32800" y="766306"/>
                  </a:lnTo>
                  <a:lnTo>
                    <a:pt x="44258" y="713557"/>
                  </a:lnTo>
                  <a:lnTo>
                    <a:pt x="57300" y="662065"/>
                  </a:lnTo>
                  <a:lnTo>
                    <a:pt x="71881" y="611904"/>
                  </a:lnTo>
                  <a:lnTo>
                    <a:pt x="87952" y="563153"/>
                  </a:lnTo>
                  <a:lnTo>
                    <a:pt x="105467" y="515886"/>
                  </a:lnTo>
                  <a:lnTo>
                    <a:pt x="124376" y="470181"/>
                  </a:lnTo>
                  <a:lnTo>
                    <a:pt x="144635" y="426114"/>
                  </a:lnTo>
                  <a:lnTo>
                    <a:pt x="166194" y="383760"/>
                  </a:lnTo>
                  <a:lnTo>
                    <a:pt x="189006" y="343197"/>
                  </a:lnTo>
                  <a:lnTo>
                    <a:pt x="213025" y="304502"/>
                  </a:lnTo>
                  <a:lnTo>
                    <a:pt x="238202" y="267749"/>
                  </a:lnTo>
                  <a:lnTo>
                    <a:pt x="264490" y="233015"/>
                  </a:lnTo>
                  <a:lnTo>
                    <a:pt x="291843" y="200378"/>
                  </a:lnTo>
                  <a:lnTo>
                    <a:pt x="320211" y="169913"/>
                  </a:lnTo>
                  <a:lnTo>
                    <a:pt x="349549" y="141696"/>
                  </a:lnTo>
                  <a:lnTo>
                    <a:pt x="379809" y="115805"/>
                  </a:lnTo>
                  <a:lnTo>
                    <a:pt x="410943" y="92314"/>
                  </a:lnTo>
                  <a:lnTo>
                    <a:pt x="442903" y="71302"/>
                  </a:lnTo>
                  <a:lnTo>
                    <a:pt x="509116" y="37014"/>
                  </a:lnTo>
                  <a:lnTo>
                    <a:pt x="578067" y="13554"/>
                  </a:lnTo>
                  <a:lnTo>
                    <a:pt x="649378" y="1531"/>
                  </a:lnTo>
                  <a:lnTo>
                    <a:pt x="685800" y="0"/>
                  </a:lnTo>
                  <a:lnTo>
                    <a:pt x="722218" y="1531"/>
                  </a:lnTo>
                  <a:lnTo>
                    <a:pt x="793523" y="13554"/>
                  </a:lnTo>
                  <a:lnTo>
                    <a:pt x="862470" y="37014"/>
                  </a:lnTo>
                  <a:lnTo>
                    <a:pt x="928680" y="71302"/>
                  </a:lnTo>
                  <a:lnTo>
                    <a:pt x="960640" y="92314"/>
                  </a:lnTo>
                  <a:lnTo>
                    <a:pt x="991773" y="115805"/>
                  </a:lnTo>
                  <a:lnTo>
                    <a:pt x="1022033" y="141696"/>
                  </a:lnTo>
                  <a:lnTo>
                    <a:pt x="1051371" y="169913"/>
                  </a:lnTo>
                  <a:lnTo>
                    <a:pt x="1079740" y="200378"/>
                  </a:lnTo>
                  <a:lnTo>
                    <a:pt x="1107093" y="233015"/>
                  </a:lnTo>
                  <a:lnTo>
                    <a:pt x="1133382" y="267749"/>
                  </a:lnTo>
                  <a:lnTo>
                    <a:pt x="1158560" y="304502"/>
                  </a:lnTo>
                  <a:lnTo>
                    <a:pt x="1182579" y="343197"/>
                  </a:lnTo>
                  <a:lnTo>
                    <a:pt x="1205393" y="383760"/>
                  </a:lnTo>
                  <a:lnTo>
                    <a:pt x="1226953" y="426114"/>
                  </a:lnTo>
                  <a:lnTo>
                    <a:pt x="1247212" y="470181"/>
                  </a:lnTo>
                  <a:lnTo>
                    <a:pt x="1266123" y="515886"/>
                  </a:lnTo>
                  <a:lnTo>
                    <a:pt x="1283639" y="563153"/>
                  </a:lnTo>
                  <a:lnTo>
                    <a:pt x="1299711" y="611904"/>
                  </a:lnTo>
                  <a:lnTo>
                    <a:pt x="1314293" y="662065"/>
                  </a:lnTo>
                  <a:lnTo>
                    <a:pt x="1327337" y="713557"/>
                  </a:lnTo>
                  <a:lnTo>
                    <a:pt x="1338795" y="766306"/>
                  </a:lnTo>
                  <a:lnTo>
                    <a:pt x="1348621" y="820235"/>
                  </a:lnTo>
                  <a:lnTo>
                    <a:pt x="1356767" y="875266"/>
                  </a:lnTo>
                  <a:lnTo>
                    <a:pt x="1363185" y="931325"/>
                  </a:lnTo>
                  <a:lnTo>
                    <a:pt x="1367828" y="988334"/>
                  </a:lnTo>
                  <a:lnTo>
                    <a:pt x="1370649" y="1046218"/>
                  </a:lnTo>
                  <a:lnTo>
                    <a:pt x="1371600" y="1104900"/>
                  </a:lnTo>
                  <a:lnTo>
                    <a:pt x="1370649" y="1163581"/>
                  </a:lnTo>
                  <a:lnTo>
                    <a:pt x="1367828" y="1221465"/>
                  </a:lnTo>
                  <a:lnTo>
                    <a:pt x="1363185" y="1278474"/>
                  </a:lnTo>
                  <a:lnTo>
                    <a:pt x="1356767" y="1334533"/>
                  </a:lnTo>
                  <a:lnTo>
                    <a:pt x="1348621" y="1389564"/>
                  </a:lnTo>
                  <a:lnTo>
                    <a:pt x="1338795" y="1443493"/>
                  </a:lnTo>
                  <a:lnTo>
                    <a:pt x="1327337" y="1496242"/>
                  </a:lnTo>
                  <a:lnTo>
                    <a:pt x="1314293" y="1547734"/>
                  </a:lnTo>
                  <a:lnTo>
                    <a:pt x="1299711" y="1597895"/>
                  </a:lnTo>
                  <a:lnTo>
                    <a:pt x="1283639" y="1646646"/>
                  </a:lnTo>
                  <a:lnTo>
                    <a:pt x="1266123" y="1693913"/>
                  </a:lnTo>
                  <a:lnTo>
                    <a:pt x="1247212" y="1739618"/>
                  </a:lnTo>
                  <a:lnTo>
                    <a:pt x="1226953" y="1783685"/>
                  </a:lnTo>
                  <a:lnTo>
                    <a:pt x="1205393" y="1826039"/>
                  </a:lnTo>
                  <a:lnTo>
                    <a:pt x="1182579" y="1866602"/>
                  </a:lnTo>
                  <a:lnTo>
                    <a:pt x="1158560" y="1905297"/>
                  </a:lnTo>
                  <a:lnTo>
                    <a:pt x="1133382" y="1942050"/>
                  </a:lnTo>
                  <a:lnTo>
                    <a:pt x="1107093" y="1976784"/>
                  </a:lnTo>
                  <a:lnTo>
                    <a:pt x="1079740" y="2009421"/>
                  </a:lnTo>
                  <a:lnTo>
                    <a:pt x="1051371" y="2039886"/>
                  </a:lnTo>
                  <a:lnTo>
                    <a:pt x="1022033" y="2068103"/>
                  </a:lnTo>
                  <a:lnTo>
                    <a:pt x="991773" y="2093994"/>
                  </a:lnTo>
                  <a:lnTo>
                    <a:pt x="960640" y="2117485"/>
                  </a:lnTo>
                  <a:lnTo>
                    <a:pt x="928680" y="2138497"/>
                  </a:lnTo>
                  <a:lnTo>
                    <a:pt x="862470" y="2172785"/>
                  </a:lnTo>
                  <a:lnTo>
                    <a:pt x="793523" y="2196245"/>
                  </a:lnTo>
                  <a:lnTo>
                    <a:pt x="722218" y="2208268"/>
                  </a:lnTo>
                  <a:lnTo>
                    <a:pt x="685800" y="2209800"/>
                  </a:lnTo>
                  <a:lnTo>
                    <a:pt x="649378" y="2208268"/>
                  </a:lnTo>
                  <a:lnTo>
                    <a:pt x="578067" y="2196245"/>
                  </a:lnTo>
                  <a:lnTo>
                    <a:pt x="509116" y="2172785"/>
                  </a:lnTo>
                  <a:lnTo>
                    <a:pt x="442903" y="2138497"/>
                  </a:lnTo>
                  <a:lnTo>
                    <a:pt x="410943" y="2117485"/>
                  </a:lnTo>
                  <a:lnTo>
                    <a:pt x="379809" y="2093994"/>
                  </a:lnTo>
                  <a:lnTo>
                    <a:pt x="349549" y="2068103"/>
                  </a:lnTo>
                  <a:lnTo>
                    <a:pt x="320211" y="2039886"/>
                  </a:lnTo>
                  <a:lnTo>
                    <a:pt x="291843" y="2009421"/>
                  </a:lnTo>
                  <a:lnTo>
                    <a:pt x="264490" y="1976784"/>
                  </a:lnTo>
                  <a:lnTo>
                    <a:pt x="238202" y="1942050"/>
                  </a:lnTo>
                  <a:lnTo>
                    <a:pt x="213025" y="1905297"/>
                  </a:lnTo>
                  <a:lnTo>
                    <a:pt x="189006" y="1866602"/>
                  </a:lnTo>
                  <a:lnTo>
                    <a:pt x="166194" y="1826039"/>
                  </a:lnTo>
                  <a:lnTo>
                    <a:pt x="144635" y="1783685"/>
                  </a:lnTo>
                  <a:lnTo>
                    <a:pt x="124376" y="1739618"/>
                  </a:lnTo>
                  <a:lnTo>
                    <a:pt x="105467" y="1693913"/>
                  </a:lnTo>
                  <a:lnTo>
                    <a:pt x="87952" y="1646646"/>
                  </a:lnTo>
                  <a:lnTo>
                    <a:pt x="71881" y="1597895"/>
                  </a:lnTo>
                  <a:lnTo>
                    <a:pt x="57300" y="1547734"/>
                  </a:lnTo>
                  <a:lnTo>
                    <a:pt x="44258" y="1496242"/>
                  </a:lnTo>
                  <a:lnTo>
                    <a:pt x="32800" y="1443493"/>
                  </a:lnTo>
                  <a:lnTo>
                    <a:pt x="22975" y="1389564"/>
                  </a:lnTo>
                  <a:lnTo>
                    <a:pt x="14830" y="1334533"/>
                  </a:lnTo>
                  <a:lnTo>
                    <a:pt x="8413" y="1278474"/>
                  </a:lnTo>
                  <a:lnTo>
                    <a:pt x="3770" y="1221465"/>
                  </a:lnTo>
                  <a:lnTo>
                    <a:pt x="950" y="1163581"/>
                  </a:lnTo>
                  <a:lnTo>
                    <a:pt x="0" y="1104900"/>
                  </a:lnTo>
                  <a:close/>
                </a:path>
              </a:pathLst>
            </a:custGeom>
            <a:ln w="579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773" y="0"/>
            <a:ext cx="3709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Global Carbon</a:t>
            </a:r>
            <a:r>
              <a:rPr sz="32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Cycle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12809" y="6402425"/>
            <a:ext cx="522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Carlito"/>
                <a:cs typeface="Carlito"/>
              </a:rPr>
              <a:t>3/12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799" y="533531"/>
            <a:ext cx="8610069" cy="517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0739" y="5741619"/>
            <a:ext cx="71939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Carbon is exchanged </a:t>
            </a:r>
            <a:r>
              <a:rPr sz="1800" b="1" dirty="0">
                <a:latin typeface="Times New Roman"/>
                <a:cs typeface="Times New Roman"/>
              </a:rPr>
              <a:t>between </a:t>
            </a:r>
            <a:r>
              <a:rPr sz="1800" b="1" spc="-5" dirty="0">
                <a:latin typeface="Times New Roman"/>
                <a:cs typeface="Times New Roman"/>
              </a:rPr>
              <a:t>the </a:t>
            </a:r>
            <a:r>
              <a:rPr sz="1800" b="1" dirty="0">
                <a:latin typeface="Times New Roman"/>
                <a:cs typeface="Times New Roman"/>
              </a:rPr>
              <a:t>active </a:t>
            </a:r>
            <a:r>
              <a:rPr sz="1800" b="1" spc="-5" dirty="0">
                <a:latin typeface="Times New Roman"/>
                <a:cs typeface="Times New Roman"/>
              </a:rPr>
              <a:t>pools due </a:t>
            </a:r>
            <a:r>
              <a:rPr sz="1800" b="1" dirty="0">
                <a:latin typeface="Times New Roman"/>
                <a:cs typeface="Times New Roman"/>
              </a:rPr>
              <a:t>to various </a:t>
            </a:r>
            <a:r>
              <a:rPr sz="1800" b="1" spc="-10" dirty="0">
                <a:latin typeface="Times New Roman"/>
                <a:cs typeface="Times New Roman"/>
              </a:rPr>
              <a:t>processes </a:t>
            </a:r>
            <a:r>
              <a:rPr sz="1800" b="1" dirty="0">
                <a:latin typeface="Times New Roman"/>
                <a:cs typeface="Times New Roman"/>
              </a:rPr>
              <a:t>–  </a:t>
            </a:r>
            <a:r>
              <a:rPr sz="1800" b="1" spc="-5" dirty="0">
                <a:latin typeface="Times New Roman"/>
                <a:cs typeface="Times New Roman"/>
              </a:rPr>
              <a:t>photosynthesis and respiration </a:t>
            </a:r>
            <a:r>
              <a:rPr sz="1800" b="1" dirty="0">
                <a:latin typeface="Times New Roman"/>
                <a:cs typeface="Times New Roman"/>
              </a:rPr>
              <a:t>between </a:t>
            </a:r>
            <a:r>
              <a:rPr sz="1800" b="1" spc="-5" dirty="0">
                <a:latin typeface="Times New Roman"/>
                <a:cs typeface="Times New Roman"/>
              </a:rPr>
              <a:t>the land and the atmosphere, and  diffusion </a:t>
            </a:r>
            <a:r>
              <a:rPr sz="1800" b="1" dirty="0">
                <a:latin typeface="Times New Roman"/>
                <a:cs typeface="Times New Roman"/>
              </a:rPr>
              <a:t>between </a:t>
            </a:r>
            <a:r>
              <a:rPr sz="1800" b="1" spc="-5" dirty="0">
                <a:latin typeface="Times New Roman"/>
                <a:cs typeface="Times New Roman"/>
              </a:rPr>
              <a:t>the </a:t>
            </a:r>
            <a:r>
              <a:rPr sz="1800" b="1" dirty="0">
                <a:latin typeface="Times New Roman"/>
                <a:cs typeface="Times New Roman"/>
              </a:rPr>
              <a:t>ocean </a:t>
            </a:r>
            <a:r>
              <a:rPr sz="1800" b="1" spc="-5" dirty="0">
                <a:latin typeface="Times New Roman"/>
                <a:cs typeface="Times New Roman"/>
              </a:rPr>
              <a:t>and the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atmosphere.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5120" y="60959"/>
            <a:ext cx="8453120" cy="652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173" y="192735"/>
            <a:ext cx="4088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 N </a:t>
            </a:r>
            <a:r>
              <a:rPr sz="3600" spc="-5" dirty="0"/>
              <a:t>cycle </a:t>
            </a:r>
            <a:r>
              <a:rPr sz="3600" dirty="0"/>
              <a:t>over</a:t>
            </a:r>
            <a:r>
              <a:rPr sz="3600" spc="-60" dirty="0"/>
              <a:t> </a:t>
            </a:r>
            <a:r>
              <a:rPr sz="3600" spc="-5" dirty="0"/>
              <a:t>land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57200" y="990600"/>
            <a:ext cx="8229600" cy="563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40" y="0"/>
            <a:ext cx="87376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5397" y="269494"/>
            <a:ext cx="216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 </a:t>
            </a:r>
            <a:r>
              <a:rPr sz="3600" spc="-5" dirty="0"/>
              <a:t>P</a:t>
            </a:r>
            <a:r>
              <a:rPr sz="3600" spc="-225" dirty="0"/>
              <a:t> </a:t>
            </a:r>
            <a:r>
              <a:rPr sz="3600" dirty="0"/>
              <a:t>cycle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0" y="990598"/>
            <a:ext cx="9144000" cy="58673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5120" y="0"/>
            <a:ext cx="8818880" cy="68275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0870" y="512191"/>
            <a:ext cx="2841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Tropic</a:t>
            </a:r>
            <a:r>
              <a:rPr spc="-55" dirty="0"/>
              <a:t> </a:t>
            </a:r>
            <a:r>
              <a:rPr spc="-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2420" y="1666697"/>
            <a:ext cx="7426959" cy="35680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3655" marR="5080" indent="48260" algn="just">
              <a:lnSpc>
                <a:spcPct val="90000"/>
              </a:lnSpc>
              <a:spcBef>
                <a:spcPts val="434"/>
              </a:spcBef>
            </a:pPr>
            <a:r>
              <a:rPr sz="2800" b="1" spc="-5" dirty="0">
                <a:solidFill>
                  <a:srgbClr val="244060"/>
                </a:solidFill>
                <a:latin typeface="Times New Roman"/>
                <a:cs typeface="Times New Roman"/>
              </a:rPr>
              <a:t>A </a:t>
            </a:r>
            <a:r>
              <a:rPr sz="2800" b="1" spc="-10" dirty="0">
                <a:solidFill>
                  <a:srgbClr val="244060"/>
                </a:solidFill>
                <a:latin typeface="Times New Roman"/>
                <a:cs typeface="Times New Roman"/>
              </a:rPr>
              <a:t>tropic </a:t>
            </a:r>
            <a:r>
              <a:rPr sz="2800" b="1" spc="-5" dirty="0">
                <a:solidFill>
                  <a:srgbClr val="244060"/>
                </a:solidFill>
                <a:latin typeface="Times New Roman"/>
                <a:cs typeface="Times New Roman"/>
              </a:rPr>
              <a:t>level </a:t>
            </a:r>
            <a:r>
              <a:rPr sz="2800" b="1" spc="-10" dirty="0">
                <a:solidFill>
                  <a:srgbClr val="244060"/>
                </a:solidFill>
                <a:latin typeface="Times New Roman"/>
                <a:cs typeface="Times New Roman"/>
              </a:rPr>
              <a:t>is </a:t>
            </a:r>
            <a:r>
              <a:rPr sz="2800" b="1" spc="-5" dirty="0">
                <a:solidFill>
                  <a:srgbClr val="244060"/>
                </a:solidFill>
                <a:latin typeface="Times New Roman"/>
                <a:cs typeface="Times New Roman"/>
              </a:rPr>
              <a:t>the position occupied by an  organism in a food </a:t>
            </a:r>
            <a:r>
              <a:rPr sz="2800" b="1" dirty="0">
                <a:solidFill>
                  <a:srgbClr val="244060"/>
                </a:solidFill>
                <a:latin typeface="Times New Roman"/>
                <a:cs typeface="Times New Roman"/>
              </a:rPr>
              <a:t>chain. </a:t>
            </a:r>
            <a:r>
              <a:rPr sz="2800" b="1" spc="-50" dirty="0">
                <a:solidFill>
                  <a:srgbClr val="244060"/>
                </a:solidFill>
                <a:latin typeface="Times New Roman"/>
                <a:cs typeface="Times New Roman"/>
              </a:rPr>
              <a:t>Tropic </a:t>
            </a:r>
            <a:r>
              <a:rPr sz="2800" b="1" spc="-5" dirty="0">
                <a:solidFill>
                  <a:srgbClr val="244060"/>
                </a:solidFill>
                <a:latin typeface="Times New Roman"/>
                <a:cs typeface="Times New Roman"/>
              </a:rPr>
              <a:t>levels can </a:t>
            </a:r>
            <a:r>
              <a:rPr sz="2800" b="1" dirty="0">
                <a:solidFill>
                  <a:srgbClr val="244060"/>
                </a:solidFill>
                <a:latin typeface="Times New Roman"/>
                <a:cs typeface="Times New Roman"/>
              </a:rPr>
              <a:t>be  </a:t>
            </a:r>
            <a:r>
              <a:rPr sz="2800" b="1" spc="-5" dirty="0">
                <a:solidFill>
                  <a:srgbClr val="244060"/>
                </a:solidFill>
                <a:latin typeface="Times New Roman"/>
                <a:cs typeface="Times New Roman"/>
              </a:rPr>
              <a:t>analyzed </a:t>
            </a:r>
            <a:r>
              <a:rPr sz="2800" b="1" dirty="0">
                <a:solidFill>
                  <a:srgbClr val="244060"/>
                </a:solidFill>
                <a:latin typeface="Times New Roman"/>
                <a:cs typeface="Times New Roman"/>
              </a:rPr>
              <a:t>on an </a:t>
            </a:r>
            <a:r>
              <a:rPr sz="2800" b="1" spc="-5" dirty="0">
                <a:solidFill>
                  <a:srgbClr val="244060"/>
                </a:solidFill>
                <a:latin typeface="Times New Roman"/>
                <a:cs typeface="Times New Roman"/>
              </a:rPr>
              <a:t>energy</a:t>
            </a:r>
            <a:r>
              <a:rPr sz="2800" b="1" spc="25" dirty="0">
                <a:solidFill>
                  <a:srgbClr val="24406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244060"/>
                </a:solidFill>
                <a:latin typeface="Times New Roman"/>
                <a:cs typeface="Times New Roman"/>
              </a:rPr>
              <a:t>pyramid</a:t>
            </a:r>
            <a:r>
              <a:rPr sz="2800" spc="-5" dirty="0">
                <a:solidFill>
                  <a:srgbClr val="403052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buFont typeface="Wingdings"/>
              <a:buChar char=""/>
              <a:tabLst>
                <a:tab pos="527685" algn="l"/>
                <a:tab pos="528320" algn="l"/>
              </a:tabLst>
            </a:pPr>
            <a:r>
              <a:rPr sz="2800" b="1" spc="-10" dirty="0">
                <a:solidFill>
                  <a:srgbClr val="30859C"/>
                </a:solidFill>
                <a:latin typeface="Times New Roman"/>
                <a:cs typeface="Times New Roman"/>
              </a:rPr>
              <a:t>Producers </a:t>
            </a: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- First </a:t>
            </a:r>
            <a:r>
              <a:rPr sz="2800" b="1" spc="-10" dirty="0">
                <a:solidFill>
                  <a:srgbClr val="30859C"/>
                </a:solidFill>
                <a:latin typeface="Times New Roman"/>
                <a:cs typeface="Times New Roman"/>
              </a:rPr>
              <a:t>tropic</a:t>
            </a:r>
            <a:r>
              <a:rPr sz="2800" b="1" spc="25" dirty="0">
                <a:solidFill>
                  <a:srgbClr val="30859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level.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340"/>
              </a:spcBef>
              <a:buFont typeface="Wingdings"/>
              <a:buChar char=""/>
              <a:tabLst>
                <a:tab pos="527685" algn="l"/>
                <a:tab pos="528320" algn="l"/>
              </a:tabLst>
            </a:pP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Primary consumers - Second </a:t>
            </a:r>
            <a:r>
              <a:rPr sz="2800" b="1" spc="-10" dirty="0">
                <a:solidFill>
                  <a:srgbClr val="30859C"/>
                </a:solidFill>
                <a:latin typeface="Times New Roman"/>
                <a:cs typeface="Times New Roman"/>
              </a:rPr>
              <a:t>tropic</a:t>
            </a:r>
            <a:r>
              <a:rPr sz="2800" b="1" spc="50" dirty="0">
                <a:solidFill>
                  <a:srgbClr val="30859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level.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335"/>
              </a:spcBef>
              <a:buFont typeface="Wingdings"/>
              <a:buChar char=""/>
              <a:tabLst>
                <a:tab pos="527685" algn="l"/>
                <a:tab pos="528320" algn="l"/>
              </a:tabLst>
            </a:pP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Secondary consumers - Third </a:t>
            </a:r>
            <a:r>
              <a:rPr sz="2800" b="1" spc="-10" dirty="0">
                <a:solidFill>
                  <a:srgbClr val="30859C"/>
                </a:solidFill>
                <a:latin typeface="Times New Roman"/>
                <a:cs typeface="Times New Roman"/>
              </a:rPr>
              <a:t>tropic</a:t>
            </a:r>
            <a:r>
              <a:rPr sz="2800" b="1" spc="-15" dirty="0">
                <a:solidFill>
                  <a:srgbClr val="30859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level</a:t>
            </a:r>
            <a:r>
              <a:rPr sz="2800" spc="-5" dirty="0">
                <a:solidFill>
                  <a:srgbClr val="30859C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335"/>
              </a:spcBef>
              <a:buFont typeface="Wingdings"/>
              <a:buChar char=""/>
              <a:tabLst>
                <a:tab pos="527685" algn="l"/>
                <a:tab pos="528320" algn="l"/>
              </a:tabLst>
            </a:pPr>
            <a:r>
              <a:rPr sz="2800" b="1" spc="-35" dirty="0">
                <a:solidFill>
                  <a:srgbClr val="30859C"/>
                </a:solidFill>
                <a:latin typeface="Times New Roman"/>
                <a:cs typeface="Times New Roman"/>
              </a:rPr>
              <a:t>Tertiary </a:t>
            </a: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consumers - </a:t>
            </a:r>
            <a:r>
              <a:rPr sz="2800" b="1" spc="-90" dirty="0">
                <a:solidFill>
                  <a:srgbClr val="30859C"/>
                </a:solidFill>
                <a:latin typeface="Times New Roman"/>
                <a:cs typeface="Times New Roman"/>
              </a:rPr>
              <a:t>Top </a:t>
            </a:r>
            <a:r>
              <a:rPr sz="2800" b="1" spc="-10" dirty="0">
                <a:solidFill>
                  <a:srgbClr val="30859C"/>
                </a:solidFill>
                <a:latin typeface="Times New Roman"/>
                <a:cs typeface="Times New Roman"/>
              </a:rPr>
              <a:t>tropic</a:t>
            </a:r>
            <a:r>
              <a:rPr sz="2800" b="1" spc="145" dirty="0">
                <a:solidFill>
                  <a:srgbClr val="30859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0859C"/>
                </a:solidFill>
                <a:latin typeface="Times New Roman"/>
                <a:cs typeface="Times New Roman"/>
              </a:rPr>
              <a:t>level</a:t>
            </a:r>
            <a:r>
              <a:rPr sz="2800" spc="-5" dirty="0">
                <a:solidFill>
                  <a:srgbClr val="30859C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6957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26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28600"/>
            <a:ext cx="8763000" cy="6399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27989"/>
            <a:ext cx="55079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ECOLOGICAL</a:t>
            </a:r>
            <a:r>
              <a:rPr sz="3200" b="1" spc="-229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SUCCESSION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16254"/>
            <a:ext cx="8075295" cy="47612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marR="6350" indent="166370" algn="just">
              <a:lnSpc>
                <a:spcPct val="90600"/>
              </a:lnSpc>
              <a:spcBef>
                <a:spcPts val="409"/>
              </a:spcBef>
            </a:pPr>
            <a:r>
              <a:rPr sz="2800" spc="-5" dirty="0">
                <a:latin typeface="Times New Roman"/>
                <a:cs typeface="Times New Roman"/>
              </a:rPr>
              <a:t>In a particular area, </a:t>
            </a:r>
            <a:r>
              <a:rPr sz="2800" dirty="0">
                <a:latin typeface="Times New Roman"/>
                <a:cs typeface="Times New Roman"/>
              </a:rPr>
              <a:t>one </a:t>
            </a:r>
            <a:r>
              <a:rPr sz="2800" spc="-5" dirty="0">
                <a:latin typeface="Times New Roman"/>
                <a:cs typeface="Times New Roman"/>
              </a:rPr>
              <a:t>community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species </a:t>
            </a:r>
            <a:r>
              <a:rPr sz="2800" spc="-10" dirty="0">
                <a:latin typeface="Times New Roman"/>
                <a:cs typeface="Times New Roman"/>
              </a:rPr>
              <a:t>may 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replaced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5" dirty="0">
                <a:latin typeface="Times New Roman"/>
                <a:cs typeface="Times New Roman"/>
              </a:rPr>
              <a:t>another community;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progressive  replacement of one community by another </a:t>
            </a:r>
            <a:r>
              <a:rPr sz="2800" spc="-5" dirty="0">
                <a:latin typeface="Times New Roman"/>
                <a:cs typeface="Times New Roman"/>
              </a:rPr>
              <a:t>till </a:t>
            </a:r>
            <a:r>
              <a:rPr sz="2800" spc="-10" dirty="0">
                <a:latin typeface="Times New Roman"/>
                <a:cs typeface="Times New Roman"/>
              </a:rPr>
              <a:t>the  </a:t>
            </a:r>
            <a:r>
              <a:rPr sz="2800" spc="-5" dirty="0">
                <a:latin typeface="Times New Roman"/>
                <a:cs typeface="Times New Roman"/>
              </a:rPr>
              <a:t>development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stable community in a particular area  is called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ecological succession.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TYPES OF</a:t>
            </a:r>
            <a:r>
              <a:rPr sz="3200" b="1" spc="-1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SUCCESSION</a:t>
            </a:r>
            <a:endParaRPr sz="3200">
              <a:latin typeface="Times New Roman"/>
              <a:cs typeface="Times New Roman"/>
            </a:endParaRPr>
          </a:p>
          <a:p>
            <a:pPr marL="149225" algn="just">
              <a:lnSpc>
                <a:spcPct val="100000"/>
              </a:lnSpc>
              <a:spcBef>
                <a:spcPts val="385"/>
              </a:spcBef>
            </a:pPr>
            <a:r>
              <a:rPr sz="3200" b="1" dirty="0">
                <a:latin typeface="Times New Roman"/>
                <a:cs typeface="Times New Roman"/>
              </a:rPr>
              <a:t>1. Primary</a:t>
            </a:r>
            <a:r>
              <a:rPr sz="3200" b="1" spc="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succession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marR="5080" indent="1791970" algn="just">
              <a:lnSpc>
                <a:spcPct val="90900"/>
              </a:lnSpc>
              <a:spcBef>
                <a:spcPts val="1090"/>
              </a:spcBef>
            </a:pPr>
            <a:r>
              <a:rPr sz="2800" spc="-5" dirty="0">
                <a:latin typeface="Times New Roman"/>
                <a:cs typeface="Times New Roman"/>
              </a:rPr>
              <a:t>If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area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basic  environments (such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terrestrial, fresh-water </a:t>
            </a:r>
            <a:r>
              <a:rPr sz="2800" dirty="0">
                <a:latin typeface="Times New Roman"/>
                <a:cs typeface="Times New Roman"/>
              </a:rPr>
              <a:t>or  </a:t>
            </a:r>
            <a:r>
              <a:rPr sz="2800" spc="-5" dirty="0">
                <a:latin typeface="Times New Roman"/>
                <a:cs typeface="Times New Roman"/>
              </a:rPr>
              <a:t>marine) is colonized by </a:t>
            </a:r>
            <a:r>
              <a:rPr sz="2800" spc="-10" dirty="0">
                <a:latin typeface="Times New Roman"/>
                <a:cs typeface="Times New Roman"/>
              </a:rPr>
              <a:t>organisms </a:t>
            </a:r>
            <a:r>
              <a:rPr sz="2800" spc="-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the first </a:t>
            </a:r>
            <a:r>
              <a:rPr sz="2800" spc="-5" dirty="0">
                <a:latin typeface="Times New Roman"/>
                <a:cs typeface="Times New Roman"/>
              </a:rPr>
              <a:t>time, 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succession is called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primary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succession.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98831"/>
            <a:ext cx="42519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2. Secondary</a:t>
            </a:r>
            <a:r>
              <a:rPr sz="32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succession</a:t>
            </a:r>
            <a:r>
              <a:rPr sz="3200" dirty="0">
                <a:solidFill>
                  <a:srgbClr val="000000"/>
                </a:solidFill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787654"/>
            <a:ext cx="8072755" cy="49930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marR="5080" indent="979805" algn="just">
              <a:lnSpc>
                <a:spcPct val="90600"/>
              </a:lnSpc>
              <a:spcBef>
                <a:spcPts val="409"/>
              </a:spcBef>
            </a:pPr>
            <a:r>
              <a:rPr sz="2800" spc="-5" dirty="0">
                <a:latin typeface="Times New Roman"/>
                <a:cs typeface="Times New Roman"/>
              </a:rPr>
              <a:t>If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area under colonization has been cleared 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5" dirty="0">
                <a:latin typeface="Times New Roman"/>
                <a:cs typeface="Times New Roman"/>
              </a:rPr>
              <a:t>whatsoever agency (such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burning, grazing,  clearing, felling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trees, sudden change in climatic  factors, etc.)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previous plants, it is </a:t>
            </a:r>
            <a:r>
              <a:rPr sz="2800" spc="-10" dirty="0">
                <a:latin typeface="Times New Roman"/>
                <a:cs typeface="Times New Roman"/>
              </a:rPr>
              <a:t>called 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secondary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succession.</a:t>
            </a: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80"/>
              </a:spcBef>
            </a:pPr>
            <a:r>
              <a:rPr sz="3200" b="1" dirty="0">
                <a:latin typeface="Times New Roman"/>
                <a:cs typeface="Times New Roman"/>
              </a:rPr>
              <a:t>3. Autogenic</a:t>
            </a:r>
            <a:r>
              <a:rPr sz="3200" b="1" spc="-229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succession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marR="5080" indent="877569" algn="just">
              <a:lnSpc>
                <a:spcPct val="90500"/>
              </a:lnSpc>
              <a:spcBef>
                <a:spcPts val="1105"/>
              </a:spcBef>
            </a:pPr>
            <a:r>
              <a:rPr sz="2800" spc="-5" dirty="0">
                <a:latin typeface="Times New Roman"/>
                <a:cs typeface="Times New Roman"/>
              </a:rPr>
              <a:t>After the succession </a:t>
            </a:r>
            <a:r>
              <a:rPr sz="2800" spc="-10" dirty="0">
                <a:latin typeface="Times New Roman"/>
                <a:cs typeface="Times New Roman"/>
              </a:rPr>
              <a:t>has </a:t>
            </a:r>
            <a:r>
              <a:rPr sz="2800" dirty="0">
                <a:latin typeface="Times New Roman"/>
                <a:cs typeface="Times New Roman"/>
              </a:rPr>
              <a:t>begun, </a:t>
            </a:r>
            <a:r>
              <a:rPr sz="2800" spc="-5" dirty="0">
                <a:latin typeface="Times New Roman"/>
                <a:cs typeface="Times New Roman"/>
              </a:rPr>
              <a:t>in most of the  cases, it </a:t>
            </a:r>
            <a:r>
              <a:rPr sz="2800" spc="-10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community itself (as a result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its  reactions with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environment) modifies its </a:t>
            </a:r>
            <a:r>
              <a:rPr sz="2800" dirty="0">
                <a:latin typeface="Times New Roman"/>
                <a:cs typeface="Times New Roman"/>
              </a:rPr>
              <a:t>own  </a:t>
            </a:r>
            <a:r>
              <a:rPr sz="2800" spc="-5" dirty="0">
                <a:latin typeface="Times New Roman"/>
                <a:cs typeface="Times New Roman"/>
              </a:rPr>
              <a:t>environment and, thus, causing its own replacement 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5" dirty="0">
                <a:latin typeface="Times New Roman"/>
                <a:cs typeface="Times New Roman"/>
              </a:rPr>
              <a:t>new communities. This </a:t>
            </a:r>
            <a:r>
              <a:rPr sz="2800" dirty="0">
                <a:latin typeface="Times New Roman"/>
                <a:cs typeface="Times New Roman"/>
              </a:rPr>
              <a:t>course </a:t>
            </a:r>
            <a:r>
              <a:rPr sz="2800" spc="-5" dirty="0">
                <a:latin typeface="Times New Roman"/>
                <a:cs typeface="Times New Roman"/>
              </a:rPr>
              <a:t>of succession </a:t>
            </a:r>
            <a:r>
              <a:rPr sz="2800" spc="-15" dirty="0">
                <a:latin typeface="Times New Roman"/>
                <a:cs typeface="Times New Roman"/>
              </a:rPr>
              <a:t>is 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known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autogenic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succession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143000"/>
            <a:ext cx="624840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97737"/>
            <a:ext cx="5128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FOOD </a:t>
            </a:r>
            <a:r>
              <a:rPr sz="2800" b="1" spc="-5" dirty="0">
                <a:latin typeface="Times New Roman"/>
                <a:cs typeface="Times New Roman"/>
              </a:rPr>
              <a:t>CHAIN IN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ECOSYSTEM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162558"/>
            <a:ext cx="8226425" cy="48914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6985" indent="-342900" algn="just">
              <a:lnSpc>
                <a:spcPts val="2590"/>
              </a:lnSpc>
              <a:spcBef>
                <a:spcPts val="42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an ecosystem one can observe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transfer or flow </a:t>
            </a:r>
            <a:r>
              <a:rPr sz="2400" spc="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energy  </a:t>
            </a:r>
            <a:r>
              <a:rPr sz="2400" dirty="0">
                <a:latin typeface="Times New Roman"/>
                <a:cs typeface="Times New Roman"/>
              </a:rPr>
              <a:t>from one tropic level to other in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succession.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90100"/>
              </a:lnSpc>
              <a:spcBef>
                <a:spcPts val="540"/>
              </a:spcBef>
              <a:buFont typeface="Wingdings"/>
              <a:buChar char=""/>
              <a:tabLst>
                <a:tab pos="431800" algn="l"/>
              </a:tabLst>
            </a:pPr>
            <a:r>
              <a:rPr dirty="0"/>
              <a:t>	</a:t>
            </a:r>
            <a:r>
              <a:rPr sz="2400" b="1" dirty="0">
                <a:latin typeface="Times New Roman"/>
                <a:cs typeface="Times New Roman"/>
              </a:rPr>
              <a:t>A </a:t>
            </a:r>
            <a:r>
              <a:rPr sz="2400" b="1" spc="-10" dirty="0">
                <a:latin typeface="Times New Roman"/>
                <a:cs typeface="Times New Roman"/>
              </a:rPr>
              <a:t>tropic </a:t>
            </a:r>
            <a:r>
              <a:rPr sz="2400" b="1" spc="-5" dirty="0">
                <a:latin typeface="Times New Roman"/>
                <a:cs typeface="Times New Roman"/>
              </a:rPr>
              <a:t>level </a:t>
            </a:r>
            <a:r>
              <a:rPr sz="2400" spc="-5" dirty="0">
                <a:latin typeface="Times New Roman"/>
                <a:cs typeface="Times New Roman"/>
              </a:rPr>
              <a:t>can be defined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number of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links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by which  it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separated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from the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producer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10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the which position of </a:t>
            </a:r>
            <a:r>
              <a:rPr sz="2400" spc="-5" dirty="0">
                <a:latin typeface="Times New Roman"/>
                <a:cs typeface="Times New Roman"/>
              </a:rPr>
              <a:t>the  organism </a:t>
            </a:r>
            <a:r>
              <a:rPr sz="2400" dirty="0">
                <a:latin typeface="Times New Roman"/>
                <a:cs typeface="Times New Roman"/>
              </a:rPr>
              <a:t>in the food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chain.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90000"/>
              </a:lnSpc>
              <a:spcBef>
                <a:spcPts val="57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Thus, </a:t>
            </a:r>
            <a:r>
              <a:rPr sz="2400" spc="-5" dirty="0">
                <a:latin typeface="Times New Roman"/>
                <a:cs typeface="Times New Roman"/>
              </a:rPr>
              <a:t>primary producers </a:t>
            </a:r>
            <a:r>
              <a:rPr sz="2400" dirty="0">
                <a:latin typeface="Times New Roman"/>
                <a:cs typeface="Times New Roman"/>
              </a:rPr>
              <a:t>trap </a:t>
            </a:r>
            <a:r>
              <a:rPr sz="2400" spc="-5" dirty="0">
                <a:latin typeface="Times New Roman"/>
                <a:cs typeface="Times New Roman"/>
              </a:rPr>
              <a:t>radiant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dirty="0">
                <a:latin typeface="Times New Roman"/>
                <a:cs typeface="Times New Roman"/>
              </a:rPr>
              <a:t>of sun and </a:t>
            </a:r>
            <a:r>
              <a:rPr sz="2400" spc="-5" dirty="0">
                <a:latin typeface="Times New Roman"/>
                <a:cs typeface="Times New Roman"/>
              </a:rPr>
              <a:t>transfer  that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chemical or potential </a:t>
            </a:r>
            <a:r>
              <a:rPr sz="2400" spc="-10" dirty="0">
                <a:latin typeface="Times New Roman"/>
                <a:cs typeface="Times New Roman"/>
              </a:rPr>
              <a:t>energy of organic </a:t>
            </a:r>
            <a:r>
              <a:rPr sz="2400" spc="-5" dirty="0">
                <a:latin typeface="Times New Roman"/>
                <a:cs typeface="Times New Roman"/>
              </a:rPr>
              <a:t>compounds </a:t>
            </a:r>
            <a:r>
              <a:rPr sz="2400" dirty="0">
                <a:latin typeface="Times New Roman"/>
                <a:cs typeface="Times New Roman"/>
              </a:rPr>
              <a:t>such 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carbohydrates, proteins 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fats.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575"/>
              </a:spcBef>
              <a:buFont typeface="Wingdings"/>
              <a:buChar char=""/>
              <a:tabLst>
                <a:tab pos="427355" algn="l"/>
              </a:tabLst>
            </a:pPr>
            <a:r>
              <a:rPr dirty="0"/>
              <a:t>	</a:t>
            </a:r>
            <a:r>
              <a:rPr sz="2400" spc="-5" dirty="0">
                <a:latin typeface="Times New Roman"/>
                <a:cs typeface="Times New Roman"/>
              </a:rPr>
              <a:t>When </a:t>
            </a:r>
            <a:r>
              <a:rPr sz="2400" dirty="0">
                <a:latin typeface="Times New Roman"/>
                <a:cs typeface="Times New Roman"/>
              </a:rPr>
              <a:t>a herbivore </a:t>
            </a:r>
            <a:r>
              <a:rPr sz="2400" spc="-5" dirty="0">
                <a:latin typeface="Times New Roman"/>
                <a:cs typeface="Times New Roman"/>
              </a:rPr>
              <a:t>animal eats </a:t>
            </a:r>
            <a:r>
              <a:rPr sz="2400" dirty="0">
                <a:latin typeface="Times New Roman"/>
                <a:cs typeface="Times New Roman"/>
              </a:rPr>
              <a:t>a plant (or when </a:t>
            </a:r>
            <a:r>
              <a:rPr sz="2400" spc="-5" dirty="0">
                <a:latin typeface="Times New Roman"/>
                <a:cs typeface="Times New Roman"/>
              </a:rPr>
              <a:t>bacteria  decompose </a:t>
            </a:r>
            <a:r>
              <a:rPr sz="2400" dirty="0">
                <a:latin typeface="Times New Roman"/>
                <a:cs typeface="Times New Roman"/>
              </a:rPr>
              <a:t>it) and these </a:t>
            </a:r>
            <a:r>
              <a:rPr sz="2400" spc="-10" dirty="0">
                <a:latin typeface="Times New Roman"/>
                <a:cs typeface="Times New Roman"/>
              </a:rPr>
              <a:t>organic </a:t>
            </a:r>
            <a:r>
              <a:rPr sz="2400" spc="-5" dirty="0">
                <a:latin typeface="Times New Roman"/>
                <a:cs typeface="Times New Roman"/>
              </a:rPr>
              <a:t>compounds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oxidized, the 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spc="-5" dirty="0">
                <a:latin typeface="Times New Roman"/>
                <a:cs typeface="Times New Roman"/>
              </a:rPr>
              <a:t>liberated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just equal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the amount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5" dirty="0">
                <a:latin typeface="Times New Roman"/>
                <a:cs typeface="Times New Roman"/>
              </a:rPr>
              <a:t>in  </a:t>
            </a:r>
            <a:r>
              <a:rPr sz="2400" spc="-5" dirty="0">
                <a:latin typeface="Times New Roman"/>
                <a:cs typeface="Times New Roman"/>
              </a:rPr>
              <a:t>synthesizing the substances (first </a:t>
            </a:r>
            <a:r>
              <a:rPr sz="2400" dirty="0">
                <a:latin typeface="Times New Roman"/>
                <a:cs typeface="Times New Roman"/>
              </a:rPr>
              <a:t>law </a:t>
            </a:r>
            <a:r>
              <a:rPr sz="2400" spc="-5" dirty="0">
                <a:latin typeface="Times New Roman"/>
                <a:cs typeface="Times New Roman"/>
              </a:rPr>
              <a:t>of thermodynamics), but  </a:t>
            </a: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heat </a:t>
            </a:r>
            <a:r>
              <a:rPr sz="2400" dirty="0">
                <a:latin typeface="Times New Roman"/>
                <a:cs typeface="Times New Roman"/>
              </a:rPr>
              <a:t>and not </a:t>
            </a:r>
            <a:r>
              <a:rPr sz="2400" spc="-5" dirty="0">
                <a:latin typeface="Times New Roman"/>
                <a:cs typeface="Times New Roman"/>
              </a:rPr>
              <a:t>useful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spc="-5" dirty="0">
                <a:latin typeface="Times New Roman"/>
                <a:cs typeface="Times New Roman"/>
              </a:rPr>
              <a:t>(second law </a:t>
            </a:r>
            <a:r>
              <a:rPr sz="2400" dirty="0">
                <a:latin typeface="Times New Roman"/>
                <a:cs typeface="Times New Roman"/>
              </a:rPr>
              <a:t>of  </a:t>
            </a:r>
            <a:r>
              <a:rPr sz="2400" spc="-5" dirty="0">
                <a:latin typeface="Times New Roman"/>
                <a:cs typeface="Times New Roman"/>
              </a:rPr>
              <a:t>thermodynamics).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198831"/>
            <a:ext cx="8073390" cy="58801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9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If </a:t>
            </a:r>
            <a:r>
              <a:rPr sz="3200" spc="-5" dirty="0">
                <a:latin typeface="Times New Roman"/>
                <a:cs typeface="Times New Roman"/>
              </a:rPr>
              <a:t>this animal is </a:t>
            </a:r>
            <a:r>
              <a:rPr sz="3200" dirty="0">
                <a:latin typeface="Times New Roman"/>
                <a:cs typeface="Times New Roman"/>
              </a:rPr>
              <a:t>eaten </a:t>
            </a:r>
            <a:r>
              <a:rPr sz="3200" spc="-5" dirty="0">
                <a:latin typeface="Times New Roman"/>
                <a:cs typeface="Times New Roman"/>
              </a:rPr>
              <a:t>by </a:t>
            </a:r>
            <a:r>
              <a:rPr sz="3200" dirty="0">
                <a:latin typeface="Times New Roman"/>
                <a:cs typeface="Times New Roman"/>
              </a:rPr>
              <a:t>another one, along  with </a:t>
            </a:r>
            <a:r>
              <a:rPr sz="3200" spc="-5" dirty="0">
                <a:latin typeface="Times New Roman"/>
                <a:cs typeface="Times New Roman"/>
              </a:rPr>
              <a:t>transfer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energy </a:t>
            </a:r>
            <a:r>
              <a:rPr sz="3200" spc="-5" dirty="0">
                <a:latin typeface="Times New Roman"/>
                <a:cs typeface="Times New Roman"/>
              </a:rPr>
              <a:t>from </a:t>
            </a:r>
            <a:r>
              <a:rPr sz="3200" dirty="0">
                <a:latin typeface="Times New Roman"/>
                <a:cs typeface="Times New Roman"/>
              </a:rPr>
              <a:t>a herbivore </a:t>
            </a:r>
            <a:r>
              <a:rPr sz="3200" spc="-15" dirty="0">
                <a:latin typeface="Times New Roman"/>
                <a:cs typeface="Times New Roman"/>
              </a:rPr>
              <a:t>to  </a:t>
            </a:r>
            <a:r>
              <a:rPr sz="3200" dirty="0">
                <a:latin typeface="Times New Roman"/>
                <a:cs typeface="Times New Roman"/>
              </a:rPr>
              <a:t>carnivore a further decrease </a:t>
            </a:r>
            <a:r>
              <a:rPr sz="3200" spc="-5" dirty="0">
                <a:latin typeface="Times New Roman"/>
                <a:cs typeface="Times New Roman"/>
              </a:rPr>
              <a:t>in useful </a:t>
            </a:r>
            <a:r>
              <a:rPr sz="3200" spc="-10" dirty="0">
                <a:latin typeface="Times New Roman"/>
                <a:cs typeface="Times New Roman"/>
              </a:rPr>
              <a:t>energy  </a:t>
            </a:r>
            <a:r>
              <a:rPr sz="3200" dirty="0">
                <a:latin typeface="Times New Roman"/>
                <a:cs typeface="Times New Roman"/>
              </a:rPr>
              <a:t>occurs as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second animal </a:t>
            </a:r>
            <a:r>
              <a:rPr sz="3200" spc="-5" dirty="0">
                <a:latin typeface="Times New Roman"/>
                <a:cs typeface="Times New Roman"/>
              </a:rPr>
              <a:t>(carnivore)  </a:t>
            </a:r>
            <a:r>
              <a:rPr sz="3200" dirty="0">
                <a:latin typeface="Times New Roman"/>
                <a:cs typeface="Times New Roman"/>
              </a:rPr>
              <a:t>oxidizes the </a:t>
            </a:r>
            <a:r>
              <a:rPr sz="3200" spc="-10" dirty="0">
                <a:latin typeface="Times New Roman"/>
                <a:cs typeface="Times New Roman"/>
              </a:rPr>
              <a:t>organic </a:t>
            </a:r>
            <a:r>
              <a:rPr sz="3200" dirty="0">
                <a:latin typeface="Times New Roman"/>
                <a:cs typeface="Times New Roman"/>
              </a:rPr>
              <a:t>substances of </a:t>
            </a:r>
            <a:r>
              <a:rPr sz="3200" spc="-5" dirty="0">
                <a:latin typeface="Times New Roman"/>
                <a:cs typeface="Times New Roman"/>
              </a:rPr>
              <a:t>the first  </a:t>
            </a:r>
            <a:r>
              <a:rPr sz="3200" dirty="0">
                <a:latin typeface="Times New Roman"/>
                <a:cs typeface="Times New Roman"/>
              </a:rPr>
              <a:t>(herbivore </a:t>
            </a:r>
            <a:r>
              <a:rPr sz="3200" spc="-5" dirty="0">
                <a:latin typeface="Times New Roman"/>
                <a:cs typeface="Times New Roman"/>
              </a:rPr>
              <a:t>or omnivore)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spc="-5" dirty="0">
                <a:latin typeface="Times New Roman"/>
                <a:cs typeface="Times New Roman"/>
              </a:rPr>
              <a:t>liberate </a:t>
            </a:r>
            <a:r>
              <a:rPr sz="3200" spc="-10" dirty="0">
                <a:latin typeface="Times New Roman"/>
                <a:cs typeface="Times New Roman"/>
              </a:rPr>
              <a:t>energy </a:t>
            </a:r>
            <a:r>
              <a:rPr sz="3200" spc="-5" dirty="0">
                <a:latin typeface="Times New Roman"/>
                <a:cs typeface="Times New Roman"/>
              </a:rPr>
              <a:t>to  </a:t>
            </a:r>
            <a:r>
              <a:rPr sz="3200" dirty="0">
                <a:latin typeface="Times New Roman"/>
                <a:cs typeface="Times New Roman"/>
              </a:rPr>
              <a:t>synthesize </a:t>
            </a:r>
            <a:r>
              <a:rPr sz="3200" spc="-5" dirty="0">
                <a:latin typeface="Times New Roman"/>
                <a:cs typeface="Times New Roman"/>
              </a:rPr>
              <a:t>its </a:t>
            </a:r>
            <a:r>
              <a:rPr sz="3200" dirty="0">
                <a:latin typeface="Times New Roman"/>
                <a:cs typeface="Times New Roman"/>
              </a:rPr>
              <a:t>own cellular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constituents.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76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Such transfer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energy </a:t>
            </a:r>
            <a:r>
              <a:rPr sz="3200" spc="-5" dirty="0">
                <a:latin typeface="Times New Roman"/>
                <a:cs typeface="Times New Roman"/>
              </a:rPr>
              <a:t>from </a:t>
            </a:r>
            <a:r>
              <a:rPr sz="3200" spc="-10" dirty="0">
                <a:latin typeface="Times New Roman"/>
                <a:cs typeface="Times New Roman"/>
              </a:rPr>
              <a:t>organism </a:t>
            </a:r>
            <a:r>
              <a:rPr sz="3200" spc="-5" dirty="0">
                <a:latin typeface="Times New Roman"/>
                <a:cs typeface="Times New Roman"/>
              </a:rPr>
              <a:t>to  </a:t>
            </a:r>
            <a:r>
              <a:rPr sz="3200" spc="-10" dirty="0">
                <a:latin typeface="Times New Roman"/>
                <a:cs typeface="Times New Roman"/>
              </a:rPr>
              <a:t>organism </a:t>
            </a:r>
            <a:r>
              <a:rPr sz="3200" spc="-5" dirty="0">
                <a:latin typeface="Times New Roman"/>
                <a:cs typeface="Times New Roman"/>
              </a:rPr>
              <a:t>sustains </a:t>
            </a:r>
            <a:r>
              <a:rPr sz="3200" dirty="0">
                <a:latin typeface="Times New Roman"/>
                <a:cs typeface="Times New Roman"/>
              </a:rPr>
              <a:t>the ecosystem and </a:t>
            </a:r>
            <a:r>
              <a:rPr sz="3200" spc="-5" dirty="0">
                <a:latin typeface="Times New Roman"/>
                <a:cs typeface="Times New Roman"/>
              </a:rPr>
              <a:t>when  </a:t>
            </a:r>
            <a:r>
              <a:rPr sz="3200" spc="-10" dirty="0">
                <a:latin typeface="Times New Roman"/>
                <a:cs typeface="Times New Roman"/>
              </a:rPr>
              <a:t>energy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transferred </a:t>
            </a:r>
            <a:r>
              <a:rPr sz="3200" spc="-5" dirty="0">
                <a:latin typeface="Times New Roman"/>
                <a:cs typeface="Times New Roman"/>
              </a:rPr>
              <a:t>from individual to  </a:t>
            </a:r>
            <a:r>
              <a:rPr sz="3200" dirty="0">
                <a:latin typeface="Times New Roman"/>
                <a:cs typeface="Times New Roman"/>
              </a:rPr>
              <a:t>individual in a particular </a:t>
            </a:r>
            <a:r>
              <a:rPr sz="3200" spc="-25" dirty="0">
                <a:latin typeface="Times New Roman"/>
                <a:cs typeface="Times New Roman"/>
              </a:rPr>
              <a:t>community, </a:t>
            </a:r>
            <a:r>
              <a:rPr sz="3200" dirty="0">
                <a:latin typeface="Times New Roman"/>
                <a:cs typeface="Times New Roman"/>
              </a:rPr>
              <a:t>as in a  pond </a:t>
            </a:r>
            <a:r>
              <a:rPr sz="3200" spc="-5" dirty="0">
                <a:latin typeface="Times New Roman"/>
                <a:cs typeface="Times New Roman"/>
              </a:rPr>
              <a:t>or </a:t>
            </a:r>
            <a:r>
              <a:rPr sz="3200" dirty="0">
                <a:latin typeface="Times New Roman"/>
                <a:cs typeface="Times New Roman"/>
              </a:rPr>
              <a:t>a lake or a </a:t>
            </a:r>
            <a:r>
              <a:rPr sz="3200" spc="-25" dirty="0">
                <a:latin typeface="Times New Roman"/>
                <a:cs typeface="Times New Roman"/>
              </a:rPr>
              <a:t>river, </a:t>
            </a:r>
            <a:r>
              <a:rPr sz="3200" dirty="0">
                <a:latin typeface="Times New Roman"/>
                <a:cs typeface="Times New Roman"/>
              </a:rPr>
              <a:t>we come across </a:t>
            </a:r>
            <a:r>
              <a:rPr sz="3200" spc="-5" dirty="0">
                <a:latin typeface="Times New Roman"/>
                <a:cs typeface="Times New Roman"/>
              </a:rPr>
              <a:t>the  </a:t>
            </a:r>
            <a:r>
              <a:rPr sz="3200" dirty="0">
                <a:latin typeface="Times New Roman"/>
                <a:cs typeface="Times New Roman"/>
              </a:rPr>
              <a:t>food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chains.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2"/>
            <a:ext cx="9144000" cy="68412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78839" y="239102"/>
            <a:ext cx="7729855" cy="5318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R="334645" algn="ctr">
              <a:lnSpc>
                <a:spcPct val="100000"/>
              </a:lnSpc>
              <a:spcBef>
                <a:spcPts val="775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FOOD</a:t>
            </a:r>
            <a:r>
              <a:rPr sz="28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WEB</a:t>
            </a:r>
            <a:endParaRPr sz="2800">
              <a:latin typeface="Times New Roman"/>
              <a:cs typeface="Times New Roman"/>
            </a:endParaRPr>
          </a:p>
          <a:p>
            <a:pPr marL="12700" marR="5080" indent="100330" algn="just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In nature simple food chains occur rarely The </a:t>
            </a:r>
            <a:r>
              <a:rPr sz="2800" spc="-10" dirty="0">
                <a:latin typeface="Times New Roman"/>
                <a:cs typeface="Times New Roman"/>
              </a:rPr>
              <a:t>same  organism may </a:t>
            </a:r>
            <a:r>
              <a:rPr sz="2800" spc="-5" dirty="0">
                <a:latin typeface="Times New Roman"/>
                <a:cs typeface="Times New Roman"/>
              </a:rPr>
              <a:t>operate 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ecosystem </a:t>
            </a:r>
            <a:r>
              <a:rPr sz="2800" spc="-10" dirty="0">
                <a:latin typeface="Times New Roman"/>
                <a:cs typeface="Times New Roman"/>
              </a:rPr>
              <a:t>at </a:t>
            </a:r>
            <a:r>
              <a:rPr sz="2800" spc="-5" dirty="0">
                <a:latin typeface="Times New Roman"/>
                <a:cs typeface="Times New Roman"/>
              </a:rPr>
              <a:t>more than  </a:t>
            </a:r>
            <a:r>
              <a:rPr sz="2800" dirty="0">
                <a:latin typeface="Times New Roman"/>
                <a:cs typeface="Times New Roman"/>
              </a:rPr>
              <a:t>one tropic </a:t>
            </a:r>
            <a:r>
              <a:rPr sz="2800" spc="-5" dirty="0">
                <a:latin typeface="Times New Roman"/>
                <a:cs typeface="Times New Roman"/>
              </a:rPr>
              <a:t>level i.e. it </a:t>
            </a:r>
            <a:r>
              <a:rPr sz="2800" spc="-10" dirty="0">
                <a:latin typeface="Times New Roman"/>
                <a:cs typeface="Times New Roman"/>
              </a:rPr>
              <a:t>may </a:t>
            </a:r>
            <a:r>
              <a:rPr sz="2800" dirty="0">
                <a:latin typeface="Times New Roman"/>
                <a:cs typeface="Times New Roman"/>
              </a:rPr>
              <a:t>derive </a:t>
            </a:r>
            <a:r>
              <a:rPr sz="2800" spc="-5" dirty="0">
                <a:latin typeface="Times New Roman"/>
                <a:cs typeface="Times New Roman"/>
              </a:rPr>
              <a:t>its food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-5" dirty="0">
                <a:latin typeface="Times New Roman"/>
                <a:cs typeface="Times New Roman"/>
              </a:rPr>
              <a:t>more  than </a:t>
            </a:r>
            <a:r>
              <a:rPr sz="2800" dirty="0">
                <a:latin typeface="Times New Roman"/>
                <a:cs typeface="Times New Roman"/>
              </a:rPr>
              <a:t>one </a:t>
            </a:r>
            <a:r>
              <a:rPr sz="2800" spc="-5" dirty="0">
                <a:latin typeface="Times New Roman"/>
                <a:cs typeface="Times New Roman"/>
              </a:rPr>
              <a:t>source. </a:t>
            </a:r>
            <a:r>
              <a:rPr sz="2800" dirty="0">
                <a:latin typeface="Times New Roman"/>
                <a:cs typeface="Times New Roman"/>
              </a:rPr>
              <a:t>Even the </a:t>
            </a:r>
            <a:r>
              <a:rPr sz="2800" spc="-10" dirty="0">
                <a:latin typeface="Times New Roman"/>
                <a:cs typeface="Times New Roman"/>
              </a:rPr>
              <a:t>same organism may </a:t>
            </a:r>
            <a:r>
              <a:rPr sz="2800" dirty="0">
                <a:latin typeface="Times New Roman"/>
                <a:cs typeface="Times New Roman"/>
              </a:rPr>
              <a:t>be  </a:t>
            </a:r>
            <a:r>
              <a:rPr sz="2800" spc="-5" dirty="0">
                <a:latin typeface="Times New Roman"/>
                <a:cs typeface="Times New Roman"/>
              </a:rPr>
              <a:t>eaten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5" dirty="0">
                <a:latin typeface="Times New Roman"/>
                <a:cs typeface="Times New Roman"/>
              </a:rPr>
              <a:t>several </a:t>
            </a:r>
            <a:r>
              <a:rPr sz="2800" spc="-10" dirty="0">
                <a:latin typeface="Times New Roman"/>
                <a:cs typeface="Times New Roman"/>
              </a:rPr>
              <a:t>organisms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higher </a:t>
            </a:r>
            <a:r>
              <a:rPr sz="2800" spc="-5" dirty="0">
                <a:latin typeface="Times New Roman"/>
                <a:cs typeface="Times New Roman"/>
              </a:rPr>
              <a:t>tropic level </a:t>
            </a:r>
            <a:r>
              <a:rPr sz="2800" dirty="0">
                <a:latin typeface="Times New Roman"/>
                <a:cs typeface="Times New Roman"/>
              </a:rPr>
              <a:t>or 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spc="-10" dirty="0">
                <a:latin typeface="Times New Roman"/>
                <a:cs typeface="Times New Roman"/>
              </a:rPr>
              <a:t>organism may </a:t>
            </a:r>
            <a:r>
              <a:rPr sz="2800" spc="-5" dirty="0">
                <a:latin typeface="Times New Roman"/>
                <a:cs typeface="Times New Roman"/>
              </a:rPr>
              <a:t>feed </a:t>
            </a:r>
            <a:r>
              <a:rPr sz="2800" dirty="0">
                <a:latin typeface="Times New Roman"/>
                <a:cs typeface="Times New Roman"/>
              </a:rPr>
              <a:t>upon </a:t>
            </a:r>
            <a:r>
              <a:rPr sz="2800" spc="-5" dirty="0">
                <a:latin typeface="Times New Roman"/>
                <a:cs typeface="Times New Roman"/>
              </a:rPr>
              <a:t>several </a:t>
            </a:r>
            <a:r>
              <a:rPr sz="2800" spc="-10" dirty="0">
                <a:latin typeface="Times New Roman"/>
                <a:cs typeface="Times New Roman"/>
              </a:rPr>
              <a:t>different  organisms </a:t>
            </a:r>
            <a:r>
              <a:rPr sz="2800" spc="-5" dirty="0">
                <a:latin typeface="Times New Roman"/>
                <a:cs typeface="Times New Roman"/>
              </a:rPr>
              <a:t>of a lower </a:t>
            </a:r>
            <a:r>
              <a:rPr sz="2800" dirty="0">
                <a:latin typeface="Times New Roman"/>
                <a:cs typeface="Times New Roman"/>
              </a:rPr>
              <a:t>tropic </a:t>
            </a:r>
            <a:r>
              <a:rPr sz="2800" spc="-5" dirty="0">
                <a:latin typeface="Times New Roman"/>
                <a:cs typeface="Times New Roman"/>
              </a:rPr>
              <a:t>level. usually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kind of  </a:t>
            </a:r>
            <a:r>
              <a:rPr sz="2800" dirty="0">
                <a:latin typeface="Times New Roman"/>
                <a:cs typeface="Times New Roman"/>
              </a:rPr>
              <a:t>food </a:t>
            </a:r>
            <a:r>
              <a:rPr sz="2800" spc="-5" dirty="0">
                <a:latin typeface="Times New Roman"/>
                <a:cs typeface="Times New Roman"/>
              </a:rPr>
              <a:t>changes with the age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10" dirty="0">
                <a:latin typeface="Times New Roman"/>
                <a:cs typeface="Times New Roman"/>
              </a:rPr>
              <a:t>organism </a:t>
            </a:r>
            <a:r>
              <a:rPr sz="2800" spc="-5" dirty="0">
                <a:latin typeface="Times New Roman"/>
                <a:cs typeface="Times New Roman"/>
              </a:rPr>
              <a:t>and the  </a:t>
            </a:r>
            <a:r>
              <a:rPr sz="2800" dirty="0">
                <a:latin typeface="Times New Roman"/>
                <a:cs typeface="Times New Roman"/>
              </a:rPr>
              <a:t>food </a:t>
            </a:r>
            <a:r>
              <a:rPr sz="2800" spc="-20" dirty="0">
                <a:latin typeface="Times New Roman"/>
                <a:cs typeface="Times New Roman"/>
              </a:rPr>
              <a:t>availability. </a:t>
            </a:r>
            <a:r>
              <a:rPr sz="2800" spc="-5" dirty="0">
                <a:latin typeface="Times New Roman"/>
                <a:cs typeface="Times New Roman"/>
              </a:rPr>
              <a:t>Thus in a given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ecosystem various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food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chains are linked together and interested 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each </a:t>
            </a:r>
            <a:r>
              <a:rPr sz="2800" spc="6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other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to form a complex network called food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Web.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777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392" y="248538"/>
            <a:ext cx="722375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Significance of food chains and food</a:t>
            </a:r>
            <a:r>
              <a:rPr sz="3200" b="1" spc="-1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webs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784682"/>
            <a:ext cx="7731125" cy="356298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7620" indent="63500" algn="just">
              <a:lnSpc>
                <a:spcPts val="3460"/>
              </a:lnSpc>
              <a:spcBef>
                <a:spcPts val="535"/>
              </a:spcBef>
              <a:buSzPct val="133333"/>
              <a:buAutoNum type="arabicPeriod"/>
              <a:tabLst>
                <a:tab pos="603250" algn="l"/>
              </a:tabLst>
            </a:pP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dirty="0">
                <a:latin typeface="Times New Roman"/>
                <a:cs typeface="Times New Roman"/>
              </a:rPr>
              <a:t>flow and </a:t>
            </a:r>
            <a:r>
              <a:rPr sz="2400" spc="-5" dirty="0">
                <a:latin typeface="Times New Roman"/>
                <a:cs typeface="Times New Roman"/>
              </a:rPr>
              <a:t>nutrient cycling takes </a:t>
            </a:r>
            <a:r>
              <a:rPr sz="2400" dirty="0">
                <a:latin typeface="Times New Roman"/>
                <a:cs typeface="Times New Roman"/>
              </a:rPr>
              <a:t>place </a:t>
            </a:r>
            <a:r>
              <a:rPr sz="2400" spc="-5" dirty="0">
                <a:latin typeface="Times New Roman"/>
                <a:cs typeface="Times New Roman"/>
              </a:rPr>
              <a:t>through  them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5715" indent="63500" algn="just">
              <a:lnSpc>
                <a:spcPts val="3460"/>
              </a:lnSpc>
              <a:spcBef>
                <a:spcPts val="765"/>
              </a:spcBef>
              <a:buSzPct val="133333"/>
              <a:buAutoNum type="arabicPeriod"/>
              <a:tabLst>
                <a:tab pos="514350" algn="l"/>
              </a:tabLst>
            </a:pPr>
            <a:r>
              <a:rPr sz="2400" dirty="0">
                <a:latin typeface="Times New Roman"/>
                <a:cs typeface="Times New Roman"/>
              </a:rPr>
              <a:t>They </a:t>
            </a:r>
            <a:r>
              <a:rPr sz="2400" spc="-5" dirty="0">
                <a:latin typeface="Times New Roman"/>
                <a:cs typeface="Times New Roman"/>
              </a:rPr>
              <a:t>maintain and regulate the population </a:t>
            </a:r>
            <a:r>
              <a:rPr sz="2400" dirty="0">
                <a:latin typeface="Times New Roman"/>
                <a:cs typeface="Times New Roman"/>
              </a:rPr>
              <a:t>size of </a:t>
            </a:r>
            <a:r>
              <a:rPr sz="2400" spc="-10" dirty="0">
                <a:latin typeface="Times New Roman"/>
                <a:cs typeface="Times New Roman"/>
              </a:rPr>
              <a:t>different  </a:t>
            </a:r>
            <a:r>
              <a:rPr sz="2400" dirty="0">
                <a:latin typeface="Times New Roman"/>
                <a:cs typeface="Times New Roman"/>
              </a:rPr>
              <a:t>tropic levels, and thus help in </a:t>
            </a:r>
            <a:r>
              <a:rPr sz="2400" spc="-5" dirty="0">
                <a:latin typeface="Times New Roman"/>
                <a:cs typeface="Times New Roman"/>
              </a:rPr>
              <a:t>maintaining </a:t>
            </a:r>
            <a:r>
              <a:rPr sz="2400" dirty="0">
                <a:latin typeface="Times New Roman"/>
                <a:cs typeface="Times New Roman"/>
              </a:rPr>
              <a:t>ecological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balance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5080" indent="63500" algn="just">
              <a:lnSpc>
                <a:spcPct val="90000"/>
              </a:lnSpc>
              <a:spcBef>
                <a:spcPts val="715"/>
              </a:spcBef>
              <a:buFont typeface="Times New Roman"/>
              <a:buAutoNum type="arabicPeriod"/>
              <a:tabLst>
                <a:tab pos="501015" algn="l"/>
              </a:tabLst>
            </a:pPr>
            <a:r>
              <a:rPr sz="3200" b="1" spc="-5" dirty="0">
                <a:latin typeface="Times New Roman"/>
                <a:cs typeface="Times New Roman"/>
              </a:rPr>
              <a:t>Biomagnification</a:t>
            </a:r>
            <a:r>
              <a:rPr sz="3200" spc="-5" dirty="0"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The non-biodegradable </a:t>
            </a:r>
            <a:r>
              <a:rPr sz="2400" spc="-10" dirty="0">
                <a:latin typeface="Times New Roman"/>
                <a:cs typeface="Times New Roman"/>
              </a:rPr>
              <a:t>materials  </a:t>
            </a:r>
            <a:r>
              <a:rPr sz="2400" dirty="0">
                <a:latin typeface="Times New Roman"/>
                <a:cs typeface="Times New Roman"/>
              </a:rPr>
              <a:t>keep on </a:t>
            </a:r>
            <a:r>
              <a:rPr sz="2400" spc="-5" dirty="0">
                <a:latin typeface="Times New Roman"/>
                <a:cs typeface="Times New Roman"/>
              </a:rPr>
              <a:t>passing </a:t>
            </a:r>
            <a:r>
              <a:rPr sz="2400" dirty="0">
                <a:latin typeface="Times New Roman"/>
                <a:cs typeface="Times New Roman"/>
              </a:rPr>
              <a:t>from one </a:t>
            </a:r>
            <a:r>
              <a:rPr sz="2400" spc="-5" dirty="0">
                <a:latin typeface="Times New Roman"/>
                <a:cs typeface="Times New Roman"/>
              </a:rPr>
              <a:t>tropic level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20" dirty="0">
                <a:latin typeface="Times New Roman"/>
                <a:cs typeface="Times New Roman"/>
              </a:rPr>
              <a:t>another. </a:t>
            </a:r>
            <a:r>
              <a:rPr sz="2400" spc="-5" dirty="0">
                <a:latin typeface="Times New Roman"/>
                <a:cs typeface="Times New Roman"/>
              </a:rPr>
              <a:t>At each  </a:t>
            </a:r>
            <a:r>
              <a:rPr sz="2400" dirty="0">
                <a:latin typeface="Times New Roman"/>
                <a:cs typeface="Times New Roman"/>
              </a:rPr>
              <a:t>successive </a:t>
            </a:r>
            <a:r>
              <a:rPr sz="2400" spc="-5" dirty="0">
                <a:latin typeface="Times New Roman"/>
                <a:cs typeface="Times New Roman"/>
              </a:rPr>
              <a:t>tropic level,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concentration keep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increasing.  </a:t>
            </a: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5" dirty="0">
                <a:latin typeface="Times New Roman"/>
                <a:cs typeface="Times New Roman"/>
              </a:rPr>
              <a:t>process </a:t>
            </a:r>
            <a:r>
              <a:rPr sz="2400" dirty="0">
                <a:latin typeface="Times New Roman"/>
                <a:cs typeface="Times New Roman"/>
              </a:rPr>
              <a:t>is known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biomagnification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7501" y="4370323"/>
            <a:ext cx="22155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998345" algn="l"/>
              </a:tabLst>
            </a:pPr>
            <a:r>
              <a:rPr sz="3200" spc="-10" dirty="0">
                <a:latin typeface="Times New Roman"/>
                <a:cs typeface="Times New Roman"/>
              </a:rPr>
              <a:t>e</a:t>
            </a:r>
            <a:r>
              <a:rPr sz="3200" spc="5" dirty="0">
                <a:latin typeface="Times New Roman"/>
                <a:cs typeface="Times New Roman"/>
              </a:rPr>
              <a:t>x</a:t>
            </a:r>
            <a:r>
              <a:rPr sz="3200" dirty="0">
                <a:latin typeface="Times New Roman"/>
                <a:cs typeface="Times New Roman"/>
              </a:rPr>
              <a:t>.	DDT	–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1898" y="4472432"/>
            <a:ext cx="4336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8290" algn="l"/>
                <a:tab pos="1643380" algn="l"/>
                <a:tab pos="2289175" algn="l"/>
                <a:tab pos="4118610" algn="l"/>
              </a:tabLst>
            </a:pPr>
            <a:r>
              <a:rPr sz="2400" dirty="0">
                <a:latin typeface="Times New Roman"/>
                <a:cs typeface="Times New Roman"/>
              </a:rPr>
              <a:t>(	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sti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ide)	The	con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entr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on	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4824476"/>
            <a:ext cx="7731759" cy="14890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z="2400" dirty="0">
                <a:latin typeface="Times New Roman"/>
                <a:cs typeface="Times New Roman"/>
              </a:rPr>
              <a:t>increased </a:t>
            </a:r>
            <a:r>
              <a:rPr sz="2400" spc="-5" dirty="0">
                <a:latin typeface="Times New Roman"/>
                <a:cs typeface="Times New Roman"/>
              </a:rPr>
              <a:t>along </a:t>
            </a:r>
            <a:r>
              <a:rPr sz="2400" dirty="0">
                <a:latin typeface="Times New Roman"/>
                <a:cs typeface="Times New Roman"/>
              </a:rPr>
              <a:t>the food </a:t>
            </a:r>
            <a:r>
              <a:rPr sz="2400" spc="-5" dirty="0">
                <a:latin typeface="Times New Roman"/>
                <a:cs typeface="Times New Roman"/>
              </a:rPr>
              <a:t>chain through phytoplankton </a:t>
            </a:r>
            <a:r>
              <a:rPr sz="2400" spc="-10" dirty="0">
                <a:latin typeface="Times New Roman"/>
                <a:cs typeface="Times New Roman"/>
              </a:rPr>
              <a:t>to  </a:t>
            </a:r>
            <a:r>
              <a:rPr sz="2400" spc="-5" dirty="0">
                <a:latin typeface="Times New Roman"/>
                <a:cs typeface="Times New Roman"/>
              </a:rPr>
              <a:t>zooplanktons </a:t>
            </a:r>
            <a:r>
              <a:rPr sz="2400" dirty="0">
                <a:latin typeface="Times New Roman"/>
                <a:cs typeface="Times New Roman"/>
              </a:rPr>
              <a:t>and then </a:t>
            </a:r>
            <a:r>
              <a:rPr sz="2400" spc="-5" dirty="0">
                <a:latin typeface="Times New Roman"/>
                <a:cs typeface="Times New Roman"/>
              </a:rPr>
              <a:t>goes </a:t>
            </a:r>
            <a:r>
              <a:rPr sz="2400" dirty="0">
                <a:latin typeface="Times New Roman"/>
                <a:cs typeface="Times New Roman"/>
              </a:rPr>
              <a:t>to fish, birds, </a:t>
            </a:r>
            <a:r>
              <a:rPr sz="2400" spc="-5" dirty="0">
                <a:latin typeface="Times New Roman"/>
                <a:cs typeface="Times New Roman"/>
              </a:rPr>
              <a:t>animals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human  </a:t>
            </a:r>
            <a:r>
              <a:rPr sz="2400" dirty="0">
                <a:latin typeface="Times New Roman"/>
                <a:cs typeface="Times New Roman"/>
              </a:rPr>
              <a:t>beings</a:t>
            </a:r>
            <a:r>
              <a:rPr sz="3200" dirty="0">
                <a:latin typeface="Times New Roman"/>
                <a:cs typeface="Times New Roman"/>
              </a:rPr>
              <a:t>. </a:t>
            </a:r>
            <a:r>
              <a:rPr sz="2400" spc="-5" dirty="0">
                <a:latin typeface="Times New Roman"/>
                <a:cs typeface="Times New Roman"/>
              </a:rPr>
              <a:t>DDT damages the shells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25" dirty="0">
                <a:latin typeface="Times New Roman"/>
                <a:cs typeface="Times New Roman"/>
              </a:rPr>
              <a:t>bird’s </a:t>
            </a:r>
            <a:r>
              <a:rPr sz="2400" spc="-5" dirty="0">
                <a:latin typeface="Times New Roman"/>
                <a:cs typeface="Times New Roman"/>
              </a:rPr>
              <a:t>eggs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cells </a:t>
            </a:r>
            <a:r>
              <a:rPr sz="2400" dirty="0">
                <a:latin typeface="Times New Roman"/>
                <a:cs typeface="Times New Roman"/>
              </a:rPr>
              <a:t>of  the </a:t>
            </a:r>
            <a:r>
              <a:rPr sz="2400" spc="-5" dirty="0">
                <a:latin typeface="Times New Roman"/>
                <a:cs typeface="Times New Roman"/>
              </a:rPr>
              <a:t>human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02640" y="316128"/>
            <a:ext cx="7807325" cy="48907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176780" algn="just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Ecological</a:t>
            </a:r>
            <a:r>
              <a:rPr sz="28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Pyramids</a:t>
            </a:r>
            <a:endParaRPr sz="2800">
              <a:latin typeface="Times New Roman"/>
              <a:cs typeface="Times New Roman"/>
            </a:endParaRPr>
          </a:p>
          <a:p>
            <a:pPr marL="12700" marR="5080" indent="900430" algn="just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successive steps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grazing food chain-  photosynthetic autotroph, herbivorous heterotroph,  carnivores heterotroph, decay bacteria-the number and  </a:t>
            </a:r>
            <a:r>
              <a:rPr sz="2800" spc="-10" dirty="0">
                <a:latin typeface="Times New Roman"/>
                <a:cs typeface="Times New Roman"/>
              </a:rPr>
              <a:t>mass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10" dirty="0">
                <a:latin typeface="Times New Roman"/>
                <a:cs typeface="Times New Roman"/>
              </a:rPr>
              <a:t>organisms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each </a:t>
            </a:r>
            <a:r>
              <a:rPr sz="2800" spc="-5" dirty="0">
                <a:latin typeface="Times New Roman"/>
                <a:cs typeface="Times New Roman"/>
              </a:rPr>
              <a:t>step is </a:t>
            </a:r>
            <a:r>
              <a:rPr sz="2800" spc="-10" dirty="0">
                <a:latin typeface="Times New Roman"/>
                <a:cs typeface="Times New Roman"/>
              </a:rPr>
              <a:t>limited </a:t>
            </a:r>
            <a:r>
              <a:rPr sz="2800" dirty="0">
                <a:latin typeface="Times New Roman"/>
                <a:cs typeface="Times New Roman"/>
              </a:rPr>
              <a:t>by the  </a:t>
            </a:r>
            <a:r>
              <a:rPr sz="2800" spc="-5" dirty="0">
                <a:latin typeface="Times New Roman"/>
                <a:cs typeface="Times New Roman"/>
              </a:rPr>
              <a:t>amount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available. Since some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1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lost 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heat, in </a:t>
            </a:r>
            <a:r>
              <a:rPr sz="2800" spc="-10" dirty="0">
                <a:latin typeface="Times New Roman"/>
                <a:cs typeface="Times New Roman"/>
              </a:rPr>
              <a:t>each </a:t>
            </a:r>
            <a:r>
              <a:rPr sz="2800" spc="-5" dirty="0">
                <a:latin typeface="Times New Roman"/>
                <a:cs typeface="Times New Roman"/>
              </a:rPr>
              <a:t>transformation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steps </a:t>
            </a:r>
            <a:r>
              <a:rPr sz="2800" spc="-10" dirty="0">
                <a:latin typeface="Times New Roman"/>
                <a:cs typeface="Times New Roman"/>
              </a:rPr>
              <a:t>become  </a:t>
            </a:r>
            <a:r>
              <a:rPr sz="2800" spc="-5" dirty="0">
                <a:latin typeface="Times New Roman"/>
                <a:cs typeface="Times New Roman"/>
              </a:rPr>
              <a:t>progressively smaller near </a:t>
            </a:r>
            <a:r>
              <a:rPr sz="2800" dirty="0">
                <a:latin typeface="Times New Roman"/>
                <a:cs typeface="Times New Roman"/>
              </a:rPr>
              <a:t>the top. </a:t>
            </a:r>
            <a:r>
              <a:rPr sz="2800" spc="-5" dirty="0">
                <a:latin typeface="Times New Roman"/>
                <a:cs typeface="Times New Roman"/>
              </a:rPr>
              <a:t>This relationship is  sometimes called </a:t>
            </a:r>
            <a:r>
              <a:rPr sz="2800" b="1" spc="-5" dirty="0">
                <a:latin typeface="Times New Roman"/>
                <a:cs typeface="Times New Roman"/>
              </a:rPr>
              <a:t>"ecological pyramid". </a:t>
            </a:r>
            <a:r>
              <a:rPr sz="2800" spc="-5" dirty="0">
                <a:latin typeface="Times New Roman"/>
                <a:cs typeface="Times New Roman"/>
              </a:rPr>
              <a:t>The  ecological pyramids represent the </a:t>
            </a:r>
            <a:r>
              <a:rPr sz="2800" dirty="0">
                <a:latin typeface="Times New Roman"/>
                <a:cs typeface="Times New Roman"/>
              </a:rPr>
              <a:t>tropic </a:t>
            </a:r>
            <a:r>
              <a:rPr sz="2800" spc="-5" dirty="0">
                <a:latin typeface="Times New Roman"/>
                <a:cs typeface="Times New Roman"/>
              </a:rPr>
              <a:t>structure </a:t>
            </a:r>
            <a:r>
              <a:rPr sz="2800" spc="-15" dirty="0">
                <a:latin typeface="Times New Roman"/>
                <a:cs typeface="Times New Roman"/>
              </a:rPr>
              <a:t>and  </a:t>
            </a:r>
            <a:r>
              <a:rPr sz="2800" spc="-5" dirty="0">
                <a:latin typeface="Times New Roman"/>
                <a:cs typeface="Times New Roman"/>
              </a:rPr>
              <a:t>also </a:t>
            </a:r>
            <a:r>
              <a:rPr sz="2800" dirty="0">
                <a:latin typeface="Times New Roman"/>
                <a:cs typeface="Times New Roman"/>
              </a:rPr>
              <a:t>tropic </a:t>
            </a:r>
            <a:r>
              <a:rPr sz="2800" spc="-5" dirty="0">
                <a:latin typeface="Times New Roman"/>
                <a:cs typeface="Times New Roman"/>
              </a:rPr>
              <a:t>function of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684631"/>
            <a:ext cx="6983095" cy="16840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spc="-50" dirty="0">
                <a:latin typeface="Times New Roman"/>
                <a:cs typeface="Times New Roman"/>
              </a:rPr>
              <a:t>Types </a:t>
            </a:r>
            <a:r>
              <a:rPr sz="3200" b="1" dirty="0">
                <a:latin typeface="Times New Roman"/>
                <a:cs typeface="Times New Roman"/>
              </a:rPr>
              <a:t>of Ecological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Pyramids</a:t>
            </a:r>
            <a:endParaRPr sz="3200">
              <a:latin typeface="Times New Roman"/>
              <a:cs typeface="Times New Roman"/>
            </a:endParaRPr>
          </a:p>
          <a:p>
            <a:pPr marL="355600" marR="5080" indent="868044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rgbClr val="000000"/>
                </a:solidFill>
              </a:rPr>
              <a:t>The ecological pyramids may be</a:t>
            </a:r>
            <a:r>
              <a:rPr sz="3200" spc="-114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of  following three</a:t>
            </a:r>
            <a:r>
              <a:rPr sz="3200" spc="-5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kinds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517394" y="2343429"/>
            <a:ext cx="3419475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Pyramid of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40" dirty="0">
                <a:latin typeface="Times New Roman"/>
                <a:cs typeface="Times New Roman"/>
              </a:rPr>
              <a:t>number.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Pyramid of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biomass.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Pyramid of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energy.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2529" y="400557"/>
            <a:ext cx="345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Pyramid of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number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640" y="1037590"/>
            <a:ext cx="7883525" cy="4303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283335" algn="just">
              <a:lnSpc>
                <a:spcPct val="100299"/>
              </a:lnSpc>
              <a:spcBef>
                <a:spcPts val="85"/>
              </a:spcBef>
            </a:pPr>
            <a:r>
              <a:rPr sz="2800" spc="-5" dirty="0">
                <a:latin typeface="Times New Roman"/>
                <a:cs typeface="Times New Roman"/>
              </a:rPr>
              <a:t>It depicts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number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individual </a:t>
            </a:r>
            <a:r>
              <a:rPr sz="2800" spc="-10" dirty="0">
                <a:latin typeface="Times New Roman"/>
                <a:cs typeface="Times New Roman"/>
              </a:rPr>
              <a:t>organisms  at different </a:t>
            </a:r>
            <a:r>
              <a:rPr sz="2800" dirty="0">
                <a:latin typeface="Times New Roman"/>
                <a:cs typeface="Times New Roman"/>
              </a:rPr>
              <a:t>tropic </a:t>
            </a:r>
            <a:r>
              <a:rPr sz="2800" spc="-5" dirty="0">
                <a:latin typeface="Times New Roman"/>
                <a:cs typeface="Times New Roman"/>
              </a:rPr>
              <a:t>levels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food chain. The animals </a:t>
            </a:r>
            <a:r>
              <a:rPr sz="2800" spc="-25" dirty="0">
                <a:latin typeface="Times New Roman"/>
                <a:cs typeface="Times New Roman"/>
              </a:rPr>
              <a:t>at  </a:t>
            </a:r>
            <a:r>
              <a:rPr sz="2800" spc="-5" dirty="0">
                <a:latin typeface="Times New Roman"/>
                <a:cs typeface="Times New Roman"/>
              </a:rPr>
              <a:t>the lower end </a:t>
            </a:r>
            <a:r>
              <a:rPr sz="2800" dirty="0">
                <a:latin typeface="Times New Roman"/>
                <a:cs typeface="Times New Roman"/>
              </a:rPr>
              <a:t>(base </a:t>
            </a:r>
            <a:r>
              <a:rPr sz="2800" spc="-5" dirty="0">
                <a:latin typeface="Times New Roman"/>
                <a:cs typeface="Times New Roman"/>
              </a:rPr>
              <a:t>of pyramid) of the chain are the  most abundant. Successive links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carnivores  decrease rapidly in number until there are very few  carnivores </a:t>
            </a:r>
            <a:r>
              <a:rPr sz="2800" spc="-10" dirty="0">
                <a:latin typeface="Times New Roman"/>
                <a:cs typeface="Times New Roman"/>
              </a:rPr>
              <a:t>at </a:t>
            </a:r>
            <a:r>
              <a:rPr sz="2800" spc="-5" dirty="0">
                <a:latin typeface="Times New Roman"/>
                <a:cs typeface="Times New Roman"/>
              </a:rPr>
              <a:t>the top. The pyramid of number </a:t>
            </a:r>
            <a:r>
              <a:rPr sz="2800" dirty="0">
                <a:latin typeface="Times New Roman"/>
                <a:cs typeface="Times New Roman"/>
              </a:rPr>
              <a:t>ignores  the </a:t>
            </a:r>
            <a:r>
              <a:rPr sz="2800" spc="-5" dirty="0">
                <a:latin typeface="Times New Roman"/>
                <a:cs typeface="Times New Roman"/>
              </a:rPr>
              <a:t>biomass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organisms </a:t>
            </a:r>
            <a:r>
              <a:rPr sz="2800" spc="-5" dirty="0">
                <a:latin typeface="Times New Roman"/>
                <a:cs typeface="Times New Roman"/>
              </a:rPr>
              <a:t>and it also docs </a:t>
            </a:r>
            <a:r>
              <a:rPr sz="2800" dirty="0">
                <a:latin typeface="Times New Roman"/>
                <a:cs typeface="Times New Roman"/>
              </a:rPr>
              <a:t>not </a:t>
            </a:r>
            <a:r>
              <a:rPr sz="2800" spc="-5" dirty="0">
                <a:latin typeface="Times New Roman"/>
                <a:cs typeface="Times New Roman"/>
              </a:rPr>
              <a:t>indicate 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transferred </a:t>
            </a:r>
            <a:r>
              <a:rPr sz="2800" dirty="0">
                <a:latin typeface="Times New Roman"/>
                <a:cs typeface="Times New Roman"/>
              </a:rPr>
              <a:t>or the </a:t>
            </a:r>
            <a:r>
              <a:rPr sz="2800" spc="-5" dirty="0">
                <a:latin typeface="Times New Roman"/>
                <a:cs typeface="Times New Roman"/>
              </a:rPr>
              <a:t>use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10" dirty="0">
                <a:latin typeface="Times New Roman"/>
                <a:cs typeface="Times New Roman"/>
              </a:rPr>
              <a:t>by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5" dirty="0">
                <a:latin typeface="Times New Roman"/>
                <a:cs typeface="Times New Roman"/>
              </a:rPr>
              <a:t>groups involved. The lake ecosystem provides a  typical example for pyramid 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number.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650240" y="456031"/>
            <a:ext cx="7350125" cy="54889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774189" algn="just">
              <a:lnSpc>
                <a:spcPct val="100000"/>
              </a:lnSpc>
              <a:spcBef>
                <a:spcPts val="480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Pyramid of</a:t>
            </a:r>
            <a:r>
              <a:rPr sz="32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biomass</a:t>
            </a:r>
            <a:endParaRPr sz="3200">
              <a:latin typeface="Times New Roman"/>
              <a:cs typeface="Times New Roman"/>
            </a:endParaRPr>
          </a:p>
          <a:p>
            <a:pPr marL="12700" marR="5080" indent="1690370" algn="just">
              <a:lnSpc>
                <a:spcPct val="90000"/>
              </a:lnSpc>
              <a:spcBef>
                <a:spcPts val="770"/>
              </a:spcBef>
            </a:pPr>
            <a:r>
              <a:rPr sz="3200" spc="-5" dirty="0">
                <a:latin typeface="Times New Roman"/>
                <a:cs typeface="Times New Roman"/>
              </a:rPr>
              <a:t>The biomass of the </a:t>
            </a:r>
            <a:r>
              <a:rPr sz="3200" dirty="0">
                <a:latin typeface="Times New Roman"/>
                <a:cs typeface="Times New Roman"/>
              </a:rPr>
              <a:t>members </a:t>
            </a:r>
            <a:r>
              <a:rPr sz="3200" spc="-10" dirty="0">
                <a:latin typeface="Times New Roman"/>
                <a:cs typeface="Times New Roman"/>
              </a:rPr>
              <a:t>of 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food chain </a:t>
            </a:r>
            <a:r>
              <a:rPr sz="3200" dirty="0">
                <a:latin typeface="Times New Roman"/>
                <a:cs typeface="Times New Roman"/>
              </a:rPr>
              <a:t>present at </a:t>
            </a:r>
            <a:r>
              <a:rPr sz="3200" spc="-5" dirty="0">
                <a:latin typeface="Times New Roman"/>
                <a:cs typeface="Times New Roman"/>
              </a:rPr>
              <a:t>any </a:t>
            </a:r>
            <a:r>
              <a:rPr sz="3200" dirty="0">
                <a:latin typeface="Times New Roman"/>
                <a:cs typeface="Times New Roman"/>
              </a:rPr>
              <a:t>one </a:t>
            </a:r>
            <a:r>
              <a:rPr sz="3200" spc="-5" dirty="0">
                <a:latin typeface="Times New Roman"/>
                <a:cs typeface="Times New Roman"/>
              </a:rPr>
              <a:t>time forms  </a:t>
            </a:r>
            <a:r>
              <a:rPr sz="3200" dirty="0">
                <a:latin typeface="Times New Roman"/>
                <a:cs typeface="Times New Roman"/>
              </a:rPr>
              <a:t>the pyramid of the biomass. </a:t>
            </a:r>
            <a:r>
              <a:rPr sz="3200" spc="-5" dirty="0">
                <a:latin typeface="Times New Roman"/>
                <a:cs typeface="Times New Roman"/>
              </a:rPr>
              <a:t>Pyramid </a:t>
            </a:r>
            <a:r>
              <a:rPr sz="3200" spc="5" dirty="0">
                <a:latin typeface="Times New Roman"/>
                <a:cs typeface="Times New Roman"/>
              </a:rPr>
              <a:t>of  </a:t>
            </a:r>
            <a:r>
              <a:rPr sz="3200" dirty="0">
                <a:latin typeface="Times New Roman"/>
                <a:cs typeface="Times New Roman"/>
              </a:rPr>
              <a:t>biomass </a:t>
            </a:r>
            <a:r>
              <a:rPr sz="3200" spc="-5" dirty="0">
                <a:latin typeface="Times New Roman"/>
                <a:cs typeface="Times New Roman"/>
              </a:rPr>
              <a:t>indicates </a:t>
            </a:r>
            <a:r>
              <a:rPr sz="3200" dirty="0">
                <a:latin typeface="Times New Roman"/>
                <a:cs typeface="Times New Roman"/>
              </a:rPr>
              <a:t>decrease of </a:t>
            </a:r>
            <a:r>
              <a:rPr sz="3200" spc="-5" dirty="0">
                <a:latin typeface="Times New Roman"/>
                <a:cs typeface="Times New Roman"/>
              </a:rPr>
              <a:t>biomass </a:t>
            </a:r>
            <a:r>
              <a:rPr sz="3200" spc="-15" dirty="0">
                <a:latin typeface="Times New Roman"/>
                <a:cs typeface="Times New Roman"/>
              </a:rPr>
              <a:t>in  </a:t>
            </a:r>
            <a:r>
              <a:rPr sz="3200" spc="5" dirty="0">
                <a:latin typeface="Times New Roman"/>
                <a:cs typeface="Times New Roman"/>
              </a:rPr>
              <a:t>each </a:t>
            </a:r>
            <a:r>
              <a:rPr sz="3200" spc="-5" dirty="0">
                <a:latin typeface="Times New Roman"/>
                <a:cs typeface="Times New Roman"/>
              </a:rPr>
              <a:t>tropical level from </a:t>
            </a:r>
            <a:r>
              <a:rPr sz="3200" dirty="0">
                <a:latin typeface="Times New Roman"/>
                <a:cs typeface="Times New Roman"/>
              </a:rPr>
              <a:t>base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apex. </a:t>
            </a:r>
            <a:r>
              <a:rPr sz="3200" spc="-5" dirty="0">
                <a:latin typeface="Times New Roman"/>
                <a:cs typeface="Times New Roman"/>
              </a:rPr>
              <a:t>For  </a:t>
            </a:r>
            <a:r>
              <a:rPr sz="3200" dirty="0">
                <a:latin typeface="Times New Roman"/>
                <a:cs typeface="Times New Roman"/>
              </a:rPr>
              <a:t>example, the </a:t>
            </a:r>
            <a:r>
              <a:rPr sz="3200" spc="-5" dirty="0">
                <a:latin typeface="Times New Roman"/>
                <a:cs typeface="Times New Roman"/>
              </a:rPr>
              <a:t>total </a:t>
            </a:r>
            <a:r>
              <a:rPr sz="3200" dirty="0">
                <a:latin typeface="Times New Roman"/>
                <a:cs typeface="Times New Roman"/>
              </a:rPr>
              <a:t>biomass of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producers  ingested by herbivores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more than </a:t>
            </a:r>
            <a:r>
              <a:rPr sz="3200" spc="-5" dirty="0">
                <a:latin typeface="Times New Roman"/>
                <a:cs typeface="Times New Roman"/>
              </a:rPr>
              <a:t>the total  </a:t>
            </a:r>
            <a:r>
              <a:rPr sz="3200" dirty="0">
                <a:latin typeface="Times New Roman"/>
                <a:cs typeface="Times New Roman"/>
              </a:rPr>
              <a:t>biomass of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herbivores </a:t>
            </a:r>
            <a:r>
              <a:rPr sz="3200" spc="-5" dirty="0">
                <a:latin typeface="Times New Roman"/>
                <a:cs typeface="Times New Roman"/>
              </a:rPr>
              <a:t>in an ecosystem.  </a:t>
            </a:r>
            <a:r>
              <a:rPr sz="3200" dirty="0">
                <a:latin typeface="Times New Roman"/>
                <a:cs typeface="Times New Roman"/>
              </a:rPr>
              <a:t>Likewise, </a:t>
            </a:r>
            <a:r>
              <a:rPr sz="3200" spc="-5" dirty="0">
                <a:latin typeface="Times New Roman"/>
                <a:cs typeface="Times New Roman"/>
              </a:rPr>
              <a:t>the total </a:t>
            </a:r>
            <a:r>
              <a:rPr sz="3200" dirty="0">
                <a:latin typeface="Times New Roman"/>
                <a:cs typeface="Times New Roman"/>
              </a:rPr>
              <a:t>biomass of </a:t>
            </a:r>
            <a:r>
              <a:rPr sz="3200" spc="-5" dirty="0">
                <a:latin typeface="Times New Roman"/>
                <a:cs typeface="Times New Roman"/>
              </a:rPr>
              <a:t>the primary  carnivores (or </a:t>
            </a:r>
            <a:r>
              <a:rPr sz="3200" dirty="0">
                <a:latin typeface="Times New Roman"/>
                <a:cs typeface="Times New Roman"/>
              </a:rPr>
              <a:t>secondary consumer) will </a:t>
            </a:r>
            <a:r>
              <a:rPr sz="3200" spc="5" dirty="0">
                <a:latin typeface="Times New Roman"/>
                <a:cs typeface="Times New Roman"/>
              </a:rPr>
              <a:t>be  </a:t>
            </a:r>
            <a:r>
              <a:rPr sz="3200" dirty="0">
                <a:latin typeface="Times New Roman"/>
                <a:cs typeface="Times New Roman"/>
              </a:rPr>
              <a:t>less man the herbivores </a:t>
            </a:r>
            <a:r>
              <a:rPr sz="3200" spc="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so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5"/>
            <a:ext cx="9052420" cy="6857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612140" y="227431"/>
            <a:ext cx="7997190" cy="265938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Pyramid of</a:t>
            </a:r>
            <a:r>
              <a:rPr sz="32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energy</a:t>
            </a:r>
            <a:endParaRPr sz="3200">
              <a:latin typeface="Times New Roman"/>
              <a:cs typeface="Times New Roman"/>
            </a:endParaRPr>
          </a:p>
          <a:p>
            <a:pPr marL="355600" marR="5080" indent="977900" algn="just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When </a:t>
            </a:r>
            <a:r>
              <a:rPr sz="3200" spc="-5" dirty="0">
                <a:latin typeface="Times New Roman"/>
                <a:cs typeface="Times New Roman"/>
              </a:rPr>
              <a:t>production is </a:t>
            </a:r>
            <a:r>
              <a:rPr sz="3200" dirty="0">
                <a:latin typeface="Times New Roman"/>
                <a:cs typeface="Times New Roman"/>
              </a:rPr>
              <a:t>considered </a:t>
            </a:r>
            <a:r>
              <a:rPr sz="3200" spc="-5" dirty="0">
                <a:latin typeface="Times New Roman"/>
                <a:cs typeface="Times New Roman"/>
              </a:rPr>
              <a:t>in terms 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40" dirty="0">
                <a:latin typeface="Times New Roman"/>
                <a:cs typeface="Times New Roman"/>
              </a:rPr>
              <a:t>energy, </a:t>
            </a:r>
            <a:r>
              <a:rPr sz="3200" spc="-5" dirty="0">
                <a:latin typeface="Times New Roman"/>
                <a:cs typeface="Times New Roman"/>
              </a:rPr>
              <a:t>the pyramid indicates </a:t>
            </a:r>
            <a:r>
              <a:rPr sz="3200" dirty="0">
                <a:latin typeface="Times New Roman"/>
                <a:cs typeface="Times New Roman"/>
              </a:rPr>
              <a:t>not </a:t>
            </a:r>
            <a:r>
              <a:rPr sz="3200" spc="-5" dirty="0">
                <a:latin typeface="Times New Roman"/>
                <a:cs typeface="Times New Roman"/>
              </a:rPr>
              <a:t>only the  </a:t>
            </a:r>
            <a:r>
              <a:rPr sz="3200" dirty="0">
                <a:latin typeface="Times New Roman"/>
                <a:cs typeface="Times New Roman"/>
              </a:rPr>
              <a:t>amount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energy </a:t>
            </a:r>
            <a:r>
              <a:rPr sz="3200" dirty="0">
                <a:latin typeface="Times New Roman"/>
                <a:cs typeface="Times New Roman"/>
              </a:rPr>
              <a:t>flow at each level the </a:t>
            </a:r>
            <a:r>
              <a:rPr sz="3200" spc="-5" dirty="0">
                <a:latin typeface="Times New Roman"/>
                <a:cs typeface="Times New Roman"/>
              </a:rPr>
              <a:t>actual  </a:t>
            </a:r>
            <a:r>
              <a:rPr sz="3200" dirty="0">
                <a:latin typeface="Times New Roman"/>
                <a:cs typeface="Times New Roman"/>
              </a:rPr>
              <a:t>role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various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organisms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play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344" y="2860675"/>
            <a:ext cx="46685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7240" algn="l"/>
                <a:tab pos="2378075" algn="l"/>
                <a:tab pos="3300095" algn="l"/>
              </a:tabLst>
            </a:pPr>
            <a:r>
              <a:rPr sz="3200" spc="5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f	ene</a:t>
            </a:r>
            <a:r>
              <a:rPr sz="3200" spc="-7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g</a:t>
            </a:r>
            <a:r>
              <a:rPr sz="3200" spc="-204" dirty="0">
                <a:latin typeface="Times New Roman"/>
                <a:cs typeface="Times New Roman"/>
              </a:rPr>
              <a:t>y</a:t>
            </a:r>
            <a:r>
              <a:rPr sz="3200" dirty="0">
                <a:latin typeface="Times New Roman"/>
                <a:cs typeface="Times New Roman"/>
              </a:rPr>
              <a:t>.	the	py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amid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344" y="3348050"/>
            <a:ext cx="49917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18055" algn="l"/>
                <a:tab pos="2820035" algn="l"/>
                <a:tab pos="3646170" algn="l"/>
              </a:tabLst>
            </a:pPr>
            <a:r>
              <a:rPr sz="3200" dirty="0">
                <a:latin typeface="Times New Roman"/>
                <a:cs typeface="Times New Roman"/>
              </a:rPr>
              <a:t>const</a:t>
            </a:r>
            <a:r>
              <a:rPr sz="3200" spc="-15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ucted	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s	</a:t>
            </a:r>
            <a:r>
              <a:rPr sz="3200" spc="-2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he	qu</a:t>
            </a:r>
            <a:r>
              <a:rPr sz="3200" spc="-10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-1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ity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3228" y="2860675"/>
            <a:ext cx="25844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marR="5080" indent="-227329">
              <a:lnSpc>
                <a:spcPct val="100000"/>
              </a:lnSpc>
              <a:spcBef>
                <a:spcPts val="105"/>
              </a:spcBef>
              <a:tabLst>
                <a:tab pos="775970" algn="l"/>
                <a:tab pos="2299970" algn="l"/>
              </a:tabLst>
            </a:pPr>
            <a:r>
              <a:rPr sz="3200" spc="-10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f	e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65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gy	</a:t>
            </a:r>
            <a:r>
              <a:rPr sz="3200" spc="-5" dirty="0">
                <a:latin typeface="Times New Roman"/>
                <a:cs typeface="Times New Roman"/>
              </a:rPr>
              <a:t>is  </a:t>
            </a:r>
            <a:r>
              <a:rPr sz="3200" spc="-10" dirty="0">
                <a:latin typeface="Times New Roman"/>
                <a:cs typeface="Times New Roman"/>
              </a:rPr>
              <a:t>of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7817" y="3348050"/>
            <a:ext cx="16910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o</a:t>
            </a:r>
            <a:r>
              <a:rPr sz="3200" spc="-7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ganisms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5344" y="3836289"/>
            <a:ext cx="38201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produced </a:t>
            </a:r>
            <a:r>
              <a:rPr sz="3200" spc="5" dirty="0">
                <a:latin typeface="Times New Roman"/>
                <a:cs typeface="Times New Roman"/>
              </a:rPr>
              <a:t>per </a:t>
            </a:r>
            <a:r>
              <a:rPr sz="3200" dirty="0">
                <a:latin typeface="Times New Roman"/>
                <a:cs typeface="Times New Roman"/>
              </a:rPr>
              <a:t>unit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8"/>
            <a:ext cx="9106176" cy="6857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612140" y="239979"/>
            <a:ext cx="7995920" cy="5451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64360">
              <a:lnSpc>
                <a:spcPct val="100000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Classification of</a:t>
            </a:r>
            <a:r>
              <a:rPr sz="2800" b="1" u="heavy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Ecosystems</a:t>
            </a:r>
            <a:endParaRPr sz="28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2690"/>
              </a:lnSpc>
              <a:spcBef>
                <a:spcPts val="650"/>
              </a:spcBef>
              <a:buFont typeface="Wingdings"/>
              <a:buChar char=""/>
              <a:tabLst>
                <a:tab pos="356235" algn="l"/>
                <a:tab pos="2190115" algn="l"/>
                <a:tab pos="4244975" algn="l"/>
                <a:tab pos="5614035" algn="l"/>
                <a:tab pos="7548245" algn="l"/>
              </a:tabLst>
            </a:pPr>
            <a:r>
              <a:rPr sz="2800" spc="-204" dirty="0">
                <a:solidFill>
                  <a:srgbClr val="3366FF"/>
                </a:solidFill>
                <a:latin typeface="Times New Roman"/>
                <a:cs typeface="Times New Roman"/>
              </a:rPr>
              <a:t>T</a:t>
            </a: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errest</a:t>
            </a:r>
            <a:r>
              <a:rPr sz="2800" dirty="0">
                <a:solidFill>
                  <a:srgbClr val="3366FF"/>
                </a:solidFill>
                <a:latin typeface="Times New Roman"/>
                <a:cs typeface="Times New Roman"/>
              </a:rPr>
              <a:t>r</a:t>
            </a: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ial</a:t>
            </a:r>
            <a:r>
              <a:rPr sz="2800" dirty="0">
                <a:solidFill>
                  <a:srgbClr val="3366FF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E</a:t>
            </a:r>
            <a:r>
              <a:rPr sz="2800" spc="-15" dirty="0">
                <a:solidFill>
                  <a:srgbClr val="3366FF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3366FF"/>
                </a:solidFill>
                <a:latin typeface="Times New Roman"/>
                <a:cs typeface="Times New Roman"/>
              </a:rPr>
              <a:t>s</a:t>
            </a: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y</a:t>
            </a:r>
            <a:r>
              <a:rPr sz="2800" dirty="0">
                <a:solidFill>
                  <a:srgbClr val="3366FF"/>
                </a:solidFill>
                <a:latin typeface="Times New Roman"/>
                <a:cs typeface="Times New Roman"/>
              </a:rPr>
              <a:t>s</a:t>
            </a:r>
            <a:r>
              <a:rPr sz="2800" spc="-15" dirty="0">
                <a:solidFill>
                  <a:srgbClr val="3366FF"/>
                </a:solidFill>
                <a:latin typeface="Times New Roman"/>
                <a:cs typeface="Times New Roman"/>
              </a:rPr>
              <a:t>t</a:t>
            </a: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e</a:t>
            </a:r>
            <a:r>
              <a:rPr sz="2800" spc="-25" dirty="0">
                <a:solidFill>
                  <a:srgbClr val="3366FF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3366FF"/>
                </a:solidFill>
                <a:latin typeface="Times New Roman"/>
                <a:cs typeface="Times New Roman"/>
              </a:rPr>
              <a:t>	</a:t>
            </a:r>
            <a:r>
              <a:rPr sz="2800" spc="10" dirty="0">
                <a:latin typeface="Times New Roman"/>
                <a:cs typeface="Times New Roman"/>
              </a:rPr>
              <a:t>-</a:t>
            </a:r>
            <a:r>
              <a:rPr sz="2800" spc="-5" dirty="0">
                <a:latin typeface="Times New Roman"/>
                <a:cs typeface="Times New Roman"/>
              </a:rPr>
              <a:t>wh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enc</a:t>
            </a:r>
            <a:r>
              <a:rPr sz="2800" spc="-20" dirty="0">
                <a:latin typeface="Times New Roman"/>
                <a:cs typeface="Times New Roman"/>
              </a:rPr>
              <a:t>om</a:t>
            </a:r>
            <a:r>
              <a:rPr sz="2800" spc="-5" dirty="0">
                <a:latin typeface="Times New Roman"/>
                <a:cs typeface="Times New Roman"/>
              </a:rPr>
              <a:t>pass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e  activities that take place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land</a:t>
            </a:r>
            <a:endParaRPr sz="2800" dirty="0">
              <a:latin typeface="Times New Roman"/>
              <a:cs typeface="Times New Roman"/>
            </a:endParaRPr>
          </a:p>
          <a:p>
            <a:pPr marL="355600" marR="5715" indent="-343535">
              <a:lnSpc>
                <a:spcPct val="80000"/>
              </a:lnSpc>
              <a:spcBef>
                <a:spcPts val="695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spc="-5" dirty="0">
                <a:solidFill>
                  <a:srgbClr val="3366FF"/>
                </a:solidFill>
                <a:latin typeface="Times New Roman"/>
                <a:cs typeface="Times New Roman"/>
              </a:rPr>
              <a:t>Aquatic ecosystems </a:t>
            </a:r>
            <a:r>
              <a:rPr sz="2800" spc="-5" dirty="0">
                <a:latin typeface="Times New Roman"/>
                <a:cs typeface="Times New Roman"/>
              </a:rPr>
              <a:t>-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system that exists </a:t>
            </a:r>
            <a:r>
              <a:rPr sz="2800" spc="-1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water  </a:t>
            </a:r>
            <a:r>
              <a:rPr sz="2800" dirty="0">
                <a:latin typeface="Times New Roman"/>
                <a:cs typeface="Times New Roman"/>
              </a:rPr>
              <a:t>bodies</a:t>
            </a:r>
          </a:p>
          <a:p>
            <a:pPr marL="12700">
              <a:lnSpc>
                <a:spcPct val="100000"/>
              </a:lnSpc>
            </a:pPr>
            <a:r>
              <a:rPr lang="en-US"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            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Terrestrial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ecosystem</a:t>
            </a:r>
            <a:endParaRPr sz="2800" dirty="0">
              <a:latin typeface="Times New Roman"/>
              <a:cs typeface="Times New Roman"/>
            </a:endParaRPr>
          </a:p>
          <a:p>
            <a:pPr marL="1243965" lvl="1" indent="-317500">
              <a:lnSpc>
                <a:spcPct val="100000"/>
              </a:lnSpc>
              <a:buSzPct val="96428"/>
              <a:buFont typeface="Wingdings"/>
              <a:buChar char=""/>
              <a:tabLst>
                <a:tab pos="1244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Forest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</a:t>
            </a:r>
            <a:endParaRPr sz="2800" dirty="0">
              <a:latin typeface="Times New Roman"/>
              <a:cs typeface="Times New Roman"/>
            </a:endParaRPr>
          </a:p>
          <a:p>
            <a:pPr marL="1243965" lvl="1" indent="-317500">
              <a:lnSpc>
                <a:spcPct val="100000"/>
              </a:lnSpc>
              <a:buSzPct val="96428"/>
              <a:buFont typeface="Wingdings"/>
              <a:buChar char=""/>
              <a:tabLst>
                <a:tab pos="1244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Desert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</a:t>
            </a:r>
            <a:endParaRPr lang="en-US" sz="2800" dirty="0">
              <a:latin typeface="Times New Roman"/>
              <a:cs typeface="Times New Roman"/>
            </a:endParaRPr>
          </a:p>
          <a:p>
            <a:pPr marL="1243965" lvl="1" indent="-317500">
              <a:lnSpc>
                <a:spcPct val="100000"/>
              </a:lnSpc>
              <a:buSzPct val="96428"/>
              <a:buFont typeface="Wingdings"/>
              <a:buChar char=""/>
              <a:tabLst>
                <a:tab pos="1244600" algn="l"/>
              </a:tabLst>
            </a:pPr>
            <a:r>
              <a:rPr sz="2800" spc="-5" dirty="0">
                <a:latin typeface="Times New Roman"/>
                <a:cs typeface="Times New Roman"/>
              </a:rPr>
              <a:t>Grassland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 </a:t>
            </a:r>
            <a:r>
              <a:rPr lang="en-US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                             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Aquatic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ecosystem</a:t>
            </a:r>
            <a:endParaRPr sz="2800" dirty="0">
              <a:latin typeface="Times New Roman"/>
              <a:cs typeface="Times New Roman"/>
            </a:endParaRPr>
          </a:p>
          <a:p>
            <a:pPr marL="1243965" lvl="1" indent="-317500">
              <a:lnSpc>
                <a:spcPct val="100000"/>
              </a:lnSpc>
              <a:buSzPct val="96428"/>
              <a:buFont typeface="Wingdings"/>
              <a:buChar char=""/>
              <a:tabLst>
                <a:tab pos="1244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Marine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</a:t>
            </a:r>
            <a:endParaRPr sz="2800" dirty="0">
              <a:latin typeface="Times New Roman"/>
              <a:cs typeface="Times New Roman"/>
            </a:endParaRPr>
          </a:p>
          <a:p>
            <a:pPr marL="1244600" lvl="1" indent="-318135">
              <a:lnSpc>
                <a:spcPct val="100000"/>
              </a:lnSpc>
              <a:buSzPct val="96428"/>
              <a:buFont typeface="Wingdings"/>
              <a:buChar char=""/>
              <a:tabLst>
                <a:tab pos="1245235" algn="l"/>
              </a:tabLst>
            </a:pPr>
            <a:r>
              <a:rPr sz="2800" spc="-5" dirty="0">
                <a:latin typeface="Times New Roman"/>
                <a:cs typeface="Times New Roman"/>
              </a:rPr>
              <a:t>Fresh water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</a:t>
            </a:r>
            <a:endParaRPr sz="2800" dirty="0">
              <a:latin typeface="Times New Roman"/>
              <a:cs typeface="Times New Roman"/>
            </a:endParaRPr>
          </a:p>
          <a:p>
            <a:pPr marL="1243965" lvl="1" indent="-317500">
              <a:lnSpc>
                <a:spcPct val="100000"/>
              </a:lnSpc>
              <a:buSzPct val="96428"/>
              <a:buFont typeface="Wingdings"/>
              <a:buChar char=""/>
              <a:tabLst>
                <a:tab pos="1244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Estuarine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8636" y="512191"/>
            <a:ext cx="50457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FOREST</a:t>
            </a:r>
            <a:r>
              <a:rPr spc="-105" dirty="0"/>
              <a:t> </a:t>
            </a:r>
            <a:r>
              <a:rPr spc="-10" dirty="0"/>
              <a:t>ECOSYSTEM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0685"/>
            <a:ext cx="8074025" cy="421576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080" indent="63500" algn="just">
              <a:lnSpc>
                <a:spcPct val="90000"/>
              </a:lnSpc>
              <a:spcBef>
                <a:spcPts val="490"/>
              </a:spcBef>
            </a:pPr>
            <a:r>
              <a:rPr sz="3200" dirty="0">
                <a:latin typeface="Times New Roman"/>
                <a:cs typeface="Times New Roman"/>
              </a:rPr>
              <a:t>Undisturbed areas </a:t>
            </a:r>
            <a:r>
              <a:rPr sz="3200" spc="-5" dirty="0">
                <a:latin typeface="Times New Roman"/>
                <a:cs typeface="Times New Roman"/>
              </a:rPr>
              <a:t>with moderate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high  average annual </a:t>
            </a:r>
            <a:r>
              <a:rPr sz="3200" spc="-5" dirty="0">
                <a:latin typeface="Times New Roman"/>
                <a:cs typeface="Times New Roman"/>
              </a:rPr>
              <a:t>rain </a:t>
            </a:r>
            <a:r>
              <a:rPr sz="3200" dirty="0">
                <a:latin typeface="Times New Roman"/>
                <a:cs typeface="Times New Roman"/>
              </a:rPr>
              <a:t>precipitation tend </a:t>
            </a:r>
            <a:r>
              <a:rPr sz="3200" spc="-10" dirty="0">
                <a:latin typeface="Times New Roman"/>
                <a:cs typeface="Times New Roman"/>
              </a:rPr>
              <a:t>to be  </a:t>
            </a:r>
            <a:r>
              <a:rPr sz="3200" dirty="0">
                <a:latin typeface="Times New Roman"/>
                <a:cs typeface="Times New Roman"/>
              </a:rPr>
              <a:t>covered with </a:t>
            </a:r>
            <a:r>
              <a:rPr sz="3200" spc="-5" dirty="0">
                <a:latin typeface="Times New Roman"/>
                <a:cs typeface="Times New Roman"/>
              </a:rPr>
              <a:t>forest, which contains various  </a:t>
            </a:r>
            <a:r>
              <a:rPr sz="3200" dirty="0">
                <a:latin typeface="Times New Roman"/>
                <a:cs typeface="Times New Roman"/>
              </a:rPr>
              <a:t>species of </a:t>
            </a:r>
            <a:r>
              <a:rPr sz="3200" spc="-5" dirty="0">
                <a:latin typeface="Times New Roman"/>
                <a:cs typeface="Times New Roman"/>
              </a:rPr>
              <a:t>trees </a:t>
            </a:r>
            <a:r>
              <a:rPr sz="3200" dirty="0">
                <a:latin typeface="Times New Roman"/>
                <a:cs typeface="Times New Roman"/>
              </a:rPr>
              <a:t>and smaller </a:t>
            </a:r>
            <a:r>
              <a:rPr sz="3200" spc="-5" dirty="0">
                <a:latin typeface="Times New Roman"/>
                <a:cs typeface="Times New Roman"/>
              </a:rPr>
              <a:t>forms </a:t>
            </a:r>
            <a:r>
              <a:rPr sz="3200" spc="5" dirty="0">
                <a:latin typeface="Times New Roman"/>
                <a:cs typeface="Times New Roman"/>
              </a:rPr>
              <a:t>of  </a:t>
            </a:r>
            <a:r>
              <a:rPr sz="3200" dirty="0">
                <a:latin typeface="Times New Roman"/>
                <a:cs typeface="Times New Roman"/>
              </a:rPr>
              <a:t>vegetation.</a:t>
            </a:r>
            <a:endParaRPr sz="3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85"/>
              </a:spcBef>
            </a:pPr>
            <a:r>
              <a:rPr sz="3200" dirty="0">
                <a:latin typeface="Times New Roman"/>
                <a:cs typeface="Times New Roman"/>
              </a:rPr>
              <a:t>There are three important types of forests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endParaRPr sz="3200">
              <a:latin typeface="Times New Roman"/>
              <a:cs typeface="Times New Roman"/>
            </a:endParaRPr>
          </a:p>
          <a:p>
            <a:pPr marL="1243965" indent="-317500">
              <a:lnSpc>
                <a:spcPct val="100000"/>
              </a:lnSpc>
              <a:spcBef>
                <a:spcPts val="340"/>
              </a:spcBef>
              <a:buSzPct val="96428"/>
              <a:buFont typeface="Wingdings"/>
              <a:buChar char=""/>
              <a:tabLst>
                <a:tab pos="1244600" algn="l"/>
              </a:tabLst>
            </a:pPr>
            <a:r>
              <a:rPr sz="2800" spc="-20" dirty="0">
                <a:latin typeface="Times New Roman"/>
                <a:cs typeface="Times New Roman"/>
              </a:rPr>
              <a:t>Tropical </a:t>
            </a:r>
            <a:r>
              <a:rPr sz="2800" spc="-5" dirty="0">
                <a:latin typeface="Times New Roman"/>
                <a:cs typeface="Times New Roman"/>
              </a:rPr>
              <a:t>rain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forests.</a:t>
            </a:r>
            <a:endParaRPr sz="2800">
              <a:latin typeface="Times New Roman"/>
              <a:cs typeface="Times New Roman"/>
            </a:endParaRPr>
          </a:p>
          <a:p>
            <a:pPr marL="1244600" indent="-318135">
              <a:lnSpc>
                <a:spcPct val="100000"/>
              </a:lnSpc>
              <a:spcBef>
                <a:spcPts val="335"/>
              </a:spcBef>
              <a:buSzPct val="96428"/>
              <a:buFont typeface="Wingdings"/>
              <a:buChar char=""/>
              <a:tabLst>
                <a:tab pos="1245235" algn="l"/>
              </a:tabLst>
            </a:pPr>
            <a:r>
              <a:rPr sz="2800" spc="-30" dirty="0">
                <a:latin typeface="Times New Roman"/>
                <a:cs typeface="Times New Roman"/>
              </a:rPr>
              <a:t>Temperate </a:t>
            </a:r>
            <a:r>
              <a:rPr sz="2800" dirty="0">
                <a:latin typeface="Times New Roman"/>
                <a:cs typeface="Times New Roman"/>
              </a:rPr>
              <a:t>deciduous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forests.</a:t>
            </a:r>
            <a:endParaRPr sz="2800">
              <a:latin typeface="Times New Roman"/>
              <a:cs typeface="Times New Roman"/>
            </a:endParaRPr>
          </a:p>
          <a:p>
            <a:pPr marL="1243965" indent="-317500">
              <a:lnSpc>
                <a:spcPct val="100000"/>
              </a:lnSpc>
              <a:spcBef>
                <a:spcPts val="340"/>
              </a:spcBef>
              <a:buSzPct val="96428"/>
              <a:buFont typeface="Wingdings"/>
              <a:buChar char=""/>
              <a:tabLst>
                <a:tab pos="1244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Coniferous </a:t>
            </a:r>
            <a:r>
              <a:rPr sz="2800" dirty="0">
                <a:latin typeface="Times New Roman"/>
                <a:cs typeface="Times New Roman"/>
              </a:rPr>
              <a:t>forests.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241528"/>
            <a:ext cx="8074025" cy="57569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66700" algn="just">
              <a:lnSpc>
                <a:spcPct val="100000"/>
              </a:lnSpc>
              <a:spcBef>
                <a:spcPts val="580"/>
              </a:spcBef>
            </a:pP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Structure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(components) and function of 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forest</a:t>
            </a:r>
            <a:r>
              <a:rPr sz="2000" b="1" spc="-1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ecosystem</a:t>
            </a:r>
            <a:endParaRPr sz="2000">
              <a:latin typeface="Times New Roman"/>
              <a:cs typeface="Times New Roman"/>
            </a:endParaRPr>
          </a:p>
          <a:p>
            <a:pPr marL="287020" indent="-210820" algn="just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Times New Roman"/>
              <a:buAutoNum type="romanUcPeriod"/>
              <a:tabLst>
                <a:tab pos="28702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Abiotic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components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355600" marR="6985" indent="99060" algn="just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abiotic </a:t>
            </a:r>
            <a:r>
              <a:rPr sz="2000" spc="-5" dirty="0">
                <a:latin typeface="Times New Roman"/>
                <a:cs typeface="Times New Roman"/>
              </a:rPr>
              <a:t>components </a:t>
            </a:r>
            <a:r>
              <a:rPr sz="2000" dirty="0">
                <a:latin typeface="Times New Roman"/>
                <a:cs typeface="Times New Roman"/>
              </a:rPr>
              <a:t>are physical ( </a:t>
            </a:r>
            <a:r>
              <a:rPr sz="2000" spc="-10" dirty="0">
                <a:latin typeface="Times New Roman"/>
                <a:cs typeface="Times New Roman"/>
              </a:rPr>
              <a:t>inorganic </a:t>
            </a:r>
            <a:r>
              <a:rPr sz="2000" spc="-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organic </a:t>
            </a:r>
            <a:r>
              <a:rPr sz="2000" spc="-5" dirty="0">
                <a:latin typeface="Times New Roman"/>
                <a:cs typeface="Times New Roman"/>
              </a:rPr>
              <a:t>substances)  components found in soil and atmosphere. (E.g. </a:t>
            </a:r>
            <a:r>
              <a:rPr sz="2000" spc="-15" dirty="0">
                <a:latin typeface="Times New Roman"/>
                <a:cs typeface="Times New Roman"/>
              </a:rPr>
              <a:t>Temperature, </a:t>
            </a:r>
            <a:r>
              <a:rPr sz="2000" spc="-5" dirty="0">
                <a:latin typeface="Times New Roman"/>
                <a:cs typeface="Times New Roman"/>
              </a:rPr>
              <a:t>light, rain   fall)</a:t>
            </a:r>
            <a:endParaRPr sz="2000">
              <a:latin typeface="Times New Roman"/>
              <a:cs typeface="Times New Roman"/>
            </a:endParaRPr>
          </a:p>
          <a:p>
            <a:pPr marL="307975" indent="-295910" algn="just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Times New Roman"/>
              <a:buAutoNum type="romanUcPeriod" startAt="2"/>
              <a:tabLst>
                <a:tab pos="30861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Biotic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components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567690" lvl="1" indent="-365125" algn="just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56832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Producers</a:t>
            </a:r>
            <a:r>
              <a:rPr sz="2000" spc="-5" dirty="0">
                <a:latin typeface="Times New Roman"/>
                <a:cs typeface="Times New Roman"/>
              </a:rPr>
              <a:t>: The plants absorb sunlight and produce food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through</a:t>
            </a:r>
            <a:endParaRPr sz="2000">
              <a:latin typeface="Times New Roman"/>
              <a:cs typeface="Times New Roman"/>
            </a:endParaRPr>
          </a:p>
          <a:p>
            <a:pPr marL="1879600" algn="just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photosynthesis.(e.g. </a:t>
            </a:r>
            <a:r>
              <a:rPr sz="2000" spc="-10" dirty="0">
                <a:latin typeface="Times New Roman"/>
                <a:cs typeface="Times New Roman"/>
              </a:rPr>
              <a:t>Trees, </a:t>
            </a:r>
            <a:r>
              <a:rPr sz="2000" dirty="0">
                <a:latin typeface="Times New Roman"/>
                <a:cs typeface="Times New Roman"/>
              </a:rPr>
              <a:t>shrubs and ground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vegetation)</a:t>
            </a:r>
            <a:endParaRPr sz="2000">
              <a:latin typeface="Times New Roman"/>
              <a:cs typeface="Times New Roman"/>
            </a:endParaRPr>
          </a:p>
          <a:p>
            <a:pPr marL="549910" marR="5080" lvl="1" indent="-549910" algn="just">
              <a:lnSpc>
                <a:spcPct val="100000"/>
              </a:lnSpc>
              <a:spcBef>
                <a:spcPts val="484"/>
              </a:spcBef>
              <a:buFont typeface="Times New Roman"/>
              <a:buAutoNum type="arabicPeriod" startAt="2"/>
              <a:tabLst>
                <a:tab pos="54991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Consumers</a:t>
            </a:r>
            <a:r>
              <a:rPr sz="2000" spc="-5" dirty="0">
                <a:latin typeface="Times New Roman"/>
                <a:cs typeface="Times New Roman"/>
              </a:rPr>
              <a:t>: </a:t>
            </a:r>
            <a:r>
              <a:rPr sz="2000" spc="-10" dirty="0">
                <a:latin typeface="Times New Roman"/>
                <a:cs typeface="Times New Roman"/>
              </a:rPr>
              <a:t>a) </a:t>
            </a:r>
            <a:r>
              <a:rPr sz="20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Primary consumers</a:t>
            </a:r>
            <a:r>
              <a:rPr sz="2000" spc="-5" dirty="0">
                <a:latin typeface="Times New Roman"/>
                <a:cs typeface="Times New Roman"/>
              </a:rPr>
              <a:t>: </a:t>
            </a:r>
            <a:r>
              <a:rPr sz="2000" dirty="0">
                <a:latin typeface="Times New Roman"/>
                <a:cs typeface="Times New Roman"/>
              </a:rPr>
              <a:t>They </a:t>
            </a:r>
            <a:r>
              <a:rPr sz="2000" spc="-5" dirty="0">
                <a:latin typeface="Times New Roman"/>
                <a:cs typeface="Times New Roman"/>
              </a:rPr>
              <a:t>directly </a:t>
            </a:r>
            <a:r>
              <a:rPr sz="2000" dirty="0">
                <a:latin typeface="Times New Roman"/>
                <a:cs typeface="Times New Roman"/>
              </a:rPr>
              <a:t>depend </a:t>
            </a:r>
            <a:r>
              <a:rPr sz="2000" spc="-5" dirty="0">
                <a:latin typeface="Times New Roman"/>
                <a:cs typeface="Times New Roman"/>
              </a:rPr>
              <a:t>on the plants  </a:t>
            </a:r>
            <a:r>
              <a:rPr sz="2000" dirty="0">
                <a:latin typeface="Times New Roman"/>
                <a:cs typeface="Times New Roman"/>
              </a:rPr>
              <a:t>for their food.(e.g.. Ants, </a:t>
            </a:r>
            <a:r>
              <a:rPr sz="2000" spc="-5" dirty="0">
                <a:latin typeface="Times New Roman"/>
                <a:cs typeface="Times New Roman"/>
              </a:rPr>
              <a:t>flies, </a:t>
            </a:r>
            <a:r>
              <a:rPr sz="2000" dirty="0">
                <a:latin typeface="Times New Roman"/>
                <a:cs typeface="Times New Roman"/>
              </a:rPr>
              <a:t>insects, </a:t>
            </a:r>
            <a:r>
              <a:rPr sz="2000" spc="-10" dirty="0">
                <a:latin typeface="Times New Roman"/>
                <a:cs typeface="Times New Roman"/>
              </a:rPr>
              <a:t>mice,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deer)</a:t>
            </a:r>
            <a:endParaRPr sz="2000">
              <a:latin typeface="Times New Roman"/>
              <a:cs typeface="Times New Roman"/>
            </a:endParaRPr>
          </a:p>
          <a:p>
            <a:pPr marL="2260600" marR="5080" lvl="2" indent="-405765" algn="just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Times New Roman"/>
              <a:buAutoNum type="alphaLcParenR" startAt="2"/>
              <a:tabLst>
                <a:tab pos="2233930" algn="l"/>
              </a:tabLst>
            </a:pPr>
            <a:r>
              <a:rPr sz="20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Secondary consumers</a:t>
            </a:r>
            <a:r>
              <a:rPr sz="2000" spc="-5" dirty="0">
                <a:latin typeface="Times New Roman"/>
                <a:cs typeface="Times New Roman"/>
              </a:rPr>
              <a:t>: </a:t>
            </a:r>
            <a:r>
              <a:rPr sz="2000" dirty="0">
                <a:latin typeface="Times New Roman"/>
                <a:cs typeface="Times New Roman"/>
              </a:rPr>
              <a:t>They </a:t>
            </a:r>
            <a:r>
              <a:rPr sz="2000" spc="-5" dirty="0">
                <a:latin typeface="Times New Roman"/>
                <a:cs typeface="Times New Roman"/>
              </a:rPr>
              <a:t>directly </a:t>
            </a:r>
            <a:r>
              <a:rPr sz="2000" dirty="0">
                <a:latin typeface="Times New Roman"/>
                <a:cs typeface="Times New Roman"/>
              </a:rPr>
              <a:t>depend </a:t>
            </a:r>
            <a:r>
              <a:rPr sz="2000" spc="-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the  herbivores for their </a:t>
            </a:r>
            <a:r>
              <a:rPr sz="2000" spc="5" dirty="0">
                <a:latin typeface="Times New Roman"/>
                <a:cs typeface="Times New Roman"/>
              </a:rPr>
              <a:t>food. </a:t>
            </a:r>
            <a:r>
              <a:rPr sz="2000" dirty="0">
                <a:latin typeface="Times New Roman"/>
                <a:cs typeface="Times New Roman"/>
              </a:rPr>
              <a:t>(e.g. Snakes, birds,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fox)</a:t>
            </a:r>
            <a:endParaRPr sz="2000">
              <a:latin typeface="Times New Roman"/>
              <a:cs typeface="Times New Roman"/>
            </a:endParaRPr>
          </a:p>
          <a:p>
            <a:pPr marL="2254250" lvl="2" indent="-399415" algn="just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Times New Roman"/>
              <a:buAutoNum type="alphaLcParenR" startAt="2"/>
              <a:tabLst>
                <a:tab pos="2254885" algn="l"/>
              </a:tabLst>
            </a:pPr>
            <a:r>
              <a:rPr sz="2000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Tertiary </a:t>
            </a:r>
            <a:r>
              <a:rPr sz="20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consumers</a:t>
            </a:r>
            <a:r>
              <a:rPr sz="2000" spc="-5" dirty="0">
                <a:latin typeface="Times New Roman"/>
                <a:cs typeface="Times New Roman"/>
              </a:rPr>
              <a:t>: </a:t>
            </a:r>
            <a:r>
              <a:rPr sz="2000" dirty="0">
                <a:latin typeface="Times New Roman"/>
                <a:cs typeface="Times New Roman"/>
              </a:rPr>
              <a:t>They </a:t>
            </a:r>
            <a:r>
              <a:rPr sz="2000" spc="-5" dirty="0">
                <a:latin typeface="Times New Roman"/>
                <a:cs typeface="Times New Roman"/>
              </a:rPr>
              <a:t>depend on the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primary</a:t>
            </a:r>
            <a:endParaRPr sz="2000">
              <a:latin typeface="Times New Roman"/>
              <a:cs typeface="Times New Roman"/>
            </a:endParaRPr>
          </a:p>
          <a:p>
            <a:pPr marL="22606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carnivores for their food.(e.g. </a:t>
            </a:r>
            <a:r>
              <a:rPr sz="2000" spc="-25" dirty="0">
                <a:latin typeface="Times New Roman"/>
                <a:cs typeface="Times New Roman"/>
              </a:rPr>
              <a:t>.Tiger,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lion)</a:t>
            </a:r>
            <a:endParaRPr sz="2000">
              <a:latin typeface="Times New Roman"/>
              <a:cs typeface="Times New Roman"/>
            </a:endParaRPr>
          </a:p>
          <a:p>
            <a:pPr marL="490220" marR="5080" lvl="1" indent="-490220" algn="just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 startAt="3"/>
              <a:tabLst>
                <a:tab pos="49022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Decomposers</a:t>
            </a:r>
            <a:r>
              <a:rPr sz="2000" spc="-5" dirty="0">
                <a:latin typeface="Times New Roman"/>
                <a:cs typeface="Times New Roman"/>
              </a:rPr>
              <a:t>: Rate of decomposition in tropical and subtropical forests  is more rapid </a:t>
            </a:r>
            <a:r>
              <a:rPr sz="2000" spc="-10" dirty="0">
                <a:latin typeface="Times New Roman"/>
                <a:cs typeface="Times New Roman"/>
              </a:rPr>
              <a:t>than </a:t>
            </a:r>
            <a:r>
              <a:rPr sz="2000" spc="-5" dirty="0">
                <a:latin typeface="Times New Roman"/>
                <a:cs typeface="Times New Roman"/>
              </a:rPr>
              <a:t>in the temperate forests. (e.g. Bacteria  </a:t>
            </a:r>
            <a:r>
              <a:rPr sz="2000" dirty="0">
                <a:latin typeface="Times New Roman"/>
                <a:cs typeface="Times New Roman"/>
              </a:rPr>
              <a:t>and fungi).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6469" y="512191"/>
            <a:ext cx="62122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GRASSLAND ECOSYSTEM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1281"/>
            <a:ext cx="8074025" cy="403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Grasslands </a:t>
            </a:r>
            <a:r>
              <a:rPr sz="2800" spc="-5" dirty="0">
                <a:latin typeface="Times New Roman"/>
                <a:cs typeface="Times New Roman"/>
              </a:rPr>
              <a:t>are regions with enough average annual  rain precipitation to allow </a:t>
            </a:r>
            <a:r>
              <a:rPr sz="2800" dirty="0">
                <a:latin typeface="Times New Roman"/>
                <a:cs typeface="Times New Roman"/>
              </a:rPr>
              <a:t>grass </a:t>
            </a:r>
            <a:r>
              <a:rPr sz="2800" spc="-5" dirty="0">
                <a:latin typeface="Times New Roman"/>
                <a:cs typeface="Times New Roman"/>
              </a:rPr>
              <a:t>to grow </a:t>
            </a:r>
            <a:r>
              <a:rPr sz="2800" spc="-20" dirty="0">
                <a:latin typeface="Times New Roman"/>
                <a:cs typeface="Times New Roman"/>
              </a:rPr>
              <a:t>extensively.  </a:t>
            </a:r>
            <a:r>
              <a:rPr sz="2800" spc="-5" dirty="0">
                <a:latin typeface="Times New Roman"/>
                <a:cs typeface="Times New Roman"/>
              </a:rPr>
              <a:t>But drought and fire does </a:t>
            </a:r>
            <a:r>
              <a:rPr sz="2800" dirty="0">
                <a:latin typeface="Times New Roman"/>
                <a:cs typeface="Times New Roman"/>
              </a:rPr>
              <a:t>not </a:t>
            </a:r>
            <a:r>
              <a:rPr sz="2800" spc="-5" dirty="0">
                <a:latin typeface="Times New Roman"/>
                <a:cs typeface="Times New Roman"/>
              </a:rPr>
              <a:t>allow trees to grow  </a:t>
            </a:r>
            <a:r>
              <a:rPr sz="2800" spc="-25" dirty="0">
                <a:latin typeface="Times New Roman"/>
                <a:cs typeface="Times New Roman"/>
              </a:rPr>
              <a:t>taller.</a:t>
            </a:r>
            <a:endParaRPr sz="28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Grasslands </a:t>
            </a:r>
            <a:r>
              <a:rPr sz="2800" spc="-5" dirty="0">
                <a:latin typeface="Times New Roman"/>
                <a:cs typeface="Times New Roman"/>
              </a:rPr>
              <a:t>are rich biological communities of  </a:t>
            </a:r>
            <a:r>
              <a:rPr sz="2800" dirty="0">
                <a:latin typeface="Times New Roman"/>
                <a:cs typeface="Times New Roman"/>
              </a:rPr>
              <a:t>grasses, </a:t>
            </a:r>
            <a:r>
              <a:rPr sz="2800" spc="-5" dirty="0">
                <a:latin typeface="Times New Roman"/>
                <a:cs typeface="Times New Roman"/>
              </a:rPr>
              <a:t>seasonal flowering plants and open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savannas.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Great Plains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central North America, Russia, </a:t>
            </a:r>
            <a:r>
              <a:rPr sz="2800" spc="-15" dirty="0">
                <a:latin typeface="Times New Roman"/>
                <a:cs typeface="Times New Roman"/>
              </a:rPr>
              <a:t>and  </a:t>
            </a:r>
            <a:r>
              <a:rPr sz="2800" dirty="0">
                <a:latin typeface="Times New Roman"/>
                <a:cs typeface="Times New Roman"/>
              </a:rPr>
              <a:t>South </a:t>
            </a:r>
            <a:r>
              <a:rPr sz="2800" spc="-5" dirty="0">
                <a:latin typeface="Times New Roman"/>
                <a:cs typeface="Times New Roman"/>
              </a:rPr>
              <a:t>American are some of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important grasslands  in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world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794" y="300354"/>
            <a:ext cx="6815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Structure </a:t>
            </a:r>
            <a:r>
              <a:rPr sz="2400" b="1" spc="-5" dirty="0">
                <a:latin typeface="Times New Roman"/>
                <a:cs typeface="Times New Roman"/>
              </a:rPr>
              <a:t>and function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the grassland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Ecosystems: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89988" y="1028700"/>
            <a:ext cx="868680" cy="680085"/>
            <a:chOff x="2189988" y="1028700"/>
            <a:chExt cx="868680" cy="680085"/>
          </a:xfrm>
        </p:grpSpPr>
        <p:sp>
          <p:nvSpPr>
            <p:cNvPr id="4" name="object 4"/>
            <p:cNvSpPr/>
            <p:nvPr/>
          </p:nvSpPr>
          <p:spPr>
            <a:xfrm>
              <a:off x="2189988" y="1028700"/>
              <a:ext cx="827532" cy="679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73096" y="1231392"/>
              <a:ext cx="385571" cy="4663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7700" y="739266"/>
            <a:ext cx="8038465" cy="366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81280" indent="1143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AutoNum type="romanUcPeriod"/>
              <a:tabLst>
                <a:tab pos="774065" algn="l"/>
                <a:tab pos="774700" algn="l"/>
                <a:tab pos="1959610" algn="l"/>
                <a:tab pos="2411095" algn="l"/>
                <a:tab pos="3840479" algn="l"/>
                <a:tab pos="4804410" algn="l"/>
                <a:tab pos="5866130" algn="l"/>
                <a:tab pos="7576820" algn="l"/>
              </a:tabLst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io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ic	c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o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mponent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:	T</a:t>
            </a:r>
            <a:r>
              <a:rPr sz="2400" spc="-15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se</a:t>
            </a:r>
            <a:r>
              <a:rPr sz="2400" dirty="0">
                <a:latin typeface="Times New Roman"/>
                <a:cs typeface="Times New Roman"/>
              </a:rPr>
              <a:t>	a</a:t>
            </a:r>
            <a:r>
              <a:rPr sz="2400" spc="-1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tic	co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ponents	are  supplied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</a:t>
            </a:r>
            <a:r>
              <a:rPr sz="2400" spc="-15" baseline="-20833" dirty="0">
                <a:latin typeface="Times New Roman"/>
                <a:cs typeface="Times New Roman"/>
              </a:rPr>
              <a:t>2	</a:t>
            </a:r>
            <a:r>
              <a:rPr sz="2400" dirty="0">
                <a:latin typeface="Times New Roman"/>
                <a:cs typeface="Times New Roman"/>
              </a:rPr>
              <a:t>(Nutrients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C,H,O,N,P,S,etc.)</a:t>
            </a:r>
            <a:endParaRPr sz="2400">
              <a:latin typeface="Times New Roman"/>
              <a:cs typeface="Times New Roman"/>
            </a:endParaRPr>
          </a:p>
          <a:p>
            <a:pPr marL="713105" indent="-355600">
              <a:lnSpc>
                <a:spcPct val="100000"/>
              </a:lnSpc>
              <a:spcBef>
                <a:spcPts val="195"/>
              </a:spcBef>
              <a:buClr>
                <a:srgbClr val="000000"/>
              </a:buClr>
              <a:buFont typeface="Times New Roman"/>
              <a:buAutoNum type="romanUcPeriod"/>
              <a:tabLst>
                <a:tab pos="713740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Biotic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components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243840" marR="81280" lvl="1" indent="342900">
              <a:lnSpc>
                <a:spcPts val="2500"/>
              </a:lnSpc>
              <a:spcBef>
                <a:spcPts val="600"/>
              </a:spcBef>
              <a:buClr>
                <a:srgbClr val="000000"/>
              </a:buClr>
              <a:buFont typeface="Times New Roman"/>
              <a:buAutoNum type="arabicPeriod"/>
              <a:tabLst>
                <a:tab pos="1028700" algn="l"/>
                <a:tab pos="1029335" algn="l"/>
                <a:tab pos="2659380" algn="l"/>
                <a:tab pos="3497579" algn="l"/>
                <a:tab pos="4692650" algn="l"/>
                <a:tab pos="6668134" algn="l"/>
                <a:tab pos="750824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oducer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:	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hey	produce	foo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5" dirty="0">
                <a:latin typeface="Times New Roman"/>
                <a:cs typeface="Times New Roman"/>
              </a:rPr>
              <a:t>(Gra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ses,</a:t>
            </a:r>
            <a:r>
              <a:rPr sz="2400" dirty="0">
                <a:latin typeface="Times New Roman"/>
                <a:cs typeface="Times New Roman"/>
              </a:rPr>
              <a:t>	forbs	and  shrubs)</a:t>
            </a:r>
            <a:endParaRPr sz="2400">
              <a:latin typeface="Times New Roman"/>
              <a:cs typeface="Times New Roman"/>
            </a:endParaRPr>
          </a:p>
          <a:p>
            <a:pPr marL="891540" lvl="1" indent="-305435">
              <a:lnSpc>
                <a:spcPct val="100000"/>
              </a:lnSpc>
              <a:spcBef>
                <a:spcPts val="170"/>
              </a:spcBef>
              <a:buClr>
                <a:srgbClr val="000000"/>
              </a:buClr>
              <a:buFont typeface="Times New Roman"/>
              <a:buAutoNum type="arabicPeriod"/>
              <a:tabLst>
                <a:tab pos="89217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Consumers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95300" marR="83185" indent="-457834">
              <a:lnSpc>
                <a:spcPts val="2500"/>
              </a:lnSpc>
              <a:spcBef>
                <a:spcPts val="605"/>
              </a:spcBef>
              <a:buAutoNum type="alphaLcParenR"/>
              <a:tabLst>
                <a:tab pos="495300" algn="l"/>
                <a:tab pos="495934" algn="l"/>
                <a:tab pos="1760220" algn="l"/>
                <a:tab pos="3432175" algn="l"/>
                <a:tab pos="4239895" algn="l"/>
                <a:tab pos="5300980" algn="l"/>
                <a:tab pos="5787390" algn="l"/>
                <a:tab pos="6851015" algn="l"/>
                <a:tab pos="7387590" algn="l"/>
              </a:tabLst>
            </a:pPr>
            <a:r>
              <a:rPr sz="2400" b="1" dirty="0">
                <a:latin typeface="Times New Roman"/>
                <a:cs typeface="Times New Roman"/>
              </a:rPr>
              <a:t>pri</a:t>
            </a:r>
            <a:r>
              <a:rPr sz="2400" b="1" spc="5" dirty="0">
                <a:latin typeface="Times New Roman"/>
                <a:cs typeface="Times New Roman"/>
              </a:rPr>
              <a:t>m</a:t>
            </a:r>
            <a:r>
              <a:rPr sz="2400" b="1" spc="-15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ry	c</a:t>
            </a:r>
            <a:r>
              <a:rPr sz="2400" b="1" spc="-10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nsumer</a:t>
            </a:r>
            <a:r>
              <a:rPr sz="2400" b="1" dirty="0">
                <a:latin typeface="Times New Roman"/>
                <a:cs typeface="Times New Roman"/>
              </a:rPr>
              <a:t>s:	</a:t>
            </a:r>
            <a:r>
              <a:rPr sz="2400" dirty="0">
                <a:latin typeface="Times New Roman"/>
                <a:cs typeface="Times New Roman"/>
              </a:rPr>
              <a:t>They	depe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d	on	gra</a:t>
            </a:r>
            <a:r>
              <a:rPr sz="2400" spc="-5" dirty="0">
                <a:latin typeface="Times New Roman"/>
                <a:cs typeface="Times New Roman"/>
              </a:rPr>
              <a:t>sses</a:t>
            </a:r>
            <a:r>
              <a:rPr sz="2400" dirty="0">
                <a:latin typeface="Times New Roman"/>
                <a:cs typeface="Times New Roman"/>
              </a:rPr>
              <a:t>	for	their  </a:t>
            </a:r>
            <a:r>
              <a:rPr sz="2400" spc="-5" dirty="0">
                <a:latin typeface="Times New Roman"/>
                <a:cs typeface="Times New Roman"/>
              </a:rPr>
              <a:t>food.(Cows, </a:t>
            </a:r>
            <a:r>
              <a:rPr sz="2400" spc="-10" dirty="0">
                <a:latin typeface="Times New Roman"/>
                <a:cs typeface="Times New Roman"/>
              </a:rPr>
              <a:t>buffaloes, </a:t>
            </a:r>
            <a:r>
              <a:rPr sz="2400" spc="-20" dirty="0">
                <a:latin typeface="Times New Roman"/>
                <a:cs typeface="Times New Roman"/>
              </a:rPr>
              <a:t>deer, </a:t>
            </a:r>
            <a:r>
              <a:rPr sz="2400" dirty="0">
                <a:latin typeface="Times New Roman"/>
                <a:cs typeface="Times New Roman"/>
              </a:rPr>
              <a:t>sheep,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etc.,)</a:t>
            </a:r>
            <a:endParaRPr sz="2400">
              <a:latin typeface="Times New Roman"/>
              <a:cs typeface="Times New Roman"/>
            </a:endParaRPr>
          </a:p>
          <a:p>
            <a:pPr marL="495300" marR="81915" indent="-457834">
              <a:lnSpc>
                <a:spcPts val="2510"/>
              </a:lnSpc>
              <a:spcBef>
                <a:spcPts val="560"/>
              </a:spcBef>
              <a:buAutoNum type="alphaLcParenR"/>
              <a:tabLst>
                <a:tab pos="495300" algn="l"/>
                <a:tab pos="495934" algn="l"/>
                <a:tab pos="1971675" algn="l"/>
                <a:tab pos="3619500" algn="l"/>
                <a:tab pos="4403090" algn="l"/>
                <a:tab pos="5081270" algn="l"/>
                <a:tab pos="554355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secondary	</a:t>
            </a:r>
            <a:r>
              <a:rPr sz="2400" b="1" dirty="0">
                <a:latin typeface="Times New Roman"/>
                <a:cs typeface="Times New Roman"/>
              </a:rPr>
              <a:t>consumers:	</a:t>
            </a:r>
            <a:r>
              <a:rPr sz="2400" dirty="0">
                <a:latin typeface="Times New Roman"/>
                <a:cs typeface="Times New Roman"/>
              </a:rPr>
              <a:t>They	</a:t>
            </a:r>
            <a:r>
              <a:rPr sz="2400" spc="-5" dirty="0">
                <a:latin typeface="Times New Roman"/>
                <a:cs typeface="Times New Roman"/>
              </a:rPr>
              <a:t>feed	</a:t>
            </a:r>
            <a:r>
              <a:rPr sz="2400" dirty="0">
                <a:latin typeface="Times New Roman"/>
                <a:cs typeface="Times New Roman"/>
              </a:rPr>
              <a:t>on	</a:t>
            </a:r>
            <a:r>
              <a:rPr sz="2400" spc="-5" dirty="0">
                <a:latin typeface="Times New Roman"/>
                <a:cs typeface="Times New Roman"/>
              </a:rPr>
              <a:t>herbivores.(Snakes,  </a:t>
            </a:r>
            <a:r>
              <a:rPr sz="2400" dirty="0">
                <a:latin typeface="Times New Roman"/>
                <a:cs typeface="Times New Roman"/>
              </a:rPr>
              <a:t>lizards, birds, jackals, fox,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etc.,)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35940" y="4452620"/>
            <a:ext cx="222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c)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4402328"/>
            <a:ext cx="7729855" cy="14173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6985" indent="961390">
              <a:lnSpc>
                <a:spcPts val="2500"/>
              </a:lnSpc>
              <a:spcBef>
                <a:spcPts val="500"/>
              </a:spcBef>
              <a:tabLst>
                <a:tab pos="2346325" algn="l"/>
                <a:tab pos="4119879" algn="l"/>
                <a:tab pos="5048250" algn="l"/>
                <a:tab pos="5873115" algn="l"/>
                <a:tab pos="6480175" algn="l"/>
              </a:tabLst>
            </a:pPr>
            <a:r>
              <a:rPr sz="2400" b="1" spc="-235" dirty="0">
                <a:latin typeface="Times New Roman"/>
                <a:cs typeface="Times New Roman"/>
              </a:rPr>
              <a:t>T</a:t>
            </a:r>
            <a:r>
              <a:rPr sz="2400" b="1" dirty="0">
                <a:latin typeface="Times New Roman"/>
                <a:cs typeface="Times New Roman"/>
              </a:rPr>
              <a:t>erti</a:t>
            </a:r>
            <a:r>
              <a:rPr sz="2400" b="1" spc="-10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ry	c</a:t>
            </a:r>
            <a:r>
              <a:rPr sz="2400" b="1" spc="-10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nsumer</a:t>
            </a:r>
            <a:r>
              <a:rPr sz="2400" b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:	They	feed	on	secondary  </a:t>
            </a:r>
            <a:r>
              <a:rPr sz="2400" spc="-5" dirty="0">
                <a:latin typeface="Times New Roman"/>
                <a:cs typeface="Times New Roman"/>
              </a:rPr>
              <a:t>consumers.(Hawks, </a:t>
            </a:r>
            <a:r>
              <a:rPr sz="2400" dirty="0">
                <a:latin typeface="Times New Roman"/>
                <a:cs typeface="Times New Roman"/>
              </a:rPr>
              <a:t>eagles,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etc.,)</a:t>
            </a:r>
            <a:endParaRPr sz="2400">
              <a:latin typeface="Times New Roman"/>
              <a:cs typeface="Times New Roman"/>
            </a:endParaRPr>
          </a:p>
          <a:p>
            <a:pPr marL="12700" marR="5080" indent="342900">
              <a:lnSpc>
                <a:spcPts val="2500"/>
              </a:lnSpc>
              <a:spcBef>
                <a:spcPts val="580"/>
              </a:spcBef>
              <a:tabLst>
                <a:tab pos="2529205" algn="l"/>
                <a:tab pos="3370579" algn="l"/>
                <a:tab pos="3942079" algn="l"/>
                <a:tab pos="5036185" algn="l"/>
                <a:tab pos="6637020" algn="l"/>
                <a:tab pos="7141209" algn="l"/>
              </a:tabLst>
            </a:pPr>
            <a:r>
              <a:rPr sz="2400" spc="-5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Decomposer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:	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ungi	and	b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cte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ia	(dec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pose	the	dead  </a:t>
            </a:r>
            <a:r>
              <a:rPr sz="2400" spc="-10" dirty="0">
                <a:latin typeface="Times New Roman"/>
                <a:cs typeface="Times New Roman"/>
              </a:rPr>
              <a:t>organic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matter.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4129" y="478663"/>
            <a:ext cx="55562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DESERT</a:t>
            </a:r>
            <a:r>
              <a:rPr sz="4400" spc="-170" dirty="0"/>
              <a:t> </a:t>
            </a:r>
            <a:r>
              <a:rPr sz="4400" dirty="0"/>
              <a:t>ECOSYSTEM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5080" indent="-342900" algn="just">
              <a:lnSpc>
                <a:spcPts val="2300"/>
              </a:lnSpc>
              <a:spcBef>
                <a:spcPts val="660"/>
              </a:spcBef>
              <a:buFont typeface="Wingdings"/>
              <a:buChar char=""/>
              <a:tabLst>
                <a:tab pos="355600" algn="l"/>
              </a:tabLst>
            </a:pPr>
            <a:r>
              <a:rPr spc="-5" dirty="0"/>
              <a:t>Deserts </a:t>
            </a:r>
            <a:r>
              <a:rPr spc="-15" dirty="0"/>
              <a:t>are </a:t>
            </a:r>
            <a:r>
              <a:rPr dirty="0"/>
              <a:t>dry </a:t>
            </a:r>
            <a:r>
              <a:rPr spc="-5" dirty="0"/>
              <a:t>places </a:t>
            </a:r>
            <a:r>
              <a:rPr dirty="0"/>
              <a:t>with </a:t>
            </a:r>
            <a:r>
              <a:rPr spc="-10" dirty="0"/>
              <a:t>unpredictable </a:t>
            </a:r>
            <a:r>
              <a:rPr spc="-5" dirty="0"/>
              <a:t>and </a:t>
            </a:r>
            <a:r>
              <a:rPr spc="-10" dirty="0"/>
              <a:t>infrequent  precipitation. </a:t>
            </a:r>
            <a:r>
              <a:rPr dirty="0"/>
              <a:t>A </a:t>
            </a:r>
            <a:r>
              <a:rPr spc="-5" dirty="0"/>
              <a:t>desert </a:t>
            </a:r>
            <a:r>
              <a:rPr dirty="0"/>
              <a:t>is an </a:t>
            </a:r>
            <a:r>
              <a:rPr spc="-10" dirty="0"/>
              <a:t>area where </a:t>
            </a:r>
            <a:r>
              <a:rPr spc="-15" dirty="0"/>
              <a:t>evaporation exceeds  </a:t>
            </a:r>
            <a:r>
              <a:rPr spc="-10" dirty="0"/>
              <a:t>precipitation.</a:t>
            </a:r>
          </a:p>
          <a:p>
            <a:pPr marL="355600" marR="6350" indent="-342900" algn="just">
              <a:lnSpc>
                <a:spcPts val="2300"/>
              </a:lnSpc>
              <a:spcBef>
                <a:spcPts val="590"/>
              </a:spcBef>
              <a:buFont typeface="Wingdings"/>
              <a:buChar char=""/>
              <a:tabLst>
                <a:tab pos="355600" algn="l"/>
              </a:tabLst>
            </a:pPr>
            <a:r>
              <a:rPr spc="-5" dirty="0"/>
              <a:t>Daily </a:t>
            </a:r>
            <a:r>
              <a:rPr dirty="0"/>
              <a:t>and </a:t>
            </a:r>
            <a:r>
              <a:rPr spc="-5" dirty="0"/>
              <a:t>seasonal </a:t>
            </a:r>
            <a:r>
              <a:rPr spc="-15" dirty="0"/>
              <a:t>temperature </a:t>
            </a:r>
            <a:r>
              <a:rPr spc="-5" dirty="0"/>
              <a:t>of </a:t>
            </a:r>
            <a:r>
              <a:rPr dirty="0"/>
              <a:t>the </a:t>
            </a:r>
            <a:r>
              <a:rPr spc="-5" dirty="0"/>
              <a:t>desert </a:t>
            </a:r>
            <a:r>
              <a:rPr dirty="0"/>
              <a:t>will </a:t>
            </a:r>
            <a:r>
              <a:rPr spc="-10" dirty="0"/>
              <a:t>vary </a:t>
            </a:r>
            <a:r>
              <a:rPr spc="-5" dirty="0"/>
              <a:t>since  desert has very </a:t>
            </a:r>
            <a:r>
              <a:rPr spc="-10" dirty="0"/>
              <a:t>little moisture </a:t>
            </a:r>
            <a:r>
              <a:rPr spc="-15" dirty="0"/>
              <a:t>to </a:t>
            </a:r>
            <a:r>
              <a:rPr spc="-5" dirty="0"/>
              <a:t>absorb </a:t>
            </a:r>
            <a:r>
              <a:rPr dirty="0"/>
              <a:t>and </a:t>
            </a:r>
            <a:r>
              <a:rPr spc="-20" dirty="0"/>
              <a:t>store </a:t>
            </a:r>
            <a:r>
              <a:rPr dirty="0"/>
              <a:t>sun  </a:t>
            </a:r>
            <a:r>
              <a:rPr spc="-10" dirty="0"/>
              <a:t>radiation.</a:t>
            </a:r>
          </a:p>
          <a:p>
            <a:pPr marL="355600" marR="6350" indent="-342900" algn="just">
              <a:lnSpc>
                <a:spcPts val="2300"/>
              </a:lnSpc>
              <a:spcBef>
                <a:spcPts val="590"/>
              </a:spcBef>
              <a:buFont typeface="Wingdings"/>
              <a:buChar char=""/>
              <a:tabLst>
                <a:tab pos="424180" algn="l"/>
              </a:tabLst>
            </a:pPr>
            <a:r>
              <a:rPr dirty="0"/>
              <a:t>	</a:t>
            </a:r>
            <a:r>
              <a:rPr spc="-5" dirty="0"/>
              <a:t>Deserts </a:t>
            </a:r>
            <a:r>
              <a:rPr spc="-10" dirty="0"/>
              <a:t>with </a:t>
            </a:r>
            <a:r>
              <a:rPr dirty="0"/>
              <a:t>less </a:t>
            </a:r>
            <a:r>
              <a:rPr spc="-5" dirty="0"/>
              <a:t>than 2.5 cm of </a:t>
            </a:r>
            <a:r>
              <a:rPr spc="-10" dirty="0"/>
              <a:t>precipitation </a:t>
            </a:r>
            <a:r>
              <a:rPr spc="-5" dirty="0"/>
              <a:t>supports  almost </a:t>
            </a:r>
            <a:r>
              <a:rPr spc="-25" dirty="0"/>
              <a:t>zero</a:t>
            </a:r>
            <a:r>
              <a:rPr spc="-50" dirty="0"/>
              <a:t> </a:t>
            </a:r>
            <a:r>
              <a:rPr spc="-15" dirty="0"/>
              <a:t>vegetation.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600"/>
              </a:spcBef>
              <a:buFont typeface="Wingdings"/>
              <a:buChar char=""/>
              <a:tabLst>
                <a:tab pos="424180" algn="l"/>
              </a:tabLst>
            </a:pPr>
            <a:r>
              <a:rPr dirty="0"/>
              <a:t>	</a:t>
            </a:r>
            <a:r>
              <a:rPr spc="-5" dirty="0"/>
              <a:t>Deserts </a:t>
            </a:r>
            <a:r>
              <a:rPr spc="-10" dirty="0"/>
              <a:t>with </a:t>
            </a:r>
            <a:r>
              <a:rPr spc="-5" dirty="0"/>
              <a:t>2.5 </a:t>
            </a:r>
            <a:r>
              <a:rPr spc="-15" dirty="0"/>
              <a:t>to </a:t>
            </a:r>
            <a:r>
              <a:rPr spc="-10" dirty="0"/>
              <a:t>5.0 </a:t>
            </a:r>
            <a:r>
              <a:rPr spc="-5" dirty="0"/>
              <a:t>cm </a:t>
            </a:r>
            <a:r>
              <a:rPr spc="-10" dirty="0"/>
              <a:t>precipitation </a:t>
            </a:r>
            <a:r>
              <a:rPr spc="-20" dirty="0"/>
              <a:t>have </a:t>
            </a:r>
            <a:r>
              <a:rPr dirty="0"/>
              <a:t>thin </a:t>
            </a:r>
            <a:r>
              <a:rPr spc="-10" dirty="0"/>
              <a:t>(scanty)  vegetation(less </a:t>
            </a:r>
            <a:r>
              <a:rPr dirty="0"/>
              <a:t>than </a:t>
            </a:r>
            <a:r>
              <a:rPr spc="-5" dirty="0"/>
              <a:t>10% of </a:t>
            </a:r>
            <a:r>
              <a:rPr dirty="0"/>
              <a:t>the </a:t>
            </a:r>
            <a:r>
              <a:rPr spc="-10" dirty="0"/>
              <a:t>ground </a:t>
            </a:r>
            <a:r>
              <a:rPr dirty="0"/>
              <a:t>is</a:t>
            </a:r>
            <a:r>
              <a:rPr spc="-50" dirty="0"/>
              <a:t> </a:t>
            </a:r>
            <a:r>
              <a:rPr spc="-15" dirty="0"/>
              <a:t>covered).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57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Seasonal leaf </a:t>
            </a:r>
            <a:r>
              <a:rPr spc="-10" dirty="0"/>
              <a:t>production, </a:t>
            </a:r>
            <a:r>
              <a:rPr spc="-20" dirty="0"/>
              <a:t>water-storage </a:t>
            </a:r>
            <a:r>
              <a:rPr dirty="0"/>
              <a:t>tissues and </a:t>
            </a:r>
            <a:r>
              <a:rPr spc="-5" dirty="0"/>
              <a:t>thick  </a:t>
            </a:r>
            <a:r>
              <a:rPr dirty="0"/>
              <a:t>epidermal </a:t>
            </a:r>
            <a:r>
              <a:rPr spc="-15" dirty="0"/>
              <a:t>layer </a:t>
            </a:r>
            <a:r>
              <a:rPr dirty="0"/>
              <a:t>help </a:t>
            </a:r>
            <a:r>
              <a:rPr spc="-15" dirty="0"/>
              <a:t>to </a:t>
            </a:r>
            <a:r>
              <a:rPr spc="-5" dirty="0"/>
              <a:t>reduce </a:t>
            </a:r>
            <a:r>
              <a:rPr spc="-15" dirty="0"/>
              <a:t>water</a:t>
            </a:r>
            <a:r>
              <a:rPr spc="-45" dirty="0"/>
              <a:t> </a:t>
            </a:r>
            <a:r>
              <a:rPr spc="-5" dirty="0"/>
              <a:t>loss.</a:t>
            </a:r>
          </a:p>
          <a:p>
            <a:pPr marL="424180" indent="-411480" algn="just">
              <a:lnSpc>
                <a:spcPts val="2595"/>
              </a:lnSpc>
              <a:buFont typeface="Wingdings"/>
              <a:buChar char=""/>
              <a:tabLst>
                <a:tab pos="424180" algn="l"/>
              </a:tabLst>
            </a:pPr>
            <a:r>
              <a:rPr dirty="0"/>
              <a:t>A </a:t>
            </a:r>
            <a:r>
              <a:rPr spc="-10" dirty="0"/>
              <a:t>combination </a:t>
            </a:r>
            <a:r>
              <a:rPr spc="-5" dirty="0"/>
              <a:t>of low </a:t>
            </a:r>
            <a:r>
              <a:rPr spc="-15" dirty="0"/>
              <a:t>rainfall </a:t>
            </a:r>
            <a:r>
              <a:rPr dirty="0"/>
              <a:t>and </a:t>
            </a:r>
            <a:r>
              <a:rPr spc="-20" dirty="0"/>
              <a:t>different</a:t>
            </a:r>
            <a:r>
              <a:rPr spc="45" dirty="0"/>
              <a:t> </a:t>
            </a:r>
            <a:r>
              <a:rPr spc="-20" dirty="0"/>
              <a:t>average</a:t>
            </a:r>
          </a:p>
          <a:p>
            <a:pPr marL="355600" algn="just">
              <a:lnSpc>
                <a:spcPts val="2595"/>
              </a:lnSpc>
            </a:pPr>
            <a:r>
              <a:rPr spc="-10" dirty="0"/>
              <a:t>temperatures </a:t>
            </a:r>
            <a:r>
              <a:rPr spc="-15" dirty="0"/>
              <a:t>creates </a:t>
            </a:r>
            <a:r>
              <a:rPr spc="-10" dirty="0"/>
              <a:t>tropical, </a:t>
            </a:r>
            <a:r>
              <a:rPr spc="-15" dirty="0"/>
              <a:t>temperate </a:t>
            </a:r>
            <a:r>
              <a:rPr dirty="0"/>
              <a:t>and </a:t>
            </a:r>
            <a:r>
              <a:rPr spc="-10" dirty="0"/>
              <a:t>cold</a:t>
            </a:r>
            <a:r>
              <a:rPr spc="-25" dirty="0"/>
              <a:t> </a:t>
            </a:r>
            <a:r>
              <a:rPr spc="-5" dirty="0"/>
              <a:t>deserts.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231140" y="218058"/>
            <a:ext cx="8379459" cy="58058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solidFill>
                  <a:srgbClr val="006FC0"/>
                </a:solidFill>
                <a:latin typeface="Carlito"/>
                <a:cs typeface="Carlito"/>
              </a:rPr>
              <a:t>Structure </a:t>
            </a:r>
            <a:r>
              <a:rPr sz="2400" b="1" dirty="0">
                <a:solidFill>
                  <a:srgbClr val="006FC0"/>
                </a:solidFill>
                <a:latin typeface="Carlito"/>
                <a:cs typeface="Carlito"/>
              </a:rPr>
              <a:t>and </a:t>
            </a:r>
            <a:r>
              <a:rPr sz="2400" b="1" spc="-5" dirty="0">
                <a:solidFill>
                  <a:srgbClr val="006FC0"/>
                </a:solidFill>
                <a:latin typeface="Carlito"/>
                <a:cs typeface="Carlito"/>
              </a:rPr>
              <a:t>functions </a:t>
            </a:r>
            <a:r>
              <a:rPr sz="2400" b="1" dirty="0">
                <a:solidFill>
                  <a:srgbClr val="006FC0"/>
                </a:solidFill>
                <a:latin typeface="Carlito"/>
                <a:cs typeface="Carlito"/>
              </a:rPr>
              <a:t>of </a:t>
            </a:r>
            <a:r>
              <a:rPr sz="2400" b="1" spc="-5" dirty="0">
                <a:solidFill>
                  <a:srgbClr val="006FC0"/>
                </a:solidFill>
                <a:latin typeface="Carlito"/>
                <a:cs typeface="Carlito"/>
              </a:rPr>
              <a:t>the </a:t>
            </a:r>
            <a:r>
              <a:rPr sz="2400" b="1" dirty="0">
                <a:solidFill>
                  <a:srgbClr val="006FC0"/>
                </a:solidFill>
                <a:latin typeface="Carlito"/>
                <a:cs typeface="Carlito"/>
              </a:rPr>
              <a:t>desert</a:t>
            </a:r>
            <a:r>
              <a:rPr sz="2400" b="1" spc="-5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rlito"/>
                <a:cs typeface="Carlito"/>
              </a:rPr>
              <a:t>ecosystems</a:t>
            </a:r>
            <a:r>
              <a:rPr sz="2400" spc="-10" dirty="0">
                <a:solidFill>
                  <a:srgbClr val="006FC0"/>
                </a:solidFill>
                <a:latin typeface="Carlito"/>
                <a:cs typeface="Carlito"/>
              </a:rPr>
              <a:t>:</a:t>
            </a:r>
            <a:endParaRPr sz="2400">
              <a:latin typeface="Carlito"/>
              <a:cs typeface="Carlito"/>
            </a:endParaRPr>
          </a:p>
          <a:p>
            <a:pPr marL="355600" marR="5080" indent="-68580" algn="just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Carlito"/>
                <a:cs typeface="Carlito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.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Abiotic </a:t>
            </a: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components</a:t>
            </a:r>
            <a:r>
              <a:rPr sz="2400" spc="-10" dirty="0">
                <a:latin typeface="Carlito"/>
                <a:cs typeface="Carlito"/>
              </a:rPr>
              <a:t>: </a:t>
            </a:r>
            <a:r>
              <a:rPr sz="2400" spc="-30" dirty="0">
                <a:latin typeface="Carlito"/>
                <a:cs typeface="Carlito"/>
              </a:rPr>
              <a:t>Temperature </a:t>
            </a:r>
            <a:r>
              <a:rPr sz="2400" spc="-50" dirty="0">
                <a:latin typeface="Carlito"/>
                <a:cs typeface="Carlito"/>
              </a:rPr>
              <a:t>water, </a:t>
            </a:r>
            <a:r>
              <a:rPr sz="2400" spc="-10" dirty="0">
                <a:latin typeface="Carlito"/>
                <a:cs typeface="Carlito"/>
              </a:rPr>
              <a:t>sunlight, </a:t>
            </a:r>
            <a:r>
              <a:rPr sz="2400" spc="-15" dirty="0">
                <a:latin typeface="Carlito"/>
                <a:cs typeface="Carlito"/>
              </a:rPr>
              <a:t>rainfall, etc. 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temperature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very high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low </a:t>
            </a:r>
            <a:r>
              <a:rPr sz="2400" spc="-15" dirty="0">
                <a:latin typeface="Carlito"/>
                <a:cs typeface="Carlito"/>
              </a:rPr>
              <a:t>rain fall </a:t>
            </a:r>
            <a:r>
              <a:rPr sz="2400" dirty="0">
                <a:latin typeface="Carlito"/>
                <a:cs typeface="Carlito"/>
              </a:rPr>
              <a:t>&amp; </a:t>
            </a:r>
            <a:r>
              <a:rPr sz="2400" spc="-10" dirty="0">
                <a:latin typeface="Carlito"/>
                <a:cs typeface="Carlito"/>
              </a:rPr>
              <a:t>low nutrient  </a:t>
            </a:r>
            <a:r>
              <a:rPr sz="2400" spc="-5" dirty="0">
                <a:latin typeface="Carlito"/>
                <a:cs typeface="Carlito"/>
              </a:rPr>
              <a:t>cycling.</a:t>
            </a:r>
            <a:endParaRPr sz="2400">
              <a:latin typeface="Carlito"/>
              <a:cs typeface="Carlito"/>
            </a:endParaRPr>
          </a:p>
          <a:p>
            <a:pPr marL="422275" algn="just">
              <a:lnSpc>
                <a:spcPct val="100000"/>
              </a:lnSpc>
              <a:spcBef>
                <a:spcPts val="580"/>
              </a:spcBef>
            </a:pPr>
            <a:r>
              <a:rPr sz="2400" b="1" spc="-5" dirty="0">
                <a:latin typeface="Carlito"/>
                <a:cs typeface="Carlito"/>
              </a:rPr>
              <a:t>II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Biotic</a:t>
            </a:r>
            <a:r>
              <a:rPr sz="2400" b="1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components</a:t>
            </a:r>
            <a:r>
              <a:rPr sz="2400" spc="-5" dirty="0">
                <a:latin typeface="Carlito"/>
                <a:cs typeface="Carlito"/>
              </a:rPr>
              <a:t>:</a:t>
            </a:r>
            <a:endParaRPr sz="2400">
              <a:latin typeface="Carlito"/>
              <a:cs typeface="Carlito"/>
            </a:endParaRPr>
          </a:p>
          <a:p>
            <a:pPr marL="311150" indent="-299085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arlito"/>
              <a:buAutoNum type="arabicPeriod"/>
              <a:tabLst>
                <a:tab pos="311785" algn="l"/>
              </a:tabLst>
            </a:pPr>
            <a:r>
              <a:rPr sz="2400" b="1" spc="-10" dirty="0">
                <a:solidFill>
                  <a:srgbClr val="006FC0"/>
                </a:solidFill>
                <a:latin typeface="Carlito"/>
                <a:cs typeface="Carlito"/>
              </a:rPr>
              <a:t>Producers</a:t>
            </a:r>
            <a:r>
              <a:rPr sz="2400" spc="-10" dirty="0">
                <a:latin typeface="Carlito"/>
                <a:cs typeface="Carlito"/>
              </a:rPr>
              <a:t>: Shrubs,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bushes</a:t>
            </a:r>
            <a:endParaRPr sz="2400">
              <a:latin typeface="Carlito"/>
              <a:cs typeface="Carlito"/>
            </a:endParaRPr>
          </a:p>
          <a:p>
            <a:pPr marL="1379855" algn="just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Carlito"/>
                <a:cs typeface="Carlito"/>
              </a:rPr>
              <a:t>In</a:t>
            </a:r>
            <a:r>
              <a:rPr sz="2400" spc="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deserts</a:t>
            </a:r>
            <a:r>
              <a:rPr sz="2400" spc="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mostly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Succulent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(e.g.,</a:t>
            </a:r>
            <a:r>
              <a:rPr sz="2400" spc="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cacti)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plants</a:t>
            </a:r>
            <a:r>
              <a:rPr sz="2400" spc="9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are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found</a:t>
            </a:r>
            <a:endParaRPr sz="2400">
              <a:latin typeface="Carlito"/>
              <a:cs typeface="Carlito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rlito"/>
                <a:cs typeface="Carlito"/>
              </a:rPr>
              <a:t>available. They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5" dirty="0">
                <a:latin typeface="Carlito"/>
                <a:cs typeface="Carlito"/>
              </a:rPr>
              <a:t>water </a:t>
            </a:r>
            <a:r>
              <a:rPr sz="2400" dirty="0">
                <a:latin typeface="Carlito"/>
                <a:cs typeface="Carlito"/>
              </a:rPr>
              <a:t>inside them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30" dirty="0">
                <a:latin typeface="Carlito"/>
                <a:cs typeface="Carlito"/>
              </a:rPr>
              <a:t>stay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alive.</a:t>
            </a:r>
            <a:endParaRPr sz="2400">
              <a:latin typeface="Carlito"/>
              <a:cs typeface="Carlito"/>
            </a:endParaRPr>
          </a:p>
          <a:p>
            <a:pPr marL="312420" indent="-231775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arlito"/>
              <a:buAutoNum type="arabicPeriod" startAt="2"/>
              <a:tabLst>
                <a:tab pos="313055" algn="l"/>
              </a:tabLst>
            </a:pPr>
            <a:r>
              <a:rPr sz="2400" b="1" spc="-5" dirty="0">
                <a:solidFill>
                  <a:srgbClr val="006FC0"/>
                </a:solidFill>
                <a:latin typeface="Carlito"/>
                <a:cs typeface="Carlito"/>
              </a:rPr>
              <a:t>Consumers</a:t>
            </a:r>
            <a:r>
              <a:rPr sz="2400" spc="-5" dirty="0">
                <a:latin typeface="Carlito"/>
                <a:cs typeface="Carlito"/>
              </a:rPr>
              <a:t>: </a:t>
            </a:r>
            <a:r>
              <a:rPr sz="2400" spc="-10" dirty="0">
                <a:latin typeface="Carlito"/>
                <a:cs typeface="Carlito"/>
              </a:rPr>
              <a:t>Squirrels, </a:t>
            </a:r>
            <a:r>
              <a:rPr sz="2400" dirty="0">
                <a:latin typeface="Carlito"/>
                <a:cs typeface="Carlito"/>
              </a:rPr>
              <a:t>mice, </a:t>
            </a:r>
            <a:r>
              <a:rPr sz="2400" spc="-10" dirty="0">
                <a:latin typeface="Carlito"/>
                <a:cs typeface="Carlito"/>
              </a:rPr>
              <a:t>rabbits,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reptiles.</a:t>
            </a:r>
            <a:endParaRPr sz="2400">
              <a:latin typeface="Carlito"/>
              <a:cs typeface="Carlito"/>
            </a:endParaRPr>
          </a:p>
          <a:p>
            <a:pPr marL="355600" marR="6350" indent="818515" algn="just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Carlito"/>
                <a:cs typeface="Carlito"/>
              </a:rPr>
              <a:t>These </a:t>
            </a:r>
            <a:r>
              <a:rPr sz="2400" dirty="0">
                <a:latin typeface="Carlito"/>
                <a:cs typeface="Carlito"/>
              </a:rPr>
              <a:t>animals </a:t>
            </a:r>
            <a:r>
              <a:rPr sz="2400" spc="-5" dirty="0">
                <a:latin typeface="Carlito"/>
                <a:cs typeface="Carlito"/>
              </a:rPr>
              <a:t>dig holes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0" dirty="0">
                <a:latin typeface="Carlito"/>
                <a:cs typeface="Carlito"/>
              </a:rPr>
              <a:t>ground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live </a:t>
            </a:r>
            <a:r>
              <a:rPr sz="2400" spc="-5" dirty="0">
                <a:latin typeface="Carlito"/>
                <a:cs typeface="Carlito"/>
              </a:rPr>
              <a:t>in. </a:t>
            </a:r>
            <a:r>
              <a:rPr sz="2400" spc="-10" dirty="0">
                <a:latin typeface="Carlito"/>
                <a:cs typeface="Carlito"/>
              </a:rPr>
              <a:t>Most of  </a:t>
            </a:r>
            <a:r>
              <a:rPr sz="2400" dirty="0">
                <a:latin typeface="Carlito"/>
                <a:cs typeface="Carlito"/>
              </a:rPr>
              <a:t>the animals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15" dirty="0">
                <a:latin typeface="Carlito"/>
                <a:cs typeface="Carlito"/>
              </a:rPr>
              <a:t>extract water from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seeds they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eat.</a:t>
            </a:r>
            <a:endParaRPr sz="2400">
              <a:latin typeface="Carlito"/>
              <a:cs typeface="Carlito"/>
            </a:endParaRPr>
          </a:p>
          <a:p>
            <a:pPr marL="312420" indent="-231775" algn="just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Font typeface="Carlito"/>
              <a:buAutoNum type="arabicPeriod" startAt="3"/>
              <a:tabLst>
                <a:tab pos="313055" algn="l"/>
              </a:tabLst>
            </a:pPr>
            <a:r>
              <a:rPr sz="2400" b="1" spc="-5" dirty="0">
                <a:solidFill>
                  <a:srgbClr val="006FC0"/>
                </a:solidFill>
                <a:latin typeface="Carlito"/>
                <a:cs typeface="Carlito"/>
              </a:rPr>
              <a:t>Decomposers</a:t>
            </a:r>
            <a:r>
              <a:rPr sz="2400" spc="-5" dirty="0">
                <a:latin typeface="Carlito"/>
                <a:cs typeface="Carlito"/>
              </a:rPr>
              <a:t>: Fungi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bacteria</a:t>
            </a:r>
            <a:endParaRPr sz="2400">
              <a:latin typeface="Carlito"/>
              <a:cs typeface="Carlito"/>
            </a:endParaRPr>
          </a:p>
          <a:p>
            <a:pPr marL="355600" marR="9525" indent="818515" algn="just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Carlito"/>
                <a:cs typeface="Carlito"/>
              </a:rPr>
              <a:t>Desert has poor </a:t>
            </a:r>
            <a:r>
              <a:rPr sz="2400" spc="-15" dirty="0">
                <a:latin typeface="Carlito"/>
                <a:cs typeface="Carlito"/>
              </a:rPr>
              <a:t>vegetation </a:t>
            </a:r>
            <a:r>
              <a:rPr sz="2400" dirty="0">
                <a:latin typeface="Carlito"/>
                <a:cs typeface="Carlito"/>
              </a:rPr>
              <a:t>with a </a:t>
            </a:r>
            <a:r>
              <a:rPr sz="2400" spc="-10" dirty="0">
                <a:latin typeface="Carlito"/>
                <a:cs typeface="Carlito"/>
              </a:rPr>
              <a:t>very low amount of  </a:t>
            </a:r>
            <a:r>
              <a:rPr sz="2400" spc="-5" dirty="0">
                <a:latin typeface="Carlito"/>
                <a:cs typeface="Carlito"/>
              </a:rPr>
              <a:t>dead </a:t>
            </a:r>
            <a:r>
              <a:rPr sz="2400" spc="-15" dirty="0">
                <a:latin typeface="Carlito"/>
                <a:cs typeface="Carlito"/>
              </a:rPr>
              <a:t>organic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0" dirty="0">
                <a:latin typeface="Carlito"/>
                <a:cs typeface="Carlito"/>
              </a:rPr>
              <a:t>matter.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090" y="512191"/>
            <a:ext cx="73425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AQUATIC </a:t>
            </a:r>
            <a:r>
              <a:rPr spc="-50" dirty="0"/>
              <a:t>(Water)</a:t>
            </a:r>
            <a:r>
              <a:rPr spc="95" dirty="0"/>
              <a:t> </a:t>
            </a:r>
            <a:r>
              <a:rPr spc="-10" dirty="0"/>
              <a:t>ECOSYSTEMS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9273"/>
            <a:ext cx="8073390" cy="423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 marR="5006975" indent="-299085">
              <a:lnSpc>
                <a:spcPct val="1101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800080"/>
                </a:solidFill>
                <a:latin typeface="Times New Roman"/>
                <a:cs typeface="Times New Roman"/>
              </a:rPr>
              <a:t>Freshwater</a:t>
            </a:r>
            <a:r>
              <a:rPr sz="2400" b="1" spc="-90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800080"/>
                </a:solidFill>
                <a:latin typeface="Times New Roman"/>
                <a:cs typeface="Times New Roman"/>
              </a:rPr>
              <a:t>Ecosystems  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Wetlands:</a:t>
            </a:r>
            <a:endParaRPr sz="2400">
              <a:latin typeface="Times New Roman"/>
              <a:cs typeface="Times New Roman"/>
            </a:endParaRPr>
          </a:p>
          <a:p>
            <a:pPr marL="355600" marR="5080" indent="-266700">
              <a:lnSpc>
                <a:spcPts val="2590"/>
              </a:lnSpc>
              <a:spcBef>
                <a:spcPts val="615"/>
              </a:spcBef>
            </a:pPr>
            <a:r>
              <a:rPr sz="2400" spc="-5" dirty="0">
                <a:latin typeface="Times New Roman"/>
                <a:cs typeface="Times New Roman"/>
              </a:rPr>
              <a:t>Once considered useless, disease ridden places </a:t>
            </a:r>
            <a:r>
              <a:rPr sz="2400" dirty="0">
                <a:latin typeface="Times New Roman"/>
                <a:cs typeface="Times New Roman"/>
              </a:rPr>
              <a:t>(e.g., </a:t>
            </a:r>
            <a:r>
              <a:rPr sz="2400" spc="-5" dirty="0">
                <a:latin typeface="Times New Roman"/>
                <a:cs typeface="Times New Roman"/>
              </a:rPr>
              <a:t>malaria </a:t>
            </a:r>
            <a:r>
              <a:rPr sz="2400" dirty="0">
                <a:latin typeface="Times New Roman"/>
                <a:cs typeface="Times New Roman"/>
              </a:rPr>
              <a:t>and  yellow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fever)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Provide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many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benefits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to society:</a:t>
            </a:r>
            <a:endParaRPr sz="2400">
              <a:latin typeface="Times New Roman"/>
              <a:cs typeface="Times New Roman"/>
            </a:endParaRPr>
          </a:p>
          <a:p>
            <a:pPr marL="965200" indent="-953135">
              <a:lnSpc>
                <a:spcPct val="100000"/>
              </a:lnSpc>
              <a:spcBef>
                <a:spcPts val="290"/>
              </a:spcBef>
              <a:buFont typeface="Wingdings"/>
              <a:buChar char=""/>
              <a:tabLst>
                <a:tab pos="965200" algn="l"/>
                <a:tab pos="965835" algn="l"/>
              </a:tabLst>
            </a:pPr>
            <a:r>
              <a:rPr sz="2400" spc="-5" dirty="0">
                <a:latin typeface="Times New Roman"/>
                <a:cs typeface="Times New Roman"/>
              </a:rPr>
              <a:t>Fish </a:t>
            </a:r>
            <a:r>
              <a:rPr sz="2400" dirty="0">
                <a:latin typeface="Times New Roman"/>
                <a:cs typeface="Times New Roman"/>
              </a:rPr>
              <a:t>and wildlife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habitats</a:t>
            </a:r>
            <a:endParaRPr sz="2400">
              <a:latin typeface="Times New Roman"/>
              <a:cs typeface="Times New Roman"/>
            </a:endParaRPr>
          </a:p>
          <a:p>
            <a:pPr marL="965200" indent="-953135">
              <a:lnSpc>
                <a:spcPct val="100000"/>
              </a:lnSpc>
              <a:spcBef>
                <a:spcPts val="290"/>
              </a:spcBef>
              <a:buFont typeface="Wingdings"/>
              <a:buChar char=""/>
              <a:tabLst>
                <a:tab pos="965200" algn="l"/>
                <a:tab pos="965835" algn="l"/>
              </a:tabLst>
            </a:pPr>
            <a:r>
              <a:rPr sz="2400" dirty="0">
                <a:latin typeface="Times New Roman"/>
                <a:cs typeface="Times New Roman"/>
              </a:rPr>
              <a:t>Natural water quality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improvement</a:t>
            </a:r>
            <a:endParaRPr sz="2400">
              <a:latin typeface="Times New Roman"/>
              <a:cs typeface="Times New Roman"/>
            </a:endParaRPr>
          </a:p>
          <a:p>
            <a:pPr marL="965200" indent="-953135">
              <a:lnSpc>
                <a:spcPct val="100000"/>
              </a:lnSpc>
              <a:spcBef>
                <a:spcPts val="290"/>
              </a:spcBef>
              <a:buFont typeface="Wingdings"/>
              <a:buChar char=""/>
              <a:tabLst>
                <a:tab pos="965200" algn="l"/>
                <a:tab pos="965835" algn="l"/>
              </a:tabLst>
            </a:pPr>
            <a:r>
              <a:rPr sz="2400" dirty="0">
                <a:latin typeface="Times New Roman"/>
                <a:cs typeface="Times New Roman"/>
              </a:rPr>
              <a:t>Flood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They </a:t>
            </a:r>
            <a:r>
              <a:rPr sz="2400" spc="-5" dirty="0">
                <a:latin typeface="Times New Roman"/>
                <a:cs typeface="Times New Roman"/>
              </a:rPr>
              <a:t>also are </a:t>
            </a:r>
            <a:r>
              <a:rPr sz="2400" dirty="0">
                <a:latin typeface="Times New Roman"/>
                <a:cs typeface="Times New Roman"/>
              </a:rPr>
              <a:t>a source of </a:t>
            </a:r>
            <a:r>
              <a:rPr sz="2400" spc="-5" dirty="0">
                <a:latin typeface="Times New Roman"/>
                <a:cs typeface="Times New Roman"/>
              </a:rPr>
              <a:t>substantial biodiversity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supporting  major </a:t>
            </a:r>
            <a:r>
              <a:rPr sz="2400" dirty="0">
                <a:latin typeface="Times New Roman"/>
                <a:cs typeface="Times New Roman"/>
              </a:rPr>
              <a:t>groups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organisms </a:t>
            </a:r>
            <a:r>
              <a:rPr sz="2400" spc="-5" dirty="0">
                <a:latin typeface="Times New Roman"/>
                <a:cs typeface="Times New Roman"/>
              </a:rPr>
              <a:t>numerous species from </a:t>
            </a:r>
            <a:r>
              <a:rPr sz="2400" dirty="0">
                <a:latin typeface="Times New Roman"/>
                <a:cs typeface="Times New Roman"/>
              </a:rPr>
              <a:t>all </a:t>
            </a:r>
            <a:r>
              <a:rPr sz="2400" spc="-5" dirty="0">
                <a:latin typeface="Times New Roman"/>
                <a:cs typeface="Times New Roman"/>
              </a:rPr>
              <a:t>of the 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microbes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mammals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1143000"/>
            <a:ext cx="640080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297307"/>
            <a:ext cx="772922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0">
              <a:lnSpc>
                <a:spcPct val="100000"/>
              </a:lnSpc>
              <a:spcBef>
                <a:spcPts val="100"/>
              </a:spcBef>
              <a:tabLst>
                <a:tab pos="2399665" algn="l"/>
                <a:tab pos="3585210" algn="l"/>
                <a:tab pos="5558790" algn="l"/>
                <a:tab pos="6429375" algn="l"/>
              </a:tabLst>
            </a:pPr>
            <a:r>
              <a:rPr sz="3200" b="1" dirty="0">
                <a:latin typeface="Times New Roman"/>
                <a:cs typeface="Times New Roman"/>
              </a:rPr>
              <a:t>Stru</a:t>
            </a:r>
            <a:r>
              <a:rPr sz="3200" b="1" spc="-10" dirty="0">
                <a:latin typeface="Times New Roman"/>
                <a:cs typeface="Times New Roman"/>
              </a:rPr>
              <a:t>c</a:t>
            </a:r>
            <a:r>
              <a:rPr sz="3200" b="1" dirty="0">
                <a:latin typeface="Times New Roman"/>
                <a:cs typeface="Times New Roman"/>
              </a:rPr>
              <a:t>tu</a:t>
            </a:r>
            <a:r>
              <a:rPr sz="3200" b="1" spc="-60" dirty="0">
                <a:latin typeface="Times New Roman"/>
                <a:cs typeface="Times New Roman"/>
              </a:rPr>
              <a:t>r</a:t>
            </a:r>
            <a:r>
              <a:rPr sz="3200" b="1" dirty="0">
                <a:latin typeface="Times New Roman"/>
                <a:cs typeface="Times New Roman"/>
              </a:rPr>
              <a:t>e	</a:t>
            </a:r>
            <a:r>
              <a:rPr sz="3200" b="1" spc="-10" dirty="0">
                <a:latin typeface="Times New Roman"/>
                <a:cs typeface="Times New Roman"/>
              </a:rPr>
              <a:t>an</a:t>
            </a:r>
            <a:r>
              <a:rPr sz="3200" b="1" dirty="0">
                <a:latin typeface="Times New Roman"/>
                <a:cs typeface="Times New Roman"/>
              </a:rPr>
              <a:t>d	f</a:t>
            </a:r>
            <a:r>
              <a:rPr sz="3200" b="1" spc="-20" dirty="0">
                <a:latin typeface="Times New Roman"/>
                <a:cs typeface="Times New Roman"/>
              </a:rPr>
              <a:t>u</a:t>
            </a:r>
            <a:r>
              <a:rPr sz="3200" b="1" dirty="0">
                <a:latin typeface="Times New Roman"/>
                <a:cs typeface="Times New Roman"/>
              </a:rPr>
              <a:t>nct</a:t>
            </a:r>
            <a:r>
              <a:rPr sz="3200" b="1" spc="-15" dirty="0">
                <a:latin typeface="Times New Roman"/>
                <a:cs typeface="Times New Roman"/>
              </a:rPr>
              <a:t>i</a:t>
            </a:r>
            <a:r>
              <a:rPr sz="3200" b="1" dirty="0">
                <a:latin typeface="Times New Roman"/>
                <a:cs typeface="Times New Roman"/>
              </a:rPr>
              <a:t>on	</a:t>
            </a:r>
            <a:r>
              <a:rPr sz="3200" b="1" spc="5" dirty="0">
                <a:latin typeface="Times New Roman"/>
                <a:cs typeface="Times New Roman"/>
              </a:rPr>
              <a:t>o</a:t>
            </a:r>
            <a:r>
              <a:rPr sz="3200" b="1" dirty="0">
                <a:latin typeface="Times New Roman"/>
                <a:cs typeface="Times New Roman"/>
              </a:rPr>
              <a:t>f	aq</a:t>
            </a:r>
            <a:r>
              <a:rPr sz="3200" b="1" spc="-20" dirty="0">
                <a:latin typeface="Times New Roman"/>
                <a:cs typeface="Times New Roman"/>
              </a:rPr>
              <a:t>u</a:t>
            </a:r>
            <a:r>
              <a:rPr sz="3200" b="1" dirty="0">
                <a:latin typeface="Times New Roman"/>
                <a:cs typeface="Times New Roman"/>
              </a:rPr>
              <a:t>atic  ecosystem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259" y="1275969"/>
            <a:ext cx="7964805" cy="50006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83870" indent="-238125" algn="just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AutoNum type="romanUcPeriod"/>
              <a:tabLst>
                <a:tab pos="48450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Abiotic 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components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spc="-20" dirty="0">
                <a:latin typeface="Times New Roman"/>
                <a:cs typeface="Times New Roman"/>
              </a:rPr>
              <a:t>Temperature, </a:t>
            </a:r>
            <a:r>
              <a:rPr sz="2400" dirty="0">
                <a:latin typeface="Times New Roman"/>
                <a:cs typeface="Times New Roman"/>
              </a:rPr>
              <a:t>light proteins,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532765" indent="-3556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AutoNum type="romanUcPeriod"/>
              <a:tabLst>
                <a:tab pos="533400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Biotic</a:t>
            </a:r>
            <a:r>
              <a:rPr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components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688340" marR="43180" lvl="1" indent="-457834" algn="just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88975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Producers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dirty="0">
                <a:latin typeface="Times New Roman"/>
                <a:cs typeface="Times New Roman"/>
              </a:rPr>
              <a:t>They are </a:t>
            </a:r>
            <a:r>
              <a:rPr sz="2400" spc="-5" dirty="0">
                <a:latin typeface="Times New Roman"/>
                <a:cs typeface="Times New Roman"/>
              </a:rPr>
              <a:t>green </a:t>
            </a:r>
            <a:r>
              <a:rPr sz="2400" dirty="0">
                <a:latin typeface="Times New Roman"/>
                <a:cs typeface="Times New Roman"/>
              </a:rPr>
              <a:t>plants, </a:t>
            </a:r>
            <a:r>
              <a:rPr sz="2400" spc="-5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10" dirty="0">
                <a:latin typeface="Times New Roman"/>
                <a:cs typeface="Times New Roman"/>
              </a:rPr>
              <a:t>submerged, </a:t>
            </a:r>
            <a:r>
              <a:rPr sz="2400" dirty="0">
                <a:latin typeface="Times New Roman"/>
                <a:cs typeface="Times New Roman"/>
              </a:rPr>
              <a:t>free  </a:t>
            </a:r>
            <a:r>
              <a:rPr sz="2400" spc="-5" dirty="0">
                <a:latin typeface="Times New Roman"/>
                <a:cs typeface="Times New Roman"/>
              </a:rPr>
              <a:t>floating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amphibious </a:t>
            </a:r>
            <a:r>
              <a:rPr sz="2400" dirty="0">
                <a:latin typeface="Times New Roman"/>
                <a:cs typeface="Times New Roman"/>
              </a:rPr>
              <a:t>plants. </a:t>
            </a:r>
            <a:r>
              <a:rPr sz="2400" spc="-5" dirty="0">
                <a:latin typeface="Times New Roman"/>
                <a:cs typeface="Times New Roman"/>
              </a:rPr>
              <a:t>phytoplanktons, algae </a:t>
            </a:r>
            <a:r>
              <a:rPr sz="2400" dirty="0">
                <a:latin typeface="Times New Roman"/>
                <a:cs typeface="Times New Roman"/>
              </a:rPr>
              <a:t>and  flagellates</a:t>
            </a:r>
            <a:endParaRPr sz="2400">
              <a:latin typeface="Times New Roman"/>
              <a:cs typeface="Times New Roman"/>
            </a:endParaRPr>
          </a:p>
          <a:p>
            <a:pPr marL="635000" marR="473075" lvl="1" indent="-404495" algn="just">
              <a:lnSpc>
                <a:spcPct val="120000"/>
              </a:lnSpc>
              <a:spcBef>
                <a:spcPts val="5"/>
              </a:spcBef>
              <a:buClr>
                <a:srgbClr val="FF0000"/>
              </a:buClr>
              <a:buFont typeface="Times New Roman"/>
              <a:buAutoNum type="arabicPeriod"/>
              <a:tabLst>
                <a:tab pos="688975" algn="l"/>
              </a:tabLst>
            </a:pPr>
            <a:r>
              <a:rPr dirty="0"/>
              <a:t>	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Consumers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dirty="0">
                <a:latin typeface="Times New Roman"/>
                <a:cs typeface="Times New Roman"/>
              </a:rPr>
              <a:t>a) </a:t>
            </a:r>
            <a:r>
              <a:rPr sz="2400" b="1" dirty="0">
                <a:latin typeface="Times New Roman"/>
                <a:cs typeface="Times New Roman"/>
              </a:rPr>
              <a:t>Primary </a:t>
            </a:r>
            <a:r>
              <a:rPr sz="2400" b="1" spc="-5" dirty="0">
                <a:latin typeface="Times New Roman"/>
                <a:cs typeface="Times New Roman"/>
              </a:rPr>
              <a:t>Consumers </a:t>
            </a:r>
            <a:r>
              <a:rPr sz="2400" dirty="0">
                <a:latin typeface="Times New Roman"/>
                <a:cs typeface="Times New Roman"/>
              </a:rPr>
              <a:t>( Zooplanktons)  Cilictes, protozoans, etc., - They feed on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phytoplankton.</a:t>
            </a:r>
            <a:endParaRPr sz="2400">
              <a:latin typeface="Times New Roman"/>
              <a:cs typeface="Times New Roman"/>
            </a:endParaRPr>
          </a:p>
          <a:p>
            <a:pPr marL="936625" lvl="2" indent="-454659" algn="just">
              <a:lnSpc>
                <a:spcPct val="100000"/>
              </a:lnSpc>
              <a:spcBef>
                <a:spcPts val="575"/>
              </a:spcBef>
              <a:buFont typeface="Times New Roman"/>
              <a:buAutoNum type="alphaLcParenR" startAt="2"/>
              <a:tabLst>
                <a:tab pos="93726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Secondary </a:t>
            </a:r>
            <a:r>
              <a:rPr sz="2400" b="1" dirty="0">
                <a:latin typeface="Times New Roman"/>
                <a:cs typeface="Times New Roman"/>
              </a:rPr>
              <a:t>consumers </a:t>
            </a:r>
            <a:r>
              <a:rPr sz="2400" spc="-5" dirty="0">
                <a:latin typeface="Times New Roman"/>
                <a:cs typeface="Times New Roman"/>
              </a:rPr>
              <a:t>(carnivores)Insects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small</a:t>
            </a:r>
            <a:endParaRPr sz="2400">
              <a:latin typeface="Times New Roman"/>
              <a:cs typeface="Times New Roman"/>
            </a:endParaRPr>
          </a:p>
          <a:p>
            <a:pPr marL="208279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fishes. – They feed 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zooplankton.</a:t>
            </a:r>
            <a:endParaRPr sz="2400">
              <a:latin typeface="Times New Roman"/>
              <a:cs typeface="Times New Roman"/>
            </a:endParaRPr>
          </a:p>
          <a:p>
            <a:pPr marL="894715" marR="43815" lvl="2" indent="-894715" algn="just">
              <a:lnSpc>
                <a:spcPct val="100000"/>
              </a:lnSpc>
              <a:spcBef>
                <a:spcPts val="580"/>
              </a:spcBef>
              <a:buFont typeface="Times New Roman"/>
              <a:buAutoNum type="alphaLcParenR" startAt="3"/>
              <a:tabLst>
                <a:tab pos="894715" algn="l"/>
              </a:tabLst>
            </a:pPr>
            <a:r>
              <a:rPr sz="2400" b="1" spc="-35" dirty="0">
                <a:latin typeface="Times New Roman"/>
                <a:cs typeface="Times New Roman"/>
              </a:rPr>
              <a:t>Tertiary </a:t>
            </a:r>
            <a:r>
              <a:rPr sz="2400" b="1" spc="-5" dirty="0">
                <a:latin typeface="Times New Roman"/>
                <a:cs typeface="Times New Roman"/>
              </a:rPr>
              <a:t>consumers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spc="-15" dirty="0">
                <a:latin typeface="Times New Roman"/>
                <a:cs typeface="Times New Roman"/>
              </a:rPr>
              <a:t>Large </a:t>
            </a:r>
            <a:r>
              <a:rPr sz="2400" spc="-5" dirty="0">
                <a:latin typeface="Times New Roman"/>
                <a:cs typeface="Times New Roman"/>
              </a:rPr>
              <a:t>fishes like game fish </a:t>
            </a:r>
            <a:r>
              <a:rPr sz="2400" dirty="0">
                <a:latin typeface="Times New Roman"/>
                <a:cs typeface="Times New Roman"/>
              </a:rPr>
              <a:t>-  They feed on </a:t>
            </a:r>
            <a:r>
              <a:rPr sz="2400" spc="-5" dirty="0">
                <a:latin typeface="Times New Roman"/>
                <a:cs typeface="Times New Roman"/>
              </a:rPr>
              <a:t>smaller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fish.</a:t>
            </a:r>
            <a:endParaRPr sz="2400">
              <a:latin typeface="Times New Roman"/>
              <a:cs typeface="Times New Roman"/>
            </a:endParaRPr>
          </a:p>
          <a:p>
            <a:pPr marL="443230" lvl="1" indent="-418465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Times New Roman"/>
              <a:buAutoNum type="arabicPeriod"/>
              <a:tabLst>
                <a:tab pos="4438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Decomposers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Bacteria, fungi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actinomycetes.-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6251244"/>
            <a:ext cx="4914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decompose </a:t>
            </a:r>
            <a:r>
              <a:rPr sz="2400" dirty="0">
                <a:latin typeface="Times New Roman"/>
                <a:cs typeface="Times New Roman"/>
              </a:rPr>
              <a:t>the dead plants 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animals.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6957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77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81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610" y="478663"/>
            <a:ext cx="74028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Biodiversity and its</a:t>
            </a:r>
            <a:r>
              <a:rPr sz="4400" spc="-75" dirty="0"/>
              <a:t> </a:t>
            </a:r>
            <a:r>
              <a:rPr sz="4400" dirty="0"/>
              <a:t>conservation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42033"/>
            <a:ext cx="8074025" cy="44653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25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b="1" dirty="0">
                <a:latin typeface="Times New Roman"/>
                <a:cs typeface="Times New Roman"/>
              </a:rPr>
              <a:t>Biodiversity </a:t>
            </a:r>
            <a:r>
              <a:rPr sz="2600" b="1" spc="-5" dirty="0">
                <a:latin typeface="Times New Roman"/>
                <a:cs typeface="Times New Roman"/>
              </a:rPr>
              <a:t>is </a:t>
            </a:r>
            <a:r>
              <a:rPr sz="2600" b="1" dirty="0">
                <a:latin typeface="Times New Roman"/>
                <a:cs typeface="Times New Roman"/>
              </a:rPr>
              <a:t>the </a:t>
            </a:r>
            <a:r>
              <a:rPr sz="2600" b="1" spc="-5" dirty="0">
                <a:latin typeface="Times New Roman"/>
                <a:cs typeface="Times New Roman"/>
              </a:rPr>
              <a:t>variety </a:t>
            </a:r>
            <a:r>
              <a:rPr sz="2600" b="1" dirty="0">
                <a:latin typeface="Times New Roman"/>
                <a:cs typeface="Times New Roman"/>
              </a:rPr>
              <a:t>of </a:t>
            </a:r>
            <a:r>
              <a:rPr sz="2600" b="1" spc="-5" dirty="0">
                <a:latin typeface="Times New Roman"/>
                <a:cs typeface="Times New Roman"/>
              </a:rPr>
              <a:t>life </a:t>
            </a:r>
            <a:r>
              <a:rPr sz="2600" b="1" dirty="0">
                <a:latin typeface="Times New Roman"/>
                <a:cs typeface="Times New Roman"/>
              </a:rPr>
              <a:t>on </a:t>
            </a:r>
            <a:r>
              <a:rPr sz="2600" b="1" spc="-10" dirty="0">
                <a:latin typeface="Times New Roman"/>
                <a:cs typeface="Times New Roman"/>
              </a:rPr>
              <a:t>earth </a:t>
            </a:r>
            <a:r>
              <a:rPr sz="2600" b="1" spc="-5" dirty="0">
                <a:latin typeface="Times New Roman"/>
                <a:cs typeface="Times New Roman"/>
              </a:rPr>
              <a:t>It </a:t>
            </a:r>
            <a:r>
              <a:rPr sz="2600" b="1" dirty="0">
                <a:latin typeface="Times New Roman"/>
                <a:cs typeface="Times New Roman"/>
              </a:rPr>
              <a:t>includes  all </a:t>
            </a:r>
            <a:r>
              <a:rPr sz="2600" b="1" spc="-5" dirty="0">
                <a:latin typeface="Times New Roman"/>
                <a:cs typeface="Times New Roman"/>
              </a:rPr>
              <a:t>life forms-from the </a:t>
            </a:r>
            <a:r>
              <a:rPr sz="2600" b="1" dirty="0">
                <a:latin typeface="Times New Roman"/>
                <a:cs typeface="Times New Roman"/>
              </a:rPr>
              <a:t>unicellular fungi, </a:t>
            </a:r>
            <a:r>
              <a:rPr sz="2600" b="1" spc="-10" dirty="0">
                <a:latin typeface="Times New Roman"/>
                <a:cs typeface="Times New Roman"/>
              </a:rPr>
              <a:t>protozoa </a:t>
            </a:r>
            <a:r>
              <a:rPr sz="2600" b="1" dirty="0">
                <a:latin typeface="Times New Roman"/>
                <a:cs typeface="Times New Roman"/>
              </a:rPr>
              <a:t>and  </a:t>
            </a:r>
            <a:r>
              <a:rPr sz="2600" b="1" spc="-5" dirty="0">
                <a:latin typeface="Times New Roman"/>
                <a:cs typeface="Times New Roman"/>
              </a:rPr>
              <a:t>bacteria </a:t>
            </a:r>
            <a:r>
              <a:rPr sz="2600" b="1" spc="-10" dirty="0">
                <a:latin typeface="Times New Roman"/>
                <a:cs typeface="Times New Roman"/>
              </a:rPr>
              <a:t>to </a:t>
            </a:r>
            <a:r>
              <a:rPr sz="2600" b="1" spc="-5" dirty="0">
                <a:latin typeface="Times New Roman"/>
                <a:cs typeface="Times New Roman"/>
              </a:rPr>
              <a:t>complex multi-cellular organisms </a:t>
            </a:r>
            <a:r>
              <a:rPr sz="2600" b="1" dirty="0">
                <a:latin typeface="Times New Roman"/>
                <a:cs typeface="Times New Roman"/>
              </a:rPr>
              <a:t>such </a:t>
            </a:r>
            <a:r>
              <a:rPr sz="2600" b="1" spc="5" dirty="0">
                <a:latin typeface="Times New Roman"/>
                <a:cs typeface="Times New Roman"/>
              </a:rPr>
              <a:t>as  </a:t>
            </a:r>
            <a:r>
              <a:rPr sz="2600" b="1" dirty="0">
                <a:latin typeface="Times New Roman"/>
                <a:cs typeface="Times New Roman"/>
              </a:rPr>
              <a:t>plants, birds, </a:t>
            </a:r>
            <a:r>
              <a:rPr sz="2600" b="1" spc="-5" dirty="0">
                <a:latin typeface="Times New Roman"/>
                <a:cs typeface="Times New Roman"/>
              </a:rPr>
              <a:t>fishes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animals.</a:t>
            </a:r>
            <a:endParaRPr sz="26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80000"/>
              </a:lnSpc>
              <a:spcBef>
                <a:spcPts val="625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Biodiversity 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variety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flora and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fauna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on 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this 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planet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earth.</a:t>
            </a:r>
            <a:endParaRPr sz="26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ts val="2500"/>
              </a:lnSpc>
              <a:spcBef>
                <a:spcPts val="605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concept reflects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inter-relatedness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genes,  </a:t>
            </a:r>
            <a:r>
              <a:rPr sz="2600" dirty="0">
                <a:latin typeface="Times New Roman"/>
                <a:cs typeface="Times New Roman"/>
              </a:rPr>
              <a:t>species and </a:t>
            </a:r>
            <a:r>
              <a:rPr sz="2600" spc="-5" dirty="0">
                <a:latin typeface="Times New Roman"/>
                <a:cs typeface="Times New Roman"/>
              </a:rPr>
              <a:t>ecosystems. Because genes </a:t>
            </a:r>
            <a:r>
              <a:rPr sz="2600" dirty="0">
                <a:latin typeface="Times New Roman"/>
                <a:cs typeface="Times New Roman"/>
              </a:rPr>
              <a:t>are the  </a:t>
            </a:r>
            <a:r>
              <a:rPr sz="2600" spc="-5" dirty="0">
                <a:latin typeface="Times New Roman"/>
                <a:cs typeface="Times New Roman"/>
              </a:rPr>
              <a:t>components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species,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5" dirty="0">
                <a:latin typeface="Times New Roman"/>
                <a:cs typeface="Times New Roman"/>
              </a:rPr>
              <a:t>species </a:t>
            </a:r>
            <a:r>
              <a:rPr sz="2600" dirty="0">
                <a:latin typeface="Times New Roman"/>
                <a:cs typeface="Times New Roman"/>
              </a:rPr>
              <a:t>are the </a:t>
            </a:r>
            <a:r>
              <a:rPr sz="2600" spc="-5" dirty="0">
                <a:latin typeface="Times New Roman"/>
                <a:cs typeface="Times New Roman"/>
              </a:rPr>
              <a:t>components </a:t>
            </a:r>
            <a:r>
              <a:rPr sz="2600" spc="-10" dirty="0">
                <a:latin typeface="Times New Roman"/>
                <a:cs typeface="Times New Roman"/>
              </a:rPr>
              <a:t>of  </a:t>
            </a:r>
            <a:r>
              <a:rPr sz="2600" spc="-5" dirty="0">
                <a:latin typeface="Times New Roman"/>
                <a:cs typeface="Times New Roman"/>
              </a:rPr>
              <a:t>ecosystems</a:t>
            </a:r>
            <a:endParaRPr sz="26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80000"/>
              </a:lnSpc>
              <a:spcBef>
                <a:spcPts val="630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Diversity </a:t>
            </a:r>
            <a:r>
              <a:rPr sz="2600" spc="-5" dirty="0">
                <a:solidFill>
                  <a:srgbClr val="C00000"/>
                </a:solidFill>
                <a:latin typeface="Times New Roman"/>
                <a:cs typeface="Times New Roman"/>
              </a:rPr>
              <a:t>may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be </a:t>
            </a:r>
            <a:r>
              <a:rPr sz="2600" spc="-5" dirty="0">
                <a:solidFill>
                  <a:srgbClr val="C00000"/>
                </a:solidFill>
                <a:latin typeface="Times New Roman"/>
                <a:cs typeface="Times New Roman"/>
              </a:rPr>
              <a:t>defined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as the </a:t>
            </a:r>
            <a:r>
              <a:rPr sz="2600" spc="-5" dirty="0">
                <a:solidFill>
                  <a:srgbClr val="C00000"/>
                </a:solidFill>
                <a:latin typeface="Times New Roman"/>
                <a:cs typeface="Times New Roman"/>
              </a:rPr>
              <a:t>number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600" spc="-5" dirty="0">
                <a:solidFill>
                  <a:srgbClr val="C00000"/>
                </a:solidFill>
                <a:latin typeface="Times New Roman"/>
                <a:cs typeface="Times New Roman"/>
              </a:rPr>
              <a:t>species 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present </a:t>
            </a:r>
            <a:r>
              <a:rPr sz="2600" spc="-5" dirty="0">
                <a:solidFill>
                  <a:srgbClr val="C00000"/>
                </a:solidFill>
                <a:latin typeface="Times New Roman"/>
                <a:cs typeface="Times New Roman"/>
              </a:rPr>
              <a:t>in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a </a:t>
            </a:r>
            <a:r>
              <a:rPr sz="2600" spc="-20" dirty="0">
                <a:solidFill>
                  <a:srgbClr val="C00000"/>
                </a:solidFill>
                <a:latin typeface="Times New Roman"/>
                <a:cs typeface="Times New Roman"/>
              </a:rPr>
              <a:t>community,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a </a:t>
            </a:r>
            <a:r>
              <a:rPr sz="2600" spc="-5" dirty="0">
                <a:solidFill>
                  <a:srgbClr val="C00000"/>
                </a:solidFill>
                <a:latin typeface="Times New Roman"/>
                <a:cs typeface="Times New Roman"/>
              </a:rPr>
              <a:t>measure termed as species  </a:t>
            </a:r>
            <a:r>
              <a:rPr sz="2600" dirty="0">
                <a:solidFill>
                  <a:srgbClr val="C00000"/>
                </a:solidFill>
                <a:latin typeface="Times New Roman"/>
                <a:cs typeface="Times New Roman"/>
              </a:rPr>
              <a:t>richness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82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036" y="478663"/>
            <a:ext cx="55048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GENETIC</a:t>
            </a:r>
            <a:r>
              <a:rPr sz="4400" spc="-95" dirty="0"/>
              <a:t> </a:t>
            </a:r>
            <a:r>
              <a:rPr sz="4400" dirty="0"/>
              <a:t>DIVERSITY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78610"/>
            <a:ext cx="8075295" cy="44640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5715" indent="-342900" algn="just">
              <a:lnSpc>
                <a:spcPct val="90000"/>
              </a:lnSpc>
              <a:spcBef>
                <a:spcPts val="430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It refers to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total genetic information contained in 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genes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individuals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plants, animals </a:t>
            </a:r>
            <a:r>
              <a:rPr sz="2800" dirty="0">
                <a:latin typeface="Times New Roman"/>
                <a:cs typeface="Times New Roman"/>
              </a:rPr>
              <a:t>and  </a:t>
            </a:r>
            <a:r>
              <a:rPr sz="2800" spc="-5" dirty="0">
                <a:latin typeface="Times New Roman"/>
                <a:cs typeface="Times New Roman"/>
              </a:rPr>
              <a:t>microorganisms.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7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genes </a:t>
            </a:r>
            <a:r>
              <a:rPr sz="2800" dirty="0">
                <a:latin typeface="Times New Roman"/>
                <a:cs typeface="Times New Roman"/>
              </a:rPr>
              <a:t>found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organisms can </a:t>
            </a:r>
            <a:r>
              <a:rPr sz="2800" spc="-5" dirty="0">
                <a:latin typeface="Times New Roman"/>
                <a:cs typeface="Times New Roman"/>
              </a:rPr>
              <a:t>form enormous  number of combinations </a:t>
            </a:r>
            <a:r>
              <a:rPr sz="2800" spc="-10" dirty="0">
                <a:latin typeface="Times New Roman"/>
                <a:cs typeface="Times New Roman"/>
              </a:rPr>
              <a:t>each </a:t>
            </a:r>
            <a:r>
              <a:rPr sz="2800" spc="-5" dirty="0">
                <a:latin typeface="Times New Roman"/>
                <a:cs typeface="Times New Roman"/>
              </a:rPr>
              <a:t>of which </a:t>
            </a:r>
            <a:r>
              <a:rPr sz="2800" dirty="0">
                <a:latin typeface="Times New Roman"/>
                <a:cs typeface="Times New Roman"/>
              </a:rPr>
              <a:t>gives </a:t>
            </a:r>
            <a:r>
              <a:rPr sz="2800" spc="-5" dirty="0">
                <a:latin typeface="Times New Roman"/>
                <a:cs typeface="Times New Roman"/>
              </a:rPr>
              <a:t>rise to  some </a:t>
            </a:r>
            <a:r>
              <a:rPr sz="2800" spc="-20" dirty="0">
                <a:latin typeface="Times New Roman"/>
                <a:cs typeface="Times New Roman"/>
              </a:rPr>
              <a:t>variability. </a:t>
            </a:r>
            <a:r>
              <a:rPr sz="2800" spc="-5" dirty="0">
                <a:latin typeface="Times New Roman"/>
                <a:cs typeface="Times New Roman"/>
              </a:rPr>
              <a:t>Genes </a:t>
            </a:r>
            <a:r>
              <a:rPr sz="2800" dirty="0">
                <a:latin typeface="Times New Roman"/>
                <a:cs typeface="Times New Roman"/>
              </a:rPr>
              <a:t>are the </a:t>
            </a:r>
            <a:r>
              <a:rPr sz="2800" spc="-5" dirty="0">
                <a:latin typeface="Times New Roman"/>
                <a:cs typeface="Times New Roman"/>
              </a:rPr>
              <a:t>basic units </a:t>
            </a:r>
            <a:r>
              <a:rPr sz="2800" dirty="0">
                <a:latin typeface="Times New Roman"/>
                <a:cs typeface="Times New Roman"/>
              </a:rPr>
              <a:t>of  </a:t>
            </a:r>
            <a:r>
              <a:rPr sz="2800" spc="-5" dirty="0">
                <a:latin typeface="Times New Roman"/>
                <a:cs typeface="Times New Roman"/>
              </a:rPr>
              <a:t>hereditary information transmitted </a:t>
            </a:r>
            <a:r>
              <a:rPr sz="2800" dirty="0">
                <a:latin typeface="Times New Roman"/>
                <a:cs typeface="Times New Roman"/>
              </a:rPr>
              <a:t>from one  </a:t>
            </a:r>
            <a:r>
              <a:rPr sz="2800" spc="-5" dirty="0">
                <a:latin typeface="Times New Roman"/>
                <a:cs typeface="Times New Roman"/>
              </a:rPr>
              <a:t>generation to</a:t>
            </a:r>
            <a:r>
              <a:rPr sz="2800" spc="-25" dirty="0">
                <a:latin typeface="Times New Roman"/>
                <a:cs typeface="Times New Roman"/>
              </a:rPr>
              <a:t> other.</a:t>
            </a:r>
            <a:endParaRPr sz="28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90000"/>
              </a:lnSpc>
              <a:spcBef>
                <a:spcPts val="670"/>
              </a:spcBef>
              <a:buFont typeface="Wingdings"/>
              <a:buChar char=""/>
              <a:tabLst>
                <a:tab pos="438784" algn="l"/>
              </a:tabLst>
            </a:pPr>
            <a:r>
              <a:rPr dirty="0"/>
              <a:t>	</a:t>
            </a:r>
            <a:r>
              <a:rPr sz="2800" spc="-5" dirty="0">
                <a:latin typeface="Times New Roman"/>
                <a:cs typeface="Times New Roman"/>
              </a:rPr>
              <a:t>When the genes within the </a:t>
            </a: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spc="-5" dirty="0">
                <a:latin typeface="Times New Roman"/>
                <a:cs typeface="Times New Roman"/>
              </a:rPr>
              <a:t>species show  different versions </a:t>
            </a:r>
            <a:r>
              <a:rPr sz="2800" dirty="0">
                <a:latin typeface="Times New Roman"/>
                <a:cs typeface="Times New Roman"/>
              </a:rPr>
              <a:t>due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spc="-10" dirty="0">
                <a:latin typeface="Times New Roman"/>
                <a:cs typeface="Times New Roman"/>
              </a:rPr>
              <a:t>new </a:t>
            </a:r>
            <a:r>
              <a:rPr sz="2800" spc="-5" dirty="0">
                <a:latin typeface="Times New Roman"/>
                <a:cs typeface="Times New Roman"/>
              </a:rPr>
              <a:t>combinations, it is  called genetic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variability.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9391" y="545591"/>
            <a:ext cx="8183880" cy="5963920"/>
            <a:chOff x="469391" y="545591"/>
            <a:chExt cx="8183880" cy="5963920"/>
          </a:xfrm>
        </p:grpSpPr>
        <p:sp>
          <p:nvSpPr>
            <p:cNvPr id="3" name="object 3"/>
            <p:cNvSpPr/>
            <p:nvPr/>
          </p:nvSpPr>
          <p:spPr>
            <a:xfrm>
              <a:off x="469391" y="545591"/>
              <a:ext cx="8183880" cy="5963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3399" y="609599"/>
              <a:ext cx="8001000" cy="57805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4349" y="590549"/>
              <a:ext cx="8039100" cy="5819140"/>
            </a:xfrm>
            <a:custGeom>
              <a:avLst/>
              <a:gdLst/>
              <a:ahLst/>
              <a:cxnLst/>
              <a:rect l="l" t="t" r="r" b="b"/>
              <a:pathLst>
                <a:path w="8039100" h="5819140">
                  <a:moveTo>
                    <a:pt x="0" y="5818632"/>
                  </a:moveTo>
                  <a:lnTo>
                    <a:pt x="8039100" y="5818632"/>
                  </a:lnTo>
                  <a:lnTo>
                    <a:pt x="8039100" y="0"/>
                  </a:lnTo>
                  <a:lnTo>
                    <a:pt x="0" y="0"/>
                  </a:lnTo>
                  <a:lnTo>
                    <a:pt x="0" y="581863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84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717" y="478663"/>
            <a:ext cx="52920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SPECIES</a:t>
            </a:r>
            <a:r>
              <a:rPr sz="4400" spc="-65" dirty="0"/>
              <a:t> </a:t>
            </a:r>
            <a:r>
              <a:rPr sz="4400" dirty="0"/>
              <a:t>DIVERSITY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21281"/>
            <a:ext cx="8073390" cy="352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 species generally consists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all the individual  </a:t>
            </a:r>
            <a:r>
              <a:rPr sz="2800" spc="-10" dirty="0">
                <a:latin typeface="Times New Roman"/>
                <a:cs typeface="Times New Roman"/>
              </a:rPr>
              <a:t>organisms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 natural population which are able to  interbreed, generally sharing similar appearance,  characteristics </a:t>
            </a:r>
            <a:r>
              <a:rPr sz="2800" spc="-10" dirty="0">
                <a:latin typeface="Times New Roman"/>
                <a:cs typeface="Times New Roman"/>
              </a:rPr>
              <a:t>and </a:t>
            </a:r>
            <a:r>
              <a:rPr sz="2800" spc="-5" dirty="0">
                <a:latin typeface="Times New Roman"/>
                <a:cs typeface="Times New Roman"/>
              </a:rPr>
              <a:t>genetics. A species is </a:t>
            </a:r>
            <a:r>
              <a:rPr sz="2800" dirty="0">
                <a:latin typeface="Times New Roman"/>
                <a:cs typeface="Times New Roman"/>
              </a:rPr>
              <a:t>one of </a:t>
            </a:r>
            <a:r>
              <a:rPr sz="2800" spc="-5" dirty="0">
                <a:latin typeface="Times New Roman"/>
                <a:cs typeface="Times New Roman"/>
              </a:rPr>
              <a:t>the  </a:t>
            </a:r>
            <a:r>
              <a:rPr sz="2800" dirty="0">
                <a:latin typeface="Times New Roman"/>
                <a:cs typeface="Times New Roman"/>
              </a:rPr>
              <a:t>basic units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biodiversity.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Species richness </a:t>
            </a:r>
            <a:r>
              <a:rPr sz="2800" spc="-10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simplest measure </a:t>
            </a:r>
            <a:r>
              <a:rPr sz="2800" dirty="0">
                <a:latin typeface="Times New Roman"/>
                <a:cs typeface="Times New Roman"/>
              </a:rPr>
              <a:t>of  </a:t>
            </a:r>
            <a:r>
              <a:rPr sz="2800" spc="-5" dirty="0">
                <a:latin typeface="Times New Roman"/>
                <a:cs typeface="Times New Roman"/>
              </a:rPr>
              <a:t>biodiversity and is simply a </a:t>
            </a:r>
            <a:r>
              <a:rPr sz="2800" dirty="0">
                <a:latin typeface="Times New Roman"/>
                <a:cs typeface="Times New Roman"/>
              </a:rPr>
              <a:t>count of </a:t>
            </a:r>
            <a:r>
              <a:rPr sz="2800" spc="-5" dirty="0">
                <a:latin typeface="Times New Roman"/>
                <a:cs typeface="Times New Roman"/>
              </a:rPr>
              <a:t>the number </a:t>
            </a:r>
            <a:r>
              <a:rPr sz="2800" dirty="0">
                <a:latin typeface="Times New Roman"/>
                <a:cs typeface="Times New Roman"/>
              </a:rPr>
              <a:t>of  </a:t>
            </a:r>
            <a:r>
              <a:rPr sz="2800" spc="-5" dirty="0">
                <a:latin typeface="Times New Roman"/>
                <a:cs typeface="Times New Roman"/>
              </a:rPr>
              <a:t>different species in a given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1087881"/>
            <a:ext cx="7879715" cy="3183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82575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Species evenness is a </a:t>
            </a:r>
            <a:r>
              <a:rPr sz="2800" dirty="0">
                <a:latin typeface="Times New Roman"/>
                <a:cs typeface="Times New Roman"/>
              </a:rPr>
              <a:t>diversity index, </a:t>
            </a:r>
            <a:r>
              <a:rPr sz="2800" spc="-5" dirty="0">
                <a:latin typeface="Times New Roman"/>
                <a:cs typeface="Times New Roman"/>
              </a:rPr>
              <a:t>a measure </a:t>
            </a:r>
            <a:r>
              <a:rPr sz="2800" dirty="0">
                <a:latin typeface="Times New Roman"/>
                <a:cs typeface="Times New Roman"/>
              </a:rPr>
              <a:t>of  biodiversity </a:t>
            </a:r>
            <a:r>
              <a:rPr sz="2800" spc="-5" dirty="0">
                <a:latin typeface="Times New Roman"/>
                <a:cs typeface="Times New Roman"/>
              </a:rPr>
              <a:t>which quantifies </a:t>
            </a:r>
            <a:r>
              <a:rPr sz="2800" dirty="0">
                <a:latin typeface="Times New Roman"/>
                <a:cs typeface="Times New Roman"/>
              </a:rPr>
              <a:t>how equal the  populations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numerically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is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variability </a:t>
            </a:r>
            <a:r>
              <a:rPr sz="2800" dirty="0">
                <a:latin typeface="Times New Roman"/>
                <a:cs typeface="Times New Roman"/>
              </a:rPr>
              <a:t>found </a:t>
            </a:r>
            <a:r>
              <a:rPr sz="2800" spc="-5" dirty="0">
                <a:latin typeface="Times New Roman"/>
                <a:cs typeface="Times New Roman"/>
              </a:rPr>
              <a:t>within </a:t>
            </a:r>
            <a:r>
              <a:rPr sz="2800" dirty="0">
                <a:latin typeface="Times New Roman"/>
                <a:cs typeface="Times New Roman"/>
              </a:rPr>
              <a:t>the population of  </a:t>
            </a:r>
            <a:r>
              <a:rPr sz="2800" spc="-5" dirty="0">
                <a:latin typeface="Times New Roman"/>
                <a:cs typeface="Times New Roman"/>
              </a:rPr>
              <a:t>a species or between different species of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community.</a:t>
            </a:r>
            <a:endParaRPr sz="2800">
              <a:latin typeface="Times New Roman"/>
              <a:cs typeface="Times New Roman"/>
            </a:endParaRPr>
          </a:p>
          <a:p>
            <a:pPr marL="355600" marR="276225" indent="-342900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443865" algn="l"/>
                <a:tab pos="444500" algn="l"/>
              </a:tabLst>
            </a:pPr>
            <a:r>
              <a:rPr dirty="0"/>
              <a:t>	</a:t>
            </a:r>
            <a:r>
              <a:rPr sz="2800" spc="-5" dirty="0">
                <a:latin typeface="Times New Roman"/>
                <a:cs typeface="Times New Roman"/>
              </a:rPr>
              <a:t>It represents </a:t>
            </a:r>
            <a:r>
              <a:rPr sz="2800" dirty="0">
                <a:latin typeface="Times New Roman"/>
                <a:cs typeface="Times New Roman"/>
              </a:rPr>
              <a:t>broadly </a:t>
            </a:r>
            <a:r>
              <a:rPr sz="2800" spc="-5" dirty="0">
                <a:latin typeface="Times New Roman"/>
                <a:cs typeface="Times New Roman"/>
              </a:rPr>
              <a:t>the species richness and their  </a:t>
            </a:r>
            <a:r>
              <a:rPr sz="2800" dirty="0">
                <a:latin typeface="Times New Roman"/>
                <a:cs typeface="Times New Roman"/>
              </a:rPr>
              <a:t>abundance </a:t>
            </a:r>
            <a:r>
              <a:rPr sz="2800" spc="-5" dirty="0">
                <a:latin typeface="Times New Roman"/>
                <a:cs typeface="Times New Roman"/>
              </a:rPr>
              <a:t>in 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community.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86511"/>
            <a:ext cx="8305800" cy="6190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87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88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2169" y="478663"/>
            <a:ext cx="6440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ECOSYSTEM</a:t>
            </a:r>
            <a:r>
              <a:rPr sz="4400" spc="-80" dirty="0"/>
              <a:t> </a:t>
            </a:r>
            <a:r>
              <a:rPr sz="4400" dirty="0"/>
              <a:t>DIVERSITY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35937"/>
            <a:ext cx="8073390" cy="420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This is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diversity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ecological variations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tropic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structure,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food-webs,</a:t>
            </a:r>
            <a:endParaRPr sz="2800">
              <a:latin typeface="Times New Roman"/>
              <a:cs typeface="Times New Roman"/>
            </a:endParaRPr>
          </a:p>
          <a:p>
            <a:pPr marL="443865" indent="-431800">
              <a:lnSpc>
                <a:spcPct val="100000"/>
              </a:lnSpc>
              <a:buFont typeface="Wingdings"/>
              <a:buChar char=""/>
              <a:tabLst>
                <a:tab pos="443865" algn="l"/>
                <a:tab pos="444500" algn="l"/>
              </a:tabLst>
            </a:pPr>
            <a:r>
              <a:rPr sz="2800" spc="-5" dirty="0">
                <a:latin typeface="Times New Roman"/>
                <a:cs typeface="Times New Roman"/>
              </a:rPr>
              <a:t>nutrient cycling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260985">
              <a:lnSpc>
                <a:spcPts val="2690"/>
              </a:lnSpc>
              <a:spcBef>
                <a:spcPts val="645"/>
              </a:spcBef>
              <a:tabLst>
                <a:tab pos="810895" algn="l"/>
                <a:tab pos="2594610" algn="l"/>
                <a:tab pos="3332479" algn="l"/>
                <a:tab pos="4248150" algn="l"/>
                <a:tab pos="5815330" algn="l"/>
                <a:tab pos="6612255" algn="l"/>
                <a:tab pos="778319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	e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1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ys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3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sh</a:t>
            </a:r>
            <a:r>
              <a:rPr sz="2800" spc="5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variations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respect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to  </a:t>
            </a:r>
            <a:r>
              <a:rPr sz="2800" dirty="0">
                <a:latin typeface="Times New Roman"/>
                <a:cs typeface="Times New Roman"/>
              </a:rPr>
              <a:t>physical </a:t>
            </a:r>
            <a:r>
              <a:rPr sz="2800" spc="-5" dirty="0">
                <a:latin typeface="Times New Roman"/>
                <a:cs typeface="Times New Roman"/>
              </a:rPr>
              <a:t>parameters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like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moisture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temperature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altitude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precipitation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etc.,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89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705357"/>
            <a:ext cx="8073390" cy="5001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 ecosystem </a:t>
            </a:r>
            <a:r>
              <a:rPr sz="3200" spc="-5" dirty="0">
                <a:latin typeface="Times New Roman"/>
                <a:cs typeface="Times New Roman"/>
              </a:rPr>
              <a:t>diversity is of </a:t>
            </a:r>
            <a:r>
              <a:rPr sz="3200" dirty="0">
                <a:latin typeface="Times New Roman"/>
                <a:cs typeface="Times New Roman"/>
              </a:rPr>
              <a:t>great </a:t>
            </a:r>
            <a:r>
              <a:rPr sz="3200" spc="-5" dirty="0">
                <a:latin typeface="Times New Roman"/>
                <a:cs typeface="Times New Roman"/>
              </a:rPr>
              <a:t>value that  </a:t>
            </a:r>
            <a:r>
              <a:rPr sz="3200" dirty="0">
                <a:latin typeface="Times New Roman"/>
                <a:cs typeface="Times New Roman"/>
              </a:rPr>
              <a:t>must </a:t>
            </a:r>
            <a:r>
              <a:rPr sz="3200" spc="-5" dirty="0">
                <a:latin typeface="Times New Roman"/>
                <a:cs typeface="Times New Roman"/>
              </a:rPr>
              <a:t>be </a:t>
            </a:r>
            <a:r>
              <a:rPr sz="3200" dirty="0">
                <a:latin typeface="Times New Roman"/>
                <a:cs typeface="Times New Roman"/>
              </a:rPr>
              <a:t>kept </a:t>
            </a:r>
            <a:r>
              <a:rPr sz="3200" spc="-5" dirty="0">
                <a:latin typeface="Times New Roman"/>
                <a:cs typeface="Times New Roman"/>
              </a:rPr>
              <a:t>intact. This diversity </a:t>
            </a:r>
            <a:r>
              <a:rPr sz="3200" dirty="0">
                <a:latin typeface="Times New Roman"/>
                <a:cs typeface="Times New Roman"/>
              </a:rPr>
              <a:t>has  developed over </a:t>
            </a:r>
            <a:r>
              <a:rPr sz="3200" spc="-5" dirty="0">
                <a:latin typeface="Times New Roman"/>
                <a:cs typeface="Times New Roman"/>
              </a:rPr>
              <a:t>millions </a:t>
            </a:r>
            <a:r>
              <a:rPr sz="3200" spc="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years </a:t>
            </a:r>
            <a:r>
              <a:rPr sz="3200" spc="-5" dirty="0">
                <a:latin typeface="Times New Roman"/>
                <a:cs typeface="Times New Roman"/>
              </a:rPr>
              <a:t>of evolution.  </a:t>
            </a:r>
            <a:r>
              <a:rPr sz="3200" dirty="0">
                <a:latin typeface="Times New Roman"/>
                <a:cs typeface="Times New Roman"/>
              </a:rPr>
              <a:t>If we </a:t>
            </a:r>
            <a:r>
              <a:rPr sz="3200" spc="-5" dirty="0">
                <a:latin typeface="Times New Roman"/>
                <a:cs typeface="Times New Roman"/>
              </a:rPr>
              <a:t>destroy this </a:t>
            </a:r>
            <a:r>
              <a:rPr sz="3200" spc="-25" dirty="0">
                <a:latin typeface="Times New Roman"/>
                <a:cs typeface="Times New Roman"/>
              </a:rPr>
              <a:t>diversity, </a:t>
            </a:r>
            <a:r>
              <a:rPr sz="3200" spc="-5" dirty="0">
                <a:latin typeface="Times New Roman"/>
                <a:cs typeface="Times New Roman"/>
              </a:rPr>
              <a:t>it would disrupt  </a:t>
            </a:r>
            <a:r>
              <a:rPr sz="3200" dirty="0">
                <a:latin typeface="Times New Roman"/>
                <a:cs typeface="Times New Roman"/>
              </a:rPr>
              <a:t>the ecological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balance.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spc="-1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cannot even replace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diversity of one  ecosystem </a:t>
            </a:r>
            <a:r>
              <a:rPr sz="3200" spc="-5" dirty="0">
                <a:latin typeface="Times New Roman"/>
                <a:cs typeface="Times New Roman"/>
              </a:rPr>
              <a:t>by that of </a:t>
            </a:r>
            <a:r>
              <a:rPr sz="3200" spc="-25" dirty="0">
                <a:latin typeface="Times New Roman"/>
                <a:cs typeface="Times New Roman"/>
              </a:rPr>
              <a:t>another. </a:t>
            </a:r>
            <a:r>
              <a:rPr sz="3200" spc="-5" dirty="0">
                <a:latin typeface="Times New Roman"/>
                <a:cs typeface="Times New Roman"/>
              </a:rPr>
              <a:t>Coniferous trees  </a:t>
            </a:r>
            <a:r>
              <a:rPr sz="3200" dirty="0">
                <a:latin typeface="Times New Roman"/>
                <a:cs typeface="Times New Roman"/>
              </a:rPr>
              <a:t>of boreal </a:t>
            </a:r>
            <a:r>
              <a:rPr sz="3200" spc="-5" dirty="0">
                <a:latin typeface="Times New Roman"/>
                <a:cs typeface="Times New Roman"/>
              </a:rPr>
              <a:t>forests </a:t>
            </a:r>
            <a:r>
              <a:rPr sz="3200" dirty="0">
                <a:latin typeface="Times New Roman"/>
                <a:cs typeface="Times New Roman"/>
              </a:rPr>
              <a:t>cannot </a:t>
            </a:r>
            <a:r>
              <a:rPr sz="3200" spc="-5" dirty="0">
                <a:latin typeface="Times New Roman"/>
                <a:cs typeface="Times New Roman"/>
              </a:rPr>
              <a:t>take </a:t>
            </a:r>
            <a:r>
              <a:rPr sz="3200" dirty="0">
                <a:latin typeface="Times New Roman"/>
                <a:cs typeface="Times New Roman"/>
              </a:rPr>
              <a:t>up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function </a:t>
            </a:r>
            <a:r>
              <a:rPr sz="3200" spc="-10" dirty="0">
                <a:latin typeface="Times New Roman"/>
                <a:cs typeface="Times New Roman"/>
              </a:rPr>
              <a:t>of 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trees’ of </a:t>
            </a:r>
            <a:r>
              <a:rPr sz="3200" dirty="0">
                <a:latin typeface="Times New Roman"/>
                <a:cs typeface="Times New Roman"/>
              </a:rPr>
              <a:t>tropical deciduous </a:t>
            </a:r>
            <a:r>
              <a:rPr sz="3200" spc="-5" dirty="0">
                <a:latin typeface="Times New Roman"/>
                <a:cs typeface="Times New Roman"/>
              </a:rPr>
              <a:t>forest </a:t>
            </a:r>
            <a:r>
              <a:rPr sz="3200" dirty="0">
                <a:latin typeface="Times New Roman"/>
                <a:cs typeface="Times New Roman"/>
              </a:rPr>
              <a:t>lands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and  </a:t>
            </a:r>
            <a:r>
              <a:rPr sz="3200" dirty="0">
                <a:latin typeface="Times New Roman"/>
                <a:cs typeface="Times New Roman"/>
              </a:rPr>
              <a:t>vice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versa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240" y="304800"/>
            <a:ext cx="8353044" cy="594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90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100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2060" y="478663"/>
            <a:ext cx="51193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/>
              <a:t>Value </a:t>
            </a:r>
            <a:r>
              <a:rPr sz="4400" dirty="0"/>
              <a:t>of</a:t>
            </a:r>
            <a:r>
              <a:rPr sz="4400" spc="25" dirty="0"/>
              <a:t> </a:t>
            </a:r>
            <a:r>
              <a:rPr sz="4400" dirty="0"/>
              <a:t>Bio-Diversity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22133"/>
            <a:ext cx="7810500" cy="26606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Consumptive</a:t>
            </a:r>
            <a:r>
              <a:rPr sz="3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value: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55880" algn="just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These are direct use values where the  biodiversity product </a:t>
            </a:r>
            <a:r>
              <a:rPr sz="3200" spc="5" dirty="0">
                <a:latin typeface="Times New Roman"/>
                <a:cs typeface="Times New Roman"/>
              </a:rPr>
              <a:t>can </a:t>
            </a:r>
            <a:r>
              <a:rPr sz="3200" dirty="0">
                <a:latin typeface="Times New Roman"/>
                <a:cs typeface="Times New Roman"/>
              </a:rPr>
              <a:t>be harvested </a:t>
            </a:r>
            <a:r>
              <a:rPr sz="3200" spc="5" dirty="0">
                <a:latin typeface="Times New Roman"/>
                <a:cs typeface="Times New Roman"/>
              </a:rPr>
              <a:t>and  consumed </a:t>
            </a:r>
            <a:r>
              <a:rPr sz="3200" dirty="0">
                <a:latin typeface="Times New Roman"/>
                <a:cs typeface="Times New Roman"/>
              </a:rPr>
              <a:t>directly e.g. fuel, food, drugs,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fibre  etc.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06451"/>
            <a:ext cx="3325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Drugs and</a:t>
            </a:r>
            <a:r>
              <a:rPr sz="28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medicines: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676402"/>
            <a:ext cx="8074025" cy="49333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715" indent="-342900" algn="just">
              <a:lnSpc>
                <a:spcPts val="302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About </a:t>
            </a:r>
            <a:r>
              <a:rPr sz="2800" spc="-5" dirty="0">
                <a:latin typeface="Times New Roman"/>
                <a:cs typeface="Times New Roman"/>
              </a:rPr>
              <a:t>75%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25" dirty="0">
                <a:latin typeface="Times New Roman"/>
                <a:cs typeface="Times New Roman"/>
              </a:rPr>
              <a:t>world’s </a:t>
            </a:r>
            <a:r>
              <a:rPr sz="2800" spc="-5" dirty="0">
                <a:latin typeface="Times New Roman"/>
                <a:cs typeface="Times New Roman"/>
              </a:rPr>
              <a:t>population Depends upon  plants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plant extracts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medicines. The wonder  </a:t>
            </a:r>
            <a:r>
              <a:rPr sz="2800" dirty="0">
                <a:latin typeface="Times New Roman"/>
                <a:cs typeface="Times New Roman"/>
              </a:rPr>
              <a:t>drug </a:t>
            </a:r>
            <a:r>
              <a:rPr sz="2800" spc="-5" dirty="0">
                <a:latin typeface="Times New Roman"/>
                <a:cs typeface="Times New Roman"/>
              </a:rPr>
              <a:t>Penicillin used </a:t>
            </a:r>
            <a:r>
              <a:rPr sz="2800" spc="-10" dirty="0">
                <a:latin typeface="Times New Roman"/>
                <a:cs typeface="Times New Roman"/>
              </a:rPr>
              <a:t>as an </a:t>
            </a:r>
            <a:r>
              <a:rPr sz="2800" spc="-5" dirty="0">
                <a:latin typeface="Times New Roman"/>
                <a:cs typeface="Times New Roman"/>
              </a:rPr>
              <a:t>antibiotic is derived from a  </a:t>
            </a:r>
            <a:r>
              <a:rPr sz="2800" dirty="0">
                <a:latin typeface="Times New Roman"/>
                <a:cs typeface="Times New Roman"/>
              </a:rPr>
              <a:t>fungus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"Penicillium.</a:t>
            </a:r>
            <a:endParaRPr sz="28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690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we </a:t>
            </a:r>
            <a:r>
              <a:rPr sz="2800" spc="-5" dirty="0">
                <a:latin typeface="Times New Roman"/>
                <a:cs typeface="Times New Roman"/>
              </a:rPr>
              <a:t>get </a:t>
            </a:r>
            <a:r>
              <a:rPr sz="2800" spc="-20" dirty="0">
                <a:latin typeface="Times New Roman"/>
                <a:cs typeface="Times New Roman"/>
              </a:rPr>
              <a:t>Tetracyclin </a:t>
            </a:r>
            <a:r>
              <a:rPr sz="2800" spc="-5" dirty="0">
                <a:latin typeface="Times New Roman"/>
                <a:cs typeface="Times New Roman"/>
              </a:rPr>
              <a:t>from a bacterium. Quinine, the  cure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malaria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obtained from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bark </a:t>
            </a:r>
            <a:r>
              <a:rPr sz="2800" dirty="0">
                <a:latin typeface="Times New Roman"/>
                <a:cs typeface="Times New Roman"/>
              </a:rPr>
              <a:t>of  Cinchona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tree,</a:t>
            </a:r>
            <a:endParaRPr sz="2800" dirty="0">
              <a:latin typeface="Times New Roman"/>
              <a:cs typeface="Times New Roman"/>
            </a:endParaRPr>
          </a:p>
          <a:p>
            <a:pPr marL="355600" marR="8890" indent="-342900" algn="just">
              <a:lnSpc>
                <a:spcPts val="3020"/>
              </a:lnSpc>
              <a:spcBef>
                <a:spcPts val="685"/>
              </a:spcBef>
              <a:buFont typeface="Wingdings"/>
              <a:buChar char=""/>
              <a:tabLst>
                <a:tab pos="444500" algn="l"/>
              </a:tabLst>
            </a:pPr>
            <a:r>
              <a:rPr dirty="0"/>
              <a:t>	</a:t>
            </a:r>
            <a:r>
              <a:rPr sz="2800" spc="-5" dirty="0">
                <a:latin typeface="Times New Roman"/>
                <a:cs typeface="Times New Roman"/>
              </a:rPr>
              <a:t>Digitalin </a:t>
            </a:r>
            <a:r>
              <a:rPr sz="2800" spc="-1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obtained </a:t>
            </a:r>
            <a:r>
              <a:rPr sz="2800" dirty="0">
                <a:latin typeface="Times New Roman"/>
                <a:cs typeface="Times New Roman"/>
              </a:rPr>
              <a:t>from foxglove </a:t>
            </a:r>
            <a:r>
              <a:rPr sz="2800" spc="-5" dirty="0">
                <a:latin typeface="Times New Roman"/>
                <a:cs typeface="Times New Roman"/>
              </a:rPr>
              <a:t>(Digitalis) which  is </a:t>
            </a:r>
            <a:r>
              <a:rPr sz="2800" spc="-10" dirty="0">
                <a:latin typeface="Times New Roman"/>
                <a:cs typeface="Times New Roman"/>
              </a:rPr>
              <a:t>an effective </a:t>
            </a:r>
            <a:r>
              <a:rPr sz="2800" spc="-5" dirty="0">
                <a:latin typeface="Times New Roman"/>
                <a:cs typeface="Times New Roman"/>
              </a:rPr>
              <a:t>cure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heart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disease.</a:t>
            </a:r>
            <a:endParaRPr sz="28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30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spc="-20" dirty="0">
                <a:latin typeface="Times New Roman"/>
                <a:cs typeface="Times New Roman"/>
              </a:rPr>
              <a:t>Vinblastin </a:t>
            </a:r>
            <a:r>
              <a:rPr sz="2800" spc="-5" dirty="0">
                <a:latin typeface="Times New Roman"/>
                <a:cs typeface="Times New Roman"/>
              </a:rPr>
              <a:t>and vincristine, two anticancer drugs, have  been obtained from Periwinkle (Catharanthus) plant,  which possesses anticancer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alkaloids.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32829" y="6431381"/>
            <a:ext cx="25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101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85317"/>
            <a:ext cx="807339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imes New Roman"/>
                <a:cs typeface="Times New Roman"/>
              </a:rPr>
              <a:t>Fuel:</a:t>
            </a:r>
            <a:endParaRPr sz="3000">
              <a:latin typeface="Times New Roman"/>
              <a:cs typeface="Times New Roman"/>
            </a:endParaRPr>
          </a:p>
          <a:p>
            <a:pPr marL="355600" marR="5080" indent="38100" algn="just">
              <a:lnSpc>
                <a:spcPts val="2880"/>
              </a:lnSpc>
              <a:spcBef>
                <a:spcPts val="695"/>
              </a:spcBef>
            </a:pPr>
            <a:r>
              <a:rPr sz="3000" dirty="0">
                <a:solidFill>
                  <a:srgbClr val="000000"/>
                </a:solidFill>
              </a:rPr>
              <a:t>Our </a:t>
            </a:r>
            <a:r>
              <a:rPr sz="3000" spc="-5" dirty="0">
                <a:solidFill>
                  <a:srgbClr val="000000"/>
                </a:solidFill>
              </a:rPr>
              <a:t>forests </a:t>
            </a:r>
            <a:r>
              <a:rPr sz="3000" dirty="0">
                <a:solidFill>
                  <a:srgbClr val="000000"/>
                </a:solidFill>
              </a:rPr>
              <a:t>have been used </a:t>
            </a:r>
            <a:r>
              <a:rPr sz="3000" spc="-5" dirty="0">
                <a:solidFill>
                  <a:srgbClr val="000000"/>
                </a:solidFill>
              </a:rPr>
              <a:t>since </a:t>
            </a:r>
            <a:r>
              <a:rPr sz="3000" dirty="0">
                <a:solidFill>
                  <a:srgbClr val="000000"/>
                </a:solidFill>
              </a:rPr>
              <a:t>ages for fuel  </a:t>
            </a:r>
            <a:r>
              <a:rPr sz="3000" spc="-5" dirty="0">
                <a:solidFill>
                  <a:srgbClr val="000000"/>
                </a:solidFill>
              </a:rPr>
              <a:t>wood. The fossil </a:t>
            </a:r>
            <a:r>
              <a:rPr sz="3000" dirty="0">
                <a:solidFill>
                  <a:srgbClr val="000000"/>
                </a:solidFill>
              </a:rPr>
              <a:t>fuels coal, petroleum and natural  </a:t>
            </a:r>
            <a:r>
              <a:rPr sz="3000" spc="-5" dirty="0">
                <a:solidFill>
                  <a:srgbClr val="000000"/>
                </a:solidFill>
              </a:rPr>
              <a:t>gas </a:t>
            </a:r>
            <a:r>
              <a:rPr sz="3000" dirty="0">
                <a:solidFill>
                  <a:srgbClr val="000000"/>
                </a:solidFill>
              </a:rPr>
              <a:t>are </a:t>
            </a:r>
            <a:r>
              <a:rPr sz="3000" spc="-5" dirty="0">
                <a:solidFill>
                  <a:srgbClr val="000000"/>
                </a:solidFill>
              </a:rPr>
              <a:t>also </a:t>
            </a:r>
            <a:r>
              <a:rPr sz="3000" dirty="0">
                <a:solidFill>
                  <a:srgbClr val="000000"/>
                </a:solidFill>
              </a:rPr>
              <a:t>products of </a:t>
            </a:r>
            <a:r>
              <a:rPr sz="3000" spc="-5" dirty="0">
                <a:solidFill>
                  <a:srgbClr val="000000"/>
                </a:solidFill>
              </a:rPr>
              <a:t>fossilized</a:t>
            </a:r>
            <a:r>
              <a:rPr sz="3000" spc="65" dirty="0">
                <a:solidFill>
                  <a:srgbClr val="000000"/>
                </a:solidFill>
              </a:rPr>
              <a:t> </a:t>
            </a:r>
            <a:r>
              <a:rPr sz="3000" spc="-20" dirty="0">
                <a:solidFill>
                  <a:srgbClr val="000000"/>
                </a:solidFill>
              </a:rPr>
              <a:t>biodiversity.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2031619"/>
            <a:ext cx="8074025" cy="472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06FC0"/>
                </a:solidFill>
                <a:latin typeface="Times New Roman"/>
                <a:cs typeface="Times New Roman"/>
              </a:rPr>
              <a:t>PRODUCTIVE</a:t>
            </a:r>
            <a:r>
              <a:rPr sz="3000" b="1" spc="-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VALUES:</a:t>
            </a:r>
            <a:endParaRPr sz="3000">
              <a:latin typeface="Times New Roman"/>
              <a:cs typeface="Times New Roman"/>
            </a:endParaRPr>
          </a:p>
          <a:p>
            <a:pPr marL="355600" marR="5080" indent="31750" algn="just">
              <a:lnSpc>
                <a:spcPct val="80000"/>
              </a:lnSpc>
              <a:spcBef>
                <a:spcPts val="720"/>
              </a:spcBef>
            </a:pPr>
            <a:r>
              <a:rPr sz="3000" dirty="0">
                <a:latin typeface="Times New Roman"/>
                <a:cs typeface="Times New Roman"/>
              </a:rPr>
              <a:t>These are the commercially usable values where  the product </a:t>
            </a:r>
            <a:r>
              <a:rPr sz="3000" spc="-10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marketed and </a:t>
            </a:r>
            <a:r>
              <a:rPr sz="3000" spc="-5" dirty="0">
                <a:latin typeface="Times New Roman"/>
                <a:cs typeface="Times New Roman"/>
              </a:rPr>
              <a:t>sold. </a:t>
            </a:r>
            <a:r>
              <a:rPr sz="3000" dirty="0">
                <a:latin typeface="Times New Roman"/>
                <a:cs typeface="Times New Roman"/>
              </a:rPr>
              <a:t>These may  include the animal </a:t>
            </a:r>
            <a:r>
              <a:rPr sz="3000" spc="-5" dirty="0">
                <a:latin typeface="Times New Roman"/>
                <a:cs typeface="Times New Roman"/>
              </a:rPr>
              <a:t>products </a:t>
            </a:r>
            <a:r>
              <a:rPr sz="3000" dirty="0">
                <a:latin typeface="Times New Roman"/>
                <a:cs typeface="Times New Roman"/>
              </a:rPr>
              <a:t>like </a:t>
            </a:r>
            <a:r>
              <a:rPr sz="3000" spc="-5" dirty="0">
                <a:latin typeface="Times New Roman"/>
                <a:cs typeface="Times New Roman"/>
              </a:rPr>
              <a:t>tusks of  </a:t>
            </a:r>
            <a:r>
              <a:rPr sz="3000" dirty="0">
                <a:latin typeface="Times New Roman"/>
                <a:cs typeface="Times New Roman"/>
              </a:rPr>
              <a:t>elephants, </a:t>
            </a:r>
            <a:r>
              <a:rPr sz="3000" spc="-5" dirty="0">
                <a:latin typeface="Times New Roman"/>
                <a:cs typeface="Times New Roman"/>
              </a:rPr>
              <a:t>musk </a:t>
            </a:r>
            <a:r>
              <a:rPr sz="3000" dirty="0">
                <a:latin typeface="Times New Roman"/>
                <a:cs typeface="Times New Roman"/>
              </a:rPr>
              <a:t>from </a:t>
            </a:r>
            <a:r>
              <a:rPr sz="3000" spc="-5" dirty="0">
                <a:latin typeface="Times New Roman"/>
                <a:cs typeface="Times New Roman"/>
              </a:rPr>
              <a:t>musk </a:t>
            </a:r>
            <a:r>
              <a:rPr sz="3000" spc="-25" dirty="0">
                <a:latin typeface="Times New Roman"/>
                <a:cs typeface="Times New Roman"/>
              </a:rPr>
              <a:t>deer, </a:t>
            </a:r>
            <a:r>
              <a:rPr sz="3000" spc="-5" dirty="0">
                <a:latin typeface="Times New Roman"/>
                <a:cs typeface="Times New Roman"/>
              </a:rPr>
              <a:t>silk </a:t>
            </a:r>
            <a:r>
              <a:rPr sz="3000" dirty="0">
                <a:latin typeface="Times New Roman"/>
                <a:cs typeface="Times New Roman"/>
              </a:rPr>
              <a:t>from silk-  worm, wool from sheep, </a:t>
            </a:r>
            <a:r>
              <a:rPr sz="3000" spc="-5" dirty="0">
                <a:latin typeface="Times New Roman"/>
                <a:cs typeface="Times New Roman"/>
              </a:rPr>
              <a:t>fir </a:t>
            </a:r>
            <a:r>
              <a:rPr sz="3000" dirty="0">
                <a:latin typeface="Times New Roman"/>
                <a:cs typeface="Times New Roman"/>
              </a:rPr>
              <a:t>of many animals etc,  all of </a:t>
            </a:r>
            <a:r>
              <a:rPr sz="3000" spc="-5" dirty="0">
                <a:latin typeface="Times New Roman"/>
                <a:cs typeface="Times New Roman"/>
              </a:rPr>
              <a:t>which </a:t>
            </a:r>
            <a:r>
              <a:rPr sz="3000" dirty="0">
                <a:latin typeface="Times New Roman"/>
                <a:cs typeface="Times New Roman"/>
              </a:rPr>
              <a:t>are traded </a:t>
            </a:r>
            <a:r>
              <a:rPr sz="3000" spc="-5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the market. </a:t>
            </a:r>
            <a:r>
              <a:rPr sz="3000" spc="-5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wild  variety </a:t>
            </a:r>
            <a:r>
              <a:rPr sz="3000" spc="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rice from </a:t>
            </a:r>
            <a:r>
              <a:rPr sz="3000" spc="-114" dirty="0">
                <a:latin typeface="Times New Roman"/>
                <a:cs typeface="Times New Roman"/>
              </a:rPr>
              <a:t>UP.</a:t>
            </a:r>
            <a:r>
              <a:rPr sz="3000" spc="5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Saved millions of  hectares of paddy crop from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Grossy-Stuntvirus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R="1421130" algn="r">
              <a:lnSpc>
                <a:spcPct val="100000"/>
              </a:lnSpc>
              <a:spcBef>
                <a:spcPts val="2460"/>
              </a:spcBef>
            </a:pPr>
            <a:r>
              <a:rPr sz="2800" spc="-5" dirty="0">
                <a:solidFill>
                  <a:srgbClr val="888888"/>
                </a:solidFill>
                <a:latin typeface="Times New Roman"/>
                <a:cs typeface="Times New Roman"/>
              </a:rPr>
              <a:t>102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103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227431"/>
            <a:ext cx="8015605" cy="57810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SOCIAL </a:t>
            </a:r>
            <a:r>
              <a:rPr sz="3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VALUES/ETHICAL</a:t>
            </a:r>
            <a:r>
              <a:rPr sz="3200" b="1" spc="-5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VALUES:</a:t>
            </a:r>
            <a:endParaRPr sz="3200" dirty="0">
              <a:latin typeface="Times New Roman"/>
              <a:cs typeface="Times New Roman"/>
            </a:endParaRPr>
          </a:p>
          <a:p>
            <a:pPr marL="355600" marR="69215" indent="-342900" algn="just">
              <a:lnSpc>
                <a:spcPct val="100000"/>
              </a:lnSpc>
              <a:spcBef>
                <a:spcPts val="770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These are the values associated with the social  life, customs, religion </a:t>
            </a:r>
            <a:r>
              <a:rPr sz="3200" spc="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aspects of </a:t>
            </a:r>
            <a:r>
              <a:rPr sz="3200" spc="-5" dirty="0">
                <a:latin typeface="Times New Roman"/>
                <a:cs typeface="Times New Roman"/>
              </a:rPr>
              <a:t>the  </a:t>
            </a:r>
            <a:r>
              <a:rPr sz="3200" dirty="0">
                <a:latin typeface="Times New Roman"/>
                <a:cs typeface="Times New Roman"/>
              </a:rPr>
              <a:t>people.</a:t>
            </a:r>
          </a:p>
          <a:p>
            <a:pPr marL="355600" marR="590550" indent="-342900" algn="just">
              <a:lnSpc>
                <a:spcPct val="100000"/>
              </a:lnSpc>
              <a:spcBef>
                <a:spcPts val="770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Many of the plants are considered holy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and  </a:t>
            </a:r>
            <a:r>
              <a:rPr sz="3200" dirty="0">
                <a:latin typeface="Times New Roman"/>
                <a:cs typeface="Times New Roman"/>
              </a:rPr>
              <a:t>sacred in our country like </a:t>
            </a:r>
            <a:r>
              <a:rPr sz="3200" spc="-25" dirty="0">
                <a:latin typeface="Times New Roman"/>
                <a:cs typeface="Times New Roman"/>
              </a:rPr>
              <a:t>Tulsi </a:t>
            </a:r>
            <a:r>
              <a:rPr sz="3200" dirty="0">
                <a:latin typeface="Times New Roman"/>
                <a:cs typeface="Times New Roman"/>
              </a:rPr>
              <a:t>(holy  basil),Peepal, Mango, Lotus, Neem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etc.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The leaves, fruits or flowers of these plants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  used in worship or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plant itself is  worshipped. The tribal </a:t>
            </a:r>
            <a:r>
              <a:rPr sz="3200" spc="5" dirty="0">
                <a:latin typeface="Times New Roman"/>
                <a:cs typeface="Times New Roman"/>
              </a:rPr>
              <a:t>people </a:t>
            </a:r>
            <a:r>
              <a:rPr sz="3200" dirty="0">
                <a:latin typeface="Times New Roman"/>
                <a:cs typeface="Times New Roman"/>
              </a:rPr>
              <a:t>are very closely  linked with the wild life in 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forests.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104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476757"/>
            <a:ext cx="4001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AESTHETIC</a:t>
            </a:r>
            <a:r>
              <a:rPr sz="3200" b="1" spc="-11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VALUE: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61974"/>
            <a:ext cx="45961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  <a:tab pos="1768475" algn="l"/>
                <a:tab pos="3702685" algn="l"/>
              </a:tabLst>
            </a:pPr>
            <a:r>
              <a:rPr sz="3200" dirty="0">
                <a:latin typeface="Times New Roman"/>
                <a:cs typeface="Times New Roman"/>
              </a:rPr>
              <a:t>Gr</a:t>
            </a:r>
            <a:r>
              <a:rPr sz="3200" spc="1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at	a</a:t>
            </a:r>
            <a:r>
              <a:rPr sz="3200" spc="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sth</a:t>
            </a:r>
            <a:r>
              <a:rPr sz="3200" spc="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2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c	v</a:t>
            </a:r>
            <a:r>
              <a:rPr sz="3200" spc="5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ue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7845" y="1061974"/>
            <a:ext cx="29889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4385" algn="l"/>
                <a:tab pos="2660015" algn="l"/>
              </a:tabLst>
            </a:pP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s	at</a:t>
            </a:r>
            <a:r>
              <a:rPr sz="3200" spc="-1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hed	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549349"/>
            <a:ext cx="8074025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algn="just">
              <a:lnSpc>
                <a:spcPct val="100000"/>
              </a:lnSpc>
              <a:spcBef>
                <a:spcPts val="105"/>
              </a:spcBef>
            </a:pPr>
            <a:r>
              <a:rPr sz="3200" spc="-15" dirty="0">
                <a:latin typeface="Times New Roman"/>
                <a:cs typeface="Times New Roman"/>
              </a:rPr>
              <a:t>biodiversity. </a:t>
            </a:r>
            <a:r>
              <a:rPr sz="3200" spc="-13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will not </a:t>
            </a:r>
            <a:r>
              <a:rPr sz="3200" spc="-5" dirty="0">
                <a:latin typeface="Times New Roman"/>
                <a:cs typeface="Times New Roman"/>
              </a:rPr>
              <a:t>like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visit vast  </a:t>
            </a:r>
            <a:r>
              <a:rPr sz="3200" spc="5" dirty="0">
                <a:latin typeface="Times New Roman"/>
                <a:cs typeface="Times New Roman"/>
              </a:rPr>
              <a:t>barren </a:t>
            </a:r>
            <a:r>
              <a:rPr sz="3200" dirty="0">
                <a:latin typeface="Times New Roman"/>
                <a:cs typeface="Times New Roman"/>
              </a:rPr>
              <a:t>lands with no signs of visible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life.</a:t>
            </a:r>
          </a:p>
          <a:p>
            <a:pPr marL="355600" marR="5715" indent="-342900" algn="just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People </a:t>
            </a:r>
            <a:r>
              <a:rPr sz="3200" spc="-5" dirty="0">
                <a:latin typeface="Times New Roman"/>
                <a:cs typeface="Times New Roman"/>
              </a:rPr>
              <a:t>from </a:t>
            </a:r>
            <a:r>
              <a:rPr sz="3200" dirty="0">
                <a:latin typeface="Times New Roman"/>
                <a:cs typeface="Times New Roman"/>
              </a:rPr>
              <a:t>far and wide spend a </a:t>
            </a:r>
            <a:r>
              <a:rPr sz="3200" spc="-10" dirty="0">
                <a:latin typeface="Times New Roman"/>
                <a:cs typeface="Times New Roman"/>
              </a:rPr>
              <a:t>lot </a:t>
            </a:r>
            <a:r>
              <a:rPr sz="3200" spc="-5" dirty="0">
                <a:latin typeface="Times New Roman"/>
                <a:cs typeface="Times New Roman"/>
              </a:rPr>
              <a:t>of time  </a:t>
            </a:r>
            <a:r>
              <a:rPr sz="3200" dirty="0">
                <a:latin typeface="Times New Roman"/>
                <a:cs typeface="Times New Roman"/>
              </a:rPr>
              <a:t>and money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spc="-5" dirty="0">
                <a:latin typeface="Times New Roman"/>
                <a:cs typeface="Times New Roman"/>
              </a:rPr>
              <a:t>visit wilderness </a:t>
            </a:r>
            <a:r>
              <a:rPr sz="3200" dirty="0">
                <a:latin typeface="Times New Roman"/>
                <a:cs typeface="Times New Roman"/>
              </a:rPr>
              <a:t>areas where </a:t>
            </a:r>
            <a:r>
              <a:rPr sz="3200" spc="-5" dirty="0">
                <a:latin typeface="Times New Roman"/>
                <a:cs typeface="Times New Roman"/>
              </a:rPr>
              <a:t>they  </a:t>
            </a:r>
            <a:r>
              <a:rPr sz="3200" spc="5" dirty="0">
                <a:latin typeface="Times New Roman"/>
                <a:cs typeface="Times New Roman"/>
              </a:rPr>
              <a:t>can </a:t>
            </a:r>
            <a:r>
              <a:rPr sz="3200" spc="-5" dirty="0">
                <a:latin typeface="Times New Roman"/>
                <a:cs typeface="Times New Roman"/>
              </a:rPr>
              <a:t>enjoy </a:t>
            </a:r>
            <a:r>
              <a:rPr sz="3200" dirty="0">
                <a:latin typeface="Times New Roman"/>
                <a:cs typeface="Times New Roman"/>
              </a:rPr>
              <a:t>the aesthetic value of </a:t>
            </a:r>
            <a:r>
              <a:rPr sz="3200" spc="-5" dirty="0">
                <a:latin typeface="Times New Roman"/>
                <a:cs typeface="Times New Roman"/>
              </a:rPr>
              <a:t>biodiversity  </a:t>
            </a:r>
            <a:r>
              <a:rPr sz="3200" dirty="0">
                <a:latin typeface="Times New Roman"/>
                <a:cs typeface="Times New Roman"/>
              </a:rPr>
              <a:t>and this type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tourism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spc="5" dirty="0">
                <a:latin typeface="Times New Roman"/>
                <a:cs typeface="Times New Roman"/>
              </a:rPr>
              <a:t>now </a:t>
            </a:r>
            <a:r>
              <a:rPr sz="3200" dirty="0">
                <a:latin typeface="Times New Roman"/>
                <a:cs typeface="Times New Roman"/>
              </a:rPr>
              <a:t>known </a:t>
            </a:r>
            <a:r>
              <a:rPr sz="3200" spc="5" dirty="0">
                <a:latin typeface="Times New Roman"/>
                <a:cs typeface="Times New Roman"/>
              </a:rPr>
              <a:t>as  </a:t>
            </a:r>
            <a:r>
              <a:rPr sz="3200" b="1" dirty="0">
                <a:latin typeface="Times New Roman"/>
                <a:cs typeface="Times New Roman"/>
              </a:rPr>
              <a:t>ecotourism</a:t>
            </a:r>
            <a:r>
              <a:rPr sz="3200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105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162938"/>
            <a:ext cx="7887970" cy="519049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ECOLOGICAL</a:t>
            </a:r>
            <a:r>
              <a:rPr sz="2800" b="1" spc="-1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VALUE</a:t>
            </a:r>
            <a:r>
              <a:rPr sz="2800" spc="-7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spc="-5" dirty="0">
                <a:latin typeface="Times New Roman"/>
                <a:cs typeface="Times New Roman"/>
              </a:rPr>
              <a:t>It refers to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services </a:t>
            </a:r>
            <a:r>
              <a:rPr sz="2800" dirty="0">
                <a:latin typeface="Times New Roman"/>
                <a:cs typeface="Times New Roman"/>
              </a:rPr>
              <a:t>provided by </a:t>
            </a:r>
            <a:r>
              <a:rPr sz="2800" spc="-5" dirty="0">
                <a:latin typeface="Times New Roman"/>
                <a:cs typeface="Times New Roman"/>
              </a:rPr>
              <a:t>ecosystems such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as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prevention of </a:t>
            </a:r>
            <a:r>
              <a:rPr sz="2800" spc="-5" dirty="0">
                <a:latin typeface="Times New Roman"/>
                <a:cs typeface="Times New Roman"/>
              </a:rPr>
              <a:t>soil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erosion,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prevention 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floods,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maintenance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soil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fertility,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nutrients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cycles,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fixation 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nitrogen,</a:t>
            </a:r>
            <a:endParaRPr sz="2800">
              <a:latin typeface="Times New Roman"/>
              <a:cs typeface="Times New Roman"/>
            </a:endParaRPr>
          </a:p>
          <a:p>
            <a:pPr marL="443865" indent="-43180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444500" algn="l"/>
              </a:tabLst>
            </a:pPr>
            <a:r>
              <a:rPr sz="2800" dirty="0">
                <a:latin typeface="Times New Roman"/>
                <a:cs typeface="Times New Roman"/>
              </a:rPr>
              <a:t>hydrological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cycle,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acts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carbon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sinks,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pollutant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absorption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Reduction </a:t>
            </a:r>
            <a:r>
              <a:rPr sz="2800" spc="-5" dirty="0">
                <a:latin typeface="Times New Roman"/>
                <a:cs typeface="Times New Roman"/>
              </a:rPr>
              <a:t>of the threat of </a:t>
            </a:r>
            <a:r>
              <a:rPr sz="2800" dirty="0">
                <a:latin typeface="Times New Roman"/>
                <a:cs typeface="Times New Roman"/>
              </a:rPr>
              <a:t>global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warming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115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6132" y="478663"/>
            <a:ext cx="54927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Threats to</a:t>
            </a:r>
            <a:r>
              <a:rPr sz="4400" spc="-85" dirty="0"/>
              <a:t> </a:t>
            </a:r>
            <a:r>
              <a:rPr sz="4400" dirty="0"/>
              <a:t>Bio-Diversity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8839" y="1619452"/>
            <a:ext cx="7731125" cy="295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66370" algn="just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imes New Roman"/>
                <a:cs typeface="Times New Roman"/>
              </a:rPr>
              <a:t>Extinction,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elimination </a:t>
            </a:r>
            <a:r>
              <a:rPr sz="3200" dirty="0">
                <a:latin typeface="Times New Roman"/>
                <a:cs typeface="Times New Roman"/>
              </a:rPr>
              <a:t>of a species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a  normal process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nature. </a:t>
            </a:r>
            <a:r>
              <a:rPr sz="3200" spc="-5" dirty="0">
                <a:latin typeface="Times New Roman"/>
                <a:cs typeface="Times New Roman"/>
              </a:rPr>
              <a:t>Species </a:t>
            </a:r>
            <a:r>
              <a:rPr sz="3200" spc="-15" dirty="0">
                <a:latin typeface="Times New Roman"/>
                <a:cs typeface="Times New Roman"/>
              </a:rPr>
              <a:t>however,  </a:t>
            </a:r>
            <a:r>
              <a:rPr sz="3200" dirty="0">
                <a:latin typeface="Times New Roman"/>
                <a:cs typeface="Times New Roman"/>
              </a:rPr>
              <a:t>human </a:t>
            </a:r>
            <a:r>
              <a:rPr sz="3200" spc="-5" dirty="0">
                <a:latin typeface="Times New Roman"/>
                <a:cs typeface="Times New Roman"/>
              </a:rPr>
              <a:t>impacts on populations </a:t>
            </a:r>
            <a:r>
              <a:rPr sz="3200" dirty="0">
                <a:latin typeface="Times New Roman"/>
                <a:cs typeface="Times New Roman"/>
              </a:rPr>
              <a:t>and ecosystems  have </a:t>
            </a:r>
            <a:r>
              <a:rPr sz="3200" spc="-5" dirty="0">
                <a:latin typeface="Times New Roman"/>
                <a:cs typeface="Times New Roman"/>
              </a:rPr>
              <a:t>accelerated </a:t>
            </a:r>
            <a:r>
              <a:rPr sz="3200" dirty="0">
                <a:latin typeface="Times New Roman"/>
                <a:cs typeface="Times New Roman"/>
              </a:rPr>
              <a:t>that </a:t>
            </a:r>
            <a:r>
              <a:rPr sz="3200" spc="-5" dirty="0">
                <a:latin typeface="Times New Roman"/>
                <a:cs typeface="Times New Roman"/>
              </a:rPr>
              <a:t>rate of </a:t>
            </a:r>
            <a:r>
              <a:rPr sz="3200" dirty="0">
                <a:latin typeface="Times New Roman"/>
                <a:cs typeface="Times New Roman"/>
              </a:rPr>
              <a:t>extinction,  causing hundreds of species, sub-species and  varieties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5" dirty="0">
                <a:latin typeface="Times New Roman"/>
                <a:cs typeface="Times New Roman"/>
              </a:rPr>
              <a:t>become </a:t>
            </a:r>
            <a:r>
              <a:rPr sz="3200" dirty="0">
                <a:latin typeface="Times New Roman"/>
                <a:cs typeface="Times New Roman"/>
              </a:rPr>
              <a:t>extinct every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year.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116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226643"/>
            <a:ext cx="8074025" cy="55867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84"/>
              </a:spcBef>
            </a:pPr>
            <a:r>
              <a:rPr sz="3200" dirty="0">
                <a:latin typeface="Times New Roman"/>
                <a:cs typeface="Times New Roman"/>
              </a:rPr>
              <a:t>The causes of extinction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are:</a:t>
            </a:r>
            <a:endParaRPr sz="3200">
              <a:latin typeface="Times New Roman"/>
              <a:cs typeface="Times New Roman"/>
            </a:endParaRPr>
          </a:p>
          <a:p>
            <a:pPr marL="355600" marR="5080" indent="673735" algn="just">
              <a:lnSpc>
                <a:spcPct val="9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Population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3200" dirty="0">
                <a:latin typeface="Times New Roman"/>
                <a:cs typeface="Times New Roman"/>
              </a:rPr>
              <a:t>: uneven </a:t>
            </a:r>
            <a:r>
              <a:rPr sz="3200" spc="-5" dirty="0">
                <a:latin typeface="Times New Roman"/>
                <a:cs typeface="Times New Roman"/>
              </a:rPr>
              <a:t>change </a:t>
            </a:r>
            <a:r>
              <a:rPr sz="3200" spc="-15" dirty="0">
                <a:latin typeface="Times New Roman"/>
                <a:cs typeface="Times New Roman"/>
              </a:rPr>
              <a:t>in  </a:t>
            </a:r>
            <a:r>
              <a:rPr sz="3200" dirty="0">
                <a:latin typeface="Times New Roman"/>
                <a:cs typeface="Times New Roman"/>
              </a:rPr>
              <a:t>population </a:t>
            </a:r>
            <a:r>
              <a:rPr sz="3200" spc="-5" dirty="0">
                <a:latin typeface="Times New Roman"/>
                <a:cs typeface="Times New Roman"/>
              </a:rPr>
              <a:t>rates </a:t>
            </a:r>
            <a:r>
              <a:rPr sz="3200" dirty="0">
                <a:latin typeface="Times New Roman"/>
                <a:cs typeface="Times New Roman"/>
              </a:rPr>
              <a:t>(i.e. </a:t>
            </a:r>
            <a:r>
              <a:rPr sz="3200" spc="-5" dirty="0">
                <a:latin typeface="Times New Roman"/>
                <a:cs typeface="Times New Roman"/>
              </a:rPr>
              <a:t>birth rates </a:t>
            </a:r>
            <a:r>
              <a:rPr sz="3200" dirty="0">
                <a:latin typeface="Times New Roman"/>
                <a:cs typeface="Times New Roman"/>
              </a:rPr>
              <a:t>and death  rates) </a:t>
            </a:r>
            <a:r>
              <a:rPr sz="3200" spc="-5" dirty="0">
                <a:latin typeface="Times New Roman"/>
                <a:cs typeface="Times New Roman"/>
              </a:rPr>
              <a:t>can </a:t>
            </a:r>
            <a:r>
              <a:rPr sz="3200" dirty="0">
                <a:latin typeface="Times New Roman"/>
                <a:cs typeface="Times New Roman"/>
              </a:rPr>
              <a:t>cause a species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spc="-5" dirty="0">
                <a:latin typeface="Times New Roman"/>
                <a:cs typeface="Times New Roman"/>
              </a:rPr>
              <a:t>low </a:t>
            </a:r>
            <a:r>
              <a:rPr sz="3200" dirty="0">
                <a:latin typeface="Times New Roman"/>
                <a:cs typeface="Times New Roman"/>
              </a:rPr>
              <a:t>abundance </a:t>
            </a:r>
            <a:r>
              <a:rPr sz="3200" spc="-5" dirty="0">
                <a:latin typeface="Times New Roman"/>
                <a:cs typeface="Times New Roman"/>
              </a:rPr>
              <a:t>to  </a:t>
            </a:r>
            <a:r>
              <a:rPr sz="3200" spc="5" dirty="0">
                <a:latin typeface="Times New Roman"/>
                <a:cs typeface="Times New Roman"/>
              </a:rPr>
              <a:t>become </a:t>
            </a:r>
            <a:r>
              <a:rPr sz="3200" dirty="0">
                <a:latin typeface="Times New Roman"/>
                <a:cs typeface="Times New Roman"/>
              </a:rPr>
              <a:t>extinct. e.g. blue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whales.</a:t>
            </a:r>
            <a:endParaRPr sz="3200">
              <a:latin typeface="Times New Roman"/>
              <a:cs typeface="Times New Roman"/>
            </a:endParaRPr>
          </a:p>
          <a:p>
            <a:pPr marL="355600" marR="5715" indent="471170" algn="just">
              <a:lnSpc>
                <a:spcPct val="9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Environmental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3200" dirty="0">
                <a:latin typeface="Times New Roman"/>
                <a:cs typeface="Times New Roman"/>
              </a:rPr>
              <a:t>: </a:t>
            </a:r>
            <a:r>
              <a:rPr sz="3200" spc="-5" dirty="0">
                <a:latin typeface="Times New Roman"/>
                <a:cs typeface="Times New Roman"/>
              </a:rPr>
              <a:t>Environmental risk  </a:t>
            </a:r>
            <a:r>
              <a:rPr sz="3200" dirty="0">
                <a:latin typeface="Times New Roman"/>
                <a:cs typeface="Times New Roman"/>
              </a:rPr>
              <a:t>means variation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physical or biological  environment, </a:t>
            </a:r>
            <a:r>
              <a:rPr sz="3200" spc="-5" dirty="0">
                <a:latin typeface="Times New Roman"/>
                <a:cs typeface="Times New Roman"/>
              </a:rPr>
              <a:t>including variations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spc="-20" dirty="0">
                <a:latin typeface="Times New Roman"/>
                <a:cs typeface="Times New Roman"/>
              </a:rPr>
              <a:t>predator,  </a:t>
            </a:r>
            <a:r>
              <a:rPr sz="3200" spc="-45" dirty="0">
                <a:latin typeface="Times New Roman"/>
                <a:cs typeface="Times New Roman"/>
              </a:rPr>
              <a:t>prey, </a:t>
            </a:r>
            <a:r>
              <a:rPr sz="3200" dirty="0">
                <a:latin typeface="Times New Roman"/>
                <a:cs typeface="Times New Roman"/>
              </a:rPr>
              <a:t>symbiotic or </a:t>
            </a:r>
            <a:r>
              <a:rPr sz="3200" spc="-5" dirty="0">
                <a:latin typeface="Times New Roman"/>
                <a:cs typeface="Times New Roman"/>
              </a:rPr>
              <a:t>competitor </a:t>
            </a:r>
            <a:r>
              <a:rPr sz="3200" dirty="0">
                <a:latin typeface="Times New Roman"/>
                <a:cs typeface="Times New Roman"/>
              </a:rPr>
              <a:t>species.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case  of species that are </a:t>
            </a:r>
            <a:r>
              <a:rPr sz="3200" spc="-10" dirty="0">
                <a:latin typeface="Times New Roman"/>
                <a:cs typeface="Times New Roman"/>
              </a:rPr>
              <a:t>sufficiently </a:t>
            </a:r>
            <a:r>
              <a:rPr sz="3200" dirty="0">
                <a:latin typeface="Times New Roman"/>
                <a:cs typeface="Times New Roman"/>
              </a:rPr>
              <a:t>rare </a:t>
            </a:r>
            <a:r>
              <a:rPr sz="3200" spc="-10" dirty="0">
                <a:latin typeface="Times New Roman"/>
                <a:cs typeface="Times New Roman"/>
              </a:rPr>
              <a:t>and  </a:t>
            </a:r>
            <a:r>
              <a:rPr sz="3200" dirty="0">
                <a:latin typeface="Times New Roman"/>
                <a:cs typeface="Times New Roman"/>
              </a:rPr>
              <a:t>isolated, such normal </a:t>
            </a:r>
            <a:r>
              <a:rPr sz="3200" spc="-5" dirty="0">
                <a:latin typeface="Times New Roman"/>
                <a:cs typeface="Times New Roman"/>
              </a:rPr>
              <a:t>environmental </a:t>
            </a:r>
            <a:r>
              <a:rPr sz="3200" dirty="0">
                <a:latin typeface="Times New Roman"/>
                <a:cs typeface="Times New Roman"/>
              </a:rPr>
              <a:t>variations  </a:t>
            </a:r>
            <a:r>
              <a:rPr sz="3200" spc="5" dirty="0">
                <a:latin typeface="Times New Roman"/>
                <a:cs typeface="Times New Roman"/>
              </a:rPr>
              <a:t>can </a:t>
            </a:r>
            <a:r>
              <a:rPr sz="3200" dirty="0">
                <a:latin typeface="Times New Roman"/>
                <a:cs typeface="Times New Roman"/>
              </a:rPr>
              <a:t>lead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their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extinction.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8839" y="392937"/>
            <a:ext cx="7731125" cy="54025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6350" indent="457200" algn="just">
              <a:lnSpc>
                <a:spcPts val="2690"/>
              </a:lnSpc>
              <a:spcBef>
                <a:spcPts val="74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Natural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calamities</a:t>
            </a:r>
            <a:r>
              <a:rPr sz="2800" spc="-5" dirty="0">
                <a:latin typeface="Times New Roman"/>
                <a:cs typeface="Times New Roman"/>
              </a:rPr>
              <a:t>: A </a:t>
            </a:r>
            <a:r>
              <a:rPr sz="2800" dirty="0">
                <a:latin typeface="Times New Roman"/>
                <a:cs typeface="Times New Roman"/>
              </a:rPr>
              <a:t>natural </a:t>
            </a:r>
            <a:r>
              <a:rPr sz="2800" spc="-5" dirty="0">
                <a:latin typeface="Times New Roman"/>
                <a:cs typeface="Times New Roman"/>
              </a:rPr>
              <a:t>catastrophe </a:t>
            </a:r>
            <a:r>
              <a:rPr sz="2800" spc="-1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a  sudden change in the environment </a:t>
            </a:r>
            <a:r>
              <a:rPr sz="2800" dirty="0">
                <a:latin typeface="Times New Roman"/>
                <a:cs typeface="Times New Roman"/>
              </a:rPr>
              <a:t>.It </a:t>
            </a:r>
            <a:r>
              <a:rPr sz="2800" spc="-5" dirty="0">
                <a:latin typeface="Times New Roman"/>
                <a:cs typeface="Times New Roman"/>
              </a:rPr>
              <a:t>includes fires,  storms, </a:t>
            </a:r>
            <a:r>
              <a:rPr sz="2800" dirty="0">
                <a:latin typeface="Times New Roman"/>
                <a:cs typeface="Times New Roman"/>
              </a:rPr>
              <a:t>floods, </a:t>
            </a:r>
            <a:r>
              <a:rPr sz="2800" spc="-5" dirty="0">
                <a:latin typeface="Times New Roman"/>
                <a:cs typeface="Times New Roman"/>
              </a:rPr>
              <a:t>earthquakes, volcanic eruptions </a:t>
            </a:r>
            <a:r>
              <a:rPr sz="2800" spc="-10" dirty="0">
                <a:latin typeface="Times New Roman"/>
                <a:cs typeface="Times New Roman"/>
              </a:rPr>
              <a:t>etc.  </a:t>
            </a:r>
            <a:r>
              <a:rPr sz="2800" dirty="0">
                <a:latin typeface="Times New Roman"/>
                <a:cs typeface="Times New Roman"/>
              </a:rPr>
              <a:t>Such </a:t>
            </a:r>
            <a:r>
              <a:rPr sz="2800" spc="-5" dirty="0">
                <a:latin typeface="Times New Roman"/>
                <a:cs typeface="Times New Roman"/>
              </a:rPr>
              <a:t>a natural phenomenon may cause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extinction 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most </a:t>
            </a:r>
            <a:r>
              <a:rPr sz="2800" spc="-5" dirty="0">
                <a:latin typeface="Times New Roman"/>
                <a:cs typeface="Times New Roman"/>
              </a:rPr>
              <a:t>forms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life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there.</a:t>
            </a:r>
            <a:endParaRPr sz="2800">
              <a:latin typeface="Times New Roman"/>
              <a:cs typeface="Times New Roman"/>
            </a:endParaRPr>
          </a:p>
          <a:p>
            <a:pPr marL="12700" marR="5715" indent="545465" algn="just">
              <a:lnSpc>
                <a:spcPct val="80000"/>
              </a:lnSpc>
              <a:spcBef>
                <a:spcPts val="690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Genetic Risk</a:t>
            </a:r>
            <a:r>
              <a:rPr sz="2800" spc="-5" dirty="0">
                <a:latin typeface="Times New Roman"/>
                <a:cs typeface="Times New Roman"/>
              </a:rPr>
              <a:t>: Change in genetic characteristics  in a small population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 species, </a:t>
            </a:r>
            <a:r>
              <a:rPr sz="2800" dirty="0">
                <a:latin typeface="Times New Roman"/>
                <a:cs typeface="Times New Roman"/>
              </a:rPr>
              <a:t>due </a:t>
            </a:r>
            <a:r>
              <a:rPr sz="2800" spc="-5" dirty="0">
                <a:latin typeface="Times New Roman"/>
                <a:cs typeface="Times New Roman"/>
              </a:rPr>
              <a:t>to reduced  genetic variation, genetic drift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mutation, genetic  assimilation [cross-breeding] makes the species more  </a:t>
            </a:r>
            <a:r>
              <a:rPr sz="2800" dirty="0">
                <a:latin typeface="Times New Roman"/>
                <a:cs typeface="Times New Roman"/>
              </a:rPr>
              <a:t>vulnerable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extinction.</a:t>
            </a:r>
            <a:endParaRPr sz="2800">
              <a:latin typeface="Times New Roman"/>
              <a:cs typeface="Times New Roman"/>
            </a:endParaRPr>
          </a:p>
          <a:p>
            <a:pPr marL="12700" marR="5080" indent="633730" algn="just">
              <a:lnSpc>
                <a:spcPct val="8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Human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Actions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10" dirty="0">
                <a:latin typeface="Times New Roman"/>
                <a:cs typeface="Times New Roman"/>
              </a:rPr>
              <a:t>human </a:t>
            </a:r>
            <a:r>
              <a:rPr sz="2800" spc="-5" dirty="0">
                <a:latin typeface="Times New Roman"/>
                <a:cs typeface="Times New Roman"/>
              </a:rPr>
              <a:t>activities like hunting ,  development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agriculture, </a:t>
            </a:r>
            <a:r>
              <a:rPr sz="2800" dirty="0">
                <a:latin typeface="Times New Roman"/>
                <a:cs typeface="Times New Roman"/>
              </a:rPr>
              <a:t>rise of </a:t>
            </a:r>
            <a:r>
              <a:rPr sz="2800" spc="-5" dirty="0">
                <a:latin typeface="Times New Roman"/>
                <a:cs typeface="Times New Roman"/>
              </a:rPr>
              <a:t>civilization, rapid  deforestation and introduction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industrial chemicals  and emissions, pesticides and pollution are also leads  to extinction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8940" y="351789"/>
            <a:ext cx="8553450" cy="64160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5400" marR="53340" indent="876300" algn="just">
              <a:lnSpc>
                <a:spcPct val="90000"/>
              </a:lnSpc>
              <a:spcBef>
                <a:spcPts val="484"/>
              </a:spcBef>
            </a:pP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Habitat Loss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and Degradation</a:t>
            </a:r>
            <a:r>
              <a:rPr sz="3200" dirty="0">
                <a:latin typeface="Times New Roman"/>
                <a:cs typeface="Times New Roman"/>
              </a:rPr>
              <a:t>: Habitat </a:t>
            </a:r>
            <a:r>
              <a:rPr sz="3200" spc="-5" dirty="0">
                <a:latin typeface="Times New Roman"/>
                <a:cs typeface="Times New Roman"/>
              </a:rPr>
              <a:t>loss  </a:t>
            </a:r>
            <a:r>
              <a:rPr sz="3200" dirty="0">
                <a:latin typeface="Times New Roman"/>
                <a:cs typeface="Times New Roman"/>
              </a:rPr>
              <a:t>and degradation are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major </a:t>
            </a:r>
            <a:r>
              <a:rPr sz="3200" spc="-5" dirty="0">
                <a:latin typeface="Times New Roman"/>
                <a:cs typeface="Times New Roman"/>
              </a:rPr>
              <a:t>proximate </a:t>
            </a:r>
            <a:r>
              <a:rPr sz="3200" dirty="0">
                <a:latin typeface="Times New Roman"/>
                <a:cs typeface="Times New Roman"/>
              </a:rPr>
              <a:t>causes </a:t>
            </a:r>
            <a:r>
              <a:rPr sz="3200" spc="-10" dirty="0">
                <a:latin typeface="Times New Roman"/>
                <a:cs typeface="Times New Roman"/>
              </a:rPr>
              <a:t>of  </a:t>
            </a:r>
            <a:r>
              <a:rPr sz="3200" dirty="0">
                <a:latin typeface="Times New Roman"/>
                <a:cs typeface="Times New Roman"/>
              </a:rPr>
              <a:t>species extinction, </a:t>
            </a:r>
            <a:r>
              <a:rPr sz="3200" spc="-10" dirty="0">
                <a:latin typeface="Times New Roman"/>
                <a:cs typeface="Times New Roman"/>
              </a:rPr>
              <a:t>affecting </a:t>
            </a:r>
            <a:r>
              <a:rPr sz="3200" dirty="0">
                <a:latin typeface="Times New Roman"/>
                <a:cs typeface="Times New Roman"/>
              </a:rPr>
              <a:t>89%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all </a:t>
            </a:r>
            <a:r>
              <a:rPr sz="3200" spc="-5" dirty="0">
                <a:latin typeface="Times New Roman"/>
                <a:cs typeface="Times New Roman"/>
              </a:rPr>
              <a:t>threatened  </a:t>
            </a:r>
            <a:r>
              <a:rPr sz="3200" dirty="0">
                <a:latin typeface="Times New Roman"/>
                <a:cs typeface="Times New Roman"/>
              </a:rPr>
              <a:t>birds, </a:t>
            </a:r>
            <a:r>
              <a:rPr sz="3200" spc="-5" dirty="0">
                <a:latin typeface="Times New Roman"/>
                <a:cs typeface="Times New Roman"/>
              </a:rPr>
              <a:t>83% of </a:t>
            </a:r>
            <a:r>
              <a:rPr sz="3200" dirty="0">
                <a:latin typeface="Times New Roman"/>
                <a:cs typeface="Times New Roman"/>
              </a:rPr>
              <a:t>mammals and 91% of all </a:t>
            </a:r>
            <a:r>
              <a:rPr sz="3200" spc="-5" dirty="0">
                <a:latin typeface="Times New Roman"/>
                <a:cs typeface="Times New Roman"/>
              </a:rPr>
              <a:t>threatened  </a:t>
            </a:r>
            <a:r>
              <a:rPr sz="3200" dirty="0">
                <a:latin typeface="Times New Roman"/>
                <a:cs typeface="Times New Roman"/>
              </a:rPr>
              <a:t>plants assessed </a:t>
            </a:r>
            <a:r>
              <a:rPr sz="3200" spc="-25" dirty="0">
                <a:latin typeface="Times New Roman"/>
                <a:cs typeface="Times New Roman"/>
              </a:rPr>
              <a:t>globally.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main causes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habitat  loss are </a:t>
            </a:r>
            <a:r>
              <a:rPr sz="3200" spc="-5" dirty="0">
                <a:latin typeface="Times New Roman"/>
                <a:cs typeface="Times New Roman"/>
              </a:rPr>
              <a:t>agricultural </a:t>
            </a:r>
            <a:r>
              <a:rPr sz="3200" dirty="0">
                <a:latin typeface="Times New Roman"/>
                <a:cs typeface="Times New Roman"/>
              </a:rPr>
              <a:t>activities, harvesting </a:t>
            </a:r>
            <a:r>
              <a:rPr sz="3200" spc="-10" dirty="0">
                <a:latin typeface="Times New Roman"/>
                <a:cs typeface="Times New Roman"/>
              </a:rPr>
              <a:t>or  </a:t>
            </a:r>
            <a:r>
              <a:rPr sz="3200" spc="-5" dirty="0">
                <a:latin typeface="Times New Roman"/>
                <a:cs typeface="Times New Roman"/>
              </a:rPr>
              <a:t>extraction (including mining, fishing, logging, </a:t>
            </a:r>
            <a:r>
              <a:rPr sz="3200" dirty="0">
                <a:latin typeface="Times New Roman"/>
                <a:cs typeface="Times New Roman"/>
              </a:rPr>
              <a:t>etc.)  and development </a:t>
            </a:r>
            <a:r>
              <a:rPr sz="3200" spc="-5" dirty="0">
                <a:latin typeface="Times New Roman"/>
                <a:cs typeface="Times New Roman"/>
              </a:rPr>
              <a:t>of human </a:t>
            </a:r>
            <a:r>
              <a:rPr sz="3200" dirty="0">
                <a:latin typeface="Times New Roman"/>
                <a:cs typeface="Times New Roman"/>
              </a:rPr>
              <a:t>settlements, </a:t>
            </a:r>
            <a:r>
              <a:rPr sz="3200" spc="-5" dirty="0">
                <a:latin typeface="Times New Roman"/>
                <a:cs typeface="Times New Roman"/>
              </a:rPr>
              <a:t>industry  </a:t>
            </a:r>
            <a:r>
              <a:rPr sz="3200" spc="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associated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infrastructure.</a:t>
            </a:r>
            <a:endParaRPr sz="3200">
              <a:latin typeface="Times New Roman"/>
              <a:cs typeface="Times New Roman"/>
            </a:endParaRPr>
          </a:p>
          <a:p>
            <a:pPr marL="25400" marR="53340" indent="978535" algn="just">
              <a:lnSpc>
                <a:spcPct val="90000"/>
              </a:lnSpc>
              <a:spcBef>
                <a:spcPts val="770"/>
              </a:spcBef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Diseases</a:t>
            </a:r>
            <a:r>
              <a:rPr sz="3200" dirty="0">
                <a:latin typeface="Times New Roman"/>
                <a:cs typeface="Times New Roman"/>
              </a:rPr>
              <a:t>: Pathogens, or disease </a:t>
            </a:r>
            <a:r>
              <a:rPr sz="3200" spc="-5" dirty="0">
                <a:latin typeface="Times New Roman"/>
                <a:cs typeface="Times New Roman"/>
              </a:rPr>
              <a:t>organisms,  </a:t>
            </a:r>
            <a:r>
              <a:rPr sz="3200" dirty="0">
                <a:latin typeface="Times New Roman"/>
                <a:cs typeface="Times New Roman"/>
              </a:rPr>
              <a:t>may cause </a:t>
            </a:r>
            <a:r>
              <a:rPr sz="3200" spc="-5" dirty="0">
                <a:latin typeface="Times New Roman"/>
                <a:cs typeface="Times New Roman"/>
              </a:rPr>
              <a:t>extinction. </a:t>
            </a:r>
            <a:r>
              <a:rPr sz="3200" dirty="0">
                <a:latin typeface="Times New Roman"/>
                <a:cs typeface="Times New Roman"/>
              </a:rPr>
              <a:t>Animals </a:t>
            </a:r>
            <a:r>
              <a:rPr sz="3200" spc="-5" dirty="0">
                <a:latin typeface="Times New Roman"/>
                <a:cs typeface="Times New Roman"/>
              </a:rPr>
              <a:t>[in </a:t>
            </a:r>
            <a:r>
              <a:rPr sz="3200" dirty="0">
                <a:latin typeface="Times New Roman"/>
                <a:cs typeface="Times New Roman"/>
              </a:rPr>
              <a:t>sanctuaries </a:t>
            </a:r>
            <a:r>
              <a:rPr sz="3200" spc="-10" dirty="0">
                <a:latin typeface="Times New Roman"/>
                <a:cs typeface="Times New Roman"/>
              </a:rPr>
              <a:t>and  </a:t>
            </a:r>
            <a:r>
              <a:rPr sz="3200" dirty="0">
                <a:latin typeface="Times New Roman"/>
                <a:cs typeface="Times New Roman"/>
              </a:rPr>
              <a:t>reserves] are more </a:t>
            </a:r>
            <a:r>
              <a:rPr sz="3200" spc="-5" dirty="0">
                <a:latin typeface="Times New Roman"/>
                <a:cs typeface="Times New Roman"/>
              </a:rPr>
              <a:t>prone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spc="-5" dirty="0">
                <a:latin typeface="Times New Roman"/>
                <a:cs typeface="Times New Roman"/>
              </a:rPr>
              <a:t>infection </a:t>
            </a:r>
            <a:r>
              <a:rPr sz="3200" dirty="0">
                <a:latin typeface="Times New Roman"/>
                <a:cs typeface="Times New Roman"/>
              </a:rPr>
              <a:t>when </a:t>
            </a:r>
            <a:r>
              <a:rPr sz="3200" spc="-5" dirty="0">
                <a:latin typeface="Times New Roman"/>
                <a:cs typeface="Times New Roman"/>
              </a:rPr>
              <a:t>they </a:t>
            </a:r>
            <a:r>
              <a:rPr sz="3200" spc="-10" dirty="0">
                <a:latin typeface="Times New Roman"/>
                <a:cs typeface="Times New Roman"/>
              </a:rPr>
              <a:t>are  </a:t>
            </a:r>
            <a:r>
              <a:rPr sz="3200" spc="5" dirty="0">
                <a:latin typeface="Times New Roman"/>
                <a:cs typeface="Times New Roman"/>
              </a:rPr>
              <a:t>under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stress.</a:t>
            </a:r>
            <a:endParaRPr sz="3200">
              <a:latin typeface="Times New Roman"/>
              <a:cs typeface="Times New Roman"/>
            </a:endParaRPr>
          </a:p>
          <a:p>
            <a:pPr marL="1003935" algn="just">
              <a:lnSpc>
                <a:spcPct val="100000"/>
              </a:lnSpc>
              <a:spcBef>
                <a:spcPts val="384"/>
              </a:spcBef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achi</a:t>
            </a:r>
            <a:r>
              <a:rPr sz="3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:  </a:t>
            </a:r>
            <a:r>
              <a:rPr sz="3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P</a:t>
            </a:r>
            <a:r>
              <a:rPr sz="3200" dirty="0">
                <a:latin typeface="Times New Roman"/>
                <a:cs typeface="Times New Roman"/>
              </a:rPr>
              <a:t>oa</a:t>
            </a:r>
            <a:r>
              <a:rPr sz="3200" spc="-10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hing   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s   ano</a:t>
            </a:r>
            <a:r>
              <a:rPr sz="3200" spc="-1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her   t</a:t>
            </a:r>
            <a:r>
              <a:rPr sz="3200" spc="-10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reat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1800" baseline="30092" dirty="0">
                <a:solidFill>
                  <a:srgbClr val="888888"/>
                </a:solidFill>
                <a:latin typeface="Carlito"/>
                <a:cs typeface="Carlito"/>
              </a:rPr>
              <a:t>11</a:t>
            </a:r>
            <a:r>
              <a:rPr sz="1800" spc="-142" baseline="30092" dirty="0">
                <a:solidFill>
                  <a:srgbClr val="888888"/>
                </a:solidFill>
                <a:latin typeface="Carlito"/>
                <a:cs typeface="Carlito"/>
              </a:rPr>
              <a:t>8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1576" y="269875"/>
            <a:ext cx="37223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635" marR="5080" indent="-113157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Endangered</a:t>
            </a:r>
            <a:r>
              <a:rPr sz="3600" spc="-50" dirty="0"/>
              <a:t> </a:t>
            </a:r>
            <a:r>
              <a:rPr sz="3600" spc="-5" dirty="0"/>
              <a:t>Species  of</a:t>
            </a:r>
            <a:r>
              <a:rPr sz="3600" spc="-10" dirty="0"/>
              <a:t> </a:t>
            </a:r>
            <a:r>
              <a:rPr sz="3600" dirty="0"/>
              <a:t>India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78610"/>
            <a:ext cx="8074025" cy="43783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30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b="1" spc="-10" dirty="0">
                <a:latin typeface="Times New Roman"/>
                <a:cs typeface="Times New Roman"/>
              </a:rPr>
              <a:t>endangered </a:t>
            </a:r>
            <a:r>
              <a:rPr sz="2800" b="1" spc="-5" dirty="0">
                <a:latin typeface="Times New Roman"/>
                <a:cs typeface="Times New Roman"/>
              </a:rPr>
              <a:t>species </a:t>
            </a:r>
            <a:r>
              <a:rPr sz="2800" spc="-5" dirty="0">
                <a:latin typeface="Times New Roman"/>
                <a:cs typeface="Times New Roman"/>
              </a:rPr>
              <a:t>is a population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organisms  </a:t>
            </a:r>
            <a:r>
              <a:rPr sz="2800" spc="-5" dirty="0">
                <a:latin typeface="Times New Roman"/>
                <a:cs typeface="Times New Roman"/>
              </a:rPr>
              <a:t>which is </a:t>
            </a:r>
            <a:r>
              <a:rPr sz="2800" spc="-10" dirty="0">
                <a:latin typeface="Times New Roman"/>
                <a:cs typeface="Times New Roman"/>
              </a:rPr>
              <a:t>at </a:t>
            </a:r>
            <a:r>
              <a:rPr sz="2800" spc="-5" dirty="0">
                <a:latin typeface="Times New Roman"/>
                <a:cs typeface="Times New Roman"/>
              </a:rPr>
              <a:t>risk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becoming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extinct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because it is  either few in numbers,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threatened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5" dirty="0">
                <a:latin typeface="Times New Roman"/>
                <a:cs typeface="Times New Roman"/>
              </a:rPr>
              <a:t>changing  environmental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predation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parameters.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70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India, </a:t>
            </a:r>
            <a:r>
              <a:rPr sz="2800" spc="-5" dirty="0">
                <a:latin typeface="Times New Roman"/>
                <a:cs typeface="Times New Roman"/>
              </a:rPr>
              <a:t>nearly 450 plant species have been identified  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categories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endangered, threatened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rare.  Existence </a:t>
            </a:r>
            <a:r>
              <a:rPr sz="2800" dirty="0">
                <a:latin typeface="Times New Roman"/>
                <a:cs typeface="Times New Roman"/>
              </a:rPr>
              <a:t>of about </a:t>
            </a:r>
            <a:r>
              <a:rPr sz="2800" spc="-5" dirty="0">
                <a:latin typeface="Times New Roman"/>
                <a:cs typeface="Times New Roman"/>
              </a:rPr>
              <a:t>threatened while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unknown  number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species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insects relevance </a:t>
            </a:r>
            <a:r>
              <a:rPr sz="2800" spc="-10" dirty="0">
                <a:latin typeface="Times New Roman"/>
                <a:cs typeface="Times New Roman"/>
              </a:rPr>
              <a:t>here </a:t>
            </a:r>
            <a:r>
              <a:rPr sz="2800" spc="-5" dirty="0">
                <a:latin typeface="Times New Roman"/>
                <a:cs typeface="Times New Roman"/>
              </a:rPr>
              <a:t>to give a  complete list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endangered </a:t>
            </a:r>
            <a:r>
              <a:rPr sz="2800" dirty="0">
                <a:latin typeface="Times New Roman"/>
                <a:cs typeface="Times New Roman"/>
              </a:rPr>
              <a:t>flora </a:t>
            </a:r>
            <a:r>
              <a:rPr sz="2800" spc="-5" dirty="0">
                <a:latin typeface="Times New Roman"/>
                <a:cs typeface="Times New Roman"/>
              </a:rPr>
              <a:t>and fauna </a:t>
            </a:r>
            <a:r>
              <a:rPr sz="2800" dirty="0">
                <a:latin typeface="Times New Roman"/>
                <a:cs typeface="Times New Roman"/>
              </a:rPr>
              <a:t>of our  </a:t>
            </a:r>
            <a:r>
              <a:rPr sz="2800" spc="-25" dirty="0">
                <a:latin typeface="Times New Roman"/>
                <a:cs typeface="Times New Roman"/>
              </a:rPr>
              <a:t>country. </a:t>
            </a:r>
            <a:r>
              <a:rPr sz="2800" spc="-20" dirty="0">
                <a:latin typeface="Times New Roman"/>
                <a:cs typeface="Times New Roman"/>
              </a:rPr>
              <a:t>However, </a:t>
            </a:r>
            <a:r>
              <a:rPr sz="2800" spc="-5" dirty="0">
                <a:latin typeface="Times New Roman"/>
                <a:cs typeface="Times New Roman"/>
              </a:rPr>
              <a:t>a few species </a:t>
            </a:r>
            <a:r>
              <a:rPr sz="2800" spc="-1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endangered  reptiles, </a:t>
            </a:r>
            <a:r>
              <a:rPr sz="2800" dirty="0">
                <a:latin typeface="Times New Roman"/>
                <a:cs typeface="Times New Roman"/>
              </a:rPr>
              <a:t>birds, </a:t>
            </a:r>
            <a:r>
              <a:rPr sz="2800" spc="-10" dirty="0">
                <a:latin typeface="Times New Roman"/>
                <a:cs typeface="Times New Roman"/>
              </a:rPr>
              <a:t>mammals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plants </a:t>
            </a:r>
            <a:r>
              <a:rPr sz="2800" spc="-5" dirty="0">
                <a:latin typeface="Times New Roman"/>
                <a:cs typeface="Times New Roman"/>
              </a:rPr>
              <a:t>are given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below: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9233" y="6426809"/>
            <a:ext cx="2590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119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26263"/>
            <a:ext cx="15411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Reptile</a:t>
            </a:r>
            <a:r>
              <a:rPr sz="3200" b="1" spc="-5" dirty="0">
                <a:latin typeface="Times New Roman"/>
                <a:cs typeface="Times New Roman"/>
              </a:rPr>
              <a:t>s</a:t>
            </a:r>
            <a:r>
              <a:rPr sz="3200" dirty="0">
                <a:solidFill>
                  <a:srgbClr val="000000"/>
                </a:solidFill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714501"/>
            <a:ext cx="3903345" cy="6367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920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green sea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turtle,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tortoise,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python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Birds: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Great Indian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bustard,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Peacock,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Pelican,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Siberian White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Crane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Carnivorous: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Indian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wolf,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Mammals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tiger,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leopard,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striped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hyena,</a:t>
            </a:r>
            <a:endParaRPr sz="3200">
              <a:latin typeface="Times New Roman"/>
              <a:cs typeface="Times New Roman"/>
            </a:endParaRPr>
          </a:p>
          <a:p>
            <a:pPr marL="375920" indent="-3638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dirty="0">
                <a:latin typeface="Times New Roman"/>
                <a:cs typeface="Times New Roman"/>
              </a:rPr>
              <a:t>Indian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lion,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9233" y="6426809"/>
            <a:ext cx="2590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120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123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646" y="478663"/>
            <a:ext cx="6827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Conservation of</a:t>
            </a:r>
            <a:r>
              <a:rPr sz="4400" spc="-80" dirty="0"/>
              <a:t> </a:t>
            </a:r>
            <a:r>
              <a:rPr sz="4400" dirty="0"/>
              <a:t>Bio-Diversity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397253"/>
            <a:ext cx="8061959" cy="39033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marR="5080" indent="-342900" algn="just">
              <a:lnSpc>
                <a:spcPct val="80100"/>
              </a:lnSpc>
              <a:spcBef>
                <a:spcPts val="670"/>
              </a:spcBef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act or process of conserving. The protection, preservation,  </a:t>
            </a:r>
            <a:r>
              <a:rPr sz="2400" spc="-5" dirty="0">
                <a:latin typeface="Times New Roman"/>
                <a:cs typeface="Times New Roman"/>
              </a:rPr>
              <a:t>management, </a:t>
            </a:r>
            <a:r>
              <a:rPr sz="2400" dirty="0">
                <a:latin typeface="Times New Roman"/>
                <a:cs typeface="Times New Roman"/>
              </a:rPr>
              <a:t>or restoration of wildlife and of natural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  such as forests, soil, 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water.</a:t>
            </a:r>
            <a:endParaRPr sz="2400">
              <a:latin typeface="Times New Roman"/>
              <a:cs typeface="Times New Roman"/>
            </a:endParaRPr>
          </a:p>
          <a:p>
            <a:pPr marL="355600" marR="581025" indent="-342900">
              <a:lnSpc>
                <a:spcPts val="2300"/>
              </a:lnSpc>
              <a:spcBef>
                <a:spcPts val="56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Conservation 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our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natural resources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has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 following</a:t>
            </a:r>
            <a:r>
              <a:rPr sz="2400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three  specific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objectives:</a:t>
            </a:r>
            <a:endParaRPr sz="2400">
              <a:latin typeface="Times New Roman"/>
              <a:cs typeface="Times New Roman"/>
            </a:endParaRPr>
          </a:p>
          <a:p>
            <a:pPr marL="355600" marR="1162685" indent="-342900">
              <a:lnSpc>
                <a:spcPts val="2300"/>
              </a:lnSpc>
              <a:spcBef>
                <a:spcPts val="585"/>
              </a:spcBef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(i) to </a:t>
            </a:r>
            <a:r>
              <a:rPr sz="2400" spc="-5" dirty="0">
                <a:latin typeface="Times New Roman"/>
                <a:cs typeface="Times New Roman"/>
              </a:rPr>
              <a:t>maintain </a:t>
            </a:r>
            <a:r>
              <a:rPr sz="2400" dirty="0">
                <a:latin typeface="Times New Roman"/>
                <a:cs typeface="Times New Roman"/>
              </a:rPr>
              <a:t>essential ecological processes and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life-  </a:t>
            </a:r>
            <a:r>
              <a:rPr sz="2400" dirty="0">
                <a:latin typeface="Times New Roman"/>
                <a:cs typeface="Times New Roman"/>
              </a:rPr>
              <a:t>supporting </a:t>
            </a:r>
            <a:r>
              <a:rPr sz="2400" spc="-5" dirty="0">
                <a:latin typeface="Times New Roman"/>
                <a:cs typeface="Times New Roman"/>
              </a:rPr>
              <a:t>systems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209550" indent="-342900">
              <a:lnSpc>
                <a:spcPct val="80000"/>
              </a:lnSpc>
              <a:spcBef>
                <a:spcPts val="605"/>
              </a:spcBef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(ii) to preserve the diversity of species or the range of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genetic  </a:t>
            </a:r>
            <a:r>
              <a:rPr sz="2400" spc="-5" dirty="0">
                <a:latin typeface="Times New Roman"/>
                <a:cs typeface="Times New Roman"/>
              </a:rPr>
              <a:t>material </a:t>
            </a:r>
            <a:r>
              <a:rPr sz="2400" dirty="0">
                <a:latin typeface="Times New Roman"/>
                <a:cs typeface="Times New Roman"/>
              </a:rPr>
              <a:t>found in the </a:t>
            </a:r>
            <a:r>
              <a:rPr sz="2400" spc="-10" dirty="0">
                <a:latin typeface="Times New Roman"/>
                <a:cs typeface="Times New Roman"/>
              </a:rPr>
              <a:t>organisms </a:t>
            </a:r>
            <a:r>
              <a:rPr sz="2400" dirty="0">
                <a:latin typeface="Times New Roman"/>
                <a:cs typeface="Times New Roman"/>
              </a:rPr>
              <a:t>on the planet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2705" indent="-342900">
              <a:lnSpc>
                <a:spcPts val="2300"/>
              </a:lnSpc>
              <a:spcBef>
                <a:spcPts val="560"/>
              </a:spcBef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(iii) to ensure sustainable </a:t>
            </a:r>
            <a:r>
              <a:rPr sz="2400" spc="-5" dirty="0">
                <a:latin typeface="Times New Roman"/>
                <a:cs typeface="Times New Roman"/>
              </a:rPr>
              <a:t>utilization </a:t>
            </a:r>
            <a:r>
              <a:rPr sz="2400" dirty="0">
                <a:latin typeface="Times New Roman"/>
                <a:cs typeface="Times New Roman"/>
              </a:rPr>
              <a:t>of species and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ecosystems  </a:t>
            </a:r>
            <a:r>
              <a:rPr sz="2400" dirty="0">
                <a:latin typeface="Times New Roman"/>
                <a:cs typeface="Times New Roman"/>
              </a:rPr>
              <a:t>which </a:t>
            </a:r>
            <a:r>
              <a:rPr sz="2400" spc="-5" dirty="0">
                <a:latin typeface="Times New Roman"/>
                <a:cs typeface="Times New Roman"/>
              </a:rPr>
              <a:t>support millions of rural communities as </a:t>
            </a:r>
            <a:r>
              <a:rPr sz="2400" dirty="0">
                <a:latin typeface="Times New Roman"/>
                <a:cs typeface="Times New Roman"/>
              </a:rPr>
              <a:t>well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major </a:t>
            </a:r>
            <a:r>
              <a:rPr sz="2400" dirty="0">
                <a:latin typeface="Times New Roman"/>
                <a:cs typeface="Times New Roman"/>
              </a:rPr>
              <a:t>industries all over 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124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324357"/>
            <a:ext cx="8074025" cy="5586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55880" algn="just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There are two approaches </a:t>
            </a:r>
            <a:r>
              <a:rPr sz="3200" spc="-5" dirty="0">
                <a:latin typeface="Times New Roman"/>
                <a:cs typeface="Times New Roman"/>
              </a:rPr>
              <a:t>of biodiversity  </a:t>
            </a:r>
            <a:r>
              <a:rPr sz="3200" dirty="0">
                <a:latin typeface="Times New Roman"/>
                <a:cs typeface="Times New Roman"/>
              </a:rPr>
              <a:t>conservation: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Wingdings"/>
              <a:buChar char=""/>
              <a:tabLst>
                <a:tab pos="478155" algn="l"/>
              </a:tabLst>
            </a:pPr>
            <a:r>
              <a:rPr sz="3200" dirty="0">
                <a:latin typeface="Times New Roman"/>
                <a:cs typeface="Times New Roman"/>
              </a:rPr>
              <a:t>(a)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spc="-5" dirty="0">
                <a:latin typeface="Times New Roman"/>
                <a:cs typeface="Times New Roman"/>
              </a:rPr>
              <a:t>situ conservation (within </a:t>
            </a:r>
            <a:r>
              <a:rPr sz="3200" dirty="0">
                <a:latin typeface="Times New Roman"/>
                <a:cs typeface="Times New Roman"/>
              </a:rPr>
              <a:t>habitat): </a:t>
            </a:r>
            <a:r>
              <a:rPr sz="3200" spc="-5" dirty="0">
                <a:latin typeface="Times New Roman"/>
                <a:cs typeface="Times New Roman"/>
              </a:rPr>
              <a:t>This  is </a:t>
            </a:r>
            <a:r>
              <a:rPr sz="3200" dirty="0">
                <a:latin typeface="Times New Roman"/>
                <a:cs typeface="Times New Roman"/>
              </a:rPr>
              <a:t>achieved </a:t>
            </a:r>
            <a:r>
              <a:rPr sz="3200" spc="-5" dirty="0">
                <a:latin typeface="Times New Roman"/>
                <a:cs typeface="Times New Roman"/>
              </a:rPr>
              <a:t>by </a:t>
            </a:r>
            <a:r>
              <a:rPr sz="3200" dirty="0">
                <a:latin typeface="Times New Roman"/>
                <a:cs typeface="Times New Roman"/>
              </a:rPr>
              <a:t>protection of </a:t>
            </a:r>
            <a:r>
              <a:rPr sz="3200" spc="-5" dirty="0">
                <a:latin typeface="Times New Roman"/>
                <a:cs typeface="Times New Roman"/>
              </a:rPr>
              <a:t>wild </a:t>
            </a:r>
            <a:r>
              <a:rPr sz="3200" dirty="0">
                <a:latin typeface="Times New Roman"/>
                <a:cs typeface="Times New Roman"/>
              </a:rPr>
              <a:t>flora and  fauna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spc="-5" dirty="0">
                <a:latin typeface="Times New Roman"/>
                <a:cs typeface="Times New Roman"/>
              </a:rPr>
              <a:t>nature itself, </a:t>
            </a:r>
            <a:r>
              <a:rPr sz="3200" dirty="0">
                <a:latin typeface="Times New Roman"/>
                <a:cs typeface="Times New Roman"/>
              </a:rPr>
              <a:t>e.g. Biosphere Reserves,  National Parks, </a:t>
            </a:r>
            <a:r>
              <a:rPr sz="3200" spc="-5" dirty="0">
                <a:latin typeface="Times New Roman"/>
                <a:cs typeface="Times New Roman"/>
              </a:rPr>
              <a:t>Sanctuaries, </a:t>
            </a:r>
            <a:r>
              <a:rPr sz="3200" dirty="0">
                <a:latin typeface="Times New Roman"/>
                <a:cs typeface="Times New Roman"/>
              </a:rPr>
              <a:t>Reserve </a:t>
            </a:r>
            <a:r>
              <a:rPr sz="3200" spc="-5" dirty="0">
                <a:latin typeface="Times New Roman"/>
                <a:cs typeface="Times New Roman"/>
              </a:rPr>
              <a:t>Forests  </a:t>
            </a:r>
            <a:r>
              <a:rPr sz="3200" dirty="0">
                <a:latin typeface="Times New Roman"/>
                <a:cs typeface="Times New Roman"/>
              </a:rPr>
              <a:t>etc.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5"/>
              </a:spcBef>
              <a:buFont typeface="Wingdings"/>
              <a:buChar char=""/>
              <a:tabLst>
                <a:tab pos="478155" algn="l"/>
              </a:tabLst>
            </a:pPr>
            <a:r>
              <a:rPr sz="3200" dirty="0">
                <a:latin typeface="Times New Roman"/>
                <a:cs typeface="Times New Roman"/>
              </a:rPr>
              <a:t>(b) </a:t>
            </a:r>
            <a:r>
              <a:rPr sz="3200" spc="-10" dirty="0">
                <a:latin typeface="Times New Roman"/>
                <a:cs typeface="Times New Roman"/>
              </a:rPr>
              <a:t>Ex </a:t>
            </a:r>
            <a:r>
              <a:rPr sz="3200" dirty="0">
                <a:latin typeface="Times New Roman"/>
                <a:cs typeface="Times New Roman"/>
              </a:rPr>
              <a:t>situ conservation </a:t>
            </a:r>
            <a:r>
              <a:rPr sz="3200" spc="-5" dirty="0">
                <a:latin typeface="Times New Roman"/>
                <a:cs typeface="Times New Roman"/>
              </a:rPr>
              <a:t>(outside </a:t>
            </a:r>
            <a:r>
              <a:rPr sz="3200" dirty="0">
                <a:latin typeface="Times New Roman"/>
                <a:cs typeface="Times New Roman"/>
              </a:rPr>
              <a:t>habitats)  This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done by establishment of gene banks,  seed </a:t>
            </a:r>
            <a:r>
              <a:rPr sz="3200" spc="-5" dirty="0">
                <a:latin typeface="Times New Roman"/>
                <a:cs typeface="Times New Roman"/>
              </a:rPr>
              <a:t>banks, zoo, </a:t>
            </a:r>
            <a:r>
              <a:rPr sz="3200" dirty="0">
                <a:latin typeface="Times New Roman"/>
                <a:cs typeface="Times New Roman"/>
              </a:rPr>
              <a:t>botanical gardens, </a:t>
            </a:r>
            <a:r>
              <a:rPr sz="3200" spc="-5" dirty="0">
                <a:latin typeface="Times New Roman"/>
                <a:cs typeface="Times New Roman"/>
              </a:rPr>
              <a:t>culture  </a:t>
            </a:r>
            <a:r>
              <a:rPr sz="3200" dirty="0">
                <a:latin typeface="Times New Roman"/>
                <a:cs typeface="Times New Roman"/>
              </a:rPr>
              <a:t>collections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etc.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4363" y="482350"/>
            <a:ext cx="5093589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Definition </a:t>
            </a:r>
            <a:r>
              <a:rPr sz="2800" b="1" spc="-5" dirty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of </a:t>
            </a:r>
            <a:r>
              <a:rPr sz="2800" b="1" spc="-10" dirty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Sustainable</a:t>
            </a:r>
            <a:r>
              <a:rPr sz="2800" b="1" spc="105" dirty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r>
              <a:rPr sz="2800" b="1" spc="-15" dirty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Development</a:t>
            </a:r>
            <a:endParaRPr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14402" y="1420500"/>
            <a:ext cx="6136671" cy="25987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Times New Roman" pitchFamily="18" charset="0"/>
                <a:cs typeface="Times New Roman" pitchFamily="18" charset="0"/>
              </a:rPr>
              <a:t>According</a:t>
            </a:r>
            <a:r>
              <a:rPr lang="en-US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2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pc="-25" dirty="0">
                <a:latin typeface="Times New Roman" pitchFamily="18" charset="0"/>
                <a:cs typeface="Times New Roman" pitchFamily="18" charset="0"/>
              </a:rPr>
              <a:t>World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Commission</a:t>
            </a:r>
            <a:r>
              <a:rPr spc="-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on  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Environment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Development,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 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definition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Sustainable Development 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(SD)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pc="-20" dirty="0">
                <a:latin typeface="Times New Roman" pitchFamily="18" charset="0"/>
                <a:cs typeface="Times New Roman" pitchFamily="18" charset="0"/>
              </a:rPr>
              <a:t>“development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meets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 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needs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present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without  compromising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 ability of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future  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generations </a:t>
            </a:r>
            <a:r>
              <a:rPr spc="-2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meet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their own need”  (Our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Common Future,</a:t>
            </a:r>
            <a:r>
              <a:rPr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1987).</a:t>
            </a:r>
          </a:p>
        </p:txBody>
      </p:sp>
    </p:spTree>
    <p:extLst>
      <p:ext uri="{BB962C8B-B14F-4D97-AF65-F5344CB8AC3E}">
        <p14:creationId xmlns:p14="http://schemas.microsoft.com/office/powerpoint/2010/main" val="8098963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7450" y="2590809"/>
            <a:ext cx="480060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sz="66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6600" spc="-5" dirty="0">
                <a:latin typeface="Times New Roman" pitchFamily="18" charset="0"/>
                <a:cs typeface="Times New Roman" pitchFamily="18" charset="0"/>
              </a:rPr>
              <a:t>Dimensions</a:t>
            </a:r>
            <a:endParaRPr sz="6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921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1116" y="438658"/>
            <a:ext cx="379476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Sustainability </a:t>
            </a:r>
            <a:r>
              <a:rPr sz="3600" b="1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- 3</a:t>
            </a:r>
            <a:r>
              <a:rPr sz="3600" b="1" spc="-65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pillars</a:t>
            </a:r>
            <a:endParaRPr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0459" y="2150491"/>
            <a:ext cx="15287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70" dirty="0">
                <a:solidFill>
                  <a:srgbClr val="90C225"/>
                </a:solidFill>
                <a:latin typeface="Arial"/>
                <a:cs typeface="Arial"/>
              </a:rPr>
              <a:t>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18512" y="1053083"/>
            <a:ext cx="5400675" cy="5329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78486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0051" y="2415674"/>
            <a:ext cx="6411182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indent="-26543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"/>
              <a:tabLst>
                <a:tab pos="277495" algn="l"/>
                <a:tab pos="27813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Social</a:t>
            </a:r>
            <a:r>
              <a:rPr sz="2400" b="1" spc="-3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Goals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277495" marR="760730" indent="7620" algn="just">
              <a:lnSpc>
                <a:spcPct val="100000"/>
              </a:lnSpc>
            </a:pPr>
            <a:r>
              <a:rPr sz="24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Sustains </a:t>
            </a:r>
            <a:r>
              <a:rPr sz="24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institutions </a:t>
            </a:r>
            <a:r>
              <a:rPr sz="24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spc="-1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improves </a:t>
            </a:r>
            <a:r>
              <a:rPr sz="24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justice </a:t>
            </a:r>
            <a:r>
              <a:rPr sz="24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400" spc="-1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encourages  </a:t>
            </a:r>
            <a:r>
              <a:rPr sz="24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participation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46075" indent="-334010" algn="just">
              <a:lnSpc>
                <a:spcPct val="100000"/>
              </a:lnSpc>
              <a:buClr>
                <a:srgbClr val="90C225"/>
              </a:buClr>
              <a:buSzPct val="79166"/>
              <a:buFont typeface="Wingdings"/>
              <a:buChar char=""/>
              <a:tabLst>
                <a:tab pos="346075" algn="l"/>
                <a:tab pos="34671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Economic</a:t>
            </a:r>
            <a:r>
              <a:rPr sz="2400" b="1" spc="-5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Goals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285115" algn="just">
              <a:lnSpc>
                <a:spcPct val="100000"/>
              </a:lnSpc>
            </a:pPr>
            <a:r>
              <a:rPr sz="24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Ensures </a:t>
            </a:r>
            <a:r>
              <a:rPr sz="24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basic needs, </a:t>
            </a:r>
            <a:r>
              <a:rPr sz="24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equity and </a:t>
            </a:r>
            <a:r>
              <a:rPr sz="24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employment</a:t>
            </a:r>
            <a:r>
              <a:rPr sz="2400" spc="-4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opportunities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277495" indent="-265430" algn="just">
              <a:lnSpc>
                <a:spcPct val="100000"/>
              </a:lnSpc>
              <a:buClr>
                <a:srgbClr val="90C225"/>
              </a:buClr>
              <a:buSzPct val="79166"/>
              <a:buFont typeface="Wingdings"/>
              <a:buChar char=""/>
              <a:tabLst>
                <a:tab pos="277495" algn="l"/>
                <a:tab pos="278130" algn="l"/>
              </a:tabLst>
            </a:pPr>
            <a:r>
              <a:rPr sz="2400" b="1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Environmental</a:t>
            </a:r>
            <a:r>
              <a:rPr sz="2400" b="1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Goals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285115" algn="just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Maintains genetic </a:t>
            </a:r>
            <a:r>
              <a:rPr sz="24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diversity </a:t>
            </a:r>
            <a:r>
              <a:rPr sz="24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which </a:t>
            </a:r>
            <a:r>
              <a:rPr sz="24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maximizes productiviy</a:t>
            </a:r>
            <a:r>
              <a:rPr sz="2400" spc="-12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277495" algn="just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renewal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8800" y="6140915"/>
            <a:ext cx="42052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5/27/2016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25139" y="6137867"/>
            <a:ext cx="71438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A7A299"/>
                </a:solidFill>
                <a:latin typeface="Comic Sans MS"/>
                <a:cs typeface="Comic Sans MS"/>
              </a:rPr>
              <a:t>6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8136" y="420570"/>
            <a:ext cx="245792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0414E"/>
                </a:solidFill>
                <a:latin typeface="Times New Roman" pitchFamily="18" charset="0"/>
                <a:cs typeface="Times New Roman" pitchFamily="18" charset="0"/>
              </a:rPr>
              <a:t>What </a:t>
            </a:r>
            <a:r>
              <a:rPr b="1" spc="-5" dirty="0">
                <a:solidFill>
                  <a:srgbClr val="20414E"/>
                </a:solidFill>
                <a:latin typeface="Times New Roman" pitchFamily="18" charset="0"/>
                <a:cs typeface="Times New Roman" pitchFamily="18" charset="0"/>
              </a:rPr>
              <a:t>makes</a:t>
            </a:r>
            <a:r>
              <a:rPr b="1" spc="-75" dirty="0">
                <a:solidFill>
                  <a:srgbClr val="20414E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spc="-5" dirty="0">
                <a:solidFill>
                  <a:srgbClr val="20414E"/>
                </a:solidFill>
                <a:latin typeface="Times New Roman" pitchFamily="18" charset="0"/>
                <a:cs typeface="Times New Roman" pitchFamily="18" charset="0"/>
              </a:rPr>
              <a:t>SD</a:t>
            </a:r>
          </a:p>
        </p:txBody>
      </p:sp>
    </p:spTree>
    <p:extLst>
      <p:ext uri="{BB962C8B-B14F-4D97-AF65-F5344CB8AC3E}">
        <p14:creationId xmlns:p14="http://schemas.microsoft.com/office/powerpoint/2010/main" val="18871772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2514600"/>
            <a:ext cx="3302318" cy="4343400"/>
            <a:chOff x="0" y="2514600"/>
            <a:chExt cx="4403090" cy="4343400"/>
          </a:xfrm>
        </p:grpSpPr>
        <p:sp>
          <p:nvSpPr>
            <p:cNvPr id="3" name="object 3"/>
            <p:cNvSpPr/>
            <p:nvPr/>
          </p:nvSpPr>
          <p:spPr>
            <a:xfrm>
              <a:off x="365759" y="2514600"/>
              <a:ext cx="3988308" cy="16946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5468" y="2720340"/>
              <a:ext cx="4087367" cy="13975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52" y="2526791"/>
              <a:ext cx="3857625" cy="1564005"/>
            </a:xfrm>
            <a:custGeom>
              <a:avLst/>
              <a:gdLst/>
              <a:ahLst/>
              <a:cxnLst/>
              <a:rect l="l" t="t" r="r" b="b"/>
              <a:pathLst>
                <a:path w="3857625" h="1564004">
                  <a:moveTo>
                    <a:pt x="3857244" y="0"/>
                  </a:moveTo>
                  <a:lnTo>
                    <a:pt x="0" y="0"/>
                  </a:lnTo>
                  <a:lnTo>
                    <a:pt x="0" y="1563623"/>
                  </a:lnTo>
                  <a:lnTo>
                    <a:pt x="3857244" y="1563623"/>
                  </a:lnTo>
                  <a:lnTo>
                    <a:pt x="3857244" y="0"/>
                  </a:lnTo>
                  <a:close/>
                </a:path>
              </a:pathLst>
            </a:custGeom>
            <a:solidFill>
              <a:srgbClr val="EEC0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8588" y="2824988"/>
            <a:ext cx="2641759" cy="18773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09245">
              <a:lnSpc>
                <a:spcPct val="100699"/>
              </a:lnSpc>
              <a:spcBef>
                <a:spcPts val="95"/>
              </a:spcBef>
            </a:pPr>
            <a:r>
              <a:rPr sz="3000" spc="10" dirty="0">
                <a:solidFill>
                  <a:srgbClr val="FFFFFF"/>
                </a:solidFill>
                <a:latin typeface="Arial"/>
                <a:cs typeface="Arial"/>
              </a:rPr>
              <a:t>Global Society </a:t>
            </a:r>
            <a:r>
              <a:rPr sz="3000" spc="5" dirty="0">
                <a:solidFill>
                  <a:srgbClr val="FFFFFF"/>
                </a:solidFill>
                <a:latin typeface="Arial"/>
                <a:cs typeface="Arial"/>
              </a:rPr>
              <a:t>in  2005:</a:t>
            </a:r>
            <a:r>
              <a:rPr sz="3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Arial"/>
                <a:cs typeface="Arial"/>
              </a:rPr>
              <a:t>Unsustainable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187" y="178316"/>
            <a:ext cx="6604635" cy="1848583"/>
          </a:xfrm>
          <a:prstGeom prst="rect">
            <a:avLst/>
          </a:prstGeom>
          <a:solidFill>
            <a:srgbClr val="4985C5"/>
          </a:solidFill>
        </p:spPr>
        <p:txBody>
          <a:bodyPr vert="horz" wrap="square" lIns="0" tIns="3492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275"/>
              </a:spcBef>
            </a:pPr>
            <a:r>
              <a:rPr sz="3900" spc="15" dirty="0">
                <a:solidFill>
                  <a:srgbClr val="90C225"/>
                </a:solidFill>
                <a:latin typeface="Trebuchet MS"/>
                <a:cs typeface="Trebuchet MS"/>
              </a:rPr>
              <a:t>Sustainable Development</a:t>
            </a:r>
            <a:r>
              <a:rPr sz="3900" spc="-4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900" spc="5" dirty="0">
                <a:solidFill>
                  <a:srgbClr val="90C225"/>
                </a:solidFill>
                <a:latin typeface="Trebuchet MS"/>
                <a:cs typeface="Trebuchet MS"/>
              </a:rPr>
              <a:t>is</a:t>
            </a:r>
            <a:endParaRPr sz="39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55"/>
              </a:spcBef>
            </a:pPr>
            <a:r>
              <a:rPr sz="3900" spc="10" dirty="0">
                <a:solidFill>
                  <a:srgbClr val="90C225"/>
                </a:solidFill>
                <a:latin typeface="Trebuchet MS"/>
                <a:cs typeface="Trebuchet MS"/>
              </a:rPr>
              <a:t>the </a:t>
            </a:r>
            <a:r>
              <a:rPr sz="3900" spc="15" dirty="0">
                <a:solidFill>
                  <a:srgbClr val="90C225"/>
                </a:solidFill>
                <a:latin typeface="Trebuchet MS"/>
                <a:cs typeface="Trebuchet MS"/>
              </a:rPr>
              <a:t>journey </a:t>
            </a:r>
            <a:r>
              <a:rPr sz="3900" b="1" i="1" spc="15" dirty="0">
                <a:solidFill>
                  <a:srgbClr val="90C225"/>
                </a:solidFill>
                <a:latin typeface="Arial"/>
                <a:cs typeface="Arial"/>
              </a:rPr>
              <a:t>towards</a:t>
            </a:r>
            <a:r>
              <a:rPr sz="3900" b="1" i="1" spc="90" dirty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3900" spc="15" dirty="0">
                <a:solidFill>
                  <a:srgbClr val="90C225"/>
                </a:solidFill>
                <a:latin typeface="Trebuchet MS"/>
                <a:cs typeface="Trebuchet MS"/>
              </a:rPr>
              <a:t>Sustainability</a:t>
            </a:r>
            <a:endParaRPr sz="39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49015" y="2380497"/>
            <a:ext cx="3527584" cy="1971039"/>
            <a:chOff x="4732020" y="2380488"/>
            <a:chExt cx="4703445" cy="1971039"/>
          </a:xfrm>
        </p:grpSpPr>
        <p:sp>
          <p:nvSpPr>
            <p:cNvPr id="9" name="object 9"/>
            <p:cNvSpPr/>
            <p:nvPr/>
          </p:nvSpPr>
          <p:spPr>
            <a:xfrm>
              <a:off x="4732020" y="2380488"/>
              <a:ext cx="4703064" cy="19705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03876" y="2724912"/>
              <a:ext cx="3957828" cy="13975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44212" y="2392680"/>
              <a:ext cx="4571999" cy="18394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00787" y="2829565"/>
            <a:ext cx="2544603" cy="14110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58215">
              <a:lnSpc>
                <a:spcPct val="100699"/>
              </a:lnSpc>
              <a:spcBef>
                <a:spcPts val="95"/>
              </a:spcBef>
            </a:pPr>
            <a:r>
              <a:rPr sz="3000" spc="1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3000" spc="10" dirty="0">
                <a:solidFill>
                  <a:srgbClr val="FFFFFF"/>
                </a:solidFill>
                <a:latin typeface="Arial"/>
                <a:cs typeface="Arial"/>
              </a:rPr>
              <a:t>Future  Sustainable</a:t>
            </a:r>
            <a:r>
              <a:rPr sz="3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9318" y="4600203"/>
            <a:ext cx="3214211" cy="1388201"/>
          </a:xfrm>
          <a:prstGeom prst="rect">
            <a:avLst/>
          </a:prstGeom>
          <a:ln w="38100">
            <a:solidFill>
              <a:srgbClr val="75C222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59055" marR="52705" algn="ctr">
              <a:lnSpc>
                <a:spcPct val="100499"/>
              </a:lnSpc>
              <a:spcBef>
                <a:spcPts val="745"/>
              </a:spcBef>
            </a:pPr>
            <a:r>
              <a:rPr sz="2100" spc="5" dirty="0">
                <a:solidFill>
                  <a:srgbClr val="75C222"/>
                </a:solidFill>
                <a:latin typeface="Arial"/>
                <a:cs typeface="Arial"/>
              </a:rPr>
              <a:t>basic needs and </a:t>
            </a:r>
            <a:r>
              <a:rPr sz="2100" dirty="0">
                <a:solidFill>
                  <a:srgbClr val="75C222"/>
                </a:solidFill>
                <a:latin typeface="Arial"/>
                <a:cs typeface="Arial"/>
              </a:rPr>
              <a:t>life quality  </a:t>
            </a:r>
            <a:r>
              <a:rPr sz="2100" spc="5" dirty="0">
                <a:solidFill>
                  <a:srgbClr val="75C222"/>
                </a:solidFill>
                <a:latin typeface="Arial"/>
                <a:cs typeface="Arial"/>
              </a:rPr>
              <a:t>provided; tolerable</a:t>
            </a:r>
            <a:r>
              <a:rPr sz="2100" spc="-85" dirty="0">
                <a:solidFill>
                  <a:srgbClr val="75C222"/>
                </a:solidFill>
                <a:latin typeface="Arial"/>
                <a:cs typeface="Arial"/>
              </a:rPr>
              <a:t> </a:t>
            </a:r>
            <a:r>
              <a:rPr sz="2100" spc="5" dirty="0">
                <a:solidFill>
                  <a:srgbClr val="75C222"/>
                </a:solidFill>
                <a:latin typeface="Arial"/>
                <a:cs typeface="Arial"/>
              </a:rPr>
              <a:t>inequality;</a:t>
            </a:r>
            <a:r>
              <a:rPr sz="2100" spc="-55" dirty="0">
                <a:solidFill>
                  <a:srgbClr val="75C222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75C222"/>
                </a:solidFill>
                <a:latin typeface="Arial"/>
                <a:cs typeface="Arial"/>
              </a:rPr>
              <a:t>living  within </a:t>
            </a:r>
            <a:r>
              <a:rPr sz="2100" spc="5" dirty="0">
                <a:solidFill>
                  <a:srgbClr val="75C222"/>
                </a:solidFill>
                <a:latin typeface="Arial"/>
                <a:cs typeface="Arial"/>
              </a:rPr>
              <a:t>the </a:t>
            </a:r>
            <a:r>
              <a:rPr sz="2100" dirty="0">
                <a:solidFill>
                  <a:srgbClr val="75C222"/>
                </a:solidFill>
                <a:latin typeface="Arial"/>
                <a:cs typeface="Arial"/>
              </a:rPr>
              <a:t>Earth’s</a:t>
            </a:r>
            <a:r>
              <a:rPr sz="2100" spc="-50" dirty="0">
                <a:solidFill>
                  <a:srgbClr val="75C222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75C222"/>
                </a:solidFill>
                <a:latin typeface="Arial"/>
                <a:cs typeface="Arial"/>
              </a:rPr>
              <a:t>limits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97534" y="2837688"/>
            <a:ext cx="722471" cy="1059180"/>
            <a:chOff x="4130040" y="2837688"/>
            <a:chExt cx="963294" cy="1059180"/>
          </a:xfrm>
        </p:grpSpPr>
        <p:sp>
          <p:nvSpPr>
            <p:cNvPr id="15" name="object 15"/>
            <p:cNvSpPr/>
            <p:nvPr/>
          </p:nvSpPr>
          <p:spPr>
            <a:xfrm>
              <a:off x="4166616" y="2837688"/>
              <a:ext cx="926591" cy="10591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30040" y="3140964"/>
              <a:ext cx="890015" cy="48463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78808" y="2849880"/>
              <a:ext cx="795655" cy="928369"/>
            </a:xfrm>
            <a:custGeom>
              <a:avLst/>
              <a:gdLst/>
              <a:ahLst/>
              <a:cxnLst/>
              <a:rect l="l" t="t" r="r" b="b"/>
              <a:pathLst>
                <a:path w="795654" h="928370">
                  <a:moveTo>
                    <a:pt x="569213" y="0"/>
                  </a:moveTo>
                  <a:lnTo>
                    <a:pt x="569213" y="239775"/>
                  </a:lnTo>
                  <a:lnTo>
                    <a:pt x="0" y="239775"/>
                  </a:lnTo>
                  <a:lnTo>
                    <a:pt x="0" y="688340"/>
                  </a:lnTo>
                  <a:lnTo>
                    <a:pt x="569213" y="688340"/>
                  </a:lnTo>
                  <a:lnTo>
                    <a:pt x="569213" y="928116"/>
                  </a:lnTo>
                  <a:lnTo>
                    <a:pt x="795527" y="464058"/>
                  </a:lnTo>
                  <a:lnTo>
                    <a:pt x="569213" y="0"/>
                  </a:lnTo>
                  <a:close/>
                </a:path>
              </a:pathLst>
            </a:custGeom>
            <a:solidFill>
              <a:srgbClr val="488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2778" y="3170305"/>
            <a:ext cx="438150" cy="2731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Susta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nab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45349" y="3299845"/>
            <a:ext cx="492443" cy="2731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eve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850" spc="-5" dirty="0">
                <a:solidFill>
                  <a:srgbClr val="FFFFFF"/>
                </a:solidFill>
                <a:latin typeface="Arial"/>
                <a:cs typeface="Arial"/>
              </a:rPr>
              <a:t>ment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4043" y="4600203"/>
            <a:ext cx="2899886" cy="1388201"/>
          </a:xfrm>
          <a:prstGeom prst="rect">
            <a:avLst/>
          </a:prstGeom>
          <a:ln w="38100">
            <a:solidFill>
              <a:srgbClr val="EEC025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74625" marR="168910" indent="-3175" algn="ctr">
              <a:lnSpc>
                <a:spcPct val="100499"/>
              </a:lnSpc>
              <a:spcBef>
                <a:spcPts val="745"/>
              </a:spcBef>
            </a:pPr>
            <a:r>
              <a:rPr sz="2100" spc="-10" dirty="0">
                <a:solidFill>
                  <a:srgbClr val="EEC025"/>
                </a:solidFill>
                <a:latin typeface="Arial"/>
                <a:cs typeface="Arial"/>
              </a:rPr>
              <a:t>inequality, </a:t>
            </a:r>
            <a:r>
              <a:rPr sz="2100" spc="5" dirty="0">
                <a:solidFill>
                  <a:srgbClr val="EEC025"/>
                </a:solidFill>
                <a:latin typeface="Arial"/>
                <a:cs typeface="Arial"/>
              </a:rPr>
              <a:t>much </a:t>
            </a:r>
            <a:r>
              <a:rPr sz="2100" dirty="0">
                <a:solidFill>
                  <a:srgbClr val="EEC025"/>
                </a:solidFill>
                <a:latin typeface="Arial"/>
                <a:cs typeface="Arial"/>
              </a:rPr>
              <a:t>poverty left;  </a:t>
            </a:r>
            <a:r>
              <a:rPr sz="2100" spc="5" dirty="0">
                <a:solidFill>
                  <a:srgbClr val="EEC025"/>
                </a:solidFill>
                <a:latin typeface="Arial"/>
                <a:cs typeface="Arial"/>
              </a:rPr>
              <a:t>threat of decreasing quality</a:t>
            </a:r>
            <a:r>
              <a:rPr sz="2100" spc="-145" dirty="0">
                <a:solidFill>
                  <a:srgbClr val="EEC025"/>
                </a:solidFill>
                <a:latin typeface="Arial"/>
                <a:cs typeface="Arial"/>
              </a:rPr>
              <a:t> </a:t>
            </a:r>
            <a:r>
              <a:rPr sz="2100" spc="5" dirty="0">
                <a:solidFill>
                  <a:srgbClr val="EEC025"/>
                </a:solidFill>
                <a:latin typeface="Arial"/>
                <a:cs typeface="Arial"/>
              </a:rPr>
              <a:t>of  </a:t>
            </a:r>
            <a:r>
              <a:rPr sz="2100" dirty="0">
                <a:solidFill>
                  <a:srgbClr val="EEC025"/>
                </a:solidFill>
                <a:latin typeface="Arial"/>
                <a:cs typeface="Arial"/>
              </a:rPr>
              <a:t>life</a:t>
            </a:r>
            <a:endParaRPr sz="2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62523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033" y="567606"/>
            <a:ext cx="641466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itchFamily="18" charset="0"/>
                <a:cs typeface="Times New Roman" pitchFamily="18" charset="0"/>
              </a:rPr>
              <a:t>Sustainable</a:t>
            </a:r>
            <a:r>
              <a:rPr spc="-1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Society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74686" y="1509529"/>
            <a:ext cx="2610803" cy="750205"/>
          </a:xfrm>
          <a:prstGeom prst="rect">
            <a:avLst/>
          </a:prstGeom>
          <a:solidFill>
            <a:srgbClr val="90C225"/>
          </a:solidFill>
          <a:ln w="25907">
            <a:solidFill>
              <a:srgbClr val="808080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50"/>
              </a:spcBef>
            </a:pPr>
            <a:r>
              <a:rPr sz="2000" dirty="0">
                <a:latin typeface="Arial"/>
                <a:cs typeface="Arial"/>
              </a:rPr>
              <a:t>Sustainable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Development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3647" y="2544322"/>
            <a:ext cx="1678305" cy="843821"/>
          </a:xfrm>
          <a:prstGeom prst="rect">
            <a:avLst/>
          </a:prstGeom>
          <a:solidFill>
            <a:srgbClr val="99CC00"/>
          </a:solidFill>
          <a:ln w="25907">
            <a:solidFill>
              <a:srgbClr val="808080"/>
            </a:solidFill>
          </a:ln>
        </p:spPr>
        <p:txBody>
          <a:bodyPr vert="horz" wrap="square" lIns="0" tIns="226060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1780"/>
              </a:spcBef>
            </a:pPr>
            <a:r>
              <a:rPr sz="2000" dirty="0">
                <a:latin typeface="Arial"/>
                <a:cs typeface="Arial"/>
              </a:rPr>
              <a:t>Social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Equity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2170" y="2544318"/>
            <a:ext cx="1678305" cy="1613262"/>
          </a:xfrm>
          <a:prstGeom prst="rect">
            <a:avLst/>
          </a:prstGeom>
          <a:solidFill>
            <a:srgbClr val="99CC00"/>
          </a:solidFill>
          <a:ln w="25907">
            <a:solidFill>
              <a:srgbClr val="80808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577215" marR="552450" indent="-18415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Arial"/>
                <a:cs typeface="Arial"/>
              </a:rPr>
              <a:t>Economic  </a:t>
            </a:r>
            <a:r>
              <a:rPr sz="2000" spc="-5" dirty="0">
                <a:latin typeface="Arial"/>
                <a:cs typeface="Arial"/>
              </a:rPr>
              <a:t>Efficiency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9550" y="2544318"/>
            <a:ext cx="1678305" cy="1305486"/>
          </a:xfrm>
          <a:prstGeom prst="rect">
            <a:avLst/>
          </a:prstGeom>
          <a:solidFill>
            <a:srgbClr val="99CC00"/>
          </a:solidFill>
          <a:ln w="25907">
            <a:solidFill>
              <a:srgbClr val="80808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332740" marR="297180" indent="-2794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Arial"/>
                <a:cs typeface="Arial"/>
              </a:rPr>
              <a:t>En</a:t>
            </a:r>
            <a:r>
              <a:rPr sz="2000" spc="-10" dirty="0">
                <a:latin typeface="Arial"/>
                <a:cs typeface="Arial"/>
              </a:rPr>
              <a:t>v</a:t>
            </a:r>
            <a:r>
              <a:rPr sz="2000" dirty="0">
                <a:latin typeface="Arial"/>
                <a:cs typeface="Arial"/>
              </a:rPr>
              <a:t>iro</a:t>
            </a:r>
            <a:r>
              <a:rPr sz="2000" spc="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mental  Responsibility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4790" y="3774189"/>
            <a:ext cx="1678305" cy="2010807"/>
          </a:xfrm>
          <a:prstGeom prst="rect">
            <a:avLst/>
          </a:prstGeom>
          <a:solidFill>
            <a:srgbClr val="FFFF99"/>
          </a:solidFill>
          <a:ln w="25907">
            <a:solidFill>
              <a:srgbClr val="80808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62560" indent="-71755">
              <a:lnSpc>
                <a:spcPct val="100000"/>
              </a:lnSpc>
              <a:spcBef>
                <a:spcPts val="320"/>
              </a:spcBef>
              <a:buSzPct val="93750"/>
              <a:buChar char="•"/>
              <a:tabLst>
                <a:tab pos="162560" algn="l"/>
              </a:tabLst>
            </a:pPr>
            <a:r>
              <a:rPr sz="1600" spc="-5" dirty="0">
                <a:latin typeface="Arial"/>
                <a:cs typeface="Arial"/>
              </a:rPr>
              <a:t>Living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conditions</a:t>
            </a:r>
            <a:endParaRPr sz="1600">
              <a:latin typeface="Arial"/>
              <a:cs typeface="Arial"/>
            </a:endParaRPr>
          </a:p>
          <a:p>
            <a:pPr marL="162560" indent="-71755">
              <a:lnSpc>
                <a:spcPct val="100000"/>
              </a:lnSpc>
              <a:buSzPct val="93750"/>
              <a:buChar char="•"/>
              <a:tabLst>
                <a:tab pos="162560" algn="l"/>
              </a:tabLst>
            </a:pPr>
            <a:r>
              <a:rPr sz="1600" spc="-5" dirty="0">
                <a:latin typeface="Arial"/>
                <a:cs typeface="Arial"/>
              </a:rPr>
              <a:t>Equal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opportunity</a:t>
            </a:r>
            <a:endParaRPr sz="1600">
              <a:latin typeface="Arial"/>
              <a:cs typeface="Arial"/>
            </a:endParaRPr>
          </a:p>
          <a:p>
            <a:pPr marL="162560" indent="-71755">
              <a:lnSpc>
                <a:spcPct val="100000"/>
              </a:lnSpc>
              <a:buSzPct val="93750"/>
              <a:buChar char="•"/>
              <a:tabLst>
                <a:tab pos="162560" algn="l"/>
              </a:tabLst>
            </a:pPr>
            <a:r>
              <a:rPr sz="1600" spc="-5" dirty="0">
                <a:latin typeface="Arial"/>
                <a:cs typeface="Arial"/>
              </a:rPr>
              <a:t>Social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cohesion</a:t>
            </a:r>
            <a:endParaRPr sz="1600">
              <a:latin typeface="Arial"/>
              <a:cs typeface="Arial"/>
            </a:endParaRPr>
          </a:p>
          <a:p>
            <a:pPr marL="162560" indent="-71755">
              <a:lnSpc>
                <a:spcPct val="100000"/>
              </a:lnSpc>
              <a:buSzPct val="93750"/>
              <a:buChar char="•"/>
              <a:tabLst>
                <a:tab pos="162560" algn="l"/>
              </a:tabLst>
            </a:pPr>
            <a:r>
              <a:rPr sz="1600" spc="-5" dirty="0">
                <a:latin typeface="Arial"/>
                <a:cs typeface="Arial"/>
              </a:rPr>
              <a:t>International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solidarity</a:t>
            </a:r>
            <a:endParaRPr sz="1600">
              <a:latin typeface="Arial"/>
              <a:cs typeface="Arial"/>
            </a:endParaRPr>
          </a:p>
          <a:p>
            <a:pPr marL="162560" indent="-72390">
              <a:lnSpc>
                <a:spcPct val="100000"/>
              </a:lnSpc>
              <a:buSzPct val="93750"/>
              <a:buChar char="•"/>
              <a:tabLst>
                <a:tab pos="163195" algn="l"/>
              </a:tabLst>
            </a:pPr>
            <a:r>
              <a:rPr sz="1600" spc="-5" dirty="0">
                <a:latin typeface="Arial"/>
                <a:cs typeface="Arial"/>
              </a:rPr>
              <a:t>Maintenance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of</a:t>
            </a:r>
            <a:endParaRPr sz="16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human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capital.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9884" y="3774193"/>
            <a:ext cx="1678305" cy="3241913"/>
          </a:xfrm>
          <a:prstGeom prst="rect">
            <a:avLst/>
          </a:prstGeom>
          <a:solidFill>
            <a:srgbClr val="FFFF99"/>
          </a:solidFill>
          <a:ln w="25907">
            <a:solidFill>
              <a:srgbClr val="80808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63195" indent="-72390">
              <a:lnSpc>
                <a:spcPct val="100000"/>
              </a:lnSpc>
              <a:spcBef>
                <a:spcPts val="320"/>
              </a:spcBef>
              <a:buSzPct val="93750"/>
              <a:buChar char="•"/>
              <a:tabLst>
                <a:tab pos="163830" algn="l"/>
              </a:tabLst>
            </a:pPr>
            <a:r>
              <a:rPr sz="1600" spc="-5" dirty="0">
                <a:latin typeface="Arial"/>
                <a:cs typeface="Arial"/>
              </a:rPr>
              <a:t>Economic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growth</a:t>
            </a:r>
            <a:endParaRPr sz="1600">
              <a:latin typeface="Arial"/>
              <a:cs typeface="Arial"/>
            </a:endParaRPr>
          </a:p>
          <a:p>
            <a:pPr marL="91440" marR="681355">
              <a:lnSpc>
                <a:spcPct val="100000"/>
              </a:lnSpc>
              <a:buSzPct val="93750"/>
              <a:buChar char="•"/>
              <a:tabLst>
                <a:tab pos="163830" algn="l"/>
              </a:tabLst>
            </a:pPr>
            <a:r>
              <a:rPr sz="1600" spc="-5" dirty="0">
                <a:latin typeface="Arial"/>
                <a:cs typeface="Arial"/>
              </a:rPr>
              <a:t>Efficiency and  compet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5" dirty="0">
                <a:latin typeface="Arial"/>
                <a:cs typeface="Arial"/>
              </a:rPr>
              <a:t>tivene</a:t>
            </a:r>
            <a:r>
              <a:rPr sz="1600" dirty="0">
                <a:latin typeface="Arial"/>
                <a:cs typeface="Arial"/>
              </a:rPr>
              <a:t>s</a:t>
            </a:r>
            <a:r>
              <a:rPr sz="1600" spc="-5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163195" indent="-72390">
              <a:lnSpc>
                <a:spcPct val="100000"/>
              </a:lnSpc>
              <a:buSzPct val="93750"/>
              <a:buChar char="•"/>
              <a:tabLst>
                <a:tab pos="163830" algn="l"/>
              </a:tabLst>
            </a:pPr>
            <a:r>
              <a:rPr sz="1600" spc="-5" dirty="0">
                <a:latin typeface="Arial"/>
                <a:cs typeface="Arial"/>
              </a:rPr>
              <a:t>Flexibility 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stability</a:t>
            </a:r>
            <a:endParaRPr sz="1600">
              <a:latin typeface="Arial"/>
              <a:cs typeface="Arial"/>
            </a:endParaRPr>
          </a:p>
          <a:p>
            <a:pPr marL="163195" indent="-72390">
              <a:lnSpc>
                <a:spcPct val="100000"/>
              </a:lnSpc>
              <a:buSzPct val="93750"/>
              <a:buChar char="•"/>
              <a:tabLst>
                <a:tab pos="163830" algn="l"/>
              </a:tabLst>
            </a:pPr>
            <a:r>
              <a:rPr sz="1600" spc="-5" dirty="0">
                <a:latin typeface="Arial"/>
                <a:cs typeface="Arial"/>
              </a:rPr>
              <a:t>Production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/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consumption</a:t>
            </a:r>
            <a:endParaRPr sz="1600">
              <a:latin typeface="Arial"/>
              <a:cs typeface="Arial"/>
            </a:endParaRPr>
          </a:p>
          <a:p>
            <a:pPr marL="163195" indent="-72390">
              <a:lnSpc>
                <a:spcPct val="100000"/>
              </a:lnSpc>
              <a:spcBef>
                <a:spcPts val="5"/>
              </a:spcBef>
              <a:buSzPct val="93750"/>
              <a:buChar char="•"/>
              <a:tabLst>
                <a:tab pos="163830" algn="l"/>
              </a:tabLst>
            </a:pPr>
            <a:r>
              <a:rPr sz="1600" spc="-5" dirty="0">
                <a:latin typeface="Arial"/>
                <a:cs typeface="Arial"/>
              </a:rPr>
              <a:t>Employment</a:t>
            </a:r>
            <a:endParaRPr sz="1600">
              <a:latin typeface="Arial"/>
              <a:cs typeface="Arial"/>
            </a:endParaRPr>
          </a:p>
          <a:p>
            <a:pPr marL="163195" indent="-72390">
              <a:lnSpc>
                <a:spcPct val="100000"/>
              </a:lnSpc>
              <a:buSzPct val="93750"/>
              <a:buChar char="•"/>
              <a:tabLst>
                <a:tab pos="163830" algn="l"/>
              </a:tabLst>
            </a:pPr>
            <a:r>
              <a:rPr sz="1600" spc="-5" dirty="0">
                <a:latin typeface="Arial"/>
                <a:cs typeface="Arial"/>
              </a:rPr>
              <a:t>International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trade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40693" y="3774189"/>
            <a:ext cx="1678305" cy="2503249"/>
          </a:xfrm>
          <a:prstGeom prst="rect">
            <a:avLst/>
          </a:prstGeom>
          <a:solidFill>
            <a:srgbClr val="FFFF99"/>
          </a:solidFill>
          <a:ln w="25907">
            <a:solidFill>
              <a:srgbClr val="80808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 marR="645160">
              <a:lnSpc>
                <a:spcPct val="100000"/>
              </a:lnSpc>
              <a:spcBef>
                <a:spcPts val="320"/>
              </a:spcBef>
              <a:buSzPct val="93750"/>
              <a:buChar char="•"/>
              <a:tabLst>
                <a:tab pos="163195" algn="l"/>
              </a:tabLst>
            </a:pPr>
            <a:r>
              <a:rPr sz="1600" spc="-5" dirty="0">
                <a:latin typeface="Arial"/>
                <a:cs typeface="Arial"/>
              </a:rPr>
              <a:t>Consumption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of  resources</a:t>
            </a:r>
            <a:endParaRPr sz="1600">
              <a:latin typeface="Arial"/>
              <a:cs typeface="Arial"/>
            </a:endParaRPr>
          </a:p>
          <a:p>
            <a:pPr marL="163195" indent="-71755">
              <a:lnSpc>
                <a:spcPct val="100000"/>
              </a:lnSpc>
              <a:buSzPct val="93750"/>
              <a:buChar char="•"/>
              <a:tabLst>
                <a:tab pos="163195" algn="l"/>
              </a:tabLst>
            </a:pPr>
            <a:r>
              <a:rPr sz="1600" spc="-5" dirty="0">
                <a:latin typeface="Arial"/>
                <a:cs typeface="Arial"/>
              </a:rPr>
              <a:t>Materials 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wastes</a:t>
            </a:r>
            <a:endParaRPr sz="1600">
              <a:latin typeface="Arial"/>
              <a:cs typeface="Arial"/>
            </a:endParaRPr>
          </a:p>
          <a:p>
            <a:pPr marL="163195" indent="-71755">
              <a:lnSpc>
                <a:spcPct val="100000"/>
              </a:lnSpc>
              <a:buSzPct val="93750"/>
              <a:buChar char="•"/>
              <a:tabLst>
                <a:tab pos="163195" algn="l"/>
              </a:tabLst>
            </a:pPr>
            <a:r>
              <a:rPr sz="1600" spc="-5" dirty="0">
                <a:latin typeface="Arial"/>
                <a:cs typeface="Arial"/>
              </a:rPr>
              <a:t>Risks</a:t>
            </a:r>
            <a:endParaRPr sz="1600">
              <a:latin typeface="Arial"/>
              <a:cs typeface="Arial"/>
            </a:endParaRPr>
          </a:p>
          <a:p>
            <a:pPr marL="163195" indent="-72390">
              <a:lnSpc>
                <a:spcPct val="100000"/>
              </a:lnSpc>
              <a:buSzPct val="93750"/>
              <a:buChar char="•"/>
              <a:tabLst>
                <a:tab pos="163830" algn="l"/>
              </a:tabLst>
            </a:pPr>
            <a:r>
              <a:rPr sz="1600" spc="-5" dirty="0">
                <a:latin typeface="Arial"/>
                <a:cs typeface="Arial"/>
              </a:rPr>
              <a:t>Rate of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change</a:t>
            </a:r>
            <a:endParaRPr sz="1600">
              <a:latin typeface="Arial"/>
              <a:cs typeface="Arial"/>
            </a:endParaRPr>
          </a:p>
          <a:p>
            <a:pPr marL="91440" marR="305435">
              <a:lnSpc>
                <a:spcPct val="100000"/>
              </a:lnSpc>
              <a:buSzPct val="93750"/>
              <a:buChar char="•"/>
              <a:tabLst>
                <a:tab pos="163195" algn="l"/>
              </a:tabLst>
            </a:pPr>
            <a:r>
              <a:rPr sz="1600" spc="-5" dirty="0">
                <a:latin typeface="Arial"/>
                <a:cs typeface="Arial"/>
              </a:rPr>
              <a:t>Natural 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cultural  landscape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39747" y="1784613"/>
            <a:ext cx="625316" cy="746125"/>
          </a:xfrm>
          <a:custGeom>
            <a:avLst/>
            <a:gdLst/>
            <a:ahLst/>
            <a:cxnLst/>
            <a:rect l="l" t="t" r="r" b="b"/>
            <a:pathLst>
              <a:path w="833754" h="746125">
                <a:moveTo>
                  <a:pt x="38100" y="631825"/>
                </a:moveTo>
                <a:lnTo>
                  <a:pt x="0" y="631825"/>
                </a:lnTo>
                <a:lnTo>
                  <a:pt x="57150" y="746125"/>
                </a:lnTo>
                <a:lnTo>
                  <a:pt x="104775" y="650875"/>
                </a:lnTo>
                <a:lnTo>
                  <a:pt x="38100" y="650875"/>
                </a:lnTo>
                <a:lnTo>
                  <a:pt x="38100" y="631825"/>
                </a:lnTo>
                <a:close/>
              </a:path>
              <a:path w="833754" h="746125">
                <a:moveTo>
                  <a:pt x="833374" y="0"/>
                </a:moveTo>
                <a:lnTo>
                  <a:pt x="38100" y="0"/>
                </a:lnTo>
                <a:lnTo>
                  <a:pt x="38100" y="650875"/>
                </a:lnTo>
                <a:lnTo>
                  <a:pt x="76200" y="650875"/>
                </a:lnTo>
                <a:lnTo>
                  <a:pt x="76200" y="38100"/>
                </a:lnTo>
                <a:lnTo>
                  <a:pt x="57150" y="38100"/>
                </a:lnTo>
                <a:lnTo>
                  <a:pt x="76200" y="19050"/>
                </a:lnTo>
                <a:lnTo>
                  <a:pt x="833374" y="19050"/>
                </a:lnTo>
                <a:lnTo>
                  <a:pt x="833374" y="0"/>
                </a:lnTo>
                <a:close/>
              </a:path>
              <a:path w="833754" h="746125">
                <a:moveTo>
                  <a:pt x="114300" y="631825"/>
                </a:moveTo>
                <a:lnTo>
                  <a:pt x="76200" y="631825"/>
                </a:lnTo>
                <a:lnTo>
                  <a:pt x="76200" y="650875"/>
                </a:lnTo>
                <a:lnTo>
                  <a:pt x="104775" y="650875"/>
                </a:lnTo>
                <a:lnTo>
                  <a:pt x="114300" y="631825"/>
                </a:lnTo>
                <a:close/>
              </a:path>
              <a:path w="833754" h="746125">
                <a:moveTo>
                  <a:pt x="76200" y="19050"/>
                </a:moveTo>
                <a:lnTo>
                  <a:pt x="57150" y="38100"/>
                </a:lnTo>
                <a:lnTo>
                  <a:pt x="76200" y="38100"/>
                </a:lnTo>
                <a:lnTo>
                  <a:pt x="76200" y="19050"/>
                </a:lnTo>
                <a:close/>
              </a:path>
              <a:path w="833754" h="746125">
                <a:moveTo>
                  <a:pt x="833374" y="19050"/>
                </a:moveTo>
                <a:lnTo>
                  <a:pt x="76200" y="19050"/>
                </a:lnTo>
                <a:lnTo>
                  <a:pt x="76200" y="38100"/>
                </a:lnTo>
                <a:lnTo>
                  <a:pt x="833374" y="38100"/>
                </a:lnTo>
                <a:lnTo>
                  <a:pt x="833374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39411" y="2109986"/>
            <a:ext cx="85725" cy="421005"/>
          </a:xfrm>
          <a:custGeom>
            <a:avLst/>
            <a:gdLst/>
            <a:ahLst/>
            <a:cxnLst/>
            <a:rect l="l" t="t" r="r" b="b"/>
            <a:pathLst>
              <a:path w="114300" h="421005">
                <a:moveTo>
                  <a:pt x="38100" y="306324"/>
                </a:moveTo>
                <a:lnTo>
                  <a:pt x="0" y="306324"/>
                </a:lnTo>
                <a:lnTo>
                  <a:pt x="57150" y="420624"/>
                </a:lnTo>
                <a:lnTo>
                  <a:pt x="104775" y="325374"/>
                </a:lnTo>
                <a:lnTo>
                  <a:pt x="38100" y="325374"/>
                </a:lnTo>
                <a:lnTo>
                  <a:pt x="38100" y="306324"/>
                </a:lnTo>
                <a:close/>
              </a:path>
              <a:path w="114300" h="421005">
                <a:moveTo>
                  <a:pt x="38100" y="209550"/>
                </a:moveTo>
                <a:lnTo>
                  <a:pt x="38100" y="325374"/>
                </a:lnTo>
                <a:lnTo>
                  <a:pt x="76200" y="325374"/>
                </a:lnTo>
                <a:lnTo>
                  <a:pt x="76200" y="228600"/>
                </a:lnTo>
                <a:lnTo>
                  <a:pt x="57150" y="228600"/>
                </a:lnTo>
                <a:lnTo>
                  <a:pt x="38100" y="209550"/>
                </a:lnTo>
                <a:close/>
              </a:path>
              <a:path w="114300" h="421005">
                <a:moveTo>
                  <a:pt x="114300" y="306324"/>
                </a:moveTo>
                <a:lnTo>
                  <a:pt x="76200" y="306324"/>
                </a:lnTo>
                <a:lnTo>
                  <a:pt x="76200" y="325374"/>
                </a:lnTo>
                <a:lnTo>
                  <a:pt x="104775" y="325374"/>
                </a:lnTo>
                <a:lnTo>
                  <a:pt x="114300" y="306324"/>
                </a:lnTo>
                <a:close/>
              </a:path>
              <a:path w="114300" h="421005">
                <a:moveTo>
                  <a:pt x="74675" y="0"/>
                </a:moveTo>
                <a:lnTo>
                  <a:pt x="36575" y="0"/>
                </a:lnTo>
                <a:lnTo>
                  <a:pt x="36575" y="228600"/>
                </a:lnTo>
                <a:lnTo>
                  <a:pt x="38100" y="228600"/>
                </a:lnTo>
                <a:lnTo>
                  <a:pt x="38100" y="209550"/>
                </a:lnTo>
                <a:lnTo>
                  <a:pt x="74675" y="209550"/>
                </a:lnTo>
                <a:lnTo>
                  <a:pt x="55625" y="190500"/>
                </a:lnTo>
                <a:lnTo>
                  <a:pt x="74675" y="190500"/>
                </a:lnTo>
                <a:lnTo>
                  <a:pt x="74675" y="0"/>
                </a:lnTo>
                <a:close/>
              </a:path>
              <a:path w="114300" h="421005">
                <a:moveTo>
                  <a:pt x="76200" y="190500"/>
                </a:moveTo>
                <a:lnTo>
                  <a:pt x="74675" y="190500"/>
                </a:lnTo>
                <a:lnTo>
                  <a:pt x="74675" y="209550"/>
                </a:lnTo>
                <a:lnTo>
                  <a:pt x="38100" y="209550"/>
                </a:lnTo>
                <a:lnTo>
                  <a:pt x="57150" y="228600"/>
                </a:lnTo>
                <a:lnTo>
                  <a:pt x="76200" y="228600"/>
                </a:lnTo>
                <a:lnTo>
                  <a:pt x="76200" y="190500"/>
                </a:lnTo>
                <a:close/>
              </a:path>
              <a:path w="114300" h="421005">
                <a:moveTo>
                  <a:pt x="74675" y="190500"/>
                </a:moveTo>
                <a:lnTo>
                  <a:pt x="55625" y="190500"/>
                </a:lnTo>
                <a:lnTo>
                  <a:pt x="74675" y="209550"/>
                </a:lnTo>
                <a:lnTo>
                  <a:pt x="746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95586" y="1784613"/>
            <a:ext cx="626269" cy="746125"/>
          </a:xfrm>
          <a:custGeom>
            <a:avLst/>
            <a:gdLst/>
            <a:ahLst/>
            <a:cxnLst/>
            <a:rect l="l" t="t" r="r" b="b"/>
            <a:pathLst>
              <a:path w="835025" h="746125">
                <a:moveTo>
                  <a:pt x="758825" y="631825"/>
                </a:moveTo>
                <a:lnTo>
                  <a:pt x="720725" y="631825"/>
                </a:lnTo>
                <a:lnTo>
                  <a:pt x="777875" y="746125"/>
                </a:lnTo>
                <a:lnTo>
                  <a:pt x="825500" y="650875"/>
                </a:lnTo>
                <a:lnTo>
                  <a:pt x="758825" y="650875"/>
                </a:lnTo>
                <a:lnTo>
                  <a:pt x="758825" y="631825"/>
                </a:lnTo>
                <a:close/>
              </a:path>
              <a:path w="835025" h="746125">
                <a:moveTo>
                  <a:pt x="758825" y="19050"/>
                </a:moveTo>
                <a:lnTo>
                  <a:pt x="758825" y="650875"/>
                </a:lnTo>
                <a:lnTo>
                  <a:pt x="796925" y="650875"/>
                </a:lnTo>
                <a:lnTo>
                  <a:pt x="796925" y="38100"/>
                </a:lnTo>
                <a:lnTo>
                  <a:pt x="777875" y="38100"/>
                </a:lnTo>
                <a:lnTo>
                  <a:pt x="758825" y="19050"/>
                </a:lnTo>
                <a:close/>
              </a:path>
              <a:path w="835025" h="746125">
                <a:moveTo>
                  <a:pt x="835025" y="631825"/>
                </a:moveTo>
                <a:lnTo>
                  <a:pt x="796925" y="631825"/>
                </a:lnTo>
                <a:lnTo>
                  <a:pt x="796925" y="650875"/>
                </a:lnTo>
                <a:lnTo>
                  <a:pt x="825500" y="650875"/>
                </a:lnTo>
                <a:lnTo>
                  <a:pt x="835025" y="631825"/>
                </a:lnTo>
                <a:close/>
              </a:path>
              <a:path w="835025" h="746125">
                <a:moveTo>
                  <a:pt x="796925" y="0"/>
                </a:moveTo>
                <a:lnTo>
                  <a:pt x="0" y="0"/>
                </a:lnTo>
                <a:lnTo>
                  <a:pt x="0" y="38100"/>
                </a:lnTo>
                <a:lnTo>
                  <a:pt x="758825" y="38100"/>
                </a:lnTo>
                <a:lnTo>
                  <a:pt x="758825" y="19050"/>
                </a:lnTo>
                <a:lnTo>
                  <a:pt x="796925" y="19050"/>
                </a:lnTo>
                <a:lnTo>
                  <a:pt x="796925" y="0"/>
                </a:lnTo>
                <a:close/>
              </a:path>
              <a:path w="835025" h="746125">
                <a:moveTo>
                  <a:pt x="796925" y="19050"/>
                </a:moveTo>
                <a:lnTo>
                  <a:pt x="758825" y="19050"/>
                </a:lnTo>
                <a:lnTo>
                  <a:pt x="777875" y="38100"/>
                </a:lnTo>
                <a:lnTo>
                  <a:pt x="796925" y="38100"/>
                </a:lnTo>
                <a:lnTo>
                  <a:pt x="796925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40891" y="3329178"/>
            <a:ext cx="85725" cy="431800"/>
          </a:xfrm>
          <a:custGeom>
            <a:avLst/>
            <a:gdLst/>
            <a:ahLst/>
            <a:cxnLst/>
            <a:rect l="l" t="t" r="r" b="b"/>
            <a:pathLst>
              <a:path w="114300" h="431800">
                <a:moveTo>
                  <a:pt x="38100" y="317500"/>
                </a:moveTo>
                <a:lnTo>
                  <a:pt x="0" y="317500"/>
                </a:lnTo>
                <a:lnTo>
                  <a:pt x="57150" y="431800"/>
                </a:lnTo>
                <a:lnTo>
                  <a:pt x="104775" y="336550"/>
                </a:lnTo>
                <a:lnTo>
                  <a:pt x="38100" y="336550"/>
                </a:lnTo>
                <a:lnTo>
                  <a:pt x="38100" y="317500"/>
                </a:lnTo>
                <a:close/>
              </a:path>
              <a:path w="114300" h="431800">
                <a:moveTo>
                  <a:pt x="38100" y="215900"/>
                </a:moveTo>
                <a:lnTo>
                  <a:pt x="38100" y="336550"/>
                </a:lnTo>
                <a:lnTo>
                  <a:pt x="76200" y="336550"/>
                </a:lnTo>
                <a:lnTo>
                  <a:pt x="76200" y="234950"/>
                </a:lnTo>
                <a:lnTo>
                  <a:pt x="57150" y="234950"/>
                </a:lnTo>
                <a:lnTo>
                  <a:pt x="38100" y="215900"/>
                </a:lnTo>
                <a:close/>
              </a:path>
              <a:path w="114300" h="431800">
                <a:moveTo>
                  <a:pt x="114300" y="317500"/>
                </a:moveTo>
                <a:lnTo>
                  <a:pt x="76200" y="317500"/>
                </a:lnTo>
                <a:lnTo>
                  <a:pt x="76200" y="336550"/>
                </a:lnTo>
                <a:lnTo>
                  <a:pt x="104775" y="336550"/>
                </a:lnTo>
                <a:lnTo>
                  <a:pt x="114300" y="317500"/>
                </a:lnTo>
                <a:close/>
              </a:path>
              <a:path w="114300" h="431800">
                <a:moveTo>
                  <a:pt x="74675" y="0"/>
                </a:moveTo>
                <a:lnTo>
                  <a:pt x="36575" y="0"/>
                </a:lnTo>
                <a:lnTo>
                  <a:pt x="36575" y="234950"/>
                </a:lnTo>
                <a:lnTo>
                  <a:pt x="38100" y="234950"/>
                </a:lnTo>
                <a:lnTo>
                  <a:pt x="38100" y="215900"/>
                </a:lnTo>
                <a:lnTo>
                  <a:pt x="74675" y="215900"/>
                </a:lnTo>
                <a:lnTo>
                  <a:pt x="55625" y="196850"/>
                </a:lnTo>
                <a:lnTo>
                  <a:pt x="74675" y="196850"/>
                </a:lnTo>
                <a:lnTo>
                  <a:pt x="74675" y="0"/>
                </a:lnTo>
                <a:close/>
              </a:path>
              <a:path w="114300" h="431800">
                <a:moveTo>
                  <a:pt x="76200" y="196850"/>
                </a:moveTo>
                <a:lnTo>
                  <a:pt x="74675" y="196850"/>
                </a:lnTo>
                <a:lnTo>
                  <a:pt x="74675" y="215900"/>
                </a:lnTo>
                <a:lnTo>
                  <a:pt x="38100" y="215900"/>
                </a:lnTo>
                <a:lnTo>
                  <a:pt x="57150" y="234950"/>
                </a:lnTo>
                <a:lnTo>
                  <a:pt x="76200" y="234950"/>
                </a:lnTo>
                <a:lnTo>
                  <a:pt x="76200" y="196850"/>
                </a:lnTo>
                <a:close/>
              </a:path>
              <a:path w="114300" h="431800">
                <a:moveTo>
                  <a:pt x="74675" y="196850"/>
                </a:moveTo>
                <a:lnTo>
                  <a:pt x="55625" y="196850"/>
                </a:lnTo>
                <a:lnTo>
                  <a:pt x="74675" y="215900"/>
                </a:lnTo>
                <a:lnTo>
                  <a:pt x="74675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37125" y="3329178"/>
            <a:ext cx="85725" cy="431800"/>
          </a:xfrm>
          <a:custGeom>
            <a:avLst/>
            <a:gdLst/>
            <a:ahLst/>
            <a:cxnLst/>
            <a:rect l="l" t="t" r="r" b="b"/>
            <a:pathLst>
              <a:path w="114300" h="431800">
                <a:moveTo>
                  <a:pt x="38100" y="317500"/>
                </a:moveTo>
                <a:lnTo>
                  <a:pt x="0" y="317500"/>
                </a:lnTo>
                <a:lnTo>
                  <a:pt x="57150" y="431800"/>
                </a:lnTo>
                <a:lnTo>
                  <a:pt x="104775" y="336550"/>
                </a:lnTo>
                <a:lnTo>
                  <a:pt x="38100" y="336550"/>
                </a:lnTo>
                <a:lnTo>
                  <a:pt x="38100" y="317500"/>
                </a:lnTo>
                <a:close/>
              </a:path>
              <a:path w="114300" h="431800">
                <a:moveTo>
                  <a:pt x="41275" y="196850"/>
                </a:moveTo>
                <a:lnTo>
                  <a:pt x="38100" y="196850"/>
                </a:lnTo>
                <a:lnTo>
                  <a:pt x="38100" y="336550"/>
                </a:lnTo>
                <a:lnTo>
                  <a:pt x="76200" y="336550"/>
                </a:lnTo>
                <a:lnTo>
                  <a:pt x="76200" y="234950"/>
                </a:lnTo>
                <a:lnTo>
                  <a:pt x="57150" y="234950"/>
                </a:lnTo>
                <a:lnTo>
                  <a:pt x="76200" y="215900"/>
                </a:lnTo>
                <a:lnTo>
                  <a:pt x="41275" y="215900"/>
                </a:lnTo>
                <a:lnTo>
                  <a:pt x="41275" y="196850"/>
                </a:lnTo>
                <a:close/>
              </a:path>
              <a:path w="114300" h="431800">
                <a:moveTo>
                  <a:pt x="114300" y="317500"/>
                </a:moveTo>
                <a:lnTo>
                  <a:pt x="76200" y="317500"/>
                </a:lnTo>
                <a:lnTo>
                  <a:pt x="76200" y="336550"/>
                </a:lnTo>
                <a:lnTo>
                  <a:pt x="104775" y="336550"/>
                </a:lnTo>
                <a:lnTo>
                  <a:pt x="114300" y="317500"/>
                </a:lnTo>
                <a:close/>
              </a:path>
              <a:path w="114300" h="431800">
                <a:moveTo>
                  <a:pt x="76200" y="215900"/>
                </a:moveTo>
                <a:lnTo>
                  <a:pt x="57150" y="234950"/>
                </a:lnTo>
                <a:lnTo>
                  <a:pt x="76200" y="234950"/>
                </a:lnTo>
                <a:lnTo>
                  <a:pt x="76200" y="215900"/>
                </a:lnTo>
                <a:close/>
              </a:path>
              <a:path w="114300" h="431800">
                <a:moveTo>
                  <a:pt x="79375" y="196850"/>
                </a:moveTo>
                <a:lnTo>
                  <a:pt x="60325" y="196850"/>
                </a:lnTo>
                <a:lnTo>
                  <a:pt x="41275" y="215900"/>
                </a:lnTo>
                <a:lnTo>
                  <a:pt x="76200" y="215900"/>
                </a:lnTo>
                <a:lnTo>
                  <a:pt x="76200" y="234950"/>
                </a:lnTo>
                <a:lnTo>
                  <a:pt x="79375" y="234950"/>
                </a:lnTo>
                <a:lnTo>
                  <a:pt x="79375" y="196850"/>
                </a:lnTo>
                <a:close/>
              </a:path>
              <a:path w="114300" h="431800">
                <a:moveTo>
                  <a:pt x="79375" y="0"/>
                </a:moveTo>
                <a:lnTo>
                  <a:pt x="41275" y="0"/>
                </a:lnTo>
                <a:lnTo>
                  <a:pt x="41275" y="215900"/>
                </a:lnTo>
                <a:lnTo>
                  <a:pt x="60325" y="196850"/>
                </a:lnTo>
                <a:lnTo>
                  <a:pt x="79375" y="196850"/>
                </a:lnTo>
                <a:lnTo>
                  <a:pt x="79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36794" y="3329178"/>
            <a:ext cx="85725" cy="431800"/>
          </a:xfrm>
          <a:custGeom>
            <a:avLst/>
            <a:gdLst/>
            <a:ahLst/>
            <a:cxnLst/>
            <a:rect l="l" t="t" r="r" b="b"/>
            <a:pathLst>
              <a:path w="114300" h="431800">
                <a:moveTo>
                  <a:pt x="38100" y="317500"/>
                </a:moveTo>
                <a:lnTo>
                  <a:pt x="0" y="317500"/>
                </a:lnTo>
                <a:lnTo>
                  <a:pt x="57150" y="431800"/>
                </a:lnTo>
                <a:lnTo>
                  <a:pt x="104775" y="336550"/>
                </a:lnTo>
                <a:lnTo>
                  <a:pt x="38100" y="336550"/>
                </a:lnTo>
                <a:lnTo>
                  <a:pt x="38100" y="317500"/>
                </a:lnTo>
                <a:close/>
              </a:path>
              <a:path w="114300" h="431800">
                <a:moveTo>
                  <a:pt x="38100" y="215900"/>
                </a:moveTo>
                <a:lnTo>
                  <a:pt x="38100" y="336550"/>
                </a:lnTo>
                <a:lnTo>
                  <a:pt x="76200" y="336550"/>
                </a:lnTo>
                <a:lnTo>
                  <a:pt x="76200" y="234950"/>
                </a:lnTo>
                <a:lnTo>
                  <a:pt x="57150" y="234950"/>
                </a:lnTo>
                <a:lnTo>
                  <a:pt x="38100" y="215900"/>
                </a:lnTo>
                <a:close/>
              </a:path>
              <a:path w="114300" h="431800">
                <a:moveTo>
                  <a:pt x="114300" y="317500"/>
                </a:moveTo>
                <a:lnTo>
                  <a:pt x="76200" y="317500"/>
                </a:lnTo>
                <a:lnTo>
                  <a:pt x="76200" y="336550"/>
                </a:lnTo>
                <a:lnTo>
                  <a:pt x="104775" y="336550"/>
                </a:lnTo>
                <a:lnTo>
                  <a:pt x="114300" y="317500"/>
                </a:lnTo>
                <a:close/>
              </a:path>
              <a:path w="114300" h="431800">
                <a:moveTo>
                  <a:pt x="74675" y="0"/>
                </a:moveTo>
                <a:lnTo>
                  <a:pt x="36575" y="0"/>
                </a:lnTo>
                <a:lnTo>
                  <a:pt x="36575" y="234950"/>
                </a:lnTo>
                <a:lnTo>
                  <a:pt x="38100" y="234950"/>
                </a:lnTo>
                <a:lnTo>
                  <a:pt x="38100" y="215900"/>
                </a:lnTo>
                <a:lnTo>
                  <a:pt x="74675" y="215900"/>
                </a:lnTo>
                <a:lnTo>
                  <a:pt x="55625" y="196850"/>
                </a:lnTo>
                <a:lnTo>
                  <a:pt x="74675" y="196850"/>
                </a:lnTo>
                <a:lnTo>
                  <a:pt x="74675" y="0"/>
                </a:lnTo>
                <a:close/>
              </a:path>
              <a:path w="114300" h="431800">
                <a:moveTo>
                  <a:pt x="76200" y="196850"/>
                </a:moveTo>
                <a:lnTo>
                  <a:pt x="74675" y="196850"/>
                </a:lnTo>
                <a:lnTo>
                  <a:pt x="74675" y="215900"/>
                </a:lnTo>
                <a:lnTo>
                  <a:pt x="38100" y="215900"/>
                </a:lnTo>
                <a:lnTo>
                  <a:pt x="57150" y="234950"/>
                </a:lnTo>
                <a:lnTo>
                  <a:pt x="76200" y="234950"/>
                </a:lnTo>
                <a:lnTo>
                  <a:pt x="76200" y="196850"/>
                </a:lnTo>
                <a:close/>
              </a:path>
              <a:path w="114300" h="431800">
                <a:moveTo>
                  <a:pt x="74675" y="196850"/>
                </a:moveTo>
                <a:lnTo>
                  <a:pt x="55625" y="196850"/>
                </a:lnTo>
                <a:lnTo>
                  <a:pt x="74675" y="215900"/>
                </a:lnTo>
                <a:lnTo>
                  <a:pt x="74675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9841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7999" y="1961515"/>
            <a:ext cx="54843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sz="66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6600" spc="-15" dirty="0">
                <a:latin typeface="Times New Roman" pitchFamily="18" charset="0"/>
                <a:cs typeface="Times New Roman" pitchFamily="18" charset="0"/>
              </a:rPr>
              <a:t>Approaches</a:t>
            </a:r>
            <a:endParaRPr sz="6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8457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600" y="285600"/>
            <a:ext cx="79270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Global</a:t>
            </a:r>
            <a:r>
              <a:rPr spc="-45" dirty="0"/>
              <a:t> </a:t>
            </a:r>
            <a:r>
              <a:rPr spc="-5" dirty="0"/>
              <a:t>Sustainability</a:t>
            </a:r>
          </a:p>
        </p:txBody>
      </p:sp>
      <p:sp>
        <p:nvSpPr>
          <p:cNvPr id="4" name="object 4"/>
          <p:cNvSpPr/>
          <p:nvPr/>
        </p:nvSpPr>
        <p:spPr>
          <a:xfrm>
            <a:off x="2953511" y="1575816"/>
            <a:ext cx="3786759" cy="4631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5885" y="1170180"/>
            <a:ext cx="2769870" cy="16818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380" indent="-107314">
              <a:lnSpc>
                <a:spcPct val="100000"/>
              </a:lnSpc>
              <a:spcBef>
                <a:spcPts val="95"/>
              </a:spcBef>
              <a:buSzPct val="93750"/>
              <a:buChar char="•"/>
              <a:tabLst>
                <a:tab pos="120014" algn="l"/>
              </a:tabLst>
            </a:pPr>
            <a:r>
              <a:rPr sz="1600" spc="-5" dirty="0">
                <a:latin typeface="Times New Roman" pitchFamily="18" charset="0"/>
                <a:cs typeface="Times New Roman" pitchFamily="18" charset="0"/>
              </a:rPr>
              <a:t>Sustain </a:t>
            </a:r>
            <a:r>
              <a:rPr sz="1600" spc="-10" dirty="0">
                <a:latin typeface="Times New Roman" pitchFamily="18" charset="0"/>
                <a:cs typeface="Times New Roman" pitchFamily="18" charset="0"/>
              </a:rPr>
              <a:t>economic</a:t>
            </a:r>
            <a:r>
              <a:rPr sz="1600" spc="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10" dirty="0">
                <a:latin typeface="Times New Roman" pitchFamily="18" charset="0"/>
                <a:cs typeface="Times New Roman" pitchFamily="18" charset="0"/>
              </a:rPr>
              <a:t>growth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119380" indent="-107314">
              <a:lnSpc>
                <a:spcPct val="100000"/>
              </a:lnSpc>
              <a:buSzPct val="93750"/>
              <a:buChar char="•"/>
              <a:tabLst>
                <a:tab pos="120014" algn="l"/>
              </a:tabLst>
            </a:pPr>
            <a:r>
              <a:rPr sz="1600" spc="-10" dirty="0">
                <a:latin typeface="Times New Roman" pitchFamily="18" charset="0"/>
                <a:cs typeface="Times New Roman" pitchFamily="18" charset="0"/>
              </a:rPr>
              <a:t>Maximize</a:t>
            </a:r>
            <a:r>
              <a:rPr sz="1600" spc="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10" dirty="0">
                <a:latin typeface="Times New Roman" pitchFamily="18" charset="0"/>
                <a:cs typeface="Times New Roman" pitchFamily="18" charset="0"/>
              </a:rPr>
              <a:t>profit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119380" indent="-107314">
              <a:lnSpc>
                <a:spcPct val="100000"/>
              </a:lnSpc>
              <a:buSzPct val="93750"/>
              <a:buChar char="•"/>
              <a:tabLst>
                <a:tab pos="120014" algn="l"/>
              </a:tabLst>
            </a:pPr>
            <a:r>
              <a:rPr sz="1600" spc="-5" dirty="0">
                <a:latin typeface="Times New Roman" pitchFamily="18" charset="0"/>
                <a:cs typeface="Times New Roman" pitchFamily="18" charset="0"/>
              </a:rPr>
              <a:t>Expand</a:t>
            </a:r>
            <a:r>
              <a:rPr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10" dirty="0">
                <a:latin typeface="Times New Roman" pitchFamily="18" charset="0"/>
                <a:cs typeface="Times New Roman" pitchFamily="18" charset="0"/>
              </a:rPr>
              <a:t>markets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119380" indent="-107314">
              <a:lnSpc>
                <a:spcPct val="100000"/>
              </a:lnSpc>
              <a:buSzPct val="93750"/>
              <a:buChar char="•"/>
              <a:tabLst>
                <a:tab pos="120014" algn="l"/>
              </a:tabLst>
            </a:pPr>
            <a:r>
              <a:rPr sz="1600" spc="-5" dirty="0">
                <a:latin typeface="Times New Roman" pitchFamily="18" charset="0"/>
                <a:cs typeface="Times New Roman" pitchFamily="18" charset="0"/>
              </a:rPr>
              <a:t>Externalize</a:t>
            </a:r>
            <a:r>
              <a:rPr sz="1600" spc="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5" dirty="0">
                <a:latin typeface="Times New Roman" pitchFamily="18" charset="0"/>
                <a:cs typeface="Times New Roman" pitchFamily="18" charset="0"/>
              </a:rPr>
              <a:t>costs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1536700">
              <a:lnSpc>
                <a:spcPct val="100000"/>
              </a:lnSpc>
              <a:spcBef>
                <a:spcPts val="1545"/>
              </a:spcBef>
            </a:pPr>
            <a:r>
              <a:rPr sz="1600" spc="-5" dirty="0">
                <a:latin typeface="Times New Roman" pitchFamily="18" charset="0"/>
                <a:cs typeface="Times New Roman" pitchFamily="18" charset="0"/>
              </a:rPr>
              <a:t>Economic</a:t>
            </a:r>
            <a:r>
              <a:rPr sz="16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5" dirty="0">
                <a:latin typeface="Times New Roman" pitchFamily="18" charset="0"/>
                <a:cs typeface="Times New Roman" pitchFamily="18" charset="0"/>
              </a:rPr>
              <a:t>Development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9302" y="5001692"/>
            <a:ext cx="1850708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380" indent="-107314">
              <a:lnSpc>
                <a:spcPct val="100000"/>
              </a:lnSpc>
              <a:spcBef>
                <a:spcPts val="95"/>
              </a:spcBef>
              <a:buSzPct val="93750"/>
              <a:buChar char="•"/>
              <a:tabLst>
                <a:tab pos="120014" algn="l"/>
              </a:tabLst>
            </a:pPr>
            <a:r>
              <a:rPr sz="1600" spc="-15" dirty="0">
                <a:latin typeface="Times New Roman" pitchFamily="18" charset="0"/>
                <a:cs typeface="Times New Roman" pitchFamily="18" charset="0"/>
              </a:rPr>
              <a:t>Respect </a:t>
            </a:r>
            <a:r>
              <a:rPr sz="1600" spc="-5" dirty="0">
                <a:latin typeface="Times New Roman" pitchFamily="18" charset="0"/>
                <a:cs typeface="Times New Roman" pitchFamily="18" charset="0"/>
              </a:rPr>
              <a:t>carrying</a:t>
            </a:r>
            <a:r>
              <a:rPr sz="16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5" dirty="0">
                <a:latin typeface="Times New Roman" pitchFamily="18" charset="0"/>
                <a:cs typeface="Times New Roman" pitchFamily="18" charset="0"/>
              </a:rPr>
              <a:t>capacity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12700" marR="397510">
              <a:lnSpc>
                <a:spcPct val="100000"/>
              </a:lnSpc>
              <a:spcBef>
                <a:spcPts val="5"/>
              </a:spcBef>
              <a:buSzPct val="93750"/>
              <a:buChar char="•"/>
              <a:tabLst>
                <a:tab pos="120014" algn="l"/>
              </a:tabLst>
            </a:pPr>
            <a:r>
              <a:rPr sz="1600" spc="-5" dirty="0">
                <a:latin typeface="Times New Roman" pitchFamily="18" charset="0"/>
                <a:cs typeface="Times New Roman" pitchFamily="18" charset="0"/>
              </a:rPr>
              <a:t>Conserve and recycle  resources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119380" indent="-107314">
              <a:lnSpc>
                <a:spcPct val="100000"/>
              </a:lnSpc>
              <a:buSzPct val="93750"/>
              <a:buChar char="•"/>
              <a:tabLst>
                <a:tab pos="120014" algn="l"/>
              </a:tabLst>
            </a:pPr>
            <a:r>
              <a:rPr sz="1600" spc="-20" dirty="0">
                <a:latin typeface="Times New Roman" pitchFamily="18" charset="0"/>
                <a:cs typeface="Times New Roman" pitchFamily="18" charset="0"/>
              </a:rPr>
              <a:t>Reduce</a:t>
            </a:r>
            <a:r>
              <a:rPr sz="16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5" dirty="0">
                <a:latin typeface="Times New Roman" pitchFamily="18" charset="0"/>
                <a:cs typeface="Times New Roman" pitchFamily="18" charset="0"/>
              </a:rPr>
              <a:t>waste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5803" y="5771802"/>
            <a:ext cx="156972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380" indent="-107314">
              <a:lnSpc>
                <a:spcPct val="100000"/>
              </a:lnSpc>
              <a:spcBef>
                <a:spcPts val="95"/>
              </a:spcBef>
              <a:buSzPct val="93750"/>
              <a:buChar char="•"/>
              <a:tabLst>
                <a:tab pos="120014" algn="l"/>
              </a:tabLst>
            </a:pPr>
            <a:r>
              <a:rPr sz="1600" spc="-5" dirty="0">
                <a:latin typeface="Times New Roman" pitchFamily="18" charset="0"/>
                <a:cs typeface="Times New Roman" pitchFamily="18" charset="0"/>
              </a:rPr>
              <a:t>Satisfy</a:t>
            </a:r>
            <a:r>
              <a:rPr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5" dirty="0">
                <a:latin typeface="Times New Roman" pitchFamily="18" charset="0"/>
                <a:cs typeface="Times New Roman" pitchFamily="18" charset="0"/>
              </a:rPr>
              <a:t>needs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119380" indent="-107314">
              <a:lnSpc>
                <a:spcPct val="100000"/>
              </a:lnSpc>
              <a:buSzPct val="93750"/>
              <a:buChar char="•"/>
              <a:tabLst>
                <a:tab pos="120014" algn="l"/>
              </a:tabLst>
            </a:pPr>
            <a:r>
              <a:rPr sz="1600" spc="-5" dirty="0">
                <a:latin typeface="Times New Roman" pitchFamily="18" charset="0"/>
                <a:cs typeface="Times New Roman" pitchFamily="18" charset="0"/>
              </a:rPr>
              <a:t>Increase</a:t>
            </a:r>
            <a:r>
              <a:rPr sz="16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spc="-5" dirty="0">
                <a:latin typeface="Times New Roman" pitchFamily="18" charset="0"/>
                <a:cs typeface="Times New Roman" pitchFamily="18" charset="0"/>
              </a:rPr>
              <a:t>self-reliance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24241" y="3035816"/>
            <a:ext cx="2755583" cy="3137535"/>
            <a:chOff x="4565650" y="3035807"/>
            <a:chExt cx="3674110" cy="3137535"/>
          </a:xfrm>
        </p:grpSpPr>
        <p:sp>
          <p:nvSpPr>
            <p:cNvPr id="9" name="object 9"/>
            <p:cNvSpPr/>
            <p:nvPr/>
          </p:nvSpPr>
          <p:spPr>
            <a:xfrm>
              <a:off x="5251386" y="3303341"/>
              <a:ext cx="792242" cy="68794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65650" y="3081654"/>
              <a:ext cx="1074420" cy="548005"/>
            </a:xfrm>
            <a:custGeom>
              <a:avLst/>
              <a:gdLst/>
              <a:ahLst/>
              <a:cxnLst/>
              <a:rect l="l" t="t" r="r" b="b"/>
              <a:pathLst>
                <a:path w="1074420" h="548004">
                  <a:moveTo>
                    <a:pt x="980897" y="519150"/>
                  </a:moveTo>
                  <a:lnTo>
                    <a:pt x="966597" y="547751"/>
                  </a:lnTo>
                  <a:lnTo>
                    <a:pt x="1073912" y="547751"/>
                  </a:lnTo>
                  <a:lnTo>
                    <a:pt x="1057814" y="526288"/>
                  </a:lnTo>
                  <a:lnTo>
                    <a:pt x="995172" y="526288"/>
                  </a:lnTo>
                  <a:lnTo>
                    <a:pt x="980897" y="519150"/>
                  </a:lnTo>
                  <a:close/>
                </a:path>
                <a:path w="1074420" h="548004">
                  <a:moveTo>
                    <a:pt x="995197" y="490549"/>
                  </a:moveTo>
                  <a:lnTo>
                    <a:pt x="980897" y="519150"/>
                  </a:lnTo>
                  <a:lnTo>
                    <a:pt x="995172" y="526288"/>
                  </a:lnTo>
                  <a:lnTo>
                    <a:pt x="1009523" y="497713"/>
                  </a:lnTo>
                  <a:lnTo>
                    <a:pt x="995197" y="490549"/>
                  </a:lnTo>
                  <a:close/>
                </a:path>
                <a:path w="1074420" h="548004">
                  <a:moveTo>
                    <a:pt x="1009523" y="461899"/>
                  </a:moveTo>
                  <a:lnTo>
                    <a:pt x="995197" y="490549"/>
                  </a:lnTo>
                  <a:lnTo>
                    <a:pt x="1009523" y="497713"/>
                  </a:lnTo>
                  <a:lnTo>
                    <a:pt x="995172" y="526288"/>
                  </a:lnTo>
                  <a:lnTo>
                    <a:pt x="1057814" y="526288"/>
                  </a:lnTo>
                  <a:lnTo>
                    <a:pt x="1009523" y="461899"/>
                  </a:lnTo>
                  <a:close/>
                </a:path>
                <a:path w="1074420" h="548004">
                  <a:moveTo>
                    <a:pt x="14224" y="0"/>
                  </a:moveTo>
                  <a:lnTo>
                    <a:pt x="0" y="28702"/>
                  </a:lnTo>
                  <a:lnTo>
                    <a:pt x="980897" y="519150"/>
                  </a:lnTo>
                  <a:lnTo>
                    <a:pt x="995197" y="490549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77389" y="3325339"/>
              <a:ext cx="713721" cy="7137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92161" y="3035807"/>
              <a:ext cx="847725" cy="622935"/>
            </a:xfrm>
            <a:custGeom>
              <a:avLst/>
              <a:gdLst/>
              <a:ahLst/>
              <a:cxnLst/>
              <a:rect l="l" t="t" r="r" b="b"/>
              <a:pathLst>
                <a:path w="847725" h="622935">
                  <a:moveTo>
                    <a:pt x="49403" y="527303"/>
                  </a:moveTo>
                  <a:lnTo>
                    <a:pt x="0" y="622553"/>
                  </a:lnTo>
                  <a:lnTo>
                    <a:pt x="105918" y="604900"/>
                  </a:lnTo>
                  <a:lnTo>
                    <a:pt x="93893" y="588390"/>
                  </a:lnTo>
                  <a:lnTo>
                    <a:pt x="74168" y="588390"/>
                  </a:lnTo>
                  <a:lnTo>
                    <a:pt x="55245" y="562609"/>
                  </a:lnTo>
                  <a:lnTo>
                    <a:pt x="68235" y="553161"/>
                  </a:lnTo>
                  <a:lnTo>
                    <a:pt x="49403" y="527303"/>
                  </a:lnTo>
                  <a:close/>
                </a:path>
                <a:path w="847725" h="622935">
                  <a:moveTo>
                    <a:pt x="68235" y="553161"/>
                  </a:moveTo>
                  <a:lnTo>
                    <a:pt x="55245" y="562609"/>
                  </a:lnTo>
                  <a:lnTo>
                    <a:pt x="74168" y="588390"/>
                  </a:lnTo>
                  <a:lnTo>
                    <a:pt x="87063" y="579012"/>
                  </a:lnTo>
                  <a:lnTo>
                    <a:pt x="68235" y="553161"/>
                  </a:lnTo>
                  <a:close/>
                </a:path>
                <a:path w="847725" h="622935">
                  <a:moveTo>
                    <a:pt x="87063" y="579012"/>
                  </a:moveTo>
                  <a:lnTo>
                    <a:pt x="74168" y="588390"/>
                  </a:lnTo>
                  <a:lnTo>
                    <a:pt x="93893" y="588390"/>
                  </a:lnTo>
                  <a:lnTo>
                    <a:pt x="87063" y="579012"/>
                  </a:lnTo>
                  <a:close/>
                </a:path>
                <a:path w="847725" h="622935">
                  <a:moveTo>
                    <a:pt x="828802" y="0"/>
                  </a:moveTo>
                  <a:lnTo>
                    <a:pt x="68235" y="553161"/>
                  </a:lnTo>
                  <a:lnTo>
                    <a:pt x="87063" y="579012"/>
                  </a:lnTo>
                  <a:lnTo>
                    <a:pt x="847598" y="25907"/>
                  </a:lnTo>
                  <a:lnTo>
                    <a:pt x="8288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5811" y="4710683"/>
              <a:ext cx="699515" cy="7696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11467" y="5182361"/>
              <a:ext cx="96520" cy="990600"/>
            </a:xfrm>
            <a:custGeom>
              <a:avLst/>
              <a:gdLst/>
              <a:ahLst/>
              <a:cxnLst/>
              <a:rect l="l" t="t" r="r" b="b"/>
              <a:pathLst>
                <a:path w="96520" h="990600">
                  <a:moveTo>
                    <a:pt x="64008" y="80009"/>
                  </a:moveTo>
                  <a:lnTo>
                    <a:pt x="32004" y="80009"/>
                  </a:lnTo>
                  <a:lnTo>
                    <a:pt x="32004" y="990600"/>
                  </a:lnTo>
                  <a:lnTo>
                    <a:pt x="64008" y="990600"/>
                  </a:lnTo>
                  <a:lnTo>
                    <a:pt x="64008" y="80009"/>
                  </a:lnTo>
                  <a:close/>
                </a:path>
                <a:path w="96520" h="990600">
                  <a:moveTo>
                    <a:pt x="48006" y="0"/>
                  </a:moveTo>
                  <a:lnTo>
                    <a:pt x="0" y="96012"/>
                  </a:lnTo>
                  <a:lnTo>
                    <a:pt x="32004" y="96012"/>
                  </a:lnTo>
                  <a:lnTo>
                    <a:pt x="32004" y="80009"/>
                  </a:lnTo>
                  <a:lnTo>
                    <a:pt x="88011" y="80009"/>
                  </a:lnTo>
                  <a:lnTo>
                    <a:pt x="48006" y="0"/>
                  </a:lnTo>
                  <a:close/>
                </a:path>
                <a:path w="96520" h="990600">
                  <a:moveTo>
                    <a:pt x="88011" y="80009"/>
                  </a:moveTo>
                  <a:lnTo>
                    <a:pt x="64008" y="80009"/>
                  </a:lnTo>
                  <a:lnTo>
                    <a:pt x="64008" y="96012"/>
                  </a:lnTo>
                  <a:lnTo>
                    <a:pt x="96012" y="96012"/>
                  </a:lnTo>
                  <a:lnTo>
                    <a:pt x="88011" y="80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35803" y="2889888"/>
            <a:ext cx="11316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1800" spc="-1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1800" spc="-5" dirty="0">
                <a:latin typeface="Times New Roman" pitchFamily="18" charset="0"/>
                <a:cs typeface="Times New Roman" pitchFamily="18" charset="0"/>
              </a:rPr>
              <a:t>ci</a:t>
            </a:r>
            <a:r>
              <a:rPr sz="1800" spc="-1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1800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1800" spc="-1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1800" dirty="0">
                <a:latin typeface="Times New Roman" pitchFamily="18" charset="0"/>
                <a:cs typeface="Times New Roman" pitchFamily="18" charset="0"/>
              </a:rPr>
              <a:t>sm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32208" y="2785113"/>
            <a:ext cx="18507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itchFamily="18" charset="0"/>
                <a:cs typeface="Times New Roman" pitchFamily="18" charset="0"/>
              </a:rPr>
              <a:t>Conservationism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889" y="6214672"/>
            <a:ext cx="132244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Ec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spc="-5" dirty="0">
                <a:latin typeface="Arial"/>
                <a:cs typeface="Arial"/>
              </a:rPr>
              <a:t>l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spc="-5" dirty="0">
                <a:latin typeface="Arial"/>
                <a:cs typeface="Arial"/>
              </a:rPr>
              <a:t>g</a:t>
            </a:r>
            <a:r>
              <a:rPr sz="1800" spc="-15" dirty="0">
                <a:latin typeface="Arial"/>
                <a:cs typeface="Arial"/>
              </a:rPr>
              <a:t>i</a:t>
            </a:r>
            <a:r>
              <a:rPr sz="1800" dirty="0">
                <a:latin typeface="Arial"/>
                <a:cs typeface="Arial"/>
              </a:rPr>
              <a:t>sm</a:t>
            </a:r>
          </a:p>
        </p:txBody>
      </p:sp>
    </p:spTree>
    <p:extLst>
      <p:ext uri="{BB962C8B-B14F-4D97-AF65-F5344CB8AC3E}">
        <p14:creationId xmlns:p14="http://schemas.microsoft.com/office/powerpoint/2010/main" val="7457003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7232" y="552365"/>
            <a:ext cx="7433768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three </a:t>
            </a:r>
            <a:r>
              <a:rPr spc="-20" dirty="0">
                <a:latin typeface="Times New Roman" pitchFamily="18" charset="0"/>
                <a:cs typeface="Times New Roman" pitchFamily="18" charset="0"/>
              </a:rPr>
              <a:t>core drivers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un-sustainability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7705" y="1716380"/>
            <a:ext cx="7713346" cy="29360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  <a:tabLst>
                <a:tab pos="355600" algn="l"/>
              </a:tabLst>
            </a:pPr>
            <a:r>
              <a:rPr sz="1600" spc="270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	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Consumption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469900" algn="just">
              <a:lnSpc>
                <a:spcPct val="100000"/>
              </a:lnSpc>
              <a:spcBef>
                <a:spcPts val="994"/>
              </a:spcBef>
            </a:pPr>
            <a:r>
              <a:rPr sz="1600" spc="270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Use of resources </a:t>
            </a:r>
            <a:r>
              <a:rPr sz="20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beyond </a:t>
            </a:r>
            <a:r>
              <a:rPr sz="20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reasonable limits </a:t>
            </a:r>
            <a:r>
              <a:rPr sz="20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set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sz="2000" spc="17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nature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  <a:tabLst>
                <a:tab pos="355600" algn="l"/>
              </a:tabLst>
            </a:pPr>
            <a:r>
              <a:rPr sz="1600" spc="270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	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Production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469900" algn="just">
              <a:lnSpc>
                <a:spcPct val="100000"/>
              </a:lnSpc>
              <a:spcBef>
                <a:spcPts val="994"/>
              </a:spcBef>
            </a:pPr>
            <a:r>
              <a:rPr sz="1600" spc="270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 </a:t>
            </a:r>
            <a:r>
              <a:rPr sz="20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Gross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inefficiencies </a:t>
            </a:r>
            <a:r>
              <a:rPr sz="20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production.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  <a:tabLst>
                <a:tab pos="355600" algn="l"/>
              </a:tabLst>
            </a:pPr>
            <a:r>
              <a:rPr sz="1600" spc="270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	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Distribution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469900" algn="just">
              <a:lnSpc>
                <a:spcPct val="100000"/>
              </a:lnSpc>
              <a:spcBef>
                <a:spcPts val="1005"/>
              </a:spcBef>
            </a:pPr>
            <a:r>
              <a:rPr sz="1600" spc="270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 </a:t>
            </a:r>
            <a:r>
              <a:rPr sz="20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Inequitable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distribution </a:t>
            </a:r>
            <a:r>
              <a:rPr sz="2000" spc="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e.g.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distribution </a:t>
            </a:r>
            <a:r>
              <a:rPr sz="20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of global </a:t>
            </a:r>
            <a:r>
              <a:rPr sz="20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income between rich </a:t>
            </a:r>
            <a:r>
              <a:rPr sz="20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9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poor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9886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0567" y="2286009"/>
            <a:ext cx="433168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Solution</a:t>
            </a:r>
            <a:endParaRPr sz="6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0155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761" y="1594637"/>
            <a:ext cx="6500813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pc="145" dirty="0">
                <a:solidFill>
                  <a:srgbClr val="000000"/>
                </a:solidFill>
                <a:latin typeface="Arial"/>
                <a:cs typeface="Arial"/>
              </a:rPr>
              <a:t>“</a:t>
            </a:r>
            <a:r>
              <a:rPr b="1" spc="145" dirty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b="1" spc="5" dirty="0">
                <a:solidFill>
                  <a:srgbClr val="000000"/>
                </a:solidFill>
                <a:latin typeface="Times New Roman"/>
                <a:cs typeface="Times New Roman"/>
              </a:rPr>
              <a:t>significant </a:t>
            </a:r>
            <a:r>
              <a:rPr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problems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we face </a:t>
            </a:r>
            <a:r>
              <a:rPr b="1" spc="-5" dirty="0">
                <a:solidFill>
                  <a:srgbClr val="000000"/>
                </a:solidFill>
                <a:latin typeface="Times New Roman"/>
                <a:cs typeface="Times New Roman"/>
              </a:rPr>
              <a:t>cannot</a:t>
            </a:r>
            <a:r>
              <a:rPr b="1" spc="-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30" dirty="0">
                <a:solidFill>
                  <a:srgbClr val="000000"/>
                </a:solidFill>
                <a:latin typeface="Times New Roman"/>
                <a:cs typeface="Times New Roman"/>
              </a:rPr>
              <a:t>be  </a:t>
            </a:r>
            <a:r>
              <a:rPr b="1" spc="-5" dirty="0">
                <a:solidFill>
                  <a:srgbClr val="000000"/>
                </a:solidFill>
                <a:latin typeface="Times New Roman"/>
                <a:cs typeface="Times New Roman"/>
              </a:rPr>
              <a:t>solved </a:t>
            </a:r>
            <a:r>
              <a:rPr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at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b="1" spc="35" dirty="0">
                <a:solidFill>
                  <a:srgbClr val="000000"/>
                </a:solidFill>
                <a:latin typeface="Times New Roman"/>
                <a:cs typeface="Times New Roman"/>
              </a:rPr>
              <a:t>same </a:t>
            </a:r>
            <a:r>
              <a:rPr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level </a:t>
            </a:r>
            <a:r>
              <a:rPr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of </a:t>
            </a:r>
            <a:r>
              <a:rPr b="1" spc="-5" dirty="0">
                <a:solidFill>
                  <a:srgbClr val="000000"/>
                </a:solidFill>
                <a:latin typeface="Times New Roman"/>
                <a:cs typeface="Times New Roman"/>
              </a:rPr>
              <a:t>thinking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we </a:t>
            </a:r>
            <a:r>
              <a:rPr b="1" spc="-65" dirty="0">
                <a:solidFill>
                  <a:srgbClr val="000000"/>
                </a:solidFill>
                <a:latin typeface="Times New Roman"/>
                <a:cs typeface="Times New Roman"/>
              </a:rPr>
              <a:t>were  </a:t>
            </a:r>
            <a:r>
              <a:rPr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at </a:t>
            </a:r>
            <a:r>
              <a:rPr b="1" spc="-5" dirty="0">
                <a:solidFill>
                  <a:srgbClr val="000000"/>
                </a:solidFill>
                <a:latin typeface="Times New Roman"/>
                <a:cs typeface="Times New Roman"/>
              </a:rPr>
              <a:t>when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we </a:t>
            </a:r>
            <a:r>
              <a:rPr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created </a:t>
            </a:r>
            <a:r>
              <a:rPr b="1" spc="25" dirty="0">
                <a:solidFill>
                  <a:srgbClr val="000000"/>
                </a:solidFill>
                <a:latin typeface="Times New Roman"/>
                <a:cs typeface="Times New Roman"/>
              </a:rPr>
              <a:t>them</a:t>
            </a:r>
            <a:r>
              <a:rPr spc="25" dirty="0">
                <a:solidFill>
                  <a:srgbClr val="000000"/>
                </a:solidFill>
                <a:latin typeface="Arial"/>
                <a:cs typeface="Arial"/>
              </a:rPr>
              <a:t>.” </a:t>
            </a:r>
            <a:r>
              <a:rPr spc="-75" dirty="0">
                <a:solidFill>
                  <a:srgbClr val="000000"/>
                </a:solidFill>
                <a:latin typeface="Times New Roman"/>
                <a:cs typeface="Times New Roman"/>
              </a:rPr>
              <a:t>- </a:t>
            </a:r>
            <a:r>
              <a:rPr spc="-50" dirty="0">
                <a:solidFill>
                  <a:srgbClr val="000000"/>
                </a:solidFill>
                <a:latin typeface="Times New Roman"/>
                <a:cs typeface="Times New Roman"/>
              </a:rPr>
              <a:t>Albert</a:t>
            </a:r>
            <a:r>
              <a:rPr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40" dirty="0">
                <a:solidFill>
                  <a:srgbClr val="000000"/>
                </a:solidFill>
                <a:latin typeface="Times New Roman"/>
                <a:cs typeface="Times New Roman"/>
              </a:rPr>
              <a:t>Einstein</a:t>
            </a:r>
          </a:p>
        </p:txBody>
      </p:sp>
    </p:spTree>
    <p:extLst>
      <p:ext uri="{BB962C8B-B14F-4D97-AF65-F5344CB8AC3E}">
        <p14:creationId xmlns:p14="http://schemas.microsoft.com/office/powerpoint/2010/main" val="18389401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120" y="339606"/>
            <a:ext cx="6572917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solidFill>
                  <a:srgbClr val="2C3B43"/>
                </a:solidFill>
                <a:latin typeface="Times New Roman" pitchFamily="18" charset="0"/>
                <a:cs typeface="Times New Roman" pitchFamily="18" charset="0"/>
              </a:rPr>
              <a:t>Sustainability:</a:t>
            </a:r>
            <a:r>
              <a:rPr sz="4400" spc="-70" dirty="0">
                <a:solidFill>
                  <a:srgbClr val="2C3B4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spc="-5" dirty="0">
                <a:solidFill>
                  <a:srgbClr val="2C3B43"/>
                </a:solidFill>
                <a:latin typeface="Times New Roman" pitchFamily="18" charset="0"/>
                <a:cs typeface="Times New Roman" pitchFamily="18" charset="0"/>
              </a:rPr>
              <a:t>Solutions</a:t>
            </a:r>
            <a:endParaRPr sz="4400" spc="-5" dirty="0">
              <a:solidFill>
                <a:srgbClr val="2C3B4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350" y="1296187"/>
            <a:ext cx="6915150" cy="485709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2C3B43"/>
              </a:buClr>
              <a:buSzPct val="75000"/>
              <a:buFont typeface="Wingdings"/>
              <a:buChar char=""/>
              <a:tabLst>
                <a:tab pos="355600" algn="l"/>
              </a:tabLst>
            </a:pPr>
            <a:r>
              <a:rPr sz="2800" spc="-15" dirty="0">
                <a:latin typeface="Times New Roman" pitchFamily="18" charset="0"/>
                <a:cs typeface="Times New Roman" pitchFamily="18" charset="0"/>
              </a:rPr>
              <a:t>Cyclical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material use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spc="-15" dirty="0">
                <a:latin typeface="Times New Roman" pitchFamily="18" charset="0"/>
                <a:cs typeface="Times New Roman" pitchFamily="18" charset="0"/>
              </a:rPr>
              <a:t>emulate </a:t>
            </a:r>
            <a:r>
              <a:rPr sz="2800" spc="-20" dirty="0">
                <a:latin typeface="Times New Roman" pitchFamily="18" charset="0"/>
                <a:cs typeface="Times New Roman" pitchFamily="18" charset="0"/>
              </a:rPr>
              <a:t>natural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cycles; 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sz="2800" spc="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60" dirty="0">
                <a:latin typeface="Times New Roman" pitchFamily="18" charset="0"/>
                <a:cs typeface="Times New Roman" pitchFamily="18" charset="0"/>
              </a:rPr>
              <a:t>R’s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2C3B43"/>
              </a:buClr>
              <a:buSzPct val="75000"/>
              <a:buFont typeface="Wingdings"/>
              <a:buChar char=""/>
              <a:tabLst>
                <a:tab pos="355600" algn="l"/>
              </a:tabLst>
            </a:pPr>
            <a:r>
              <a:rPr sz="2800" spc="-25" dirty="0">
                <a:latin typeface="Times New Roman" pitchFamily="18" charset="0"/>
                <a:cs typeface="Times New Roman" pitchFamily="18" charset="0"/>
              </a:rPr>
              <a:t>Safe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reliable</a:t>
            </a:r>
            <a:r>
              <a:rPr sz="28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5" dirty="0">
                <a:latin typeface="Times New Roman" pitchFamily="18" charset="0"/>
                <a:cs typeface="Times New Roman" pitchFamily="18" charset="0"/>
              </a:rPr>
              <a:t>energy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spc="-10" dirty="0">
                <a:latin typeface="Times New Roman" pitchFamily="18" charset="0"/>
                <a:cs typeface="Times New Roman" pitchFamily="18" charset="0"/>
              </a:rPr>
              <a:t>conservation, </a:t>
            </a:r>
            <a:r>
              <a:rPr sz="2800" spc="-15" dirty="0">
                <a:latin typeface="Times New Roman" pitchFamily="18" charset="0"/>
                <a:cs typeface="Times New Roman" pitchFamily="18" charset="0"/>
              </a:rPr>
              <a:t>renewable </a:t>
            </a:r>
            <a:r>
              <a:rPr sz="2800" spc="-40" dirty="0">
                <a:latin typeface="Times New Roman" pitchFamily="18" charset="0"/>
                <a:cs typeface="Times New Roman" pitchFamily="18" charset="0"/>
              </a:rPr>
              <a:t>energy,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substitution,  </a:t>
            </a:r>
            <a:r>
              <a:rPr sz="2800" spc="-15" dirty="0" err="1">
                <a:latin typeface="Times New Roman" pitchFamily="18" charset="0"/>
                <a:cs typeface="Times New Roman" pitchFamily="18" charset="0"/>
              </a:rPr>
              <a:t>interm</a:t>
            </a:r>
            <a:r>
              <a:rPr sz="28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measures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2C3B43"/>
              </a:buClr>
              <a:buSzPct val="75000"/>
              <a:buFont typeface="Wingdings"/>
              <a:buChar char=""/>
              <a:tabLst>
                <a:tab pos="355600" algn="l"/>
              </a:tabLst>
            </a:pPr>
            <a:r>
              <a:rPr sz="2800" spc="-15" dirty="0">
                <a:latin typeface="Times New Roman" pitchFamily="18" charset="0"/>
                <a:cs typeface="Times New Roman" pitchFamily="18" charset="0"/>
              </a:rPr>
              <a:t>Life-based</a:t>
            </a:r>
            <a:r>
              <a:rPr sz="28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0" dirty="0">
                <a:latin typeface="Times New Roman" pitchFamily="18" charset="0"/>
                <a:cs typeface="Times New Roman" pitchFamily="18" charset="0"/>
              </a:rPr>
              <a:t>interests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756285" marR="110553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spc="-10" dirty="0">
                <a:latin typeface="Times New Roman" pitchFamily="18" charset="0"/>
                <a:cs typeface="Times New Roman" pitchFamily="18" charset="0"/>
              </a:rPr>
              <a:t>health, </a:t>
            </a:r>
            <a:r>
              <a:rPr sz="2800" spc="-30" dirty="0">
                <a:latin typeface="Times New Roman" pitchFamily="18" charset="0"/>
                <a:cs typeface="Times New Roman" pitchFamily="18" charset="0"/>
              </a:rPr>
              <a:t>creativity,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communication,  </a:t>
            </a:r>
            <a:r>
              <a:rPr sz="2800" spc="-15" dirty="0">
                <a:latin typeface="Times New Roman" pitchFamily="18" charset="0"/>
                <a:cs typeface="Times New Roman" pitchFamily="18" charset="0"/>
              </a:rPr>
              <a:t>coordination,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appreciation, 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learning, 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intellectual 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spiritual</a:t>
            </a:r>
            <a:r>
              <a:rPr sz="2800" spc="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5" dirty="0">
                <a:latin typeface="Times New Roman" pitchFamily="18" charset="0"/>
                <a:cs typeface="Times New Roman" pitchFamily="18" charset="0"/>
              </a:rPr>
              <a:t>development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450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7235" y="567606"/>
            <a:ext cx="42905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4351" y="2507743"/>
            <a:ext cx="7033718" cy="298286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2800" spc="240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	</a:t>
            </a:r>
            <a:r>
              <a:rPr sz="28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8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sz="28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long journey towards</a:t>
            </a:r>
            <a:r>
              <a:rPr sz="2800" spc="-3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SD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800" spc="235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	</a:t>
            </a:r>
            <a:r>
              <a:rPr sz="28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End-point not</a:t>
            </a:r>
            <a:r>
              <a:rPr sz="2800" spc="-1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definable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2800" spc="235" dirty="0">
                <a:solidFill>
                  <a:srgbClr val="90C225"/>
                </a:solidFill>
                <a:latin typeface="Times New Roman" pitchFamily="18" charset="0"/>
                <a:cs typeface="Times New Roman" pitchFamily="18" charset="0"/>
              </a:rPr>
              <a:t>	</a:t>
            </a:r>
            <a:r>
              <a:rPr sz="28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sz="28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country/region has different goals, based on economic circumstances,  population </a:t>
            </a:r>
            <a:r>
              <a:rPr sz="28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size, stage </a:t>
            </a:r>
            <a:r>
              <a:rPr sz="28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800" spc="-5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development, resource endowment</a:t>
            </a:r>
            <a:r>
              <a:rPr sz="280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etc….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59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1261</TotalTime>
  <Words>4638</Words>
  <Application>Microsoft Office PowerPoint</Application>
  <PresentationFormat>On-screen Show (4:3)</PresentationFormat>
  <Paragraphs>443</Paragraphs>
  <Slides>95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3" baseType="lpstr">
      <vt:lpstr>Arial</vt:lpstr>
      <vt:lpstr>Calibri</vt:lpstr>
      <vt:lpstr>Carlito</vt:lpstr>
      <vt:lpstr>Comic Sans MS</vt:lpstr>
      <vt:lpstr>Times New Roman</vt:lpstr>
      <vt:lpstr>Trebuchet MS</vt:lpstr>
      <vt:lpstr>Wingdings</vt:lpstr>
      <vt:lpstr>Office Theme</vt:lpstr>
      <vt:lpstr>HS 26 Environmental Studies</vt:lpstr>
      <vt:lpstr>PowerPoint Presentation</vt:lpstr>
      <vt:lpstr>Environmental science</vt:lpstr>
      <vt:lpstr>Components of environment</vt:lpstr>
      <vt:lpstr>Functions of atmosphere</vt:lpstr>
      <vt:lpstr>Structure of atmosphere</vt:lpstr>
      <vt:lpstr>Energy components</vt:lpstr>
      <vt:lpstr>Scope of environmental studies</vt:lpstr>
      <vt:lpstr>Need for public awareness</vt:lpstr>
      <vt:lpstr>PowerPoint Presentation</vt:lpstr>
      <vt:lpstr>ECOSYSTEM</vt:lpstr>
      <vt:lpstr>ABIOTIC COMPONENTS</vt:lpstr>
      <vt:lpstr>PowerPoint Presentation</vt:lpstr>
      <vt:lpstr>MEMBERS OF BIOTIC  COMPONENTS</vt:lpstr>
      <vt:lpstr>PowerPoint Presentation</vt:lpstr>
      <vt:lpstr>PowerPoint Presentation</vt:lpstr>
      <vt:lpstr>ENERGY FLOW IN ECOSYSTEM</vt:lpstr>
      <vt:lpstr>The Water Cycle</vt:lpstr>
      <vt:lpstr>Global Carbon Cycle</vt:lpstr>
      <vt:lpstr>PowerPoint Presentation</vt:lpstr>
      <vt:lpstr>The N cycle over land</vt:lpstr>
      <vt:lpstr>PowerPoint Presentation</vt:lpstr>
      <vt:lpstr>PowerPoint Presentation</vt:lpstr>
      <vt:lpstr>The P cycle</vt:lpstr>
      <vt:lpstr>PowerPoint Presentation</vt:lpstr>
      <vt:lpstr>PowerPoint Presentation</vt:lpstr>
      <vt:lpstr>Tropic Levels</vt:lpstr>
      <vt:lpstr>PowerPoint Presentation</vt:lpstr>
      <vt:lpstr>PowerPoint Presentation</vt:lpstr>
      <vt:lpstr>ECOLOGICAL SUCCESSION</vt:lpstr>
      <vt:lpstr>2. Secondary succession.</vt:lpstr>
      <vt:lpstr>PowerPoint Presentation</vt:lpstr>
      <vt:lpstr>FOOD CHAIN IN ECOSYSTEM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Significance of food chains and food webs</vt:lpstr>
      <vt:lpstr>PowerPoint Presentation</vt:lpstr>
      <vt:lpstr>Types of Ecological Pyramids The ecological pyramids may be of  following three kinds</vt:lpstr>
      <vt:lpstr>Pyramid of number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FOREST ECOSYSTEM</vt:lpstr>
      <vt:lpstr>PowerPoint Presentation</vt:lpstr>
      <vt:lpstr>GRASSLAND ECOSYSTEM</vt:lpstr>
      <vt:lpstr>Structure and function of the grassland Ecosystems:</vt:lpstr>
      <vt:lpstr>DESERT ECOSYSTEM</vt:lpstr>
      <vt:lpstr>PowerPoint Presentation</vt:lpstr>
      <vt:lpstr>AQUATIC (Water) ECOSYSTEMS</vt:lpstr>
      <vt:lpstr>PowerPoint Presentation</vt:lpstr>
      <vt:lpstr>Structure and function of aquatic  ecosystem</vt:lpstr>
      <vt:lpstr>Biodiversity and its conservation</vt:lpstr>
      <vt:lpstr>PowerPoint Presentation</vt:lpstr>
      <vt:lpstr>GENETIC DIVERSITY</vt:lpstr>
      <vt:lpstr>PowerPoint Presentation</vt:lpstr>
      <vt:lpstr>SPECIES DIVERSITY</vt:lpstr>
      <vt:lpstr>PowerPoint Presentation</vt:lpstr>
      <vt:lpstr>PowerPoint Presentation</vt:lpstr>
      <vt:lpstr>ECOSYSTEM DIVERSITY</vt:lpstr>
      <vt:lpstr>PowerPoint Presentation</vt:lpstr>
      <vt:lpstr>PowerPoint Presentation</vt:lpstr>
      <vt:lpstr>Value of Bio-Diversity</vt:lpstr>
      <vt:lpstr>Drugs and medicines:</vt:lpstr>
      <vt:lpstr>Fuel: Our forests have been used since ages for fuel  wood. The fossil fuels coal, petroleum and natural  gas are also products of fossilized biodiversity.</vt:lpstr>
      <vt:lpstr>PowerPoint Presentation</vt:lpstr>
      <vt:lpstr>PowerPoint Presentation</vt:lpstr>
      <vt:lpstr>PowerPoint Presentation</vt:lpstr>
      <vt:lpstr>Threats to Bio-Diversity</vt:lpstr>
      <vt:lpstr>PowerPoint Presentation</vt:lpstr>
      <vt:lpstr>PowerPoint Presentation</vt:lpstr>
      <vt:lpstr>PowerPoint Presentation</vt:lpstr>
      <vt:lpstr>Endangered Species  of India</vt:lpstr>
      <vt:lpstr>Reptiles:</vt:lpstr>
      <vt:lpstr>Conservation of Bio-Diversity</vt:lpstr>
      <vt:lpstr>PowerPoint Presentation</vt:lpstr>
      <vt:lpstr>Definition of Sustainable Development</vt:lpstr>
      <vt:lpstr>3 Dimensions</vt:lpstr>
      <vt:lpstr>PowerPoint Presentation</vt:lpstr>
      <vt:lpstr>What makes SD</vt:lpstr>
      <vt:lpstr>PowerPoint Presentation</vt:lpstr>
      <vt:lpstr>Sustainable Society</vt:lpstr>
      <vt:lpstr>3 Approaches</vt:lpstr>
      <vt:lpstr>Global Sustainability</vt:lpstr>
      <vt:lpstr>The three core drivers of un-sustainability</vt:lpstr>
      <vt:lpstr>Solution</vt:lpstr>
      <vt:lpstr>“The significant problems we face cannot be  solved at the same level of thinking we were  at when we created them.” - Albert Einstein</vt:lpstr>
      <vt:lpstr>Sustainability: Solutions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 26 Environmental Studies</dc:title>
  <dc:creator>admin</dc:creator>
  <cp:lastModifiedBy>Lakshmi H S</cp:lastModifiedBy>
  <cp:revision>8</cp:revision>
  <dcterms:created xsi:type="dcterms:W3CDTF">2020-08-12T09:56:41Z</dcterms:created>
  <dcterms:modified xsi:type="dcterms:W3CDTF">2021-09-08T08:53:23Z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2020-08-12T00:00:00Z</vt:filetime>
  </property>
</Properties>
</file>