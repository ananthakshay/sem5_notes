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5.4 – Validation of Regression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Detailed classroom presentation based on the Chapter 5 material.</a:t>
            </a:r>
          </a:p>
          <a:p>
            <a:pPr>
              <a:spcAft>
                <a:spcPts val="700"/>
              </a:spcAft>
              <a:defRPr sz="2000"/>
            </a:pPr>
            <a:r>
              <a:t>Validation metrics: Standard Error / Residual Standard Error, MAE, MSE, RMSE, Relative MSE, Coefficient of Variation, r² and Standard Error Estimate.</a:t>
            </a:r>
          </a:p>
          <a:p>
            <a:pPr>
              <a:spcAft>
                <a:spcPts val="700"/>
              </a:spcAft>
              <a:defRPr sz="2000"/>
            </a:pPr>
            <a:r>
              <a:t>Includes the textbook worked validation example and additional step-by-step problems.</a:t>
            </a:r>
          </a:p>
          <a:p>
            <a:pPr>
              <a:spcAft>
                <a:spcPts val="700"/>
              </a:spcAft>
              <a:defRPr sz="2000"/>
            </a:pPr>
            <a:r>
              <a:t>Textbook section: pp. 138–141.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Explain why a fitted regression model must be validated.</a:t>
            </a:r>
          </a:p>
          <a:p>
            <a:pPr>
              <a:spcAft>
                <a:spcPts val="700"/>
              </a:spcAft>
              <a:defRPr sz="2000"/>
            </a:pPr>
            <a:r>
              <a:t>Calculate MAE, MSE and RMSE from actual and predicted values.</a:t>
            </a:r>
          </a:p>
          <a:p>
            <a:pPr>
              <a:spcAft>
                <a:spcPts val="700"/>
              </a:spcAft>
              <a:defRPr sz="2000"/>
            </a:pPr>
            <a:r>
              <a:t>Understand Relative MSE and its interpretation.</a:t>
            </a:r>
          </a:p>
          <a:p>
            <a:pPr>
              <a:spcAft>
                <a:spcPts val="700"/>
              </a:spcAft>
              <a:defRPr sz="2000"/>
            </a:pPr>
            <a:r>
              <a:t>Calculate and interpret the coefficient of variation.</a:t>
            </a:r>
          </a:p>
          <a:p>
            <a:pPr>
              <a:spcAft>
                <a:spcPts val="700"/>
              </a:spcAft>
              <a:defRPr sz="2000"/>
            </a:pPr>
            <a:r>
              <a:t>Calculate coefficient of determination r².</a:t>
            </a:r>
          </a:p>
          <a:p>
            <a:pPr>
              <a:spcAft>
                <a:spcPts val="700"/>
              </a:spcAft>
              <a:defRPr sz="2000"/>
            </a:pPr>
            <a:r>
              <a:t>Understand explained and unexplained variation.</a:t>
            </a:r>
          </a:p>
          <a:p>
            <a:pPr>
              <a:spcAft>
                <a:spcPts val="700"/>
              </a:spcAft>
              <a:defRPr sz="2000"/>
            </a:pPr>
            <a:r>
              <a:t>Calculate and interpret a standard error estimate.</a:t>
            </a:r>
          </a:p>
          <a:p>
            <a:pPr>
              <a:spcAft>
                <a:spcPts val="700"/>
              </a:spcAft>
              <a:defRPr sz="2000"/>
            </a:pPr>
            <a:r>
              <a:t>Compare two regression models using validation metrics.</a:t>
            </a:r>
          </a:p>
          <a:p>
            <a:pPr>
              <a:spcAft>
                <a:spcPts val="700"/>
              </a:spcAft>
              <a:defRPr sz="2000"/>
            </a:pPr>
            <a:r>
              <a:t>Select appropriate metrics for a regression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Validate a Regression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 regression equation can produce predictions, but the equation alone does not tell us how accurate those predictions are.</a:t>
            </a:r>
          </a:p>
          <a:p>
            <a:pPr>
              <a:spcAft>
                <a:spcPts val="700"/>
              </a:spcAft>
              <a:defRPr sz="2000"/>
            </a:pPr>
            <a:r>
              <a:t>Validation compares observed/actual response values with predicted values.</a:t>
            </a:r>
          </a:p>
          <a:p>
            <a:pPr>
              <a:spcAft>
                <a:spcPts val="700"/>
              </a:spcAft>
              <a:defRPr sz="2000"/>
            </a:pPr>
            <a:r>
              <a:t>A good validation process quantifies prediction error and goodness of fit.</a:t>
            </a:r>
          </a:p>
          <a:p>
            <a:pPr>
              <a:spcAft>
                <a:spcPts val="700"/>
              </a:spcAft>
              <a:defRPr sz="2000"/>
            </a:pPr>
            <a:r>
              <a:t>Different metrics emphasize different aspects of model performance.</a:t>
            </a:r>
          </a:p>
          <a:p>
            <a:pPr>
              <a:spcAft>
                <a:spcPts val="700"/>
              </a:spcAft>
              <a:defRPr sz="2000"/>
            </a:pPr>
            <a:r>
              <a:t>The chapter emphasizes MAE, MSE, RMSE, RelMSE, CV, r² and standard error estimate.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5.4 – Validation Measures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What it tells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Preferred direction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Average absolute prediction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Average squared prediction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Error on original response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Error relative to a reference/variability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is better; 0 is perfect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Variability relative to the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Context dependent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Proportion of response variation explained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Higher is generally better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Standard Error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Residual spread around fitted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generally indicates tighter fit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Residuals – Starting Point for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For each observation, residual eᵢ = yᵢ − ŷᵢ.</a:t>
            </a:r>
          </a:p>
          <a:p>
            <a:pPr>
              <a:spcAft>
                <a:spcPts val="700"/>
              </a:spcAft>
              <a:defRPr sz="2000"/>
            </a:pPr>
            <a:r>
              <a:t>Actual value yᵢ: observed response.</a:t>
            </a:r>
          </a:p>
          <a:p>
            <a:pPr>
              <a:spcAft>
                <a:spcPts val="700"/>
              </a:spcAft>
              <a:defRPr sz="2000"/>
            </a:pPr>
            <a:r>
              <a:t>Predicted value ŷᵢ: value generated by the regression model.</a:t>
            </a:r>
          </a:p>
          <a:p>
            <a:pPr>
              <a:spcAft>
                <a:spcPts val="700"/>
              </a:spcAft>
              <a:defRPr sz="2000"/>
            </a:pPr>
            <a:r>
              <a:t>Residuals may be positive, negative or zero.</a:t>
            </a:r>
          </a:p>
          <a:p>
            <a:pPr>
              <a:spcAft>
                <a:spcPts val="700"/>
              </a:spcAft>
              <a:defRPr sz="2000"/>
            </a:pPr>
            <a:r>
              <a:t>Validation measures summarize these residuals over all observations.</a:t>
            </a:r>
          </a:p>
          <a:p>
            <a:pPr>
              <a:spcAft>
                <a:spcPts val="700"/>
              </a:spcAft>
              <a:defRPr sz="2000"/>
            </a:pPr>
            <a:r>
              <a:t>Large residuals indicate predictions that are far from observations.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Mean Absolute Error (MAE)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pp. 138–139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MAE is the average absolute prediction error.</a:t>
            </a:r>
          </a:p>
          <a:p>
            <a:pPr>
              <a:spcAft>
                <a:spcPts val="700"/>
              </a:spcAft>
              <a:defRPr sz="2000"/>
            </a:pPr>
            <a:r>
              <a:t>Formula: MAE = (1/n) Σ |yᵢ − ŷᵢ|.</a:t>
            </a:r>
          </a:p>
          <a:p>
            <a:pPr>
              <a:spcAft>
                <a:spcPts val="700"/>
              </a:spcAft>
              <a:defRPr sz="2000"/>
            </a:pPr>
            <a:r>
              <a:t>Absolute values prevent positive and negative errors from cancelling.</a:t>
            </a:r>
          </a:p>
          <a:p>
            <a:pPr>
              <a:spcAft>
                <a:spcPts val="700"/>
              </a:spcAft>
              <a:defRPr sz="2000"/>
            </a:pPr>
            <a:r>
              <a:t>MAE remains in the original units of the response variable.</a:t>
            </a:r>
          </a:p>
          <a:p>
            <a:pPr>
              <a:spcAft>
                <a:spcPts val="700"/>
              </a:spcAft>
              <a:defRPr sz="2000"/>
            </a:pPr>
            <a:r>
              <a:t>Lower MAE indicates smaller average absolute prediction error.</a:t>
            </a:r>
          </a:p>
          <a:p>
            <a:pPr>
              <a:spcAft>
                <a:spcPts val="700"/>
              </a:spcAft>
              <a:defRPr sz="2000"/>
            </a:pPr>
            <a:r>
              <a:t>MAE gives every absolute error equal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Mean Squared Error (MSE)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pp. 138–139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MSE is the average of squared prediction errors.</a:t>
            </a:r>
          </a:p>
          <a:p>
            <a:pPr>
              <a:spcAft>
                <a:spcPts val="700"/>
              </a:spcAft>
              <a:defRPr sz="2000"/>
            </a:pPr>
            <a:r>
              <a:t>Formula: MSE = (1/n) Σ(yᵢ − ŷᵢ)².</a:t>
            </a:r>
          </a:p>
          <a:p>
            <a:pPr>
              <a:spcAft>
                <a:spcPts val="700"/>
              </a:spcAft>
              <a:defRPr sz="2000"/>
            </a:pPr>
            <a:r>
              <a:t>Squaring prevents positive and negative errors from cancelling.</a:t>
            </a:r>
          </a:p>
          <a:p>
            <a:pPr>
              <a:spcAft>
                <a:spcPts val="700"/>
              </a:spcAft>
              <a:defRPr sz="2000"/>
            </a:pPr>
            <a:r>
              <a:t>Large errors receive disproportionately greater weight.</a:t>
            </a:r>
          </a:p>
          <a:p>
            <a:pPr>
              <a:spcAft>
                <a:spcPts val="700"/>
              </a:spcAft>
              <a:defRPr sz="2000"/>
            </a:pPr>
            <a:r>
              <a:t>MSE is expressed in squared units of the response variable.</a:t>
            </a:r>
          </a:p>
          <a:p>
            <a:pPr>
              <a:spcAft>
                <a:spcPts val="700"/>
              </a:spcAft>
              <a:defRPr sz="2000"/>
            </a:pPr>
            <a:r>
              <a:t>Lower MSE indicates better fit under this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Root Mean Squared Error (RMSE)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pp. 139–140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RMSE is the square root of MSE.</a:t>
            </a:r>
          </a:p>
          <a:p>
            <a:pPr>
              <a:spcAft>
                <a:spcPts val="700"/>
              </a:spcAft>
              <a:defRPr sz="2000"/>
            </a:pPr>
            <a:r>
              <a:t>Formula: RMSE = √MSE.</a:t>
            </a:r>
          </a:p>
          <a:p>
            <a:pPr>
              <a:spcAft>
                <a:spcPts val="700"/>
              </a:spcAft>
              <a:defRPr sz="2000"/>
            </a:pPr>
            <a:r>
              <a:t>It returns the metric to the same units as the response variable.</a:t>
            </a:r>
          </a:p>
          <a:p>
            <a:pPr>
              <a:spcAft>
                <a:spcPts val="700"/>
              </a:spcAft>
              <a:defRPr sz="2000"/>
            </a:pPr>
            <a:r>
              <a:t>RMSE is particularly useful when we want error magnitude in the original measurement scale.</a:t>
            </a:r>
          </a:p>
          <a:p>
            <a:pPr>
              <a:spcAft>
                <a:spcPts val="700"/>
              </a:spcAft>
              <a:defRPr sz="2000"/>
            </a:pPr>
            <a:r>
              <a:t>Lower RMSE generally indicates better predictive accuracy.</a:t>
            </a:r>
          </a:p>
          <a:p>
            <a:pPr>
              <a:spcAft>
                <a:spcPts val="700"/>
              </a:spcAft>
              <a:defRPr sz="2000"/>
            </a:pPr>
            <a:r>
              <a:t>Example from the chapter: MSE = 62.5 → RMSE = √62.5 ≈ 7.91.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1 – Textbook Validation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pp. 139–140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values: y = [80, 75].</a:t>
            </a:r>
          </a:p>
          <a:p>
            <a:pPr>
              <a:spcAft>
                <a:spcPts val="700"/>
              </a:spcAft>
              <a:defRPr sz="2000"/>
            </a:pPr>
            <a:r>
              <a:t>Predicted values: ŷ = [75, 85].</a:t>
            </a:r>
          </a:p>
          <a:p>
            <a:pPr>
              <a:spcAft>
                <a:spcPts val="700"/>
              </a:spcAft>
              <a:defRPr sz="2000"/>
            </a:pPr>
            <a:r>
              <a:t>Step 1: calculate the residuals.</a:t>
            </a:r>
          </a:p>
          <a:p>
            <a:pPr>
              <a:spcAft>
                <a:spcPts val="700"/>
              </a:spcAft>
              <a:defRPr sz="2000"/>
            </a:pPr>
            <a:r>
              <a:t>Step 2: calculate MAE.</a:t>
            </a:r>
          </a:p>
          <a:p>
            <a:pPr>
              <a:spcAft>
                <a:spcPts val="700"/>
              </a:spcAft>
              <a:defRPr sz="2000"/>
            </a:pPr>
            <a:r>
              <a:t>Step 3: calculate MSE.</a:t>
            </a:r>
          </a:p>
          <a:p>
            <a:pPr>
              <a:spcAft>
                <a:spcPts val="700"/>
              </a:spcAft>
              <a:defRPr sz="2000"/>
            </a:pPr>
            <a:r>
              <a:t>Step 4: calculate RMSE.</a:t>
            </a:r>
          </a:p>
          <a:p>
            <a:pPr>
              <a:spcAft>
                <a:spcPts val="700"/>
              </a:spcAft>
              <a:defRPr sz="2000"/>
            </a:pPr>
            <a:r>
              <a:t>This is the validation example presented in the Chapter 5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1 – Step-by-Step Calculation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12115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Actual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Predicted 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Residual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|e|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e²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1 – MAE, MSE and RMSE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MAE = (5 + 10)/2 = 15/2 = 7.5.</a:t>
            </a:r>
          </a:p>
          <a:p>
            <a:pPr>
              <a:spcAft>
                <a:spcPts val="700"/>
              </a:spcAft>
              <a:defRPr sz="2000"/>
            </a:pPr>
            <a:r>
              <a:t>MSE = (25 + 100)/2 = 125/2 = 62.5.</a:t>
            </a:r>
          </a:p>
          <a:p>
            <a:pPr>
              <a:spcAft>
                <a:spcPts val="700"/>
              </a:spcAft>
              <a:defRPr sz="2000"/>
            </a:pPr>
            <a:r>
              <a:t>RMSE = √62.5 ≈ 7.91.</a:t>
            </a:r>
          </a:p>
          <a:p>
            <a:pPr>
              <a:spcAft>
                <a:spcPts val="700"/>
              </a:spcAft>
              <a:defRPr sz="2000"/>
            </a:pPr>
            <a:r>
              <a:t>Interpretation: the average absolute prediction error is 7.5 response units.</a:t>
            </a:r>
          </a:p>
          <a:p>
            <a:pPr>
              <a:spcAft>
                <a:spcPts val="700"/>
              </a:spcAft>
              <a:defRPr sz="2000"/>
            </a:pPr>
            <a:r>
              <a:t>RMSE indicates a typical error scale of approximately 7.91 response units.</a:t>
            </a:r>
          </a:p>
          <a:p>
            <a:pPr>
              <a:spcAft>
                <a:spcPts val="700"/>
              </a:spcAft>
              <a:defRPr sz="2000"/>
            </a:pPr>
            <a:r>
              <a:t>These are the values highlighted in the textbook validation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Relative MSE (RelMSE)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p.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Relative MSE compares prediction error with a reference based on response variability.</a:t>
            </a:r>
          </a:p>
          <a:p>
            <a:pPr>
              <a:spcAft>
                <a:spcPts val="700"/>
              </a:spcAft>
              <a:defRPr sz="2000"/>
            </a:pPr>
            <a:r>
              <a:t>It is useful when comparing performance across datasets or contexts with different scales.</a:t>
            </a:r>
          </a:p>
          <a:p>
            <a:pPr>
              <a:spcAft>
                <a:spcPts val="700"/>
              </a:spcAft>
              <a:defRPr sz="2000"/>
            </a:pPr>
            <a:r>
              <a:t>The chapter notes that RelMSE = 0 represents a perfect model under this measure.</a:t>
            </a:r>
          </a:p>
          <a:p>
            <a:pPr>
              <a:spcAft>
                <a:spcPts val="700"/>
              </a:spcAft>
              <a:defRPr sz="2000"/>
            </a:pPr>
            <a:r>
              <a:t>A RelMSE greater than 1 indicates that the created model is not good according to the chapter's interpretation.</a:t>
            </a:r>
          </a:p>
          <a:p>
            <a:pPr>
              <a:spcAft>
                <a:spcPts val="700"/>
              </a:spcAft>
              <a:defRPr sz="2000"/>
            </a:pPr>
            <a:r>
              <a:t>The reference/baseline should be defined consistently when computing the measure.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2 – Relative 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Note: the slide makes the reference definition explicit because relative-error conventions can vary.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Use the validation example y = [80,75], ŷ = [75,85].</a:t>
            </a:r>
          </a:p>
          <a:p>
            <a:pPr>
              <a:spcAft>
                <a:spcPts val="700"/>
              </a:spcAft>
              <a:defRPr sz="2000"/>
            </a:pPr>
            <a:r>
              <a:t>Mean of actual values: ȳ = (80+75)/2 = 77.5.</a:t>
            </a:r>
          </a:p>
          <a:p>
            <a:pPr>
              <a:spcAft>
                <a:spcPts val="700"/>
              </a:spcAft>
              <a:defRPr sz="2000"/>
            </a:pPr>
            <a:r>
              <a:t>Using the population-variance reference for the constant-mean predictor:</a:t>
            </a:r>
          </a:p>
          <a:p>
            <a:pPr>
              <a:spcAft>
                <a:spcPts val="700"/>
              </a:spcAft>
              <a:defRPr sz="2000"/>
            </a:pPr>
            <a:r>
              <a:t>Baseline MSE = [(80−77.5)² + (75−77.5)²]/2 = 6.25.</a:t>
            </a:r>
          </a:p>
          <a:p>
            <a:pPr>
              <a:spcAft>
                <a:spcPts val="700"/>
              </a:spcAft>
              <a:defRPr sz="2000"/>
            </a:pPr>
            <a:r>
              <a:t>Model MSE = 62.5.</a:t>
            </a:r>
          </a:p>
          <a:p>
            <a:pPr>
              <a:spcAft>
                <a:spcPts val="700"/>
              </a:spcAft>
              <a:defRPr sz="2000"/>
            </a:pPr>
            <a:r>
              <a:t>RelMSE = 62.5/6.25 = 10.</a:t>
            </a:r>
          </a:p>
          <a:p>
            <a:pPr>
              <a:spcAft>
                <a:spcPts val="700"/>
              </a:spcAft>
              <a:defRPr sz="2000"/>
            </a:pPr>
            <a:r>
              <a:t>Interpretation: the model's squared error is 10 times the constant-mean baseline for this tiny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Coefficient of Variation (CV)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p.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CV compares variability with the mean.</a:t>
            </a:r>
          </a:p>
          <a:p>
            <a:pPr>
              <a:spcAft>
                <a:spcPts val="700"/>
              </a:spcAft>
              <a:defRPr sz="2000"/>
            </a:pPr>
            <a:r>
              <a:t>Formula: CV = σ/μ.</a:t>
            </a:r>
          </a:p>
          <a:p>
            <a:pPr>
              <a:spcAft>
                <a:spcPts val="700"/>
              </a:spcAft>
              <a:defRPr sz="2000"/>
            </a:pPr>
            <a:r>
              <a:t>Percentage CV = (σ/μ) × 100.</a:t>
            </a:r>
          </a:p>
          <a:p>
            <a:pPr>
              <a:spcAft>
                <a:spcPts val="700"/>
              </a:spcAft>
              <a:defRPr sz="2000"/>
            </a:pPr>
            <a:r>
              <a:t>It is useful when comparing variability for quantities measured on different scales.</a:t>
            </a:r>
          </a:p>
          <a:p>
            <a:pPr>
              <a:spcAft>
                <a:spcPts val="700"/>
              </a:spcAft>
              <a:defRPr sz="2000"/>
            </a:pPr>
            <a:r>
              <a:t>CV has no physical unit.</a:t>
            </a:r>
          </a:p>
          <a:p>
            <a:pPr>
              <a:spcAft>
                <a:spcPts val="700"/>
              </a:spcAft>
              <a:defRPr sz="2000"/>
            </a:pPr>
            <a:r>
              <a:t>A higher CV means greater variability relative to the mean.</a:t>
            </a:r>
          </a:p>
          <a:p>
            <a:pPr>
              <a:spcAft>
                <a:spcPts val="700"/>
              </a:spcAft>
              <a:defRPr sz="2000"/>
            </a:pPr>
            <a:r>
              <a:t>Interpret CV together with the response distribution and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3 – Calculate 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Data: response values = [10, 12, 14, 16, 18].</a:t>
            </a:r>
          </a:p>
          <a:p>
            <a:pPr>
              <a:spcAft>
                <a:spcPts val="700"/>
              </a:spcAft>
              <a:defRPr sz="2000"/>
            </a:pPr>
            <a:r>
              <a:t>Mean μ = (10+12+14+16+18)/5 = 14.</a:t>
            </a:r>
          </a:p>
          <a:p>
            <a:pPr>
              <a:spcAft>
                <a:spcPts val="700"/>
              </a:spcAft>
              <a:defRPr sz="2000"/>
            </a:pPr>
            <a:r>
              <a:t>Population variance = [(−4)²+(−2)²+0²+2²+4²]/5 = 8.</a:t>
            </a:r>
          </a:p>
          <a:p>
            <a:pPr>
              <a:spcAft>
                <a:spcPts val="700"/>
              </a:spcAft>
              <a:defRPr sz="2000"/>
            </a:pPr>
            <a:r>
              <a:t>Population standard deviation σ = √8 ≈ 2.828.</a:t>
            </a:r>
          </a:p>
          <a:p>
            <a:pPr>
              <a:spcAft>
                <a:spcPts val="700"/>
              </a:spcAft>
              <a:defRPr sz="2000"/>
            </a:pPr>
            <a:r>
              <a:t>CV = 2.828/14 ≈ 0.202.</a:t>
            </a:r>
          </a:p>
          <a:p>
            <a:pPr>
              <a:spcAft>
                <a:spcPts val="700"/>
              </a:spcAft>
              <a:defRPr sz="2000"/>
            </a:pPr>
            <a:r>
              <a:t>Percentage CV ≈ 20.2%.</a:t>
            </a:r>
          </a:p>
          <a:p>
            <a:pPr>
              <a:spcAft>
                <a:spcPts val="700"/>
              </a:spcAft>
              <a:defRPr sz="2000"/>
            </a:pPr>
            <a:r>
              <a:t>Interpretation: standard deviation is about 20.2% of the mean.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Coefficient of Determination – r²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pp. 140–141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r² measures the proportion of variation in the response accounted for by the regression relationship.</a:t>
            </a:r>
          </a:p>
          <a:p>
            <a:pPr>
              <a:spcAft>
                <a:spcPts val="700"/>
              </a:spcAft>
              <a:defRPr sz="2000"/>
            </a:pPr>
            <a:r>
              <a:t>Formula: r² = 1 − SSE/SST.</a:t>
            </a:r>
          </a:p>
          <a:p>
            <a:pPr>
              <a:spcAft>
                <a:spcPts val="700"/>
              </a:spcAft>
              <a:defRPr sz="2000"/>
            </a:pPr>
            <a:r>
              <a:t>SSE = Σ(yᵢ − ŷᵢ)² = unexplained variation/error sum of squares.</a:t>
            </a:r>
          </a:p>
          <a:p>
            <a:pPr>
              <a:spcAft>
                <a:spcPts val="700"/>
              </a:spcAft>
              <a:defRPr sz="2000"/>
            </a:pPr>
            <a:r>
              <a:t>SST = Σ(yᵢ − ȳ)² = total variation.</a:t>
            </a:r>
          </a:p>
          <a:p>
            <a:pPr>
              <a:spcAft>
                <a:spcPts val="700"/>
              </a:spcAft>
              <a:defRPr sz="2000"/>
            </a:pPr>
            <a:r>
              <a:t>Explained variation = SST − SSE.</a:t>
            </a:r>
          </a:p>
          <a:p>
            <a:pPr>
              <a:spcAft>
                <a:spcPts val="700"/>
              </a:spcAft>
              <a:defRPr sz="2000"/>
            </a:pPr>
            <a:r>
              <a:t>Higher r² generally indicates stronger explanatory fit.</a:t>
            </a:r>
          </a:p>
          <a:p>
            <a:pPr>
              <a:spcAft>
                <a:spcPts val="700"/>
              </a:spcAft>
              <a:defRPr sz="2000"/>
            </a:pPr>
            <a:r>
              <a:t>High r² does not prove causation and should be interpreted with error measures and model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4 – Calculate r²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values: y = [10, 12, 15, 18].</a:t>
            </a:r>
          </a:p>
          <a:p>
            <a:pPr>
              <a:spcAft>
                <a:spcPts val="700"/>
              </a:spcAft>
              <a:defRPr sz="2000"/>
            </a:pPr>
            <a:r>
              <a:t>Predicted values: ŷ = [11, 11, 14, 20].</a:t>
            </a:r>
          </a:p>
          <a:p>
            <a:pPr>
              <a:spcAft>
                <a:spcPts val="700"/>
              </a:spcAft>
              <a:defRPr sz="2000"/>
            </a:pPr>
            <a:r>
              <a:t>Mean actual response: ȳ = (10+12+15+18)/4 = 13.75.</a:t>
            </a:r>
          </a:p>
          <a:p>
            <a:pPr>
              <a:spcAft>
                <a:spcPts val="700"/>
              </a:spcAft>
              <a:defRPr sz="2000"/>
            </a:pPr>
            <a:r>
              <a:t>SSE = (10−11)²+(12−11)²+(15−14)²+(18−20)² = 7.</a:t>
            </a:r>
          </a:p>
          <a:p>
            <a:pPr>
              <a:spcAft>
                <a:spcPts val="700"/>
              </a:spcAft>
              <a:defRPr sz="2000"/>
            </a:pPr>
            <a:r>
              <a:t>SST = (10−13.75)²+(12−13.75)²+(15−13.75)²+(18−13.75)² = 37.00.</a:t>
            </a:r>
          </a:p>
          <a:p>
            <a:pPr>
              <a:spcAft>
                <a:spcPts val="700"/>
              </a:spcAft>
              <a:defRPr sz="2000"/>
            </a:pPr>
            <a:r>
              <a:t>r² = 1 − 7/37 ≈ 0.8108.</a:t>
            </a:r>
          </a:p>
          <a:p>
            <a:pPr>
              <a:spcAft>
                <a:spcPts val="700"/>
              </a:spcAft>
              <a:defRPr sz="2000"/>
            </a:pPr>
            <a:r>
              <a:t>About 81.1% of the total response variation is accounted for by the fitted relationship in this calculation.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5 – Comparing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Suppose Model A has MAE = 4.2, MSE = 30 and r² = 0.88.</a:t>
            </a:r>
          </a:p>
          <a:p>
            <a:pPr>
              <a:spcAft>
                <a:spcPts val="700"/>
              </a:spcAft>
              <a:defRPr sz="2000"/>
            </a:pPr>
            <a:r>
              <a:t>Model B has MAE = 3.5, MSE = 24 and r² = 0.84.</a:t>
            </a:r>
          </a:p>
          <a:p>
            <a:pPr>
              <a:spcAft>
                <a:spcPts val="700"/>
              </a:spcAft>
              <a:defRPr sz="2000"/>
            </a:pPr>
            <a:r>
              <a:t>Which model is better?</a:t>
            </a:r>
          </a:p>
          <a:p>
            <a:pPr>
              <a:spcAft>
                <a:spcPts val="700"/>
              </a:spcAft>
              <a:defRPr sz="2000"/>
            </a:pPr>
            <a:r>
              <a:t>For error metrics MAE and MSE, lower is better → Model B.</a:t>
            </a:r>
          </a:p>
          <a:p>
            <a:pPr>
              <a:spcAft>
                <a:spcPts val="700"/>
              </a:spcAft>
              <a:defRPr sz="2000"/>
            </a:pPr>
            <a:r>
              <a:t>For r², higher is better → Model A.</a:t>
            </a:r>
          </a:p>
          <a:p>
            <a:pPr>
              <a:spcAft>
                <a:spcPts val="700"/>
              </a:spcAft>
              <a:defRPr sz="2000"/>
            </a:pPr>
            <a:r>
              <a:t>Conclusion: there is no single-number decision. Consider the purpose and balance predictive error with explanatory 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5 – Interpretation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969264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Model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Model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Better by this metric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Depends on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Depends on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Use validation context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Standard Error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Textbook p. 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 chapter discusses standard error estimation using squared differences between observed and predicted values.</a:t>
            </a:r>
          </a:p>
          <a:p>
            <a:pPr>
              <a:spcAft>
                <a:spcPts val="700"/>
              </a:spcAft>
              <a:defRPr sz="2000"/>
            </a:pPr>
            <a:r>
              <a:t>It quantifies the residual spread around the fitted regression relationship.</a:t>
            </a:r>
          </a:p>
          <a:p>
            <a:pPr>
              <a:spcAft>
                <a:spcPts val="700"/>
              </a:spcAft>
              <a:defRPr sz="2000"/>
            </a:pPr>
            <a:r>
              <a:t>It gives an indication of the variability left unexplained by the model.</a:t>
            </a:r>
          </a:p>
          <a:p>
            <a:pPr>
              <a:spcAft>
                <a:spcPts val="700"/>
              </a:spcAft>
              <a:defRPr sz="2000"/>
            </a:pPr>
            <a:r>
              <a:t>A smaller residual spread generally indicates predictions closer to the fitted relationship.</a:t>
            </a:r>
          </a:p>
          <a:p>
            <a:pPr>
              <a:spcAft>
                <a:spcPts val="700"/>
              </a:spcAft>
              <a:defRPr sz="2000"/>
            </a:pPr>
            <a:r>
              <a:t>Do not confuse residual standard error with standard errors associated with individual regression coefficients.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6 – Residual Error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Suppose a regression model produces residuals: [2, −1, 3, −2, 0].</a:t>
            </a:r>
          </a:p>
          <a:p>
            <a:pPr>
              <a:spcAft>
                <a:spcPts val="700"/>
              </a:spcAft>
              <a:defRPr sz="2000"/>
            </a:pPr>
            <a:r>
              <a:t>SSE = 2² + (−1)² + 3² + (−2)² + 0² = 18.</a:t>
            </a:r>
          </a:p>
          <a:p>
            <a:pPr>
              <a:spcAft>
                <a:spcPts val="700"/>
              </a:spcAft>
              <a:defRPr sz="2000"/>
            </a:pPr>
            <a:r>
              <a:t>MSE = 18/5 = 3.6.</a:t>
            </a:r>
          </a:p>
          <a:p>
            <a:pPr>
              <a:spcAft>
                <a:spcPts val="700"/>
              </a:spcAft>
              <a:defRPr sz="2000"/>
            </a:pPr>
            <a:r>
              <a:t>RMSE = √3.6 ≈ 1.897.</a:t>
            </a:r>
          </a:p>
          <a:p>
            <a:pPr>
              <a:spcAft>
                <a:spcPts val="700"/>
              </a:spcAft>
              <a:defRPr sz="2000"/>
            </a:pPr>
            <a:r>
              <a:t>Interpretation: the prediction error has a typical RMSE scale of about 1.90 response units.</a:t>
            </a:r>
          </a:p>
          <a:p>
            <a:pPr>
              <a:spcAft>
                <a:spcPts val="700"/>
              </a:spcAft>
              <a:defRPr sz="2000"/>
            </a:pPr>
            <a:r>
              <a:t>The residuals should also be examined for systematic patterns rather than relying only on one metric.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7 – Complete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Actual: y = [20, 25, 30, 35, 40].</a:t>
            </a:r>
          </a:p>
          <a:p>
            <a:pPr>
              <a:spcAft>
                <a:spcPts val="700"/>
              </a:spcAft>
              <a:defRPr sz="2000"/>
            </a:pPr>
            <a:r>
              <a:t>Predicted: ŷ = [22, 24, 29, 37, 39].</a:t>
            </a:r>
          </a:p>
          <a:p>
            <a:pPr>
              <a:spcAft>
                <a:spcPts val="700"/>
              </a:spcAft>
              <a:defRPr sz="2000"/>
            </a:pPr>
            <a:r>
              <a:t>Residuals = [−2, +1, +1, −2, +1].</a:t>
            </a:r>
          </a:p>
          <a:p>
            <a:pPr>
              <a:spcAft>
                <a:spcPts val="700"/>
              </a:spcAft>
              <a:defRPr sz="2000"/>
            </a:pPr>
            <a:r>
              <a:t>MAE = (2+1+1+2+1)/5 = 1.4.</a:t>
            </a:r>
          </a:p>
          <a:p>
            <a:pPr>
              <a:spcAft>
                <a:spcPts val="700"/>
              </a:spcAft>
              <a:defRPr sz="2000"/>
            </a:pPr>
            <a:r>
              <a:t>SSE = 4+1+1+4+1 = 11.</a:t>
            </a:r>
          </a:p>
          <a:p>
            <a:pPr>
              <a:spcAft>
                <a:spcPts val="700"/>
              </a:spcAft>
              <a:defRPr sz="2000"/>
            </a:pPr>
            <a:r>
              <a:t>MSE = 11/5 = 2.2.</a:t>
            </a:r>
          </a:p>
          <a:p>
            <a:pPr>
              <a:spcAft>
                <a:spcPts val="700"/>
              </a:spcAft>
              <a:defRPr sz="2000"/>
            </a:pPr>
            <a:r>
              <a:t>RMSE = √2.2 ≈ 1.483.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7 – Calculate r²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mean: ȳ = (20+25+30+35+40)/5 = 30.</a:t>
            </a:r>
          </a:p>
          <a:p>
            <a:pPr>
              <a:spcAft>
                <a:spcPts val="700"/>
              </a:spcAft>
              <a:defRPr sz="2000"/>
            </a:pPr>
            <a:r>
              <a:t>SST = (20−30)²+(25−30)²+(30−30)²+(35−30)²+(40−30)².</a:t>
            </a:r>
          </a:p>
          <a:p>
            <a:pPr>
              <a:spcAft>
                <a:spcPts val="700"/>
              </a:spcAft>
              <a:defRPr sz="2000"/>
            </a:pPr>
            <a:r>
              <a:t>SST = 100+25+0+25+100 = 250.</a:t>
            </a:r>
          </a:p>
          <a:p>
            <a:pPr>
              <a:spcAft>
                <a:spcPts val="700"/>
              </a:spcAft>
              <a:defRPr sz="2000"/>
            </a:pPr>
            <a:r>
              <a:t>SSE = 11.</a:t>
            </a:r>
          </a:p>
          <a:p>
            <a:pPr>
              <a:spcAft>
                <a:spcPts val="700"/>
              </a:spcAft>
              <a:defRPr sz="2000"/>
            </a:pPr>
            <a:r>
              <a:t>r² = 1 − 11/250 = 0.956.</a:t>
            </a:r>
          </a:p>
          <a:p>
            <a:pPr>
              <a:spcAft>
                <a:spcPts val="700"/>
              </a:spcAft>
              <a:defRPr sz="2000"/>
            </a:pPr>
            <a:r>
              <a:t>Interpretation: approximately 95.6% of the response variation is accounted for by the fitted relationship.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Validation Metrics – Formula Sheet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8463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Formula / definition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eᵢ = yᵢ − ŷᵢ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(1/n) Σ|yᵢ−ŷᵢ|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(1/n) Σ(yᵢ−ŷᵢ)²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√MSE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RelMSE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Prediction error relative to a specified reference/baseline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σ/μ; percentage CV = (σ/μ)×100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Σ(yᵢ−ŷᵢ)²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Σ(yᵢ−ȳ)²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1 − SSE/SST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MAE vs MSE vs RMSE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MAE: easiest to interpret because it is in the original response units.</a:t>
            </a:r>
          </a:p>
          <a:p>
            <a:pPr>
              <a:spcAft>
                <a:spcPts val="700"/>
              </a:spcAft>
              <a:defRPr sz="2000"/>
            </a:pPr>
            <a:r>
              <a:t>MSE: strongly penalizes large errors because residuals are squared.</a:t>
            </a:r>
          </a:p>
          <a:p>
            <a:pPr>
              <a:spcAft>
                <a:spcPts val="700"/>
              </a:spcAft>
              <a:defRPr sz="2000"/>
            </a:pPr>
            <a:r>
              <a:t>RMSE: square root of MSE, returning to original response units.</a:t>
            </a:r>
          </a:p>
          <a:p>
            <a:pPr>
              <a:spcAft>
                <a:spcPts val="700"/>
              </a:spcAft>
              <a:defRPr sz="2000"/>
            </a:pPr>
            <a:r>
              <a:t>If large errors are especially undesirable, MSE/RMSE are informative.</a:t>
            </a:r>
          </a:p>
          <a:p>
            <a:pPr>
              <a:spcAft>
                <a:spcPts val="700"/>
              </a:spcAft>
              <a:defRPr sz="2000"/>
            </a:pPr>
            <a:r>
              <a:t>If equal absolute error treatment is preferred, MAE is useful.</a:t>
            </a:r>
          </a:p>
          <a:p>
            <a:pPr>
              <a:spcAft>
                <a:spcPts val="700"/>
              </a:spcAft>
              <a:defRPr sz="2000"/>
            </a:pPr>
            <a:r>
              <a:t>Use more than one metric when evaluating a practical regression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How to Choose a Validation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Need a direct average error in original units → MAE.</a:t>
            </a:r>
          </a:p>
          <a:p>
            <a:pPr>
              <a:spcAft>
                <a:spcPts val="700"/>
              </a:spcAft>
              <a:defRPr sz="2000"/>
            </a:pPr>
            <a:r>
              <a:t>Need to penalize large errors strongly → MSE.</a:t>
            </a:r>
          </a:p>
          <a:p>
            <a:pPr>
              <a:spcAft>
                <a:spcPts val="700"/>
              </a:spcAft>
              <a:defRPr sz="2000"/>
            </a:pPr>
            <a:r>
              <a:t>Need squared-error information but in original units → RMSE.</a:t>
            </a:r>
          </a:p>
          <a:p>
            <a:pPr>
              <a:spcAft>
                <a:spcPts val="700"/>
              </a:spcAft>
              <a:defRPr sz="2000"/>
            </a:pPr>
            <a:r>
              <a:t>Need comparison relative to a baseline → Relative MSE.</a:t>
            </a:r>
          </a:p>
          <a:p>
            <a:pPr>
              <a:spcAft>
                <a:spcPts val="700"/>
              </a:spcAft>
              <a:defRPr sz="2000"/>
            </a:pPr>
            <a:r>
              <a:t>Need variability relative to mean → CV.</a:t>
            </a:r>
          </a:p>
          <a:p>
            <a:pPr>
              <a:spcAft>
                <a:spcPts val="700"/>
              </a:spcAft>
              <a:defRPr sz="2000"/>
            </a:pPr>
            <a:r>
              <a:t>Need proportion of variation explained → r².</a:t>
            </a:r>
          </a:p>
          <a:p>
            <a:pPr>
              <a:spcAft>
                <a:spcPts val="700"/>
              </a:spcAft>
              <a:defRPr sz="2000"/>
            </a:pPr>
            <a:r>
              <a:t>Need residual spread around the fitted relationship → standard error estimate.</a:t>
            </a:r>
          </a:p>
          <a:p>
            <a:pPr>
              <a:spcAft>
                <a:spcPts val="700"/>
              </a:spcAft>
              <a:defRPr sz="2000"/>
            </a:pPr>
            <a:r>
              <a:t>For a complete assessment, report several complementary measures.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 Problem 8 – L3 Numerical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values: [50, 60, 70, 80].</a:t>
            </a:r>
          </a:p>
          <a:p>
            <a:pPr>
              <a:spcAft>
                <a:spcPts val="700"/>
              </a:spcAft>
              <a:defRPr sz="2000"/>
            </a:pPr>
            <a:r>
              <a:t>Predicted values: [52, 58, 72, 77].</a:t>
            </a:r>
          </a:p>
          <a:p>
            <a:pPr>
              <a:spcAft>
                <a:spcPts val="700"/>
              </a:spcAft>
              <a:defRPr sz="2000"/>
            </a:pPr>
            <a:r>
              <a:t>Find: (a) residuals, (b) MAE, (c) MSE, (d) RMSE.</a:t>
            </a:r>
          </a:p>
          <a:p>
            <a:pPr>
              <a:spcAft>
                <a:spcPts val="700"/>
              </a:spcAft>
              <a:defRPr sz="2000"/>
            </a:pPr>
            <a:r>
              <a:t>Residuals: [−2,+2,−2,+3].</a:t>
            </a:r>
          </a:p>
          <a:p>
            <a:pPr>
              <a:spcAft>
                <a:spcPts val="700"/>
              </a:spcAft>
              <a:defRPr sz="2000"/>
            </a:pPr>
            <a:r>
              <a:t>MAE = (2+2+2+3)/4 = 2.25.</a:t>
            </a:r>
          </a:p>
          <a:p>
            <a:pPr>
              <a:spcAft>
                <a:spcPts val="700"/>
              </a:spcAft>
              <a:defRPr sz="2000"/>
            </a:pPr>
            <a:r>
              <a:t>SSE = 4+4+4+9 = 21.</a:t>
            </a:r>
          </a:p>
          <a:p>
            <a:pPr>
              <a:spcAft>
                <a:spcPts val="700"/>
              </a:spcAft>
              <a:defRPr sz="2000"/>
            </a:pPr>
            <a:r>
              <a:t>MSE = 21/4 = 5.25.</a:t>
            </a:r>
          </a:p>
          <a:p>
            <a:pPr>
              <a:spcAft>
                <a:spcPts val="700"/>
              </a:spcAft>
              <a:defRPr sz="2000"/>
            </a:pPr>
            <a:r>
              <a:t>RMSE = √5.25 ≈ 2.291.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 Problem 9 – L4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Model A: MAE=5, RMSE=8, r²=0.91.</a:t>
            </a:r>
          </a:p>
          <a:p>
            <a:pPr>
              <a:spcAft>
                <a:spcPts val="700"/>
              </a:spcAft>
              <a:defRPr sz="2000"/>
            </a:pPr>
            <a:r>
              <a:t>Model B: MAE=4, RMSE=6, r²=0.87.</a:t>
            </a:r>
          </a:p>
          <a:p>
            <a:pPr>
              <a:spcAft>
                <a:spcPts val="700"/>
              </a:spcAft>
              <a:defRPr sz="2000"/>
            </a:pPr>
            <a:r>
              <a:t>Question: Which model should be selected for a forecasting application where prediction error is the main concern?</a:t>
            </a:r>
          </a:p>
          <a:p>
            <a:pPr>
              <a:spcAft>
                <a:spcPts val="700"/>
              </a:spcAft>
              <a:defRPr sz="2000"/>
            </a:pPr>
            <a:r>
              <a:t>Solution: Model B has lower MAE and RMSE, so it provides smaller prediction errors.</a:t>
            </a:r>
          </a:p>
          <a:p>
            <a:pPr>
              <a:spcAft>
                <a:spcPts val="700"/>
              </a:spcAft>
              <a:defRPr sz="2000"/>
            </a:pPr>
            <a:r>
              <a:t>Although Model A has higher r², Model B may be preferred when accurate predictions are the primary objective.</a:t>
            </a:r>
          </a:p>
          <a:p>
            <a:pPr>
              <a:spcAft>
                <a:spcPts val="700"/>
              </a:spcAft>
              <a:defRPr sz="2000"/>
            </a:pPr>
            <a:r>
              <a:t>Final selection should also consider validation/test data and application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Common Student Mistakes in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Using signed residuals directly for MAE.</a:t>
            </a:r>
          </a:p>
          <a:p>
            <a:pPr>
              <a:spcAft>
                <a:spcPts val="700"/>
              </a:spcAft>
              <a:defRPr sz="2000"/>
            </a:pPr>
            <a:r>
              <a:t>Forgetting to square residuals for MSE.</a:t>
            </a:r>
          </a:p>
          <a:p>
            <a:pPr>
              <a:spcAft>
                <a:spcPts val="700"/>
              </a:spcAft>
              <a:defRPr sz="2000"/>
            </a:pPr>
            <a:r>
              <a:t>Reporting MSE as if it were in the original units.</a:t>
            </a:r>
          </a:p>
          <a:p>
            <a:pPr>
              <a:spcAft>
                <a:spcPts val="700"/>
              </a:spcAft>
              <a:defRPr sz="2000"/>
            </a:pPr>
            <a:r>
              <a:t>Confusing MSE and RMSE.</a:t>
            </a:r>
          </a:p>
          <a:p>
            <a:pPr>
              <a:spcAft>
                <a:spcPts val="700"/>
              </a:spcAft>
              <a:defRPr sz="2000"/>
            </a:pPr>
            <a:r>
              <a:t>Interpreting high r² as proof that a model is causal.</a:t>
            </a:r>
          </a:p>
          <a:p>
            <a:pPr>
              <a:spcAft>
                <a:spcPts val="700"/>
              </a:spcAft>
              <a:defRPr sz="2000"/>
            </a:pPr>
            <a:r>
              <a:t>Comparing CV values without considering the means and distributions.</a:t>
            </a:r>
          </a:p>
          <a:p>
            <a:pPr>
              <a:spcAft>
                <a:spcPts val="700"/>
              </a:spcAft>
              <a:defRPr sz="2000"/>
            </a:pPr>
            <a:r>
              <a:t>Using r² alone without examining prediction error.</a:t>
            </a:r>
          </a:p>
          <a:p>
            <a:pPr>
              <a:spcAft>
                <a:spcPts val="700"/>
              </a:spcAft>
              <a:defRPr sz="2000"/>
            </a:pPr>
            <a:r>
              <a:t>Confusing residual standard error with coefficient standard error.</a:t>
            </a:r>
          </a:p>
          <a:p>
            <a:pPr>
              <a:spcAft>
                <a:spcPts val="700"/>
              </a:spcAft>
              <a:defRPr sz="2000"/>
            </a:pPr>
            <a:r>
              <a:t>Using a relative metric without clearly identifying its reference/baseline.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Integrated Problem 10 – Full Validation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 model predicts [105, 118, 131, 145] for actual values [100, 120, 130, 150].</a:t>
            </a:r>
          </a:p>
          <a:p>
            <a:pPr>
              <a:spcAft>
                <a:spcPts val="700"/>
              </a:spcAft>
              <a:defRPr sz="2000"/>
            </a:pPr>
            <a:r>
              <a:t>Step 1: Calculate residuals = [−5,+2,−1,+5].</a:t>
            </a:r>
          </a:p>
          <a:p>
            <a:pPr>
              <a:spcAft>
                <a:spcPts val="700"/>
              </a:spcAft>
              <a:defRPr sz="2000"/>
            </a:pPr>
            <a:r>
              <a:t>Step 2: MAE = (5+2+1+5)/4 = 3.25.</a:t>
            </a:r>
          </a:p>
          <a:p>
            <a:pPr>
              <a:spcAft>
                <a:spcPts val="700"/>
              </a:spcAft>
              <a:defRPr sz="2000"/>
            </a:pPr>
            <a:r>
              <a:t>Step 3: SSE = 25+4+1+25 = 55.</a:t>
            </a:r>
          </a:p>
          <a:p>
            <a:pPr>
              <a:spcAft>
                <a:spcPts val="700"/>
              </a:spcAft>
              <a:defRPr sz="2000"/>
            </a:pPr>
            <a:r>
              <a:t>Step 4: MSE = 55/4 = 13.75.</a:t>
            </a:r>
          </a:p>
          <a:p>
            <a:pPr>
              <a:spcAft>
                <a:spcPts val="700"/>
              </a:spcAft>
              <a:defRPr sz="2000"/>
            </a:pPr>
            <a:r>
              <a:t>Step 5: RMSE = √13.75 ≈ 3.708.</a:t>
            </a:r>
          </a:p>
          <a:p>
            <a:pPr>
              <a:spcAft>
                <a:spcPts val="700"/>
              </a:spcAft>
              <a:defRPr sz="2000"/>
            </a:pPr>
            <a:r>
              <a:t>Step 6: Calculate ȳ = 125; SST = 250+25+25+625 = 925.</a:t>
            </a:r>
          </a:p>
          <a:p>
            <a:pPr>
              <a:spcAft>
                <a:spcPts val="700"/>
              </a:spcAft>
              <a:defRPr sz="2000"/>
            </a:pPr>
            <a:r>
              <a:t>Step 7: r² = 1 − 55/925 ≈ 0.9405.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Interpretation of Problem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MAE = 3.25: average absolute prediction error is 3.25 response units.</a:t>
            </a:r>
          </a:p>
          <a:p>
            <a:pPr>
              <a:spcAft>
                <a:spcPts val="700"/>
              </a:spcAft>
              <a:defRPr sz="2000"/>
            </a:pPr>
            <a:r>
              <a:t>RMSE ≈ 3.71: the squared-error-based error scale is about 3.71 response units.</a:t>
            </a:r>
          </a:p>
          <a:p>
            <a:pPr>
              <a:spcAft>
                <a:spcPts val="700"/>
              </a:spcAft>
              <a:defRPr sz="2000"/>
            </a:pPr>
            <a:r>
              <a:t>r² ≈ 0.9405: about 94.05% of response variation is accounted for by the fitted relationship.</a:t>
            </a:r>
          </a:p>
          <a:p>
            <a:pPr>
              <a:spcAft>
                <a:spcPts val="700"/>
              </a:spcAft>
              <a:defRPr sz="2000"/>
            </a:pPr>
            <a:r>
              <a:t>The metrics suggest a relatively strong fit for this small dataset.</a:t>
            </a:r>
          </a:p>
          <a:p>
            <a:pPr>
              <a:spcAft>
                <a:spcPts val="700"/>
              </a:spcAft>
              <a:defRPr sz="2000"/>
            </a:pPr>
            <a:r>
              <a:t>However, model quality should be established using appropriate validation/test data and domain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5.4 –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Validation determines how well predicted values agree with actual values.</a:t>
            </a:r>
          </a:p>
          <a:p>
            <a:pPr>
              <a:spcAft>
                <a:spcPts val="700"/>
              </a:spcAft>
              <a:defRPr sz="2000"/>
            </a:pPr>
            <a:r>
              <a:t>MAE measures average absolute error.</a:t>
            </a:r>
          </a:p>
          <a:p>
            <a:pPr>
              <a:spcAft>
                <a:spcPts val="700"/>
              </a:spcAft>
              <a:defRPr sz="2000"/>
            </a:pPr>
            <a:r>
              <a:t>MSE measures average squared error and emphasizes large errors.</a:t>
            </a:r>
          </a:p>
          <a:p>
            <a:pPr>
              <a:spcAft>
                <a:spcPts val="700"/>
              </a:spcAft>
              <a:defRPr sz="2000"/>
            </a:pPr>
            <a:r>
              <a:t>RMSE is the square root of MSE and is expressed in response units.</a:t>
            </a:r>
          </a:p>
          <a:p>
            <a:pPr>
              <a:spcAft>
                <a:spcPts val="700"/>
              </a:spcAft>
              <a:defRPr sz="2000"/>
            </a:pPr>
            <a:r>
              <a:t>Relative MSE compares model error with a defined reference.</a:t>
            </a:r>
          </a:p>
          <a:p>
            <a:pPr>
              <a:spcAft>
                <a:spcPts val="700"/>
              </a:spcAft>
              <a:defRPr sz="2000"/>
            </a:pPr>
            <a:r>
              <a:t>CV measures variability relative to the mean.</a:t>
            </a:r>
          </a:p>
          <a:p>
            <a:pPr>
              <a:spcAft>
                <a:spcPts val="700"/>
              </a:spcAft>
              <a:defRPr sz="2000"/>
            </a:pPr>
            <a:r>
              <a:t>r² measures the proportion of response variation explained by the regression relationship.</a:t>
            </a:r>
          </a:p>
          <a:p>
            <a:pPr>
              <a:spcAft>
                <a:spcPts val="700"/>
              </a:spcAft>
              <a:defRPr sz="2000"/>
            </a:pPr>
            <a:r>
              <a:t>Standard error estimate describes residual spread.</a:t>
            </a:r>
          </a:p>
          <a:p>
            <a:pPr>
              <a:spcAft>
                <a:spcPts val="700"/>
              </a:spcAft>
              <a:defRPr sz="2000"/>
            </a:pPr>
            <a:r>
              <a:t>No single metric should be used blindly; select and interpret metrics according to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Important Examination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L2: Define MAE, MSE and RMSE and explain their differences.</a:t>
            </a:r>
          </a:p>
          <a:p>
            <a:pPr>
              <a:spcAft>
                <a:spcPts val="700"/>
              </a:spcAft>
              <a:defRPr sz="2000"/>
            </a:pPr>
            <a:r>
              <a:t>L2: Explain coefficient of variation and coefficient of determination.</a:t>
            </a:r>
          </a:p>
          <a:p>
            <a:pPr>
              <a:spcAft>
                <a:spcPts val="700"/>
              </a:spcAft>
              <a:defRPr sz="2000"/>
            </a:pPr>
            <a:r>
              <a:t>L3: Calculate MAE, MSE and RMSE for a given set of actual and predicted values.</a:t>
            </a:r>
          </a:p>
          <a:p>
            <a:pPr>
              <a:spcAft>
                <a:spcPts val="700"/>
              </a:spcAft>
              <a:defRPr sz="2000"/>
            </a:pPr>
            <a:r>
              <a:t>L3: Calculate SSE, SST and r² for a regression model.</a:t>
            </a:r>
          </a:p>
          <a:p>
            <a:pPr>
              <a:spcAft>
                <a:spcPts val="700"/>
              </a:spcAft>
              <a:defRPr sz="2000"/>
            </a:pPr>
            <a:r>
              <a:t>L3: Calculate CV for a given response dataset.</a:t>
            </a:r>
          </a:p>
          <a:p>
            <a:pPr>
              <a:spcAft>
                <a:spcPts val="700"/>
              </a:spcAft>
              <a:defRPr sz="2000"/>
            </a:pPr>
            <a:r>
              <a:t>L4: Compare two regression models using MAE, RMSE and r².</a:t>
            </a:r>
          </a:p>
          <a:p>
            <a:pPr>
              <a:spcAft>
                <a:spcPts val="700"/>
              </a:spcAft>
              <a:defRPr sz="2000"/>
            </a:pPr>
            <a:r>
              <a:t>L4: Explain why a model with higher r² may not always be the preferred predictive model.</a:t>
            </a:r>
          </a:p>
          <a:p>
            <a:pPr>
              <a:spcAft>
                <a:spcPts val="700"/>
              </a:spcAft>
              <a:defRPr sz="2000"/>
            </a:pPr>
            <a:r>
              <a:t>L4: Design a validation strategy for a real-world regression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Quick Revision –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→ Predicted → Residuals → Validation metrics → Interpretation.</a:t>
            </a:r>
          </a:p>
          <a:p>
            <a:pPr>
              <a:spcAft>
                <a:spcPts val="700"/>
              </a:spcAft>
              <a:defRPr sz="2000"/>
            </a:pPr>
            <a:r>
              <a:t>MAE → absolute errors.</a:t>
            </a:r>
          </a:p>
          <a:p>
            <a:pPr>
              <a:spcAft>
                <a:spcPts val="700"/>
              </a:spcAft>
              <a:defRPr sz="2000"/>
            </a:pPr>
            <a:r>
              <a:t>MSE → squared errors.</a:t>
            </a:r>
          </a:p>
          <a:p>
            <a:pPr>
              <a:spcAft>
                <a:spcPts val="700"/>
              </a:spcAft>
              <a:defRPr sz="2000"/>
            </a:pPr>
            <a:r>
              <a:t>RMSE → square root of MSE.</a:t>
            </a:r>
          </a:p>
          <a:p>
            <a:pPr>
              <a:spcAft>
                <a:spcPts val="700"/>
              </a:spcAft>
              <a:defRPr sz="2000"/>
            </a:pPr>
            <a:r>
              <a:t>RelMSE → relative error against a reference.</a:t>
            </a:r>
          </a:p>
          <a:p>
            <a:pPr>
              <a:spcAft>
                <a:spcPts val="700"/>
              </a:spcAft>
              <a:defRPr sz="2000"/>
            </a:pPr>
            <a:r>
              <a:t>CV → standard deviation relative to mean.</a:t>
            </a:r>
          </a:p>
          <a:p>
            <a:pPr>
              <a:spcAft>
                <a:spcPts val="700"/>
              </a:spcAft>
              <a:defRPr sz="2000"/>
            </a:pPr>
            <a:r>
              <a:t>r² → explained variation / total variation.</a:t>
            </a:r>
          </a:p>
          <a:p>
            <a:pPr>
              <a:spcAft>
                <a:spcPts val="700"/>
              </a:spcAft>
              <a:defRPr sz="2000"/>
            </a:pPr>
            <a:r>
              <a:t>Standard error estimate → residual spread.</a:t>
            </a:r>
          </a:p>
          <a:p>
            <a:pPr>
              <a:spcAft>
                <a:spcPts val="700"/>
              </a:spcAft>
              <a:defRPr sz="2000"/>
            </a:pPr>
            <a:r>
              <a:t>Best practice: combine error metrics, goodness-of-fit measures and application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5, Section 5.4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