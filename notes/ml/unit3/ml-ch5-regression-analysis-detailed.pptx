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Chapter 5 – Regression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Chapter 5 – Regression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Linear • Multiple • Polynomial • Logistic • Ridge • Lasso • Elastic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S. Sridhar &amp; M. Vijayalakshmi, Machine Learning, Oxford University Press (2021) | Chapter 5, pp. 131–153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Chapter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Understand regression as a supervised-learning method for predicting continuous variables.</a:t>
            </a:r>
          </a:p>
          <a:p>
            <a:pPr>
              <a:spcAft>
                <a:spcPts val="800"/>
              </a:spcAft>
              <a:defRPr sz="2000"/>
            </a:pPr>
            <a:r>
              <a:t>Distinguish correlation, regression and causation.</a:t>
            </a:r>
          </a:p>
          <a:p>
            <a:pPr>
              <a:spcAft>
                <a:spcPts val="800"/>
              </a:spcAft>
              <a:defRPr sz="2000"/>
            </a:pPr>
            <a:r>
              <a:t>Construct simple linear regression models and estimate coefficients.</a:t>
            </a:r>
          </a:p>
          <a:p>
            <a:pPr>
              <a:spcAft>
                <a:spcPts val="800"/>
              </a:spcAft>
              <a:defRPr sz="2000"/>
            </a:pPr>
            <a:r>
              <a:t>Use matrix notation for linear and multiple regression.</a:t>
            </a:r>
          </a:p>
          <a:p>
            <a:pPr>
              <a:spcAft>
                <a:spcPts val="800"/>
              </a:spcAft>
              <a:defRPr sz="2000"/>
            </a:pPr>
            <a:r>
              <a:t>Evaluate regression models using MSE, RMSE, Relative MSE, coefficient of variation and coefficient of determination.</a:t>
            </a:r>
          </a:p>
          <a:p>
            <a:pPr>
              <a:spcAft>
                <a:spcPts val="800"/>
              </a:spcAft>
              <a:defRPr sz="2000"/>
            </a:pPr>
            <a:r>
              <a:t>Model nonlinear relationships using transformations and polynomial regression.</a:t>
            </a:r>
          </a:p>
          <a:p>
            <a:pPr>
              <a:spcAft>
                <a:spcPts val="800"/>
              </a:spcAft>
              <a:defRPr sz="2000"/>
            </a:pPr>
            <a:r>
              <a:t>Understand logistic regression for binary classification.</a:t>
            </a:r>
          </a:p>
          <a:p>
            <a:pPr>
              <a:spcAft>
                <a:spcPts val="800"/>
              </a:spcAft>
              <a:defRPr sz="2000"/>
            </a:pPr>
            <a:r>
              <a:t>Explain ridge, Lasso and Elastic Net regularization.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5.1 Introduction to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Regression is used to predict continuous or quantitative variables such as price and revenue.</a:t>
            </a:r>
          </a:p>
          <a:p>
            <a:pPr>
              <a:spcAft>
                <a:spcPts val="800"/>
              </a:spcAft>
              <a:defRPr sz="2000"/>
            </a:pPr>
            <a:r>
              <a:t>Regression analysis seeks answers to: What is the relationship between variables? How strong is it? Is it linear or nonlinear?</a:t>
            </a:r>
          </a:p>
          <a:p>
            <a:pPr>
              <a:spcAft>
                <a:spcPts val="800"/>
              </a:spcAft>
              <a:defRPr sz="2000"/>
            </a:pPr>
            <a:r>
              <a:t>It also asks whether attributes are relevant and what contribution each attribute makes.</a:t>
            </a:r>
          </a:p>
          <a:p>
            <a:pPr>
              <a:spcAft>
                <a:spcPts val="800"/>
              </a:spcAft>
              <a:defRPr sz="2000"/>
            </a:pPr>
            <a:r>
              <a:t>Applications listed in the book include sales prediction, bond values, insurance premiums, crop yield and real-estate prices.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Regression: Typical Problem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Independent / predictor variables: explanatory attributes used for prediction.</a:t>
            </a:r>
          </a:p>
          <a:p>
            <a:pPr>
              <a:spcAft>
                <a:spcPts val="800"/>
              </a:spcAft>
              <a:defRPr sz="2000"/>
            </a:pPr>
            <a:r>
              <a:t>Dependent / response variable: quantitative variable to be predicted.</a:t>
            </a:r>
          </a:p>
          <a:p>
            <a:pPr>
              <a:spcAft>
                <a:spcPts val="800"/>
              </a:spcAft>
              <a:defRPr sz="2000"/>
            </a:pPr>
            <a:r>
              <a:t>Regression estimates a mathematical relationship between predictors and the response.</a:t>
            </a:r>
          </a:p>
          <a:p>
            <a:pPr>
              <a:spcAft>
                <a:spcPts val="800"/>
              </a:spcAft>
              <a:defRPr sz="2000"/>
            </a:pPr>
            <a:r>
              <a:t>The learned relationship can then be used to predict the response for a new predictor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32613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Predictors 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01440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30040" y="2194560"/>
            <a:ext cx="32613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Regression model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91399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619999" y="2194560"/>
            <a:ext cx="32613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Response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Regression and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Correlation describes the strength and direction of association between variables.</a:t>
            </a:r>
          </a:p>
          <a:p>
            <a:pPr>
              <a:spcAft>
                <a:spcPts val="800"/>
              </a:spcAft>
              <a:defRPr sz="2000"/>
            </a:pPr>
            <a:r>
              <a:t>A scatter plot is a useful visual tool for exploring the relationship.</a:t>
            </a:r>
          </a:p>
          <a:p>
            <a:pPr>
              <a:spcAft>
                <a:spcPts val="800"/>
              </a:spcAft>
              <a:defRPr sz="2000"/>
            </a:pPr>
            <a:r>
              <a:t>Positive correlation: variables tend to increase together.</a:t>
            </a:r>
          </a:p>
          <a:p>
            <a:pPr>
              <a:spcAft>
                <a:spcPts val="800"/>
              </a:spcAft>
              <a:defRPr sz="2000"/>
            </a:pPr>
            <a:r>
              <a:t>Negative correlation: one variable tends to decrease as the other increases.</a:t>
            </a:r>
          </a:p>
          <a:p>
            <a:pPr>
              <a:spcAft>
                <a:spcPts val="800"/>
              </a:spcAft>
              <a:defRPr sz="2000"/>
            </a:pPr>
            <a:r>
              <a:t>No correlation: no clear systematic relationship is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Regression vs Correlation vs Causation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Regression /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Regression focuses on prediction of one variable from another.</a:t>
            </a:r>
          </a:p>
          <a:p>
            <a:pPr>
              <a:spcAft>
                <a:spcPts val="800"/>
              </a:spcAft>
              <a:defRPr sz="1700"/>
            </a:pPr>
            <a:r>
              <a:t>Correlation measures strength/direction of association.</a:t>
            </a:r>
          </a:p>
          <a:p>
            <a:pPr>
              <a:spcAft>
                <a:spcPts val="800"/>
              </a:spcAft>
              <a:defRPr sz="1700"/>
            </a:pPr>
            <a:r>
              <a:t>Neither by itself proves cause-and-effect.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Causation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Causation asks whether one variable causes a change in another.</a:t>
            </a:r>
          </a:p>
          <a:p>
            <a:pPr>
              <a:spcAft>
                <a:spcPts val="800"/>
              </a:spcAft>
              <a:defRPr sz="1700"/>
            </a:pPr>
            <a:r>
              <a:t>Correlation and regression relationships are not automatically causal relationships.</a:t>
            </a:r>
          </a:p>
          <a:p>
            <a:pPr>
              <a:spcAft>
                <a:spcPts val="800"/>
              </a:spcAft>
              <a:defRPr sz="1700"/>
            </a:pPr>
            <a:r>
              <a:t>Domain knowledge and appropriate study design are required for causal conclusions.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Types of Regression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book’s classification includes linear regression, nonlinear regression and logistic regression.</a:t>
            </a:r>
          </a:p>
          <a:p>
            <a:pPr>
              <a:spcAft>
                <a:spcPts val="800"/>
              </a:spcAft>
              <a:defRPr sz="2000"/>
            </a:pPr>
            <a:r>
              <a:t>Linear regression fits a linear relationship.</a:t>
            </a:r>
          </a:p>
          <a:p>
            <a:pPr>
              <a:spcAft>
                <a:spcPts val="800"/>
              </a:spcAft>
              <a:defRPr sz="2000"/>
            </a:pPr>
            <a:r>
              <a:t>Nonlinear regression handles relationships that are not adequately represented by a straight line.</a:t>
            </a:r>
          </a:p>
          <a:p>
            <a:pPr>
              <a:spcAft>
                <a:spcPts val="800"/>
              </a:spcAft>
              <a:defRPr sz="2000"/>
            </a:pPr>
            <a:r>
              <a:t>Logistic regression is used for categorical/binary response prediction.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Regression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28950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57550" y="219456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Linear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46420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875020" y="219456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Nonlinear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63890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92490" y="219456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Logistic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5.3 Introduction to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simplest linear regression model fits a line through scattered data points.</a:t>
            </a:r>
          </a:p>
          <a:p>
            <a:pPr>
              <a:spcAft>
                <a:spcPts val="800"/>
              </a:spcAft>
              <a:defRPr sz="2000"/>
            </a:pPr>
            <a:r>
              <a:t>Model: y = a₀ + a₁x + ε.</a:t>
            </a:r>
          </a:p>
          <a:p>
            <a:pPr>
              <a:spcAft>
                <a:spcPts val="800"/>
              </a:spcAft>
              <a:defRPr sz="2000"/>
            </a:pPr>
            <a:r>
              <a:t>a₀ is the intercept; a₁ is the slope; ε is the prediction error.</a:t>
            </a:r>
          </a:p>
          <a:p>
            <a:pPr>
              <a:spcAft>
                <a:spcPts val="800"/>
              </a:spcAft>
              <a:defRPr sz="2000"/>
            </a:pPr>
            <a:r>
              <a:t>The coefficients are chosen so that the fitted line provides the best fit under the chosen criterion.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ŷ = a₀ + a₁x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a₀ = intercept; a₁ = slope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Assumptions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book introduces assumptions associated with linear regression before deriving the fitted line.</a:t>
            </a:r>
          </a:p>
          <a:p>
            <a:pPr>
              <a:spcAft>
                <a:spcPts val="800"/>
              </a:spcAft>
              <a:defRPr sz="2000"/>
            </a:pPr>
            <a:r>
              <a:t>Observations of y are treated as random.</a:t>
            </a:r>
          </a:p>
          <a:p>
            <a:pPr>
              <a:spcAft>
                <a:spcPts val="800"/>
              </a:spcAft>
              <a:defRPr sz="2000"/>
            </a:pPr>
            <a:r>
              <a:t>The relationship between predictor and response is represented through a linear model.</a:t>
            </a:r>
          </a:p>
          <a:p>
            <a:pPr>
              <a:spcAft>
                <a:spcPts val="800"/>
              </a:spcAft>
              <a:defRPr sz="2000"/>
            </a:pPr>
            <a:r>
              <a:t>Residuals capture the difference between observed and fitted values.</a:t>
            </a:r>
          </a:p>
          <a:p>
            <a:pPr>
              <a:spcAft>
                <a:spcPts val="800"/>
              </a:spcAft>
              <a:defRPr sz="2000"/>
            </a:pPr>
            <a:r>
              <a:t>For practical modeling, inspect residuals and the data relationship rather than assuming linearity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Residuals and Best-Fit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Residual for observation i: eᵢ = yᵢ − ŷᵢ.</a:t>
            </a:r>
          </a:p>
          <a:p>
            <a:pPr>
              <a:spcAft>
                <a:spcPts val="800"/>
              </a:spcAft>
              <a:defRPr sz="2000"/>
            </a:pPr>
            <a:r>
              <a:t>Residuals may be positive, negative or zero.</a:t>
            </a:r>
          </a:p>
          <a:p>
            <a:pPr>
              <a:spcAft>
                <a:spcPts val="800"/>
              </a:spcAft>
              <a:defRPr sz="2000"/>
            </a:pPr>
            <a:r>
              <a:t>A regression line is a line of best fit when the sum of squared residuals is minimized.</a:t>
            </a:r>
          </a:p>
          <a:p>
            <a:pPr>
              <a:spcAft>
                <a:spcPts val="800"/>
              </a:spcAft>
              <a:defRPr sz="2000"/>
            </a:pPr>
            <a:r>
              <a:t>This is the Ordinary Least Squares (OLS) principle used in the chapter.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Minimize  Σ (yᵢ − ŷᵢ)²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OLS chooses coefficients that minimize the sum of squared residuals.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Simple Linear Regression Coefficients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For one predictor, the slope can be computed from sample means and cross-products.</a:t>
            </a:r>
          </a:p>
          <a:p>
            <a:pPr>
              <a:spcAft>
                <a:spcPts val="800"/>
              </a:spcAft>
              <a:defRPr sz="2000"/>
            </a:pPr>
            <a:r>
              <a:t>The intercept is then obtained from the mean relationship.</a:t>
            </a:r>
          </a:p>
          <a:p>
            <a:pPr>
              <a:spcAft>
                <a:spcPts val="800"/>
              </a:spcAft>
              <a:defRPr sz="2000"/>
            </a:pPr>
            <a:r>
              <a:t>The resulting line can be used for interpolation/extrapolation with appropriate caution.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a₁ = [Σxᵢyᵢ − n x̄ȳ] / [Σxᵢ² − n x̄²]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a₀ = ȳ − a₁x̄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Example from the Textbook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Data used in the book: x = 1, 2, 3, 4, 5 and y = 1.2, 1.8, 2.6, 3.2, 3.8.</a:t>
            </a:r>
          </a:p>
          <a:p>
            <a:pPr>
              <a:spcAft>
                <a:spcPts val="800"/>
              </a:spcAft>
              <a:defRPr sz="2000"/>
            </a:pPr>
            <a:r>
              <a:t>Computed summaries: Σx = 15, Σy = 12.6, Σx² = 55, Σxy = 44.4.</a:t>
            </a:r>
          </a:p>
          <a:p>
            <a:pPr>
              <a:spcAft>
                <a:spcPts val="800"/>
              </a:spcAft>
              <a:defRPr sz="2000"/>
            </a:pPr>
            <a:r>
              <a:t>x̄ = 3 and ȳ = 2.52.</a:t>
            </a:r>
          </a:p>
          <a:p>
            <a:pPr>
              <a:spcAft>
                <a:spcPts val="800"/>
              </a:spcAft>
              <a:defRPr sz="2000"/>
            </a:pPr>
            <a:r>
              <a:t>Computed coefficients: a₁ ≈ 0.66 and a₀ ≈ 0.54.</a:t>
            </a:r>
          </a:p>
          <a:p>
            <a:pPr>
              <a:spcAft>
                <a:spcPts val="800"/>
              </a:spcAft>
              <a:defRPr sz="2000"/>
            </a:pPr>
            <a:r>
              <a:t>Fitted regression line: ŷ = 0.54 + 0.66x.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ŷ = 0.54 + 0.66x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Textbook example: predicted 7th-week value ≈ 5.16; 12th-month value ≈ 8.46.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Linear Regression – Interpretation of Coefficients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Intercept a₀: predicted response when x = 0, if that value is meaningful within the application.</a:t>
            </a:r>
          </a:p>
          <a:p>
            <a:pPr>
              <a:spcAft>
                <a:spcPts val="800"/>
              </a:spcAft>
              <a:defRPr sz="2000"/>
            </a:pPr>
            <a:r>
              <a:t>Slope a₁: expected change in the predicted response for a one-unit increase in x.</a:t>
            </a:r>
          </a:p>
          <a:p>
            <a:pPr>
              <a:spcAft>
                <a:spcPts val="800"/>
              </a:spcAft>
              <a:defRPr sz="2000"/>
            </a:pPr>
            <a:r>
              <a:t>Positive slope → increasing linear trend.</a:t>
            </a:r>
          </a:p>
          <a:p>
            <a:pPr>
              <a:spcAft>
                <a:spcPts val="800"/>
              </a:spcAft>
              <a:defRPr sz="2000"/>
            </a:pPr>
            <a:r>
              <a:t>Negative slope → decreasing linear trend.</a:t>
            </a:r>
          </a:p>
          <a:p>
            <a:pPr>
              <a:spcAft>
                <a:spcPts val="800"/>
              </a:spcAft>
              <a:defRPr sz="2000"/>
            </a:pPr>
            <a:r>
              <a:t>The numerical meaning depends on the units of x and 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Linear Regression in Matrix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model can be written compactly using matrices.</a:t>
            </a:r>
          </a:p>
          <a:p>
            <a:pPr>
              <a:spcAft>
                <a:spcPts val="800"/>
              </a:spcAft>
              <a:defRPr sz="2000"/>
            </a:pPr>
            <a:r>
              <a:t>Y is the n×1 response vector.</a:t>
            </a:r>
          </a:p>
          <a:p>
            <a:pPr>
              <a:spcAft>
                <a:spcPts val="800"/>
              </a:spcAft>
              <a:defRPr sz="2000"/>
            </a:pPr>
            <a:r>
              <a:t>X is the design matrix containing a column for the intercept and columns for predictors.</a:t>
            </a:r>
          </a:p>
          <a:p>
            <a:pPr>
              <a:spcAft>
                <a:spcPts val="800"/>
              </a:spcAft>
              <a:defRPr sz="2000"/>
            </a:pPr>
            <a:r>
              <a:t>a is the vector of regression coefficients.</a:t>
            </a:r>
          </a:p>
          <a:p>
            <a:pPr>
              <a:spcAft>
                <a:spcPts val="800"/>
              </a:spcAft>
              <a:defRPr sz="2000"/>
            </a:pPr>
            <a:r>
              <a:t>ε is the n×1 error vector.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Y = Xa + 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OLS coefficient estimate: â = (XᵀX)⁻¹XᵀY, when the inverse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Multiple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Multiple regression uses more than one independent variable to predict a response.</a:t>
            </a:r>
          </a:p>
          <a:p>
            <a:pPr>
              <a:spcAft>
                <a:spcPts val="800"/>
              </a:spcAft>
              <a:defRPr sz="2000"/>
            </a:pPr>
            <a:r>
              <a:t>General form: y = a₀ + a₁x₁ + a₂x₂ + … + aₚxₚ + ε.</a:t>
            </a:r>
          </a:p>
          <a:p>
            <a:pPr>
              <a:spcAft>
                <a:spcPts val="800"/>
              </a:spcAft>
              <a:defRPr sz="2000"/>
            </a:pPr>
            <a:r>
              <a:t>Each coefficient represents the contribution of a predictor while the other predictors are included in the model.</a:t>
            </a:r>
          </a:p>
          <a:p>
            <a:pPr>
              <a:spcAft>
                <a:spcPts val="800"/>
              </a:spcAft>
              <a:defRPr sz="2000"/>
            </a:pPr>
            <a:r>
              <a:t>Matrix formulation provides a convenient way to estimate all coefficients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ŷ = a₀ + Σ aⱼxⱼ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j = 1,…,p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Multiple Regression – Matrix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Construct X by including a column of 1s for the intercept and one column for each predictor.</a:t>
            </a:r>
          </a:p>
          <a:p>
            <a:pPr>
              <a:spcAft>
                <a:spcPts val="800"/>
              </a:spcAft>
              <a:defRPr sz="2000"/>
            </a:pPr>
            <a:r>
              <a:t>Construct Y from observed response values.</a:t>
            </a:r>
          </a:p>
          <a:p>
            <a:pPr>
              <a:spcAft>
                <a:spcPts val="800"/>
              </a:spcAft>
              <a:defRPr sz="2000"/>
            </a:pPr>
            <a:r>
              <a:t>Compute XᵀX and XᵀY.</a:t>
            </a:r>
          </a:p>
          <a:p>
            <a:pPr>
              <a:spcAft>
                <a:spcPts val="800"/>
              </a:spcAft>
              <a:defRPr sz="2000"/>
            </a:pPr>
            <a:r>
              <a:t>Solve the normal-equation system to obtain coefficient vector a.</a:t>
            </a:r>
          </a:p>
          <a:p>
            <a:pPr>
              <a:spcAft>
                <a:spcPts val="800"/>
              </a:spcAft>
              <a:defRPr sz="2000"/>
            </a:pPr>
            <a:r>
              <a:t>The chapter illustrates the calculation using a sample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â = (XᵀX)⁻¹XᵀY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Check dimensions: X is n×(p+1), a is (p+1)×1, Y is n×1.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5.4 Validation of Regression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Regression models should be evaluated using metrics that compare predicted and actual values.</a:t>
            </a:r>
          </a:p>
          <a:p>
            <a:pPr>
              <a:spcAft>
                <a:spcPts val="800"/>
              </a:spcAft>
              <a:defRPr sz="2000"/>
            </a:pPr>
            <a:r>
              <a:t>The chapter discusses MSE, RMSE, Relative MSE, coefficient of variation, standard error estimate and coefficient of determination.</a:t>
            </a:r>
          </a:p>
          <a:p>
            <a:pPr>
              <a:spcAft>
                <a:spcPts val="800"/>
              </a:spcAft>
              <a:defRPr sz="2000"/>
            </a:pPr>
            <a:r>
              <a:t>No single metric tells the whole story; interpretation should consider scale, variability and the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Mean Squared Error (MSE)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MSE is the average of squared prediction errors.</a:t>
            </a:r>
          </a:p>
          <a:p>
            <a:pPr>
              <a:spcAft>
                <a:spcPts val="800"/>
              </a:spcAft>
              <a:defRPr sz="2000"/>
            </a:pPr>
            <a:r>
              <a:t>Squaring prevents positive and negative residuals from canceling.</a:t>
            </a:r>
          </a:p>
          <a:p>
            <a:pPr>
              <a:spcAft>
                <a:spcPts val="800"/>
              </a:spcAft>
              <a:defRPr sz="2000"/>
            </a:pPr>
            <a:r>
              <a:t>MSE penalizes larger errors more strongly than smaller errors.</a:t>
            </a:r>
          </a:p>
          <a:p>
            <a:pPr>
              <a:spcAft>
                <a:spcPts val="800"/>
              </a:spcAft>
              <a:defRPr sz="2000"/>
            </a:pPr>
            <a:r>
              <a:t>Lower MSE indicates better fit under this metric.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MSE = (1/n) Σ (yᵢ − ŷᵢ)²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Units are squared units of the response variable.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Root Mean Squared Error (RMSE)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RMSE is the square root of MSE.</a:t>
            </a:r>
          </a:p>
          <a:p>
            <a:pPr>
              <a:spcAft>
                <a:spcPts val="800"/>
              </a:spcAft>
              <a:defRPr sz="2000"/>
            </a:pPr>
            <a:r>
              <a:t>It returns the error to the same units as the response variable.</a:t>
            </a:r>
          </a:p>
          <a:p>
            <a:pPr>
              <a:spcAft>
                <a:spcPts val="800"/>
              </a:spcAft>
              <a:defRPr sz="2000"/>
            </a:pPr>
            <a:r>
              <a:t>The book uses RMSE to summarize the typical scale of prediction error.</a:t>
            </a:r>
          </a:p>
          <a:p>
            <a:pPr>
              <a:spcAft>
                <a:spcPts val="800"/>
              </a:spcAft>
              <a:defRPr sz="2000"/>
            </a:pPr>
            <a:r>
              <a:t>Example shown in the text: if MSE = 62.5, RMSE = √62.5 ≈ 7.91.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RMSE = √MSE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Example: √62.5 ≈ 7.91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Relative MSE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Relative MSE compares prediction error against the variability of a trivial/population reference.</a:t>
            </a:r>
          </a:p>
          <a:p>
            <a:pPr>
              <a:spcAft>
                <a:spcPts val="800"/>
              </a:spcAft>
              <a:defRPr sz="2000"/>
            </a:pPr>
            <a:r>
              <a:t>The book notes that a value of zero indicates a perfect model under this measure.</a:t>
            </a:r>
          </a:p>
          <a:p>
            <a:pPr>
              <a:spcAft>
                <a:spcPts val="800"/>
              </a:spcAft>
              <a:defRPr sz="2000"/>
            </a:pPr>
            <a:r>
              <a:t>A value greater than 1 indicates that the created model is not good according to the chapter’s interpretation.</a:t>
            </a:r>
          </a:p>
          <a:p>
            <a:pPr>
              <a:spcAft>
                <a:spcPts val="800"/>
              </a:spcAft>
              <a:defRPr sz="2000"/>
            </a:pPr>
            <a:r>
              <a:t>Use relative measures when comparing performance across contexts with different scales.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Coefficient of Variation (CV)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Coefficient of variation compares standard deviation with the mean.</a:t>
            </a:r>
          </a:p>
          <a:p>
            <a:pPr>
              <a:spcAft>
                <a:spcPts val="800"/>
              </a:spcAft>
              <a:defRPr sz="2000"/>
            </a:pPr>
            <a:r>
              <a:t>It is useful for comparing variability across datasets measured on different scales.</a:t>
            </a:r>
          </a:p>
          <a:p>
            <a:pPr>
              <a:spcAft>
                <a:spcPts val="800"/>
              </a:spcAft>
              <a:defRPr sz="2000"/>
            </a:pPr>
            <a:r>
              <a:t>The chapter discusses CV as one of the regression-evaluation measures.</a:t>
            </a:r>
          </a:p>
          <a:p>
            <a:pPr>
              <a:spcAft>
                <a:spcPts val="800"/>
              </a:spcAft>
              <a:defRPr sz="2000"/>
            </a:pPr>
            <a:r>
              <a:t>Interpret the value together with the units and mean of the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CV = σ / 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Percentage CV = (σ/μ) ×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Coefficient of Determination R²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R² summarizes how much of the variation in the response is accounted for by the regression model.</a:t>
            </a:r>
          </a:p>
          <a:p>
            <a:pPr>
              <a:spcAft>
                <a:spcPts val="800"/>
              </a:spcAft>
              <a:defRPr sz="2000"/>
            </a:pPr>
            <a:r>
              <a:t>It is commonly interpreted as the square of the correlation between predicted and response values in the simple linear setting discussed in the chapter.</a:t>
            </a:r>
          </a:p>
          <a:p>
            <a:pPr>
              <a:spcAft>
                <a:spcPts val="800"/>
              </a:spcAft>
              <a:defRPr sz="2000"/>
            </a:pPr>
            <a:r>
              <a:t>Higher R² indicates stronger explanatory fit, but it should not be treated as proof of causation.</a:t>
            </a:r>
          </a:p>
          <a:p>
            <a:pPr>
              <a:spcAft>
                <a:spcPts val="800"/>
              </a:spcAft>
              <a:defRPr sz="2000"/>
            </a:pPr>
            <a:r>
              <a:t>R² should be interpreted alongside residual error and the model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R² = 1 − SSE/SST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SSE = Σ(yᵢ−ŷᵢ)²; SST = Σ(yᵢ−ȳ)²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Standard Error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chapter illustrates standard error estimation using the squared differences between observed and predicted values.</a:t>
            </a:r>
          </a:p>
          <a:p>
            <a:pPr>
              <a:spcAft>
                <a:spcPts val="800"/>
              </a:spcAft>
              <a:defRPr sz="2000"/>
            </a:pPr>
            <a:r>
              <a:t>It quantifies the residual spread around the fitted regression relationship.</a:t>
            </a:r>
          </a:p>
          <a:p>
            <a:pPr>
              <a:spcAft>
                <a:spcPts val="800"/>
              </a:spcAft>
              <a:defRPr sz="2000"/>
            </a:pPr>
            <a:r>
              <a:t>Use it to understand the typical variability left unexplained by the regression model.</a:t>
            </a:r>
          </a:p>
          <a:p>
            <a:pPr>
              <a:spcAft>
                <a:spcPts val="800"/>
              </a:spcAft>
              <a:defRPr sz="2000"/>
            </a:pPr>
            <a:r>
              <a:t>Always distinguish residual standard error from standard errors of individual coefficients.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5.6 Nonlinear / Polynomial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Some relationships are not adequately represented by a straight line.</a:t>
            </a:r>
          </a:p>
          <a:p>
            <a:pPr>
              <a:spcAft>
                <a:spcPts val="800"/>
              </a:spcAft>
              <a:defRPr sz="2000"/>
            </a:pPr>
            <a:r>
              <a:t>The chapter discusses transformations for nonlinear relationships and polynomial regression.</a:t>
            </a:r>
          </a:p>
          <a:p>
            <a:pPr>
              <a:spcAft>
                <a:spcPts val="800"/>
              </a:spcAft>
              <a:defRPr sz="2000"/>
            </a:pPr>
            <a:r>
              <a:t>Transformations such as logarithms can convert certain nonlinear relationships into a form suitable for linear regression.</a:t>
            </a:r>
          </a:p>
          <a:p>
            <a:pPr>
              <a:spcAft>
                <a:spcPts val="800"/>
              </a:spcAft>
              <a:defRPr sz="2000"/>
            </a:pPr>
            <a:r>
              <a:t>Polynomial regression introduces powers of x to model curvature.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Transformation-Based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Exponential relationships can be transformed using logarithms.</a:t>
            </a:r>
          </a:p>
          <a:p>
            <a:pPr>
              <a:spcAft>
                <a:spcPts val="800"/>
              </a:spcAft>
              <a:defRPr sz="2000"/>
            </a:pPr>
            <a:r>
              <a:t>Power relationships can also be transformed: y = axᵇ becomes log y = b log x + log a.</a:t>
            </a:r>
          </a:p>
          <a:p>
            <a:pPr>
              <a:spcAft>
                <a:spcPts val="800"/>
              </a:spcAft>
              <a:defRPr sz="2000"/>
            </a:pPr>
            <a:r>
              <a:t>After fitting the transformed linear relationship, inverse transformations are applied to obtain the desired result.</a:t>
            </a:r>
          </a:p>
          <a:p>
            <a:pPr>
              <a:spcAft>
                <a:spcPts val="800"/>
              </a:spcAft>
              <a:defRPr sz="2000"/>
            </a:pPr>
            <a:r>
              <a:t>Transformation should be chosen according to the form of the relationship.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Power model: y = axᵇ  →  log y = b log x + log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Transform → fit linear model → inverse-transform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Polynomial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Polynomial regression models nonlinear relationships using powers of the predictor.</a:t>
            </a:r>
          </a:p>
          <a:p>
            <a:pPr>
              <a:spcAft>
                <a:spcPts val="800"/>
              </a:spcAft>
              <a:defRPr sz="2000"/>
            </a:pPr>
            <a:r>
              <a:t>Quadratic: y = a₀ + a₁x + a₂x².</a:t>
            </a:r>
          </a:p>
          <a:p>
            <a:pPr>
              <a:spcAft>
                <a:spcPts val="800"/>
              </a:spcAft>
              <a:defRPr sz="2000"/>
            </a:pPr>
            <a:r>
              <a:t>Cubic: y = a₀ + a₁x + a₂x² + a₃x³.</a:t>
            </a:r>
          </a:p>
          <a:p>
            <a:pPr>
              <a:spcAft>
                <a:spcPts val="800"/>
              </a:spcAft>
              <a:defRPr sz="2000"/>
            </a:pPr>
            <a:r>
              <a:t>The book notes that high-degree polynomials can create very flexible curves and may lead to overfitting; it mentions practical use of degrees up to about four.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ŷ = a₀ + a₁x + a₂x² + … + aₘxᵐ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Higher degree → more flexibility → greater risk of overfitting.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Polynomial Regression – Matrix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For a degree-m polynomial, the design matrix contains columns [1, x, x², …, xᵐ].</a:t>
            </a:r>
          </a:p>
          <a:p>
            <a:pPr>
              <a:spcAft>
                <a:spcPts val="800"/>
              </a:spcAft>
              <a:defRPr sz="2000"/>
            </a:pPr>
            <a:r>
              <a:t>The coefficients are estimated using the same least-squares idea as linear regression.</a:t>
            </a:r>
          </a:p>
          <a:p>
            <a:pPr>
              <a:spcAft>
                <a:spcPts val="800"/>
              </a:spcAft>
              <a:defRPr sz="2000"/>
            </a:pPr>
            <a:r>
              <a:t>The model is linear in the coefficients even though it is nonlinear in x.</a:t>
            </a:r>
          </a:p>
          <a:p>
            <a:pPr>
              <a:spcAft>
                <a:spcPts val="800"/>
              </a:spcAft>
              <a:defRPr sz="2000"/>
            </a:pPr>
            <a:r>
              <a:t>The chapter provides a second-degree worked example using a matrix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X = [1, x, x², …, xᵐ]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â = (XᵀX)⁻¹XᵀY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5.7 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Linear regression predicts numerical/continuous responses and is not appropriate for categorical responses.</a:t>
            </a:r>
          </a:p>
          <a:p>
            <a:pPr>
              <a:spcAft>
                <a:spcPts val="800"/>
              </a:spcAft>
              <a:defRPr sz="2000"/>
            </a:pPr>
            <a:r>
              <a:t>Logistic regression is suitable for binary classification.</a:t>
            </a:r>
          </a:p>
          <a:p>
            <a:pPr>
              <a:spcAft>
                <a:spcPts val="800"/>
              </a:spcAft>
              <a:defRPr sz="2000"/>
            </a:pPr>
            <a:r>
              <a:t>Examples from the chapter: spam/not spam, admitted/not admitted, pass/fail.</a:t>
            </a:r>
          </a:p>
          <a:p>
            <a:pPr>
              <a:spcAft>
                <a:spcPts val="800"/>
              </a:spcAft>
              <a:defRPr sz="2000"/>
            </a:pPr>
            <a:r>
              <a:t>The model predicts the probability of a categorical outcome.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Why Not Use Linear Regression for Probability?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Linear regression can produce values below 0 or above 1.</a:t>
            </a:r>
          </a:p>
          <a:p>
            <a:pPr>
              <a:spcAft>
                <a:spcPts val="800"/>
              </a:spcAft>
              <a:defRPr sz="2000"/>
            </a:pPr>
            <a:r>
              <a:t>Probabilities must lie between 0 and 1.</a:t>
            </a:r>
          </a:p>
          <a:p>
            <a:pPr>
              <a:spcAft>
                <a:spcPts val="800"/>
              </a:spcAft>
              <a:defRPr sz="2000"/>
            </a:pPr>
            <a:r>
              <a:t>Logistic regression therefore maps a linear predictor into the interval [0,1].</a:t>
            </a:r>
          </a:p>
          <a:p>
            <a:pPr>
              <a:spcAft>
                <a:spcPts val="800"/>
              </a:spcAft>
              <a:defRPr sz="2000"/>
            </a:pPr>
            <a:r>
              <a:t>The chapter uses the sigmoid/logit formulation to make this mapping.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p(x) = 1 / [1 + exp(−(a₀ + a₁x))]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Sigmoid output is between 0 and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Odds and Log-Odds (Logit)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Odds compare the probability of an event with the probability of the event not occurring.</a:t>
            </a:r>
          </a:p>
          <a:p>
            <a:pPr>
              <a:spcAft>
                <a:spcPts val="800"/>
              </a:spcAft>
              <a:defRPr sz="2000"/>
            </a:pPr>
            <a:r>
              <a:t>Odds = p / (1−p).</a:t>
            </a:r>
          </a:p>
          <a:p>
            <a:pPr>
              <a:spcAft>
                <a:spcPts val="800"/>
              </a:spcAft>
              <a:defRPr sz="2000"/>
            </a:pPr>
            <a:r>
              <a:t>Log-odds (logit) = log[p/(1−p)].</a:t>
            </a:r>
          </a:p>
          <a:p>
            <a:pPr>
              <a:spcAft>
                <a:spcPts val="800"/>
              </a:spcAft>
              <a:defRPr sz="2000"/>
            </a:pPr>
            <a:r>
              <a:t>Logistic regression models the log-odds as a linear function of predictor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logit(p) = log[p/(1−p)] = a₀ + a₁x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p = exp(a₀+a₁x) / [1 + exp(a₀+a₁x)]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Logistic Classification Using a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After computing p(y=1|x), a threshold can convert probability into a class label.</a:t>
            </a:r>
          </a:p>
          <a:p>
            <a:pPr>
              <a:spcAft>
                <a:spcPts val="800"/>
              </a:spcAft>
              <a:defRPr sz="2000"/>
            </a:pPr>
            <a:r>
              <a:t>The chapter gives a threshold of 0.5 as an example.</a:t>
            </a:r>
          </a:p>
          <a:p>
            <a:pPr>
              <a:spcAft>
                <a:spcPts val="800"/>
              </a:spcAft>
              <a:defRPr sz="2000"/>
            </a:pPr>
            <a:r>
              <a:t>If predicted probability &gt; 0.5, classify as class 1; otherwise classify as class 0.</a:t>
            </a:r>
          </a:p>
          <a:p>
            <a:pPr>
              <a:spcAft>
                <a:spcPts val="800"/>
              </a:spcAft>
              <a:defRPr sz="2000"/>
            </a:pPr>
            <a:r>
              <a:t>Threshold selection changes the balance between false positives and false negatives.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ŷ = 1 if p(x) &gt; 0.5; otherwise ŷ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Threshold can be tuned for the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Logistic Example from the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chapter gives a binary student pass/fail-style example based on entrance marks.</a:t>
            </a:r>
          </a:p>
          <a:p>
            <a:pPr>
              <a:spcAft>
                <a:spcPts val="800"/>
              </a:spcAft>
              <a:defRPr sz="2000"/>
            </a:pPr>
            <a:r>
              <a:t>Regression coefficients are used to compute the linear predictor for x = 60.</a:t>
            </a:r>
          </a:p>
          <a:p>
            <a:pPr>
              <a:spcAft>
                <a:spcPts val="800"/>
              </a:spcAft>
              <a:defRPr sz="2000"/>
            </a:pPr>
            <a:r>
              <a:t>The resulting sigmoid probability is approximately 0.44 in the example.</a:t>
            </a:r>
          </a:p>
          <a:p>
            <a:pPr>
              <a:spcAft>
                <a:spcPts val="800"/>
              </a:spcAft>
              <a:defRPr sz="2000"/>
            </a:pPr>
            <a:r>
              <a:t>With threshold 0.5, 0.44 &lt; 0.5, so the candidate is classified as not selected.</a:t>
            </a:r>
          </a:p>
          <a:p>
            <a:pPr>
              <a:spcAft>
                <a:spcPts val="800"/>
              </a:spcAft>
              <a:defRPr sz="2000"/>
            </a:pPr>
            <a:r>
              <a:t>The example illustrates the complete chain: coefficients → linear score → sigmoid probability → thresholded class.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Learning Logistic Regression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chapter describes parameter estimation using Maximum Likelihood Estimation (MLE).</a:t>
            </a:r>
          </a:p>
          <a:p>
            <a:pPr>
              <a:spcAft>
                <a:spcPts val="800"/>
              </a:spcAft>
              <a:defRPr sz="2000"/>
            </a:pPr>
            <a:r>
              <a:t>The objective is to learn coefficient values for which the observed data has maximum likelihood under the logistic model.</a:t>
            </a:r>
          </a:p>
          <a:p>
            <a:pPr>
              <a:spcAft>
                <a:spcPts val="800"/>
              </a:spcAft>
              <a:defRPr sz="2000"/>
            </a:pPr>
            <a:r>
              <a:t>The log-likelihood is commonly optimized because products of probabilities become sums after taking logs.</a:t>
            </a:r>
          </a:p>
          <a:p>
            <a:pPr>
              <a:spcAft>
                <a:spcPts val="800"/>
              </a:spcAft>
              <a:defRPr sz="2000"/>
            </a:pPr>
            <a:r>
              <a:t>The idea extends beyond binary classification to multinomial logistic regression.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5.8 Ridge, Lasso and Elastic 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Regularization is introduced to control model complexity and reduce test error.</a:t>
            </a:r>
          </a:p>
          <a:p>
            <a:pPr>
              <a:spcAft>
                <a:spcPts val="800"/>
              </a:spcAft>
              <a:defRPr sz="2000"/>
            </a:pPr>
            <a:r>
              <a:t>The chapter motivates regularization using the bias–variance trade-off.</a:t>
            </a:r>
          </a:p>
          <a:p>
            <a:pPr>
              <a:spcAft>
                <a:spcPts val="800"/>
              </a:spcAft>
              <a:defRPr sz="2000"/>
            </a:pPr>
            <a:r>
              <a:t>OLS can have high variance, especially when predictors are strongly correlated or numerous.</a:t>
            </a:r>
          </a:p>
          <a:p>
            <a:pPr>
              <a:spcAft>
                <a:spcPts val="800"/>
              </a:spcAft>
              <a:defRPr sz="2000"/>
            </a:pPr>
            <a:r>
              <a:t>Regularization adds a penalty that discourages overly large coefficients.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OLS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05456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34056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Add penalty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99432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28032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Shrink 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93408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22008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Reduce variance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87384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15984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Improve generalization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Bias–Variance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Bias: error associated with a model that does not fit the data well.</a:t>
            </a:r>
          </a:p>
          <a:p>
            <a:pPr>
              <a:spcAft>
                <a:spcPts val="800"/>
              </a:spcAft>
              <a:defRPr sz="2000"/>
            </a:pPr>
            <a:r>
              <a:t>Variance: variation in model predictions across different training datasets.</a:t>
            </a:r>
          </a:p>
          <a:p>
            <a:pPr>
              <a:spcAft>
                <a:spcPts val="800"/>
              </a:spcAft>
              <a:defRPr sz="2000"/>
            </a:pPr>
            <a:r>
              <a:t>High variance with low bias can lead to overfitting.</a:t>
            </a:r>
          </a:p>
          <a:p>
            <a:pPr>
              <a:spcAft>
                <a:spcPts val="800"/>
              </a:spcAft>
              <a:defRPr sz="2000"/>
            </a:pPr>
            <a:r>
              <a:t>High bias with low variance can lead to underfitting.</a:t>
            </a:r>
          </a:p>
          <a:p>
            <a:pPr>
              <a:spcAft>
                <a:spcPts val="800"/>
              </a:spcAft>
              <a:defRPr sz="2000"/>
            </a:pPr>
            <a:r>
              <a:t>Regularization deliberately adds some bias to reduce variance and improve test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Underfitting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Model too simple</a:t>
            </a:r>
          </a:p>
          <a:p>
            <a:pPr>
              <a:spcAft>
                <a:spcPts val="800"/>
              </a:spcAft>
              <a:defRPr sz="1700"/>
            </a:pPr>
            <a:r>
              <a:t>High bias</a:t>
            </a:r>
          </a:p>
          <a:p>
            <a:pPr>
              <a:spcAft>
                <a:spcPts val="800"/>
              </a:spcAft>
              <a:defRPr sz="1700"/>
            </a:pPr>
            <a:r>
              <a:t>Low variance</a:t>
            </a:r>
          </a:p>
          <a:p>
            <a:pPr>
              <a:spcAft>
                <a:spcPts val="800"/>
              </a:spcAft>
              <a:defRPr sz="1700"/>
            </a:pPr>
            <a:r>
              <a:t>Poor training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Model too flexible</a:t>
            </a:r>
          </a:p>
          <a:p>
            <a:pPr>
              <a:spcAft>
                <a:spcPts val="800"/>
              </a:spcAft>
              <a:defRPr sz="1700"/>
            </a:pPr>
            <a:r>
              <a:t>Low training error</a:t>
            </a:r>
          </a:p>
          <a:p>
            <a:pPr>
              <a:spcAft>
                <a:spcPts val="800"/>
              </a:spcAft>
              <a:defRPr sz="1700"/>
            </a:pPr>
            <a:r>
              <a:t>High variance</a:t>
            </a:r>
          </a:p>
          <a:p>
            <a:pPr>
              <a:spcAft>
                <a:spcPts val="800"/>
              </a:spcAft>
              <a:defRPr sz="1700"/>
            </a:pPr>
            <a:r>
              <a:t>Poor unseen-data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5.8.1 Ridge Regularization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Ridge regression is a regularized linear regression method.</a:t>
            </a:r>
          </a:p>
          <a:p>
            <a:pPr>
              <a:spcAft>
                <a:spcPts val="800"/>
              </a:spcAft>
              <a:defRPr sz="2000"/>
            </a:pPr>
            <a:r>
              <a:t>It is useful when there are many attributes and strong correlations among them.</a:t>
            </a:r>
          </a:p>
          <a:p>
            <a:pPr>
              <a:spcAft>
                <a:spcPts val="800"/>
              </a:spcAft>
              <a:defRPr sz="2000"/>
            </a:pPr>
            <a:r>
              <a:t>Instead of estimating coefficients only by OLS, ridge uses a biased estimator with lower variance.</a:t>
            </a:r>
          </a:p>
          <a:p>
            <a:pPr>
              <a:spcAft>
                <a:spcPts val="800"/>
              </a:spcAft>
              <a:defRPr sz="2000"/>
            </a:pPr>
            <a:r>
              <a:t>The penalty discourages large regression coefficients.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Minimize: Σ(yᵢ−ŷᵢ)² + λ Σ aⱼ²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L2 penalty; λ controls the strength of regularization.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Ridge: Matrix Form and 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chapter gives a matrix formulation for ridge regression.</a:t>
            </a:r>
          </a:p>
          <a:p>
            <a:pPr>
              <a:spcAft>
                <a:spcPts val="800"/>
              </a:spcAft>
              <a:defRPr sz="2000"/>
            </a:pPr>
            <a:r>
              <a:t>The regularized coefficient estimate modifies XᵀX by adding a penalty term.</a:t>
            </a:r>
          </a:p>
          <a:p>
            <a:pPr>
              <a:spcAft>
                <a:spcPts val="800"/>
              </a:spcAft>
              <a:defRPr sz="2000"/>
            </a:pPr>
            <a:r>
              <a:t>λ controls the amount of shrinkage.</a:t>
            </a:r>
          </a:p>
          <a:p>
            <a:pPr>
              <a:spcAft>
                <a:spcPts val="800"/>
              </a:spcAft>
              <a:defRPr sz="2000"/>
            </a:pPr>
            <a:r>
              <a:t>Large λ → stronger shrinkage and more bias; small λ → closer to OLS.</a:t>
            </a:r>
          </a:p>
          <a:p>
            <a:pPr>
              <a:spcAft>
                <a:spcPts val="800"/>
              </a:spcAft>
              <a:defRPr sz="2000"/>
            </a:pPr>
            <a:r>
              <a:t>Choosing λ is therefore an important model-selection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â_ridge = (XᵀX + λI)⁻¹XᵀY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Choose λ using validation / re-sampling.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5.8.2 Lasso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Lasso is another regularization method.</a:t>
            </a:r>
          </a:p>
          <a:p>
            <a:pPr>
              <a:spcAft>
                <a:spcPts val="800"/>
              </a:spcAft>
              <a:defRPr sz="2000"/>
            </a:pPr>
            <a:r>
              <a:t>It adds an L1 penalty to the regression objective.</a:t>
            </a:r>
          </a:p>
          <a:p>
            <a:pPr>
              <a:spcAft>
                <a:spcPts val="800"/>
              </a:spcAft>
              <a:defRPr sz="2000"/>
            </a:pPr>
            <a:r>
              <a:t>The L1 penalty can shrink some coefficients all the way to zero.</a:t>
            </a:r>
          </a:p>
          <a:p>
            <a:pPr>
              <a:spcAft>
                <a:spcPts val="800"/>
              </a:spcAft>
              <a:defRPr sz="2000"/>
            </a:pPr>
            <a:r>
              <a:t>Therefore, Lasso can perform coefficient shrinkage and implicit feature selection.</a:t>
            </a:r>
          </a:p>
          <a:p>
            <a:pPr>
              <a:spcAft>
                <a:spcPts val="800"/>
              </a:spcAft>
              <a:defRPr sz="2000"/>
            </a:pPr>
            <a:r>
              <a:t>It is useful when many predictors may be irrelevant.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Minimize: Σ(yᵢ−ŷᵢ)² + λ Σ |aⱼ|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L1 penalty → sparse coefficient vector.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5.8.3 Elastic 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Elastic Net combines L1 and L2 regularization ideas.</a:t>
            </a:r>
          </a:p>
          <a:p>
            <a:pPr>
              <a:spcAft>
                <a:spcPts val="800"/>
              </a:spcAft>
              <a:defRPr sz="2000"/>
            </a:pPr>
            <a:r>
              <a:t>It can shrink parameters associated with correlated variables and may set irrelevant variables to zero.</a:t>
            </a:r>
          </a:p>
          <a:p>
            <a:pPr>
              <a:spcAft>
                <a:spcPts val="800"/>
              </a:spcAft>
              <a:defRPr sz="2000"/>
            </a:pPr>
            <a:r>
              <a:t>The chapter highlights its usefulness when multicollinearity exists among independent variables.</a:t>
            </a:r>
          </a:p>
          <a:p>
            <a:pPr>
              <a:spcAft>
                <a:spcPts val="800"/>
              </a:spcAft>
              <a:defRPr sz="2000"/>
            </a:pPr>
            <a:r>
              <a:t>Elastic Net therefore combines sparsity from L1 with stabilizing shrinkage from L2.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t>Loss + λ₁Σ|aⱼ| + λ₂Σaⱼ²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Combination of L1 and L2 penalties.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Ridge vs Lasso vs Elastic 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Ridge (L2)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Shrinks coefficients toward zero</a:t>
            </a:r>
          </a:p>
          <a:p>
            <a:pPr>
              <a:spcAft>
                <a:spcPts val="800"/>
              </a:spcAft>
              <a:defRPr sz="1700"/>
            </a:pPr>
            <a:r>
              <a:t>Usually retains all predictors</a:t>
            </a:r>
          </a:p>
          <a:p>
            <a:pPr>
              <a:spcAft>
                <a:spcPts val="800"/>
              </a:spcAft>
              <a:defRPr sz="1700"/>
            </a:pPr>
            <a:r>
              <a:t>Useful with correlated predictors</a:t>
            </a:r>
          </a:p>
          <a:p>
            <a:pPr>
              <a:spcAft>
                <a:spcPts val="800"/>
              </a:spcAft>
              <a:defRPr sz="1700"/>
            </a:pPr>
            <a:r>
              <a:t>Controls 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Lasso / Elastic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Lasso: L1 can set coefficients to zero</a:t>
            </a:r>
          </a:p>
          <a:p>
            <a:pPr>
              <a:spcAft>
                <a:spcPts val="800"/>
              </a:spcAft>
              <a:defRPr sz="1700"/>
            </a:pPr>
            <a:r>
              <a:t>Elastic Net: combines L1 + L2</a:t>
            </a:r>
          </a:p>
          <a:p>
            <a:pPr>
              <a:spcAft>
                <a:spcPts val="800"/>
              </a:spcAft>
              <a:defRPr sz="1700"/>
            </a:pPr>
            <a:r>
              <a:t>Useful for feature selection and multicollinearity</a:t>
            </a:r>
          </a:p>
          <a:p>
            <a:pPr>
              <a:spcAft>
                <a:spcPts val="800"/>
              </a:spcAft>
              <a:defRPr sz="1700"/>
            </a:pPr>
            <a:r>
              <a:t>Both require penalty 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Choosing the Regularization Strength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penalty parameter controls the bias–variance trade-off.</a:t>
            </a:r>
          </a:p>
          <a:p>
            <a:pPr>
              <a:spcAft>
                <a:spcPts val="800"/>
              </a:spcAft>
              <a:defRPr sz="2000"/>
            </a:pPr>
            <a:r>
              <a:t>Too little regularization: model remains flexible and may overfit.</a:t>
            </a:r>
          </a:p>
          <a:p>
            <a:pPr>
              <a:spcAft>
                <a:spcPts val="800"/>
              </a:spcAft>
              <a:defRPr sz="2000"/>
            </a:pPr>
            <a:r>
              <a:t>Too much regularization: coefficients are excessively constrained and the model may underfit.</a:t>
            </a:r>
          </a:p>
          <a:p>
            <a:pPr>
              <a:spcAft>
                <a:spcPts val="800"/>
              </a:spcAft>
              <a:defRPr sz="2000"/>
            </a:pPr>
            <a:r>
              <a:t>Use a validation strategy such as cross-validation to compare candidate penalty values.</a:t>
            </a:r>
          </a:p>
          <a:p>
            <a:pPr>
              <a:spcAft>
                <a:spcPts val="800"/>
              </a:spcAft>
              <a:defRPr sz="2000"/>
            </a:pPr>
            <a:r>
              <a:t>Select the value that provides strong validation performance rather than merely the lowest training error.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Candidate 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05456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34056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Cross-validation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99432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28032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Validation error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93408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22008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Select λ*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87384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15984" y="2194560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Final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End-to-End Regression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Define the response and predictor variables.</a:t>
            </a:r>
          </a:p>
          <a:p>
            <a:pPr>
              <a:spcAft>
                <a:spcPts val="800"/>
              </a:spcAft>
              <a:defRPr sz="2000"/>
            </a:pPr>
            <a:r>
              <a:t>2. Explore scatter plots/correlations and understand the domain.</a:t>
            </a:r>
          </a:p>
          <a:p>
            <a:pPr>
              <a:spcAft>
                <a:spcPts val="800"/>
              </a:spcAft>
              <a:defRPr sz="2000"/>
            </a:pPr>
            <a:r>
              <a:t>3. Fit a suitable regression model.</a:t>
            </a:r>
          </a:p>
          <a:p>
            <a:pPr>
              <a:spcAft>
                <a:spcPts val="800"/>
              </a:spcAft>
              <a:defRPr sz="2000"/>
            </a:pPr>
            <a:r>
              <a:t>4. Evaluate residual error and goodness of fit.</a:t>
            </a:r>
          </a:p>
          <a:p>
            <a:pPr>
              <a:spcAft>
                <a:spcPts val="800"/>
              </a:spcAft>
              <a:defRPr sz="2000"/>
            </a:pPr>
            <a:r>
              <a:t>5. Compare alternative models using validation/re-sampling.</a:t>
            </a:r>
          </a:p>
          <a:p>
            <a:pPr>
              <a:spcAft>
                <a:spcPts val="800"/>
              </a:spcAft>
              <a:defRPr sz="2000"/>
            </a:pPr>
            <a:r>
              <a:t>6. Add nonlinear terms or regularization when justified.</a:t>
            </a:r>
          </a:p>
          <a:p>
            <a:pPr>
              <a:spcAft>
                <a:spcPts val="800"/>
              </a:spcAft>
              <a:defRPr sz="2000"/>
            </a:pPr>
            <a:r>
              <a:t>7. Test the final model on unseen data and interpret coefficients carefully.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1267097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Problem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7177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35777" y="2194560"/>
            <a:ext cx="1267097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Explore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02874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31474" y="2194560"/>
            <a:ext cx="1267097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Fit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98571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7171" y="2194560"/>
            <a:ext cx="1267097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Validate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94268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622868" y="2194560"/>
            <a:ext cx="1267097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Select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89965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18565" y="2194560"/>
            <a:ext cx="1267097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85662" y="269748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14262" y="2194560"/>
            <a:ext cx="1267097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Interpret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Important Formula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Simple regression: ŷ = a₀ + a₁x.</a:t>
            </a:r>
          </a:p>
          <a:p>
            <a:pPr>
              <a:spcAft>
                <a:spcPts val="800"/>
              </a:spcAft>
              <a:defRPr sz="2000"/>
            </a:pPr>
            <a:r>
              <a:t>Slope: a₁ = [Σxy − n x̄ȳ] / [Σx² − n x̄²].</a:t>
            </a:r>
          </a:p>
          <a:p>
            <a:pPr>
              <a:spcAft>
                <a:spcPts val="800"/>
              </a:spcAft>
              <a:defRPr sz="2000"/>
            </a:pPr>
            <a:r>
              <a:t>Intercept: a₀ = ȳ − a₁x̄.</a:t>
            </a:r>
          </a:p>
          <a:p>
            <a:pPr>
              <a:spcAft>
                <a:spcPts val="800"/>
              </a:spcAft>
              <a:defRPr sz="2000"/>
            </a:pPr>
            <a:r>
              <a:t>MSE = (1/n)Σ(y−ŷ)²; RMSE = √MSE.</a:t>
            </a:r>
          </a:p>
          <a:p>
            <a:pPr>
              <a:spcAft>
                <a:spcPts val="800"/>
              </a:spcAft>
              <a:defRPr sz="2000"/>
            </a:pPr>
            <a:r>
              <a:t>R² = 1 − SSE/SST.</a:t>
            </a:r>
          </a:p>
          <a:p>
            <a:pPr>
              <a:spcAft>
                <a:spcPts val="800"/>
              </a:spcAft>
              <a:defRPr sz="2000"/>
            </a:pPr>
            <a:r>
              <a:t>Logistic: p = 1/[1+e⁻ᶻ], z = a₀ + a₁x (or aᵀx).</a:t>
            </a:r>
          </a:p>
          <a:p>
            <a:pPr>
              <a:spcAft>
                <a:spcPts val="800"/>
              </a:spcAft>
              <a:defRPr sz="2000"/>
            </a:pPr>
            <a:r>
              <a:t>Ridge: squared-error + λΣa²; Lasso: squared-error + λΣ|a|; Elastic Net: both penalties.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Exam-oriented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Explain regression analysis and distinguish regression, correlation and causation.</a:t>
            </a:r>
          </a:p>
          <a:p>
            <a:pPr>
              <a:spcAft>
                <a:spcPts val="800"/>
              </a:spcAft>
              <a:defRPr sz="2000"/>
            </a:pPr>
            <a:r>
              <a:t>2. Derive the simple linear regression coefficients and solve a numerical problem.</a:t>
            </a:r>
          </a:p>
          <a:p>
            <a:pPr>
              <a:spcAft>
                <a:spcPts val="800"/>
              </a:spcAft>
              <a:defRPr sz="2000"/>
            </a:pPr>
            <a:r>
              <a:t>3. Explain OLS and compute MSE/RMSE/R² for given actual and predicted values.</a:t>
            </a:r>
          </a:p>
          <a:p>
            <a:pPr>
              <a:spcAft>
                <a:spcPts val="800"/>
              </a:spcAft>
              <a:defRPr sz="2000"/>
            </a:pPr>
            <a:r>
              <a:t>4. Explain matrix-form linear/multiple regression.</a:t>
            </a:r>
          </a:p>
          <a:p>
            <a:pPr>
              <a:spcAft>
                <a:spcPts val="800"/>
              </a:spcAft>
              <a:defRPr sz="2000"/>
            </a:pPr>
            <a:r>
              <a:t>5. Explain transformation-based and polynomial regression with a worked example.</a:t>
            </a:r>
          </a:p>
          <a:p>
            <a:pPr>
              <a:spcAft>
                <a:spcPts val="800"/>
              </a:spcAft>
              <a:defRPr sz="2000"/>
            </a:pPr>
            <a:r>
              <a:t>6. Explain logistic regression, sigmoid, odds and log-odds.</a:t>
            </a:r>
          </a:p>
          <a:p>
            <a:pPr>
              <a:spcAft>
                <a:spcPts val="800"/>
              </a:spcAft>
              <a:defRPr sz="2000"/>
            </a:pPr>
            <a:r>
              <a:t>7. Explain ridge, Lasso and Elastic Net and compare L1 vs L2 regularization.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Chapter 5 –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Regression is a supervised-learning approach for prediction and relationship modeling.</a:t>
            </a:r>
          </a:p>
          <a:p>
            <a:pPr>
              <a:spcAft>
                <a:spcPts val="800"/>
              </a:spcAft>
              <a:defRPr sz="2000"/>
            </a:pPr>
            <a:r>
              <a:t>Linear regression provides the foundational OLS model.</a:t>
            </a:r>
          </a:p>
          <a:p>
            <a:pPr>
              <a:spcAft>
                <a:spcPts val="800"/>
              </a:spcAft>
              <a:defRPr sz="2000"/>
            </a:pPr>
            <a:r>
              <a:t>Multiple regression extends the model to several predictors.</a:t>
            </a:r>
          </a:p>
          <a:p>
            <a:pPr>
              <a:spcAft>
                <a:spcPts val="800"/>
              </a:spcAft>
              <a:defRPr sz="2000"/>
            </a:pPr>
            <a:r>
              <a:t>Validation metrics quantify prediction error and goodness of fit.</a:t>
            </a:r>
          </a:p>
          <a:p>
            <a:pPr>
              <a:spcAft>
                <a:spcPts val="800"/>
              </a:spcAft>
              <a:defRPr sz="2000"/>
            </a:pPr>
            <a:r>
              <a:t>Polynomial/transform-based methods model nonlinear relationships.</a:t>
            </a:r>
          </a:p>
          <a:p>
            <a:pPr>
              <a:spcAft>
                <a:spcPts val="800"/>
              </a:spcAft>
              <a:defRPr sz="2000"/>
            </a:pPr>
            <a:r>
              <a:t>Logistic regression maps a linear predictor to a probability for binary classification.</a:t>
            </a:r>
          </a:p>
          <a:p>
            <a:pPr>
              <a:spcAft>
                <a:spcPts val="800"/>
              </a:spcAft>
              <a:defRPr sz="2000"/>
            </a:pPr>
            <a:r>
              <a:t>Regularization controls complexity: Ridge shrinks, Lasso can select, Elastic Net combines both.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5, pp. 131–153  |  Slide 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