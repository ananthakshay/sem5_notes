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– Chapter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Similarity-Based Learning | S. Sridhar &amp; M. Vijayalakshmi, Oxford University Press (2021)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Similarity-Based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Instance-based learning</a:t>
            </a:r>
          </a:p>
          <a:p>
            <a:pPr>
              <a:spcAft>
                <a:spcPts val="900"/>
              </a:spcAft>
              <a:defRPr sz="2400"/>
            </a:pPr>
            <a:r>
              <a:t>Nearest-neighbor learning</a:t>
            </a:r>
          </a:p>
          <a:p>
            <a:pPr>
              <a:spcAft>
                <a:spcPts val="900"/>
              </a:spcAft>
              <a:defRPr sz="2400"/>
            </a:pPr>
            <a:r>
              <a:t>Distance and similarity measures</a:t>
            </a:r>
          </a:p>
          <a:p>
            <a:pPr>
              <a:spcAft>
                <a:spcPts val="900"/>
              </a:spcAft>
              <a:defRPr sz="2400"/>
            </a:pPr>
            <a:r>
              <a:t>Weighted K-Nearest-Neighbor (WKNN)</a:t>
            </a:r>
          </a:p>
          <a:p>
            <a:pPr>
              <a:spcAft>
                <a:spcPts val="900"/>
              </a:spcAft>
              <a:defRPr sz="2400"/>
            </a:pPr>
            <a:r>
              <a:t>Nearest Centroid Classifier</a:t>
            </a:r>
          </a:p>
          <a:p>
            <a:pPr>
              <a:spcAft>
                <a:spcPts val="900"/>
              </a:spcAft>
              <a:defRPr sz="2400"/>
            </a:pPr>
            <a:r>
              <a:t>Locally Weighted Regression (LWR)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Similarity / Instance-Based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Stores or retains representative training instances.</a:t>
            </a:r>
          </a:p>
          <a:p>
            <a:pPr>
              <a:spcAft>
                <a:spcPts val="900"/>
              </a:spcAft>
              <a:defRPr sz="2400"/>
            </a:pPr>
            <a:r>
              <a:t>Prediction is delayed until a query instance arrives.</a:t>
            </a:r>
          </a:p>
          <a:p>
            <a:pPr>
              <a:spcAft>
                <a:spcPts val="900"/>
              </a:spcAft>
              <a:defRPr sz="2400"/>
            </a:pPr>
            <a:r>
              <a:t>Similarity between query and stored instances drives prediction.</a:t>
            </a:r>
          </a:p>
          <a:p>
            <a:pPr>
              <a:spcAft>
                <a:spcPts val="900"/>
              </a:spcAft>
              <a:defRPr sz="2400"/>
            </a:pPr>
            <a:r>
              <a:t>Often called lazy learning because model construction is minimal.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Instance-Based vs Model-Based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Instance-Based</a:t>
            </a:r>
          </a:p>
          <a:p>
            <a:pPr>
              <a:spcAft>
                <a:spcPts val="1000"/>
              </a:spcAft>
              <a:defRPr sz="2000"/>
            </a:pPr>
            <a:r>
              <a:t>• Retains training examples</a:t>
            </a:r>
          </a:p>
          <a:p>
            <a:pPr>
              <a:spcAft>
                <a:spcPts val="1000"/>
              </a:spcAft>
              <a:defRPr sz="2000"/>
            </a:pPr>
            <a:r>
              <a:t>• Prediction is computation-intensive</a:t>
            </a:r>
          </a:p>
          <a:p>
            <a:pPr>
              <a:spcAft>
                <a:spcPts val="1000"/>
              </a:spcAft>
              <a:defRPr sz="2000"/>
            </a:pPr>
            <a:r>
              <a:t>• Local decisions</a:t>
            </a:r>
          </a:p>
          <a:p>
            <a:pPr>
              <a:spcAft>
                <a:spcPts val="1000"/>
              </a:spcAft>
              <a:defRPr sz="2000"/>
            </a:pPr>
            <a:r>
              <a:t>• Flexible decision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60020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Model-Based</a:t>
            </a:r>
          </a:p>
          <a:p>
            <a:pPr>
              <a:spcAft>
                <a:spcPts val="1000"/>
              </a:spcAft>
              <a:defRPr sz="2000"/>
            </a:pPr>
            <a:r>
              <a:t>• Learns compact parameters/rules</a:t>
            </a:r>
          </a:p>
          <a:p>
            <a:pPr>
              <a:spcAft>
                <a:spcPts val="1000"/>
              </a:spcAft>
              <a:defRPr sz="2000"/>
            </a:pPr>
            <a:r>
              <a:t>• Training is computation-intensive</a:t>
            </a:r>
          </a:p>
          <a:p>
            <a:pPr>
              <a:spcAft>
                <a:spcPts val="1000"/>
              </a:spcAft>
              <a:defRPr sz="2000"/>
            </a:pPr>
            <a:r>
              <a:t>• Global or parametric structure</a:t>
            </a:r>
          </a:p>
          <a:p>
            <a:pPr>
              <a:spcAft>
                <a:spcPts val="1000"/>
              </a:spcAft>
              <a:defRPr sz="2000"/>
            </a:pPr>
            <a:r>
              <a:t>• Faster prediction in many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Similarity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Similarity quantifies how close two instances are.</a:t>
            </a:r>
          </a:p>
          <a:p>
            <a:pPr>
              <a:spcAft>
                <a:spcPts val="900"/>
              </a:spcAft>
              <a:defRPr sz="2400"/>
            </a:pPr>
            <a:r>
              <a:t>Distance is often converted into similarity.</a:t>
            </a:r>
          </a:p>
          <a:p>
            <a:pPr>
              <a:spcAft>
                <a:spcPts val="900"/>
              </a:spcAft>
              <a:defRPr sz="2400"/>
            </a:pPr>
            <a:r>
              <a:t>Choice of measure should reflect feature types and scale.</a:t>
            </a:r>
          </a:p>
          <a:p>
            <a:pPr>
              <a:spcAft>
                <a:spcPts val="900"/>
              </a:spcAft>
              <a:defRPr sz="2400"/>
            </a:pPr>
            <a:r>
              <a:t>Feature normalization is important when units differ.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Euclidean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d(x,z) = √Σᵢ (xᵢ − zᵢ)²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509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Common distance for continuous numeric features; sensitive to feature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Manhattan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d(x,z) = Σᵢ |xᵢ − zᵢ|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509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Also called L1 distance; useful when movement along coordinate dimensions is meaningful.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Minkowski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d(x,z) = (Σᵢ |xᵢ − zᵢ|ᵖ)¹ᐟᵖ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509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 = 1 gives Manhattan distance; p = 2 gives Euclidean distance.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Normalization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Suppose Age ranges 18–60 and Income ranges 20,000–2,00,000.</a:t>
            </a:r>
          </a:p>
          <a:p>
            <a:pPr>
              <a:spcAft>
                <a:spcPts val="900"/>
              </a:spcAft>
              <a:defRPr sz="2400"/>
            </a:pPr>
            <a:r>
              <a:t>Income can dominate Euclidean distance because of its larger numerical scale.</a:t>
            </a:r>
          </a:p>
          <a:p>
            <a:pPr>
              <a:spcAft>
                <a:spcPts val="900"/>
              </a:spcAft>
              <a:defRPr sz="2400"/>
            </a:pPr>
            <a:r>
              <a:t>Min–max normalization or standardization puts features on comparable scales.</a:t>
            </a:r>
          </a:p>
          <a:p>
            <a:pPr>
              <a:spcAft>
                <a:spcPts val="900"/>
              </a:spcAft>
              <a:defRPr sz="2400"/>
            </a:pPr>
            <a:r>
              <a:t>Distance-based algorithms are particularly sensitive to this issue.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Nearest-Neighbor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Given a query point, calculate its distance to training instances.</a:t>
            </a:r>
          </a:p>
          <a:p>
            <a:pPr>
              <a:spcAft>
                <a:spcPts val="900"/>
              </a:spcAft>
              <a:defRPr sz="2400"/>
            </a:pPr>
            <a:r>
              <a:t>Select the nearest instance(s).</a:t>
            </a:r>
          </a:p>
          <a:p>
            <a:pPr>
              <a:spcAft>
                <a:spcPts val="900"/>
              </a:spcAft>
              <a:defRPr sz="2400"/>
            </a:pPr>
            <a:r>
              <a:t>For classification, use the class label(s) of selected neighbors.</a:t>
            </a:r>
          </a:p>
          <a:p>
            <a:pPr>
              <a:spcAft>
                <a:spcPts val="900"/>
              </a:spcAft>
              <a:defRPr sz="2400"/>
            </a:pPr>
            <a:r>
              <a:t>For regression, aggregate their target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1-Nearest Neighbor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Find the single closest training instance.</a:t>
            </a:r>
          </a:p>
          <a:p>
            <a:pPr>
              <a:spcAft>
                <a:spcPts val="900"/>
              </a:spcAft>
              <a:defRPr sz="2400"/>
            </a:pPr>
            <a:r>
              <a:t>Assign its class to the query for classification.</a:t>
            </a:r>
          </a:p>
          <a:p>
            <a:pPr>
              <a:spcAft>
                <a:spcPts val="900"/>
              </a:spcAft>
              <a:defRPr sz="2400"/>
            </a:pPr>
            <a:r>
              <a:t>For regression, use the nearest target value.</a:t>
            </a:r>
          </a:p>
          <a:p>
            <a:pPr>
              <a:spcAft>
                <a:spcPts val="900"/>
              </a:spcAft>
              <a:defRPr sz="2400"/>
            </a:pPr>
            <a:r>
              <a:t>Simple and highly local, but sensitive to noise and individual examples.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K-Nearest Neighbors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Select K closest training instances.</a:t>
            </a:r>
          </a:p>
          <a:p>
            <a:pPr>
              <a:spcAft>
                <a:spcPts val="900"/>
              </a:spcAft>
              <a:defRPr sz="2400"/>
            </a:pPr>
            <a:r>
              <a:t>Classification: majority vote.</a:t>
            </a:r>
          </a:p>
          <a:p>
            <a:pPr>
              <a:spcAft>
                <a:spcPts val="900"/>
              </a:spcAft>
              <a:defRPr sz="2400"/>
            </a:pPr>
            <a:r>
              <a:t>Regression: average target values.</a:t>
            </a:r>
          </a:p>
          <a:p>
            <a:pPr>
              <a:spcAft>
                <a:spcPts val="900"/>
              </a:spcAft>
              <a:defRPr sz="2400"/>
            </a:pPr>
            <a:r>
              <a:t>K controls locality: small K gives flexible boundaries; larger K gives smoother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Small K: low bias, potentially high variance.</a:t>
            </a:r>
          </a:p>
          <a:p>
            <a:pPr>
              <a:spcAft>
                <a:spcPts val="900"/>
              </a:spcAft>
              <a:defRPr sz="2400"/>
            </a:pPr>
            <a:r>
              <a:t>Large K: smoother model, potentially higher bias.</a:t>
            </a:r>
          </a:p>
          <a:p>
            <a:pPr>
              <a:spcAft>
                <a:spcPts val="900"/>
              </a:spcAft>
              <a:defRPr sz="2400"/>
            </a:pPr>
            <a:r>
              <a:t>K is commonly selected using validation or cross-validation.</a:t>
            </a:r>
          </a:p>
          <a:p>
            <a:pPr>
              <a:spcAft>
                <a:spcPts val="900"/>
              </a:spcAft>
              <a:defRPr sz="2400"/>
            </a:pPr>
            <a:r>
              <a:t>Odd K can reduce ties in binary classification.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KNN Classification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Query: a new point with two features.</a:t>
            </a:r>
          </a:p>
          <a:p>
            <a:pPr>
              <a:spcAft>
                <a:spcPts val="900"/>
              </a:spcAft>
              <a:defRPr sz="2400"/>
            </a:pPr>
            <a:r>
              <a:t>Compute distances to all training points.</a:t>
            </a:r>
          </a:p>
          <a:p>
            <a:pPr>
              <a:spcAft>
                <a:spcPts val="900"/>
              </a:spcAft>
              <a:defRPr sz="2400"/>
            </a:pPr>
            <a:r>
              <a:t>Sort distances and select K nearest points.</a:t>
            </a:r>
          </a:p>
          <a:p>
            <a:pPr>
              <a:spcAft>
                <a:spcPts val="900"/>
              </a:spcAft>
              <a:defRPr sz="2400"/>
            </a:pPr>
            <a:r>
              <a:t>Count class labels among neighbors.</a:t>
            </a:r>
          </a:p>
          <a:p>
            <a:pPr>
              <a:spcAft>
                <a:spcPts val="900"/>
              </a:spcAft>
              <a:defRPr sz="2400"/>
            </a:pPr>
            <a:r>
              <a:t>Assign the majority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Weighted K-Nearest Neighbor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Not all neighbors should contribute equally.</a:t>
            </a:r>
          </a:p>
          <a:p>
            <a:pPr>
              <a:spcAft>
                <a:spcPts val="900"/>
              </a:spcAft>
              <a:defRPr sz="2400"/>
            </a:pPr>
            <a:r>
              <a:t>Closer neighbors receive larger weights.</a:t>
            </a:r>
          </a:p>
          <a:p>
            <a:pPr>
              <a:spcAft>
                <a:spcPts val="900"/>
              </a:spcAft>
              <a:defRPr sz="2400"/>
            </a:pPr>
            <a:r>
              <a:t>A common choice is inverse-distance weighting.</a:t>
            </a:r>
          </a:p>
          <a:p>
            <a:pPr>
              <a:spcAft>
                <a:spcPts val="900"/>
              </a:spcAft>
              <a:defRPr sz="2400"/>
            </a:pPr>
            <a:r>
              <a:t>The prediction is therefore influenced more strongly by nearby instances.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WKNN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wᵢ = 1 / (dᵢ + 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509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ε avoids division by zero. Other decreasing functions of distance may also be used.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WKNN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Score(c) = Σᵢ wᵢ · I(yᵢ =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509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Choose the class with the largest weighted score.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WKNN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ŷ = Σᵢ wᵢ yᵢ / Σᵢ wᵢ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509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A weighted average of target values, emphasizing nearby observations.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WKNN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Suppose three neighbors have distances 1, 2 and 4.</a:t>
            </a:r>
          </a:p>
          <a:p>
            <a:pPr>
              <a:spcAft>
                <a:spcPts val="900"/>
              </a:spcAft>
              <a:defRPr sz="2400"/>
            </a:pPr>
            <a:r>
              <a:t>Using w = 1/d gives weights 1, 0.5 and 0.25.</a:t>
            </a:r>
          </a:p>
          <a:p>
            <a:pPr>
              <a:spcAft>
                <a:spcPts val="900"/>
              </a:spcAft>
              <a:defRPr sz="2400"/>
            </a:pPr>
            <a:r>
              <a:t>The closest neighbor contributes four times as much as the farthest.</a:t>
            </a:r>
          </a:p>
          <a:p>
            <a:pPr>
              <a:spcAft>
                <a:spcPts val="900"/>
              </a:spcAft>
              <a:defRPr sz="2400"/>
            </a:pPr>
            <a:r>
              <a:t>Calculate weighted class scores or a weighted numeric prediction.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Nearest Centroid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Compute the centroid of each class.</a:t>
            </a:r>
          </a:p>
          <a:p>
            <a:pPr>
              <a:spcAft>
                <a:spcPts val="900"/>
              </a:spcAft>
              <a:defRPr sz="2400"/>
            </a:pPr>
            <a:r>
              <a:t>Measure distance from the query to each class centroid.</a:t>
            </a:r>
          </a:p>
          <a:p>
            <a:pPr>
              <a:spcAft>
                <a:spcPts val="900"/>
              </a:spcAft>
              <a:defRPr sz="2400"/>
            </a:pPr>
            <a:r>
              <a:t>Assign the query to the nearest centroid.</a:t>
            </a:r>
          </a:p>
          <a:p>
            <a:pPr>
              <a:spcAft>
                <a:spcPts val="900"/>
              </a:spcAft>
              <a:defRPr sz="2400"/>
            </a:pPr>
            <a:r>
              <a:t>Simple, fast and effective when classes are reasonably compact.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Centroid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μc = (1/Nc) Σ xᵢ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509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The centroid is the mean feature vector of instances belonging to class 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Nearest Centroid: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Class A centroid = mean of all A feature vectors.</a:t>
            </a:r>
          </a:p>
          <a:p>
            <a:pPr>
              <a:spcAft>
                <a:spcPts val="900"/>
              </a:spcAft>
              <a:defRPr sz="2400"/>
            </a:pPr>
            <a:r>
              <a:t>Class B centroid = mean of all B feature vectors.</a:t>
            </a:r>
          </a:p>
          <a:p>
            <a:pPr>
              <a:spcAft>
                <a:spcPts val="900"/>
              </a:spcAft>
              <a:defRPr sz="2400"/>
            </a:pPr>
            <a:r>
              <a:t>For a new point, calculate distance to both centroids.</a:t>
            </a:r>
          </a:p>
          <a:p>
            <a:pPr>
              <a:spcAft>
                <a:spcPts val="900"/>
              </a:spcAft>
              <a:defRPr sz="2400"/>
            </a:pPr>
            <a:r>
              <a:t>Choose the class whose centroid is closer.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Locally Weighted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LWR fits a regression model locally around a query point.</a:t>
            </a:r>
          </a:p>
          <a:p>
            <a:pPr>
              <a:spcAft>
                <a:spcPts val="900"/>
              </a:spcAft>
              <a:defRPr sz="2400"/>
            </a:pPr>
            <a:r>
              <a:t>Nearby observations receive higher weights.</a:t>
            </a:r>
          </a:p>
          <a:p>
            <a:pPr>
              <a:spcAft>
                <a:spcPts val="900"/>
              </a:spcAft>
              <a:defRPr sz="2400"/>
            </a:pPr>
            <a:r>
              <a:t>A separate local model is effectively constructed for each query.</a:t>
            </a:r>
          </a:p>
          <a:p>
            <a:pPr>
              <a:spcAft>
                <a:spcPts val="900"/>
              </a:spcAft>
              <a:defRPr sz="2400"/>
            </a:pPr>
            <a:r>
              <a:t>Useful when the overall relationship is nonlinear but locally smooth.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LWR Weight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wᵢ(xq) = exp(−(xq − xᵢ)² / 2τ²)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509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τ controls the width of the neighborhood; smaller τ gives stronger locality.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LWR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1. Choose a query point.</a:t>
            </a:r>
          </a:p>
          <a:p>
            <a:pPr>
              <a:spcAft>
                <a:spcPts val="900"/>
              </a:spcAft>
              <a:defRPr sz="2400"/>
            </a:pPr>
            <a:r>
              <a:t>2. Compute distance from query to training points.</a:t>
            </a:r>
          </a:p>
          <a:p>
            <a:pPr>
              <a:spcAft>
                <a:spcPts val="900"/>
              </a:spcAft>
              <a:defRPr sz="2400"/>
            </a:pPr>
            <a:r>
              <a:t>3. Assign distance-based weights.</a:t>
            </a:r>
          </a:p>
          <a:p>
            <a:pPr>
              <a:spcAft>
                <a:spcPts val="900"/>
              </a:spcAft>
              <a:defRPr sz="2400"/>
            </a:pPr>
            <a:r>
              <a:t>4. Fit weighted regression using those weights.</a:t>
            </a:r>
          </a:p>
          <a:p>
            <a:pPr>
              <a:spcAft>
                <a:spcPts val="900"/>
              </a:spcAft>
              <a:defRPr sz="2400"/>
            </a:pPr>
            <a:r>
              <a:t>5. Predict the query output.</a:t>
            </a:r>
          </a:p>
          <a:p>
            <a:pPr>
              <a:spcAft>
                <a:spcPts val="900"/>
              </a:spcAft>
              <a:defRPr sz="2400"/>
            </a:pPr>
            <a:r>
              <a:t>6. Repeat for another query if required.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Bandwidth 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Small τ → only very local points have strong influence.</a:t>
            </a:r>
          </a:p>
          <a:p>
            <a:pPr>
              <a:spcAft>
                <a:spcPts val="900"/>
              </a:spcAft>
              <a:defRPr sz="2400"/>
            </a:pPr>
            <a:r>
              <a:t>Large τ → more points contribute substantially.</a:t>
            </a:r>
          </a:p>
          <a:p>
            <a:pPr>
              <a:spcAft>
                <a:spcPts val="900"/>
              </a:spcAft>
              <a:defRPr sz="2400"/>
            </a:pPr>
            <a:r>
              <a:t>Bandwidth controls the bias–variance trade-off.</a:t>
            </a:r>
          </a:p>
          <a:p>
            <a:pPr>
              <a:spcAft>
                <a:spcPts val="900"/>
              </a:spcAft>
              <a:defRPr sz="2400"/>
            </a:pPr>
            <a:r>
              <a:t>Select τ using validation/cross-validation.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Similarity-Based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Simple conceptual model.</a:t>
            </a:r>
          </a:p>
          <a:p>
            <a:pPr>
              <a:spcAft>
                <a:spcPts val="900"/>
              </a:spcAft>
              <a:defRPr sz="2400"/>
            </a:pPr>
            <a:r>
              <a:t>Naturally captures local patterns.</a:t>
            </a:r>
          </a:p>
          <a:p>
            <a:pPr>
              <a:spcAft>
                <a:spcPts val="900"/>
              </a:spcAft>
              <a:defRPr sz="2400"/>
            </a:pPr>
            <a:r>
              <a:t>Flexible decision boundaries.</a:t>
            </a:r>
          </a:p>
          <a:p>
            <a:pPr>
              <a:spcAft>
                <a:spcPts val="900"/>
              </a:spcAft>
              <a:defRPr sz="2400"/>
            </a:pPr>
            <a:r>
              <a:t>Can adapt as new training examples are added.</a:t>
            </a:r>
          </a:p>
          <a:p>
            <a:pPr>
              <a:spcAft>
                <a:spcPts val="900"/>
              </a:spcAft>
              <a:defRPr sz="2400"/>
            </a:pPr>
            <a:r>
              <a:t>Useful when a meaningful similarity measure is available.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Prediction can be computationally expensive.</a:t>
            </a:r>
          </a:p>
          <a:p>
            <a:pPr>
              <a:spcAft>
                <a:spcPts val="900"/>
              </a:spcAft>
              <a:defRPr sz="2400"/>
            </a:pPr>
            <a:r>
              <a:t>Requires storing training instances.</a:t>
            </a:r>
          </a:p>
          <a:p>
            <a:pPr>
              <a:spcAft>
                <a:spcPts val="900"/>
              </a:spcAft>
              <a:defRPr sz="2400"/>
            </a:pPr>
            <a:r>
              <a:t>Sensitive to irrelevant features and feature scales.</a:t>
            </a:r>
          </a:p>
          <a:p>
            <a:pPr>
              <a:spcAft>
                <a:spcPts val="900"/>
              </a:spcAft>
              <a:defRPr sz="2400"/>
            </a:pPr>
            <a:r>
              <a:t>Choice of distance metric and K matters.</a:t>
            </a:r>
          </a:p>
          <a:p>
            <a:pPr>
              <a:spcAft>
                <a:spcPts val="900"/>
              </a:spcAft>
              <a:defRPr sz="2400"/>
            </a:pPr>
            <a:r>
              <a:t>High-dimensional spaces can reduce the usefulness of distance measures.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Curse of Dimensionality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As dimensionality increases, data become sparse.</a:t>
            </a:r>
          </a:p>
          <a:p>
            <a:pPr>
              <a:spcAft>
                <a:spcPts val="900"/>
              </a:spcAft>
              <a:defRPr sz="2400"/>
            </a:pPr>
            <a:r>
              <a:t>Distances between points can become less discriminative.</a:t>
            </a:r>
          </a:p>
          <a:p>
            <a:pPr>
              <a:spcAft>
                <a:spcPts val="900"/>
              </a:spcAft>
              <a:defRPr sz="2400"/>
            </a:pPr>
            <a:r>
              <a:t>More data may be required to represent local neighborhoods adequately.</a:t>
            </a:r>
          </a:p>
          <a:p>
            <a:pPr>
              <a:spcAft>
                <a:spcPts val="900"/>
              </a:spcAft>
              <a:defRPr sz="2400"/>
            </a:pPr>
            <a:r>
              <a:t>Feature selection or dimensionality reduction can help.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KNN / WKNN</a:t>
            </a:r>
          </a:p>
          <a:p>
            <a:pPr>
              <a:spcAft>
                <a:spcPts val="1000"/>
              </a:spcAft>
              <a:defRPr sz="2000"/>
            </a:pPr>
            <a:r>
              <a:t>• Uses local neighbors</a:t>
            </a:r>
          </a:p>
          <a:p>
            <a:pPr>
              <a:spcAft>
                <a:spcPts val="1000"/>
              </a:spcAft>
              <a:defRPr sz="2000"/>
            </a:pPr>
            <a:r>
              <a:t>• Classification or regression</a:t>
            </a:r>
          </a:p>
          <a:p>
            <a:pPr>
              <a:spcAft>
                <a:spcPts val="1000"/>
              </a:spcAft>
              <a:defRPr sz="2000"/>
            </a:pPr>
            <a:r>
              <a:t>• K controls neighborhood</a:t>
            </a:r>
          </a:p>
          <a:p>
            <a:pPr>
              <a:spcAft>
                <a:spcPts val="1000"/>
              </a:spcAft>
              <a:defRPr sz="2000"/>
            </a:pPr>
            <a:r>
              <a:t>• WKNN gives closer points more influence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60020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Nearest Centroid / LWR</a:t>
            </a:r>
          </a:p>
          <a:p>
            <a:pPr>
              <a:spcAft>
                <a:spcPts val="1000"/>
              </a:spcAft>
              <a:defRPr sz="2000"/>
            </a:pPr>
            <a:r>
              <a:t>• Centroid uses class summaries</a:t>
            </a:r>
          </a:p>
          <a:p>
            <a:pPr>
              <a:spcAft>
                <a:spcPts val="1000"/>
              </a:spcAft>
              <a:defRPr sz="2000"/>
            </a:pPr>
            <a:r>
              <a:t>• LWR fits local regression</a:t>
            </a:r>
          </a:p>
          <a:p>
            <a:pPr>
              <a:spcAft>
                <a:spcPts val="1000"/>
              </a:spcAft>
              <a:defRPr sz="2000"/>
            </a:pPr>
            <a:r>
              <a:t>• Both exploit locality differently</a:t>
            </a:r>
          </a:p>
          <a:p>
            <a:pPr>
              <a:spcAft>
                <a:spcPts val="1000"/>
              </a:spcAft>
              <a:defRPr sz="2000"/>
            </a:pPr>
            <a:r>
              <a:t>• Appropriate scaling remains important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Similarity-based methods make predictions from nearby instances.</a:t>
            </a:r>
          </a:p>
          <a:p>
            <a:pPr>
              <a:spcAft>
                <a:spcPts val="900"/>
              </a:spcAft>
              <a:defRPr sz="2400"/>
            </a:pPr>
            <a:r>
              <a:t>Distance metrics determine neighborhood structure.</a:t>
            </a:r>
          </a:p>
          <a:p>
            <a:pPr>
              <a:spcAft>
                <a:spcPts val="900"/>
              </a:spcAft>
              <a:defRPr sz="2400"/>
            </a:pPr>
            <a:r>
              <a:t>KNN uses equal neighbor influence; WKNN uses distance-based influence.</a:t>
            </a:r>
          </a:p>
          <a:p>
            <a:pPr>
              <a:spcAft>
                <a:spcPts val="900"/>
              </a:spcAft>
              <a:defRPr sz="2400"/>
            </a:pPr>
            <a:r>
              <a:t>Nearest Centroid compares queries with class prototypes.</a:t>
            </a:r>
          </a:p>
          <a:p>
            <a:pPr>
              <a:spcAft>
                <a:spcPts val="900"/>
              </a:spcAft>
              <a:defRPr sz="2400"/>
            </a:pPr>
            <a:r>
              <a:t>LWR builds a locally weighted regression model.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Examination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Calculate Euclidean/Manhattan/Minkowski distance.</a:t>
            </a:r>
          </a:p>
          <a:p>
            <a:pPr>
              <a:spcAft>
                <a:spcPts val="900"/>
              </a:spcAft>
              <a:defRPr sz="2400"/>
            </a:pPr>
            <a:r>
              <a:t>Solve KNN classification problems.</a:t>
            </a:r>
          </a:p>
          <a:p>
            <a:pPr>
              <a:spcAft>
                <a:spcPts val="900"/>
              </a:spcAft>
              <a:defRPr sz="2400"/>
            </a:pPr>
            <a:r>
              <a:t>Solve WKNN using inverse-distance weights.</a:t>
            </a:r>
          </a:p>
          <a:p>
            <a:pPr>
              <a:spcAft>
                <a:spcPts val="900"/>
              </a:spcAft>
              <a:defRPr sz="2400"/>
            </a:pPr>
            <a:r>
              <a:t>Compute class centroids and classify a query.</a:t>
            </a:r>
          </a:p>
          <a:p>
            <a:pPr>
              <a:spcAft>
                <a:spcPts val="900"/>
              </a:spcAft>
              <a:defRPr sz="2400"/>
            </a:pPr>
            <a:r>
              <a:t>Explain LWR and the effect of bandwidth.</a:t>
            </a:r>
          </a:p>
          <a:p>
            <a:pPr>
              <a:spcAft>
                <a:spcPts val="900"/>
              </a:spcAft>
              <a:defRPr sz="2400"/>
            </a:pPr>
            <a:r>
              <a:t>Discuss advantages, limitations and curse of dimensionality.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