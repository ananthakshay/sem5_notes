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vdodVlGN3F6zoXOk2osmso2yU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DC05C0-68A9-4DE6-A59A-6872BC1DB4C4}">
  <a:tblStyle styleId="{A1DC05C0-68A9-4DE6-A59A-6872BC1DB4C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7b3131d7342725ff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h7b3131d7342725f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7b3131d7342725ff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7b3131d7342725f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7b3131d7342725ff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h7b3131d7342725f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7b3131d7342725ff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h7b3131d7342725f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7b3131d7342725ff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h7b3131d7342725f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7b3131d7342725ff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7b3131d7342725f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7b3131d7342725ff_0_3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h7b3131d7342725f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569d85258256b9b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h569d85258256b9b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h569d85258256b9ba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h569d85258256b9ba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7b3131d7342725ff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h7b3131d7342725f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7b3131d7342725ff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h7b3131d7342725ff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7b3131d7342725ff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h7b3131d7342725ff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7b3131d7342725ff_0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h7b3131d7342725f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7b3131d7342725ff_0_3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7b3131d7342725ff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7b3131d7342725ff_0_3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h7b3131d7342725ff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7b3131d7342725ff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h7b3131d7342725f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579826f69ffc837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h579826f69ffc83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7b3131d7342725ff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h7b3131d7342725f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648b28e9c55eb51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h648b28e9c55eb5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579826f69ffc8371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579826f69ffc837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h579826f69ffc8371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h579826f69ffc837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h579826f69ffc8371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h579826f69ffc837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h579826f69ffc837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h579826f69ffc837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579826f69ffc8371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h579826f69ffc837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h579826f69ffc8371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h579826f69ffc837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h579826f69ffc837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h579826f69ffc837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h579826f69ffc8371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h579826f69ffc8371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579826f69ffc837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h579826f69ffc837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579826f69ffc837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h579826f69ffc837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579826f69ffc837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h579826f69ffc837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579826f69ffc837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h579826f69ffc837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579826f69ffc8371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h579826f69ffc837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h579826f69ffc8371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h579826f69ffc8371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h579826f69ffc837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h579826f69ffc837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h579826f69ffc8371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h579826f69ffc8371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579826f69ffc8371_0_1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h579826f69ffc8371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h648b28e9c55eb513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h648b28e9c55eb51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h579826f69ffc8371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h579826f69ffc8371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h648b28e9c55eb513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h648b28e9c55eb51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h648b28e9c55eb513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h648b28e9c55eb51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h648b28e9c55eb513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h648b28e9c55eb51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p:nvPr>
            <p:ph idx="2" type="pic"/>
          </p:nvPr>
        </p:nvSpPr>
        <p:spPr>
          <a:xfrm>
            <a:off x="5183188" y="987425"/>
            <a:ext cx="6172200" cy="4873625"/>
          </a:xfrm>
          <a:prstGeom prst="rect">
            <a:avLst/>
          </a:prstGeom>
          <a:noFill/>
          <a:ln>
            <a:noFill/>
          </a:ln>
        </p:spPr>
      </p:sp>
      <p:sp>
        <p:nvSpPr>
          <p:cNvPr id="64" name="Google Shape;64;p1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h579826f69ffc8371_0_17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82" name="Google Shape;82;h579826f69ffc8371_0_17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83" name="Google Shape;83;h579826f69ffc8371_0_17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18.png"/><Relationship Id="rId13" Type="http://schemas.openxmlformats.org/officeDocument/2006/relationships/image" Target="../media/image3.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2.png"/><Relationship Id="rId9" Type="http://schemas.openxmlformats.org/officeDocument/2006/relationships/image" Target="../media/image11.png"/><Relationship Id="rId15" Type="http://schemas.openxmlformats.org/officeDocument/2006/relationships/image" Target="../media/image2.png"/><Relationship Id="rId14" Type="http://schemas.openxmlformats.org/officeDocument/2006/relationships/image" Target="../media/image9.png"/><Relationship Id="rId16"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image" Target="../media/image5.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44.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1.png"/><Relationship Id="rId4" Type="http://schemas.openxmlformats.org/officeDocument/2006/relationships/image" Target="../media/image39.png"/><Relationship Id="rId5"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5.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51.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50.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5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5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759542" y="896067"/>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IN">
                <a:latin typeface="Times New Roman"/>
                <a:ea typeface="Times New Roman"/>
                <a:cs typeface="Times New Roman"/>
                <a:sym typeface="Times New Roman"/>
              </a:rPr>
              <a:t>UNIT-2</a:t>
            </a:r>
            <a:endParaRPr b="1">
              <a:latin typeface="Times New Roman"/>
              <a:ea typeface="Times New Roman"/>
              <a:cs typeface="Times New Roman"/>
              <a:sym typeface="Times New Roman"/>
            </a:endParaRPr>
          </a:p>
        </p:txBody>
      </p:sp>
      <p:pic>
        <p:nvPicPr>
          <p:cNvPr id="89" name="Google Shape;89;p1"/>
          <p:cNvPicPr preferRelativeResize="0"/>
          <p:nvPr/>
        </p:nvPicPr>
        <p:blipFill rotWithShape="1">
          <a:blip r:embed="rId3">
            <a:alphaModFix/>
          </a:blip>
          <a:srcRect b="0" l="0" r="0" t="0"/>
          <a:stretch/>
        </p:blipFill>
        <p:spPr>
          <a:xfrm>
            <a:off x="478475" y="1966425"/>
            <a:ext cx="11323675" cy="2745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nvSpPr>
        <p:spPr>
          <a:xfrm>
            <a:off x="3130825" y="780100"/>
            <a:ext cx="8455800" cy="509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2400" u="none" cap="none" strike="noStrike">
                <a:solidFill>
                  <a:srgbClr val="FF0000"/>
                </a:solidFill>
                <a:latin typeface="Times New Roman"/>
                <a:ea typeface="Times New Roman"/>
                <a:cs typeface="Times New Roman"/>
                <a:sym typeface="Times New Roman"/>
              </a:rPr>
              <a:t>Understanding Data – 2: </a:t>
            </a:r>
            <a:endParaRPr b="1" i="0" sz="2400" u="none" cap="none" strike="noStrike">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lang="en-IN" sz="2400">
                <a:solidFill>
                  <a:schemeClr val="dk1"/>
                </a:solidFill>
                <a:latin typeface="Times New Roman"/>
                <a:ea typeface="Times New Roman"/>
                <a:cs typeface="Times New Roman"/>
                <a:sym typeface="Times New Roman"/>
              </a:rPr>
              <a:t>2.8 </a:t>
            </a:r>
            <a:r>
              <a:rPr i="0" lang="en-IN" sz="2400" u="none" cap="none" strike="noStrike">
                <a:solidFill>
                  <a:schemeClr val="dk1"/>
                </a:solidFill>
                <a:latin typeface="Times New Roman"/>
                <a:ea typeface="Times New Roman"/>
                <a:cs typeface="Times New Roman"/>
                <a:sym typeface="Times New Roman"/>
              </a:rPr>
              <a:t>Mathematics for Multivariate Data </a:t>
            </a:r>
            <a:endParaRPr i="0" sz="2400" u="none" cap="none" strike="noStrike">
              <a:solidFill>
                <a:schemeClr val="dk1"/>
              </a:solidFill>
              <a:latin typeface="Times New Roman"/>
              <a:ea typeface="Times New Roman"/>
              <a:cs typeface="Times New Roman"/>
              <a:sym typeface="Times New Roman"/>
            </a:endParaRPr>
          </a:p>
          <a:p>
            <a:pPr indent="457200" lvl="0" marL="0" marR="0" rtl="0" algn="l">
              <a:spcBef>
                <a:spcPts val="0"/>
              </a:spcBef>
              <a:spcAft>
                <a:spcPts val="0"/>
              </a:spcAft>
              <a:buNone/>
            </a:pPr>
            <a:r>
              <a:rPr lang="en-IN" sz="2200">
                <a:solidFill>
                  <a:srgbClr val="9900FF"/>
                </a:solidFill>
                <a:latin typeface="Times New Roman"/>
                <a:ea typeface="Times New Roman"/>
                <a:cs typeface="Times New Roman"/>
                <a:sym typeface="Times New Roman"/>
              </a:rPr>
              <a:t>2.8.1 Linear Systems and Gaussian Elimination for Multivariate Data </a:t>
            </a:r>
            <a:endParaRPr sz="2200">
              <a:solidFill>
                <a:srgbClr val="9900FF"/>
              </a:solidFill>
              <a:latin typeface="Times New Roman"/>
              <a:ea typeface="Times New Roman"/>
              <a:cs typeface="Times New Roman"/>
              <a:sym typeface="Times New Roman"/>
            </a:endParaRPr>
          </a:p>
          <a:p>
            <a:pPr indent="457200" lvl="0" marL="0" marR="0" rtl="0" algn="l">
              <a:spcBef>
                <a:spcPts val="0"/>
              </a:spcBef>
              <a:spcAft>
                <a:spcPts val="0"/>
              </a:spcAft>
              <a:buNone/>
            </a:pPr>
            <a:r>
              <a:rPr lang="en-IN" sz="2200">
                <a:solidFill>
                  <a:srgbClr val="9900FF"/>
                </a:solidFill>
                <a:latin typeface="Times New Roman"/>
                <a:ea typeface="Times New Roman"/>
                <a:cs typeface="Times New Roman"/>
                <a:sym typeface="Times New Roman"/>
              </a:rPr>
              <a:t>2.8.2 Matrix Decompositions </a:t>
            </a:r>
            <a:endParaRPr sz="2200">
              <a:solidFill>
                <a:srgbClr val="9900FF"/>
              </a:solidFill>
              <a:latin typeface="Times New Roman"/>
              <a:ea typeface="Times New Roman"/>
              <a:cs typeface="Times New Roman"/>
              <a:sym typeface="Times New Roman"/>
            </a:endParaRPr>
          </a:p>
          <a:p>
            <a:pPr indent="457200" lvl="0" marL="0" marR="0" rtl="0" algn="l">
              <a:spcBef>
                <a:spcPts val="0"/>
              </a:spcBef>
              <a:spcAft>
                <a:spcPts val="0"/>
              </a:spcAft>
              <a:buNone/>
            </a:pPr>
            <a:r>
              <a:rPr lang="en-IN" sz="2200">
                <a:solidFill>
                  <a:srgbClr val="9900FF"/>
                </a:solidFill>
                <a:latin typeface="Times New Roman"/>
                <a:ea typeface="Times New Roman"/>
                <a:cs typeface="Times New Roman"/>
                <a:sym typeface="Times New Roman"/>
              </a:rPr>
              <a:t>2.8.3 Machine Learning and Importance of Probability and Statistics </a:t>
            </a:r>
            <a:endParaRPr sz="2200">
              <a:solidFill>
                <a:srgbClr val="9900FF"/>
              </a:solidFill>
              <a:latin typeface="Times New Roman"/>
              <a:ea typeface="Times New Roman"/>
              <a:cs typeface="Times New Roman"/>
              <a:sym typeface="Times New Roman"/>
            </a:endParaRPr>
          </a:p>
          <a:p>
            <a:pPr indent="0" lvl="0" marL="1371600" marR="0" rtl="0" algn="l">
              <a:spcBef>
                <a:spcPts val="0"/>
              </a:spcBef>
              <a:spcAft>
                <a:spcPts val="0"/>
              </a:spcAft>
              <a:buNone/>
            </a:pPr>
            <a:r>
              <a:rPr b="1" lang="en-IN" sz="2000">
                <a:solidFill>
                  <a:srgbClr val="980000"/>
                </a:solidFill>
                <a:latin typeface="Times New Roman"/>
                <a:ea typeface="Times New Roman"/>
                <a:cs typeface="Times New Roman"/>
                <a:sym typeface="Times New Roman"/>
              </a:rPr>
              <a:t>Probability Distributions</a:t>
            </a:r>
            <a:endParaRPr b="1" sz="2000">
              <a:solidFill>
                <a:srgbClr val="980000"/>
              </a:solidFill>
              <a:latin typeface="Times New Roman"/>
              <a:ea typeface="Times New Roman"/>
              <a:cs typeface="Times New Roman"/>
              <a:sym typeface="Times New Roman"/>
            </a:endParaRPr>
          </a:p>
          <a:p>
            <a:pPr indent="0" lvl="0" marL="1371600" rtl="0" algn="l">
              <a:lnSpc>
                <a:spcPct val="115000"/>
              </a:lnSpc>
              <a:spcBef>
                <a:spcPts val="0"/>
              </a:spcBef>
              <a:spcAft>
                <a:spcPts val="0"/>
              </a:spcAft>
              <a:buNone/>
            </a:pPr>
            <a:r>
              <a:rPr b="1" lang="en-IN" sz="2000">
                <a:solidFill>
                  <a:srgbClr val="980000"/>
                </a:solidFill>
                <a:latin typeface="Times New Roman"/>
                <a:ea typeface="Times New Roman"/>
                <a:cs typeface="Times New Roman"/>
                <a:sym typeface="Times New Roman"/>
              </a:rPr>
              <a:t>Density Estimation</a:t>
            </a:r>
            <a:endParaRPr sz="2200">
              <a:solidFill>
                <a:srgbClr val="9900FF"/>
              </a:solidFill>
              <a:latin typeface="Times New Roman"/>
              <a:ea typeface="Times New Roman"/>
              <a:cs typeface="Times New Roman"/>
              <a:sym typeface="Times New Roman"/>
            </a:endParaRPr>
          </a:p>
          <a:p>
            <a:pPr indent="0" lvl="0" marL="0" marR="0" rtl="0" algn="l">
              <a:spcBef>
                <a:spcPts val="0"/>
              </a:spcBef>
              <a:spcAft>
                <a:spcPts val="0"/>
              </a:spcAft>
              <a:buNone/>
            </a:pPr>
            <a:r>
              <a:rPr lang="en-IN" sz="2400">
                <a:solidFill>
                  <a:schemeClr val="dk1"/>
                </a:solidFill>
                <a:latin typeface="Times New Roman"/>
                <a:ea typeface="Times New Roman"/>
                <a:cs typeface="Times New Roman"/>
                <a:sym typeface="Times New Roman"/>
              </a:rPr>
              <a:t>2.10 </a:t>
            </a:r>
            <a:r>
              <a:rPr i="0" lang="en-IN" sz="2400" u="none" cap="none" strike="noStrike">
                <a:solidFill>
                  <a:schemeClr val="dk1"/>
                </a:solidFill>
                <a:latin typeface="Times New Roman"/>
                <a:ea typeface="Times New Roman"/>
                <a:cs typeface="Times New Roman"/>
                <a:sym typeface="Times New Roman"/>
              </a:rPr>
              <a:t>Feature Engineering and Dimensionality Reduction Techniques</a:t>
            </a:r>
            <a:endParaRPr i="0"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i="0" lang="en-IN" sz="2400" u="none" cap="none" strike="noStrike">
                <a:solidFill>
                  <a:srgbClr val="FF0000"/>
                </a:solidFill>
                <a:latin typeface="Times New Roman"/>
                <a:ea typeface="Times New Roman"/>
                <a:cs typeface="Times New Roman"/>
                <a:sym typeface="Times New Roman"/>
              </a:rPr>
              <a:t>Basic Learning Theory:</a:t>
            </a:r>
            <a:r>
              <a:rPr i="0" lang="en-IN" sz="2400" u="none" cap="none" strike="noStrike">
                <a:solidFill>
                  <a:schemeClr val="dk1"/>
                </a:solidFill>
                <a:latin typeface="Times New Roman"/>
                <a:ea typeface="Times New Roman"/>
                <a:cs typeface="Times New Roman"/>
                <a:sym typeface="Times New Roman"/>
              </a:rPr>
              <a:t> </a:t>
            </a:r>
            <a:endParaRPr i="0"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IN" sz="2400">
                <a:solidFill>
                  <a:schemeClr val="dk1"/>
                </a:solidFill>
                <a:latin typeface="Times New Roman"/>
                <a:ea typeface="Times New Roman"/>
                <a:cs typeface="Times New Roman"/>
                <a:sym typeface="Times New Roman"/>
              </a:rPr>
              <a:t>3.3 </a:t>
            </a:r>
            <a:r>
              <a:rPr i="0" lang="en-IN" sz="2400" u="none" cap="none" strike="noStrike">
                <a:solidFill>
                  <a:schemeClr val="dk1"/>
                </a:solidFill>
                <a:latin typeface="Times New Roman"/>
                <a:ea typeface="Times New Roman"/>
                <a:cs typeface="Times New Roman"/>
                <a:sym typeface="Times New Roman"/>
              </a:rPr>
              <a:t>Design of Learning System</a:t>
            </a:r>
            <a:endParaRPr i="0"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IN" sz="2400">
                <a:solidFill>
                  <a:schemeClr val="dk1"/>
                </a:solidFill>
                <a:latin typeface="Times New Roman"/>
                <a:ea typeface="Times New Roman"/>
                <a:cs typeface="Times New Roman"/>
                <a:sym typeface="Times New Roman"/>
              </a:rPr>
              <a:t>3.4 </a:t>
            </a:r>
            <a:r>
              <a:rPr i="0" lang="en-IN" sz="2400" u="none" cap="none" strike="noStrike">
                <a:solidFill>
                  <a:schemeClr val="dk1"/>
                </a:solidFill>
                <a:latin typeface="Times New Roman"/>
                <a:ea typeface="Times New Roman"/>
                <a:cs typeface="Times New Roman"/>
                <a:sym typeface="Times New Roman"/>
              </a:rPr>
              <a:t>Introduction to Concept of Learning Induction biases </a:t>
            </a:r>
            <a:endParaRPr i="0"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i="0" lang="en-IN" sz="2400" u="none" cap="none" strike="noStrike">
                <a:solidFill>
                  <a:schemeClr val="dk1"/>
                </a:solidFill>
                <a:latin typeface="Times New Roman"/>
                <a:ea typeface="Times New Roman"/>
                <a:cs typeface="Times New Roman"/>
                <a:sym typeface="Times New Roman"/>
              </a:rPr>
              <a:t>Modelling in Machine Learning </a:t>
            </a:r>
            <a:endParaRPr i="0"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i="0" lang="en-IN" sz="2400" u="none" cap="none" strike="noStrike">
                <a:solidFill>
                  <a:schemeClr val="dk1"/>
                </a:solidFill>
                <a:latin typeface="Times New Roman"/>
                <a:ea typeface="Times New Roman"/>
                <a:cs typeface="Times New Roman"/>
                <a:sym typeface="Times New Roman"/>
              </a:rPr>
              <a:t>learning Frameworks </a:t>
            </a:r>
            <a:endParaRPr sz="2400">
              <a:latin typeface="Times New Roman"/>
              <a:ea typeface="Times New Roman"/>
              <a:cs typeface="Times New Roman"/>
              <a:sym typeface="Times New Roman"/>
            </a:endParaRPr>
          </a:p>
        </p:txBody>
      </p:sp>
      <p:sp>
        <p:nvSpPr>
          <p:cNvPr id="95" name="Google Shape;95;p2"/>
          <p:cNvSpPr txBox="1"/>
          <p:nvPr/>
        </p:nvSpPr>
        <p:spPr>
          <a:xfrm>
            <a:off x="147750" y="2461325"/>
            <a:ext cx="22569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2500">
                <a:solidFill>
                  <a:srgbClr val="FF0000"/>
                </a:solidFill>
              </a:rPr>
              <a:t>Topics to be covered in UNIT-2</a:t>
            </a:r>
            <a:endParaRPr b="1" sz="25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132825" y="114225"/>
            <a:ext cx="4143600" cy="1400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960"/>
              <a:buFont typeface="Play"/>
              <a:buNone/>
            </a:pPr>
            <a:r>
              <a:rPr b="1" lang="en-IN" sz="2500">
                <a:solidFill>
                  <a:srgbClr val="0000FF"/>
                </a:solidFill>
                <a:highlight>
                  <a:srgbClr val="FAF9F9"/>
                </a:highlight>
                <a:latin typeface="Arial"/>
                <a:ea typeface="Arial"/>
                <a:cs typeface="Arial"/>
                <a:sym typeface="Arial"/>
              </a:rPr>
              <a:t>2.8 ESSENTIAL MATHEMATICS FOR MULTIVARIATE DATA</a:t>
            </a:r>
            <a:r>
              <a:rPr lang="en-IN" sz="2500">
                <a:solidFill>
                  <a:srgbClr val="0000FF"/>
                </a:solidFill>
                <a:highlight>
                  <a:srgbClr val="FAF9F9"/>
                </a:highlight>
                <a:latin typeface="Arial"/>
                <a:ea typeface="Arial"/>
                <a:cs typeface="Arial"/>
                <a:sym typeface="Arial"/>
              </a:rPr>
              <a:t>.</a:t>
            </a:r>
            <a:r>
              <a:rPr lang="en-IN" sz="2500">
                <a:solidFill>
                  <a:srgbClr val="0000FF"/>
                </a:solidFill>
                <a:latin typeface="Arial"/>
                <a:ea typeface="Arial"/>
                <a:cs typeface="Arial"/>
                <a:sym typeface="Arial"/>
              </a:rPr>
              <a:t> </a:t>
            </a:r>
            <a:endParaRPr sz="2500">
              <a:solidFill>
                <a:srgbClr val="0000FF"/>
              </a:solidFill>
            </a:endParaRPr>
          </a:p>
        </p:txBody>
      </p:sp>
      <p:sp>
        <p:nvSpPr>
          <p:cNvPr id="101" name="Google Shape;101;p3"/>
          <p:cNvSpPr txBox="1"/>
          <p:nvPr>
            <p:ph idx="1" type="body"/>
          </p:nvPr>
        </p:nvSpPr>
        <p:spPr>
          <a:xfrm>
            <a:off x="132825" y="1514625"/>
            <a:ext cx="3729000" cy="47493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IN" sz="1800"/>
              <a:t>Mathematical foundations required for handling multivariate data in machine learning:</a:t>
            </a:r>
            <a:endParaRPr sz="1800"/>
          </a:p>
          <a:p>
            <a:pPr indent="-342900" lvl="0" marL="457200" rtl="0" algn="just">
              <a:lnSpc>
                <a:spcPct val="115000"/>
              </a:lnSpc>
              <a:spcBef>
                <a:spcPts val="1200"/>
              </a:spcBef>
              <a:spcAft>
                <a:spcPts val="0"/>
              </a:spcAft>
              <a:buSzPts val="1800"/>
              <a:buChar char="●"/>
            </a:pPr>
            <a:r>
              <a:rPr lang="en-IN" sz="1800"/>
              <a:t>Machine learning relies heavily on linear algebra, statistics, probability, and information theory.</a:t>
            </a:r>
            <a:endParaRPr sz="1800"/>
          </a:p>
          <a:p>
            <a:pPr indent="-342900" lvl="0" marL="457200" rtl="0" algn="just">
              <a:lnSpc>
                <a:spcPct val="115000"/>
              </a:lnSpc>
              <a:spcBef>
                <a:spcPts val="0"/>
              </a:spcBef>
              <a:spcAft>
                <a:spcPts val="0"/>
              </a:spcAft>
              <a:buSzPts val="1800"/>
              <a:buChar char="●"/>
            </a:pPr>
            <a:r>
              <a:rPr lang="en-IN" sz="1800"/>
              <a:t>Linear algebra serves as the fundamental language of data. It handles key components such as linear equations, vectors, matrices, vector spaces, and transformations, which form the bedrock of machine learning algorithms.</a:t>
            </a:r>
            <a:endParaRPr sz="1800"/>
          </a:p>
          <a:p>
            <a:pPr indent="0" lvl="0" marL="457200" rtl="0" algn="just">
              <a:lnSpc>
                <a:spcPct val="115000"/>
              </a:lnSpc>
              <a:spcBef>
                <a:spcPts val="1200"/>
              </a:spcBef>
              <a:spcAft>
                <a:spcPts val="0"/>
              </a:spcAft>
              <a:buNone/>
            </a:pPr>
            <a:r>
              <a:t/>
            </a:r>
            <a:endParaRPr sz="1800"/>
          </a:p>
          <a:p>
            <a:pPr indent="-50800" lvl="0" marL="228600" rtl="0" algn="just">
              <a:lnSpc>
                <a:spcPct val="90000"/>
              </a:lnSpc>
              <a:spcBef>
                <a:spcPts val="1200"/>
              </a:spcBef>
              <a:spcAft>
                <a:spcPts val="0"/>
              </a:spcAft>
              <a:buClr>
                <a:schemeClr val="dk1"/>
              </a:buClr>
              <a:buSzPts val="2800"/>
              <a:buNone/>
            </a:pPr>
            <a:r>
              <a:t/>
            </a:r>
            <a:endParaRPr sz="1800"/>
          </a:p>
        </p:txBody>
      </p:sp>
      <p:graphicFrame>
        <p:nvGraphicFramePr>
          <p:cNvPr id="102" name="Google Shape;102;p3"/>
          <p:cNvGraphicFramePr/>
          <p:nvPr/>
        </p:nvGraphicFramePr>
        <p:xfrm>
          <a:off x="4426050" y="270750"/>
          <a:ext cx="3000000" cy="3000000"/>
        </p:xfrm>
        <a:graphic>
          <a:graphicData uri="http://schemas.openxmlformats.org/drawingml/2006/table">
            <a:tbl>
              <a:tblPr>
                <a:noFill/>
                <a:tableStyleId>{A1DC05C0-68A9-4DE6-A59A-6872BC1DB4C4}</a:tableStyleId>
              </a:tblPr>
              <a:tblGrid>
                <a:gridCol w="3347650"/>
                <a:gridCol w="4042925"/>
              </a:tblGrid>
              <a:tr h="190500">
                <a:tc>
                  <a:txBody>
                    <a:bodyPr/>
                    <a:lstStyle/>
                    <a:p>
                      <a:pPr indent="0" lvl="0" marL="0" rtl="0" algn="l">
                        <a:lnSpc>
                          <a:spcPct val="115000"/>
                        </a:lnSpc>
                        <a:spcBef>
                          <a:spcPts val="0"/>
                        </a:spcBef>
                        <a:spcAft>
                          <a:spcPts val="0"/>
                        </a:spcAft>
                        <a:buNone/>
                      </a:pPr>
                      <a:r>
                        <a:rPr b="1" lang="en-IN" sz="1700">
                          <a:solidFill>
                            <a:srgbClr val="FF0000"/>
                          </a:solidFill>
                        </a:rPr>
                        <a:t>Mathematical concept</a:t>
                      </a:r>
                      <a:endParaRPr b="1" sz="1700">
                        <a:solidFill>
                          <a:srgbClr val="FF0000"/>
                        </a:solidFill>
                      </a:endParaRPr>
                    </a:p>
                  </a:txBody>
                  <a:tcPr marT="91425" marB="91425" marR="91425" marL="91425"/>
                </a:tc>
                <a:tc>
                  <a:txBody>
                    <a:bodyPr/>
                    <a:lstStyle/>
                    <a:p>
                      <a:pPr indent="0" lvl="0" marL="0" rtl="0" algn="l">
                        <a:lnSpc>
                          <a:spcPct val="115000"/>
                        </a:lnSpc>
                        <a:spcBef>
                          <a:spcPts val="0"/>
                        </a:spcBef>
                        <a:spcAft>
                          <a:spcPts val="0"/>
                        </a:spcAft>
                        <a:buNone/>
                      </a:pPr>
                      <a:r>
                        <a:rPr b="1" lang="en-IN" sz="1700">
                          <a:solidFill>
                            <a:srgbClr val="FF0000"/>
                          </a:solidFill>
                        </a:rPr>
                        <a:t>Importance in multivariate data</a:t>
                      </a:r>
                      <a:endParaRPr b="1" sz="1700">
                        <a:solidFill>
                          <a:srgbClr val="FF0000"/>
                        </a:solidFill>
                      </a:endParaRPr>
                    </a:p>
                  </a:txBody>
                  <a:tcPr marT="91425" marB="91425" marR="91425" marL="91425"/>
                </a:tc>
              </a:tr>
              <a:tr h="190500">
                <a:tc>
                  <a:txBody>
                    <a:bodyPr/>
                    <a:lstStyle/>
                    <a:p>
                      <a:pPr indent="0" lvl="0" marL="0" rtl="0" algn="l">
                        <a:spcBef>
                          <a:spcPts val="0"/>
                        </a:spcBef>
                        <a:spcAft>
                          <a:spcPts val="0"/>
                        </a:spcAft>
                        <a:buNone/>
                      </a:pPr>
                      <a:r>
                        <a:rPr b="1" lang="en-IN" sz="1300"/>
                        <a:t>Vectors</a:t>
                      </a:r>
                      <a:endParaRPr b="1" sz="1300"/>
                    </a:p>
                  </a:txBody>
                  <a:tcPr marT="91425" marB="91425" marR="91425" marL="91425"/>
                </a:tc>
                <a:tc>
                  <a:txBody>
                    <a:bodyPr/>
                    <a:lstStyle/>
                    <a:p>
                      <a:pPr indent="0" lvl="0" marL="0" rtl="0" algn="l">
                        <a:spcBef>
                          <a:spcPts val="0"/>
                        </a:spcBef>
                        <a:spcAft>
                          <a:spcPts val="0"/>
                        </a:spcAft>
                        <a:buNone/>
                      </a:pPr>
                      <a:r>
                        <a:rPr lang="en-IN" sz="1300"/>
                        <a:t>Represent individual observations</a:t>
                      </a:r>
                      <a:endParaRPr sz="1300"/>
                    </a:p>
                  </a:txBody>
                  <a:tcPr marT="91425" marB="91425" marR="91425" marL="91425"/>
                </a:tc>
              </a:tr>
              <a:tr h="190500">
                <a:tc>
                  <a:txBody>
                    <a:bodyPr/>
                    <a:lstStyle/>
                    <a:p>
                      <a:pPr indent="0" lvl="0" marL="0" rtl="0" algn="l">
                        <a:spcBef>
                          <a:spcPts val="0"/>
                        </a:spcBef>
                        <a:spcAft>
                          <a:spcPts val="0"/>
                        </a:spcAft>
                        <a:buNone/>
                      </a:pPr>
                      <a:r>
                        <a:rPr b="1" lang="en-IN" sz="1300"/>
                        <a:t>Matrices</a:t>
                      </a:r>
                      <a:endParaRPr b="1" sz="1300"/>
                    </a:p>
                  </a:txBody>
                  <a:tcPr marT="91425" marB="91425" marR="91425" marL="91425"/>
                </a:tc>
                <a:tc>
                  <a:txBody>
                    <a:bodyPr/>
                    <a:lstStyle/>
                    <a:p>
                      <a:pPr indent="0" lvl="0" marL="0" rtl="0" algn="l">
                        <a:spcBef>
                          <a:spcPts val="0"/>
                        </a:spcBef>
                        <a:spcAft>
                          <a:spcPts val="0"/>
                        </a:spcAft>
                        <a:buNone/>
                      </a:pPr>
                      <a:r>
                        <a:rPr lang="en-IN" sz="1300"/>
                        <a:t>Represent complete datasets</a:t>
                      </a:r>
                      <a:endParaRPr sz="1300"/>
                    </a:p>
                  </a:txBody>
                  <a:tcPr marT="91425" marB="91425" marR="91425" marL="91425"/>
                </a:tc>
              </a:tr>
              <a:tr h="190500">
                <a:tc>
                  <a:txBody>
                    <a:bodyPr/>
                    <a:lstStyle/>
                    <a:p>
                      <a:pPr indent="0" lvl="0" marL="0" rtl="0" algn="l">
                        <a:spcBef>
                          <a:spcPts val="0"/>
                        </a:spcBef>
                        <a:spcAft>
                          <a:spcPts val="0"/>
                        </a:spcAft>
                        <a:buNone/>
                      </a:pPr>
                      <a:r>
                        <a:rPr b="1" lang="en-IN" sz="1300"/>
                        <a:t>Mean vector</a:t>
                      </a:r>
                      <a:endParaRPr b="1" sz="1300"/>
                    </a:p>
                  </a:txBody>
                  <a:tcPr marT="91425" marB="91425" marR="91425" marL="91425"/>
                </a:tc>
                <a:tc>
                  <a:txBody>
                    <a:bodyPr/>
                    <a:lstStyle/>
                    <a:p>
                      <a:pPr indent="0" lvl="0" marL="0" rtl="0" algn="l">
                        <a:spcBef>
                          <a:spcPts val="0"/>
                        </a:spcBef>
                        <a:spcAft>
                          <a:spcPts val="0"/>
                        </a:spcAft>
                        <a:buNone/>
                      </a:pPr>
                      <a:r>
                        <a:rPr lang="en-IN" sz="1300"/>
                        <a:t>Represents multivariate center</a:t>
                      </a:r>
                      <a:endParaRPr sz="1300"/>
                    </a:p>
                  </a:txBody>
                  <a:tcPr marT="91425" marB="91425" marR="91425" marL="91425"/>
                </a:tc>
              </a:tr>
              <a:tr h="190500">
                <a:tc>
                  <a:txBody>
                    <a:bodyPr/>
                    <a:lstStyle/>
                    <a:p>
                      <a:pPr indent="0" lvl="0" marL="0" rtl="0" algn="l">
                        <a:spcBef>
                          <a:spcPts val="0"/>
                        </a:spcBef>
                        <a:spcAft>
                          <a:spcPts val="0"/>
                        </a:spcAft>
                        <a:buNone/>
                      </a:pPr>
                      <a:r>
                        <a:rPr b="1" lang="en-IN" sz="1300"/>
                        <a:t>Variance</a:t>
                      </a:r>
                      <a:endParaRPr b="1" sz="1300"/>
                    </a:p>
                  </a:txBody>
                  <a:tcPr marT="91425" marB="91425" marR="91425" marL="91425"/>
                </a:tc>
                <a:tc>
                  <a:txBody>
                    <a:bodyPr/>
                    <a:lstStyle/>
                    <a:p>
                      <a:pPr indent="0" lvl="0" marL="0" rtl="0" algn="l">
                        <a:spcBef>
                          <a:spcPts val="0"/>
                        </a:spcBef>
                        <a:spcAft>
                          <a:spcPts val="0"/>
                        </a:spcAft>
                        <a:buNone/>
                      </a:pPr>
                      <a:r>
                        <a:rPr lang="en-IN" sz="1300"/>
                        <a:t>Measures individual-variable spread</a:t>
                      </a:r>
                      <a:endParaRPr sz="1300"/>
                    </a:p>
                  </a:txBody>
                  <a:tcPr marT="91425" marB="91425" marR="91425" marL="91425"/>
                </a:tc>
              </a:tr>
              <a:tr h="190500">
                <a:tc>
                  <a:txBody>
                    <a:bodyPr/>
                    <a:lstStyle/>
                    <a:p>
                      <a:pPr indent="0" lvl="0" marL="0" rtl="0" algn="l">
                        <a:spcBef>
                          <a:spcPts val="0"/>
                        </a:spcBef>
                        <a:spcAft>
                          <a:spcPts val="0"/>
                        </a:spcAft>
                        <a:buNone/>
                      </a:pPr>
                      <a:r>
                        <a:rPr b="1" lang="en-IN" sz="1300"/>
                        <a:t>Covariance</a:t>
                      </a:r>
                      <a:endParaRPr b="1" sz="1300"/>
                    </a:p>
                  </a:txBody>
                  <a:tcPr marT="91425" marB="91425" marR="91425" marL="91425"/>
                </a:tc>
                <a:tc>
                  <a:txBody>
                    <a:bodyPr/>
                    <a:lstStyle/>
                    <a:p>
                      <a:pPr indent="0" lvl="0" marL="0" rtl="0" algn="l">
                        <a:spcBef>
                          <a:spcPts val="0"/>
                        </a:spcBef>
                        <a:spcAft>
                          <a:spcPts val="0"/>
                        </a:spcAft>
                        <a:buNone/>
                      </a:pPr>
                      <a:r>
                        <a:rPr lang="en-IN" sz="1300"/>
                        <a:t>Measures joint variation</a:t>
                      </a:r>
                      <a:endParaRPr sz="1300"/>
                    </a:p>
                  </a:txBody>
                  <a:tcPr marT="91425" marB="91425" marR="91425" marL="91425"/>
                </a:tc>
              </a:tr>
              <a:tr h="190500">
                <a:tc>
                  <a:txBody>
                    <a:bodyPr/>
                    <a:lstStyle/>
                    <a:p>
                      <a:pPr indent="0" lvl="0" marL="0" rtl="0" algn="l">
                        <a:spcBef>
                          <a:spcPts val="0"/>
                        </a:spcBef>
                        <a:spcAft>
                          <a:spcPts val="0"/>
                        </a:spcAft>
                        <a:buNone/>
                      </a:pPr>
                      <a:r>
                        <a:rPr b="1" lang="en-IN" sz="1300"/>
                        <a:t>Covariance matrix</a:t>
                      </a:r>
                      <a:endParaRPr b="1" sz="1300"/>
                    </a:p>
                  </a:txBody>
                  <a:tcPr marT="91425" marB="91425" marR="91425" marL="91425"/>
                </a:tc>
                <a:tc>
                  <a:txBody>
                    <a:bodyPr/>
                    <a:lstStyle/>
                    <a:p>
                      <a:pPr indent="0" lvl="0" marL="0" rtl="0" algn="l">
                        <a:spcBef>
                          <a:spcPts val="0"/>
                        </a:spcBef>
                        <a:spcAft>
                          <a:spcPts val="0"/>
                        </a:spcAft>
                        <a:buNone/>
                      </a:pPr>
                      <a:r>
                        <a:rPr lang="en-IN" sz="1300"/>
                        <a:t>Represents variance and covariance relationships</a:t>
                      </a:r>
                      <a:endParaRPr sz="1300"/>
                    </a:p>
                  </a:txBody>
                  <a:tcPr marT="91425" marB="91425" marR="91425" marL="91425"/>
                </a:tc>
              </a:tr>
              <a:tr h="190500">
                <a:tc>
                  <a:txBody>
                    <a:bodyPr/>
                    <a:lstStyle/>
                    <a:p>
                      <a:pPr indent="0" lvl="0" marL="0" rtl="0" algn="l">
                        <a:spcBef>
                          <a:spcPts val="0"/>
                        </a:spcBef>
                        <a:spcAft>
                          <a:spcPts val="0"/>
                        </a:spcAft>
                        <a:buNone/>
                      </a:pPr>
                      <a:r>
                        <a:rPr b="1" lang="en-IN" sz="1300"/>
                        <a:t>Correlation</a:t>
                      </a:r>
                      <a:endParaRPr b="1" sz="1300"/>
                    </a:p>
                  </a:txBody>
                  <a:tcPr marT="91425" marB="91425" marR="91425" marL="91425"/>
                </a:tc>
                <a:tc>
                  <a:txBody>
                    <a:bodyPr/>
                    <a:lstStyle/>
                    <a:p>
                      <a:pPr indent="0" lvl="0" marL="0" rtl="0" algn="l">
                        <a:spcBef>
                          <a:spcPts val="0"/>
                        </a:spcBef>
                        <a:spcAft>
                          <a:spcPts val="0"/>
                        </a:spcAft>
                        <a:buNone/>
                      </a:pPr>
                      <a:r>
                        <a:rPr lang="en-IN" sz="1300"/>
                        <a:t>Measures standardized linear relationships</a:t>
                      </a:r>
                      <a:endParaRPr sz="1300"/>
                    </a:p>
                  </a:txBody>
                  <a:tcPr marT="91425" marB="91425" marR="91425" marL="91425"/>
                </a:tc>
              </a:tr>
              <a:tr h="190500">
                <a:tc>
                  <a:txBody>
                    <a:bodyPr/>
                    <a:lstStyle/>
                    <a:p>
                      <a:pPr indent="0" lvl="0" marL="0" rtl="0" algn="l">
                        <a:spcBef>
                          <a:spcPts val="0"/>
                        </a:spcBef>
                        <a:spcAft>
                          <a:spcPts val="0"/>
                        </a:spcAft>
                        <a:buNone/>
                      </a:pPr>
                      <a:r>
                        <a:rPr b="1" lang="en-IN" sz="1300"/>
                        <a:t>Standardization</a:t>
                      </a:r>
                      <a:endParaRPr b="1" sz="1300"/>
                    </a:p>
                  </a:txBody>
                  <a:tcPr marT="91425" marB="91425" marR="91425" marL="91425"/>
                </a:tc>
                <a:tc>
                  <a:txBody>
                    <a:bodyPr/>
                    <a:lstStyle/>
                    <a:p>
                      <a:pPr indent="0" lvl="0" marL="0" rtl="0" algn="l">
                        <a:spcBef>
                          <a:spcPts val="0"/>
                        </a:spcBef>
                        <a:spcAft>
                          <a:spcPts val="0"/>
                        </a:spcAft>
                        <a:buNone/>
                      </a:pPr>
                      <a:r>
                        <a:rPr lang="en-IN" sz="1300"/>
                        <a:t>Places variables on comparable scales</a:t>
                      </a:r>
                      <a:endParaRPr sz="1300"/>
                    </a:p>
                  </a:txBody>
                  <a:tcPr marT="91425" marB="91425" marR="91425" marL="91425"/>
                </a:tc>
              </a:tr>
              <a:tr h="190500">
                <a:tc>
                  <a:txBody>
                    <a:bodyPr/>
                    <a:lstStyle/>
                    <a:p>
                      <a:pPr indent="0" lvl="0" marL="0" rtl="0" algn="l">
                        <a:spcBef>
                          <a:spcPts val="0"/>
                        </a:spcBef>
                        <a:spcAft>
                          <a:spcPts val="0"/>
                        </a:spcAft>
                        <a:buNone/>
                      </a:pPr>
                      <a:r>
                        <a:rPr b="1" lang="en-IN" sz="1300"/>
                        <a:t>Distance</a:t>
                      </a:r>
                      <a:endParaRPr b="1" sz="1300"/>
                    </a:p>
                  </a:txBody>
                  <a:tcPr marT="91425" marB="91425" marR="91425" marL="91425"/>
                </a:tc>
                <a:tc>
                  <a:txBody>
                    <a:bodyPr/>
                    <a:lstStyle/>
                    <a:p>
                      <a:pPr indent="0" lvl="0" marL="0" rtl="0" algn="l">
                        <a:spcBef>
                          <a:spcPts val="0"/>
                        </a:spcBef>
                        <a:spcAft>
                          <a:spcPts val="0"/>
                        </a:spcAft>
                        <a:buNone/>
                      </a:pPr>
                      <a:r>
                        <a:rPr lang="en-IN" sz="1300"/>
                        <a:t>Measures similarity/dissimilarity</a:t>
                      </a:r>
                      <a:endParaRPr sz="1300"/>
                    </a:p>
                  </a:txBody>
                  <a:tcPr marT="91425" marB="91425" marR="91425" marL="91425"/>
                </a:tc>
              </a:tr>
              <a:tr h="190500">
                <a:tc>
                  <a:txBody>
                    <a:bodyPr/>
                    <a:lstStyle/>
                    <a:p>
                      <a:pPr indent="0" lvl="0" marL="0" rtl="0" algn="l">
                        <a:spcBef>
                          <a:spcPts val="0"/>
                        </a:spcBef>
                        <a:spcAft>
                          <a:spcPts val="0"/>
                        </a:spcAft>
                        <a:buNone/>
                      </a:pPr>
                      <a:r>
                        <a:rPr b="1" lang="en-IN" sz="1300"/>
                        <a:t>Dot product</a:t>
                      </a:r>
                      <a:endParaRPr b="1" sz="1300"/>
                    </a:p>
                  </a:txBody>
                  <a:tcPr marT="91425" marB="91425" marR="91425" marL="91425"/>
                </a:tc>
                <a:tc>
                  <a:txBody>
                    <a:bodyPr/>
                    <a:lstStyle/>
                    <a:p>
                      <a:pPr indent="0" lvl="0" marL="0" rtl="0" algn="l">
                        <a:spcBef>
                          <a:spcPts val="0"/>
                        </a:spcBef>
                        <a:spcAft>
                          <a:spcPts val="0"/>
                        </a:spcAft>
                        <a:buNone/>
                      </a:pPr>
                      <a:r>
                        <a:rPr lang="en-IN" sz="1300"/>
                        <a:t>Used for projections and linear models</a:t>
                      </a:r>
                      <a:endParaRPr sz="1300"/>
                    </a:p>
                  </a:txBody>
                  <a:tcPr marT="91425" marB="91425" marR="91425" marL="91425"/>
                </a:tc>
              </a:tr>
              <a:tr h="190500">
                <a:tc>
                  <a:txBody>
                    <a:bodyPr/>
                    <a:lstStyle/>
                    <a:p>
                      <a:pPr indent="0" lvl="0" marL="0" rtl="0" algn="l">
                        <a:spcBef>
                          <a:spcPts val="0"/>
                        </a:spcBef>
                        <a:spcAft>
                          <a:spcPts val="0"/>
                        </a:spcAft>
                        <a:buNone/>
                      </a:pPr>
                      <a:r>
                        <a:rPr b="1" lang="en-IN" sz="1300"/>
                        <a:t>Matrix operations</a:t>
                      </a:r>
                      <a:endParaRPr b="1" sz="1300"/>
                    </a:p>
                  </a:txBody>
                  <a:tcPr marT="91425" marB="91425" marR="91425" marL="91425"/>
                </a:tc>
                <a:tc>
                  <a:txBody>
                    <a:bodyPr/>
                    <a:lstStyle/>
                    <a:p>
                      <a:pPr indent="0" lvl="0" marL="0" rtl="0" algn="l">
                        <a:spcBef>
                          <a:spcPts val="0"/>
                        </a:spcBef>
                        <a:spcAft>
                          <a:spcPts val="0"/>
                        </a:spcAft>
                        <a:buNone/>
                      </a:pPr>
                      <a:r>
                        <a:rPr lang="en-IN" sz="1300"/>
                        <a:t>Support multivariate calculations</a:t>
                      </a:r>
                      <a:endParaRPr sz="1300"/>
                    </a:p>
                  </a:txBody>
                  <a:tcPr marT="91425" marB="91425" marR="91425" marL="91425"/>
                </a:tc>
              </a:tr>
              <a:tr h="190500">
                <a:tc>
                  <a:txBody>
                    <a:bodyPr/>
                    <a:lstStyle/>
                    <a:p>
                      <a:pPr indent="0" lvl="0" marL="0" rtl="0" algn="l">
                        <a:spcBef>
                          <a:spcPts val="0"/>
                        </a:spcBef>
                        <a:spcAft>
                          <a:spcPts val="0"/>
                        </a:spcAft>
                        <a:buNone/>
                      </a:pPr>
                      <a:r>
                        <a:rPr b="1" lang="en-IN" sz="1300"/>
                        <a:t>Determinant &amp; inverse</a:t>
                      </a:r>
                      <a:endParaRPr b="1" sz="1300"/>
                    </a:p>
                  </a:txBody>
                  <a:tcPr marT="91425" marB="91425" marR="91425" marL="91425"/>
                </a:tc>
                <a:tc>
                  <a:txBody>
                    <a:bodyPr/>
                    <a:lstStyle/>
                    <a:p>
                      <a:pPr indent="0" lvl="0" marL="0" rtl="0" algn="l">
                        <a:spcBef>
                          <a:spcPts val="0"/>
                        </a:spcBef>
                        <a:spcAft>
                          <a:spcPts val="0"/>
                        </a:spcAft>
                        <a:buNone/>
                      </a:pPr>
                      <a:r>
                        <a:rPr lang="en-IN" sz="1300"/>
                        <a:t>Important for matrix-based methods</a:t>
                      </a:r>
                      <a:endParaRPr sz="1300"/>
                    </a:p>
                  </a:txBody>
                  <a:tcPr marT="91425" marB="91425" marR="91425" marL="91425"/>
                </a:tc>
              </a:tr>
              <a:tr h="190500">
                <a:tc>
                  <a:txBody>
                    <a:bodyPr/>
                    <a:lstStyle/>
                    <a:p>
                      <a:pPr indent="0" lvl="0" marL="0" rtl="0" algn="l">
                        <a:spcBef>
                          <a:spcPts val="0"/>
                        </a:spcBef>
                        <a:spcAft>
                          <a:spcPts val="0"/>
                        </a:spcAft>
                        <a:buNone/>
                      </a:pPr>
                      <a:r>
                        <a:rPr b="1" lang="en-IN" sz="1300"/>
                        <a:t>Eigenvalues/eigenvectors</a:t>
                      </a:r>
                      <a:endParaRPr b="1" sz="1300"/>
                    </a:p>
                  </a:txBody>
                  <a:tcPr marT="91425" marB="91425" marR="91425" marL="91425"/>
                </a:tc>
                <a:tc>
                  <a:txBody>
                    <a:bodyPr/>
                    <a:lstStyle/>
                    <a:p>
                      <a:pPr indent="0" lvl="0" marL="0" rtl="0" algn="l">
                        <a:spcBef>
                          <a:spcPts val="0"/>
                        </a:spcBef>
                        <a:spcAft>
                          <a:spcPts val="0"/>
                        </a:spcAft>
                        <a:buNone/>
                      </a:pPr>
                      <a:r>
                        <a:rPr lang="en-IN" sz="1300"/>
                        <a:t>Fundamental to PCA</a:t>
                      </a:r>
                      <a:endParaRPr sz="1300"/>
                    </a:p>
                  </a:txBody>
                  <a:tcPr marT="91425" marB="91425" marR="91425" marL="91425"/>
                </a:tc>
              </a:tr>
              <a:tr h="190500">
                <a:tc>
                  <a:txBody>
                    <a:bodyPr/>
                    <a:lstStyle/>
                    <a:p>
                      <a:pPr indent="0" lvl="0" marL="0" rtl="0" algn="l">
                        <a:spcBef>
                          <a:spcPts val="0"/>
                        </a:spcBef>
                        <a:spcAft>
                          <a:spcPts val="0"/>
                        </a:spcAft>
                        <a:buNone/>
                      </a:pPr>
                      <a:r>
                        <a:rPr b="1" lang="en-IN" sz="1300"/>
                        <a:t>Probability distributions</a:t>
                      </a:r>
                      <a:endParaRPr b="1" sz="1300"/>
                    </a:p>
                  </a:txBody>
                  <a:tcPr marT="91425" marB="91425" marR="91425" marL="91425"/>
                </a:tc>
                <a:tc>
                  <a:txBody>
                    <a:bodyPr/>
                    <a:lstStyle/>
                    <a:p>
                      <a:pPr indent="0" lvl="0" marL="0" rtl="0" algn="l">
                        <a:spcBef>
                          <a:spcPts val="0"/>
                        </a:spcBef>
                        <a:spcAft>
                          <a:spcPts val="0"/>
                        </a:spcAft>
                        <a:buNone/>
                      </a:pPr>
                      <a:r>
                        <a:rPr lang="en-IN" sz="1300"/>
                        <a:t>Model uncertainty and relationships</a:t>
                      </a:r>
                      <a:endParaRPr sz="1300"/>
                    </a:p>
                  </a:txBody>
                  <a:tcPr marT="91425" marB="91425" marR="91425" marL="91425"/>
                </a:tc>
              </a:tr>
              <a:tr h="190500">
                <a:tc>
                  <a:txBody>
                    <a:bodyPr/>
                    <a:lstStyle/>
                    <a:p>
                      <a:pPr indent="0" lvl="0" marL="0" rtl="0" algn="l">
                        <a:spcBef>
                          <a:spcPts val="0"/>
                        </a:spcBef>
                        <a:spcAft>
                          <a:spcPts val="0"/>
                        </a:spcAft>
                        <a:buNone/>
                      </a:pPr>
                      <a:r>
                        <a:rPr b="1" lang="en-IN" sz="1300"/>
                        <a:t>Multivariate normal distribution</a:t>
                      </a:r>
                      <a:endParaRPr b="1" sz="1300"/>
                    </a:p>
                  </a:txBody>
                  <a:tcPr marT="91425" marB="91425" marR="91425" marL="91425"/>
                </a:tc>
                <a:tc>
                  <a:txBody>
                    <a:bodyPr/>
                    <a:lstStyle/>
                    <a:p>
                      <a:pPr indent="0" lvl="0" marL="0" rtl="0" algn="l">
                        <a:spcBef>
                          <a:spcPts val="0"/>
                        </a:spcBef>
                        <a:spcAft>
                          <a:spcPts val="0"/>
                        </a:spcAft>
                        <a:buNone/>
                      </a:pPr>
                      <a:r>
                        <a:rPr lang="en-IN" sz="1300"/>
                        <a:t>Important theoretical distribution</a:t>
                      </a:r>
                      <a:endParaRPr sz="1300"/>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h7b3131d7342725ff_0_20"/>
          <p:cNvSpPr txBox="1"/>
          <p:nvPr>
            <p:ph type="title"/>
          </p:nvPr>
        </p:nvSpPr>
        <p:spPr>
          <a:xfrm>
            <a:off x="361750" y="249625"/>
            <a:ext cx="10515600" cy="4203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sz="2500">
                <a:solidFill>
                  <a:srgbClr val="FF0000"/>
                </a:solidFill>
              </a:rPr>
              <a:t>2.8.1 Linear Systems and Gaussian Elimination for Multivariate Data </a:t>
            </a:r>
            <a:endParaRPr sz="2500">
              <a:solidFill>
                <a:srgbClr val="FF0000"/>
              </a:solidFill>
            </a:endParaRPr>
          </a:p>
        </p:txBody>
      </p:sp>
      <p:sp>
        <p:nvSpPr>
          <p:cNvPr id="108" name="Google Shape;108;h7b3131d7342725ff_0_20"/>
          <p:cNvSpPr txBox="1"/>
          <p:nvPr>
            <p:ph idx="1" type="body"/>
          </p:nvPr>
        </p:nvSpPr>
        <p:spPr>
          <a:xfrm>
            <a:off x="361750" y="785425"/>
            <a:ext cx="10515600" cy="1967400"/>
          </a:xfrm>
          <a:prstGeom prst="rect">
            <a:avLst/>
          </a:prstGeom>
        </p:spPr>
        <p:txBody>
          <a:bodyPr anchorCtr="0" anchor="t" bIns="45700" lIns="91425" spcFirstLastPara="1" rIns="91425" wrap="square" tIns="45700">
            <a:noAutofit/>
          </a:bodyPr>
          <a:lstStyle/>
          <a:p>
            <a:pPr indent="-355600" lvl="0" marL="457200" rtl="0" algn="just">
              <a:lnSpc>
                <a:spcPct val="115000"/>
              </a:lnSpc>
              <a:spcBef>
                <a:spcPts val="0"/>
              </a:spcBef>
              <a:spcAft>
                <a:spcPts val="0"/>
              </a:spcAft>
              <a:buSzPts val="2000"/>
              <a:buChar char="•"/>
            </a:pPr>
            <a:r>
              <a:rPr lang="en-IN" sz="2000"/>
              <a:t>If there is a unique solution, then the system is called consistent independent. If there are various solutions, then the system is called consistent dependant. If there are no solutions and if the equations are contradictory, then the system is called inconsistent.</a:t>
            </a:r>
            <a:endParaRPr sz="2000"/>
          </a:p>
          <a:p>
            <a:pPr indent="-355600" lvl="0" marL="457200" rtl="0" algn="just">
              <a:lnSpc>
                <a:spcPct val="115000"/>
              </a:lnSpc>
              <a:spcBef>
                <a:spcPts val="0"/>
              </a:spcBef>
              <a:spcAft>
                <a:spcPts val="0"/>
              </a:spcAft>
              <a:buSzPts val="2000"/>
              <a:buChar char="•"/>
            </a:pPr>
            <a:r>
              <a:rPr lang="en-IN" sz="2000"/>
              <a:t>For solving large number of system of equations, </a:t>
            </a:r>
            <a:r>
              <a:rPr b="1" lang="en-IN" sz="2000">
                <a:solidFill>
                  <a:srgbClr val="0000FF"/>
                </a:solidFill>
              </a:rPr>
              <a:t>Gaussian elimination</a:t>
            </a:r>
            <a:r>
              <a:rPr lang="en-IN" sz="2000"/>
              <a:t> can be used. The procedure for applying Gaussian elimination is given as follows:</a:t>
            </a:r>
            <a:endParaRPr sz="2000"/>
          </a:p>
          <a:p>
            <a:pPr indent="0" lvl="0" marL="457200" rtl="0" algn="just">
              <a:lnSpc>
                <a:spcPct val="115000"/>
              </a:lnSpc>
              <a:spcBef>
                <a:spcPts val="1200"/>
              </a:spcBef>
              <a:spcAft>
                <a:spcPts val="0"/>
              </a:spcAft>
              <a:buNone/>
            </a:pPr>
            <a:r>
              <a:t/>
            </a:r>
            <a:endParaRPr b="1" sz="2000"/>
          </a:p>
          <a:p>
            <a:pPr indent="0" lvl="0" marL="0" rtl="0" algn="just">
              <a:spcBef>
                <a:spcPts val="1200"/>
              </a:spcBef>
              <a:spcAft>
                <a:spcPts val="0"/>
              </a:spcAft>
              <a:buNone/>
            </a:pPr>
            <a:r>
              <a:t/>
            </a:r>
            <a:endParaRPr sz="2000"/>
          </a:p>
        </p:txBody>
      </p:sp>
      <p:sp>
        <p:nvSpPr>
          <p:cNvPr id="109" name="Google Shape;109;h7b3131d7342725ff_0_20"/>
          <p:cNvSpPr txBox="1"/>
          <p:nvPr/>
        </p:nvSpPr>
        <p:spPr>
          <a:xfrm>
            <a:off x="626375" y="2568600"/>
            <a:ext cx="10378500" cy="381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IN" sz="1800">
                <a:solidFill>
                  <a:schemeClr val="dk1"/>
                </a:solidFill>
              </a:rPr>
              <a:t>Gaussian elimination</a:t>
            </a:r>
            <a:r>
              <a:rPr lang="en-IN" sz="1800">
                <a:solidFill>
                  <a:schemeClr val="dk1"/>
                </a:solidFill>
              </a:rPr>
              <a:t> is a systematic method for solving a system of linear equations.</a:t>
            </a:r>
            <a:endParaRPr sz="1800">
              <a:solidFill>
                <a:schemeClr val="dk1"/>
              </a:solidFill>
            </a:endParaRPr>
          </a:p>
          <a:p>
            <a:pPr indent="0" lvl="0" marL="0" rtl="0" algn="l">
              <a:lnSpc>
                <a:spcPct val="115000"/>
              </a:lnSpc>
              <a:spcBef>
                <a:spcPts val="1200"/>
              </a:spcBef>
              <a:spcAft>
                <a:spcPts val="0"/>
              </a:spcAft>
              <a:buNone/>
            </a:pPr>
            <a:r>
              <a:rPr lang="en-IN" sz="1800">
                <a:solidFill>
                  <a:schemeClr val="dk1"/>
                </a:solidFill>
              </a:rPr>
              <a:t>The basic idea is to transform the equations into an </a:t>
            </a:r>
            <a:r>
              <a:rPr b="1" lang="en-IN" sz="1800">
                <a:solidFill>
                  <a:schemeClr val="dk1"/>
                </a:solidFill>
              </a:rPr>
              <a:t>upper triangular form</a:t>
            </a:r>
            <a:r>
              <a:rPr lang="en-IN" sz="1800">
                <a:solidFill>
                  <a:schemeClr val="dk1"/>
                </a:solidFill>
              </a:rPr>
              <a:t> and then solve them using </a:t>
            </a:r>
            <a:r>
              <a:rPr b="1" lang="en-IN" sz="1800">
                <a:solidFill>
                  <a:schemeClr val="dk1"/>
                </a:solidFill>
              </a:rPr>
              <a:t>back substitution</a:t>
            </a:r>
            <a:r>
              <a:rPr lang="en-IN" sz="1800">
                <a:solidFill>
                  <a:schemeClr val="dk1"/>
                </a:solidFill>
              </a:rPr>
              <a:t>.</a:t>
            </a:r>
            <a:endParaRPr sz="1800">
              <a:solidFill>
                <a:schemeClr val="dk1"/>
              </a:solidFill>
            </a:endParaRPr>
          </a:p>
          <a:p>
            <a:pPr indent="0" lvl="0" marL="0" rtl="0" algn="l">
              <a:lnSpc>
                <a:spcPct val="115000"/>
              </a:lnSpc>
              <a:spcBef>
                <a:spcPts val="1400"/>
              </a:spcBef>
              <a:spcAft>
                <a:spcPts val="0"/>
              </a:spcAft>
              <a:buNone/>
            </a:pPr>
            <a:r>
              <a:rPr b="1" lang="en-IN" sz="1800">
                <a:solidFill>
                  <a:schemeClr val="dk1"/>
                </a:solidFill>
              </a:rPr>
              <a:t>S</a:t>
            </a:r>
            <a:r>
              <a:rPr b="1" lang="en-IN" sz="1800">
                <a:solidFill>
                  <a:schemeClr val="dk1"/>
                </a:solidFill>
              </a:rPr>
              <a:t>teps</a:t>
            </a:r>
            <a:endParaRPr b="1" sz="1800">
              <a:solidFill>
                <a:schemeClr val="dk1"/>
              </a:solidFill>
            </a:endParaRPr>
          </a:p>
          <a:p>
            <a:pPr indent="-342900" lvl="0" marL="457200" rtl="0" algn="l">
              <a:lnSpc>
                <a:spcPct val="115000"/>
              </a:lnSpc>
              <a:spcBef>
                <a:spcPts val="1200"/>
              </a:spcBef>
              <a:spcAft>
                <a:spcPts val="0"/>
              </a:spcAft>
              <a:buClr>
                <a:schemeClr val="dk1"/>
              </a:buClr>
              <a:buSzPts val="1800"/>
              <a:buAutoNum type="arabicPeriod"/>
            </a:pPr>
            <a:r>
              <a:rPr lang="en-IN" sz="1800">
                <a:solidFill>
                  <a:schemeClr val="dk1"/>
                </a:solidFill>
              </a:rPr>
              <a:t>Write the equations as an augmented matrix.</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IN" sz="1800">
                <a:solidFill>
                  <a:schemeClr val="dk1"/>
                </a:solidFill>
              </a:rPr>
              <a:t>Select a pivot element.</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IN" sz="1800">
                <a:solidFill>
                  <a:schemeClr val="dk1"/>
                </a:solidFill>
              </a:rPr>
              <a:t>Eliminate the variables below the pivot.</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IN" sz="1800">
                <a:solidFill>
                  <a:schemeClr val="dk1"/>
                </a:solidFill>
              </a:rPr>
              <a:t>Continue for the remaining rows.</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IN" sz="1800">
                <a:solidFill>
                  <a:schemeClr val="dk1"/>
                </a:solidFill>
              </a:rPr>
              <a:t>Obtain an upper triangular matrix.</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IN" sz="1800">
                <a:solidFill>
                  <a:schemeClr val="dk1"/>
                </a:solidFill>
              </a:rPr>
              <a:t>Use back substitution to find the unknowns.</a:t>
            </a:r>
            <a:endParaRPr sz="1800">
              <a:solidFill>
                <a:schemeClr val="dk1"/>
              </a:solidFill>
            </a:endParaRPr>
          </a:p>
        </p:txBody>
      </p:sp>
      <p:sp>
        <p:nvSpPr>
          <p:cNvPr id="110" name="Google Shape;110;h7b3131d7342725ff_0_20"/>
          <p:cNvSpPr txBox="1"/>
          <p:nvPr/>
        </p:nvSpPr>
        <p:spPr>
          <a:xfrm>
            <a:off x="6612550" y="4071500"/>
            <a:ext cx="5359500" cy="220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IN" sz="1800">
                <a:solidFill>
                  <a:srgbClr val="FF0000"/>
                </a:solidFill>
              </a:rPr>
              <a:t>To </a:t>
            </a:r>
            <a:r>
              <a:rPr lang="en-IN" sz="1800">
                <a:solidFill>
                  <a:srgbClr val="FF0000"/>
                </a:solidFill>
              </a:rPr>
              <a:t>facilitate the application of Gaussian elimination method, the following row operations are applied:</a:t>
            </a:r>
            <a:endParaRPr sz="1800">
              <a:solidFill>
                <a:srgbClr val="FF0000"/>
              </a:solidFill>
            </a:endParaRPr>
          </a:p>
          <a:p>
            <a:pPr indent="-323850" lvl="0" marL="457200" rtl="0" algn="l">
              <a:lnSpc>
                <a:spcPct val="115000"/>
              </a:lnSpc>
              <a:spcBef>
                <a:spcPts val="1200"/>
              </a:spcBef>
              <a:spcAft>
                <a:spcPts val="0"/>
              </a:spcAft>
              <a:buClr>
                <a:schemeClr val="dk1"/>
              </a:buClr>
              <a:buSzPts val="1500"/>
              <a:buAutoNum type="arabicPeriod"/>
            </a:pPr>
            <a:r>
              <a:rPr lang="en-IN" sz="1800"/>
              <a:t>Swapping the rows</a:t>
            </a:r>
            <a:endParaRPr sz="1800"/>
          </a:p>
          <a:p>
            <a:pPr indent="-323850" lvl="0" marL="457200" rtl="0" algn="l">
              <a:lnSpc>
                <a:spcPct val="115000"/>
              </a:lnSpc>
              <a:spcBef>
                <a:spcPts val="0"/>
              </a:spcBef>
              <a:spcAft>
                <a:spcPts val="0"/>
              </a:spcAft>
              <a:buClr>
                <a:schemeClr val="dk1"/>
              </a:buClr>
              <a:buSzPts val="1500"/>
              <a:buAutoNum type="arabicPeriod"/>
            </a:pPr>
            <a:r>
              <a:rPr lang="en-IN" sz="1800"/>
              <a:t>Multiplying or dividing a row by a constant</a:t>
            </a:r>
            <a:endParaRPr sz="1800"/>
          </a:p>
          <a:p>
            <a:pPr indent="-323850" lvl="0" marL="457200" rtl="0" algn="l">
              <a:lnSpc>
                <a:spcPct val="115000"/>
              </a:lnSpc>
              <a:spcBef>
                <a:spcPts val="0"/>
              </a:spcBef>
              <a:spcAft>
                <a:spcPts val="0"/>
              </a:spcAft>
              <a:buClr>
                <a:schemeClr val="dk1"/>
              </a:buClr>
              <a:buSzPts val="1500"/>
              <a:buAutoNum type="arabicPeriod"/>
            </a:pPr>
            <a:r>
              <a:rPr lang="en-IN" sz="1800"/>
              <a:t>Replacing a row by adding or subtracting a multiple of another row to it</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h7b3131d7342725ff_0_15"/>
          <p:cNvSpPr txBox="1"/>
          <p:nvPr>
            <p:ph type="title"/>
          </p:nvPr>
        </p:nvSpPr>
        <p:spPr>
          <a:xfrm>
            <a:off x="289550" y="177450"/>
            <a:ext cx="10515600" cy="507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sz="2400">
                <a:solidFill>
                  <a:srgbClr val="FF0000"/>
                </a:solidFill>
              </a:rPr>
              <a:t>Example of Gaussian Elimination </a:t>
            </a:r>
            <a:endParaRPr b="1" sz="2400">
              <a:solidFill>
                <a:srgbClr val="FF0000"/>
              </a:solidFill>
            </a:endParaRPr>
          </a:p>
        </p:txBody>
      </p:sp>
      <p:pic>
        <p:nvPicPr>
          <p:cNvPr id="116" name="Google Shape;116;h7b3131d7342725ff_0_15"/>
          <p:cNvPicPr preferRelativeResize="0"/>
          <p:nvPr/>
        </p:nvPicPr>
        <p:blipFill>
          <a:blip r:embed="rId3">
            <a:alphaModFix/>
          </a:blip>
          <a:stretch>
            <a:fillRect/>
          </a:stretch>
        </p:blipFill>
        <p:spPr>
          <a:xfrm>
            <a:off x="465750" y="1061888"/>
            <a:ext cx="2571750" cy="1666875"/>
          </a:xfrm>
          <a:prstGeom prst="rect">
            <a:avLst/>
          </a:prstGeom>
          <a:noFill/>
          <a:ln>
            <a:noFill/>
          </a:ln>
        </p:spPr>
      </p:pic>
      <p:sp>
        <p:nvSpPr>
          <p:cNvPr id="117" name="Google Shape;117;h7b3131d7342725ff_0_15"/>
          <p:cNvSpPr txBox="1"/>
          <p:nvPr/>
        </p:nvSpPr>
        <p:spPr>
          <a:xfrm>
            <a:off x="390625" y="2728775"/>
            <a:ext cx="4435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400">
                <a:solidFill>
                  <a:srgbClr val="9900FF"/>
                </a:solidFill>
              </a:rPr>
              <a:t>Write the augmented matrix </a:t>
            </a:r>
            <a:endParaRPr sz="2400">
              <a:solidFill>
                <a:srgbClr val="9900FF"/>
              </a:solidFill>
            </a:endParaRPr>
          </a:p>
        </p:txBody>
      </p:sp>
      <p:pic>
        <p:nvPicPr>
          <p:cNvPr id="118" name="Google Shape;118;h7b3131d7342725ff_0_15"/>
          <p:cNvPicPr preferRelativeResize="0"/>
          <p:nvPr/>
        </p:nvPicPr>
        <p:blipFill>
          <a:blip r:embed="rId4">
            <a:alphaModFix/>
          </a:blip>
          <a:stretch>
            <a:fillRect/>
          </a:stretch>
        </p:blipFill>
        <p:spPr>
          <a:xfrm>
            <a:off x="432225" y="3354588"/>
            <a:ext cx="3067050" cy="1095375"/>
          </a:xfrm>
          <a:prstGeom prst="rect">
            <a:avLst/>
          </a:prstGeom>
          <a:noFill/>
          <a:ln>
            <a:noFill/>
          </a:ln>
        </p:spPr>
      </p:pic>
      <p:sp>
        <p:nvSpPr>
          <p:cNvPr id="119" name="Google Shape;119;h7b3131d7342725ff_0_15"/>
          <p:cNvSpPr txBox="1"/>
          <p:nvPr/>
        </p:nvSpPr>
        <p:spPr>
          <a:xfrm>
            <a:off x="289550" y="452170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400">
                <a:solidFill>
                  <a:srgbClr val="9900FF"/>
                </a:solidFill>
              </a:rPr>
              <a:t>Eliminate x </a:t>
            </a:r>
            <a:endParaRPr sz="2400">
              <a:solidFill>
                <a:srgbClr val="9900FF"/>
              </a:solidFill>
            </a:endParaRPr>
          </a:p>
        </p:txBody>
      </p:sp>
      <p:pic>
        <p:nvPicPr>
          <p:cNvPr id="120" name="Google Shape;120;h7b3131d7342725ff_0_15"/>
          <p:cNvPicPr preferRelativeResize="0"/>
          <p:nvPr/>
        </p:nvPicPr>
        <p:blipFill>
          <a:blip r:embed="rId5">
            <a:alphaModFix/>
          </a:blip>
          <a:stretch>
            <a:fillRect/>
          </a:stretch>
        </p:blipFill>
        <p:spPr>
          <a:xfrm>
            <a:off x="390613" y="5327200"/>
            <a:ext cx="2066925" cy="1190625"/>
          </a:xfrm>
          <a:prstGeom prst="rect">
            <a:avLst/>
          </a:prstGeom>
          <a:noFill/>
          <a:ln>
            <a:noFill/>
          </a:ln>
        </p:spPr>
      </p:pic>
      <p:pic>
        <p:nvPicPr>
          <p:cNvPr id="121" name="Google Shape;121;h7b3131d7342725ff_0_15"/>
          <p:cNvPicPr preferRelativeResize="0"/>
          <p:nvPr/>
        </p:nvPicPr>
        <p:blipFill>
          <a:blip r:embed="rId6">
            <a:alphaModFix/>
          </a:blip>
          <a:stretch>
            <a:fillRect/>
          </a:stretch>
        </p:blipFill>
        <p:spPr>
          <a:xfrm>
            <a:off x="2838500" y="5147513"/>
            <a:ext cx="2735225" cy="1517550"/>
          </a:xfrm>
          <a:prstGeom prst="rect">
            <a:avLst/>
          </a:prstGeom>
          <a:noFill/>
          <a:ln>
            <a:noFill/>
          </a:ln>
        </p:spPr>
      </p:pic>
      <p:cxnSp>
        <p:nvCxnSpPr>
          <p:cNvPr id="122" name="Google Shape;122;h7b3131d7342725ff_0_15"/>
          <p:cNvCxnSpPr/>
          <p:nvPr/>
        </p:nvCxnSpPr>
        <p:spPr>
          <a:xfrm>
            <a:off x="6138475" y="54600"/>
            <a:ext cx="48300" cy="6729600"/>
          </a:xfrm>
          <a:prstGeom prst="straightConnector1">
            <a:avLst/>
          </a:prstGeom>
          <a:noFill/>
          <a:ln cap="flat" cmpd="sng" w="9525">
            <a:solidFill>
              <a:schemeClr val="dk2"/>
            </a:solidFill>
            <a:prstDash val="solid"/>
            <a:round/>
            <a:headEnd len="med" w="med" type="none"/>
            <a:tailEnd len="med" w="med" type="none"/>
          </a:ln>
        </p:spPr>
      </p:cxnSp>
      <p:sp>
        <p:nvSpPr>
          <p:cNvPr id="123" name="Google Shape;123;h7b3131d7342725ff_0_15"/>
          <p:cNvSpPr txBox="1"/>
          <p:nvPr/>
        </p:nvSpPr>
        <p:spPr>
          <a:xfrm>
            <a:off x="251625" y="50780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400"/>
              <a:t>Consider: </a:t>
            </a:r>
            <a:endParaRPr sz="2400"/>
          </a:p>
        </p:txBody>
      </p:sp>
      <p:sp>
        <p:nvSpPr>
          <p:cNvPr id="124" name="Google Shape;124;h7b3131d7342725ff_0_15"/>
          <p:cNvSpPr txBox="1"/>
          <p:nvPr/>
        </p:nvSpPr>
        <p:spPr>
          <a:xfrm>
            <a:off x="6472550" y="17745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400">
                <a:solidFill>
                  <a:srgbClr val="9900FF"/>
                </a:solidFill>
              </a:rPr>
              <a:t>Eliminate y </a:t>
            </a:r>
            <a:endParaRPr sz="2400">
              <a:solidFill>
                <a:srgbClr val="9900FF"/>
              </a:solidFill>
            </a:endParaRPr>
          </a:p>
        </p:txBody>
      </p:sp>
      <p:pic>
        <p:nvPicPr>
          <p:cNvPr id="125" name="Google Shape;125;h7b3131d7342725ff_0_15"/>
          <p:cNvPicPr preferRelativeResize="0"/>
          <p:nvPr/>
        </p:nvPicPr>
        <p:blipFill>
          <a:blip r:embed="rId7">
            <a:alphaModFix/>
          </a:blip>
          <a:stretch>
            <a:fillRect/>
          </a:stretch>
        </p:blipFill>
        <p:spPr>
          <a:xfrm>
            <a:off x="6339175" y="774200"/>
            <a:ext cx="1971675" cy="600075"/>
          </a:xfrm>
          <a:prstGeom prst="rect">
            <a:avLst/>
          </a:prstGeom>
          <a:noFill/>
          <a:ln>
            <a:noFill/>
          </a:ln>
        </p:spPr>
      </p:pic>
      <p:pic>
        <p:nvPicPr>
          <p:cNvPr id="126" name="Google Shape;126;h7b3131d7342725ff_0_15"/>
          <p:cNvPicPr preferRelativeResize="0"/>
          <p:nvPr/>
        </p:nvPicPr>
        <p:blipFill>
          <a:blip r:embed="rId8">
            <a:alphaModFix/>
          </a:blip>
          <a:stretch>
            <a:fillRect/>
          </a:stretch>
        </p:blipFill>
        <p:spPr>
          <a:xfrm>
            <a:off x="8973175" y="383675"/>
            <a:ext cx="2686050" cy="1381125"/>
          </a:xfrm>
          <a:prstGeom prst="rect">
            <a:avLst/>
          </a:prstGeom>
          <a:noFill/>
          <a:ln>
            <a:noFill/>
          </a:ln>
        </p:spPr>
      </p:pic>
      <p:sp>
        <p:nvSpPr>
          <p:cNvPr id="127" name="Google Shape;127;h7b3131d7342725ff_0_15"/>
          <p:cNvSpPr txBox="1"/>
          <p:nvPr/>
        </p:nvSpPr>
        <p:spPr>
          <a:xfrm>
            <a:off x="6408300" y="1641388"/>
            <a:ext cx="5463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100">
                <a:solidFill>
                  <a:schemeClr val="dk1"/>
                </a:solidFill>
              </a:rPr>
              <a:t>Now the matrix is in upper triangular form. </a:t>
            </a:r>
            <a:endParaRPr sz="2100"/>
          </a:p>
        </p:txBody>
      </p:sp>
      <p:sp>
        <p:nvSpPr>
          <p:cNvPr id="128" name="Google Shape;128;h7b3131d7342725ff_0_15"/>
          <p:cNvSpPr txBox="1"/>
          <p:nvPr/>
        </p:nvSpPr>
        <p:spPr>
          <a:xfrm>
            <a:off x="6339175" y="2196825"/>
            <a:ext cx="55329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400">
                <a:solidFill>
                  <a:srgbClr val="9900FF"/>
                </a:solidFill>
              </a:rPr>
              <a:t>Back Substitution </a:t>
            </a:r>
            <a:endParaRPr sz="2400">
              <a:solidFill>
                <a:srgbClr val="9900FF"/>
              </a:solidFill>
            </a:endParaRPr>
          </a:p>
          <a:p>
            <a:pPr indent="0" lvl="0" marL="0" rtl="0" algn="l">
              <a:spcBef>
                <a:spcPts val="0"/>
              </a:spcBef>
              <a:spcAft>
                <a:spcPts val="0"/>
              </a:spcAft>
              <a:buNone/>
            </a:pPr>
            <a:r>
              <a:rPr lang="en-IN" sz="2000">
                <a:solidFill>
                  <a:srgbClr val="0000FF"/>
                </a:solidFill>
              </a:rPr>
              <a:t>From the third equation</a:t>
            </a:r>
            <a:r>
              <a:rPr lang="en-IN" sz="2000"/>
              <a:t>: </a:t>
            </a:r>
            <a:endParaRPr sz="2000"/>
          </a:p>
        </p:txBody>
      </p:sp>
      <p:pic>
        <p:nvPicPr>
          <p:cNvPr id="129" name="Google Shape;129;h7b3131d7342725ff_0_15"/>
          <p:cNvPicPr preferRelativeResize="0"/>
          <p:nvPr/>
        </p:nvPicPr>
        <p:blipFill>
          <a:blip r:embed="rId9">
            <a:alphaModFix/>
          </a:blip>
          <a:stretch>
            <a:fillRect/>
          </a:stretch>
        </p:blipFill>
        <p:spPr>
          <a:xfrm>
            <a:off x="9078950" y="2431825"/>
            <a:ext cx="1190625" cy="495300"/>
          </a:xfrm>
          <a:prstGeom prst="rect">
            <a:avLst/>
          </a:prstGeom>
          <a:noFill/>
          <a:ln>
            <a:noFill/>
          </a:ln>
        </p:spPr>
      </p:pic>
      <p:pic>
        <p:nvPicPr>
          <p:cNvPr id="130" name="Google Shape;130;h7b3131d7342725ff_0_15"/>
          <p:cNvPicPr preferRelativeResize="0"/>
          <p:nvPr/>
        </p:nvPicPr>
        <p:blipFill>
          <a:blip r:embed="rId10">
            <a:alphaModFix/>
          </a:blip>
          <a:stretch>
            <a:fillRect/>
          </a:stretch>
        </p:blipFill>
        <p:spPr>
          <a:xfrm>
            <a:off x="10386525" y="2346100"/>
            <a:ext cx="1724025" cy="666750"/>
          </a:xfrm>
          <a:prstGeom prst="rect">
            <a:avLst/>
          </a:prstGeom>
          <a:noFill/>
          <a:ln>
            <a:noFill/>
          </a:ln>
        </p:spPr>
      </p:pic>
      <p:sp>
        <p:nvSpPr>
          <p:cNvPr id="131" name="Google Shape;131;h7b3131d7342725ff_0_15"/>
          <p:cNvSpPr txBox="1"/>
          <p:nvPr/>
        </p:nvSpPr>
        <p:spPr>
          <a:xfrm>
            <a:off x="6370400" y="3178950"/>
            <a:ext cx="3204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solidFill>
                  <a:srgbClr val="0000FF"/>
                </a:solidFill>
              </a:rPr>
              <a:t>From the second equation: </a:t>
            </a:r>
            <a:endParaRPr sz="2000">
              <a:solidFill>
                <a:srgbClr val="0000FF"/>
              </a:solidFill>
            </a:endParaRPr>
          </a:p>
        </p:txBody>
      </p:sp>
      <p:pic>
        <p:nvPicPr>
          <p:cNvPr id="132" name="Google Shape;132;h7b3131d7342725ff_0_15"/>
          <p:cNvPicPr preferRelativeResize="0"/>
          <p:nvPr/>
        </p:nvPicPr>
        <p:blipFill>
          <a:blip r:embed="rId11">
            <a:alphaModFix/>
          </a:blip>
          <a:stretch>
            <a:fillRect/>
          </a:stretch>
        </p:blipFill>
        <p:spPr>
          <a:xfrm>
            <a:off x="9574700" y="3106250"/>
            <a:ext cx="1971675" cy="571500"/>
          </a:xfrm>
          <a:prstGeom prst="rect">
            <a:avLst/>
          </a:prstGeom>
          <a:noFill/>
          <a:ln>
            <a:noFill/>
          </a:ln>
        </p:spPr>
      </p:pic>
      <p:sp>
        <p:nvSpPr>
          <p:cNvPr id="133" name="Google Shape;133;h7b3131d7342725ff_0_15"/>
          <p:cNvSpPr txBox="1"/>
          <p:nvPr/>
        </p:nvSpPr>
        <p:spPr>
          <a:xfrm>
            <a:off x="9631725" y="3594150"/>
            <a:ext cx="22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t>Substitute z=1.75 </a:t>
            </a:r>
            <a:endParaRPr sz="1800"/>
          </a:p>
        </p:txBody>
      </p:sp>
      <p:pic>
        <p:nvPicPr>
          <p:cNvPr id="134" name="Google Shape;134;h7b3131d7342725ff_0_15"/>
          <p:cNvPicPr preferRelativeResize="0"/>
          <p:nvPr/>
        </p:nvPicPr>
        <p:blipFill>
          <a:blip r:embed="rId12">
            <a:alphaModFix/>
          </a:blip>
          <a:stretch>
            <a:fillRect/>
          </a:stretch>
        </p:blipFill>
        <p:spPr>
          <a:xfrm>
            <a:off x="6759867" y="3715198"/>
            <a:ext cx="1905858" cy="932825"/>
          </a:xfrm>
          <a:prstGeom prst="rect">
            <a:avLst/>
          </a:prstGeom>
          <a:noFill/>
          <a:ln>
            <a:noFill/>
          </a:ln>
        </p:spPr>
      </p:pic>
      <p:pic>
        <p:nvPicPr>
          <p:cNvPr id="135" name="Google Shape;135;h7b3131d7342725ff_0_15"/>
          <p:cNvPicPr preferRelativeResize="0"/>
          <p:nvPr/>
        </p:nvPicPr>
        <p:blipFill>
          <a:blip r:embed="rId13">
            <a:alphaModFix/>
          </a:blip>
          <a:stretch>
            <a:fillRect/>
          </a:stretch>
        </p:blipFill>
        <p:spPr>
          <a:xfrm>
            <a:off x="9798538" y="4049213"/>
            <a:ext cx="1524000" cy="304800"/>
          </a:xfrm>
          <a:prstGeom prst="rect">
            <a:avLst/>
          </a:prstGeom>
          <a:noFill/>
          <a:ln>
            <a:noFill/>
          </a:ln>
        </p:spPr>
      </p:pic>
      <p:sp>
        <p:nvSpPr>
          <p:cNvPr id="136" name="Google Shape;136;h7b3131d7342725ff_0_15"/>
          <p:cNvSpPr txBox="1"/>
          <p:nvPr/>
        </p:nvSpPr>
        <p:spPr>
          <a:xfrm>
            <a:off x="6472550" y="469167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solidFill>
                  <a:srgbClr val="0000FF"/>
                </a:solidFill>
              </a:rPr>
              <a:t>From the first equation: </a:t>
            </a:r>
            <a:endParaRPr sz="2000">
              <a:solidFill>
                <a:srgbClr val="0000FF"/>
              </a:solidFill>
            </a:endParaRPr>
          </a:p>
        </p:txBody>
      </p:sp>
      <p:pic>
        <p:nvPicPr>
          <p:cNvPr id="137" name="Google Shape;137;h7b3131d7342725ff_0_15"/>
          <p:cNvPicPr preferRelativeResize="0"/>
          <p:nvPr/>
        </p:nvPicPr>
        <p:blipFill>
          <a:blip r:embed="rId14">
            <a:alphaModFix/>
          </a:blip>
          <a:stretch>
            <a:fillRect/>
          </a:stretch>
        </p:blipFill>
        <p:spPr>
          <a:xfrm>
            <a:off x="9274662" y="4725484"/>
            <a:ext cx="2571750" cy="1170291"/>
          </a:xfrm>
          <a:prstGeom prst="rect">
            <a:avLst/>
          </a:prstGeom>
          <a:noFill/>
          <a:ln>
            <a:noFill/>
          </a:ln>
        </p:spPr>
      </p:pic>
      <p:pic>
        <p:nvPicPr>
          <p:cNvPr id="138" name="Google Shape;138;h7b3131d7342725ff_0_15"/>
          <p:cNvPicPr preferRelativeResize="0"/>
          <p:nvPr/>
        </p:nvPicPr>
        <p:blipFill>
          <a:blip r:embed="rId15">
            <a:alphaModFix/>
          </a:blip>
          <a:stretch>
            <a:fillRect/>
          </a:stretch>
        </p:blipFill>
        <p:spPr>
          <a:xfrm>
            <a:off x="9717563" y="6019225"/>
            <a:ext cx="1685925" cy="247650"/>
          </a:xfrm>
          <a:prstGeom prst="rect">
            <a:avLst/>
          </a:prstGeom>
          <a:noFill/>
          <a:ln>
            <a:noFill/>
          </a:ln>
        </p:spPr>
      </p:pic>
      <p:sp>
        <p:nvSpPr>
          <p:cNvPr id="139" name="Google Shape;139;h7b3131d7342725ff_0_15"/>
          <p:cNvSpPr txBox="1"/>
          <p:nvPr/>
        </p:nvSpPr>
        <p:spPr>
          <a:xfrm>
            <a:off x="6365325" y="5628175"/>
            <a:ext cx="3000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1700">
                <a:solidFill>
                  <a:srgbClr val="FF0000"/>
                </a:solidFill>
              </a:rPr>
              <a:t>Thus, the solution is approximately: </a:t>
            </a:r>
            <a:endParaRPr b="1" sz="1700">
              <a:solidFill>
                <a:srgbClr val="FF0000"/>
              </a:solidFill>
            </a:endParaRPr>
          </a:p>
        </p:txBody>
      </p:sp>
      <p:pic>
        <p:nvPicPr>
          <p:cNvPr id="140" name="Google Shape;140;h7b3131d7342725ff_0_15"/>
          <p:cNvPicPr preferRelativeResize="0"/>
          <p:nvPr/>
        </p:nvPicPr>
        <p:blipFill>
          <a:blip r:embed="rId16">
            <a:alphaModFix/>
          </a:blip>
          <a:stretch>
            <a:fillRect/>
          </a:stretch>
        </p:blipFill>
        <p:spPr>
          <a:xfrm>
            <a:off x="6339175" y="6305400"/>
            <a:ext cx="3589674" cy="304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h7b3131d7342725ff_0_89"/>
          <p:cNvPicPr preferRelativeResize="0"/>
          <p:nvPr/>
        </p:nvPicPr>
        <p:blipFill>
          <a:blip r:embed="rId3">
            <a:alphaModFix/>
          </a:blip>
          <a:stretch>
            <a:fillRect/>
          </a:stretch>
        </p:blipFill>
        <p:spPr>
          <a:xfrm>
            <a:off x="1215675" y="92400"/>
            <a:ext cx="9442375" cy="6559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h7b3131d7342725ff_0_95"/>
          <p:cNvSpPr txBox="1"/>
          <p:nvPr>
            <p:ph type="title"/>
          </p:nvPr>
        </p:nvSpPr>
        <p:spPr>
          <a:xfrm>
            <a:off x="174075" y="191875"/>
            <a:ext cx="10515600" cy="405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sz="2511">
                <a:solidFill>
                  <a:srgbClr val="FF0000"/>
                </a:solidFill>
              </a:rPr>
              <a:t>2.8.2 Matrix Decompositions </a:t>
            </a:r>
            <a:endParaRPr sz="2511">
              <a:solidFill>
                <a:srgbClr val="FF0000"/>
              </a:solidFill>
            </a:endParaRPr>
          </a:p>
        </p:txBody>
      </p:sp>
      <p:sp>
        <p:nvSpPr>
          <p:cNvPr id="151" name="Google Shape;151;h7b3131d7342725ff_0_95"/>
          <p:cNvSpPr txBox="1"/>
          <p:nvPr/>
        </p:nvSpPr>
        <p:spPr>
          <a:xfrm>
            <a:off x="174075" y="597775"/>
            <a:ext cx="11783400" cy="1015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1800">
                <a:solidFill>
                  <a:schemeClr val="dk1"/>
                </a:solidFill>
              </a:rPr>
              <a:t>Matrix decomposition</a:t>
            </a:r>
            <a:r>
              <a:rPr lang="en-IN" sz="1800">
                <a:solidFill>
                  <a:schemeClr val="dk1"/>
                </a:solidFill>
              </a:rPr>
              <a:t> means breaking a matrix into two or more simpler matrices. These simpler matrices make it easier to solve mathematical and computational problems.</a:t>
            </a:r>
            <a:endParaRPr sz="1800">
              <a:solidFill>
                <a:schemeClr val="dk1"/>
              </a:solidFill>
            </a:endParaRPr>
          </a:p>
          <a:p>
            <a:pPr indent="0" lvl="0" marL="0" rtl="0" algn="l">
              <a:lnSpc>
                <a:spcPct val="100000"/>
              </a:lnSpc>
              <a:spcBef>
                <a:spcPts val="0"/>
              </a:spcBef>
              <a:spcAft>
                <a:spcPts val="0"/>
              </a:spcAft>
              <a:buNone/>
            </a:pPr>
            <a:r>
              <a:rPr lang="en-IN" sz="1800">
                <a:solidFill>
                  <a:schemeClr val="dk1"/>
                </a:solidFill>
              </a:rPr>
              <a:t>One important decomposition is </a:t>
            </a:r>
            <a:r>
              <a:rPr b="1" lang="en-IN" sz="1800">
                <a:solidFill>
                  <a:srgbClr val="0000FF"/>
                </a:solidFill>
              </a:rPr>
              <a:t>LU decomposition</a:t>
            </a:r>
            <a:r>
              <a:rPr lang="en-IN" sz="1800">
                <a:solidFill>
                  <a:srgbClr val="0000FF"/>
                </a:solidFill>
              </a:rPr>
              <a:t>.</a:t>
            </a:r>
            <a:endParaRPr sz="1800">
              <a:solidFill>
                <a:srgbClr val="0000FF"/>
              </a:solidFill>
            </a:endParaRPr>
          </a:p>
        </p:txBody>
      </p:sp>
      <p:pic>
        <p:nvPicPr>
          <p:cNvPr id="152" name="Google Shape;152;h7b3131d7342725ff_0_95"/>
          <p:cNvPicPr preferRelativeResize="0"/>
          <p:nvPr/>
        </p:nvPicPr>
        <p:blipFill>
          <a:blip r:embed="rId3">
            <a:alphaModFix/>
          </a:blip>
          <a:stretch>
            <a:fillRect/>
          </a:stretch>
        </p:blipFill>
        <p:spPr>
          <a:xfrm>
            <a:off x="152400" y="1765975"/>
            <a:ext cx="6631608" cy="4939625"/>
          </a:xfrm>
          <a:prstGeom prst="rect">
            <a:avLst/>
          </a:prstGeom>
          <a:noFill/>
          <a:ln>
            <a:noFill/>
          </a:ln>
        </p:spPr>
      </p:pic>
      <p:pic>
        <p:nvPicPr>
          <p:cNvPr id="153" name="Google Shape;153;h7b3131d7342725ff_0_95"/>
          <p:cNvPicPr preferRelativeResize="0"/>
          <p:nvPr/>
        </p:nvPicPr>
        <p:blipFill>
          <a:blip r:embed="rId4">
            <a:alphaModFix/>
          </a:blip>
          <a:stretch>
            <a:fillRect/>
          </a:stretch>
        </p:blipFill>
        <p:spPr>
          <a:xfrm>
            <a:off x="5680308" y="4278150"/>
            <a:ext cx="3048000" cy="1285875"/>
          </a:xfrm>
          <a:prstGeom prst="rect">
            <a:avLst/>
          </a:prstGeom>
          <a:noFill/>
          <a:ln>
            <a:noFill/>
          </a:ln>
        </p:spPr>
      </p:pic>
      <p:sp>
        <p:nvSpPr>
          <p:cNvPr id="154" name="Google Shape;154;h7b3131d7342725ff_0_95"/>
          <p:cNvSpPr txBox="1"/>
          <p:nvPr/>
        </p:nvSpPr>
        <p:spPr>
          <a:xfrm>
            <a:off x="5558575" y="5688525"/>
            <a:ext cx="6110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solidFill>
                  <a:srgbClr val="FF0000"/>
                </a:solidFill>
              </a:rPr>
              <a:t>It can be cross verified that the multiplication of LU yields the original matrix A </a:t>
            </a:r>
            <a:endParaRPr sz="20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h7b3131d7342725ff_0_109"/>
          <p:cNvSpPr txBox="1"/>
          <p:nvPr>
            <p:ph type="title"/>
          </p:nvPr>
        </p:nvSpPr>
        <p:spPr>
          <a:xfrm>
            <a:off x="202925" y="148575"/>
            <a:ext cx="10039800" cy="535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sz="2400">
                <a:solidFill>
                  <a:srgbClr val="FF0000"/>
                </a:solidFill>
              </a:rPr>
              <a:t>2.8.3 Machine Learning and Importance of Probability and Statistics </a:t>
            </a:r>
            <a:endParaRPr b="1" sz="2400">
              <a:solidFill>
                <a:srgbClr val="FF0000"/>
              </a:solidFill>
            </a:endParaRPr>
          </a:p>
        </p:txBody>
      </p:sp>
      <p:sp>
        <p:nvSpPr>
          <p:cNvPr id="160" name="Google Shape;160;h7b3131d7342725ff_0_109"/>
          <p:cNvSpPr txBox="1"/>
          <p:nvPr>
            <p:ph idx="1" type="body"/>
          </p:nvPr>
        </p:nvSpPr>
        <p:spPr>
          <a:xfrm>
            <a:off x="313950" y="921500"/>
            <a:ext cx="11564100" cy="5741700"/>
          </a:xfrm>
          <a:prstGeom prst="rect">
            <a:avLst/>
          </a:prstGeom>
        </p:spPr>
        <p:txBody>
          <a:bodyPr anchorCtr="0" anchor="t" bIns="45700" lIns="91425" spcFirstLastPara="1" rIns="91425" wrap="square" tIns="45700">
            <a:noAutofit/>
          </a:bodyPr>
          <a:lstStyle/>
          <a:p>
            <a:pPr indent="0" lvl="0" marL="0" rtl="0" algn="just">
              <a:lnSpc>
                <a:spcPct val="150000"/>
              </a:lnSpc>
              <a:spcBef>
                <a:spcPts val="1200"/>
              </a:spcBef>
              <a:spcAft>
                <a:spcPts val="0"/>
              </a:spcAft>
              <a:buClr>
                <a:schemeClr val="dk1"/>
              </a:buClr>
              <a:buSzPts val="1100"/>
              <a:buFont typeface="Arial"/>
              <a:buNone/>
            </a:pPr>
            <a:r>
              <a:rPr lang="en-IN" sz="2200"/>
              <a:t>Statistics and probability form a core foundation of machine learning, serving an essential role alongside linear algebra to enable effective data analysis.</a:t>
            </a:r>
            <a:endParaRPr sz="2200"/>
          </a:p>
          <a:p>
            <a:pPr indent="-368300" lvl="0" marL="457200" rtl="0" algn="just">
              <a:lnSpc>
                <a:spcPct val="150000"/>
              </a:lnSpc>
              <a:spcBef>
                <a:spcPts val="1200"/>
              </a:spcBef>
              <a:spcAft>
                <a:spcPts val="0"/>
              </a:spcAft>
              <a:buSzPts val="2200"/>
              <a:buChar char="●"/>
            </a:pPr>
            <a:r>
              <a:rPr b="1" lang="en-IN" sz="2200"/>
              <a:t>Data Modeling &amp; Probability Distributions:</a:t>
            </a:r>
            <a:r>
              <a:rPr lang="en-IN" sz="2200"/>
              <a:t> Datasets in machine learning are viewed as outcomes of probability distributions. Because real-world data often stems from various overlapping distributions, understanding random variables and probability distributions is crucial for mastering machine learning models.</a:t>
            </a:r>
            <a:endParaRPr sz="2200"/>
          </a:p>
          <a:p>
            <a:pPr indent="-368300" lvl="0" marL="457200" rtl="0" algn="just">
              <a:lnSpc>
                <a:spcPct val="150000"/>
              </a:lnSpc>
              <a:spcBef>
                <a:spcPts val="0"/>
              </a:spcBef>
              <a:spcAft>
                <a:spcPts val="0"/>
              </a:spcAft>
              <a:buSzPts val="2200"/>
              <a:buChar char="●"/>
            </a:pPr>
            <a:r>
              <a:rPr b="1" lang="en-IN" sz="2200"/>
              <a:t>Hypothesis and Model Evaluation:</a:t>
            </a:r>
            <a:r>
              <a:rPr lang="en-IN" sz="2200"/>
              <a:t> Machine learning relies heavily on statistical concepts to formulate hypotheses, construct algorithms, assess model performance through hypothesis testing, and measure statistical significance.</a:t>
            </a:r>
            <a:endParaRPr sz="2200"/>
          </a:p>
          <a:p>
            <a:pPr indent="-368300" lvl="0" marL="457200" rtl="0" algn="just">
              <a:lnSpc>
                <a:spcPct val="150000"/>
              </a:lnSpc>
              <a:spcBef>
                <a:spcPts val="0"/>
              </a:spcBef>
              <a:spcAft>
                <a:spcPts val="0"/>
              </a:spcAft>
              <a:buSzPts val="2200"/>
              <a:buChar char="●"/>
            </a:pPr>
            <a:r>
              <a:rPr b="1" lang="en-IN" sz="2200"/>
              <a:t>Dataset Construction:</a:t>
            </a:r>
            <a:r>
              <a:rPr lang="en-IN" sz="2200"/>
              <a:t> Sampling theory plays a vital role in designing and building representative datasets for training and testing models.</a:t>
            </a:r>
            <a:endParaRPr sz="2200"/>
          </a:p>
          <a:p>
            <a:pPr indent="0" lvl="0" marL="0" rtl="0" algn="just">
              <a:spcBef>
                <a:spcPts val="1200"/>
              </a:spcBef>
              <a:spcAft>
                <a:spcPts val="0"/>
              </a:spcAft>
              <a:buNone/>
            </a:pPr>
            <a:r>
              <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h7b3131d7342725ff_0_116"/>
          <p:cNvSpPr txBox="1"/>
          <p:nvPr>
            <p:ph idx="1" type="body"/>
          </p:nvPr>
        </p:nvSpPr>
        <p:spPr>
          <a:xfrm>
            <a:off x="308200" y="645000"/>
            <a:ext cx="11419500" cy="2557500"/>
          </a:xfrm>
          <a:prstGeom prst="rect">
            <a:avLst/>
          </a:prstGeom>
        </p:spPr>
        <p:txBody>
          <a:bodyPr anchorCtr="0" anchor="t" bIns="45700" lIns="91425" spcFirstLastPara="1" rIns="91425" wrap="square" tIns="45700">
            <a:normAutofit lnSpcReduction="20000"/>
          </a:bodyPr>
          <a:lstStyle/>
          <a:p>
            <a:pPr indent="0" lvl="0" marL="0" rtl="0" algn="just">
              <a:lnSpc>
                <a:spcPct val="115000"/>
              </a:lnSpc>
              <a:spcBef>
                <a:spcPts val="0"/>
              </a:spcBef>
              <a:spcAft>
                <a:spcPts val="0"/>
              </a:spcAft>
              <a:buClr>
                <a:schemeClr val="dk1"/>
              </a:buClr>
              <a:buSzPts val="1100"/>
              <a:buFont typeface="Arial"/>
              <a:buNone/>
            </a:pPr>
            <a:r>
              <a:rPr lang="en-IN" sz="1800"/>
              <a:t>A probability distribution summarizes the probabilities associated with a variable's (say X) events, acting as a parameterized mathematical function that describes relationships between observations in a sample space. Data is said to follow a distribution if it obeys the mathematical function characterizing it, which allows calculating the probability of individual observations.</a:t>
            </a:r>
            <a:endParaRPr sz="1800"/>
          </a:p>
          <a:p>
            <a:pPr indent="0" lvl="0" marL="0" rtl="0" algn="just">
              <a:lnSpc>
                <a:spcPct val="115000"/>
              </a:lnSpc>
              <a:spcBef>
                <a:spcPts val="1200"/>
              </a:spcBef>
              <a:spcAft>
                <a:spcPts val="0"/>
              </a:spcAft>
              <a:buClr>
                <a:schemeClr val="dk1"/>
              </a:buClr>
              <a:buSzPts val="1100"/>
              <a:buFont typeface="Arial"/>
              <a:buNone/>
            </a:pPr>
            <a:r>
              <a:rPr b="1" lang="en-IN" sz="1800"/>
              <a:t>Types of Probability Distributions</a:t>
            </a:r>
            <a:endParaRPr b="1" sz="1800"/>
          </a:p>
          <a:p>
            <a:pPr indent="-355600" lvl="0" marL="457200" rtl="0" algn="just">
              <a:lnSpc>
                <a:spcPct val="115000"/>
              </a:lnSpc>
              <a:spcBef>
                <a:spcPts val="400"/>
              </a:spcBef>
              <a:spcAft>
                <a:spcPts val="0"/>
              </a:spcAft>
              <a:buClr>
                <a:srgbClr val="0000FF"/>
              </a:buClr>
              <a:buSzPts val="2000"/>
              <a:buAutoNum type="arabicPeriod"/>
            </a:pPr>
            <a:r>
              <a:rPr lang="en-IN" sz="2000">
                <a:solidFill>
                  <a:srgbClr val="0000FF"/>
                </a:solidFill>
              </a:rPr>
              <a:t>Discrete probability distribution</a:t>
            </a:r>
            <a:endParaRPr sz="2000">
              <a:solidFill>
                <a:srgbClr val="0000FF"/>
              </a:solidFill>
            </a:endParaRPr>
          </a:p>
          <a:p>
            <a:pPr indent="-355600" lvl="0" marL="457200" rtl="0" algn="just">
              <a:lnSpc>
                <a:spcPct val="115000"/>
              </a:lnSpc>
              <a:spcBef>
                <a:spcPts val="0"/>
              </a:spcBef>
              <a:spcAft>
                <a:spcPts val="0"/>
              </a:spcAft>
              <a:buClr>
                <a:srgbClr val="0000FF"/>
              </a:buClr>
              <a:buSzPts val="2000"/>
              <a:buAutoNum type="arabicPeriod"/>
            </a:pPr>
            <a:r>
              <a:rPr lang="en-IN" sz="2000">
                <a:solidFill>
                  <a:srgbClr val="0000FF"/>
                </a:solidFill>
              </a:rPr>
              <a:t>Continuous probability distribution</a:t>
            </a:r>
            <a:endParaRPr sz="2000">
              <a:solidFill>
                <a:srgbClr val="0000FF"/>
              </a:solidFill>
            </a:endParaRPr>
          </a:p>
          <a:p>
            <a:pPr indent="0" lvl="0" marL="0" rtl="0" algn="just">
              <a:spcBef>
                <a:spcPts val="1200"/>
              </a:spcBef>
              <a:spcAft>
                <a:spcPts val="0"/>
              </a:spcAft>
              <a:buNone/>
            </a:pPr>
            <a:r>
              <a:t/>
            </a:r>
            <a:endParaRPr sz="1800"/>
          </a:p>
        </p:txBody>
      </p:sp>
      <p:sp>
        <p:nvSpPr>
          <p:cNvPr id="166" name="Google Shape;166;h7b3131d7342725ff_0_116"/>
          <p:cNvSpPr txBox="1"/>
          <p:nvPr/>
        </p:nvSpPr>
        <p:spPr>
          <a:xfrm>
            <a:off x="152400" y="152400"/>
            <a:ext cx="3914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n-IN" sz="2000">
                <a:solidFill>
                  <a:srgbClr val="FF0000"/>
                </a:solidFill>
              </a:rPr>
              <a:t>Probability Distributions</a:t>
            </a:r>
            <a:endParaRPr b="1" sz="2000">
              <a:solidFill>
                <a:srgbClr val="FF0000"/>
              </a:solidFill>
            </a:endParaRPr>
          </a:p>
        </p:txBody>
      </p:sp>
      <p:sp>
        <p:nvSpPr>
          <p:cNvPr id="167" name="Google Shape;167;h7b3131d7342725ff_0_116"/>
          <p:cNvSpPr txBox="1"/>
          <p:nvPr/>
        </p:nvSpPr>
        <p:spPr>
          <a:xfrm>
            <a:off x="417600" y="2971275"/>
            <a:ext cx="11310000" cy="1908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IN" sz="2000">
                <a:solidFill>
                  <a:schemeClr val="dk1"/>
                </a:solidFill>
              </a:rPr>
              <a:t>Probability Density Function (PDF):</a:t>
            </a:r>
            <a:r>
              <a:rPr lang="en-IN" sz="2000">
                <a:solidFill>
                  <a:schemeClr val="dk1"/>
                </a:solidFill>
              </a:rPr>
              <a:t> Summarizes continuous probability distributions, calculates the probability of observing an instance, and displays the shape of the distribution when plotted.</a:t>
            </a:r>
            <a:endParaRPr sz="2000">
              <a:solidFill>
                <a:schemeClr val="dk1"/>
              </a:solidFill>
            </a:endParaRPr>
          </a:p>
          <a:p>
            <a:pPr indent="0" lvl="0" marL="0" rtl="0" algn="just">
              <a:lnSpc>
                <a:spcPct val="115000"/>
              </a:lnSpc>
              <a:spcBef>
                <a:spcPts val="0"/>
              </a:spcBef>
              <a:spcAft>
                <a:spcPts val="0"/>
              </a:spcAft>
              <a:buNone/>
            </a:pPr>
            <a:r>
              <a:rPr b="1" lang="en-IN" sz="2000">
                <a:solidFill>
                  <a:schemeClr val="dk1"/>
                </a:solidFill>
              </a:rPr>
              <a:t>Cumulative Distributive Function (CDF):</a:t>
            </a:r>
            <a:r>
              <a:rPr lang="en-IN" sz="2000">
                <a:solidFill>
                  <a:schemeClr val="dk1"/>
                </a:solidFill>
              </a:rPr>
              <a:t> Computes the probability of an observation being less than or equal to a value . It is also defined by calculating the area under the curve for a small interval around a specific outcome.</a:t>
            </a:r>
            <a:endParaRPr sz="2000">
              <a:solidFill>
                <a:schemeClr val="dk1"/>
              </a:solidFill>
            </a:endParaRPr>
          </a:p>
        </p:txBody>
      </p:sp>
      <p:sp>
        <p:nvSpPr>
          <p:cNvPr id="168" name="Google Shape;168;h7b3131d7342725ff_0_116"/>
          <p:cNvSpPr txBox="1"/>
          <p:nvPr/>
        </p:nvSpPr>
        <p:spPr>
          <a:xfrm>
            <a:off x="417600" y="4962825"/>
            <a:ext cx="10667700" cy="1200600"/>
          </a:xfrm>
          <a:prstGeom prst="rect">
            <a:avLst/>
          </a:prstGeom>
          <a:noFill/>
          <a:ln>
            <a:noFill/>
          </a:ln>
        </p:spPr>
        <p:txBody>
          <a:bodyPr anchorCtr="0" anchor="t" bIns="91425" lIns="91425" spcFirstLastPara="1" rIns="91425" wrap="square" tIns="91425">
            <a:spAutoFit/>
          </a:bodyPr>
          <a:lstStyle/>
          <a:p>
            <a:pPr indent="-355600" lvl="0" marL="457200" rtl="0" algn="just">
              <a:lnSpc>
                <a:spcPct val="115000"/>
              </a:lnSpc>
              <a:spcBef>
                <a:spcPts val="0"/>
              </a:spcBef>
              <a:spcAft>
                <a:spcPts val="0"/>
              </a:spcAft>
              <a:buClr>
                <a:schemeClr val="dk1"/>
              </a:buClr>
              <a:buSzPts val="2000"/>
              <a:buChar char="●"/>
            </a:pPr>
            <a:r>
              <a:rPr lang="en-IN" sz="2000">
                <a:solidFill>
                  <a:schemeClr val="dk1"/>
                </a:solidFill>
              </a:rPr>
              <a:t>Both PDF and CDF yield continuous values.</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IN" sz="2000">
                <a:solidFill>
                  <a:schemeClr val="dk1"/>
                </a:solidFill>
              </a:rPr>
              <a:t>The discrete equivalent of PDF in a discrete distribution is called the </a:t>
            </a:r>
            <a:r>
              <a:rPr b="1" lang="en-IN" sz="2000">
                <a:solidFill>
                  <a:schemeClr val="dk1"/>
                </a:solidFill>
              </a:rPr>
              <a:t>Probability Mass Function (PMF)</a:t>
            </a:r>
            <a:r>
              <a:rPr lang="en-IN" sz="2000">
                <a:solidFill>
                  <a:schemeClr val="dk1"/>
                </a:solidFill>
              </a:rPr>
              <a:t>.</a:t>
            </a:r>
            <a:endParaRPr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h7b3131d7342725ff_0_308"/>
          <p:cNvSpPr txBox="1"/>
          <p:nvPr>
            <p:ph type="title"/>
          </p:nvPr>
        </p:nvSpPr>
        <p:spPr>
          <a:xfrm>
            <a:off x="246250" y="177425"/>
            <a:ext cx="11610300" cy="2658300"/>
          </a:xfrm>
          <a:prstGeom prst="rect">
            <a:avLst/>
          </a:prstGeom>
        </p:spPr>
        <p:txBody>
          <a:bodyPr anchorCtr="0" anchor="ctr" bIns="45700" lIns="91425" spcFirstLastPara="1" rIns="91425" wrap="square" tIns="45700">
            <a:noAutofit/>
          </a:bodyPr>
          <a:lstStyle/>
          <a:p>
            <a:pPr indent="0" lvl="0" marL="0" rtl="0" algn="just">
              <a:lnSpc>
                <a:spcPct val="115000"/>
              </a:lnSpc>
              <a:spcBef>
                <a:spcPts val="0"/>
              </a:spcBef>
              <a:spcAft>
                <a:spcPts val="0"/>
              </a:spcAft>
              <a:buNone/>
            </a:pPr>
            <a:r>
              <a:rPr b="1" lang="en-IN" sz="2000">
                <a:solidFill>
                  <a:srgbClr val="0000FF"/>
                </a:solidFill>
                <a:latin typeface="Times New Roman"/>
                <a:ea typeface="Times New Roman"/>
                <a:cs typeface="Times New Roman"/>
                <a:sym typeface="Times New Roman"/>
              </a:rPr>
              <a:t>C</a:t>
            </a:r>
            <a:r>
              <a:rPr b="1" lang="en-IN" sz="2000">
                <a:solidFill>
                  <a:srgbClr val="0000FF"/>
                </a:solidFill>
                <a:latin typeface="Times New Roman"/>
                <a:ea typeface="Times New Roman"/>
                <a:cs typeface="Times New Roman"/>
                <a:sym typeface="Times New Roman"/>
              </a:rPr>
              <a:t>ontinuous distribution:</a:t>
            </a:r>
            <a:endParaRPr b="1" sz="2000">
              <a:solidFill>
                <a:srgbClr val="0000FF"/>
              </a:solidFill>
              <a:latin typeface="Times New Roman"/>
              <a:ea typeface="Times New Roman"/>
              <a:cs typeface="Times New Roman"/>
              <a:sym typeface="Times New Roman"/>
            </a:endParaRPr>
          </a:p>
          <a:p>
            <a:pPr indent="0" lvl="0" marL="0" rtl="0" algn="just">
              <a:lnSpc>
                <a:spcPct val="115000"/>
              </a:lnSpc>
              <a:spcBef>
                <a:spcPts val="800"/>
              </a:spcBef>
              <a:spcAft>
                <a:spcPts val="0"/>
              </a:spcAft>
              <a:buClr>
                <a:schemeClr val="dk1"/>
              </a:buClr>
              <a:buSzPts val="1100"/>
              <a:buFont typeface="Arial"/>
              <a:buNone/>
            </a:pPr>
            <a:r>
              <a:rPr lang="en-IN" sz="2000">
                <a:latin typeface="Times New Roman"/>
                <a:ea typeface="Times New Roman"/>
                <a:cs typeface="Times New Roman"/>
                <a:sym typeface="Times New Roman"/>
              </a:rPr>
              <a:t>A </a:t>
            </a:r>
            <a:r>
              <a:rPr b="1" lang="en-IN" sz="2000">
                <a:latin typeface="Times New Roman"/>
                <a:ea typeface="Times New Roman"/>
                <a:cs typeface="Times New Roman"/>
                <a:sym typeface="Times New Roman"/>
              </a:rPr>
              <a:t>continuous distribution</a:t>
            </a:r>
            <a:r>
              <a:rPr lang="en-IN" sz="2000">
                <a:latin typeface="Times New Roman"/>
                <a:ea typeface="Times New Roman"/>
                <a:cs typeface="Times New Roman"/>
                <a:sym typeface="Times New Roman"/>
              </a:rPr>
              <a:t> describes a random variable whose possible outcomes fall along a continuous spectrum or interval of real numbers (such as height, weight, time, or temperature), rather than isolated points.</a:t>
            </a:r>
            <a:endParaRPr sz="2000">
              <a:latin typeface="Times New Roman"/>
              <a:ea typeface="Times New Roman"/>
              <a:cs typeface="Times New Roman"/>
              <a:sym typeface="Times New Roman"/>
            </a:endParaRPr>
          </a:p>
          <a:p>
            <a:pPr indent="0" lvl="0" marL="0" rtl="0" algn="just">
              <a:spcBef>
                <a:spcPts val="800"/>
              </a:spcBef>
              <a:spcAft>
                <a:spcPts val="0"/>
              </a:spcAft>
              <a:buNone/>
            </a:pPr>
            <a:r>
              <a:rPr lang="en-IN" sz="2000">
                <a:latin typeface="Times New Roman"/>
                <a:ea typeface="Times New Roman"/>
                <a:cs typeface="Times New Roman"/>
                <a:sym typeface="Times New Roman"/>
              </a:rPr>
              <a:t>Unlike discrete variables, the probability of a continuous random variable taking on an exact single value is always zero (P(X=c)=0). Instead, probabilities are calculated for intervals of values (e.g., P(a≤X≤b)) by finding the area under a curve.</a:t>
            </a:r>
            <a:endParaRPr sz="2000">
              <a:latin typeface="Times New Roman"/>
              <a:ea typeface="Times New Roman"/>
              <a:cs typeface="Times New Roman"/>
              <a:sym typeface="Times New Roman"/>
            </a:endParaRPr>
          </a:p>
        </p:txBody>
      </p:sp>
      <p:sp>
        <p:nvSpPr>
          <p:cNvPr id="174" name="Google Shape;174;h7b3131d7342725ff_0_308"/>
          <p:cNvSpPr txBox="1"/>
          <p:nvPr/>
        </p:nvSpPr>
        <p:spPr>
          <a:xfrm>
            <a:off x="129949" y="2541075"/>
            <a:ext cx="11784300" cy="1723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Font typeface="Times New Roman"/>
              <a:buChar char="●"/>
            </a:pPr>
            <a:r>
              <a:rPr lang="en-IN" sz="2000">
                <a:latin typeface="Times New Roman"/>
                <a:ea typeface="Times New Roman"/>
                <a:cs typeface="Times New Roman"/>
                <a:sym typeface="Times New Roman"/>
              </a:rPr>
              <a:t>Probability Density Function (PDF): Denoted as f(x), it describes the relative likelihood of a random variable taking on a value near x. The height of the curve does not represent probability directly—the area under the curve does.</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IN" sz="2000">
                <a:latin typeface="Times New Roman"/>
                <a:ea typeface="Times New Roman"/>
                <a:cs typeface="Times New Roman"/>
                <a:sym typeface="Times New Roman"/>
              </a:rPr>
              <a:t>Cumulative Distribution Function (CDF): Denoted as F(x)=P(X≤x), it measures the total accumulated probability up to x:</a:t>
            </a:r>
            <a:endParaRPr sz="2000">
              <a:latin typeface="Times New Roman"/>
              <a:ea typeface="Times New Roman"/>
              <a:cs typeface="Times New Roman"/>
              <a:sym typeface="Times New Roman"/>
            </a:endParaRPr>
          </a:p>
        </p:txBody>
      </p:sp>
      <p:pic>
        <p:nvPicPr>
          <p:cNvPr id="175" name="Google Shape;175;h7b3131d7342725ff_0_308"/>
          <p:cNvPicPr preferRelativeResize="0"/>
          <p:nvPr/>
        </p:nvPicPr>
        <p:blipFill>
          <a:blip r:embed="rId3">
            <a:alphaModFix/>
          </a:blip>
          <a:stretch>
            <a:fillRect/>
          </a:stretch>
        </p:blipFill>
        <p:spPr>
          <a:xfrm>
            <a:off x="522650" y="4364400"/>
            <a:ext cx="2477225" cy="911200"/>
          </a:xfrm>
          <a:prstGeom prst="rect">
            <a:avLst/>
          </a:prstGeom>
          <a:noFill/>
          <a:ln>
            <a:noFill/>
          </a:ln>
        </p:spPr>
      </p:pic>
      <p:pic>
        <p:nvPicPr>
          <p:cNvPr id="176" name="Google Shape;176;h7b3131d7342725ff_0_308"/>
          <p:cNvPicPr preferRelativeResize="0"/>
          <p:nvPr/>
        </p:nvPicPr>
        <p:blipFill>
          <a:blip r:embed="rId4">
            <a:alphaModFix/>
          </a:blip>
          <a:stretch>
            <a:fillRect/>
          </a:stretch>
        </p:blipFill>
        <p:spPr>
          <a:xfrm>
            <a:off x="3338050" y="3904000"/>
            <a:ext cx="8576201" cy="2829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h569d85258256b9ba_1_0"/>
          <p:cNvPicPr preferRelativeResize="0"/>
          <p:nvPr/>
        </p:nvPicPr>
        <p:blipFill>
          <a:blip r:embed="rId3">
            <a:alphaModFix/>
          </a:blip>
          <a:stretch>
            <a:fillRect/>
          </a:stretch>
        </p:blipFill>
        <p:spPr>
          <a:xfrm>
            <a:off x="152400" y="152400"/>
            <a:ext cx="9292849" cy="4958000"/>
          </a:xfrm>
          <a:prstGeom prst="rect">
            <a:avLst/>
          </a:prstGeom>
          <a:noFill/>
          <a:ln>
            <a:noFill/>
          </a:ln>
        </p:spPr>
      </p:pic>
      <p:pic>
        <p:nvPicPr>
          <p:cNvPr id="182" name="Google Shape;182;h569d85258256b9ba_1_0"/>
          <p:cNvPicPr preferRelativeResize="0"/>
          <p:nvPr/>
        </p:nvPicPr>
        <p:blipFill>
          <a:blip r:embed="rId4">
            <a:alphaModFix/>
          </a:blip>
          <a:stretch>
            <a:fillRect/>
          </a:stretch>
        </p:blipFill>
        <p:spPr>
          <a:xfrm>
            <a:off x="265825" y="5059100"/>
            <a:ext cx="9179424" cy="1621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h569d85258256b9ba_1_10"/>
          <p:cNvPicPr preferRelativeResize="0"/>
          <p:nvPr/>
        </p:nvPicPr>
        <p:blipFill>
          <a:blip r:embed="rId3">
            <a:alphaModFix/>
          </a:blip>
          <a:stretch>
            <a:fillRect/>
          </a:stretch>
        </p:blipFill>
        <p:spPr>
          <a:xfrm>
            <a:off x="1382225" y="0"/>
            <a:ext cx="9392099" cy="2557775"/>
          </a:xfrm>
          <a:prstGeom prst="rect">
            <a:avLst/>
          </a:prstGeom>
          <a:noFill/>
          <a:ln>
            <a:noFill/>
          </a:ln>
        </p:spPr>
      </p:pic>
      <p:pic>
        <p:nvPicPr>
          <p:cNvPr id="188" name="Google Shape;188;h569d85258256b9ba_1_10"/>
          <p:cNvPicPr preferRelativeResize="0"/>
          <p:nvPr/>
        </p:nvPicPr>
        <p:blipFill>
          <a:blip r:embed="rId4">
            <a:alphaModFix/>
          </a:blip>
          <a:stretch>
            <a:fillRect/>
          </a:stretch>
        </p:blipFill>
        <p:spPr>
          <a:xfrm>
            <a:off x="2551825" y="2853075"/>
            <a:ext cx="7425050" cy="4004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h7b3131d7342725ff_0_150"/>
          <p:cNvSpPr txBox="1"/>
          <p:nvPr/>
        </p:nvSpPr>
        <p:spPr>
          <a:xfrm>
            <a:off x="216575" y="247600"/>
            <a:ext cx="6543300" cy="2448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IN" sz="1800">
                <a:solidFill>
                  <a:srgbClr val="FF0000"/>
                </a:solidFill>
              </a:rPr>
              <a:t>Normal Distribution: </a:t>
            </a:r>
            <a:endParaRPr b="1" sz="1800">
              <a:solidFill>
                <a:srgbClr val="FF0000"/>
              </a:solidFill>
            </a:endParaRPr>
          </a:p>
          <a:p>
            <a:pPr indent="0" lvl="0" marL="0" rtl="0" algn="just">
              <a:lnSpc>
                <a:spcPct val="115000"/>
              </a:lnSpc>
              <a:spcBef>
                <a:spcPts val="0"/>
              </a:spcBef>
              <a:spcAft>
                <a:spcPts val="0"/>
              </a:spcAft>
              <a:buNone/>
            </a:pPr>
            <a:r>
              <a:rPr lang="en-IN" sz="1600"/>
              <a:t>The normal distribution is a continuous probability distribution with a symmetrical, bell-shaped curve where data centers around a central value with no bias to the left or right. In this distribution, the mean, median, and mode are equal, and the domain extends from -∞ to +∞. It is characterized by two parameters: mean (μ) and variance (σ^2) or standard deviation (σ). A standard normal distribution uses a mean of 0 and a standard deviation of 1.</a:t>
            </a:r>
            <a:endParaRPr sz="1600"/>
          </a:p>
        </p:txBody>
      </p:sp>
      <p:pic>
        <p:nvPicPr>
          <p:cNvPr id="194" name="Google Shape;194;h7b3131d7342725ff_0_150"/>
          <p:cNvPicPr preferRelativeResize="0"/>
          <p:nvPr/>
        </p:nvPicPr>
        <p:blipFill>
          <a:blip r:embed="rId3">
            <a:alphaModFix/>
          </a:blip>
          <a:stretch>
            <a:fillRect/>
          </a:stretch>
        </p:blipFill>
        <p:spPr>
          <a:xfrm>
            <a:off x="0" y="2661100"/>
            <a:ext cx="6759874" cy="2917700"/>
          </a:xfrm>
          <a:prstGeom prst="rect">
            <a:avLst/>
          </a:prstGeom>
          <a:noFill/>
          <a:ln>
            <a:noFill/>
          </a:ln>
        </p:spPr>
      </p:pic>
      <p:pic>
        <p:nvPicPr>
          <p:cNvPr id="195" name="Google Shape;195;h7b3131d7342725ff_0_150"/>
          <p:cNvPicPr preferRelativeResize="0"/>
          <p:nvPr/>
        </p:nvPicPr>
        <p:blipFill>
          <a:blip r:embed="rId4">
            <a:alphaModFix/>
          </a:blip>
          <a:stretch>
            <a:fillRect/>
          </a:stretch>
        </p:blipFill>
        <p:spPr>
          <a:xfrm>
            <a:off x="7085525" y="684375"/>
            <a:ext cx="4591050" cy="53131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h7b3131d7342725ff_0_267"/>
          <p:cNvSpPr txBox="1"/>
          <p:nvPr/>
        </p:nvSpPr>
        <p:spPr>
          <a:xfrm>
            <a:off x="224875" y="401525"/>
            <a:ext cx="6058200" cy="2721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IN" sz="1600">
                <a:solidFill>
                  <a:srgbClr val="FF0000"/>
                </a:solidFill>
              </a:rPr>
              <a:t>Rectangular Distribution Overview</a:t>
            </a:r>
            <a:endParaRPr b="1" sz="1600">
              <a:solidFill>
                <a:srgbClr val="FF0000"/>
              </a:solidFill>
            </a:endParaRPr>
          </a:p>
          <a:p>
            <a:pPr indent="0" lvl="0" marL="0" rtl="0" algn="just">
              <a:lnSpc>
                <a:spcPct val="115000"/>
              </a:lnSpc>
              <a:spcBef>
                <a:spcPts val="1200"/>
              </a:spcBef>
              <a:spcAft>
                <a:spcPts val="0"/>
              </a:spcAft>
              <a:buNone/>
            </a:pPr>
            <a:r>
              <a:rPr lang="en-IN" sz="1600">
                <a:solidFill>
                  <a:schemeClr val="dk1"/>
                </a:solidFill>
              </a:rPr>
              <a:t>Also known as the continuous uniform distribution, a rectangular distribution is a symmetric probability distribution where all intervals of equal length within the distribution's range have an equal probability of occurring.Its probability density function (PDF) forms a rectangle, bounded by a minimum value a and a maximum value b</a:t>
            </a:r>
            <a:endParaRPr sz="1600">
              <a:solidFill>
                <a:schemeClr val="dk1"/>
              </a:solidFill>
            </a:endParaRPr>
          </a:p>
          <a:p>
            <a:pPr indent="-330200" lvl="0" marL="457200" rtl="0" algn="just">
              <a:lnSpc>
                <a:spcPct val="115000"/>
              </a:lnSpc>
              <a:spcBef>
                <a:spcPts val="1200"/>
              </a:spcBef>
              <a:spcAft>
                <a:spcPts val="0"/>
              </a:spcAft>
              <a:buClr>
                <a:schemeClr val="dk1"/>
              </a:buClr>
              <a:buSzPts val="1600"/>
              <a:buChar char="●"/>
            </a:pPr>
            <a:r>
              <a:rPr b="1" lang="en-IN" sz="1600">
                <a:solidFill>
                  <a:schemeClr val="dk1"/>
                </a:solidFill>
              </a:rPr>
              <a:t>Probability Density Function (PDF)</a:t>
            </a:r>
            <a:r>
              <a:rPr lang="en-IN" sz="1600">
                <a:solidFill>
                  <a:schemeClr val="dk1"/>
                </a:solidFill>
              </a:rPr>
              <a:t>:</a:t>
            </a:r>
            <a:endParaRPr sz="1600">
              <a:solidFill>
                <a:schemeClr val="dk1"/>
              </a:solidFill>
            </a:endParaRPr>
          </a:p>
        </p:txBody>
      </p:sp>
      <p:pic>
        <p:nvPicPr>
          <p:cNvPr id="201" name="Google Shape;201;h7b3131d7342725ff_0_267"/>
          <p:cNvPicPr preferRelativeResize="0"/>
          <p:nvPr/>
        </p:nvPicPr>
        <p:blipFill>
          <a:blip r:embed="rId3">
            <a:alphaModFix/>
          </a:blip>
          <a:stretch>
            <a:fillRect/>
          </a:stretch>
        </p:blipFill>
        <p:spPr>
          <a:xfrm>
            <a:off x="536575" y="3122825"/>
            <a:ext cx="3305175" cy="876300"/>
          </a:xfrm>
          <a:prstGeom prst="rect">
            <a:avLst/>
          </a:prstGeom>
          <a:noFill/>
          <a:ln>
            <a:noFill/>
          </a:ln>
        </p:spPr>
      </p:pic>
      <p:pic>
        <p:nvPicPr>
          <p:cNvPr id="202" name="Google Shape;202;h7b3131d7342725ff_0_267"/>
          <p:cNvPicPr preferRelativeResize="0"/>
          <p:nvPr/>
        </p:nvPicPr>
        <p:blipFill>
          <a:blip r:embed="rId4">
            <a:alphaModFix/>
          </a:blip>
          <a:stretch>
            <a:fillRect/>
          </a:stretch>
        </p:blipFill>
        <p:spPr>
          <a:xfrm>
            <a:off x="536575" y="3999125"/>
            <a:ext cx="3305175" cy="914400"/>
          </a:xfrm>
          <a:prstGeom prst="rect">
            <a:avLst/>
          </a:prstGeom>
          <a:noFill/>
          <a:ln>
            <a:noFill/>
          </a:ln>
        </p:spPr>
      </p:pic>
      <p:sp>
        <p:nvSpPr>
          <p:cNvPr id="203" name="Google Shape;203;h7b3131d7342725ff_0_267"/>
          <p:cNvSpPr txBox="1"/>
          <p:nvPr/>
        </p:nvSpPr>
        <p:spPr>
          <a:xfrm>
            <a:off x="112375" y="4913525"/>
            <a:ext cx="6058200" cy="116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IN" sz="1600"/>
              <a:t>Commonly used in simulation modeling, random number generation, and scenarios where outcomes are equally likely across a bounded range (such as ideal die rolls or rounding errors). </a:t>
            </a:r>
            <a:endParaRPr sz="1600"/>
          </a:p>
        </p:txBody>
      </p:sp>
      <p:pic>
        <p:nvPicPr>
          <p:cNvPr id="204" name="Google Shape;204;h7b3131d7342725ff_0_267"/>
          <p:cNvPicPr preferRelativeResize="0"/>
          <p:nvPr/>
        </p:nvPicPr>
        <p:blipFill>
          <a:blip r:embed="rId5">
            <a:alphaModFix/>
          </a:blip>
          <a:stretch>
            <a:fillRect/>
          </a:stretch>
        </p:blipFill>
        <p:spPr>
          <a:xfrm>
            <a:off x="6170575" y="2293450"/>
            <a:ext cx="5716624" cy="310289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h7b3131d7342725ff_0_135"/>
          <p:cNvSpPr txBox="1"/>
          <p:nvPr>
            <p:ph idx="1" type="body"/>
          </p:nvPr>
        </p:nvSpPr>
        <p:spPr>
          <a:xfrm>
            <a:off x="205025" y="150850"/>
            <a:ext cx="63093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sz="2000">
                <a:solidFill>
                  <a:srgbClr val="FF0000"/>
                </a:solidFill>
              </a:rPr>
              <a:t>Exponential Distribution: </a:t>
            </a:r>
            <a:endParaRPr sz="2000">
              <a:solidFill>
                <a:srgbClr val="FF0000"/>
              </a:solidFill>
            </a:endParaRPr>
          </a:p>
          <a:p>
            <a:pPr indent="0" lvl="0" marL="0" rtl="0" algn="just">
              <a:spcBef>
                <a:spcPts val="1000"/>
              </a:spcBef>
              <a:spcAft>
                <a:spcPts val="0"/>
              </a:spcAft>
              <a:buClr>
                <a:schemeClr val="dk1"/>
              </a:buClr>
              <a:buSzPts val="1100"/>
              <a:buFont typeface="Arial"/>
              <a:buNone/>
            </a:pPr>
            <a:r>
              <a:rPr lang="en-IN" sz="1600"/>
              <a:t>A continuous probability distribution used to model the time or space between Poisson point process events (events that occur continuously and independently at a constant average rate).</a:t>
            </a:r>
            <a:endParaRPr sz="1600"/>
          </a:p>
          <a:p>
            <a:pPr indent="0" lvl="0" marL="0" rtl="0" algn="just">
              <a:spcBef>
                <a:spcPts val="1000"/>
              </a:spcBef>
              <a:spcAft>
                <a:spcPts val="0"/>
              </a:spcAft>
              <a:buClr>
                <a:schemeClr val="dk1"/>
              </a:buClr>
              <a:buSzPts val="1100"/>
              <a:buFont typeface="Arial"/>
              <a:buNone/>
            </a:pPr>
            <a:r>
              <a:rPr lang="en-IN" sz="1600"/>
              <a:t>It is </a:t>
            </a:r>
            <a:r>
              <a:rPr b="1" lang="en-IN" sz="1600"/>
              <a:t>memoryless</a:t>
            </a:r>
            <a:r>
              <a:rPr lang="en-IN" sz="1600"/>
              <a:t>, meaning the probability of an event occurring in a future time interval depends only on the duration of that interval, not on how much time has already elapsed.</a:t>
            </a:r>
            <a:endParaRPr sz="1600"/>
          </a:p>
          <a:p>
            <a:pPr indent="0" lvl="0" marL="0" rtl="0" algn="just">
              <a:spcBef>
                <a:spcPts val="1000"/>
              </a:spcBef>
              <a:spcAft>
                <a:spcPts val="0"/>
              </a:spcAft>
              <a:buClr>
                <a:schemeClr val="dk1"/>
              </a:buClr>
              <a:buSzPts val="1100"/>
              <a:buFont typeface="Arial"/>
              <a:buNone/>
            </a:pPr>
            <a:r>
              <a:rPr b="1" lang="en-IN" sz="1600"/>
              <a:t>Probability Density Function (PDF)</a:t>
            </a:r>
            <a:r>
              <a:rPr lang="en-IN" sz="1600"/>
              <a:t>:</a:t>
            </a:r>
            <a:endParaRPr sz="1600"/>
          </a:p>
          <a:p>
            <a:pPr indent="0" lvl="0" marL="0" rtl="0" algn="just">
              <a:spcBef>
                <a:spcPts val="1000"/>
              </a:spcBef>
              <a:spcAft>
                <a:spcPts val="0"/>
              </a:spcAft>
              <a:buNone/>
            </a:pPr>
            <a:r>
              <a:t/>
            </a:r>
            <a:endParaRPr sz="2000"/>
          </a:p>
        </p:txBody>
      </p:sp>
      <p:pic>
        <p:nvPicPr>
          <p:cNvPr id="210" name="Google Shape;210;h7b3131d7342725ff_0_135"/>
          <p:cNvPicPr preferRelativeResize="0"/>
          <p:nvPr/>
        </p:nvPicPr>
        <p:blipFill>
          <a:blip r:embed="rId3">
            <a:alphaModFix/>
          </a:blip>
          <a:stretch>
            <a:fillRect/>
          </a:stretch>
        </p:blipFill>
        <p:spPr>
          <a:xfrm>
            <a:off x="1056875" y="2575400"/>
            <a:ext cx="3743325" cy="1019175"/>
          </a:xfrm>
          <a:prstGeom prst="rect">
            <a:avLst/>
          </a:prstGeom>
          <a:noFill/>
          <a:ln>
            <a:noFill/>
          </a:ln>
        </p:spPr>
      </p:pic>
      <p:pic>
        <p:nvPicPr>
          <p:cNvPr id="211" name="Google Shape;211;h7b3131d7342725ff_0_135"/>
          <p:cNvPicPr preferRelativeResize="0"/>
          <p:nvPr/>
        </p:nvPicPr>
        <p:blipFill>
          <a:blip r:embed="rId4">
            <a:alphaModFix/>
          </a:blip>
          <a:stretch>
            <a:fillRect/>
          </a:stretch>
        </p:blipFill>
        <p:spPr>
          <a:xfrm>
            <a:off x="6832000" y="65775"/>
            <a:ext cx="5197650" cy="3528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h7b3131d7342725ff_0_145"/>
          <p:cNvSpPr txBox="1"/>
          <p:nvPr>
            <p:ph type="title"/>
          </p:nvPr>
        </p:nvSpPr>
        <p:spPr>
          <a:xfrm>
            <a:off x="299250" y="199250"/>
            <a:ext cx="11593500" cy="4561200"/>
          </a:xfrm>
          <a:prstGeom prst="rect">
            <a:avLst/>
          </a:prstGeom>
        </p:spPr>
        <p:txBody>
          <a:bodyPr anchorCtr="0" anchor="ctr" bIns="45700" lIns="91425" spcFirstLastPara="1" rIns="91425" wrap="square" tIns="45700">
            <a:noAutofit/>
          </a:bodyPr>
          <a:lstStyle/>
          <a:p>
            <a:pPr indent="0" lvl="0" marL="0" rtl="0" algn="just">
              <a:lnSpc>
                <a:spcPct val="100000"/>
              </a:lnSpc>
              <a:spcBef>
                <a:spcPts val="0"/>
              </a:spcBef>
              <a:spcAft>
                <a:spcPts val="0"/>
              </a:spcAft>
              <a:buNone/>
            </a:pPr>
            <a:r>
              <a:rPr b="1" lang="en-IN" sz="2200">
                <a:solidFill>
                  <a:srgbClr val="0000FF"/>
                </a:solidFill>
                <a:latin typeface="Times New Roman"/>
                <a:ea typeface="Times New Roman"/>
                <a:cs typeface="Times New Roman"/>
                <a:sym typeface="Times New Roman"/>
              </a:rPr>
              <a:t>D</a:t>
            </a:r>
            <a:r>
              <a:rPr b="1" lang="en-IN" sz="2200">
                <a:solidFill>
                  <a:srgbClr val="0000FF"/>
                </a:solidFill>
                <a:latin typeface="Times New Roman"/>
                <a:ea typeface="Times New Roman"/>
                <a:cs typeface="Times New Roman"/>
                <a:sym typeface="Times New Roman"/>
              </a:rPr>
              <a:t>iscrete </a:t>
            </a:r>
            <a:r>
              <a:rPr b="1" lang="en-IN" sz="2200">
                <a:solidFill>
                  <a:srgbClr val="0000FF"/>
                </a:solidFill>
                <a:latin typeface="Times New Roman"/>
                <a:ea typeface="Times New Roman"/>
                <a:cs typeface="Times New Roman"/>
                <a:sym typeface="Times New Roman"/>
              </a:rPr>
              <a:t>Distribution:</a:t>
            </a:r>
            <a:endParaRPr b="1" sz="2200">
              <a:solidFill>
                <a:srgbClr val="0000FF"/>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IN" sz="2000">
                <a:latin typeface="Times New Roman"/>
                <a:ea typeface="Times New Roman"/>
                <a:cs typeface="Times New Roman"/>
                <a:sym typeface="Times New Roman"/>
              </a:rPr>
              <a:t>A </a:t>
            </a:r>
            <a:r>
              <a:rPr b="1" lang="en-IN" sz="2000">
                <a:latin typeface="Times New Roman"/>
                <a:ea typeface="Times New Roman"/>
                <a:cs typeface="Times New Roman"/>
                <a:sym typeface="Times New Roman"/>
              </a:rPr>
              <a:t>discrete distribution</a:t>
            </a:r>
            <a:r>
              <a:rPr lang="en-IN" sz="2000">
                <a:latin typeface="Times New Roman"/>
                <a:ea typeface="Times New Roman"/>
                <a:cs typeface="Times New Roman"/>
                <a:sym typeface="Times New Roman"/>
              </a:rPr>
              <a:t> is a probability distribution that describes a random variable whose possible outcomes are distinct, separate values (such as integers like 0, 1, 2, 3...) rather than a continuous range. </a:t>
            </a:r>
            <a:endParaRPr sz="2000">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IN" sz="2000">
                <a:latin typeface="Times New Roman"/>
                <a:ea typeface="Times New Roman"/>
                <a:cs typeface="Times New Roman"/>
                <a:sym typeface="Times New Roman"/>
              </a:rPr>
              <a:t>Unlike continuous variables (like height or weight) which use a Probability Density Function (PDF), discrete variables rely on two foundational mathematical functions:</a:t>
            </a:r>
            <a:endParaRPr sz="2000">
              <a:latin typeface="Times New Roman"/>
              <a:ea typeface="Times New Roman"/>
              <a:cs typeface="Times New Roman"/>
              <a:sym typeface="Times New Roman"/>
            </a:endParaRPr>
          </a:p>
          <a:p>
            <a:pPr indent="-355600" lvl="0" marL="457200" rtl="0" algn="just">
              <a:lnSpc>
                <a:spcPct val="100000"/>
              </a:lnSpc>
              <a:spcBef>
                <a:spcPts val="0"/>
              </a:spcBef>
              <a:spcAft>
                <a:spcPts val="0"/>
              </a:spcAft>
              <a:buSzPts val="2000"/>
              <a:buFont typeface="Times New Roman"/>
              <a:buChar char="●"/>
            </a:pPr>
            <a:r>
              <a:rPr lang="en-IN" sz="2000">
                <a:latin typeface="Times New Roman"/>
                <a:ea typeface="Times New Roman"/>
                <a:cs typeface="Times New Roman"/>
                <a:sym typeface="Times New Roman"/>
              </a:rPr>
              <a:t>Probability Mass Function (PMF): Denoted as P(X=x) or p(x), it gives the exact probability that a discrete random variable X equals a specific value x.</a:t>
            </a:r>
            <a:endParaRPr sz="2000">
              <a:latin typeface="Times New Roman"/>
              <a:ea typeface="Times New Roman"/>
              <a:cs typeface="Times New Roman"/>
              <a:sym typeface="Times New Roman"/>
            </a:endParaRPr>
          </a:p>
          <a:p>
            <a:pPr indent="-355600" lvl="0" marL="457200" rtl="0" algn="just">
              <a:lnSpc>
                <a:spcPct val="100000"/>
              </a:lnSpc>
              <a:spcBef>
                <a:spcPts val="0"/>
              </a:spcBef>
              <a:spcAft>
                <a:spcPts val="0"/>
              </a:spcAft>
              <a:buSzPts val="2000"/>
              <a:buFont typeface="Times New Roman"/>
              <a:buChar char="●"/>
            </a:pPr>
            <a:r>
              <a:rPr lang="en-IN" sz="2000">
                <a:latin typeface="Times New Roman"/>
                <a:ea typeface="Times New Roman"/>
                <a:cs typeface="Times New Roman"/>
                <a:sym typeface="Times New Roman"/>
              </a:rPr>
              <a:t>Cumulative Distribution Function (CDF): Denoted as F(x)=P(X≤x), it gives the sum of probabilities for all values up to and including x.</a:t>
            </a:r>
            <a:endParaRPr sz="2000">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b="1" lang="en-IN" sz="2000">
                <a:latin typeface="Times New Roman"/>
                <a:ea typeface="Times New Roman"/>
                <a:cs typeface="Times New Roman"/>
                <a:sym typeface="Times New Roman"/>
              </a:rPr>
              <a:t>Rules</a:t>
            </a:r>
            <a:endParaRPr b="1" sz="2000">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IN" sz="2000">
                <a:latin typeface="Times New Roman"/>
                <a:ea typeface="Times New Roman"/>
                <a:cs typeface="Times New Roman"/>
                <a:sym typeface="Times New Roman"/>
              </a:rPr>
              <a:t>	Non-negativity: For every possible value x, P(X=x)≥0.</a:t>
            </a:r>
            <a:endParaRPr sz="2000">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IN" sz="2000">
                <a:latin typeface="Times New Roman"/>
                <a:ea typeface="Times New Roman"/>
                <a:cs typeface="Times New Roman"/>
                <a:sym typeface="Times New Roman"/>
              </a:rPr>
              <a:t>	Total Probability: The sum of all individual probabilities across the entire sample space equals 1:</a:t>
            </a:r>
            <a:endParaRPr sz="2000">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Font typeface="Arial"/>
              <a:buNone/>
            </a:pPr>
            <a:r>
              <a:rPr b="1" lang="en-IN" sz="2000">
                <a:solidFill>
                  <a:srgbClr val="FF0000"/>
                </a:solidFill>
                <a:latin typeface="Times New Roman"/>
                <a:ea typeface="Times New Roman"/>
                <a:cs typeface="Times New Roman"/>
                <a:sym typeface="Times New Roman"/>
              </a:rPr>
              <a:t>Binomial Distribution</a:t>
            </a:r>
            <a:endParaRPr b="1" sz="2000">
              <a:solidFill>
                <a:srgbClr val="FF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IN" sz="2000">
                <a:latin typeface="Times New Roman"/>
                <a:ea typeface="Times New Roman"/>
                <a:cs typeface="Times New Roman"/>
                <a:sym typeface="Times New Roman"/>
              </a:rPr>
              <a:t>Binomial distribution is another distribution that is often encountered in machine learning. It has only two outcomes: success or failure. This is also called a Bernoulli trial. </a:t>
            </a:r>
            <a:endParaRPr sz="2000">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Font typeface="Arial"/>
              <a:buNone/>
            </a:pPr>
            <a:r>
              <a:rPr lang="en-IN" sz="2000">
                <a:latin typeface="Times New Roman"/>
                <a:ea typeface="Times New Roman"/>
                <a:cs typeface="Times New Roman"/>
                <a:sym typeface="Times New Roman"/>
              </a:rPr>
              <a:t>The objective of this distribution is to find the probability of getting ksuccesses out of n trials. </a:t>
            </a:r>
            <a:endParaRPr sz="2000">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2000">
              <a:latin typeface="Times New Roman"/>
              <a:ea typeface="Times New Roman"/>
              <a:cs typeface="Times New Roman"/>
              <a:sym typeface="Times New Roman"/>
            </a:endParaRPr>
          </a:p>
        </p:txBody>
      </p:sp>
      <p:sp>
        <p:nvSpPr>
          <p:cNvPr id="217" name="Google Shape;217;h7b3131d7342725ff_0_145"/>
          <p:cNvSpPr txBox="1"/>
          <p:nvPr/>
        </p:nvSpPr>
        <p:spPr>
          <a:xfrm>
            <a:off x="299250" y="4760450"/>
            <a:ext cx="8042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latin typeface="Times New Roman"/>
                <a:ea typeface="Times New Roman"/>
                <a:cs typeface="Times New Roman"/>
                <a:sym typeface="Times New Roman"/>
              </a:rPr>
              <a:t>The number of ways to choose k successes out of n trials is given by: </a:t>
            </a:r>
            <a:endParaRPr sz="2000">
              <a:latin typeface="Times New Roman"/>
              <a:ea typeface="Times New Roman"/>
              <a:cs typeface="Times New Roman"/>
              <a:sym typeface="Times New Roman"/>
            </a:endParaRPr>
          </a:p>
        </p:txBody>
      </p:sp>
      <p:pic>
        <p:nvPicPr>
          <p:cNvPr id="218" name="Google Shape;218;h7b3131d7342725ff_0_145"/>
          <p:cNvPicPr preferRelativeResize="0"/>
          <p:nvPr/>
        </p:nvPicPr>
        <p:blipFill>
          <a:blip r:embed="rId3">
            <a:alphaModFix/>
          </a:blip>
          <a:stretch>
            <a:fillRect/>
          </a:stretch>
        </p:blipFill>
        <p:spPr>
          <a:xfrm>
            <a:off x="7660200" y="4729769"/>
            <a:ext cx="2390775" cy="809625"/>
          </a:xfrm>
          <a:prstGeom prst="rect">
            <a:avLst/>
          </a:prstGeom>
          <a:noFill/>
          <a:ln>
            <a:noFill/>
          </a:ln>
        </p:spPr>
      </p:pic>
      <p:pic>
        <p:nvPicPr>
          <p:cNvPr id="219" name="Google Shape;219;h7b3131d7342725ff_0_145"/>
          <p:cNvPicPr preferRelativeResize="0"/>
          <p:nvPr/>
        </p:nvPicPr>
        <p:blipFill>
          <a:blip r:embed="rId4">
            <a:alphaModFix/>
          </a:blip>
          <a:stretch>
            <a:fillRect/>
          </a:stretch>
        </p:blipFill>
        <p:spPr>
          <a:xfrm>
            <a:off x="299250" y="5578700"/>
            <a:ext cx="7210425" cy="333375"/>
          </a:xfrm>
          <a:prstGeom prst="rect">
            <a:avLst/>
          </a:prstGeom>
          <a:noFill/>
          <a:ln>
            <a:noFill/>
          </a:ln>
        </p:spPr>
      </p:pic>
      <p:pic>
        <p:nvPicPr>
          <p:cNvPr id="220" name="Google Shape;220;h7b3131d7342725ff_0_145"/>
          <p:cNvPicPr preferRelativeResize="0"/>
          <p:nvPr/>
        </p:nvPicPr>
        <p:blipFill>
          <a:blip r:embed="rId5">
            <a:alphaModFix/>
          </a:blip>
          <a:stretch>
            <a:fillRect/>
          </a:stretch>
        </p:blipFill>
        <p:spPr>
          <a:xfrm>
            <a:off x="7746725" y="5467207"/>
            <a:ext cx="2628612" cy="641125"/>
          </a:xfrm>
          <a:prstGeom prst="rect">
            <a:avLst/>
          </a:prstGeom>
          <a:noFill/>
          <a:ln>
            <a:noFill/>
          </a:ln>
        </p:spPr>
      </p:pic>
      <p:sp>
        <p:nvSpPr>
          <p:cNvPr id="221" name="Google Shape;221;h7b3131d7342725ff_0_145"/>
          <p:cNvSpPr txBox="1"/>
          <p:nvPr/>
        </p:nvSpPr>
        <p:spPr>
          <a:xfrm>
            <a:off x="299251" y="5860188"/>
            <a:ext cx="7970400" cy="93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IN" sz="1800">
                <a:solidFill>
                  <a:schemeClr val="dk1"/>
                </a:solidFill>
              </a:rPr>
              <a:t>Probability Mass Function (PMF)</a:t>
            </a:r>
            <a:endParaRPr b="1" sz="1800">
              <a:solidFill>
                <a:schemeClr val="dk1"/>
              </a:solidFill>
            </a:endParaRPr>
          </a:p>
          <a:p>
            <a:pPr indent="0" lvl="0" marL="0" rtl="0" algn="l">
              <a:lnSpc>
                <a:spcPct val="115000"/>
              </a:lnSpc>
              <a:spcBef>
                <a:spcPts val="1200"/>
              </a:spcBef>
              <a:spcAft>
                <a:spcPts val="1200"/>
              </a:spcAft>
              <a:buNone/>
            </a:pPr>
            <a:r>
              <a:t/>
            </a:r>
            <a:endParaRPr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h7b3131d7342725ff_0_336"/>
          <p:cNvSpPr txBox="1"/>
          <p:nvPr/>
        </p:nvSpPr>
        <p:spPr>
          <a:xfrm>
            <a:off x="158800" y="320150"/>
            <a:ext cx="57387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IN" sz="1800">
                <a:solidFill>
                  <a:schemeClr val="dk1"/>
                </a:solidFill>
              </a:rPr>
              <a:t>Combining both gives the probability function for a binomial distribution:</a:t>
            </a:r>
            <a:endParaRPr sz="1800">
              <a:solidFill>
                <a:schemeClr val="dk1"/>
              </a:solidFill>
            </a:endParaRPr>
          </a:p>
        </p:txBody>
      </p:sp>
      <p:pic>
        <p:nvPicPr>
          <p:cNvPr id="227" name="Google Shape;227;h7b3131d7342725ff_0_336"/>
          <p:cNvPicPr preferRelativeResize="0"/>
          <p:nvPr/>
        </p:nvPicPr>
        <p:blipFill>
          <a:blip r:embed="rId3">
            <a:alphaModFix/>
          </a:blip>
          <a:stretch>
            <a:fillRect/>
          </a:stretch>
        </p:blipFill>
        <p:spPr>
          <a:xfrm>
            <a:off x="2279600" y="665039"/>
            <a:ext cx="3402125" cy="777367"/>
          </a:xfrm>
          <a:prstGeom prst="rect">
            <a:avLst/>
          </a:prstGeom>
          <a:noFill/>
          <a:ln>
            <a:noFill/>
          </a:ln>
        </p:spPr>
      </p:pic>
      <p:sp>
        <p:nvSpPr>
          <p:cNvPr id="228" name="Google Shape;228;h7b3131d7342725ff_0_336"/>
          <p:cNvSpPr txBox="1"/>
          <p:nvPr/>
        </p:nvSpPr>
        <p:spPr>
          <a:xfrm>
            <a:off x="404250" y="2850525"/>
            <a:ext cx="11466600" cy="1569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IN" sz="1800">
                <a:solidFill>
                  <a:srgbClr val="FF0000"/>
                </a:solidFill>
              </a:rPr>
              <a:t>Poisson Distribution</a:t>
            </a:r>
            <a:r>
              <a:rPr lang="en-IN" sz="1800">
                <a:solidFill>
                  <a:srgbClr val="FF0000"/>
                </a:solidFill>
              </a:rPr>
              <a:t> :</a:t>
            </a:r>
            <a:endParaRPr sz="1800">
              <a:solidFill>
                <a:srgbClr val="FF0000"/>
              </a:solidFill>
            </a:endParaRPr>
          </a:p>
          <a:p>
            <a:pPr indent="0" lvl="0" marL="0" rtl="0" algn="just">
              <a:spcBef>
                <a:spcPts val="0"/>
              </a:spcBef>
              <a:spcAft>
                <a:spcPts val="0"/>
              </a:spcAft>
              <a:buNone/>
            </a:pPr>
            <a:r>
              <a:rPr lang="en-IN" sz="1800">
                <a:solidFill>
                  <a:schemeClr val="dk1"/>
                </a:solidFill>
              </a:rPr>
              <a:t>It is another important distribution that is quite useful. Given an interval of time, this distribution is used to model the probability of a given number of events k. The mean rule lambda is inclusive of previous events. Some of the examples of Poisson distribution are number of emails received, number of customers visiting a shop and the number of phone calls received by the office. </a:t>
            </a:r>
            <a:endParaRPr sz="1800"/>
          </a:p>
        </p:txBody>
      </p:sp>
      <p:sp>
        <p:nvSpPr>
          <p:cNvPr id="229" name="Google Shape;229;h7b3131d7342725ff_0_336"/>
          <p:cNvSpPr txBox="1"/>
          <p:nvPr/>
        </p:nvSpPr>
        <p:spPr>
          <a:xfrm>
            <a:off x="404272" y="4304922"/>
            <a:ext cx="1126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t>The PDF of Poisson distribution is given as follows: </a:t>
            </a:r>
            <a:endParaRPr sz="1800"/>
          </a:p>
        </p:txBody>
      </p:sp>
      <p:pic>
        <p:nvPicPr>
          <p:cNvPr id="230" name="Google Shape;230;h7b3131d7342725ff_0_336"/>
          <p:cNvPicPr preferRelativeResize="0"/>
          <p:nvPr/>
        </p:nvPicPr>
        <p:blipFill>
          <a:blip r:embed="rId4">
            <a:alphaModFix/>
          </a:blip>
          <a:stretch>
            <a:fillRect/>
          </a:stretch>
        </p:blipFill>
        <p:spPr>
          <a:xfrm>
            <a:off x="505350" y="4651947"/>
            <a:ext cx="3790950" cy="742950"/>
          </a:xfrm>
          <a:prstGeom prst="rect">
            <a:avLst/>
          </a:prstGeom>
          <a:noFill/>
          <a:ln>
            <a:noFill/>
          </a:ln>
        </p:spPr>
      </p:pic>
      <p:sp>
        <p:nvSpPr>
          <p:cNvPr id="231" name="Google Shape;231;h7b3131d7342725ff_0_336"/>
          <p:cNvSpPr txBox="1"/>
          <p:nvPr/>
        </p:nvSpPr>
        <p:spPr>
          <a:xfrm>
            <a:off x="505350" y="5282467"/>
            <a:ext cx="5963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t>Here, x is the number of times the event occurs and lambda is the mean number of times an event occurs. </a:t>
            </a:r>
            <a:endParaRPr sz="1800"/>
          </a:p>
        </p:txBody>
      </p:sp>
      <p:sp>
        <p:nvSpPr>
          <p:cNvPr id="232" name="Google Shape;232;h7b3131d7342725ff_0_336"/>
          <p:cNvSpPr txBox="1"/>
          <p:nvPr/>
        </p:nvSpPr>
        <p:spPr>
          <a:xfrm>
            <a:off x="505350" y="5941550"/>
            <a:ext cx="5665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t>The mean is the population mean at number of emails received and the standard deviation is sqrt(lambda) </a:t>
            </a:r>
            <a:endParaRPr sz="1800"/>
          </a:p>
        </p:txBody>
      </p:sp>
      <p:pic>
        <p:nvPicPr>
          <p:cNvPr id="233" name="Google Shape;233;h7b3131d7342725ff_0_336"/>
          <p:cNvPicPr preferRelativeResize="0"/>
          <p:nvPr/>
        </p:nvPicPr>
        <p:blipFill>
          <a:blip r:embed="rId5">
            <a:alphaModFix/>
          </a:blip>
          <a:stretch>
            <a:fillRect/>
          </a:stretch>
        </p:blipFill>
        <p:spPr>
          <a:xfrm>
            <a:off x="6276050" y="0"/>
            <a:ext cx="5665201" cy="3198949"/>
          </a:xfrm>
          <a:prstGeom prst="rect">
            <a:avLst/>
          </a:prstGeom>
          <a:noFill/>
          <a:ln>
            <a:noFill/>
          </a:ln>
        </p:spPr>
      </p:pic>
      <p:pic>
        <p:nvPicPr>
          <p:cNvPr id="234" name="Google Shape;234;h7b3131d7342725ff_0_336"/>
          <p:cNvPicPr preferRelativeResize="0"/>
          <p:nvPr/>
        </p:nvPicPr>
        <p:blipFill>
          <a:blip r:embed="rId6">
            <a:alphaModFix/>
          </a:blip>
          <a:stretch>
            <a:fillRect/>
          </a:stretch>
        </p:blipFill>
        <p:spPr>
          <a:xfrm>
            <a:off x="1255800" y="1442400"/>
            <a:ext cx="4523976" cy="1408125"/>
          </a:xfrm>
          <a:prstGeom prst="rect">
            <a:avLst/>
          </a:prstGeom>
          <a:noFill/>
          <a:ln>
            <a:noFill/>
          </a:ln>
        </p:spPr>
      </p:pic>
      <p:pic>
        <p:nvPicPr>
          <p:cNvPr id="235" name="Google Shape;235;h7b3131d7342725ff_0_336"/>
          <p:cNvPicPr preferRelativeResize="0"/>
          <p:nvPr/>
        </p:nvPicPr>
        <p:blipFill>
          <a:blip r:embed="rId7">
            <a:alphaModFix/>
          </a:blip>
          <a:stretch>
            <a:fillRect/>
          </a:stretch>
        </p:blipFill>
        <p:spPr>
          <a:xfrm>
            <a:off x="6846450" y="4168350"/>
            <a:ext cx="5026349" cy="2689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h7b3131d7342725ff_0_361"/>
          <p:cNvSpPr txBox="1"/>
          <p:nvPr/>
        </p:nvSpPr>
        <p:spPr>
          <a:xfrm>
            <a:off x="420800" y="417575"/>
            <a:ext cx="1158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000">
                <a:solidFill>
                  <a:srgbClr val="FF0000"/>
                </a:solidFill>
              </a:rPr>
              <a:t>Bernoulli Distribution</a:t>
            </a:r>
            <a:r>
              <a:rPr lang="en-IN" sz="2000">
                <a:solidFill>
                  <a:srgbClr val="FF0000"/>
                </a:solidFill>
              </a:rPr>
              <a:t>:</a:t>
            </a:r>
            <a:endParaRPr sz="2000">
              <a:solidFill>
                <a:srgbClr val="FF0000"/>
              </a:solidFill>
            </a:endParaRPr>
          </a:p>
          <a:p>
            <a:pPr indent="0" lvl="0" marL="0" rtl="0" algn="l">
              <a:spcBef>
                <a:spcPts val="0"/>
              </a:spcBef>
              <a:spcAft>
                <a:spcPts val="0"/>
              </a:spcAft>
              <a:buNone/>
            </a:pPr>
            <a:r>
              <a:rPr lang="en-IN" sz="2000">
                <a:solidFill>
                  <a:schemeClr val="dk1"/>
                </a:solidFill>
              </a:rPr>
              <a:t>This distribution models an experiment whose outcome is binary. The outcome is positive with p and negative with 1 - p. The PMF of this distribution is given as: </a:t>
            </a:r>
            <a:endParaRPr sz="2000"/>
          </a:p>
        </p:txBody>
      </p:sp>
      <p:pic>
        <p:nvPicPr>
          <p:cNvPr id="241" name="Google Shape;241;h7b3131d7342725ff_0_361"/>
          <p:cNvPicPr preferRelativeResize="0"/>
          <p:nvPr/>
        </p:nvPicPr>
        <p:blipFill>
          <a:blip r:embed="rId3">
            <a:alphaModFix/>
          </a:blip>
          <a:stretch>
            <a:fillRect/>
          </a:stretch>
        </p:blipFill>
        <p:spPr>
          <a:xfrm>
            <a:off x="4439150" y="1525775"/>
            <a:ext cx="3543300" cy="1047750"/>
          </a:xfrm>
          <a:prstGeom prst="rect">
            <a:avLst/>
          </a:prstGeom>
          <a:noFill/>
          <a:ln>
            <a:noFill/>
          </a:ln>
        </p:spPr>
      </p:pic>
      <p:sp>
        <p:nvSpPr>
          <p:cNvPr id="242" name="Google Shape;242;h7b3131d7342725ff_0_361"/>
          <p:cNvSpPr txBox="1"/>
          <p:nvPr/>
        </p:nvSpPr>
        <p:spPr>
          <a:xfrm>
            <a:off x="497850" y="2682175"/>
            <a:ext cx="8355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t>The mean is p and variance is p(1 - p) = q</a:t>
            </a:r>
            <a:endParaRPr sz="2000"/>
          </a:p>
        </p:txBody>
      </p:sp>
      <p:pic>
        <p:nvPicPr>
          <p:cNvPr id="243" name="Google Shape;243;h7b3131d7342725ff_0_361"/>
          <p:cNvPicPr preferRelativeResize="0"/>
          <p:nvPr/>
        </p:nvPicPr>
        <p:blipFill>
          <a:blip r:embed="rId4">
            <a:alphaModFix/>
          </a:blip>
          <a:stretch>
            <a:fillRect/>
          </a:stretch>
        </p:blipFill>
        <p:spPr>
          <a:xfrm>
            <a:off x="6663875" y="3078850"/>
            <a:ext cx="5336932" cy="3378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h7b3131d7342725ff_0_140"/>
          <p:cNvSpPr txBox="1"/>
          <p:nvPr>
            <p:ph type="title"/>
          </p:nvPr>
        </p:nvSpPr>
        <p:spPr>
          <a:xfrm>
            <a:off x="246250" y="220750"/>
            <a:ext cx="10515600" cy="4203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IN" sz="2000">
                <a:solidFill>
                  <a:srgbClr val="0000FF"/>
                </a:solidFill>
                <a:latin typeface="Times New Roman"/>
                <a:ea typeface="Times New Roman"/>
                <a:cs typeface="Times New Roman"/>
                <a:sym typeface="Times New Roman"/>
              </a:rPr>
              <a:t>Density Estimation</a:t>
            </a:r>
            <a:endParaRPr b="1" sz="2000">
              <a:solidFill>
                <a:srgbClr val="0000FF"/>
              </a:solidFill>
            </a:endParaRPr>
          </a:p>
        </p:txBody>
      </p:sp>
      <p:sp>
        <p:nvSpPr>
          <p:cNvPr id="249" name="Google Shape;249;h7b3131d7342725ff_0_140"/>
          <p:cNvSpPr txBox="1"/>
          <p:nvPr/>
        </p:nvSpPr>
        <p:spPr>
          <a:xfrm>
            <a:off x="246250" y="641050"/>
            <a:ext cx="11884500" cy="2328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IN" sz="2200">
                <a:solidFill>
                  <a:schemeClr val="dk1"/>
                </a:solidFill>
                <a:latin typeface="Times New Roman"/>
                <a:ea typeface="Times New Roman"/>
                <a:cs typeface="Times New Roman"/>
                <a:sym typeface="Times New Roman"/>
              </a:rPr>
              <a:t>Suppose we have observed data values</a:t>
            </a:r>
            <a:endParaRPr sz="22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IN" sz="2000">
                <a:solidFill>
                  <a:schemeClr val="dk1"/>
                </a:solidFill>
                <a:latin typeface="Times New Roman"/>
                <a:ea typeface="Times New Roman"/>
                <a:cs typeface="Times New Roman"/>
                <a:sym typeface="Times New Roman"/>
              </a:rPr>
              <a:t>from a larger population whose probability distribution is unknown. Density estimation is the process of estimating the underlying probability density function (PDF) from these observed data values.</a:t>
            </a:r>
            <a:endParaRPr sz="20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IN" sz="2000">
                <a:solidFill>
                  <a:schemeClr val="dk1"/>
                </a:solidFill>
                <a:latin typeface="Times New Roman"/>
                <a:ea typeface="Times New Roman"/>
                <a:cs typeface="Times New Roman"/>
                <a:sym typeface="Times New Roman"/>
              </a:rPr>
              <a:t>The estimated density function is represented by</a:t>
            </a:r>
            <a:endParaRPr sz="20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2200">
              <a:solidFill>
                <a:schemeClr val="dk1"/>
              </a:solidFill>
              <a:latin typeface="Times New Roman"/>
              <a:ea typeface="Times New Roman"/>
              <a:cs typeface="Times New Roman"/>
              <a:sym typeface="Times New Roman"/>
            </a:endParaRPr>
          </a:p>
        </p:txBody>
      </p:sp>
      <p:pic>
        <p:nvPicPr>
          <p:cNvPr id="250" name="Google Shape;250;h7b3131d7342725ff_0_140"/>
          <p:cNvPicPr preferRelativeResize="0"/>
          <p:nvPr/>
        </p:nvPicPr>
        <p:blipFill>
          <a:blip r:embed="rId3">
            <a:alphaModFix/>
          </a:blip>
          <a:stretch>
            <a:fillRect/>
          </a:stretch>
        </p:blipFill>
        <p:spPr>
          <a:xfrm>
            <a:off x="4964900" y="745450"/>
            <a:ext cx="2262200" cy="420300"/>
          </a:xfrm>
          <a:prstGeom prst="rect">
            <a:avLst/>
          </a:prstGeom>
          <a:noFill/>
          <a:ln>
            <a:noFill/>
          </a:ln>
        </p:spPr>
      </p:pic>
      <p:pic>
        <p:nvPicPr>
          <p:cNvPr id="251" name="Google Shape;251;h7b3131d7342725ff_0_140"/>
          <p:cNvPicPr preferRelativeResize="0"/>
          <p:nvPr/>
        </p:nvPicPr>
        <p:blipFill>
          <a:blip r:embed="rId4">
            <a:alphaModFix/>
          </a:blip>
          <a:stretch>
            <a:fillRect/>
          </a:stretch>
        </p:blipFill>
        <p:spPr>
          <a:xfrm>
            <a:off x="5372200" y="2174750"/>
            <a:ext cx="685800" cy="285750"/>
          </a:xfrm>
          <a:prstGeom prst="rect">
            <a:avLst/>
          </a:prstGeom>
          <a:noFill/>
          <a:ln>
            <a:noFill/>
          </a:ln>
        </p:spPr>
      </p:pic>
      <p:pic>
        <p:nvPicPr>
          <p:cNvPr id="252" name="Google Shape;252;h7b3131d7342725ff_0_140"/>
          <p:cNvPicPr preferRelativeResize="0"/>
          <p:nvPr/>
        </p:nvPicPr>
        <p:blipFill>
          <a:blip r:embed="rId5">
            <a:alphaModFix/>
          </a:blip>
          <a:stretch>
            <a:fillRect/>
          </a:stretch>
        </p:blipFill>
        <p:spPr>
          <a:xfrm>
            <a:off x="377250" y="2460500"/>
            <a:ext cx="5191125" cy="1676400"/>
          </a:xfrm>
          <a:prstGeom prst="rect">
            <a:avLst/>
          </a:prstGeom>
          <a:noFill/>
          <a:ln>
            <a:noFill/>
          </a:ln>
        </p:spPr>
      </p:pic>
      <p:sp>
        <p:nvSpPr>
          <p:cNvPr id="253" name="Google Shape;253;h7b3131d7342725ff_0_140"/>
          <p:cNvSpPr txBox="1"/>
          <p:nvPr/>
        </p:nvSpPr>
        <p:spPr>
          <a:xfrm>
            <a:off x="377250" y="4224000"/>
            <a:ext cx="63312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IN" sz="2000">
                <a:solidFill>
                  <a:schemeClr val="dk1"/>
                </a:solidFill>
                <a:latin typeface="Times New Roman"/>
                <a:ea typeface="Times New Roman"/>
                <a:cs typeface="Times New Roman"/>
                <a:sym typeface="Times New Roman"/>
              </a:rPr>
              <a:t>There are two main approaches:</a:t>
            </a:r>
            <a:endParaRPr sz="2000">
              <a:solidFill>
                <a:schemeClr val="dk1"/>
              </a:solidFill>
              <a:latin typeface="Times New Roman"/>
              <a:ea typeface="Times New Roman"/>
              <a:cs typeface="Times New Roman"/>
              <a:sym typeface="Times New Roman"/>
            </a:endParaRPr>
          </a:p>
        </p:txBody>
      </p:sp>
      <p:graphicFrame>
        <p:nvGraphicFramePr>
          <p:cNvPr id="254" name="Google Shape;254;h7b3131d7342725ff_0_140"/>
          <p:cNvGraphicFramePr/>
          <p:nvPr/>
        </p:nvGraphicFramePr>
        <p:xfrm>
          <a:off x="246250" y="4716600"/>
          <a:ext cx="3000000" cy="3000000"/>
        </p:xfrm>
        <a:graphic>
          <a:graphicData uri="http://schemas.openxmlformats.org/drawingml/2006/table">
            <a:tbl>
              <a:tblPr>
                <a:noFill/>
                <a:tableStyleId>{A1DC05C0-68A9-4DE6-A59A-6872BC1DB4C4}</a:tableStyleId>
              </a:tblPr>
              <a:tblGrid>
                <a:gridCol w="2707700"/>
                <a:gridCol w="5891425"/>
                <a:gridCol w="2907300"/>
              </a:tblGrid>
              <a:tr h="190500">
                <a:tc>
                  <a:txBody>
                    <a:bodyPr/>
                    <a:lstStyle/>
                    <a:p>
                      <a:pPr indent="0" lvl="0" marL="0" rtl="0" algn="l">
                        <a:lnSpc>
                          <a:spcPct val="115000"/>
                        </a:lnSpc>
                        <a:spcBef>
                          <a:spcPts val="0"/>
                        </a:spcBef>
                        <a:spcAft>
                          <a:spcPts val="0"/>
                        </a:spcAft>
                        <a:buNone/>
                      </a:pPr>
                      <a:r>
                        <a:rPr lang="en-IN" sz="2000">
                          <a:solidFill>
                            <a:srgbClr val="FF0000"/>
                          </a:solidFill>
                          <a:latin typeface="Times New Roman"/>
                          <a:ea typeface="Times New Roman"/>
                          <a:cs typeface="Times New Roman"/>
                          <a:sym typeface="Times New Roman"/>
                        </a:rPr>
                        <a:t>Type</a:t>
                      </a:r>
                      <a:endParaRPr sz="2000">
                        <a:solidFill>
                          <a:srgbClr val="FF0000"/>
                        </a:solidFill>
                        <a:latin typeface="Times New Roman"/>
                        <a:ea typeface="Times New Roman"/>
                        <a:cs typeface="Times New Roman"/>
                        <a:sym typeface="Times New Roman"/>
                      </a:endParaRPr>
                    </a:p>
                  </a:txBody>
                  <a:tcPr marT="9525" marB="9525" marR="9525" marL="9525"/>
                </a:tc>
                <a:tc>
                  <a:txBody>
                    <a:bodyPr/>
                    <a:lstStyle/>
                    <a:p>
                      <a:pPr indent="0" lvl="0" marL="0" rtl="0" algn="l">
                        <a:lnSpc>
                          <a:spcPct val="115000"/>
                        </a:lnSpc>
                        <a:spcBef>
                          <a:spcPts val="0"/>
                        </a:spcBef>
                        <a:spcAft>
                          <a:spcPts val="0"/>
                        </a:spcAft>
                        <a:buNone/>
                      </a:pPr>
                      <a:r>
                        <a:rPr lang="en-IN" sz="2000">
                          <a:solidFill>
                            <a:srgbClr val="FF0000"/>
                          </a:solidFill>
                          <a:latin typeface="Times New Roman"/>
                          <a:ea typeface="Times New Roman"/>
                          <a:cs typeface="Times New Roman"/>
                          <a:sym typeface="Times New Roman"/>
                        </a:rPr>
                        <a:t>Basic idea</a:t>
                      </a:r>
                      <a:endParaRPr sz="2000">
                        <a:solidFill>
                          <a:srgbClr val="FF0000"/>
                        </a:solidFill>
                        <a:latin typeface="Times New Roman"/>
                        <a:ea typeface="Times New Roman"/>
                        <a:cs typeface="Times New Roman"/>
                        <a:sym typeface="Times New Roman"/>
                      </a:endParaRPr>
                    </a:p>
                  </a:txBody>
                  <a:tcPr marT="9525" marB="9525" marR="9525" marL="9525"/>
                </a:tc>
                <a:tc>
                  <a:txBody>
                    <a:bodyPr/>
                    <a:lstStyle/>
                    <a:p>
                      <a:pPr indent="0" lvl="0" marL="0" rtl="0" algn="l">
                        <a:lnSpc>
                          <a:spcPct val="115000"/>
                        </a:lnSpc>
                        <a:spcBef>
                          <a:spcPts val="0"/>
                        </a:spcBef>
                        <a:spcAft>
                          <a:spcPts val="0"/>
                        </a:spcAft>
                        <a:buNone/>
                      </a:pPr>
                      <a:r>
                        <a:rPr lang="en-IN" sz="2000">
                          <a:solidFill>
                            <a:srgbClr val="FF0000"/>
                          </a:solidFill>
                          <a:latin typeface="Times New Roman"/>
                          <a:ea typeface="Times New Roman"/>
                          <a:cs typeface="Times New Roman"/>
                          <a:sym typeface="Times New Roman"/>
                        </a:rPr>
                        <a:t>Distribution assumption</a:t>
                      </a:r>
                      <a:endParaRPr sz="2000">
                        <a:solidFill>
                          <a:srgbClr val="FF0000"/>
                        </a:solidFill>
                        <a:latin typeface="Times New Roman"/>
                        <a:ea typeface="Times New Roman"/>
                        <a:cs typeface="Times New Roman"/>
                        <a:sym typeface="Times New Roman"/>
                      </a:endParaRPr>
                    </a:p>
                  </a:txBody>
                  <a:tcPr marT="9525" marB="9525" marR="9525" marL="9525"/>
                </a:tc>
              </a:tr>
              <a:tr h="190500">
                <a:tc>
                  <a:txBody>
                    <a:bodyPr/>
                    <a:lstStyle/>
                    <a:p>
                      <a:pPr indent="0" lvl="0" marL="0" rtl="0" algn="l">
                        <a:lnSpc>
                          <a:spcPct val="115000"/>
                        </a:lnSpc>
                        <a:spcBef>
                          <a:spcPts val="0"/>
                        </a:spcBef>
                        <a:spcAft>
                          <a:spcPts val="0"/>
                        </a:spcAft>
                        <a:buNone/>
                      </a:pPr>
                      <a:r>
                        <a:rPr lang="en-IN" sz="2000">
                          <a:latin typeface="Times New Roman"/>
                          <a:ea typeface="Times New Roman"/>
                          <a:cs typeface="Times New Roman"/>
                          <a:sym typeface="Times New Roman"/>
                        </a:rPr>
                        <a:t>Parametric Density Estimation</a:t>
                      </a:r>
                      <a:endParaRPr sz="2000">
                        <a:latin typeface="Times New Roman"/>
                        <a:ea typeface="Times New Roman"/>
                        <a:cs typeface="Times New Roman"/>
                        <a:sym typeface="Times New Roman"/>
                      </a:endParaRPr>
                    </a:p>
                  </a:txBody>
                  <a:tcPr marT="9525" marB="9525" marR="9525" marL="9525"/>
                </a:tc>
                <a:tc>
                  <a:txBody>
                    <a:bodyPr/>
                    <a:lstStyle/>
                    <a:p>
                      <a:pPr indent="0" lvl="0" marL="0" rtl="0" algn="l">
                        <a:lnSpc>
                          <a:spcPct val="115000"/>
                        </a:lnSpc>
                        <a:spcBef>
                          <a:spcPts val="0"/>
                        </a:spcBef>
                        <a:spcAft>
                          <a:spcPts val="0"/>
                        </a:spcAft>
                        <a:buNone/>
                      </a:pPr>
                      <a:r>
                        <a:rPr lang="en-IN" sz="2000">
                          <a:latin typeface="Times New Roman"/>
                          <a:ea typeface="Times New Roman"/>
                          <a:cs typeface="Times New Roman"/>
                          <a:sym typeface="Times New Roman"/>
                        </a:rPr>
                        <a:t>Assume a particular probability distribution and estimate its parameters</a:t>
                      </a:r>
                      <a:endParaRPr sz="2000">
                        <a:latin typeface="Times New Roman"/>
                        <a:ea typeface="Times New Roman"/>
                        <a:cs typeface="Times New Roman"/>
                        <a:sym typeface="Times New Roman"/>
                      </a:endParaRPr>
                    </a:p>
                  </a:txBody>
                  <a:tcPr marT="9525" marB="9525" marR="9525" marL="9525"/>
                </a:tc>
                <a:tc>
                  <a:txBody>
                    <a:bodyPr/>
                    <a:lstStyle/>
                    <a:p>
                      <a:pPr indent="0" lvl="0" marL="0" rtl="0" algn="l">
                        <a:lnSpc>
                          <a:spcPct val="115000"/>
                        </a:lnSpc>
                        <a:spcBef>
                          <a:spcPts val="0"/>
                        </a:spcBef>
                        <a:spcAft>
                          <a:spcPts val="0"/>
                        </a:spcAft>
                        <a:buNone/>
                      </a:pPr>
                      <a:r>
                        <a:rPr lang="en-IN" sz="2000">
                          <a:latin typeface="Times New Roman"/>
                          <a:ea typeface="Times New Roman"/>
                          <a:cs typeface="Times New Roman"/>
                          <a:sym typeface="Times New Roman"/>
                        </a:rPr>
                        <a:t>Distribution is assumed known</a:t>
                      </a:r>
                      <a:endParaRPr sz="2000">
                        <a:latin typeface="Times New Roman"/>
                        <a:ea typeface="Times New Roman"/>
                        <a:cs typeface="Times New Roman"/>
                        <a:sym typeface="Times New Roman"/>
                      </a:endParaRPr>
                    </a:p>
                  </a:txBody>
                  <a:tcPr marT="9525" marB="9525" marR="9525" marL="9525"/>
                </a:tc>
              </a:tr>
              <a:tr h="190500">
                <a:tc>
                  <a:txBody>
                    <a:bodyPr/>
                    <a:lstStyle/>
                    <a:p>
                      <a:pPr indent="0" lvl="0" marL="0" rtl="0" algn="l">
                        <a:lnSpc>
                          <a:spcPct val="115000"/>
                        </a:lnSpc>
                        <a:spcBef>
                          <a:spcPts val="0"/>
                        </a:spcBef>
                        <a:spcAft>
                          <a:spcPts val="0"/>
                        </a:spcAft>
                        <a:buNone/>
                      </a:pPr>
                      <a:r>
                        <a:rPr lang="en-IN" sz="2000">
                          <a:latin typeface="Times New Roman"/>
                          <a:ea typeface="Times New Roman"/>
                          <a:cs typeface="Times New Roman"/>
                          <a:sym typeface="Times New Roman"/>
                        </a:rPr>
                        <a:t>Non-Parametric Density Estimation</a:t>
                      </a:r>
                      <a:endParaRPr sz="2000">
                        <a:latin typeface="Times New Roman"/>
                        <a:ea typeface="Times New Roman"/>
                        <a:cs typeface="Times New Roman"/>
                        <a:sym typeface="Times New Roman"/>
                      </a:endParaRPr>
                    </a:p>
                  </a:txBody>
                  <a:tcPr marT="9525" marB="9525" marR="9525" marL="9525"/>
                </a:tc>
                <a:tc>
                  <a:txBody>
                    <a:bodyPr/>
                    <a:lstStyle/>
                    <a:p>
                      <a:pPr indent="0" lvl="0" marL="0" rtl="0" algn="l">
                        <a:lnSpc>
                          <a:spcPct val="115000"/>
                        </a:lnSpc>
                        <a:spcBef>
                          <a:spcPts val="0"/>
                        </a:spcBef>
                        <a:spcAft>
                          <a:spcPts val="0"/>
                        </a:spcAft>
                        <a:buNone/>
                      </a:pPr>
                      <a:r>
                        <a:rPr lang="en-IN" sz="2000">
                          <a:latin typeface="Times New Roman"/>
                          <a:ea typeface="Times New Roman"/>
                          <a:cs typeface="Times New Roman"/>
                          <a:sym typeface="Times New Roman"/>
                        </a:rPr>
                        <a:t>Estimate the density directly from the observed data</a:t>
                      </a:r>
                      <a:endParaRPr sz="2000">
                        <a:latin typeface="Times New Roman"/>
                        <a:ea typeface="Times New Roman"/>
                        <a:cs typeface="Times New Roman"/>
                        <a:sym typeface="Times New Roman"/>
                      </a:endParaRPr>
                    </a:p>
                  </a:txBody>
                  <a:tcPr marT="9525" marB="9525" marR="9525" marL="9525"/>
                </a:tc>
                <a:tc>
                  <a:txBody>
                    <a:bodyPr/>
                    <a:lstStyle/>
                    <a:p>
                      <a:pPr indent="0" lvl="0" marL="0" rtl="0" algn="l">
                        <a:lnSpc>
                          <a:spcPct val="115000"/>
                        </a:lnSpc>
                        <a:spcBef>
                          <a:spcPts val="0"/>
                        </a:spcBef>
                        <a:spcAft>
                          <a:spcPts val="0"/>
                        </a:spcAft>
                        <a:buNone/>
                      </a:pPr>
                      <a:r>
                        <a:rPr lang="en-IN" sz="2000">
                          <a:latin typeface="Times New Roman"/>
                          <a:ea typeface="Times New Roman"/>
                          <a:cs typeface="Times New Roman"/>
                          <a:sym typeface="Times New Roman"/>
                        </a:rPr>
                        <a:t>No specific distribution is assumed</a:t>
                      </a:r>
                      <a:endParaRPr sz="2000">
                        <a:latin typeface="Times New Roman"/>
                        <a:ea typeface="Times New Roman"/>
                        <a:cs typeface="Times New Roman"/>
                        <a:sym typeface="Times New Roman"/>
                      </a:endParaRPr>
                    </a:p>
                  </a:txBody>
                  <a:tcPr marT="9525" marB="9525" marR="9525" marL="95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h579826f69ffc8371_0_0"/>
          <p:cNvSpPr txBox="1"/>
          <p:nvPr/>
        </p:nvSpPr>
        <p:spPr>
          <a:xfrm>
            <a:off x="195950" y="318425"/>
            <a:ext cx="11471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800">
                <a:solidFill>
                  <a:srgbClr val="FF0000"/>
                </a:solidFill>
                <a:latin typeface="Times New Roman"/>
                <a:ea typeface="Times New Roman"/>
                <a:cs typeface="Times New Roman"/>
                <a:sym typeface="Times New Roman"/>
              </a:rPr>
              <a:t>Density estimation estimates how frequently or likely different data values are, and very low-density values can be identified as anomalies.</a:t>
            </a:r>
            <a:r>
              <a:rPr lang="en-IN" sz="2800">
                <a:latin typeface="Times New Roman"/>
                <a:ea typeface="Times New Roman"/>
                <a:cs typeface="Times New Roman"/>
                <a:sym typeface="Times New Roman"/>
              </a:rPr>
              <a:t> </a:t>
            </a:r>
            <a:endParaRPr sz="2800">
              <a:latin typeface="Times New Roman"/>
              <a:ea typeface="Times New Roman"/>
              <a:cs typeface="Times New Roman"/>
              <a:sym typeface="Times New Roman"/>
            </a:endParaRPr>
          </a:p>
        </p:txBody>
      </p:sp>
      <p:sp>
        <p:nvSpPr>
          <p:cNvPr id="260" name="Google Shape;260;h579826f69ffc8371_0_0"/>
          <p:cNvSpPr txBox="1"/>
          <p:nvPr/>
        </p:nvSpPr>
        <p:spPr>
          <a:xfrm>
            <a:off x="580800" y="1375650"/>
            <a:ext cx="11030400" cy="473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IN" sz="2800">
                <a:solidFill>
                  <a:schemeClr val="dk1"/>
                </a:solidFill>
                <a:latin typeface="Times New Roman"/>
                <a:ea typeface="Times New Roman"/>
                <a:cs typeface="Times New Roman"/>
                <a:sym typeface="Times New Roman"/>
              </a:rPr>
              <a:t>There are two main types:</a:t>
            </a:r>
            <a:endParaRPr b="1" sz="2800">
              <a:solidFill>
                <a:schemeClr val="dk1"/>
              </a:solidFill>
              <a:latin typeface="Times New Roman"/>
              <a:ea typeface="Times New Roman"/>
              <a:cs typeface="Times New Roman"/>
              <a:sym typeface="Times New Roman"/>
            </a:endParaRPr>
          </a:p>
          <a:p>
            <a:pPr indent="-406400" lvl="0" marL="457200" rtl="0" algn="l">
              <a:lnSpc>
                <a:spcPct val="115000"/>
              </a:lnSpc>
              <a:spcBef>
                <a:spcPts val="1200"/>
              </a:spcBef>
              <a:spcAft>
                <a:spcPts val="0"/>
              </a:spcAft>
              <a:buClr>
                <a:schemeClr val="dk1"/>
              </a:buClr>
              <a:buSzPts val="2800"/>
              <a:buFont typeface="Times New Roman"/>
              <a:buAutoNum type="arabicPeriod"/>
            </a:pPr>
            <a:r>
              <a:rPr b="1" lang="en-IN" sz="2800">
                <a:solidFill>
                  <a:schemeClr val="dk1"/>
                </a:solidFill>
                <a:latin typeface="Times New Roman"/>
                <a:ea typeface="Times New Roman"/>
                <a:cs typeface="Times New Roman"/>
                <a:sym typeface="Times New Roman"/>
              </a:rPr>
              <a:t>Parametric Density Estimation</a:t>
            </a:r>
            <a:endParaRPr b="1" sz="2800">
              <a:solidFill>
                <a:schemeClr val="dk1"/>
              </a:solidFill>
              <a:latin typeface="Times New Roman"/>
              <a:ea typeface="Times New Roman"/>
              <a:cs typeface="Times New Roman"/>
              <a:sym typeface="Times New Roman"/>
            </a:endParaRPr>
          </a:p>
          <a:p>
            <a:pPr indent="-406400" lvl="1" marL="914400" rtl="0" algn="l">
              <a:lnSpc>
                <a:spcPct val="115000"/>
              </a:lnSpc>
              <a:spcBef>
                <a:spcPts val="0"/>
              </a:spcBef>
              <a:spcAft>
                <a:spcPts val="0"/>
              </a:spcAft>
              <a:buClr>
                <a:schemeClr val="dk1"/>
              </a:buClr>
              <a:buSzPts val="2800"/>
              <a:buFont typeface="Times New Roman"/>
              <a:buChar char="○"/>
            </a:pPr>
            <a:r>
              <a:rPr lang="en-IN" sz="2800">
                <a:solidFill>
                  <a:schemeClr val="dk1"/>
                </a:solidFill>
                <a:latin typeface="Times New Roman"/>
                <a:ea typeface="Times New Roman"/>
                <a:cs typeface="Times New Roman"/>
                <a:sym typeface="Times New Roman"/>
              </a:rPr>
              <a:t>Assumes that the data follows a particular distribution.</a:t>
            </a:r>
            <a:endParaRPr sz="2800">
              <a:solidFill>
                <a:schemeClr val="dk1"/>
              </a:solidFill>
              <a:latin typeface="Times New Roman"/>
              <a:ea typeface="Times New Roman"/>
              <a:cs typeface="Times New Roman"/>
              <a:sym typeface="Times New Roman"/>
            </a:endParaRPr>
          </a:p>
          <a:p>
            <a:pPr indent="-406400" lvl="1" marL="914400" rtl="0" algn="l">
              <a:lnSpc>
                <a:spcPct val="115000"/>
              </a:lnSpc>
              <a:spcBef>
                <a:spcPts val="0"/>
              </a:spcBef>
              <a:spcAft>
                <a:spcPts val="0"/>
              </a:spcAft>
              <a:buClr>
                <a:schemeClr val="dk1"/>
              </a:buClr>
              <a:buSzPts val="2800"/>
              <a:buFont typeface="Times New Roman"/>
              <a:buChar char="○"/>
            </a:pPr>
            <a:r>
              <a:rPr lang="en-IN" sz="2800">
                <a:solidFill>
                  <a:schemeClr val="dk1"/>
                </a:solidFill>
                <a:latin typeface="Times New Roman"/>
                <a:ea typeface="Times New Roman"/>
                <a:cs typeface="Times New Roman"/>
                <a:sym typeface="Times New Roman"/>
              </a:rPr>
              <a:t>Example: Gaussian (Normal) distribution.</a:t>
            </a:r>
            <a:endParaRPr sz="2800">
              <a:solidFill>
                <a:schemeClr val="dk1"/>
              </a:solidFill>
              <a:latin typeface="Times New Roman"/>
              <a:ea typeface="Times New Roman"/>
              <a:cs typeface="Times New Roman"/>
              <a:sym typeface="Times New Roman"/>
            </a:endParaRPr>
          </a:p>
          <a:p>
            <a:pPr indent="-406400" lvl="1" marL="914400" rtl="0" algn="l">
              <a:lnSpc>
                <a:spcPct val="115000"/>
              </a:lnSpc>
              <a:spcBef>
                <a:spcPts val="0"/>
              </a:spcBef>
              <a:spcAft>
                <a:spcPts val="0"/>
              </a:spcAft>
              <a:buClr>
                <a:schemeClr val="dk1"/>
              </a:buClr>
              <a:buSzPts val="2800"/>
              <a:buChar char="○"/>
            </a:pPr>
            <a:r>
              <a:rPr lang="en-IN" sz="2800">
                <a:solidFill>
                  <a:schemeClr val="dk1"/>
                </a:solidFill>
                <a:latin typeface="Times New Roman"/>
                <a:ea typeface="Times New Roman"/>
                <a:cs typeface="Times New Roman"/>
                <a:sym typeface="Times New Roman"/>
              </a:rPr>
              <a:t>Parameters such as mean and variance are estimated from the data.</a:t>
            </a:r>
            <a:endParaRPr sz="2800">
              <a:solidFill>
                <a:schemeClr val="dk1"/>
              </a:solidFill>
              <a:latin typeface="Times New Roman"/>
              <a:ea typeface="Times New Roman"/>
              <a:cs typeface="Times New Roman"/>
              <a:sym typeface="Times New Roman"/>
            </a:endParaRPr>
          </a:p>
          <a:p>
            <a:pPr indent="-406400" lvl="0" marL="457200" rtl="0" algn="l">
              <a:lnSpc>
                <a:spcPct val="115000"/>
              </a:lnSpc>
              <a:spcBef>
                <a:spcPts val="0"/>
              </a:spcBef>
              <a:spcAft>
                <a:spcPts val="0"/>
              </a:spcAft>
              <a:buClr>
                <a:schemeClr val="dk1"/>
              </a:buClr>
              <a:buSzPts val="2800"/>
              <a:buFont typeface="Times New Roman"/>
              <a:buAutoNum type="arabicPeriod"/>
            </a:pPr>
            <a:r>
              <a:rPr b="1" lang="en-IN" sz="2800">
                <a:solidFill>
                  <a:schemeClr val="dk1"/>
                </a:solidFill>
                <a:latin typeface="Times New Roman"/>
                <a:ea typeface="Times New Roman"/>
                <a:cs typeface="Times New Roman"/>
                <a:sym typeface="Times New Roman"/>
              </a:rPr>
              <a:t>Non-Parametric Density Estimation</a:t>
            </a:r>
            <a:endParaRPr b="1" sz="2800">
              <a:solidFill>
                <a:schemeClr val="dk1"/>
              </a:solidFill>
              <a:latin typeface="Times New Roman"/>
              <a:ea typeface="Times New Roman"/>
              <a:cs typeface="Times New Roman"/>
              <a:sym typeface="Times New Roman"/>
            </a:endParaRPr>
          </a:p>
          <a:p>
            <a:pPr indent="-406400" lvl="1" marL="914400" rtl="0" algn="l">
              <a:lnSpc>
                <a:spcPct val="115000"/>
              </a:lnSpc>
              <a:spcBef>
                <a:spcPts val="0"/>
              </a:spcBef>
              <a:spcAft>
                <a:spcPts val="0"/>
              </a:spcAft>
              <a:buClr>
                <a:schemeClr val="dk1"/>
              </a:buClr>
              <a:buSzPts val="2800"/>
              <a:buChar char="○"/>
            </a:pPr>
            <a:r>
              <a:rPr lang="en-IN" sz="2800">
                <a:solidFill>
                  <a:schemeClr val="dk1"/>
                </a:solidFill>
                <a:latin typeface="Times New Roman"/>
                <a:ea typeface="Times New Roman"/>
                <a:cs typeface="Times New Roman"/>
                <a:sym typeface="Times New Roman"/>
              </a:rPr>
              <a:t>Does not assume a specific distribution.</a:t>
            </a:r>
            <a:endParaRPr sz="2800">
              <a:solidFill>
                <a:schemeClr val="dk1"/>
              </a:solidFill>
              <a:latin typeface="Times New Roman"/>
              <a:ea typeface="Times New Roman"/>
              <a:cs typeface="Times New Roman"/>
              <a:sym typeface="Times New Roman"/>
            </a:endParaRPr>
          </a:p>
          <a:p>
            <a:pPr indent="-406400" lvl="1" marL="914400" rtl="0" algn="l">
              <a:lnSpc>
                <a:spcPct val="115000"/>
              </a:lnSpc>
              <a:spcBef>
                <a:spcPts val="0"/>
              </a:spcBef>
              <a:spcAft>
                <a:spcPts val="0"/>
              </a:spcAft>
              <a:buClr>
                <a:schemeClr val="dk1"/>
              </a:buClr>
              <a:buSzPts val="2800"/>
              <a:buFont typeface="Times New Roman"/>
              <a:buChar char="○"/>
            </a:pPr>
            <a:r>
              <a:rPr lang="en-IN" sz="2800">
                <a:solidFill>
                  <a:schemeClr val="dk1"/>
                </a:solidFill>
                <a:latin typeface="Times New Roman"/>
                <a:ea typeface="Times New Roman"/>
                <a:cs typeface="Times New Roman"/>
                <a:sym typeface="Times New Roman"/>
              </a:rPr>
              <a:t>Estimates the density directly from the observed data.</a:t>
            </a:r>
            <a:endParaRPr sz="2800">
              <a:solidFill>
                <a:schemeClr val="dk1"/>
              </a:solidFill>
              <a:latin typeface="Times New Roman"/>
              <a:ea typeface="Times New Roman"/>
              <a:cs typeface="Times New Roman"/>
              <a:sym typeface="Times New Roman"/>
            </a:endParaRPr>
          </a:p>
          <a:p>
            <a:pPr indent="-406400" lvl="1" marL="914400" rtl="0" algn="l">
              <a:lnSpc>
                <a:spcPct val="115000"/>
              </a:lnSpc>
              <a:spcBef>
                <a:spcPts val="0"/>
              </a:spcBef>
              <a:spcAft>
                <a:spcPts val="0"/>
              </a:spcAft>
              <a:buClr>
                <a:schemeClr val="dk1"/>
              </a:buClr>
              <a:buSzPts val="2800"/>
              <a:buChar char="○"/>
            </a:pPr>
            <a:r>
              <a:rPr lang="en-IN" sz="2800">
                <a:solidFill>
                  <a:schemeClr val="dk1"/>
                </a:solidFill>
                <a:latin typeface="Times New Roman"/>
                <a:ea typeface="Times New Roman"/>
                <a:cs typeface="Times New Roman"/>
                <a:sym typeface="Times New Roman"/>
              </a:rPr>
              <a:t>Examples: Histogram and Kernel Density Estimation (KDE).</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
          <p:cNvSpPr txBox="1"/>
          <p:nvPr>
            <p:ph type="title"/>
          </p:nvPr>
        </p:nvSpPr>
        <p:spPr>
          <a:xfrm>
            <a:off x="549350" y="220750"/>
            <a:ext cx="11023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IN" sz="3000">
                <a:solidFill>
                  <a:srgbClr val="0000FF"/>
                </a:solidFill>
              </a:rPr>
              <a:t>2.10 FEATURE ENGINEERING AND DIMENSIONALLY REDUCTION TECHNIQUES </a:t>
            </a:r>
            <a:endParaRPr b="1" sz="3000">
              <a:solidFill>
                <a:srgbClr val="0000FF"/>
              </a:solidFill>
            </a:endParaRPr>
          </a:p>
        </p:txBody>
      </p:sp>
      <p:sp>
        <p:nvSpPr>
          <p:cNvPr id="266" name="Google Shape;266;p4"/>
          <p:cNvSpPr txBox="1"/>
          <p:nvPr>
            <p:ph idx="1" type="body"/>
          </p:nvPr>
        </p:nvSpPr>
        <p:spPr>
          <a:xfrm>
            <a:off x="443025" y="1464675"/>
            <a:ext cx="11129700" cy="5153700"/>
          </a:xfrm>
          <a:prstGeom prst="rect">
            <a:avLst/>
          </a:prstGeom>
          <a:noFill/>
          <a:ln>
            <a:noFill/>
          </a:ln>
        </p:spPr>
        <p:txBody>
          <a:bodyPr anchorCtr="0" anchor="t" bIns="45700" lIns="91425" spcFirstLastPara="1" rIns="91425" wrap="square" tIns="45700">
            <a:normAutofit/>
          </a:bodyPr>
          <a:lstStyle/>
          <a:p>
            <a:pPr indent="0" lvl="0" marL="177800" rtl="0" algn="l">
              <a:lnSpc>
                <a:spcPct val="90000"/>
              </a:lnSpc>
              <a:spcBef>
                <a:spcPts val="0"/>
              </a:spcBef>
              <a:spcAft>
                <a:spcPts val="0"/>
              </a:spcAft>
              <a:buClr>
                <a:schemeClr val="dk1"/>
              </a:buClr>
              <a:buSzPts val="2800"/>
              <a:buNone/>
            </a:pPr>
            <a:r>
              <a:rPr lang="en-IN"/>
              <a:t>PCA and LDA algorithm and problems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h7b3131d7342725ff_0_3"/>
          <p:cNvSpPr txBox="1"/>
          <p:nvPr>
            <p:ph type="title"/>
          </p:nvPr>
        </p:nvSpPr>
        <p:spPr>
          <a:xfrm>
            <a:off x="838200" y="365125"/>
            <a:ext cx="10515600" cy="6636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Font typeface="Arial"/>
              <a:buNone/>
            </a:pPr>
            <a:r>
              <a:rPr b="1" lang="en-IN" sz="3000">
                <a:solidFill>
                  <a:srgbClr val="FF0000"/>
                </a:solidFill>
                <a:latin typeface="Arial"/>
                <a:ea typeface="Arial"/>
                <a:cs typeface="Arial"/>
                <a:sym typeface="Arial"/>
              </a:rPr>
              <a:t>Basic Learning Theory:</a:t>
            </a:r>
            <a:r>
              <a:rPr lang="en-IN" sz="3000">
                <a:latin typeface="Arial"/>
                <a:ea typeface="Arial"/>
                <a:cs typeface="Arial"/>
                <a:sym typeface="Arial"/>
              </a:rPr>
              <a:t> </a:t>
            </a:r>
            <a:endParaRPr/>
          </a:p>
        </p:txBody>
      </p:sp>
      <p:sp>
        <p:nvSpPr>
          <p:cNvPr id="272" name="Google Shape;272;h7b3131d7342725ff_0_3"/>
          <p:cNvSpPr txBox="1"/>
          <p:nvPr>
            <p:ph idx="1" type="body"/>
          </p:nvPr>
        </p:nvSpPr>
        <p:spPr>
          <a:xfrm>
            <a:off x="838200" y="1418050"/>
            <a:ext cx="10515600" cy="4351200"/>
          </a:xfrm>
          <a:prstGeom prst="rect">
            <a:avLst/>
          </a:prstGeom>
        </p:spPr>
        <p:txBody>
          <a:bodyPr anchorCtr="0" anchor="t" bIns="45700" lIns="91425" spcFirstLastPara="1" rIns="91425" wrap="square" tIns="45700">
            <a:normAutofit/>
          </a:bodyPr>
          <a:lstStyle/>
          <a:p>
            <a:pPr indent="-419100" lvl="0" marL="457200" rtl="0" algn="l">
              <a:lnSpc>
                <a:spcPct val="100000"/>
              </a:lnSpc>
              <a:spcBef>
                <a:spcPts val="0"/>
              </a:spcBef>
              <a:spcAft>
                <a:spcPts val="0"/>
              </a:spcAft>
              <a:buSzPts val="3000"/>
              <a:buFont typeface="Times New Roman"/>
              <a:buChar char="•"/>
            </a:pPr>
            <a:r>
              <a:rPr lang="en-IN" sz="3000">
                <a:latin typeface="Times New Roman"/>
                <a:ea typeface="Times New Roman"/>
                <a:cs typeface="Times New Roman"/>
                <a:sym typeface="Times New Roman"/>
              </a:rPr>
              <a:t>Design of Learning System</a:t>
            </a:r>
            <a:endParaRPr sz="3000">
              <a:latin typeface="Times New Roman"/>
              <a:ea typeface="Times New Roman"/>
              <a:cs typeface="Times New Roman"/>
              <a:sym typeface="Times New Roman"/>
            </a:endParaRPr>
          </a:p>
          <a:p>
            <a:pPr indent="-419100" lvl="0" marL="457200" rtl="0" algn="l">
              <a:lnSpc>
                <a:spcPct val="100000"/>
              </a:lnSpc>
              <a:spcBef>
                <a:spcPts val="0"/>
              </a:spcBef>
              <a:spcAft>
                <a:spcPts val="0"/>
              </a:spcAft>
              <a:buSzPts val="3000"/>
              <a:buFont typeface="Times New Roman"/>
              <a:buChar char="•"/>
            </a:pPr>
            <a:r>
              <a:rPr lang="en-IN" sz="3000">
                <a:latin typeface="Times New Roman"/>
                <a:ea typeface="Times New Roman"/>
                <a:cs typeface="Times New Roman"/>
                <a:sym typeface="Times New Roman"/>
              </a:rPr>
              <a:t>Introduction to Concept of Learning </a:t>
            </a:r>
            <a:endParaRPr sz="3000">
              <a:latin typeface="Times New Roman"/>
              <a:ea typeface="Times New Roman"/>
              <a:cs typeface="Times New Roman"/>
              <a:sym typeface="Times New Roman"/>
            </a:endParaRPr>
          </a:p>
          <a:p>
            <a:pPr indent="-419100" lvl="0" marL="457200" rtl="0" algn="l">
              <a:lnSpc>
                <a:spcPct val="100000"/>
              </a:lnSpc>
              <a:spcBef>
                <a:spcPts val="0"/>
              </a:spcBef>
              <a:spcAft>
                <a:spcPts val="0"/>
              </a:spcAft>
              <a:buSzPts val="3000"/>
              <a:buFont typeface="Times New Roman"/>
              <a:buChar char="•"/>
            </a:pPr>
            <a:r>
              <a:rPr lang="en-IN" sz="3000">
                <a:latin typeface="Times New Roman"/>
                <a:ea typeface="Times New Roman"/>
                <a:cs typeface="Times New Roman"/>
                <a:sym typeface="Times New Roman"/>
              </a:rPr>
              <a:t>Induction biases </a:t>
            </a:r>
            <a:endParaRPr sz="3000">
              <a:latin typeface="Times New Roman"/>
              <a:ea typeface="Times New Roman"/>
              <a:cs typeface="Times New Roman"/>
              <a:sym typeface="Times New Roman"/>
            </a:endParaRPr>
          </a:p>
          <a:p>
            <a:pPr indent="-419100" lvl="0" marL="457200" rtl="0" algn="l">
              <a:lnSpc>
                <a:spcPct val="100000"/>
              </a:lnSpc>
              <a:spcBef>
                <a:spcPts val="0"/>
              </a:spcBef>
              <a:spcAft>
                <a:spcPts val="0"/>
              </a:spcAft>
              <a:buSzPts val="3000"/>
              <a:buFont typeface="Times New Roman"/>
              <a:buChar char="•"/>
            </a:pPr>
            <a:r>
              <a:rPr lang="en-IN" sz="3000">
                <a:latin typeface="Times New Roman"/>
                <a:ea typeface="Times New Roman"/>
                <a:cs typeface="Times New Roman"/>
                <a:sym typeface="Times New Roman"/>
              </a:rPr>
              <a:t>Modelling in Machine Learning </a:t>
            </a:r>
            <a:endParaRPr sz="3000">
              <a:latin typeface="Times New Roman"/>
              <a:ea typeface="Times New Roman"/>
              <a:cs typeface="Times New Roman"/>
              <a:sym typeface="Times New Roman"/>
            </a:endParaRPr>
          </a:p>
          <a:p>
            <a:pPr indent="-419100" lvl="0" marL="457200" rtl="0" algn="l">
              <a:lnSpc>
                <a:spcPct val="100000"/>
              </a:lnSpc>
              <a:spcBef>
                <a:spcPts val="0"/>
              </a:spcBef>
              <a:spcAft>
                <a:spcPts val="0"/>
              </a:spcAft>
              <a:buSzPts val="3000"/>
              <a:buFont typeface="Times New Roman"/>
              <a:buChar char="•"/>
            </a:pPr>
            <a:r>
              <a:rPr lang="en-IN" sz="3000">
                <a:latin typeface="Times New Roman"/>
                <a:ea typeface="Times New Roman"/>
                <a:cs typeface="Times New Roman"/>
                <a:sym typeface="Times New Roman"/>
              </a:rPr>
              <a:t>learning Frameworks </a:t>
            </a:r>
            <a:endParaRPr sz="3000">
              <a:latin typeface="Times New Roman"/>
              <a:ea typeface="Times New Roman"/>
              <a:cs typeface="Times New Roman"/>
              <a:sym typeface="Times New Roman"/>
            </a:endParaRPr>
          </a:p>
          <a:p>
            <a:pPr indent="0" lvl="0" marL="457200" rtl="0" algn="l">
              <a:spcBef>
                <a:spcPts val="1000"/>
              </a:spcBef>
              <a:spcAft>
                <a:spcPts val="0"/>
              </a:spcAft>
              <a:buNone/>
            </a:pPr>
            <a:r>
              <a:t/>
            </a:r>
            <a:endParaRPr sz="30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h648b28e9c55eb513_0_0"/>
          <p:cNvSpPr txBox="1"/>
          <p:nvPr>
            <p:ph type="title"/>
          </p:nvPr>
        </p:nvSpPr>
        <p:spPr>
          <a:xfrm>
            <a:off x="191525" y="528225"/>
            <a:ext cx="5478000" cy="8208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IN" sz="3000">
                <a:solidFill>
                  <a:srgbClr val="FF0000"/>
                </a:solidFill>
                <a:latin typeface="Arial"/>
                <a:ea typeface="Arial"/>
                <a:cs typeface="Arial"/>
                <a:sym typeface="Arial"/>
              </a:rPr>
              <a:t>Design of Learning System:</a:t>
            </a:r>
            <a:endParaRPr sz="3000">
              <a:solidFill>
                <a:srgbClr val="FF0000"/>
              </a:solidFill>
            </a:endParaRPr>
          </a:p>
        </p:txBody>
      </p:sp>
      <p:sp>
        <p:nvSpPr>
          <p:cNvPr id="278" name="Google Shape;278;h648b28e9c55eb513_0_0"/>
          <p:cNvSpPr txBox="1"/>
          <p:nvPr/>
        </p:nvSpPr>
        <p:spPr>
          <a:xfrm>
            <a:off x="422700" y="1601950"/>
            <a:ext cx="11346600" cy="4740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IN" sz="2000">
                <a:solidFill>
                  <a:schemeClr val="dk1"/>
                </a:solidFill>
              </a:rPr>
              <a:t>Learning is the process of gaining knowledge and skills through study, experience, or teaching.</a:t>
            </a:r>
            <a:endParaRPr sz="2000">
              <a:solidFill>
                <a:schemeClr val="dk1"/>
              </a:solidFill>
            </a:endParaRPr>
          </a:p>
          <a:p>
            <a:pPr indent="0" lvl="0" marL="0" rtl="0" algn="just">
              <a:lnSpc>
                <a:spcPct val="115000"/>
              </a:lnSpc>
              <a:spcBef>
                <a:spcPts val="0"/>
              </a:spcBef>
              <a:spcAft>
                <a:spcPts val="0"/>
              </a:spcAft>
              <a:buNone/>
            </a:pPr>
            <a:r>
              <a:rPr lang="en-IN" sz="2000">
                <a:solidFill>
                  <a:schemeClr val="dk1"/>
                </a:solidFill>
              </a:rPr>
              <a:t>In Machine Learning (ML), we try to make computers learn from experience/data, similar to how humans learn.</a:t>
            </a:r>
            <a:endParaRPr sz="2000">
              <a:solidFill>
                <a:schemeClr val="dk1"/>
              </a:solidFill>
            </a:endParaRPr>
          </a:p>
          <a:p>
            <a:pPr indent="0" lvl="0" marL="0" rtl="0" algn="just">
              <a:lnSpc>
                <a:spcPct val="115000"/>
              </a:lnSpc>
              <a:spcBef>
                <a:spcPts val="0"/>
              </a:spcBef>
              <a:spcAft>
                <a:spcPts val="0"/>
              </a:spcAft>
              <a:buNone/>
            </a:pPr>
            <a:r>
              <a:rPr lang="en-IN" sz="2000">
                <a:solidFill>
                  <a:schemeClr val="dk1"/>
                </a:solidFill>
              </a:rPr>
              <a:t>For a computer to learn effectively, the problem should be well-defined (well-posed).</a:t>
            </a:r>
            <a:endParaRPr sz="2000">
              <a:solidFill>
                <a:schemeClr val="dk1"/>
              </a:solidFill>
            </a:endParaRPr>
          </a:p>
          <a:p>
            <a:pPr indent="0" lvl="0" marL="0" rtl="0" algn="just">
              <a:lnSpc>
                <a:spcPct val="115000"/>
              </a:lnSpc>
              <a:spcBef>
                <a:spcPts val="0"/>
              </a:spcBef>
              <a:spcAft>
                <a:spcPts val="0"/>
              </a:spcAft>
              <a:buNone/>
            </a:pPr>
            <a:r>
              <a:rPr lang="en-IN" sz="2000">
                <a:solidFill>
                  <a:schemeClr val="dk1"/>
                </a:solidFill>
              </a:rPr>
              <a:t>A learning problem consists of three important components:</a:t>
            </a:r>
            <a:endParaRPr sz="2000">
              <a:solidFill>
                <a:schemeClr val="dk1"/>
              </a:solidFill>
            </a:endParaRPr>
          </a:p>
          <a:p>
            <a:pPr indent="-355600" lvl="0" marL="457200" rtl="0" algn="just">
              <a:lnSpc>
                <a:spcPct val="115000"/>
              </a:lnSpc>
              <a:spcBef>
                <a:spcPts val="0"/>
              </a:spcBef>
              <a:spcAft>
                <a:spcPts val="0"/>
              </a:spcAft>
              <a:buClr>
                <a:schemeClr val="dk1"/>
              </a:buClr>
              <a:buSzPts val="2000"/>
              <a:buAutoNum type="arabicPeriod"/>
            </a:pPr>
            <a:r>
              <a:rPr lang="en-IN" sz="2000">
                <a:solidFill>
                  <a:schemeClr val="dk1"/>
                </a:solidFill>
              </a:rPr>
              <a:t>Task (T) – What the computer has to learn or do.</a:t>
            </a:r>
            <a:endParaRPr sz="2000">
              <a:solidFill>
                <a:schemeClr val="dk1"/>
              </a:solidFill>
            </a:endParaRPr>
          </a:p>
          <a:p>
            <a:pPr indent="-355600" lvl="0" marL="457200" rtl="0" algn="just">
              <a:lnSpc>
                <a:spcPct val="115000"/>
              </a:lnSpc>
              <a:spcBef>
                <a:spcPts val="0"/>
              </a:spcBef>
              <a:spcAft>
                <a:spcPts val="0"/>
              </a:spcAft>
              <a:buClr>
                <a:schemeClr val="dk1"/>
              </a:buClr>
              <a:buSzPts val="2000"/>
              <a:buAutoNum type="arabicPeriod"/>
            </a:pPr>
            <a:r>
              <a:rPr lang="en-IN" sz="2000">
                <a:solidFill>
                  <a:schemeClr val="dk1"/>
                </a:solidFill>
              </a:rPr>
              <a:t>Performance Measure (P) – How we measure whether the computer is performing well.</a:t>
            </a:r>
            <a:endParaRPr sz="2000">
              <a:solidFill>
                <a:schemeClr val="dk1"/>
              </a:solidFill>
            </a:endParaRPr>
          </a:p>
          <a:p>
            <a:pPr indent="-355600" lvl="0" marL="457200" rtl="0" algn="just">
              <a:lnSpc>
                <a:spcPct val="115000"/>
              </a:lnSpc>
              <a:spcBef>
                <a:spcPts val="0"/>
              </a:spcBef>
              <a:spcAft>
                <a:spcPts val="0"/>
              </a:spcAft>
              <a:buClr>
                <a:schemeClr val="dk1"/>
              </a:buClr>
              <a:buSzPts val="2000"/>
              <a:buAutoNum type="arabicPeriod"/>
            </a:pPr>
            <a:r>
              <a:rPr lang="en-IN" sz="2000">
                <a:solidFill>
                  <a:schemeClr val="dk1"/>
                </a:solidFill>
              </a:rPr>
              <a:t>Experience (E) – The data or previous examples from which the computer learns.</a:t>
            </a:r>
            <a:endParaRPr sz="2000">
              <a:solidFill>
                <a:schemeClr val="dk1"/>
              </a:solidFill>
            </a:endParaRPr>
          </a:p>
          <a:p>
            <a:pPr indent="0" lvl="0" marL="0" rtl="0" algn="just">
              <a:lnSpc>
                <a:spcPct val="115000"/>
              </a:lnSpc>
              <a:spcBef>
                <a:spcPts val="0"/>
              </a:spcBef>
              <a:spcAft>
                <a:spcPts val="0"/>
              </a:spcAft>
              <a:buNone/>
            </a:pPr>
            <a:r>
              <a:rPr lang="en-IN" sz="2000">
                <a:solidFill>
                  <a:schemeClr val="dk1"/>
                </a:solidFill>
              </a:rPr>
              <a:t>Tom Mitchell's Definition of Learning</a:t>
            </a:r>
            <a:endParaRPr sz="2000">
              <a:solidFill>
                <a:schemeClr val="dk1"/>
              </a:solidFill>
            </a:endParaRPr>
          </a:p>
          <a:p>
            <a:pPr indent="0" lvl="0" marL="0" rtl="0" algn="just">
              <a:lnSpc>
                <a:spcPct val="115000"/>
              </a:lnSpc>
              <a:spcBef>
                <a:spcPts val="0"/>
              </a:spcBef>
              <a:spcAft>
                <a:spcPts val="0"/>
              </a:spcAft>
              <a:buNone/>
            </a:pPr>
            <a:r>
              <a:rPr lang="en-IN" sz="2000">
                <a:solidFill>
                  <a:schemeClr val="dk1"/>
                </a:solidFill>
              </a:rPr>
              <a:t>According to Tom Mitchell:</a:t>
            </a:r>
            <a:endParaRPr sz="2000">
              <a:solidFill>
                <a:schemeClr val="dk1"/>
              </a:solidFill>
            </a:endParaRPr>
          </a:p>
          <a:p>
            <a:pPr indent="0" lvl="0" marL="381000" marR="381000" rtl="0" algn="just">
              <a:lnSpc>
                <a:spcPct val="115000"/>
              </a:lnSpc>
              <a:spcBef>
                <a:spcPts val="0"/>
              </a:spcBef>
              <a:spcAft>
                <a:spcPts val="0"/>
              </a:spcAft>
              <a:buNone/>
            </a:pPr>
            <a:r>
              <a:rPr lang="en-IN" sz="2000">
                <a:solidFill>
                  <a:schemeClr val="dk1"/>
                </a:solidFill>
              </a:rPr>
              <a:t>A computer program is said to learn from experience (E) with respect to a task (T) and a performance measure (P) if its performance at task T, as measured by P, improves with experience E.</a:t>
            </a:r>
            <a:endParaRPr sz="20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graphicFrame>
        <p:nvGraphicFramePr>
          <p:cNvPr id="283" name="Google Shape;283;h579826f69ffc8371_0_14"/>
          <p:cNvGraphicFramePr/>
          <p:nvPr/>
        </p:nvGraphicFramePr>
        <p:xfrm>
          <a:off x="1218825" y="340575"/>
          <a:ext cx="3000000" cy="3000000"/>
        </p:xfrm>
        <a:graphic>
          <a:graphicData uri="http://schemas.openxmlformats.org/drawingml/2006/table">
            <a:tbl>
              <a:tblPr>
                <a:noFill/>
                <a:tableStyleId>{A1DC05C0-68A9-4DE6-A59A-6872BC1DB4C4}</a:tableStyleId>
              </a:tblPr>
              <a:tblGrid>
                <a:gridCol w="3189225"/>
                <a:gridCol w="6912625"/>
              </a:tblGrid>
              <a:tr h="643775">
                <a:tc>
                  <a:txBody>
                    <a:bodyPr/>
                    <a:lstStyle/>
                    <a:p>
                      <a:pPr indent="0" lvl="0" marL="0" rtl="0" algn="ctr">
                        <a:lnSpc>
                          <a:spcPct val="115000"/>
                        </a:lnSpc>
                        <a:spcBef>
                          <a:spcPts val="0"/>
                        </a:spcBef>
                        <a:spcAft>
                          <a:spcPts val="0"/>
                        </a:spcAft>
                        <a:buNone/>
                      </a:pPr>
                      <a:r>
                        <a:rPr b="1" lang="en-IN" sz="2400">
                          <a:solidFill>
                            <a:srgbClr val="FF0000"/>
                          </a:solidFill>
                        </a:rPr>
                        <a:t>Component</a:t>
                      </a:r>
                      <a:endParaRPr b="1" sz="2400">
                        <a:solidFill>
                          <a:srgbClr val="FF0000"/>
                        </a:solidFill>
                      </a:endParaRPr>
                    </a:p>
                  </a:txBody>
                  <a:tcPr marT="91425" marB="91425" marR="91425" marL="91425"/>
                </a:tc>
                <a:tc>
                  <a:txBody>
                    <a:bodyPr/>
                    <a:lstStyle/>
                    <a:p>
                      <a:pPr indent="0" lvl="0" marL="0" rtl="0" algn="ctr">
                        <a:lnSpc>
                          <a:spcPct val="115000"/>
                        </a:lnSpc>
                        <a:spcBef>
                          <a:spcPts val="0"/>
                        </a:spcBef>
                        <a:spcAft>
                          <a:spcPts val="0"/>
                        </a:spcAft>
                        <a:buNone/>
                      </a:pPr>
                      <a:r>
                        <a:rPr b="1" lang="en-IN" sz="2400">
                          <a:solidFill>
                            <a:srgbClr val="FF0000"/>
                          </a:solidFill>
                        </a:rPr>
                        <a:t>Example</a:t>
                      </a:r>
                      <a:endParaRPr b="1" sz="2400">
                        <a:solidFill>
                          <a:srgbClr val="FF0000"/>
                        </a:solidFill>
                      </a:endParaRPr>
                    </a:p>
                  </a:txBody>
                  <a:tcPr marT="91425" marB="91425" marR="91425" marL="91425"/>
                </a:tc>
              </a:tr>
              <a:tr h="190500">
                <a:tc>
                  <a:txBody>
                    <a:bodyPr/>
                    <a:lstStyle/>
                    <a:p>
                      <a:pPr indent="0" lvl="0" marL="0" rtl="0" algn="l">
                        <a:spcBef>
                          <a:spcPts val="0"/>
                        </a:spcBef>
                        <a:spcAft>
                          <a:spcPts val="0"/>
                        </a:spcAft>
                        <a:buNone/>
                      </a:pPr>
                      <a:r>
                        <a:rPr b="1" lang="en-IN" sz="2400"/>
                        <a:t>Task (T)</a:t>
                      </a:r>
                      <a:endParaRPr b="1" sz="2400"/>
                    </a:p>
                  </a:txBody>
                  <a:tcPr marT="91425" marB="91425" marR="91425" marL="91425"/>
                </a:tc>
                <a:tc>
                  <a:txBody>
                    <a:bodyPr/>
                    <a:lstStyle/>
                    <a:p>
                      <a:pPr indent="0" lvl="0" marL="0" rtl="0" algn="l">
                        <a:spcBef>
                          <a:spcPts val="0"/>
                        </a:spcBef>
                        <a:spcAft>
                          <a:spcPts val="0"/>
                        </a:spcAft>
                        <a:buNone/>
                      </a:pPr>
                      <a:r>
                        <a:rPr lang="en-IN" sz="2400"/>
                        <a:t>Identify whether an email is spam or not</a:t>
                      </a:r>
                      <a:endParaRPr sz="2400"/>
                    </a:p>
                  </a:txBody>
                  <a:tcPr marT="91425" marB="91425" marR="91425" marL="91425"/>
                </a:tc>
              </a:tr>
              <a:tr h="190500">
                <a:tc>
                  <a:txBody>
                    <a:bodyPr/>
                    <a:lstStyle/>
                    <a:p>
                      <a:pPr indent="0" lvl="0" marL="0" rtl="0" algn="l">
                        <a:spcBef>
                          <a:spcPts val="0"/>
                        </a:spcBef>
                        <a:spcAft>
                          <a:spcPts val="0"/>
                        </a:spcAft>
                        <a:buNone/>
                      </a:pPr>
                      <a:r>
                        <a:rPr b="1" lang="en-IN" sz="2400"/>
                        <a:t>Performance (P)</a:t>
                      </a:r>
                      <a:endParaRPr b="1" sz="2400"/>
                    </a:p>
                  </a:txBody>
                  <a:tcPr marT="91425" marB="91425" marR="91425" marL="91425"/>
                </a:tc>
                <a:tc>
                  <a:txBody>
                    <a:bodyPr/>
                    <a:lstStyle/>
                    <a:p>
                      <a:pPr indent="0" lvl="0" marL="0" rtl="0" algn="l">
                        <a:spcBef>
                          <a:spcPts val="0"/>
                        </a:spcBef>
                        <a:spcAft>
                          <a:spcPts val="0"/>
                        </a:spcAft>
                        <a:buNone/>
                      </a:pPr>
                      <a:r>
                        <a:rPr lang="en-IN" sz="2400"/>
                        <a:t>Accuracy of classification</a:t>
                      </a:r>
                      <a:endParaRPr sz="2400"/>
                    </a:p>
                  </a:txBody>
                  <a:tcPr marT="91425" marB="91425" marR="91425" marL="91425"/>
                </a:tc>
              </a:tr>
              <a:tr h="190500">
                <a:tc>
                  <a:txBody>
                    <a:bodyPr/>
                    <a:lstStyle/>
                    <a:p>
                      <a:pPr indent="0" lvl="0" marL="0" rtl="0" algn="l">
                        <a:spcBef>
                          <a:spcPts val="0"/>
                        </a:spcBef>
                        <a:spcAft>
                          <a:spcPts val="0"/>
                        </a:spcAft>
                        <a:buNone/>
                      </a:pPr>
                      <a:r>
                        <a:rPr b="1" lang="en-IN" sz="2400"/>
                        <a:t>Experience (E)</a:t>
                      </a:r>
                      <a:endParaRPr b="1" sz="2400"/>
                    </a:p>
                  </a:txBody>
                  <a:tcPr marT="91425" marB="91425" marR="91425" marL="91425"/>
                </a:tc>
                <a:tc>
                  <a:txBody>
                    <a:bodyPr/>
                    <a:lstStyle/>
                    <a:p>
                      <a:pPr indent="0" lvl="0" marL="0" rtl="0" algn="l">
                        <a:spcBef>
                          <a:spcPts val="0"/>
                        </a:spcBef>
                        <a:spcAft>
                          <a:spcPts val="0"/>
                        </a:spcAft>
                        <a:buNone/>
                      </a:pPr>
                      <a:r>
                        <a:rPr lang="en-IN" sz="2400"/>
                        <a:t>Previously labeled spam and non-spam emails</a:t>
                      </a:r>
                      <a:endParaRPr sz="2400"/>
                    </a:p>
                  </a:txBody>
                  <a:tcPr marT="91425" marB="91425" marR="91425" marL="91425"/>
                </a:tc>
              </a:tr>
            </a:tbl>
          </a:graphicData>
        </a:graphic>
      </p:graphicFrame>
      <p:pic>
        <p:nvPicPr>
          <p:cNvPr id="284" name="Google Shape;284;h579826f69ffc8371_0_14"/>
          <p:cNvPicPr preferRelativeResize="0"/>
          <p:nvPr/>
        </p:nvPicPr>
        <p:blipFill>
          <a:blip r:embed="rId3">
            <a:alphaModFix/>
          </a:blip>
          <a:stretch>
            <a:fillRect/>
          </a:stretch>
        </p:blipFill>
        <p:spPr>
          <a:xfrm>
            <a:off x="1218825" y="2777175"/>
            <a:ext cx="9754358" cy="3788100"/>
          </a:xfrm>
          <a:prstGeom prst="rect">
            <a:avLst/>
          </a:prstGeom>
          <a:noFill/>
          <a:ln>
            <a:noFill/>
          </a:ln>
        </p:spPr>
      </p:pic>
      <p:pic>
        <p:nvPicPr>
          <p:cNvPr id="285" name="Google Shape;285;h579826f69ffc8371_0_14"/>
          <p:cNvPicPr preferRelativeResize="0"/>
          <p:nvPr/>
        </p:nvPicPr>
        <p:blipFill>
          <a:blip r:embed="rId4">
            <a:alphaModFix/>
          </a:blip>
          <a:stretch>
            <a:fillRect/>
          </a:stretch>
        </p:blipFill>
        <p:spPr>
          <a:xfrm>
            <a:off x="4694313" y="5917575"/>
            <a:ext cx="3914775" cy="647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aphicFrame>
        <p:nvGraphicFramePr>
          <p:cNvPr id="290" name="Google Shape;290;h579826f69ffc8371_0_23"/>
          <p:cNvGraphicFramePr/>
          <p:nvPr/>
        </p:nvGraphicFramePr>
        <p:xfrm>
          <a:off x="176200" y="585000"/>
          <a:ext cx="3000000" cy="3000000"/>
        </p:xfrm>
        <a:graphic>
          <a:graphicData uri="http://schemas.openxmlformats.org/drawingml/2006/table">
            <a:tbl>
              <a:tblPr>
                <a:noFill/>
                <a:tableStyleId>{A1DC05C0-68A9-4DE6-A59A-6872BC1DB4C4}</a:tableStyleId>
              </a:tblPr>
              <a:tblGrid>
                <a:gridCol w="633750"/>
                <a:gridCol w="3618825"/>
                <a:gridCol w="4367550"/>
                <a:gridCol w="3219450"/>
              </a:tblGrid>
              <a:tr h="303700">
                <a:tc>
                  <a:txBody>
                    <a:bodyPr/>
                    <a:lstStyle/>
                    <a:p>
                      <a:pPr indent="0" lvl="0" marL="0" rtl="0" algn="ctr">
                        <a:lnSpc>
                          <a:spcPct val="75000"/>
                        </a:lnSpc>
                        <a:spcBef>
                          <a:spcPts val="0"/>
                        </a:spcBef>
                        <a:spcAft>
                          <a:spcPts val="0"/>
                        </a:spcAft>
                        <a:buNone/>
                      </a:pPr>
                      <a:r>
                        <a:rPr b="1" lang="en-IN" sz="2000">
                          <a:solidFill>
                            <a:srgbClr val="FF0000"/>
                          </a:solidFill>
                          <a:latin typeface="Times New Roman"/>
                          <a:ea typeface="Times New Roman"/>
                          <a:cs typeface="Times New Roman"/>
                          <a:sym typeface="Times New Roman"/>
                        </a:rPr>
                        <a:t>No.</a:t>
                      </a:r>
                      <a:endParaRPr b="1" sz="2000">
                        <a:solidFill>
                          <a:srgbClr val="FF0000"/>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75000"/>
                        </a:lnSpc>
                        <a:spcBef>
                          <a:spcPts val="0"/>
                        </a:spcBef>
                        <a:spcAft>
                          <a:spcPts val="0"/>
                        </a:spcAft>
                        <a:buNone/>
                      </a:pPr>
                      <a:r>
                        <a:rPr b="1" lang="en-IN" sz="2000">
                          <a:solidFill>
                            <a:srgbClr val="FF0000"/>
                          </a:solidFill>
                          <a:latin typeface="Times New Roman"/>
                          <a:ea typeface="Times New Roman"/>
                          <a:cs typeface="Times New Roman"/>
                          <a:sym typeface="Times New Roman"/>
                        </a:rPr>
                        <a:t>Learning Type</a:t>
                      </a:r>
                      <a:endParaRPr b="1" sz="2000">
                        <a:solidFill>
                          <a:srgbClr val="FF0000"/>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75000"/>
                        </a:lnSpc>
                        <a:spcBef>
                          <a:spcPts val="0"/>
                        </a:spcBef>
                        <a:spcAft>
                          <a:spcPts val="0"/>
                        </a:spcAft>
                        <a:buNone/>
                      </a:pPr>
                      <a:r>
                        <a:rPr b="1" lang="en-IN" sz="2000">
                          <a:solidFill>
                            <a:srgbClr val="FF0000"/>
                          </a:solidFill>
                          <a:latin typeface="Times New Roman"/>
                          <a:ea typeface="Times New Roman"/>
                          <a:cs typeface="Times New Roman"/>
                          <a:sym typeface="Times New Roman"/>
                        </a:rPr>
                        <a:t>Simple Meaning</a:t>
                      </a:r>
                      <a:endParaRPr b="1" sz="2000">
                        <a:solidFill>
                          <a:srgbClr val="FF0000"/>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75000"/>
                        </a:lnSpc>
                        <a:spcBef>
                          <a:spcPts val="0"/>
                        </a:spcBef>
                        <a:spcAft>
                          <a:spcPts val="0"/>
                        </a:spcAft>
                        <a:buNone/>
                      </a:pPr>
                      <a:r>
                        <a:rPr b="1" lang="en-IN" sz="2000">
                          <a:solidFill>
                            <a:srgbClr val="FF0000"/>
                          </a:solidFill>
                          <a:latin typeface="Times New Roman"/>
                          <a:ea typeface="Times New Roman"/>
                          <a:cs typeface="Times New Roman"/>
                          <a:sym typeface="Times New Roman"/>
                        </a:rPr>
                        <a:t>Example</a:t>
                      </a:r>
                      <a:endParaRPr b="1" sz="2000">
                        <a:solidFill>
                          <a:srgbClr val="FF0000"/>
                        </a:solidFill>
                        <a:latin typeface="Times New Roman"/>
                        <a:ea typeface="Times New Roman"/>
                        <a:cs typeface="Times New Roman"/>
                        <a:sym typeface="Times New Roman"/>
                      </a:endParaRPr>
                    </a:p>
                  </a:txBody>
                  <a:tcPr marT="91425" marB="91425" marR="91425" marL="91425"/>
                </a:tc>
              </a:tr>
              <a:tr h="566175">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by Memorization (Rote Learning)</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by remembering information through repetition, without necessarily understanding the concept.</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Memorizing multiplication tables.</a:t>
                      </a:r>
                      <a:endParaRPr sz="1800">
                        <a:latin typeface="Times New Roman"/>
                        <a:ea typeface="Times New Roman"/>
                        <a:cs typeface="Times New Roman"/>
                        <a:sym typeface="Times New Roman"/>
                      </a:endParaRPr>
                    </a:p>
                  </a:txBody>
                  <a:tcPr marT="91425" marB="91425" marR="91425" marL="91425"/>
                </a:tc>
              </a:tr>
              <a:tr h="545275">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by Examples (Inductive Learning)</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a general rule or concept by observing several examples or past experiences.</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Seeing many spam emails and learning what characteristics indicate spam.</a:t>
                      </a:r>
                      <a:endParaRPr sz="1800">
                        <a:latin typeface="Times New Roman"/>
                        <a:ea typeface="Times New Roman"/>
                        <a:cs typeface="Times New Roman"/>
                        <a:sym typeface="Times New Roman"/>
                      </a:endParaRPr>
                    </a:p>
                  </a:txBody>
                  <a:tcPr marT="91425" marB="91425" marR="91425" marL="91425"/>
                </a:tc>
              </a:tr>
              <a:tr h="527150">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3</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by Being Taught</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from a teacher or expert. It can be passive or active, where the learner asks questions to obtain labels or information.</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A teacher explaining how a decision tree works.</a:t>
                      </a:r>
                      <a:endParaRPr sz="1800">
                        <a:latin typeface="Times New Roman"/>
                        <a:ea typeface="Times New Roman"/>
                        <a:cs typeface="Times New Roman"/>
                        <a:sym typeface="Times New Roman"/>
                      </a:endParaRPr>
                    </a:p>
                  </a:txBody>
                  <a:tcPr marT="91425" marB="91425" marR="91425" marL="91425"/>
                </a:tc>
              </a:tr>
              <a:tr h="608000">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4</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by Critical Thinking (Deductive Learning)</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Using known facts and information to derive a new fact or conclusion.</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If all humans are mortal and Ravi is human, concluding that Ravi is mortal.</a:t>
                      </a:r>
                      <a:endParaRPr sz="1800">
                        <a:latin typeface="Times New Roman"/>
                        <a:ea typeface="Times New Roman"/>
                        <a:cs typeface="Times New Roman"/>
                        <a:sym typeface="Times New Roman"/>
                      </a:endParaRPr>
                    </a:p>
                  </a:txBody>
                  <a:tcPr marT="91425" marB="91425" marR="91425" marL="91425"/>
                </a:tc>
              </a:tr>
              <a:tr h="715325">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5</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Self-Learning (Reinforcement Learning)</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independently through rewards and punishments based on actions and mistakes.</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A robot learns to navigate a room by receiving rewards for reaching the target.</a:t>
                      </a:r>
                      <a:endParaRPr sz="1800">
                        <a:latin typeface="Times New Roman"/>
                        <a:ea typeface="Times New Roman"/>
                        <a:cs typeface="Times New Roman"/>
                        <a:sym typeface="Times New Roman"/>
                      </a:endParaRPr>
                    </a:p>
                  </a:txBody>
                  <a:tcPr marT="91425" marB="91425" marR="91425" marL="91425"/>
                </a:tc>
              </a:tr>
              <a:tr h="521050">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6</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to Solve Problems (Cognitive Learning)</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by developing a method or sequence of steps to achieve a particular goal.</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Finding the shortest route from one city to another.</a:t>
                      </a:r>
                      <a:endParaRPr sz="1800">
                        <a:latin typeface="Times New Roman"/>
                        <a:ea typeface="Times New Roman"/>
                        <a:cs typeface="Times New Roman"/>
                        <a:sym typeface="Times New Roman"/>
                      </a:endParaRPr>
                    </a:p>
                  </a:txBody>
                  <a:tcPr marT="91425" marB="91425" marR="91425" marL="91425"/>
                </a:tc>
              </a:tr>
              <a:tr h="503450">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7</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Learning by Generalizing Explanations (Explanation-Based Learning – EBL)</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Using expert/domain knowledge to understand examples and improve the learning of concepts.</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l">
                        <a:lnSpc>
                          <a:spcPct val="75000"/>
                        </a:lnSpc>
                        <a:spcBef>
                          <a:spcPts val="0"/>
                        </a:spcBef>
                        <a:spcAft>
                          <a:spcPts val="0"/>
                        </a:spcAft>
                        <a:buNone/>
                      </a:pPr>
                      <a:r>
                        <a:rPr lang="en-IN" sz="1800">
                          <a:latin typeface="Times New Roman"/>
                          <a:ea typeface="Times New Roman"/>
                          <a:cs typeface="Times New Roman"/>
                          <a:sym typeface="Times New Roman"/>
                        </a:rPr>
                        <a:t>Using a medical expert's knowledge to improve a disease-classification model.</a:t>
                      </a:r>
                      <a:endParaRPr sz="1800">
                        <a:latin typeface="Times New Roman"/>
                        <a:ea typeface="Times New Roman"/>
                        <a:cs typeface="Times New Roman"/>
                        <a:sym typeface="Times New Roman"/>
                      </a:endParaRPr>
                    </a:p>
                  </a:txBody>
                  <a:tcPr marT="91425" marB="91425" marR="91425" marL="91425"/>
                </a:tc>
              </a:tr>
            </a:tbl>
          </a:graphicData>
        </a:graphic>
      </p:graphicFrame>
      <p:sp>
        <p:nvSpPr>
          <p:cNvPr id="291" name="Google Shape;291;h579826f69ffc8371_0_23"/>
          <p:cNvSpPr txBox="1"/>
          <p:nvPr/>
        </p:nvSpPr>
        <p:spPr>
          <a:xfrm>
            <a:off x="287250" y="0"/>
            <a:ext cx="5574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600">
                <a:solidFill>
                  <a:srgbClr val="0000FF"/>
                </a:solidFill>
                <a:latin typeface="Times New Roman"/>
                <a:ea typeface="Times New Roman"/>
                <a:cs typeface="Times New Roman"/>
                <a:sym typeface="Times New Roman"/>
              </a:rPr>
              <a:t>Some important learning types are: </a:t>
            </a:r>
            <a:endParaRPr b="1" sz="2600">
              <a:solidFill>
                <a:srgbClr val="0000FF"/>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h579826f69ffc8371_0_33"/>
          <p:cNvSpPr txBox="1"/>
          <p:nvPr>
            <p:ph type="title"/>
          </p:nvPr>
        </p:nvSpPr>
        <p:spPr>
          <a:xfrm>
            <a:off x="152400" y="242650"/>
            <a:ext cx="4726800" cy="509700"/>
          </a:xfrm>
          <a:prstGeom prst="rect">
            <a:avLst/>
          </a:prstGeom>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None/>
            </a:pPr>
            <a:r>
              <a:rPr b="1" lang="en-IN" sz="3000">
                <a:solidFill>
                  <a:srgbClr val="FF0000"/>
                </a:solidFill>
                <a:latin typeface="Times New Roman"/>
                <a:ea typeface="Times New Roman"/>
                <a:cs typeface="Times New Roman"/>
                <a:sym typeface="Times New Roman"/>
              </a:rPr>
              <a:t>Design of Learning System</a:t>
            </a:r>
            <a:endParaRPr b="1">
              <a:solidFill>
                <a:srgbClr val="FF0000"/>
              </a:solidFill>
            </a:endParaRPr>
          </a:p>
        </p:txBody>
      </p:sp>
      <p:sp>
        <p:nvSpPr>
          <p:cNvPr id="297" name="Google Shape;297;h579826f69ffc8371_0_33"/>
          <p:cNvSpPr txBox="1"/>
          <p:nvPr>
            <p:ph idx="1" type="body"/>
          </p:nvPr>
        </p:nvSpPr>
        <p:spPr>
          <a:xfrm>
            <a:off x="372825" y="1021750"/>
            <a:ext cx="10515600" cy="34050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IN" sz="2400">
                <a:latin typeface="Times New Roman"/>
                <a:ea typeface="Times New Roman"/>
                <a:cs typeface="Times New Roman"/>
                <a:sym typeface="Times New Roman"/>
              </a:rPr>
              <a:t>A </a:t>
            </a:r>
            <a:r>
              <a:rPr b="1" lang="en-IN" sz="2400">
                <a:latin typeface="Times New Roman"/>
                <a:ea typeface="Times New Roman"/>
                <a:cs typeface="Times New Roman"/>
                <a:sym typeface="Times New Roman"/>
              </a:rPr>
              <a:t>learning system</a:t>
            </a:r>
            <a:r>
              <a:rPr lang="en-IN" sz="2400">
                <a:latin typeface="Times New Roman"/>
                <a:ea typeface="Times New Roman"/>
                <a:cs typeface="Times New Roman"/>
                <a:sym typeface="Times New Roman"/>
              </a:rPr>
              <a:t> is a system designed around a learning algorithm so that it can learn from experience and improve its performance.</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sz="2400">
                <a:latin typeface="Times New Roman"/>
                <a:ea typeface="Times New Roman"/>
                <a:cs typeface="Times New Roman"/>
                <a:sym typeface="Times New Roman"/>
              </a:rPr>
              <a:t>The design of a learning system generally involves </a:t>
            </a:r>
            <a:r>
              <a:rPr b="1" lang="en-IN" sz="2400">
                <a:solidFill>
                  <a:srgbClr val="0000FF"/>
                </a:solidFill>
                <a:latin typeface="Times New Roman"/>
                <a:ea typeface="Times New Roman"/>
                <a:cs typeface="Times New Roman"/>
                <a:sym typeface="Times New Roman"/>
              </a:rPr>
              <a:t>four main steps</a:t>
            </a:r>
            <a:r>
              <a:rPr lang="en-IN" sz="2400">
                <a:solidFill>
                  <a:srgbClr val="0000FF"/>
                </a:solidFill>
                <a:latin typeface="Times New Roman"/>
                <a:ea typeface="Times New Roman"/>
                <a:cs typeface="Times New Roman"/>
                <a:sym typeface="Times New Roman"/>
              </a:rPr>
              <a:t>:</a:t>
            </a:r>
            <a:endParaRPr sz="2400">
              <a:solidFill>
                <a:srgbClr val="0000FF"/>
              </a:solidFill>
              <a:latin typeface="Times New Roman"/>
              <a:ea typeface="Times New Roman"/>
              <a:cs typeface="Times New Roman"/>
              <a:sym typeface="Times New Roman"/>
            </a:endParaRPr>
          </a:p>
          <a:p>
            <a:pPr indent="-381000" lvl="0" marL="457200" rtl="0" algn="l">
              <a:lnSpc>
                <a:spcPct val="115000"/>
              </a:lnSpc>
              <a:spcBef>
                <a:spcPts val="1200"/>
              </a:spcBef>
              <a:spcAft>
                <a:spcPts val="0"/>
              </a:spcAft>
              <a:buSzPts val="2400"/>
              <a:buFont typeface="Times New Roman"/>
              <a:buAutoNum type="arabicPeriod"/>
            </a:pPr>
            <a:r>
              <a:rPr b="1" lang="en-IN" sz="2400">
                <a:latin typeface="Times New Roman"/>
                <a:ea typeface="Times New Roman"/>
                <a:cs typeface="Times New Roman"/>
                <a:sym typeface="Times New Roman"/>
              </a:rPr>
              <a:t>Choosing a Training Experience</a:t>
            </a:r>
            <a:endParaRPr b="1"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AutoNum type="arabicPeriod"/>
            </a:pPr>
            <a:r>
              <a:rPr b="1" lang="en-IN" sz="2400">
                <a:latin typeface="Times New Roman"/>
                <a:ea typeface="Times New Roman"/>
                <a:cs typeface="Times New Roman"/>
                <a:sym typeface="Times New Roman"/>
              </a:rPr>
              <a:t>Choosing a Target Function</a:t>
            </a:r>
            <a:endParaRPr b="1"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AutoNum type="arabicPeriod"/>
            </a:pPr>
            <a:r>
              <a:rPr b="1" lang="en-IN" sz="2400">
                <a:latin typeface="Times New Roman"/>
                <a:ea typeface="Times New Roman"/>
                <a:cs typeface="Times New Roman"/>
                <a:sym typeface="Times New Roman"/>
              </a:rPr>
              <a:t>Representing the Target Function</a:t>
            </a:r>
            <a:endParaRPr b="1"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AutoNum type="arabicPeriod"/>
            </a:pPr>
            <a:r>
              <a:rPr b="1" lang="en-IN" sz="2400">
                <a:latin typeface="Times New Roman"/>
                <a:ea typeface="Times New Roman"/>
                <a:cs typeface="Times New Roman"/>
                <a:sym typeface="Times New Roman"/>
              </a:rPr>
              <a:t>Function Approximation</a:t>
            </a:r>
            <a:endParaRPr b="1" sz="2400">
              <a:latin typeface="Times New Roman"/>
              <a:ea typeface="Times New Roman"/>
              <a:cs typeface="Times New Roman"/>
              <a:sym typeface="Times New Roman"/>
            </a:endParaRPr>
          </a:p>
          <a:p>
            <a:pPr indent="0" lvl="0" marL="0" rtl="0" algn="l">
              <a:spcBef>
                <a:spcPts val="1200"/>
              </a:spcBef>
              <a:spcAft>
                <a:spcPts val="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h579826f69ffc8371_0_40"/>
          <p:cNvSpPr txBox="1"/>
          <p:nvPr>
            <p:ph idx="1" type="body"/>
          </p:nvPr>
        </p:nvSpPr>
        <p:spPr>
          <a:xfrm>
            <a:off x="470800" y="331550"/>
            <a:ext cx="11245500" cy="58827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IN" sz="2400">
                <a:latin typeface="Times New Roman"/>
                <a:ea typeface="Times New Roman"/>
                <a:cs typeface="Times New Roman"/>
                <a:sym typeface="Times New Roman"/>
              </a:rPr>
              <a:t>1. Choosing a Training Experience</a:t>
            </a:r>
            <a:endParaRPr b="1" sz="24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2200">
                <a:latin typeface="Times New Roman"/>
                <a:ea typeface="Times New Roman"/>
                <a:cs typeface="Times New Roman"/>
                <a:sym typeface="Times New Roman"/>
              </a:rPr>
              <a:t>The first step is deciding </a:t>
            </a:r>
            <a:r>
              <a:rPr b="1" lang="en-IN" sz="2200">
                <a:latin typeface="Times New Roman"/>
                <a:ea typeface="Times New Roman"/>
                <a:cs typeface="Times New Roman"/>
                <a:sym typeface="Times New Roman"/>
              </a:rPr>
              <a:t>what experience or data the system will learn from</a:t>
            </a:r>
            <a:r>
              <a:rPr lang="en-IN" sz="2200">
                <a:latin typeface="Times New Roman"/>
                <a:ea typeface="Times New Roman"/>
                <a:cs typeface="Times New Roman"/>
                <a:sym typeface="Times New Roman"/>
              </a:rPr>
              <a:t>.</a:t>
            </a:r>
            <a:endParaRPr sz="2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IN" sz="2200">
                <a:latin typeface="Times New Roman"/>
                <a:ea typeface="Times New Roman"/>
                <a:cs typeface="Times New Roman"/>
                <a:sym typeface="Times New Roman"/>
              </a:rPr>
              <a:t>Example: Chess Game</a:t>
            </a:r>
            <a:endParaRPr b="1" sz="22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IN" sz="2200">
                <a:latin typeface="Times New Roman"/>
                <a:ea typeface="Times New Roman"/>
                <a:cs typeface="Times New Roman"/>
                <a:sym typeface="Times New Roman"/>
              </a:rPr>
              <a:t>Suppose we want to build a machine learning system that learns to play chess.</a:t>
            </a:r>
            <a:endParaRPr sz="22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IN" sz="2200">
                <a:latin typeface="Times New Roman"/>
                <a:ea typeface="Times New Roman"/>
                <a:cs typeface="Times New Roman"/>
                <a:sym typeface="Times New Roman"/>
              </a:rPr>
              <a:t>There are two ways to provide training experience:</a:t>
            </a:r>
            <a:endParaRPr sz="22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IN" sz="2200">
                <a:latin typeface="Times New Roman"/>
                <a:ea typeface="Times New Roman"/>
                <a:cs typeface="Times New Roman"/>
                <a:sym typeface="Times New Roman"/>
              </a:rPr>
              <a:t>Direct experience</a:t>
            </a:r>
            <a:endParaRPr b="1" sz="2200">
              <a:latin typeface="Times New Roman"/>
              <a:ea typeface="Times New Roman"/>
              <a:cs typeface="Times New Roman"/>
              <a:sym typeface="Times New Roman"/>
            </a:endParaRPr>
          </a:p>
          <a:p>
            <a:pPr indent="-368300" lvl="0" marL="457200" rtl="0" algn="l">
              <a:lnSpc>
                <a:spcPct val="100000"/>
              </a:lnSpc>
              <a:spcBef>
                <a:spcPts val="0"/>
              </a:spcBef>
              <a:spcAft>
                <a:spcPts val="0"/>
              </a:spcAft>
              <a:buSzPts val="2200"/>
              <a:buFont typeface="Times New Roman"/>
              <a:buChar char="●"/>
            </a:pPr>
            <a:r>
              <a:rPr lang="en-IN" sz="2200">
                <a:latin typeface="Times New Roman"/>
                <a:ea typeface="Times New Roman"/>
                <a:cs typeface="Times New Roman"/>
                <a:sym typeface="Times New Roman"/>
              </a:rPr>
              <a:t>The system is directly given chess board positions and the correct moves.</a:t>
            </a:r>
            <a:endParaRPr sz="2200">
              <a:latin typeface="Times New Roman"/>
              <a:ea typeface="Times New Roman"/>
              <a:cs typeface="Times New Roman"/>
              <a:sym typeface="Times New Roman"/>
            </a:endParaRPr>
          </a:p>
          <a:p>
            <a:pPr indent="-368300" lvl="0" marL="457200" rtl="0" algn="l">
              <a:lnSpc>
                <a:spcPct val="100000"/>
              </a:lnSpc>
              <a:spcBef>
                <a:spcPts val="0"/>
              </a:spcBef>
              <a:spcAft>
                <a:spcPts val="0"/>
              </a:spcAft>
              <a:buSzPts val="2200"/>
              <a:buChar char="●"/>
            </a:pPr>
            <a:r>
              <a:rPr lang="en-IN" sz="2200">
                <a:latin typeface="Times New Roman"/>
                <a:ea typeface="Times New Roman"/>
                <a:cs typeface="Times New Roman"/>
                <a:sym typeface="Times New Roman"/>
              </a:rPr>
              <a:t>Example:</a:t>
            </a:r>
            <a:br>
              <a:rPr lang="en-IN" sz="2200">
                <a:latin typeface="Times New Roman"/>
                <a:ea typeface="Times New Roman"/>
                <a:cs typeface="Times New Roman"/>
                <a:sym typeface="Times New Roman"/>
              </a:rPr>
            </a:br>
            <a:r>
              <a:rPr lang="en-IN" sz="2200">
                <a:latin typeface="Times New Roman"/>
                <a:ea typeface="Times New Roman"/>
                <a:cs typeface="Times New Roman"/>
                <a:sym typeface="Times New Roman"/>
              </a:rPr>
              <a:t> </a:t>
            </a:r>
            <a:r>
              <a:rPr b="1" lang="en-IN" sz="2200">
                <a:latin typeface="Times New Roman"/>
                <a:ea typeface="Times New Roman"/>
                <a:cs typeface="Times New Roman"/>
                <a:sym typeface="Times New Roman"/>
              </a:rPr>
              <a:t>Board position → Best move</a:t>
            </a:r>
            <a:endParaRPr b="1" sz="22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IN" sz="2200">
                <a:latin typeface="Times New Roman"/>
                <a:ea typeface="Times New Roman"/>
                <a:cs typeface="Times New Roman"/>
                <a:sym typeface="Times New Roman"/>
              </a:rPr>
              <a:t>Indirect experience</a:t>
            </a:r>
            <a:endParaRPr b="1" sz="2200">
              <a:latin typeface="Times New Roman"/>
              <a:ea typeface="Times New Roman"/>
              <a:cs typeface="Times New Roman"/>
              <a:sym typeface="Times New Roman"/>
            </a:endParaRPr>
          </a:p>
          <a:p>
            <a:pPr indent="-368300" lvl="0" marL="457200" rtl="0" algn="l">
              <a:lnSpc>
                <a:spcPct val="100000"/>
              </a:lnSpc>
              <a:spcBef>
                <a:spcPts val="0"/>
              </a:spcBef>
              <a:spcAft>
                <a:spcPts val="0"/>
              </a:spcAft>
              <a:buSzPts val="2200"/>
              <a:buFont typeface="Times New Roman"/>
              <a:buChar char="●"/>
            </a:pPr>
            <a:r>
              <a:rPr lang="en-IN" sz="2200">
                <a:latin typeface="Times New Roman"/>
                <a:ea typeface="Times New Roman"/>
                <a:cs typeface="Times New Roman"/>
                <a:sym typeface="Times New Roman"/>
              </a:rPr>
              <a:t>The system is given the sequence of moves and the final result of the game.</a:t>
            </a:r>
            <a:endParaRPr sz="2200">
              <a:latin typeface="Times New Roman"/>
              <a:ea typeface="Times New Roman"/>
              <a:cs typeface="Times New Roman"/>
              <a:sym typeface="Times New Roman"/>
            </a:endParaRPr>
          </a:p>
          <a:p>
            <a:pPr indent="-368300" lvl="0" marL="457200" rtl="0" algn="l">
              <a:lnSpc>
                <a:spcPct val="100000"/>
              </a:lnSpc>
              <a:spcBef>
                <a:spcPts val="0"/>
              </a:spcBef>
              <a:spcAft>
                <a:spcPts val="0"/>
              </a:spcAft>
              <a:buSzPts val="2200"/>
              <a:buFont typeface="Times New Roman"/>
              <a:buChar char="●"/>
            </a:pPr>
            <a:r>
              <a:rPr lang="en-IN" sz="2200">
                <a:latin typeface="Times New Roman"/>
                <a:ea typeface="Times New Roman"/>
                <a:cs typeface="Times New Roman"/>
                <a:sym typeface="Times New Roman"/>
              </a:rPr>
              <a:t>The system learns which moves were good or bad based on the result.</a:t>
            </a:r>
            <a:endParaRPr sz="22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IN" sz="2200">
                <a:latin typeface="Times New Roman"/>
                <a:ea typeface="Times New Roman"/>
                <a:cs typeface="Times New Roman"/>
                <a:sym typeface="Times New Roman"/>
              </a:rPr>
              <a:t>For example:</a:t>
            </a:r>
            <a:endParaRPr sz="2200">
              <a:latin typeface="Times New Roman"/>
              <a:ea typeface="Times New Roman"/>
              <a:cs typeface="Times New Roman"/>
              <a:sym typeface="Times New Roman"/>
            </a:endParaRPr>
          </a:p>
          <a:p>
            <a:pPr indent="0" lvl="0" marL="381000" marR="381000" rtl="0" algn="l">
              <a:lnSpc>
                <a:spcPct val="100000"/>
              </a:lnSpc>
              <a:spcBef>
                <a:spcPts val="0"/>
              </a:spcBef>
              <a:spcAft>
                <a:spcPts val="0"/>
              </a:spcAft>
              <a:buClr>
                <a:schemeClr val="dk1"/>
              </a:buClr>
              <a:buSzPts val="1100"/>
              <a:buFont typeface="Arial"/>
              <a:buNone/>
            </a:pPr>
            <a:r>
              <a:rPr lang="en-IN" sz="2200">
                <a:latin typeface="Times New Roman"/>
                <a:ea typeface="Times New Roman"/>
                <a:cs typeface="Times New Roman"/>
                <a:sym typeface="Times New Roman"/>
              </a:rPr>
              <a:t>Game → Win → Learn which moves contributed to winning.</a:t>
            </a:r>
            <a:endParaRPr sz="22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IN" sz="2200">
                <a:latin typeface="Times New Roman"/>
                <a:ea typeface="Times New Roman"/>
                <a:cs typeface="Times New Roman"/>
                <a:sym typeface="Times New Roman"/>
              </a:rPr>
              <a:t>If a supervisor/expert is available, the expert can label the </a:t>
            </a:r>
            <a:r>
              <a:rPr b="1" lang="en-IN" sz="2200">
                <a:latin typeface="Times New Roman"/>
                <a:ea typeface="Times New Roman"/>
                <a:cs typeface="Times New Roman"/>
                <a:sym typeface="Times New Roman"/>
              </a:rPr>
              <a:t>correct moves</a:t>
            </a:r>
            <a:r>
              <a:rPr lang="en-IN" sz="2200">
                <a:latin typeface="Times New Roman"/>
                <a:ea typeface="Times New Roman"/>
                <a:cs typeface="Times New Roman"/>
                <a:sym typeface="Times New Roman"/>
              </a:rPr>
              <a:t>.</a:t>
            </a:r>
            <a:endParaRPr sz="22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IN" sz="2200">
                <a:latin typeface="Times New Roman"/>
                <a:ea typeface="Times New Roman"/>
                <a:cs typeface="Times New Roman"/>
                <a:sym typeface="Times New Roman"/>
              </a:rPr>
              <a:t>If there is no supervisor, the chess program can </a:t>
            </a:r>
            <a:r>
              <a:rPr b="1" lang="en-IN" sz="2200">
                <a:latin typeface="Times New Roman"/>
                <a:ea typeface="Times New Roman"/>
                <a:cs typeface="Times New Roman"/>
                <a:sym typeface="Times New Roman"/>
              </a:rPr>
              <a:t>play against itself</a:t>
            </a:r>
            <a:r>
              <a:rPr lang="en-IN" sz="2200">
                <a:latin typeface="Times New Roman"/>
                <a:ea typeface="Times New Roman"/>
                <a:cs typeface="Times New Roman"/>
                <a:sym typeface="Times New Roman"/>
              </a:rPr>
              <a:t> and learn from the results.</a:t>
            </a:r>
            <a:endParaRPr sz="22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2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h579826f69ffc8371_0_45"/>
          <p:cNvSpPr txBox="1"/>
          <p:nvPr>
            <p:ph idx="1" type="body"/>
          </p:nvPr>
        </p:nvSpPr>
        <p:spPr>
          <a:xfrm>
            <a:off x="336500" y="299275"/>
            <a:ext cx="11170800" cy="23712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IN" sz="1900"/>
              <a:t>2. Choosing the Target Function</a:t>
            </a:r>
            <a:endParaRPr b="1" sz="1900"/>
          </a:p>
          <a:p>
            <a:pPr indent="0" lvl="0" marL="0" rtl="0" algn="l">
              <a:lnSpc>
                <a:spcPct val="100000"/>
              </a:lnSpc>
              <a:spcBef>
                <a:spcPts val="0"/>
              </a:spcBef>
              <a:spcAft>
                <a:spcPts val="0"/>
              </a:spcAft>
              <a:buClr>
                <a:schemeClr val="dk1"/>
              </a:buClr>
              <a:buSzPts val="1100"/>
              <a:buFont typeface="Arial"/>
              <a:buNone/>
            </a:pPr>
            <a:r>
              <a:rPr lang="en-IN" sz="1900"/>
              <a:t>The target function specifies what the learning system should learn.</a:t>
            </a:r>
            <a:endParaRPr sz="1900"/>
          </a:p>
          <a:p>
            <a:pPr indent="0" lvl="0" marL="0" rtl="0" algn="l">
              <a:lnSpc>
                <a:spcPct val="100000"/>
              </a:lnSpc>
              <a:spcBef>
                <a:spcPts val="0"/>
              </a:spcBef>
              <a:spcAft>
                <a:spcPts val="0"/>
              </a:spcAft>
              <a:buClr>
                <a:schemeClr val="dk1"/>
              </a:buClr>
              <a:buSzPts val="1100"/>
              <a:buFont typeface="Arial"/>
              <a:buNone/>
            </a:pPr>
            <a:r>
              <a:rPr lang="en-IN" sz="1900"/>
              <a:t>In simple words:</a:t>
            </a:r>
            <a:endParaRPr sz="1900"/>
          </a:p>
          <a:p>
            <a:pPr indent="0" lvl="0" marL="381000" marR="381000" rtl="0" algn="l">
              <a:lnSpc>
                <a:spcPct val="100000"/>
              </a:lnSpc>
              <a:spcBef>
                <a:spcPts val="0"/>
              </a:spcBef>
              <a:spcAft>
                <a:spcPts val="0"/>
              </a:spcAft>
              <a:buClr>
                <a:schemeClr val="dk1"/>
              </a:buClr>
              <a:buSzPts val="1100"/>
              <a:buFont typeface="Arial"/>
              <a:buNone/>
            </a:pPr>
            <a:r>
              <a:rPr lang="en-IN" sz="1900"/>
              <a:t>Target function = The desired output that the learning system tries to predict.</a:t>
            </a:r>
            <a:endParaRPr sz="1900"/>
          </a:p>
          <a:p>
            <a:pPr indent="0" lvl="0" marL="0" rtl="0" algn="l">
              <a:lnSpc>
                <a:spcPct val="100000"/>
              </a:lnSpc>
              <a:spcBef>
                <a:spcPts val="0"/>
              </a:spcBef>
              <a:spcAft>
                <a:spcPts val="0"/>
              </a:spcAft>
              <a:buClr>
                <a:schemeClr val="dk1"/>
              </a:buClr>
              <a:buSzPts val="1100"/>
              <a:buFont typeface="Arial"/>
              <a:buNone/>
            </a:pPr>
            <a:r>
              <a:rPr b="1" lang="en-IN" sz="1900"/>
              <a:t>Chess Example</a:t>
            </a:r>
            <a:endParaRPr b="1" sz="1900"/>
          </a:p>
          <a:p>
            <a:pPr indent="0" lvl="0" marL="0" rtl="0" algn="l">
              <a:lnSpc>
                <a:spcPct val="100000"/>
              </a:lnSpc>
              <a:spcBef>
                <a:spcPts val="0"/>
              </a:spcBef>
              <a:spcAft>
                <a:spcPts val="0"/>
              </a:spcAft>
              <a:buClr>
                <a:schemeClr val="dk1"/>
              </a:buClr>
              <a:buSzPts val="1100"/>
              <a:buFont typeface="Arial"/>
              <a:buNone/>
            </a:pPr>
            <a:r>
              <a:rPr lang="en-IN" sz="1900"/>
              <a:t>The system needs to decide:</a:t>
            </a:r>
            <a:endParaRPr sz="1900"/>
          </a:p>
          <a:p>
            <a:pPr indent="0" lvl="0" marL="381000" marR="381000" rtl="0" algn="l">
              <a:lnSpc>
                <a:spcPct val="100000"/>
              </a:lnSpc>
              <a:spcBef>
                <a:spcPts val="0"/>
              </a:spcBef>
              <a:spcAft>
                <a:spcPts val="0"/>
              </a:spcAft>
              <a:buClr>
                <a:schemeClr val="dk1"/>
              </a:buClr>
              <a:buSzPts val="1100"/>
              <a:buFont typeface="Arial"/>
              <a:buNone/>
            </a:pPr>
            <a:r>
              <a:rPr lang="en-IN" sz="1900"/>
              <a:t>"Is this a good move or a bad move?"</a:t>
            </a:r>
            <a:endParaRPr sz="1900"/>
          </a:p>
          <a:p>
            <a:pPr indent="0" lvl="0" marL="0" rtl="0" algn="l">
              <a:lnSpc>
                <a:spcPct val="100000"/>
              </a:lnSpc>
              <a:spcBef>
                <a:spcPts val="0"/>
              </a:spcBef>
              <a:spcAft>
                <a:spcPts val="0"/>
              </a:spcAft>
              <a:buNone/>
            </a:pPr>
            <a:r>
              <a:t/>
            </a:r>
            <a:endParaRPr sz="1900"/>
          </a:p>
        </p:txBody>
      </p:sp>
      <p:sp>
        <p:nvSpPr>
          <p:cNvPr id="308" name="Google Shape;308;h579826f69ffc8371_0_45"/>
          <p:cNvSpPr txBox="1"/>
          <p:nvPr/>
        </p:nvSpPr>
        <p:spPr>
          <a:xfrm>
            <a:off x="283250" y="2670475"/>
            <a:ext cx="11277300" cy="4017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2100">
                <a:solidFill>
                  <a:schemeClr val="dk1"/>
                </a:solidFill>
              </a:rPr>
              <a:t>3. Determining the Target Function Representation</a:t>
            </a:r>
            <a:endParaRPr b="1" sz="2100">
              <a:solidFill>
                <a:schemeClr val="dk1"/>
              </a:solidFill>
            </a:endParaRPr>
          </a:p>
          <a:p>
            <a:pPr indent="0" lvl="0" marL="0" rtl="0" algn="l">
              <a:lnSpc>
                <a:spcPct val="100000"/>
              </a:lnSpc>
              <a:spcBef>
                <a:spcPts val="0"/>
              </a:spcBef>
              <a:spcAft>
                <a:spcPts val="0"/>
              </a:spcAft>
              <a:buNone/>
            </a:pPr>
            <a:r>
              <a:rPr lang="en-IN" sz="1900">
                <a:solidFill>
                  <a:schemeClr val="dk1"/>
                </a:solidFill>
              </a:rPr>
              <a:t>After deciding what to learn, we must decide how to represent the knowledge.</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The target function can be represented using:</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Tables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Rules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Decision trees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Neural networks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Mathematical equations</a:t>
            </a:r>
            <a:endParaRPr sz="1900">
              <a:solidFill>
                <a:schemeClr val="dk1"/>
              </a:solidFill>
            </a:endParaRPr>
          </a:p>
          <a:p>
            <a:pPr indent="0" lvl="0" marL="0" rtl="0" algn="l">
              <a:lnSpc>
                <a:spcPct val="100000"/>
              </a:lnSpc>
              <a:spcBef>
                <a:spcPts val="0"/>
              </a:spcBef>
              <a:spcAft>
                <a:spcPts val="0"/>
              </a:spcAft>
              <a:buNone/>
            </a:pPr>
            <a:r>
              <a:rPr b="1" lang="en-IN" sz="1900">
                <a:solidFill>
                  <a:schemeClr val="dk1"/>
                </a:solidFill>
              </a:rPr>
              <a:t>Example: Linear Representation</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Suppose the chess board has three important features: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x1 = number of useful pieces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x2 = position of pieces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x3 = control of important squares</a:t>
            </a:r>
            <a:endParaRPr sz="19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h579826f69ffc8371_0_55"/>
          <p:cNvSpPr txBox="1"/>
          <p:nvPr>
            <p:ph idx="1" type="body"/>
          </p:nvPr>
        </p:nvSpPr>
        <p:spPr>
          <a:xfrm>
            <a:off x="348350" y="282575"/>
            <a:ext cx="11392500" cy="3017100"/>
          </a:xfrm>
          <a:prstGeom prst="rect">
            <a:avLst/>
          </a:prstGeom>
        </p:spPr>
        <p:txBody>
          <a:bodyPr anchorCtr="0" anchor="t" bIns="45700" lIns="91425" spcFirstLastPara="1" rIns="91425" wrap="square" tIns="45700">
            <a:noAutofit/>
          </a:bodyPr>
          <a:lstStyle/>
          <a:p>
            <a:pPr indent="0" lvl="0" marL="0" rtl="0" algn="l">
              <a:lnSpc>
                <a:spcPct val="100000"/>
              </a:lnSpc>
              <a:spcBef>
                <a:spcPts val="1800"/>
              </a:spcBef>
              <a:spcAft>
                <a:spcPts val="0"/>
              </a:spcAft>
              <a:buClr>
                <a:schemeClr val="dk1"/>
              </a:buClr>
              <a:buSzPts val="1100"/>
              <a:buFont typeface="Arial"/>
              <a:buNone/>
            </a:pPr>
            <a:r>
              <a:rPr b="1" lang="en-IN" sz="2300"/>
              <a:t>4. Function Approximation</a:t>
            </a:r>
            <a:endParaRPr b="1" sz="2300"/>
          </a:p>
          <a:p>
            <a:pPr indent="0" lvl="0" marL="0" rtl="0" algn="l">
              <a:lnSpc>
                <a:spcPct val="100000"/>
              </a:lnSpc>
              <a:spcBef>
                <a:spcPts val="1200"/>
              </a:spcBef>
              <a:spcAft>
                <a:spcPts val="0"/>
              </a:spcAft>
              <a:buClr>
                <a:schemeClr val="dk1"/>
              </a:buClr>
              <a:buSzPts val="1100"/>
              <a:buFont typeface="Arial"/>
              <a:buNone/>
            </a:pPr>
            <a:r>
              <a:rPr lang="en-IN" sz="2300"/>
              <a:t>The actual target function may be very complex and may not be known exactly.</a:t>
            </a:r>
            <a:endParaRPr sz="2300"/>
          </a:p>
          <a:p>
            <a:pPr indent="0" lvl="0" marL="0" rtl="0" algn="l">
              <a:lnSpc>
                <a:spcPct val="100000"/>
              </a:lnSpc>
              <a:spcBef>
                <a:spcPts val="1200"/>
              </a:spcBef>
              <a:spcAft>
                <a:spcPts val="0"/>
              </a:spcAft>
              <a:buClr>
                <a:schemeClr val="dk1"/>
              </a:buClr>
              <a:buSzPts val="1100"/>
              <a:buFont typeface="Arial"/>
              <a:buNone/>
            </a:pPr>
            <a:r>
              <a:rPr lang="en-IN" sz="2300"/>
              <a:t>Therefore, the learning algorithm tries to approximate the target function using the available training data.</a:t>
            </a:r>
            <a:endParaRPr sz="2300"/>
          </a:p>
          <a:p>
            <a:pPr indent="0" lvl="0" marL="0" rtl="0" algn="l">
              <a:lnSpc>
                <a:spcPct val="100000"/>
              </a:lnSpc>
              <a:spcBef>
                <a:spcPts val="1200"/>
              </a:spcBef>
              <a:spcAft>
                <a:spcPts val="0"/>
              </a:spcAft>
              <a:buClr>
                <a:schemeClr val="dk1"/>
              </a:buClr>
              <a:buSzPts val="1100"/>
              <a:buFont typeface="Arial"/>
              <a:buNone/>
            </a:pPr>
            <a:r>
              <a:rPr b="1" lang="en-IN" sz="2300"/>
              <a:t>For example:</a:t>
            </a:r>
            <a:endParaRPr b="1" sz="2300"/>
          </a:p>
          <a:p>
            <a:pPr indent="0" lvl="0" marL="0" rtl="0" algn="l">
              <a:lnSpc>
                <a:spcPct val="100000"/>
              </a:lnSpc>
              <a:spcBef>
                <a:spcPts val="1200"/>
              </a:spcBef>
              <a:spcAft>
                <a:spcPts val="0"/>
              </a:spcAft>
              <a:buClr>
                <a:schemeClr val="dk1"/>
              </a:buClr>
              <a:buSzPts val="1100"/>
              <a:buFont typeface="Arial"/>
              <a:buNone/>
            </a:pPr>
            <a:r>
              <a:rPr lang="en-IN" sz="2300"/>
              <a:t>Training data</a:t>
            </a:r>
            <a:endParaRPr sz="2300"/>
          </a:p>
          <a:p>
            <a:pPr indent="0" lvl="0" marL="0" rtl="0" algn="l">
              <a:lnSpc>
                <a:spcPct val="100000"/>
              </a:lnSpc>
              <a:spcBef>
                <a:spcPts val="1000"/>
              </a:spcBef>
              <a:spcAft>
                <a:spcPts val="0"/>
              </a:spcAft>
              <a:buNone/>
            </a:pPr>
            <a:r>
              <a:t/>
            </a:r>
            <a:endParaRPr sz="2300"/>
          </a:p>
        </p:txBody>
      </p:sp>
      <p:pic>
        <p:nvPicPr>
          <p:cNvPr id="314" name="Google Shape;314;h579826f69ffc8371_0_55"/>
          <p:cNvPicPr preferRelativeResize="0"/>
          <p:nvPr/>
        </p:nvPicPr>
        <p:blipFill>
          <a:blip r:embed="rId3">
            <a:alphaModFix/>
          </a:blip>
          <a:stretch>
            <a:fillRect/>
          </a:stretch>
        </p:blipFill>
        <p:spPr>
          <a:xfrm>
            <a:off x="470825" y="3096175"/>
            <a:ext cx="10544175" cy="1905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h579826f69ffc8371_0_62"/>
          <p:cNvSpPr txBox="1"/>
          <p:nvPr>
            <p:ph type="title"/>
          </p:nvPr>
        </p:nvSpPr>
        <p:spPr>
          <a:xfrm>
            <a:off x="415600" y="261300"/>
            <a:ext cx="11360700" cy="763500"/>
          </a:xfrm>
          <a:prstGeom prst="rect">
            <a:avLst/>
          </a:prstGeom>
        </p:spPr>
        <p:txBody>
          <a:bodyPr anchorCtr="0" anchor="t" bIns="121900" lIns="121900" spcFirstLastPara="1" rIns="121900" wrap="square" tIns="121900">
            <a:normAutofit/>
          </a:bodyPr>
          <a:lstStyle/>
          <a:p>
            <a:pPr indent="0" lvl="0" marL="0" rtl="0" algn="l">
              <a:lnSpc>
                <a:spcPct val="115000"/>
              </a:lnSpc>
              <a:spcBef>
                <a:spcPts val="0"/>
              </a:spcBef>
              <a:spcAft>
                <a:spcPts val="0"/>
              </a:spcAft>
              <a:buClr>
                <a:schemeClr val="dk1"/>
              </a:buClr>
              <a:buSzPts val="1500"/>
              <a:buFont typeface="Arial"/>
              <a:buNone/>
            </a:pPr>
            <a:r>
              <a:rPr b="1" lang="en-IN" sz="2700">
                <a:solidFill>
                  <a:srgbClr val="980000"/>
                </a:solidFill>
              </a:rPr>
              <a:t>Concept learning</a:t>
            </a:r>
            <a:endParaRPr b="1" sz="4900">
              <a:solidFill>
                <a:srgbClr val="980000"/>
              </a:solidFill>
            </a:endParaRPr>
          </a:p>
        </p:txBody>
      </p:sp>
      <p:sp>
        <p:nvSpPr>
          <p:cNvPr id="320" name="Google Shape;320;h579826f69ffc8371_0_62"/>
          <p:cNvSpPr txBox="1"/>
          <p:nvPr>
            <p:ph idx="1" type="body"/>
          </p:nvPr>
        </p:nvSpPr>
        <p:spPr>
          <a:xfrm>
            <a:off x="415600" y="742567"/>
            <a:ext cx="11360700" cy="4555200"/>
          </a:xfrm>
          <a:prstGeom prst="rect">
            <a:avLst/>
          </a:prstGeom>
        </p:spPr>
        <p:txBody>
          <a:bodyPr anchorCtr="0" anchor="t" bIns="121900" lIns="121900" spcFirstLastPara="1" rIns="121900" wrap="square" tIns="121900">
            <a:normAutofit fontScale="25000" lnSpcReduction="20000"/>
          </a:bodyPr>
          <a:lstStyle/>
          <a:p>
            <a:pPr indent="0" lvl="0" marL="0" rtl="0" algn="just">
              <a:spcBef>
                <a:spcPts val="0"/>
              </a:spcBef>
              <a:spcAft>
                <a:spcPts val="0"/>
              </a:spcAft>
              <a:buNone/>
            </a:pPr>
            <a:r>
              <a:rPr lang="en-IN" sz="7000">
                <a:solidFill>
                  <a:schemeClr val="dk1"/>
                </a:solidFill>
              </a:rPr>
              <a:t>Concept learning is an important topic in Machine Learning. It refers to the problem of inferring a Boolean-valued function from training examples. </a:t>
            </a:r>
            <a:endParaRPr sz="7000">
              <a:solidFill>
                <a:schemeClr val="dk1"/>
              </a:solidFill>
            </a:endParaRPr>
          </a:p>
          <a:p>
            <a:pPr indent="0" lvl="0" marL="0" rtl="0" algn="just">
              <a:spcBef>
                <a:spcPts val="0"/>
              </a:spcBef>
              <a:spcAft>
                <a:spcPts val="0"/>
              </a:spcAft>
              <a:buNone/>
            </a:pPr>
            <a:r>
              <a:rPr lang="en-IN" sz="7000">
                <a:solidFill>
                  <a:schemeClr val="dk1"/>
                </a:solidFill>
              </a:rPr>
              <a:t>“</a:t>
            </a:r>
            <a:r>
              <a:rPr b="1" lang="en-IN" sz="7000">
                <a:solidFill>
                  <a:srgbClr val="980000"/>
                </a:solidFill>
              </a:rPr>
              <a:t>Concept learning is the task of learning a general rule (concept) from specific examples.”</a:t>
            </a:r>
            <a:endParaRPr b="1" sz="7000">
              <a:solidFill>
                <a:srgbClr val="980000"/>
              </a:solidFill>
            </a:endParaRPr>
          </a:p>
          <a:p>
            <a:pPr indent="0" lvl="0" marL="0" rtl="0" algn="just">
              <a:spcBef>
                <a:spcPts val="0"/>
              </a:spcBef>
              <a:spcAft>
                <a:spcPts val="0"/>
              </a:spcAft>
              <a:buNone/>
            </a:pPr>
            <a:r>
              <a:rPr b="1" lang="en-IN" sz="7000">
                <a:solidFill>
                  <a:srgbClr val="980000"/>
                </a:solidFill>
              </a:rPr>
              <a:t>                                                                             OR</a:t>
            </a:r>
            <a:endParaRPr b="1" sz="7000">
              <a:solidFill>
                <a:srgbClr val="980000"/>
              </a:solidFill>
            </a:endParaRPr>
          </a:p>
          <a:p>
            <a:pPr indent="0" lvl="0" marL="0" rtl="0" algn="just">
              <a:spcBef>
                <a:spcPts val="0"/>
              </a:spcBef>
              <a:spcAft>
                <a:spcPts val="0"/>
              </a:spcAft>
              <a:buClr>
                <a:schemeClr val="dk1"/>
              </a:buClr>
              <a:buSzPts val="375"/>
              <a:buFont typeface="Arial"/>
              <a:buNone/>
            </a:pPr>
            <a:r>
              <a:rPr lang="en-IN" sz="7000">
                <a:solidFill>
                  <a:schemeClr val="dk1"/>
                </a:solidFill>
              </a:rPr>
              <a:t>“</a:t>
            </a:r>
            <a:r>
              <a:rPr b="1" lang="en-IN" sz="7000">
                <a:solidFill>
                  <a:srgbClr val="980000"/>
                </a:solidFill>
              </a:rPr>
              <a:t>A task of acquiring potential hypothesis(solution) that best fits the given training example.”</a:t>
            </a:r>
            <a:endParaRPr b="1" sz="7000">
              <a:solidFill>
                <a:srgbClr val="980000"/>
              </a:solidFill>
            </a:endParaRPr>
          </a:p>
          <a:p>
            <a:pPr indent="0" lvl="0" marL="0" rtl="0" algn="l">
              <a:spcBef>
                <a:spcPts val="1600"/>
              </a:spcBef>
              <a:spcAft>
                <a:spcPts val="0"/>
              </a:spcAft>
              <a:buClr>
                <a:schemeClr val="dk1"/>
              </a:buClr>
              <a:buSzPts val="375"/>
              <a:buFont typeface="Arial"/>
              <a:buNone/>
            </a:pPr>
            <a:r>
              <a:rPr lang="en-IN" sz="7000">
                <a:solidFill>
                  <a:schemeClr val="dk1"/>
                </a:solidFill>
              </a:rPr>
              <a:t>A </a:t>
            </a:r>
            <a:r>
              <a:rPr b="1" lang="en-IN" sz="7000">
                <a:solidFill>
                  <a:schemeClr val="dk1"/>
                </a:solidFill>
              </a:rPr>
              <a:t>concept</a:t>
            </a:r>
            <a:r>
              <a:rPr lang="en-IN" sz="7000">
                <a:solidFill>
                  <a:schemeClr val="dk1"/>
                </a:solidFill>
              </a:rPr>
              <a:t> is a function that maps an input instance to either:</a:t>
            </a:r>
            <a:endParaRPr sz="7000">
              <a:solidFill>
                <a:schemeClr val="dk1"/>
              </a:solidFill>
            </a:endParaRPr>
          </a:p>
          <a:p>
            <a:pPr indent="-415925" lvl="0" marL="609600" rtl="0" algn="l">
              <a:lnSpc>
                <a:spcPct val="100000"/>
              </a:lnSpc>
              <a:spcBef>
                <a:spcPts val="1600"/>
              </a:spcBef>
              <a:spcAft>
                <a:spcPts val="0"/>
              </a:spcAft>
              <a:buClr>
                <a:schemeClr val="dk1"/>
              </a:buClr>
              <a:buSzPct val="100000"/>
              <a:buChar char="●"/>
            </a:pPr>
            <a:r>
              <a:rPr b="1" lang="en-IN" sz="7000">
                <a:solidFill>
                  <a:schemeClr val="dk1"/>
                </a:solidFill>
              </a:rPr>
              <a:t>Positive (Yes / True)</a:t>
            </a:r>
            <a:br>
              <a:rPr b="1" lang="en-IN" sz="7000">
                <a:solidFill>
                  <a:schemeClr val="dk1"/>
                </a:solidFill>
              </a:rPr>
            </a:br>
            <a:endParaRPr b="1" sz="7000">
              <a:solidFill>
                <a:schemeClr val="dk1"/>
              </a:solidFill>
            </a:endParaRPr>
          </a:p>
          <a:p>
            <a:pPr indent="-415925" lvl="0" marL="609600" rtl="0" algn="l">
              <a:lnSpc>
                <a:spcPct val="100000"/>
              </a:lnSpc>
              <a:spcBef>
                <a:spcPts val="0"/>
              </a:spcBef>
              <a:spcAft>
                <a:spcPts val="0"/>
              </a:spcAft>
              <a:buClr>
                <a:schemeClr val="dk1"/>
              </a:buClr>
              <a:buSzPct val="100000"/>
              <a:buChar char="●"/>
            </a:pPr>
            <a:r>
              <a:rPr b="1" lang="en-IN" sz="7000">
                <a:solidFill>
                  <a:schemeClr val="dk1"/>
                </a:solidFill>
              </a:rPr>
              <a:t>Negative (No / False)</a:t>
            </a:r>
            <a:endParaRPr b="1" sz="7000">
              <a:solidFill>
                <a:schemeClr val="dk1"/>
              </a:solidFill>
            </a:endParaRPr>
          </a:p>
          <a:p>
            <a:pPr indent="0" lvl="0" marL="0" rtl="0" algn="l">
              <a:spcBef>
                <a:spcPts val="1600"/>
              </a:spcBef>
              <a:spcAft>
                <a:spcPts val="0"/>
              </a:spcAft>
              <a:buNone/>
            </a:pPr>
            <a:r>
              <a:rPr b="1" lang="en-IN" sz="7000">
                <a:solidFill>
                  <a:srgbClr val="980000"/>
                </a:solidFill>
              </a:rPr>
              <a:t>Instance/sample:</a:t>
            </a:r>
            <a:endParaRPr b="1" sz="7000">
              <a:solidFill>
                <a:srgbClr val="980000"/>
              </a:solidFill>
            </a:endParaRPr>
          </a:p>
          <a:p>
            <a:pPr indent="0" lvl="0" marL="0" rtl="0" algn="l">
              <a:spcBef>
                <a:spcPts val="1600"/>
              </a:spcBef>
              <a:spcAft>
                <a:spcPts val="0"/>
              </a:spcAft>
              <a:buNone/>
            </a:pPr>
            <a:r>
              <a:rPr lang="en-IN" sz="7000">
                <a:solidFill>
                  <a:schemeClr val="dk1"/>
                </a:solidFill>
              </a:rPr>
              <a:t>An individual example described by attributes.</a:t>
            </a:r>
            <a:endParaRPr sz="7000">
              <a:solidFill>
                <a:schemeClr val="dk1"/>
              </a:solidFill>
            </a:endParaRPr>
          </a:p>
          <a:p>
            <a:pPr indent="0" lvl="0" marL="0" rtl="0" algn="l">
              <a:spcBef>
                <a:spcPts val="1600"/>
              </a:spcBef>
              <a:spcAft>
                <a:spcPts val="0"/>
              </a:spcAft>
              <a:buNone/>
            </a:pPr>
            <a:r>
              <a:rPr lang="en-IN" sz="7000">
                <a:solidFill>
                  <a:srgbClr val="FF0000"/>
                </a:solidFill>
              </a:rPr>
              <a:t>Example </a:t>
            </a:r>
            <a:r>
              <a:rPr lang="en-IN" sz="7000">
                <a:solidFill>
                  <a:schemeClr val="dk1"/>
                </a:solidFill>
              </a:rPr>
              <a:t>(Weather dataset):  </a:t>
            </a:r>
            <a:r>
              <a:rPr lang="en-IN" sz="7000">
                <a:solidFill>
                  <a:srgbClr val="FF0000"/>
                </a:solidFill>
              </a:rPr>
              <a:t>Each row = </a:t>
            </a:r>
            <a:r>
              <a:rPr b="1" lang="en-IN" sz="7000">
                <a:solidFill>
                  <a:srgbClr val="FF0000"/>
                </a:solidFill>
              </a:rPr>
              <a:t>Instance</a:t>
            </a:r>
            <a:endParaRPr sz="7000">
              <a:solidFill>
                <a:srgbClr val="FF0000"/>
              </a:solidFill>
            </a:endParaRPr>
          </a:p>
          <a:p>
            <a:pPr indent="0" lvl="0" marL="0" rtl="0" algn="l">
              <a:spcBef>
                <a:spcPts val="1600"/>
              </a:spcBef>
              <a:spcAft>
                <a:spcPts val="0"/>
              </a:spcAft>
              <a:buNone/>
            </a:pPr>
            <a:r>
              <a:t/>
            </a:r>
            <a:endParaRPr sz="1900">
              <a:solidFill>
                <a:schemeClr val="dk1"/>
              </a:solidFill>
            </a:endParaRPr>
          </a:p>
          <a:p>
            <a:pPr indent="0" lvl="0" marL="0" rtl="0" algn="just">
              <a:spcBef>
                <a:spcPts val="1600"/>
              </a:spcBef>
              <a:spcAft>
                <a:spcPts val="0"/>
              </a:spcAft>
              <a:buNone/>
            </a:pPr>
            <a:r>
              <a:t/>
            </a:r>
            <a:endParaRPr b="1" sz="1900">
              <a:solidFill>
                <a:srgbClr val="980000"/>
              </a:solidFill>
            </a:endParaRPr>
          </a:p>
        </p:txBody>
      </p:sp>
      <p:pic>
        <p:nvPicPr>
          <p:cNvPr id="321" name="Google Shape;321;h579826f69ffc8371_0_62"/>
          <p:cNvPicPr preferRelativeResize="0"/>
          <p:nvPr/>
        </p:nvPicPr>
        <p:blipFill>
          <a:blip r:embed="rId3">
            <a:alphaModFix/>
          </a:blip>
          <a:stretch>
            <a:fillRect/>
          </a:stretch>
        </p:blipFill>
        <p:spPr>
          <a:xfrm>
            <a:off x="4536733" y="2880600"/>
            <a:ext cx="2044700" cy="635000"/>
          </a:xfrm>
          <a:prstGeom prst="rect">
            <a:avLst/>
          </a:prstGeom>
          <a:noFill/>
          <a:ln>
            <a:noFill/>
          </a:ln>
        </p:spPr>
      </p:pic>
      <p:pic>
        <p:nvPicPr>
          <p:cNvPr id="322" name="Google Shape;322;h579826f69ffc8371_0_62"/>
          <p:cNvPicPr preferRelativeResize="0"/>
          <p:nvPr/>
        </p:nvPicPr>
        <p:blipFill>
          <a:blip r:embed="rId4">
            <a:alphaModFix/>
          </a:blip>
          <a:stretch>
            <a:fillRect/>
          </a:stretch>
        </p:blipFill>
        <p:spPr>
          <a:xfrm>
            <a:off x="2289900" y="4913033"/>
            <a:ext cx="6832600" cy="1854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h579826f69ffc8371_0_69"/>
          <p:cNvSpPr txBox="1"/>
          <p:nvPr>
            <p:ph idx="1" type="body"/>
          </p:nvPr>
        </p:nvSpPr>
        <p:spPr>
          <a:xfrm>
            <a:off x="155933" y="453800"/>
            <a:ext cx="5535600" cy="4555200"/>
          </a:xfrm>
          <a:prstGeom prst="rect">
            <a:avLst/>
          </a:prstGeom>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dk1"/>
              </a:buClr>
              <a:buSzPts val="1500"/>
              <a:buFont typeface="Arial"/>
              <a:buNone/>
            </a:pPr>
            <a:r>
              <a:rPr b="1" lang="en-IN" sz="1900">
                <a:solidFill>
                  <a:srgbClr val="FF0000"/>
                </a:solidFill>
              </a:rPr>
              <a:t>Attribute</a:t>
            </a:r>
            <a:endParaRPr b="1" sz="1900">
              <a:solidFill>
                <a:srgbClr val="FF0000"/>
              </a:solidFill>
            </a:endParaRPr>
          </a:p>
          <a:p>
            <a:pPr indent="0" lvl="0" marL="0" rtl="0" algn="l">
              <a:lnSpc>
                <a:spcPct val="100000"/>
              </a:lnSpc>
              <a:spcBef>
                <a:spcPts val="0"/>
              </a:spcBef>
              <a:spcAft>
                <a:spcPts val="0"/>
              </a:spcAft>
              <a:buClr>
                <a:schemeClr val="dk1"/>
              </a:buClr>
              <a:buSzPts val="1500"/>
              <a:buFont typeface="Arial"/>
              <a:buNone/>
            </a:pPr>
            <a:r>
              <a:rPr lang="en-IN" sz="1900">
                <a:solidFill>
                  <a:schemeClr val="dk1"/>
                </a:solidFill>
              </a:rPr>
              <a:t>A property used to describe an instance.</a:t>
            </a:r>
            <a:endParaRPr sz="1900">
              <a:solidFill>
                <a:schemeClr val="dk1"/>
              </a:solidFill>
            </a:endParaRPr>
          </a:p>
          <a:p>
            <a:pPr indent="0" lvl="0" marL="0" rtl="0" algn="l">
              <a:lnSpc>
                <a:spcPct val="100000"/>
              </a:lnSpc>
              <a:spcBef>
                <a:spcPts val="0"/>
              </a:spcBef>
              <a:spcAft>
                <a:spcPts val="0"/>
              </a:spcAft>
              <a:buClr>
                <a:schemeClr val="dk1"/>
              </a:buClr>
              <a:buSzPts val="1500"/>
              <a:buFont typeface="Arial"/>
              <a:buNone/>
            </a:pPr>
            <a:r>
              <a:rPr lang="en-IN" sz="1900">
                <a:solidFill>
                  <a:schemeClr val="dk1"/>
                </a:solidFill>
              </a:rPr>
              <a:t>Example:</a:t>
            </a:r>
            <a:endParaRPr sz="1900">
              <a:solidFill>
                <a:schemeClr val="dk1"/>
              </a:solidFill>
            </a:endParaRPr>
          </a:p>
          <a:p>
            <a:pPr indent="-425450" lvl="0" marL="609600" rtl="0" algn="l">
              <a:lnSpc>
                <a:spcPct val="100000"/>
              </a:lnSpc>
              <a:spcBef>
                <a:spcPts val="0"/>
              </a:spcBef>
              <a:spcAft>
                <a:spcPts val="0"/>
              </a:spcAft>
              <a:buClr>
                <a:schemeClr val="dk1"/>
              </a:buClr>
              <a:buSzPts val="1900"/>
              <a:buChar char="●"/>
            </a:pPr>
            <a:r>
              <a:rPr lang="en-IN" sz="1900">
                <a:solidFill>
                  <a:schemeClr val="dk1"/>
                </a:solidFill>
              </a:rPr>
              <a:t>Sky</a:t>
            </a:r>
            <a:endParaRPr sz="1900">
              <a:solidFill>
                <a:schemeClr val="dk1"/>
              </a:solidFill>
            </a:endParaRPr>
          </a:p>
          <a:p>
            <a:pPr indent="-425450" lvl="0" marL="609600" rtl="0" algn="l">
              <a:lnSpc>
                <a:spcPct val="100000"/>
              </a:lnSpc>
              <a:spcBef>
                <a:spcPts val="0"/>
              </a:spcBef>
              <a:spcAft>
                <a:spcPts val="0"/>
              </a:spcAft>
              <a:buClr>
                <a:schemeClr val="dk1"/>
              </a:buClr>
              <a:buSzPts val="1900"/>
              <a:buChar char="●"/>
            </a:pPr>
            <a:r>
              <a:rPr lang="en-IN" sz="1900">
                <a:solidFill>
                  <a:schemeClr val="dk1"/>
                </a:solidFill>
              </a:rPr>
              <a:t>Temperature</a:t>
            </a:r>
            <a:endParaRPr sz="1900">
              <a:solidFill>
                <a:schemeClr val="dk1"/>
              </a:solidFill>
            </a:endParaRPr>
          </a:p>
          <a:p>
            <a:pPr indent="-425450" lvl="0" marL="609600" rtl="0" algn="l">
              <a:lnSpc>
                <a:spcPct val="100000"/>
              </a:lnSpc>
              <a:spcBef>
                <a:spcPts val="0"/>
              </a:spcBef>
              <a:spcAft>
                <a:spcPts val="0"/>
              </a:spcAft>
              <a:buClr>
                <a:schemeClr val="dk1"/>
              </a:buClr>
              <a:buSzPts val="1900"/>
              <a:buChar char="●"/>
            </a:pPr>
            <a:r>
              <a:rPr lang="en-IN" sz="1900">
                <a:solidFill>
                  <a:schemeClr val="dk1"/>
                </a:solidFill>
              </a:rPr>
              <a:t>Humidity</a:t>
            </a:r>
            <a:endParaRPr sz="1900">
              <a:solidFill>
                <a:schemeClr val="dk1"/>
              </a:solidFill>
            </a:endParaRPr>
          </a:p>
          <a:p>
            <a:pPr indent="-425450" lvl="0" marL="609600" rtl="0" algn="l">
              <a:lnSpc>
                <a:spcPct val="100000"/>
              </a:lnSpc>
              <a:spcBef>
                <a:spcPts val="0"/>
              </a:spcBef>
              <a:spcAft>
                <a:spcPts val="0"/>
              </a:spcAft>
              <a:buClr>
                <a:schemeClr val="dk1"/>
              </a:buClr>
              <a:buSzPts val="1900"/>
              <a:buChar char="●"/>
            </a:pPr>
            <a:r>
              <a:rPr lang="en-IN" sz="1900">
                <a:solidFill>
                  <a:schemeClr val="dk1"/>
                </a:solidFill>
              </a:rPr>
              <a:t>Wind</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rPr b="1" lang="en-IN" sz="1900">
                <a:solidFill>
                  <a:srgbClr val="FF0000"/>
                </a:solidFill>
              </a:rPr>
              <a:t>Hypothesis</a:t>
            </a:r>
            <a:endParaRPr b="1" sz="1900">
              <a:solidFill>
                <a:srgbClr val="FF0000"/>
              </a:solidFill>
            </a:endParaRPr>
          </a:p>
          <a:p>
            <a:pPr indent="0" lvl="0" marL="0" rtl="0" algn="l">
              <a:lnSpc>
                <a:spcPct val="100000"/>
              </a:lnSpc>
              <a:spcBef>
                <a:spcPts val="0"/>
              </a:spcBef>
              <a:spcAft>
                <a:spcPts val="0"/>
              </a:spcAft>
              <a:buNone/>
            </a:pPr>
            <a:r>
              <a:rPr lang="en-IN" sz="1900">
                <a:solidFill>
                  <a:schemeClr val="dk1"/>
                </a:solidFill>
              </a:rPr>
              <a:t>A candidate rule that classifies instances as positive or negative.</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Example:</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If Sky = Sunny AND Temp = Warm → Play = Yes</a:t>
            </a:r>
            <a:endParaRPr sz="1900">
              <a:solidFill>
                <a:schemeClr val="dk1"/>
              </a:solidFill>
            </a:endParaRPr>
          </a:p>
          <a:p>
            <a:pPr indent="0" lvl="0" marL="0" rtl="0" algn="l">
              <a:lnSpc>
                <a:spcPct val="100000"/>
              </a:lnSpc>
              <a:spcBef>
                <a:spcPts val="0"/>
              </a:spcBef>
              <a:spcAft>
                <a:spcPts val="0"/>
              </a:spcAft>
              <a:buClr>
                <a:schemeClr val="dk1"/>
              </a:buClr>
              <a:buSzPts val="1500"/>
              <a:buFont typeface="Arial"/>
              <a:buNone/>
            </a:pPr>
            <a:r>
              <a:t/>
            </a:r>
            <a:endParaRPr sz="1900">
              <a:solidFill>
                <a:schemeClr val="dk1"/>
              </a:solidFill>
            </a:endParaRPr>
          </a:p>
          <a:p>
            <a:pPr indent="0" lvl="0" marL="0" rtl="0" algn="l">
              <a:lnSpc>
                <a:spcPct val="100000"/>
              </a:lnSpc>
              <a:spcBef>
                <a:spcPts val="0"/>
              </a:spcBef>
              <a:spcAft>
                <a:spcPts val="0"/>
              </a:spcAft>
              <a:buNone/>
            </a:pPr>
            <a:r>
              <a:t/>
            </a:r>
            <a:endParaRPr b="1" sz="1900"/>
          </a:p>
        </p:txBody>
      </p:sp>
      <p:sp>
        <p:nvSpPr>
          <p:cNvPr id="328" name="Google Shape;328;h579826f69ffc8371_0_69"/>
          <p:cNvSpPr txBox="1"/>
          <p:nvPr/>
        </p:nvSpPr>
        <p:spPr>
          <a:xfrm>
            <a:off x="5604800" y="280533"/>
            <a:ext cx="6656100" cy="2293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IN" sz="1900">
                <a:solidFill>
                  <a:srgbClr val="FF0000"/>
                </a:solidFill>
              </a:rPr>
              <a:t>Hypothesis Space (H)</a:t>
            </a:r>
            <a:endParaRPr b="1" sz="1900">
              <a:solidFill>
                <a:srgbClr val="FF0000"/>
              </a:solidFill>
            </a:endParaRPr>
          </a:p>
          <a:p>
            <a:pPr indent="0" lvl="0" marL="0" rtl="0" algn="l">
              <a:spcBef>
                <a:spcPts val="0"/>
              </a:spcBef>
              <a:spcAft>
                <a:spcPts val="0"/>
              </a:spcAft>
              <a:buNone/>
            </a:pPr>
            <a:r>
              <a:rPr lang="en-IN" sz="1900">
                <a:solidFill>
                  <a:schemeClr val="dk1"/>
                </a:solidFill>
              </a:rPr>
              <a:t>The set of all possible hypotheses that can be formed using.</a:t>
            </a:r>
            <a:endParaRPr sz="1900">
              <a:solidFill>
                <a:schemeClr val="dk1"/>
              </a:solidFill>
            </a:endParaRPr>
          </a:p>
          <a:p>
            <a:pPr indent="-425450" lvl="0" marL="609600" rtl="0" algn="l">
              <a:spcBef>
                <a:spcPts val="0"/>
              </a:spcBef>
              <a:spcAft>
                <a:spcPts val="0"/>
              </a:spcAft>
              <a:buClr>
                <a:srgbClr val="9900FF"/>
              </a:buClr>
              <a:buSzPts val="1900"/>
              <a:buChar char="●"/>
            </a:pPr>
            <a:r>
              <a:rPr b="1" lang="en-IN" sz="1900">
                <a:solidFill>
                  <a:srgbClr val="9900FF"/>
                </a:solidFill>
              </a:rPr>
              <a:t>Specific values</a:t>
            </a:r>
            <a:endParaRPr b="1" sz="1900">
              <a:solidFill>
                <a:srgbClr val="9900FF"/>
              </a:solidFill>
            </a:endParaRPr>
          </a:p>
          <a:p>
            <a:pPr indent="-425450" lvl="0" marL="609600" rtl="0" algn="l">
              <a:spcBef>
                <a:spcPts val="0"/>
              </a:spcBef>
              <a:spcAft>
                <a:spcPts val="0"/>
              </a:spcAft>
              <a:buClr>
                <a:srgbClr val="9900FF"/>
              </a:buClr>
              <a:buSzPts val="1900"/>
              <a:buChar char="●"/>
            </a:pPr>
            <a:r>
              <a:rPr b="1" lang="en-IN" sz="1900">
                <a:solidFill>
                  <a:srgbClr val="9900FF"/>
                </a:solidFill>
              </a:rPr>
              <a:t>General value (?)</a:t>
            </a:r>
            <a:endParaRPr b="1" sz="1900">
              <a:solidFill>
                <a:srgbClr val="9900FF"/>
              </a:solidFill>
            </a:endParaRPr>
          </a:p>
          <a:p>
            <a:pPr indent="-425450" lvl="0" marL="609600" rtl="0" algn="l">
              <a:spcBef>
                <a:spcPts val="0"/>
              </a:spcBef>
              <a:spcAft>
                <a:spcPts val="0"/>
              </a:spcAft>
              <a:buClr>
                <a:srgbClr val="9900FF"/>
              </a:buClr>
              <a:buSzPts val="1900"/>
              <a:buChar char="●"/>
            </a:pPr>
            <a:r>
              <a:rPr b="1" lang="en-IN" sz="1900">
                <a:solidFill>
                  <a:srgbClr val="9900FF"/>
                </a:solidFill>
              </a:rPr>
              <a:t>No value (Ø)</a:t>
            </a:r>
            <a:endParaRPr b="1" sz="1900">
              <a:solidFill>
                <a:srgbClr val="9900FF"/>
              </a:solidFill>
            </a:endParaRPr>
          </a:p>
          <a:p>
            <a:pPr indent="0" lvl="0" marL="0" rtl="0" algn="l">
              <a:spcBef>
                <a:spcPts val="0"/>
              </a:spcBef>
              <a:spcAft>
                <a:spcPts val="0"/>
              </a:spcAft>
              <a:buNone/>
            </a:pPr>
            <a:r>
              <a:rPr lang="en-IN" sz="1900">
                <a:solidFill>
                  <a:schemeClr val="dk1"/>
                </a:solidFill>
              </a:rPr>
              <a:t>Then the hypothesis space contains all combinations.</a:t>
            </a:r>
            <a:endParaRPr sz="1900"/>
          </a:p>
        </p:txBody>
      </p:sp>
      <p:sp>
        <p:nvSpPr>
          <p:cNvPr id="329" name="Google Shape;329;h579826f69ffc8371_0_69"/>
          <p:cNvSpPr txBox="1"/>
          <p:nvPr/>
        </p:nvSpPr>
        <p:spPr>
          <a:xfrm>
            <a:off x="5691533" y="2693833"/>
            <a:ext cx="6500400" cy="3755700"/>
          </a:xfrm>
          <a:prstGeom prst="rect">
            <a:avLst/>
          </a:prstGeom>
          <a:noFill/>
          <a:ln>
            <a:noFill/>
          </a:ln>
        </p:spPr>
        <p:txBody>
          <a:bodyPr anchorCtr="0" anchor="t" bIns="121900" lIns="121900" spcFirstLastPara="1" rIns="121900" wrap="square" tIns="121900">
            <a:spAutoFit/>
          </a:bodyPr>
          <a:lstStyle/>
          <a:p>
            <a:pPr indent="0" lvl="0" marL="0" rtl="0" algn="l">
              <a:lnSpc>
                <a:spcPct val="100000"/>
              </a:lnSpc>
              <a:spcBef>
                <a:spcPts val="0"/>
              </a:spcBef>
              <a:spcAft>
                <a:spcPts val="0"/>
              </a:spcAft>
              <a:buNone/>
            </a:pPr>
            <a:r>
              <a:rPr b="1" lang="en-IN" sz="1900">
                <a:solidFill>
                  <a:srgbClr val="FF0000"/>
                </a:solidFill>
              </a:rPr>
              <a:t>Goal of Concept Learning</a:t>
            </a:r>
            <a:endParaRPr b="1" sz="1900">
              <a:solidFill>
                <a:srgbClr val="FF0000"/>
              </a:solidFill>
            </a:endParaRPr>
          </a:p>
          <a:p>
            <a:pPr indent="0" lvl="0" marL="0" rtl="0" algn="l">
              <a:lnSpc>
                <a:spcPct val="100000"/>
              </a:lnSpc>
              <a:spcBef>
                <a:spcPts val="0"/>
              </a:spcBef>
              <a:spcAft>
                <a:spcPts val="0"/>
              </a:spcAft>
              <a:buNone/>
            </a:pPr>
            <a:r>
              <a:rPr lang="en-IN" sz="1900">
                <a:solidFill>
                  <a:schemeClr val="dk1"/>
                </a:solidFill>
              </a:rPr>
              <a:t>Given:</a:t>
            </a:r>
            <a:endParaRPr sz="1900">
              <a:solidFill>
                <a:schemeClr val="dk1"/>
              </a:solidFill>
            </a:endParaRPr>
          </a:p>
          <a:p>
            <a:pPr indent="-425450" lvl="0" marL="609600" rtl="0" algn="l">
              <a:lnSpc>
                <a:spcPct val="100000"/>
              </a:lnSpc>
              <a:spcBef>
                <a:spcPts val="0"/>
              </a:spcBef>
              <a:spcAft>
                <a:spcPts val="0"/>
              </a:spcAft>
              <a:buClr>
                <a:schemeClr val="dk1"/>
              </a:buClr>
              <a:buSzPts val="1900"/>
              <a:buChar char="●"/>
            </a:pPr>
            <a:r>
              <a:rPr lang="en-IN" sz="1900">
                <a:solidFill>
                  <a:schemeClr val="dk1"/>
                </a:solidFill>
              </a:rPr>
              <a:t>A set of training examples</a:t>
            </a:r>
            <a:endParaRPr sz="1900">
              <a:solidFill>
                <a:schemeClr val="dk1"/>
              </a:solidFill>
            </a:endParaRPr>
          </a:p>
          <a:p>
            <a:pPr indent="-425450" lvl="0" marL="609600" rtl="0" algn="l">
              <a:lnSpc>
                <a:spcPct val="100000"/>
              </a:lnSpc>
              <a:spcBef>
                <a:spcPts val="0"/>
              </a:spcBef>
              <a:spcAft>
                <a:spcPts val="0"/>
              </a:spcAft>
              <a:buClr>
                <a:schemeClr val="dk1"/>
              </a:buClr>
              <a:buSzPts val="1900"/>
              <a:buChar char="●"/>
            </a:pPr>
            <a:r>
              <a:rPr lang="en-IN" sz="1900">
                <a:solidFill>
                  <a:schemeClr val="dk1"/>
                </a:solidFill>
              </a:rPr>
              <a:t>Each labeled as Positive or Negative</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Find a hypothesis </a:t>
            </a:r>
            <a:r>
              <a:rPr lang="en-IN" sz="1900">
                <a:solidFill>
                  <a:srgbClr val="188038"/>
                </a:solidFill>
                <a:latin typeface="Roboto Mono"/>
                <a:ea typeface="Roboto Mono"/>
                <a:cs typeface="Roboto Mono"/>
                <a:sym typeface="Roboto Mono"/>
              </a:rPr>
              <a:t>h</a:t>
            </a:r>
            <a:r>
              <a:rPr lang="en-IN" sz="1900">
                <a:solidFill>
                  <a:schemeClr val="dk1"/>
                </a:solidFill>
              </a:rPr>
              <a:t> such that:</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                 </a:t>
            </a:r>
            <a:r>
              <a:rPr lang="en-IN" sz="1900">
                <a:solidFill>
                  <a:srgbClr val="FF0000"/>
                </a:solidFill>
              </a:rPr>
              <a:t>h(x)=c(x) </a:t>
            </a:r>
            <a:endParaRPr sz="1900">
              <a:solidFill>
                <a:srgbClr val="FF0000"/>
              </a:solidFill>
            </a:endParaRPr>
          </a:p>
          <a:p>
            <a:pPr indent="0" lvl="0" marL="0" rtl="0" algn="l">
              <a:lnSpc>
                <a:spcPct val="100000"/>
              </a:lnSpc>
              <a:spcBef>
                <a:spcPts val="0"/>
              </a:spcBef>
              <a:spcAft>
                <a:spcPts val="0"/>
              </a:spcAft>
              <a:buNone/>
            </a:pPr>
            <a:r>
              <a:rPr lang="en-IN" sz="1900">
                <a:solidFill>
                  <a:schemeClr val="dk1"/>
                </a:solidFill>
              </a:rPr>
              <a:t>for all training examples </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That means:</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The hypothesis should correctly classify all training data.</a:t>
            </a:r>
            <a:br>
              <a:rPr lang="en-IN" sz="1900">
                <a:solidFill>
                  <a:schemeClr val="dk1"/>
                </a:solidFill>
              </a:rPr>
            </a:br>
            <a:endParaRPr sz="19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h579826f69ffc8371_0_75"/>
          <p:cNvSpPr txBox="1"/>
          <p:nvPr>
            <p:ph type="title"/>
          </p:nvPr>
        </p:nvSpPr>
        <p:spPr>
          <a:xfrm>
            <a:off x="497733" y="376800"/>
            <a:ext cx="11344500" cy="763500"/>
          </a:xfrm>
          <a:prstGeom prst="rect">
            <a:avLst/>
          </a:prstGeom>
        </p:spPr>
        <p:txBody>
          <a:bodyPr anchorCtr="0" anchor="t" bIns="121900" lIns="121900" spcFirstLastPara="1" rIns="121900" wrap="square" tIns="121900">
            <a:noAutofit/>
          </a:bodyPr>
          <a:lstStyle/>
          <a:p>
            <a:pPr indent="0" lvl="0" marL="0" rtl="0" algn="l">
              <a:lnSpc>
                <a:spcPct val="115000"/>
              </a:lnSpc>
              <a:spcBef>
                <a:spcPts val="1600"/>
              </a:spcBef>
              <a:spcAft>
                <a:spcPts val="0"/>
              </a:spcAft>
              <a:buClr>
                <a:schemeClr val="dk1"/>
              </a:buClr>
              <a:buSzPts val="1500"/>
              <a:buFont typeface="Arial"/>
              <a:buNone/>
            </a:pPr>
            <a:r>
              <a:rPr b="1" lang="en-IN" sz="1900">
                <a:solidFill>
                  <a:srgbClr val="980000"/>
                </a:solidFill>
              </a:rPr>
              <a:t>Example</a:t>
            </a:r>
            <a:r>
              <a:rPr lang="en-IN" sz="1900"/>
              <a:t>: Suppose we want to learn the concept: </a:t>
            </a:r>
            <a:r>
              <a:rPr lang="en-IN" sz="1900">
                <a:solidFill>
                  <a:srgbClr val="FF0000"/>
                </a:solidFill>
              </a:rPr>
              <a:t>Days suitable for playing tennis”</a:t>
            </a:r>
            <a:endParaRPr sz="1900">
              <a:solidFill>
                <a:srgbClr val="FF0000"/>
              </a:solidFill>
            </a:endParaRPr>
          </a:p>
          <a:p>
            <a:pPr indent="0" lvl="0" marL="0" rtl="0" algn="l">
              <a:spcBef>
                <a:spcPts val="1600"/>
              </a:spcBef>
              <a:spcAft>
                <a:spcPts val="0"/>
              </a:spcAft>
              <a:buNone/>
            </a:pPr>
            <a:r>
              <a:t/>
            </a:r>
            <a:endParaRPr sz="1900"/>
          </a:p>
        </p:txBody>
      </p:sp>
      <p:sp>
        <p:nvSpPr>
          <p:cNvPr id="335" name="Google Shape;335;h579826f69ffc8371_0_75"/>
          <p:cNvSpPr txBox="1"/>
          <p:nvPr/>
        </p:nvSpPr>
        <p:spPr>
          <a:xfrm>
            <a:off x="5530800" y="1762200"/>
            <a:ext cx="5177700" cy="1123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IN" sz="1900"/>
              <a:t>The learning task is to find a rule like:</a:t>
            </a:r>
            <a:endParaRPr sz="1900"/>
          </a:p>
          <a:p>
            <a:pPr indent="0" lvl="0" marL="0" rtl="0" algn="l">
              <a:spcBef>
                <a:spcPts val="0"/>
              </a:spcBef>
              <a:spcAft>
                <a:spcPts val="0"/>
              </a:spcAft>
              <a:buClr>
                <a:schemeClr val="dk1"/>
              </a:buClr>
              <a:buSzPts val="1500"/>
              <a:buFont typeface="Arial"/>
              <a:buNone/>
            </a:pPr>
            <a:r>
              <a:rPr lang="en-IN" sz="1900">
                <a:solidFill>
                  <a:srgbClr val="FF0000"/>
                </a:solidFill>
              </a:rPr>
              <a:t>If Sky = Sunny AND Temp = Warm → Yes</a:t>
            </a:r>
            <a:endParaRPr sz="1900">
              <a:solidFill>
                <a:srgbClr val="FF0000"/>
              </a:solidFill>
            </a:endParaRPr>
          </a:p>
          <a:p>
            <a:pPr indent="0" lvl="0" marL="0" rtl="0" algn="l">
              <a:spcBef>
                <a:spcPts val="0"/>
              </a:spcBef>
              <a:spcAft>
                <a:spcPts val="0"/>
              </a:spcAft>
              <a:buNone/>
            </a:pPr>
            <a:r>
              <a:rPr lang="en-IN" sz="1900">
                <a:solidFill>
                  <a:srgbClr val="FF0000"/>
                </a:solidFill>
              </a:rPr>
              <a:t>Else → No</a:t>
            </a:r>
            <a:endParaRPr sz="1900">
              <a:solidFill>
                <a:srgbClr val="FF0000"/>
              </a:solidFill>
            </a:endParaRPr>
          </a:p>
        </p:txBody>
      </p:sp>
      <p:graphicFrame>
        <p:nvGraphicFramePr>
          <p:cNvPr id="336" name="Google Shape;336;h579826f69ffc8371_0_75"/>
          <p:cNvGraphicFramePr/>
          <p:nvPr/>
        </p:nvGraphicFramePr>
        <p:xfrm>
          <a:off x="708533" y="1021100"/>
          <a:ext cx="3000000" cy="3000000"/>
        </p:xfrm>
        <a:graphic>
          <a:graphicData uri="http://schemas.openxmlformats.org/drawingml/2006/table">
            <a:tbl>
              <a:tblPr>
                <a:noFill/>
                <a:tableStyleId>{A1DC05C0-68A9-4DE6-A59A-6872BC1DB4C4}</a:tableStyleId>
              </a:tblPr>
              <a:tblGrid>
                <a:gridCol w="1637900"/>
                <a:gridCol w="1561725"/>
                <a:gridCol w="1218900"/>
              </a:tblGrid>
              <a:tr h="254000">
                <a:tc>
                  <a:txBody>
                    <a:bodyPr/>
                    <a:lstStyle/>
                    <a:p>
                      <a:pPr indent="0" lvl="0" marL="0" rtl="0" algn="l">
                        <a:lnSpc>
                          <a:spcPct val="115000"/>
                        </a:lnSpc>
                        <a:spcBef>
                          <a:spcPts val="0"/>
                        </a:spcBef>
                        <a:spcAft>
                          <a:spcPts val="0"/>
                        </a:spcAft>
                        <a:buNone/>
                      </a:pPr>
                      <a:r>
                        <a:rPr b="1" lang="en-IN" sz="1500"/>
                        <a:t>Sky</a:t>
                      </a:r>
                      <a:endParaRPr b="1" sz="1500"/>
                    </a:p>
                  </a:txBody>
                  <a:tcPr marT="121900" marB="121900" marR="121900" marL="121900"/>
                </a:tc>
                <a:tc>
                  <a:txBody>
                    <a:bodyPr/>
                    <a:lstStyle/>
                    <a:p>
                      <a:pPr indent="0" lvl="0" marL="0" rtl="0" algn="l">
                        <a:lnSpc>
                          <a:spcPct val="115000"/>
                        </a:lnSpc>
                        <a:spcBef>
                          <a:spcPts val="0"/>
                        </a:spcBef>
                        <a:spcAft>
                          <a:spcPts val="0"/>
                        </a:spcAft>
                        <a:buNone/>
                      </a:pPr>
                      <a:r>
                        <a:rPr b="1" lang="en-IN" sz="1500"/>
                        <a:t>Temp</a:t>
                      </a:r>
                      <a:endParaRPr b="1" sz="1500"/>
                    </a:p>
                  </a:txBody>
                  <a:tcPr marT="121900" marB="121900" marR="121900" marL="121900"/>
                </a:tc>
                <a:tc>
                  <a:txBody>
                    <a:bodyPr/>
                    <a:lstStyle/>
                    <a:p>
                      <a:pPr indent="0" lvl="0" marL="0" rtl="0" algn="l">
                        <a:lnSpc>
                          <a:spcPct val="115000"/>
                        </a:lnSpc>
                        <a:spcBef>
                          <a:spcPts val="0"/>
                        </a:spcBef>
                        <a:spcAft>
                          <a:spcPts val="0"/>
                        </a:spcAft>
                        <a:buNone/>
                      </a:pPr>
                      <a:r>
                        <a:rPr b="1" lang="en-IN" sz="1500"/>
                        <a:t>Play</a:t>
                      </a:r>
                      <a:endParaRPr b="1" sz="1500"/>
                    </a:p>
                  </a:txBody>
                  <a:tcPr marT="121900" marB="121900" marR="121900" marL="121900"/>
                </a:tc>
              </a:tr>
              <a:tr h="254000">
                <a:tc>
                  <a:txBody>
                    <a:bodyPr/>
                    <a:lstStyle/>
                    <a:p>
                      <a:pPr indent="0" lvl="0" marL="0" rtl="0" algn="l">
                        <a:spcBef>
                          <a:spcPts val="0"/>
                        </a:spcBef>
                        <a:spcAft>
                          <a:spcPts val="0"/>
                        </a:spcAft>
                        <a:buNone/>
                      </a:pPr>
                      <a:r>
                        <a:rPr lang="en-IN" sz="1900"/>
                        <a:t>Sunny</a:t>
                      </a:r>
                      <a:endParaRPr sz="1900"/>
                    </a:p>
                  </a:txBody>
                  <a:tcPr marT="121900" marB="121900" marR="121900" marL="121900"/>
                </a:tc>
                <a:tc>
                  <a:txBody>
                    <a:bodyPr/>
                    <a:lstStyle/>
                    <a:p>
                      <a:pPr indent="0" lvl="0" marL="0" rtl="0" algn="l">
                        <a:spcBef>
                          <a:spcPts val="0"/>
                        </a:spcBef>
                        <a:spcAft>
                          <a:spcPts val="0"/>
                        </a:spcAft>
                        <a:buNone/>
                      </a:pPr>
                      <a:r>
                        <a:rPr lang="en-IN" sz="1900"/>
                        <a:t>Warm</a:t>
                      </a:r>
                      <a:endParaRPr sz="1900"/>
                    </a:p>
                  </a:txBody>
                  <a:tcPr marT="121900" marB="121900" marR="121900" marL="121900"/>
                </a:tc>
                <a:tc>
                  <a:txBody>
                    <a:bodyPr/>
                    <a:lstStyle/>
                    <a:p>
                      <a:pPr indent="0" lvl="0" marL="0" rtl="0" algn="l">
                        <a:spcBef>
                          <a:spcPts val="0"/>
                        </a:spcBef>
                        <a:spcAft>
                          <a:spcPts val="0"/>
                        </a:spcAft>
                        <a:buNone/>
                      </a:pPr>
                      <a:r>
                        <a:rPr lang="en-IN" sz="1900"/>
                        <a:t>Yes</a:t>
                      </a:r>
                      <a:endParaRPr sz="1900"/>
                    </a:p>
                  </a:txBody>
                  <a:tcPr marT="121900" marB="121900" marR="121900" marL="121900"/>
                </a:tc>
              </a:tr>
              <a:tr h="254000">
                <a:tc>
                  <a:txBody>
                    <a:bodyPr/>
                    <a:lstStyle/>
                    <a:p>
                      <a:pPr indent="0" lvl="0" marL="0" rtl="0" algn="l">
                        <a:spcBef>
                          <a:spcPts val="0"/>
                        </a:spcBef>
                        <a:spcAft>
                          <a:spcPts val="0"/>
                        </a:spcAft>
                        <a:buNone/>
                      </a:pPr>
                      <a:r>
                        <a:rPr lang="en-IN" sz="1900"/>
                        <a:t>Rainy</a:t>
                      </a:r>
                      <a:endParaRPr sz="1900"/>
                    </a:p>
                  </a:txBody>
                  <a:tcPr marT="121900" marB="121900" marR="121900" marL="121900"/>
                </a:tc>
                <a:tc>
                  <a:txBody>
                    <a:bodyPr/>
                    <a:lstStyle/>
                    <a:p>
                      <a:pPr indent="0" lvl="0" marL="0" rtl="0" algn="l">
                        <a:spcBef>
                          <a:spcPts val="0"/>
                        </a:spcBef>
                        <a:spcAft>
                          <a:spcPts val="0"/>
                        </a:spcAft>
                        <a:buNone/>
                      </a:pPr>
                      <a:r>
                        <a:rPr lang="en-IN" sz="1900"/>
                        <a:t>Cold</a:t>
                      </a:r>
                      <a:endParaRPr sz="1900"/>
                    </a:p>
                  </a:txBody>
                  <a:tcPr marT="121900" marB="121900" marR="121900" marL="121900"/>
                </a:tc>
                <a:tc>
                  <a:txBody>
                    <a:bodyPr/>
                    <a:lstStyle/>
                    <a:p>
                      <a:pPr indent="0" lvl="0" marL="0" rtl="0" algn="l">
                        <a:spcBef>
                          <a:spcPts val="0"/>
                        </a:spcBef>
                        <a:spcAft>
                          <a:spcPts val="0"/>
                        </a:spcAft>
                        <a:buNone/>
                      </a:pPr>
                      <a:r>
                        <a:rPr lang="en-IN" sz="1900"/>
                        <a:t>No</a:t>
                      </a:r>
                      <a:endParaRPr sz="1900"/>
                    </a:p>
                  </a:txBody>
                  <a:tcPr marT="121900" marB="121900" marR="121900" marL="121900"/>
                </a:tc>
              </a:tr>
              <a:tr h="254000">
                <a:tc>
                  <a:txBody>
                    <a:bodyPr/>
                    <a:lstStyle/>
                    <a:p>
                      <a:pPr indent="0" lvl="0" marL="0" rtl="0" algn="l">
                        <a:spcBef>
                          <a:spcPts val="0"/>
                        </a:spcBef>
                        <a:spcAft>
                          <a:spcPts val="0"/>
                        </a:spcAft>
                        <a:buNone/>
                      </a:pPr>
                      <a:r>
                        <a:rPr lang="en-IN" sz="1900"/>
                        <a:t>Sunny</a:t>
                      </a:r>
                      <a:endParaRPr sz="1900"/>
                    </a:p>
                  </a:txBody>
                  <a:tcPr marT="121900" marB="121900" marR="121900" marL="121900"/>
                </a:tc>
                <a:tc>
                  <a:txBody>
                    <a:bodyPr/>
                    <a:lstStyle/>
                    <a:p>
                      <a:pPr indent="0" lvl="0" marL="0" rtl="0" algn="l">
                        <a:spcBef>
                          <a:spcPts val="0"/>
                        </a:spcBef>
                        <a:spcAft>
                          <a:spcPts val="0"/>
                        </a:spcAft>
                        <a:buNone/>
                      </a:pPr>
                      <a:r>
                        <a:rPr lang="en-IN" sz="1900"/>
                        <a:t>Cold</a:t>
                      </a:r>
                      <a:endParaRPr sz="1900"/>
                    </a:p>
                  </a:txBody>
                  <a:tcPr marT="121900" marB="121900" marR="121900" marL="121900"/>
                </a:tc>
                <a:tc>
                  <a:txBody>
                    <a:bodyPr/>
                    <a:lstStyle/>
                    <a:p>
                      <a:pPr indent="0" lvl="0" marL="0" rtl="0" algn="l">
                        <a:spcBef>
                          <a:spcPts val="0"/>
                        </a:spcBef>
                        <a:spcAft>
                          <a:spcPts val="0"/>
                        </a:spcAft>
                        <a:buNone/>
                      </a:pPr>
                      <a:r>
                        <a:rPr lang="en-IN" sz="1900"/>
                        <a:t>No</a:t>
                      </a:r>
                      <a:endParaRPr sz="1900"/>
                    </a:p>
                  </a:txBody>
                  <a:tcPr marT="121900" marB="121900" marR="121900" marL="121900"/>
                </a:tc>
              </a:tr>
              <a:tr h="254000">
                <a:tc>
                  <a:txBody>
                    <a:bodyPr/>
                    <a:lstStyle/>
                    <a:p>
                      <a:pPr indent="0" lvl="0" marL="0" rtl="0" algn="l">
                        <a:spcBef>
                          <a:spcPts val="0"/>
                        </a:spcBef>
                        <a:spcAft>
                          <a:spcPts val="0"/>
                        </a:spcAft>
                        <a:buNone/>
                      </a:pPr>
                      <a:r>
                        <a:rPr lang="en-IN" sz="1900"/>
                        <a:t>Sunny</a:t>
                      </a:r>
                      <a:endParaRPr sz="1900"/>
                    </a:p>
                  </a:txBody>
                  <a:tcPr marT="121900" marB="121900" marR="121900" marL="121900"/>
                </a:tc>
                <a:tc>
                  <a:txBody>
                    <a:bodyPr/>
                    <a:lstStyle/>
                    <a:p>
                      <a:pPr indent="0" lvl="0" marL="0" rtl="0" algn="l">
                        <a:spcBef>
                          <a:spcPts val="0"/>
                        </a:spcBef>
                        <a:spcAft>
                          <a:spcPts val="0"/>
                        </a:spcAft>
                        <a:buNone/>
                      </a:pPr>
                      <a:r>
                        <a:rPr lang="en-IN" sz="1900"/>
                        <a:t>Warm</a:t>
                      </a:r>
                      <a:endParaRPr sz="1900"/>
                    </a:p>
                  </a:txBody>
                  <a:tcPr marT="121900" marB="121900" marR="121900" marL="121900"/>
                </a:tc>
                <a:tc>
                  <a:txBody>
                    <a:bodyPr/>
                    <a:lstStyle/>
                    <a:p>
                      <a:pPr indent="0" lvl="0" marL="0" rtl="0" algn="l">
                        <a:spcBef>
                          <a:spcPts val="0"/>
                        </a:spcBef>
                        <a:spcAft>
                          <a:spcPts val="0"/>
                        </a:spcAft>
                        <a:buNone/>
                      </a:pPr>
                      <a:r>
                        <a:rPr lang="en-IN" sz="1900"/>
                        <a:t>Yes</a:t>
                      </a:r>
                      <a:endParaRPr sz="1900"/>
                    </a:p>
                  </a:txBody>
                  <a:tcPr marT="121900" marB="121900" marR="121900" marL="121900"/>
                </a:tc>
              </a:tr>
            </a:tbl>
          </a:graphicData>
        </a:graphic>
      </p:graphicFrame>
      <p:sp>
        <p:nvSpPr>
          <p:cNvPr id="337" name="Google Shape;337;h579826f69ffc8371_0_75"/>
          <p:cNvSpPr txBox="1"/>
          <p:nvPr/>
        </p:nvSpPr>
        <p:spPr>
          <a:xfrm>
            <a:off x="1865367" y="4001600"/>
            <a:ext cx="8843100" cy="25431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IN" sz="1900">
                <a:solidFill>
                  <a:schemeClr val="dk1"/>
                </a:solidFill>
              </a:rPr>
              <a:t>Concept learning can be viewed as a </a:t>
            </a:r>
            <a:r>
              <a:rPr b="1" lang="en-IN" sz="1900">
                <a:solidFill>
                  <a:schemeClr val="dk1"/>
                </a:solidFill>
              </a:rPr>
              <a:t>search problem </a:t>
            </a:r>
            <a:endParaRPr b="1" sz="1900">
              <a:solidFill>
                <a:schemeClr val="dk1"/>
              </a:solidFill>
            </a:endParaRPr>
          </a:p>
          <a:p>
            <a:pPr indent="0" lvl="0" marL="0" rtl="0" algn="l">
              <a:spcBef>
                <a:spcPts val="0"/>
              </a:spcBef>
              <a:spcAft>
                <a:spcPts val="0"/>
              </a:spcAft>
              <a:buNone/>
            </a:pPr>
            <a:r>
              <a:rPr b="1" lang="en-IN" sz="1900">
                <a:solidFill>
                  <a:srgbClr val="FF0000"/>
                </a:solidFill>
              </a:rPr>
              <a:t>The search space = Hypothesis Space (H)</a:t>
            </a:r>
            <a:endParaRPr b="1" sz="1900">
              <a:solidFill>
                <a:srgbClr val="FF0000"/>
              </a:solidFill>
            </a:endParaRPr>
          </a:p>
          <a:p>
            <a:pPr indent="0" lvl="0" marL="0" rtl="0" algn="l">
              <a:lnSpc>
                <a:spcPct val="115000"/>
              </a:lnSpc>
              <a:spcBef>
                <a:spcPts val="1600"/>
              </a:spcBef>
              <a:spcAft>
                <a:spcPts val="0"/>
              </a:spcAft>
              <a:buClr>
                <a:schemeClr val="dk1"/>
              </a:buClr>
              <a:buSzPts val="1500"/>
              <a:buFont typeface="Arial"/>
              <a:buNone/>
            </a:pPr>
            <a:r>
              <a:rPr lang="en-IN" sz="1900">
                <a:solidFill>
                  <a:schemeClr val="dk1"/>
                </a:solidFill>
              </a:rPr>
              <a:t>Because:</a:t>
            </a:r>
            <a:endParaRPr sz="1900">
              <a:solidFill>
                <a:schemeClr val="dk1"/>
              </a:solidFill>
            </a:endParaRPr>
          </a:p>
          <a:p>
            <a:pPr indent="-425450" lvl="0" marL="609600" rtl="0" algn="l">
              <a:lnSpc>
                <a:spcPct val="115000"/>
              </a:lnSpc>
              <a:spcBef>
                <a:spcPts val="1600"/>
              </a:spcBef>
              <a:spcAft>
                <a:spcPts val="0"/>
              </a:spcAft>
              <a:buClr>
                <a:schemeClr val="dk1"/>
              </a:buClr>
              <a:buSzPts val="1900"/>
              <a:buChar char="●"/>
            </a:pPr>
            <a:r>
              <a:rPr lang="en-IN" sz="1900">
                <a:solidFill>
                  <a:schemeClr val="dk1"/>
                </a:solidFill>
              </a:rPr>
              <a:t>There are many possible hypotheses in H.</a:t>
            </a:r>
            <a:endParaRPr sz="1900">
              <a:solidFill>
                <a:schemeClr val="dk1"/>
              </a:solidFill>
            </a:endParaRPr>
          </a:p>
          <a:p>
            <a:pPr indent="-425450" lvl="0" marL="609600" rtl="0" algn="l">
              <a:lnSpc>
                <a:spcPct val="115000"/>
              </a:lnSpc>
              <a:spcBef>
                <a:spcPts val="0"/>
              </a:spcBef>
              <a:spcAft>
                <a:spcPts val="0"/>
              </a:spcAft>
              <a:buClr>
                <a:schemeClr val="dk1"/>
              </a:buClr>
              <a:buSzPts val="1900"/>
              <a:buChar char="●"/>
            </a:pPr>
            <a:r>
              <a:rPr lang="en-IN" sz="1900">
                <a:solidFill>
                  <a:schemeClr val="dk1"/>
                </a:solidFill>
              </a:rPr>
              <a:t>We must search through H</a:t>
            </a:r>
            <a:endParaRPr sz="1900">
              <a:solidFill>
                <a:schemeClr val="dk1"/>
              </a:solidFill>
            </a:endParaRPr>
          </a:p>
          <a:p>
            <a:pPr indent="-425450" lvl="0" marL="609600" rtl="0" algn="l">
              <a:lnSpc>
                <a:spcPct val="115000"/>
              </a:lnSpc>
              <a:spcBef>
                <a:spcPts val="0"/>
              </a:spcBef>
              <a:spcAft>
                <a:spcPts val="0"/>
              </a:spcAft>
              <a:buClr>
                <a:schemeClr val="dk1"/>
              </a:buClr>
              <a:buSzPts val="1900"/>
              <a:buChar char="●"/>
            </a:pPr>
            <a:r>
              <a:rPr lang="en-IN" sz="1900">
                <a:solidFill>
                  <a:schemeClr val="dk1"/>
                </a:solidFill>
              </a:rPr>
              <a:t>To find the hypothesis that best fits the training data.</a:t>
            </a:r>
            <a:endParaRPr sz="23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h579826f69ffc8371_0_82"/>
          <p:cNvSpPr txBox="1"/>
          <p:nvPr/>
        </p:nvSpPr>
        <p:spPr>
          <a:xfrm>
            <a:off x="45000" y="389833"/>
            <a:ext cx="12102000" cy="14166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1600"/>
              </a:spcBef>
              <a:spcAft>
                <a:spcPts val="0"/>
              </a:spcAft>
              <a:buNone/>
            </a:pPr>
            <a:r>
              <a:rPr lang="en-IN" sz="1900">
                <a:solidFill>
                  <a:srgbClr val="FF0000"/>
                </a:solidFill>
              </a:rPr>
              <a:t>Hypotheses can be ordered from:</a:t>
            </a:r>
            <a:endParaRPr sz="1900">
              <a:solidFill>
                <a:srgbClr val="FF0000"/>
              </a:solidFill>
            </a:endParaRPr>
          </a:p>
          <a:p>
            <a:pPr indent="-400050" lvl="0" marL="609600" rtl="0" algn="l">
              <a:lnSpc>
                <a:spcPct val="115000"/>
              </a:lnSpc>
              <a:spcBef>
                <a:spcPts val="1600"/>
              </a:spcBef>
              <a:spcAft>
                <a:spcPts val="0"/>
              </a:spcAft>
              <a:buClr>
                <a:schemeClr val="dk1"/>
              </a:buClr>
              <a:buSzPts val="1500"/>
              <a:buChar char="●"/>
            </a:pPr>
            <a:r>
              <a:rPr lang="en-IN" sz="1900"/>
              <a:t>Most General (accepts all instances)  &lt;?, ?&gt;</a:t>
            </a:r>
            <a:endParaRPr sz="1900"/>
          </a:p>
          <a:p>
            <a:pPr indent="-400050" lvl="0" marL="609600" rtl="0" algn="l">
              <a:lnSpc>
                <a:spcPct val="115000"/>
              </a:lnSpc>
              <a:spcBef>
                <a:spcPts val="0"/>
              </a:spcBef>
              <a:spcAft>
                <a:spcPts val="0"/>
              </a:spcAft>
              <a:buClr>
                <a:schemeClr val="dk1"/>
              </a:buClr>
              <a:buSzPts val="1500"/>
              <a:buChar char="●"/>
            </a:pPr>
            <a:r>
              <a:rPr lang="en-IN" sz="1900"/>
              <a:t>Most Specific (rejects all instances)  &lt;Ø, Ø&gt;</a:t>
            </a:r>
            <a:endParaRPr sz="1900"/>
          </a:p>
        </p:txBody>
      </p:sp>
      <p:sp>
        <p:nvSpPr>
          <p:cNvPr id="343" name="Google Shape;343;h579826f69ffc8371_0_82"/>
          <p:cNvSpPr txBox="1"/>
          <p:nvPr/>
        </p:nvSpPr>
        <p:spPr>
          <a:xfrm>
            <a:off x="173233" y="1660367"/>
            <a:ext cx="8246700" cy="18840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IN" sz="1900">
                <a:solidFill>
                  <a:schemeClr val="dk1"/>
                </a:solidFill>
              </a:rPr>
              <a:t>The Version Space is the subset of hypotheses that are:</a:t>
            </a:r>
            <a:endParaRPr sz="1900">
              <a:solidFill>
                <a:schemeClr val="dk1"/>
              </a:solidFill>
            </a:endParaRPr>
          </a:p>
          <a:p>
            <a:pPr indent="0" lvl="0" marL="0" rtl="0" algn="l">
              <a:lnSpc>
                <a:spcPct val="115000"/>
              </a:lnSpc>
              <a:spcBef>
                <a:spcPts val="0"/>
              </a:spcBef>
              <a:spcAft>
                <a:spcPts val="0"/>
              </a:spcAft>
              <a:buNone/>
            </a:pPr>
            <a:r>
              <a:rPr lang="en-IN" sz="1900">
                <a:solidFill>
                  <a:schemeClr val="dk1"/>
                </a:solidFill>
              </a:rPr>
              <a:t>✔ Consistent with all training examples.</a:t>
            </a:r>
            <a:endParaRPr sz="1900">
              <a:solidFill>
                <a:schemeClr val="dk1"/>
              </a:solidFill>
            </a:endParaRPr>
          </a:p>
          <a:p>
            <a:pPr indent="0" lvl="0" marL="0" rtl="0" algn="l">
              <a:lnSpc>
                <a:spcPct val="115000"/>
              </a:lnSpc>
              <a:spcBef>
                <a:spcPts val="0"/>
              </a:spcBef>
              <a:spcAft>
                <a:spcPts val="0"/>
              </a:spcAft>
              <a:buNone/>
            </a:pPr>
            <a:r>
              <a:rPr lang="en-IN" sz="1900">
                <a:solidFill>
                  <a:schemeClr val="dk1"/>
                </a:solidFill>
              </a:rPr>
              <a:t>It lies between:</a:t>
            </a:r>
            <a:endParaRPr sz="1900">
              <a:solidFill>
                <a:schemeClr val="dk1"/>
              </a:solidFill>
            </a:endParaRPr>
          </a:p>
          <a:p>
            <a:pPr indent="-425450" lvl="0" marL="609600" rtl="0" algn="l">
              <a:lnSpc>
                <a:spcPct val="115000"/>
              </a:lnSpc>
              <a:spcBef>
                <a:spcPts val="0"/>
              </a:spcBef>
              <a:spcAft>
                <a:spcPts val="0"/>
              </a:spcAft>
              <a:buClr>
                <a:schemeClr val="dk1"/>
              </a:buClr>
              <a:buSzPts val="1900"/>
              <a:buChar char="●"/>
            </a:pPr>
            <a:r>
              <a:rPr lang="en-IN" sz="1900">
                <a:solidFill>
                  <a:srgbClr val="FF0000"/>
                </a:solidFill>
              </a:rPr>
              <a:t>S boundary</a:t>
            </a:r>
            <a:r>
              <a:rPr lang="en-IN" sz="1900">
                <a:solidFill>
                  <a:schemeClr val="dk1"/>
                </a:solidFill>
              </a:rPr>
              <a:t> → Most specific hypothesis</a:t>
            </a:r>
            <a:endParaRPr sz="1900">
              <a:solidFill>
                <a:schemeClr val="dk1"/>
              </a:solidFill>
            </a:endParaRPr>
          </a:p>
          <a:p>
            <a:pPr indent="-425450" lvl="0" marL="609600" rtl="0" algn="l">
              <a:lnSpc>
                <a:spcPct val="115000"/>
              </a:lnSpc>
              <a:spcBef>
                <a:spcPts val="0"/>
              </a:spcBef>
              <a:spcAft>
                <a:spcPts val="0"/>
              </a:spcAft>
              <a:buClr>
                <a:schemeClr val="dk1"/>
              </a:buClr>
              <a:buSzPts val="1900"/>
              <a:buChar char="●"/>
            </a:pPr>
            <a:r>
              <a:rPr lang="en-IN" sz="1900">
                <a:solidFill>
                  <a:srgbClr val="FF0000"/>
                </a:solidFill>
              </a:rPr>
              <a:t>G boundary</a:t>
            </a:r>
            <a:r>
              <a:rPr lang="en-IN" sz="1900">
                <a:solidFill>
                  <a:schemeClr val="dk1"/>
                </a:solidFill>
              </a:rPr>
              <a:t> → Most general hypothesis</a:t>
            </a:r>
            <a:endParaRPr sz="1900">
              <a:solidFill>
                <a:schemeClr val="dk1"/>
              </a:solidFill>
            </a:endParaRPr>
          </a:p>
        </p:txBody>
      </p:sp>
      <p:sp>
        <p:nvSpPr>
          <p:cNvPr id="344" name="Google Shape;344;h579826f69ffc8371_0_82"/>
          <p:cNvSpPr txBox="1"/>
          <p:nvPr/>
        </p:nvSpPr>
        <p:spPr>
          <a:xfrm>
            <a:off x="173233" y="3667200"/>
            <a:ext cx="11553300" cy="2293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IN" sz="1900">
                <a:solidFill>
                  <a:srgbClr val="FF0000"/>
                </a:solidFill>
              </a:rPr>
              <a:t>Searching the Hypothesis Space</a:t>
            </a:r>
            <a:endParaRPr sz="1900">
              <a:solidFill>
                <a:srgbClr val="FF0000"/>
              </a:solidFill>
            </a:endParaRPr>
          </a:p>
          <a:p>
            <a:pPr indent="-425450" lvl="0" marL="609600" rtl="0" algn="l">
              <a:spcBef>
                <a:spcPts val="0"/>
              </a:spcBef>
              <a:spcAft>
                <a:spcPts val="0"/>
              </a:spcAft>
              <a:buClr>
                <a:schemeClr val="dk1"/>
              </a:buClr>
              <a:buSzPts val="1900"/>
              <a:buAutoNum type="arabicPeriod"/>
            </a:pPr>
            <a:r>
              <a:rPr lang="en-IN" sz="1900">
                <a:solidFill>
                  <a:schemeClr val="dk1"/>
                </a:solidFill>
              </a:rPr>
              <a:t>General-to-Specific Search: Start with most general hypothesis, gradually specialize it. Used in</a:t>
            </a:r>
            <a:endParaRPr b="1" sz="1500">
              <a:solidFill>
                <a:schemeClr val="dk1"/>
              </a:solidFill>
            </a:endParaRPr>
          </a:p>
          <a:p>
            <a:pPr indent="-425450" lvl="0" marL="609600" rtl="0" algn="l">
              <a:spcBef>
                <a:spcPts val="0"/>
              </a:spcBef>
              <a:spcAft>
                <a:spcPts val="0"/>
              </a:spcAft>
              <a:buClr>
                <a:schemeClr val="dk1"/>
              </a:buClr>
              <a:buSzPts val="1900"/>
              <a:buChar char="●"/>
            </a:pPr>
            <a:r>
              <a:rPr b="1" lang="en-IN" sz="1900">
                <a:solidFill>
                  <a:schemeClr val="dk1"/>
                </a:solidFill>
              </a:rPr>
              <a:t>Find-S Algorithm</a:t>
            </a:r>
            <a:endParaRPr b="1" sz="1900">
              <a:solidFill>
                <a:schemeClr val="dk1"/>
              </a:solidFill>
            </a:endParaRPr>
          </a:p>
          <a:p>
            <a:pPr indent="-425450" lvl="0" marL="609600" rtl="0" algn="l">
              <a:spcBef>
                <a:spcPts val="0"/>
              </a:spcBef>
              <a:spcAft>
                <a:spcPts val="0"/>
              </a:spcAft>
              <a:buClr>
                <a:schemeClr val="dk1"/>
              </a:buClr>
              <a:buSzPts val="1900"/>
              <a:buChar char="●"/>
            </a:pPr>
            <a:r>
              <a:rPr b="1" lang="en-IN" sz="1900">
                <a:solidFill>
                  <a:schemeClr val="dk1"/>
                </a:solidFill>
              </a:rPr>
              <a:t>Candidate Elimination Algorithm</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425450" lvl="0" marL="609600" rtl="0" algn="l">
              <a:spcBef>
                <a:spcPts val="0"/>
              </a:spcBef>
              <a:spcAft>
                <a:spcPts val="0"/>
              </a:spcAft>
              <a:buClr>
                <a:schemeClr val="dk1"/>
              </a:buClr>
              <a:buSzPts val="1900"/>
              <a:buAutoNum type="arabicPeriod"/>
            </a:pPr>
            <a:r>
              <a:rPr lang="en-IN" sz="1900">
                <a:solidFill>
                  <a:schemeClr val="dk1"/>
                </a:solidFill>
              </a:rPr>
              <a:t>Specific-to-General Search: Start with most specific hypothesis, gradually generalize it.</a:t>
            </a:r>
            <a:endParaRPr sz="1900">
              <a:solidFill>
                <a:schemeClr val="dk1"/>
              </a:solidFill>
            </a:endParaRPr>
          </a:p>
          <a:p>
            <a:pPr indent="0" lvl="0" marL="1219200" rtl="0" algn="l">
              <a:spcBef>
                <a:spcPts val="0"/>
              </a:spcBef>
              <a:spcAft>
                <a:spcPts val="0"/>
              </a:spcAft>
              <a:buNone/>
            </a:pPr>
            <a:r>
              <a:t/>
            </a:r>
            <a:endParaRPr sz="19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h579826f69ffc8371_0_88"/>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IN"/>
              <a:t>Find the following for the given example:</a:t>
            </a:r>
            <a:endParaRPr/>
          </a:p>
        </p:txBody>
      </p:sp>
      <p:sp>
        <p:nvSpPr>
          <p:cNvPr id="350" name="Google Shape;350;h579826f69ffc8371_0_88"/>
          <p:cNvSpPr txBox="1"/>
          <p:nvPr>
            <p:ph idx="1" type="body"/>
          </p:nvPr>
        </p:nvSpPr>
        <p:spPr>
          <a:xfrm>
            <a:off x="415600" y="1536633"/>
            <a:ext cx="11360700" cy="33636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IN"/>
              <a:t>Consider</a:t>
            </a:r>
            <a:endParaRPr/>
          </a:p>
          <a:p>
            <a:pPr indent="0" lvl="0" marL="0" rtl="0" algn="l">
              <a:spcBef>
                <a:spcPts val="0"/>
              </a:spcBef>
              <a:spcAft>
                <a:spcPts val="0"/>
              </a:spcAft>
              <a:buNone/>
            </a:pPr>
            <a:r>
              <a:rPr lang="en-IN"/>
              <a:t>Feature1→A ,B</a:t>
            </a:r>
            <a:endParaRPr/>
          </a:p>
          <a:p>
            <a:pPr indent="0" lvl="0" marL="0" rtl="0" algn="l">
              <a:spcBef>
                <a:spcPts val="0"/>
              </a:spcBef>
              <a:spcAft>
                <a:spcPts val="0"/>
              </a:spcAft>
              <a:buNone/>
            </a:pPr>
            <a:r>
              <a:rPr lang="en-IN"/>
              <a:t>Feature2→X ,Y</a:t>
            </a:r>
            <a:endParaRPr/>
          </a:p>
          <a:p>
            <a:pPr indent="0" lvl="0" marL="0" rtl="0" algn="l">
              <a:spcBef>
                <a:spcPts val="0"/>
              </a:spcBef>
              <a:spcAft>
                <a:spcPts val="0"/>
              </a:spcAft>
              <a:buNone/>
            </a:pPr>
            <a:r>
              <a:rPr lang="en-IN"/>
              <a:t>Instance space=(A,X),A,Y),(B,X) (B,Y)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51" name="Google Shape;351;h579826f69ffc8371_0_88"/>
          <p:cNvPicPr preferRelativeResize="0"/>
          <p:nvPr/>
        </p:nvPicPr>
        <p:blipFill>
          <a:blip r:embed="rId3">
            <a:alphaModFix/>
          </a:blip>
          <a:stretch>
            <a:fillRect/>
          </a:stretch>
        </p:blipFill>
        <p:spPr>
          <a:xfrm>
            <a:off x="174333" y="3429004"/>
            <a:ext cx="12192001" cy="1285992"/>
          </a:xfrm>
          <a:prstGeom prst="rect">
            <a:avLst/>
          </a:prstGeom>
          <a:noFill/>
          <a:ln>
            <a:noFill/>
          </a:ln>
        </p:spPr>
      </p:pic>
      <p:pic>
        <p:nvPicPr>
          <p:cNvPr id="352" name="Google Shape;352;h579826f69ffc8371_0_88"/>
          <p:cNvPicPr preferRelativeResize="0"/>
          <p:nvPr/>
        </p:nvPicPr>
        <p:blipFill>
          <a:blip r:embed="rId4">
            <a:alphaModFix/>
          </a:blip>
          <a:stretch>
            <a:fillRect/>
          </a:stretch>
        </p:blipFill>
        <p:spPr>
          <a:xfrm>
            <a:off x="415600" y="4813600"/>
            <a:ext cx="11785604" cy="115237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graphicFrame>
        <p:nvGraphicFramePr>
          <p:cNvPr id="357" name="Google Shape;357;h579826f69ffc8371_0_95"/>
          <p:cNvGraphicFramePr/>
          <p:nvPr/>
        </p:nvGraphicFramePr>
        <p:xfrm>
          <a:off x="4500783" y="174333"/>
          <a:ext cx="3000000" cy="3000000"/>
        </p:xfrm>
        <a:graphic>
          <a:graphicData uri="http://schemas.openxmlformats.org/drawingml/2006/table">
            <a:tbl>
              <a:tblPr>
                <a:noFill/>
                <a:tableStyleId>{A1DC05C0-68A9-4DE6-A59A-6872BC1DB4C4}</a:tableStyleId>
              </a:tblPr>
              <a:tblGrid>
                <a:gridCol w="1584075"/>
                <a:gridCol w="1098700"/>
                <a:gridCol w="1047525"/>
                <a:gridCol w="1737400"/>
                <a:gridCol w="1149800"/>
                <a:gridCol w="817575"/>
              </a:tblGrid>
              <a:tr h="395175">
                <a:tc>
                  <a:txBody>
                    <a:bodyPr/>
                    <a:lstStyle/>
                    <a:p>
                      <a:pPr indent="0" lvl="0" marL="0" rtl="0" algn="l">
                        <a:lnSpc>
                          <a:spcPct val="115000"/>
                        </a:lnSpc>
                        <a:spcBef>
                          <a:spcPts val="0"/>
                        </a:spcBef>
                        <a:spcAft>
                          <a:spcPts val="0"/>
                        </a:spcAft>
                        <a:buNone/>
                      </a:pPr>
                      <a:r>
                        <a:rPr b="1" lang="en-IN" sz="1500"/>
                        <a:t>Example</a:t>
                      </a:r>
                      <a:endParaRPr b="1" sz="1500"/>
                    </a:p>
                  </a:txBody>
                  <a:tcPr marT="121900" marB="121900" marR="121900" marL="121900"/>
                </a:tc>
                <a:tc>
                  <a:txBody>
                    <a:bodyPr/>
                    <a:lstStyle/>
                    <a:p>
                      <a:pPr indent="0" lvl="0" marL="0" rtl="0" algn="l">
                        <a:lnSpc>
                          <a:spcPct val="115000"/>
                        </a:lnSpc>
                        <a:spcBef>
                          <a:spcPts val="0"/>
                        </a:spcBef>
                        <a:spcAft>
                          <a:spcPts val="0"/>
                        </a:spcAft>
                        <a:buNone/>
                      </a:pPr>
                      <a:r>
                        <a:rPr b="1" lang="en-IN" sz="1500"/>
                        <a:t>Sky</a:t>
                      </a:r>
                      <a:endParaRPr b="1" sz="1500"/>
                    </a:p>
                  </a:txBody>
                  <a:tcPr marT="121900" marB="121900" marR="121900" marL="121900"/>
                </a:tc>
                <a:tc>
                  <a:txBody>
                    <a:bodyPr/>
                    <a:lstStyle/>
                    <a:p>
                      <a:pPr indent="0" lvl="0" marL="0" rtl="0" algn="l">
                        <a:lnSpc>
                          <a:spcPct val="115000"/>
                        </a:lnSpc>
                        <a:spcBef>
                          <a:spcPts val="0"/>
                        </a:spcBef>
                        <a:spcAft>
                          <a:spcPts val="0"/>
                        </a:spcAft>
                        <a:buNone/>
                      </a:pPr>
                      <a:r>
                        <a:rPr b="1" lang="en-IN" sz="1500"/>
                        <a:t>Temp</a:t>
                      </a:r>
                      <a:endParaRPr b="1" sz="1500"/>
                    </a:p>
                  </a:txBody>
                  <a:tcPr marT="121900" marB="121900" marR="121900" marL="121900"/>
                </a:tc>
                <a:tc>
                  <a:txBody>
                    <a:bodyPr/>
                    <a:lstStyle/>
                    <a:p>
                      <a:pPr indent="0" lvl="0" marL="0" rtl="0" algn="l">
                        <a:lnSpc>
                          <a:spcPct val="115000"/>
                        </a:lnSpc>
                        <a:spcBef>
                          <a:spcPts val="0"/>
                        </a:spcBef>
                        <a:spcAft>
                          <a:spcPts val="0"/>
                        </a:spcAft>
                        <a:buNone/>
                      </a:pPr>
                      <a:r>
                        <a:rPr b="1" lang="en-IN" sz="1500"/>
                        <a:t>Humidity</a:t>
                      </a:r>
                      <a:endParaRPr b="1" sz="1500"/>
                    </a:p>
                  </a:txBody>
                  <a:tcPr marT="121900" marB="121900" marR="121900" marL="121900"/>
                </a:tc>
                <a:tc>
                  <a:txBody>
                    <a:bodyPr/>
                    <a:lstStyle/>
                    <a:p>
                      <a:pPr indent="0" lvl="0" marL="0" rtl="0" algn="l">
                        <a:lnSpc>
                          <a:spcPct val="115000"/>
                        </a:lnSpc>
                        <a:spcBef>
                          <a:spcPts val="0"/>
                        </a:spcBef>
                        <a:spcAft>
                          <a:spcPts val="0"/>
                        </a:spcAft>
                        <a:buNone/>
                      </a:pPr>
                      <a:r>
                        <a:rPr b="1" lang="en-IN" sz="1500"/>
                        <a:t>Wind</a:t>
                      </a:r>
                      <a:endParaRPr b="1" sz="1500"/>
                    </a:p>
                  </a:txBody>
                  <a:tcPr marT="121900" marB="121900" marR="121900" marL="121900"/>
                </a:tc>
                <a:tc>
                  <a:txBody>
                    <a:bodyPr/>
                    <a:lstStyle/>
                    <a:p>
                      <a:pPr indent="0" lvl="0" marL="0" rtl="0" algn="l">
                        <a:lnSpc>
                          <a:spcPct val="115000"/>
                        </a:lnSpc>
                        <a:spcBef>
                          <a:spcPts val="0"/>
                        </a:spcBef>
                        <a:spcAft>
                          <a:spcPts val="0"/>
                        </a:spcAft>
                        <a:buNone/>
                      </a:pPr>
                      <a:r>
                        <a:rPr b="1" lang="en-IN" sz="1500"/>
                        <a:t>Play</a:t>
                      </a:r>
                      <a:endParaRPr b="1" sz="1500"/>
                    </a:p>
                  </a:txBody>
                  <a:tcPr marT="121900" marB="121900" marR="121900" marL="121900"/>
                </a:tc>
              </a:tr>
              <a:tr h="415300">
                <a:tc>
                  <a:txBody>
                    <a:bodyPr/>
                    <a:lstStyle/>
                    <a:p>
                      <a:pPr indent="0" lvl="0" marL="0" rtl="0" algn="l">
                        <a:spcBef>
                          <a:spcPts val="0"/>
                        </a:spcBef>
                        <a:spcAft>
                          <a:spcPts val="0"/>
                        </a:spcAft>
                        <a:buNone/>
                      </a:pPr>
                      <a:r>
                        <a:rPr lang="en-IN" sz="1900"/>
                        <a:t>1</a:t>
                      </a:r>
                      <a:endParaRPr sz="1900"/>
                    </a:p>
                  </a:txBody>
                  <a:tcPr marT="121900" marB="121900" marR="121900" marL="121900"/>
                </a:tc>
                <a:tc>
                  <a:txBody>
                    <a:bodyPr/>
                    <a:lstStyle/>
                    <a:p>
                      <a:pPr indent="0" lvl="0" marL="0" rtl="0" algn="l">
                        <a:spcBef>
                          <a:spcPts val="0"/>
                        </a:spcBef>
                        <a:spcAft>
                          <a:spcPts val="0"/>
                        </a:spcAft>
                        <a:buNone/>
                      </a:pPr>
                      <a:r>
                        <a:rPr lang="en-IN" sz="1900"/>
                        <a:t>Sunny</a:t>
                      </a:r>
                      <a:endParaRPr sz="1900"/>
                    </a:p>
                  </a:txBody>
                  <a:tcPr marT="121900" marB="121900" marR="121900" marL="121900"/>
                </a:tc>
                <a:tc>
                  <a:txBody>
                    <a:bodyPr/>
                    <a:lstStyle/>
                    <a:p>
                      <a:pPr indent="0" lvl="0" marL="0" rtl="0" algn="l">
                        <a:spcBef>
                          <a:spcPts val="0"/>
                        </a:spcBef>
                        <a:spcAft>
                          <a:spcPts val="0"/>
                        </a:spcAft>
                        <a:buNone/>
                      </a:pPr>
                      <a:r>
                        <a:rPr lang="en-IN" sz="1900"/>
                        <a:t>Warm</a:t>
                      </a:r>
                      <a:endParaRPr sz="1900"/>
                    </a:p>
                  </a:txBody>
                  <a:tcPr marT="121900" marB="121900" marR="121900" marL="121900"/>
                </a:tc>
                <a:tc>
                  <a:txBody>
                    <a:bodyPr/>
                    <a:lstStyle/>
                    <a:p>
                      <a:pPr indent="0" lvl="0" marL="0" rtl="0" algn="l">
                        <a:spcBef>
                          <a:spcPts val="0"/>
                        </a:spcBef>
                        <a:spcAft>
                          <a:spcPts val="0"/>
                        </a:spcAft>
                        <a:buNone/>
                      </a:pPr>
                      <a:r>
                        <a:rPr lang="en-IN" sz="1900"/>
                        <a:t>Normal</a:t>
                      </a:r>
                      <a:endParaRPr sz="1900"/>
                    </a:p>
                  </a:txBody>
                  <a:tcPr marT="121900" marB="121900" marR="121900" marL="121900"/>
                </a:tc>
                <a:tc>
                  <a:txBody>
                    <a:bodyPr/>
                    <a:lstStyle/>
                    <a:p>
                      <a:pPr indent="0" lvl="0" marL="0" rtl="0" algn="l">
                        <a:spcBef>
                          <a:spcPts val="0"/>
                        </a:spcBef>
                        <a:spcAft>
                          <a:spcPts val="0"/>
                        </a:spcAft>
                        <a:buNone/>
                      </a:pPr>
                      <a:r>
                        <a:rPr lang="en-IN" sz="1900"/>
                        <a:t>Strong</a:t>
                      </a:r>
                      <a:endParaRPr sz="1900"/>
                    </a:p>
                  </a:txBody>
                  <a:tcPr marT="121900" marB="121900" marR="121900" marL="121900"/>
                </a:tc>
                <a:tc>
                  <a:txBody>
                    <a:bodyPr/>
                    <a:lstStyle/>
                    <a:p>
                      <a:pPr indent="0" lvl="0" marL="0" rtl="0" algn="l">
                        <a:spcBef>
                          <a:spcPts val="0"/>
                        </a:spcBef>
                        <a:spcAft>
                          <a:spcPts val="0"/>
                        </a:spcAft>
                        <a:buNone/>
                      </a:pPr>
                      <a:r>
                        <a:rPr lang="en-IN" sz="1900"/>
                        <a:t>Yes</a:t>
                      </a:r>
                      <a:endParaRPr sz="1900"/>
                    </a:p>
                  </a:txBody>
                  <a:tcPr marT="121900" marB="121900" marR="121900" marL="121900"/>
                </a:tc>
              </a:tr>
              <a:tr h="415300">
                <a:tc>
                  <a:txBody>
                    <a:bodyPr/>
                    <a:lstStyle/>
                    <a:p>
                      <a:pPr indent="0" lvl="0" marL="0" rtl="0" algn="l">
                        <a:spcBef>
                          <a:spcPts val="0"/>
                        </a:spcBef>
                        <a:spcAft>
                          <a:spcPts val="0"/>
                        </a:spcAft>
                        <a:buNone/>
                      </a:pPr>
                      <a:r>
                        <a:rPr lang="en-IN" sz="1900"/>
                        <a:t>2</a:t>
                      </a:r>
                      <a:endParaRPr sz="1900"/>
                    </a:p>
                  </a:txBody>
                  <a:tcPr marT="121900" marB="121900" marR="121900" marL="121900"/>
                </a:tc>
                <a:tc>
                  <a:txBody>
                    <a:bodyPr/>
                    <a:lstStyle/>
                    <a:p>
                      <a:pPr indent="0" lvl="0" marL="0" rtl="0" algn="l">
                        <a:spcBef>
                          <a:spcPts val="0"/>
                        </a:spcBef>
                        <a:spcAft>
                          <a:spcPts val="0"/>
                        </a:spcAft>
                        <a:buNone/>
                      </a:pPr>
                      <a:r>
                        <a:rPr lang="en-IN" sz="1900"/>
                        <a:t>Sunny</a:t>
                      </a:r>
                      <a:endParaRPr sz="1900"/>
                    </a:p>
                  </a:txBody>
                  <a:tcPr marT="121900" marB="121900" marR="121900" marL="121900"/>
                </a:tc>
                <a:tc>
                  <a:txBody>
                    <a:bodyPr/>
                    <a:lstStyle/>
                    <a:p>
                      <a:pPr indent="0" lvl="0" marL="0" rtl="0" algn="l">
                        <a:spcBef>
                          <a:spcPts val="0"/>
                        </a:spcBef>
                        <a:spcAft>
                          <a:spcPts val="0"/>
                        </a:spcAft>
                        <a:buNone/>
                      </a:pPr>
                      <a:r>
                        <a:rPr lang="en-IN" sz="1900"/>
                        <a:t>Warm</a:t>
                      </a:r>
                      <a:endParaRPr sz="1900"/>
                    </a:p>
                  </a:txBody>
                  <a:tcPr marT="121900" marB="121900" marR="121900" marL="121900"/>
                </a:tc>
                <a:tc>
                  <a:txBody>
                    <a:bodyPr/>
                    <a:lstStyle/>
                    <a:p>
                      <a:pPr indent="0" lvl="0" marL="0" rtl="0" algn="l">
                        <a:spcBef>
                          <a:spcPts val="0"/>
                        </a:spcBef>
                        <a:spcAft>
                          <a:spcPts val="0"/>
                        </a:spcAft>
                        <a:buNone/>
                      </a:pPr>
                      <a:r>
                        <a:rPr lang="en-IN" sz="1900"/>
                        <a:t>High</a:t>
                      </a:r>
                      <a:endParaRPr sz="1900"/>
                    </a:p>
                  </a:txBody>
                  <a:tcPr marT="121900" marB="121900" marR="121900" marL="121900"/>
                </a:tc>
                <a:tc>
                  <a:txBody>
                    <a:bodyPr/>
                    <a:lstStyle/>
                    <a:p>
                      <a:pPr indent="0" lvl="0" marL="0" rtl="0" algn="l">
                        <a:spcBef>
                          <a:spcPts val="0"/>
                        </a:spcBef>
                        <a:spcAft>
                          <a:spcPts val="0"/>
                        </a:spcAft>
                        <a:buNone/>
                      </a:pPr>
                      <a:r>
                        <a:rPr lang="en-IN" sz="1900"/>
                        <a:t>Strong</a:t>
                      </a:r>
                      <a:endParaRPr sz="1900"/>
                    </a:p>
                  </a:txBody>
                  <a:tcPr marT="121900" marB="121900" marR="121900" marL="121900"/>
                </a:tc>
                <a:tc>
                  <a:txBody>
                    <a:bodyPr/>
                    <a:lstStyle/>
                    <a:p>
                      <a:pPr indent="0" lvl="0" marL="0" rtl="0" algn="l">
                        <a:spcBef>
                          <a:spcPts val="0"/>
                        </a:spcBef>
                        <a:spcAft>
                          <a:spcPts val="0"/>
                        </a:spcAft>
                        <a:buNone/>
                      </a:pPr>
                      <a:r>
                        <a:rPr lang="en-IN" sz="1900"/>
                        <a:t>Yes</a:t>
                      </a:r>
                      <a:endParaRPr sz="1900"/>
                    </a:p>
                  </a:txBody>
                  <a:tcPr marT="121900" marB="121900" marR="121900" marL="121900"/>
                </a:tc>
              </a:tr>
              <a:tr h="415300">
                <a:tc>
                  <a:txBody>
                    <a:bodyPr/>
                    <a:lstStyle/>
                    <a:p>
                      <a:pPr indent="0" lvl="0" marL="0" rtl="0" algn="l">
                        <a:spcBef>
                          <a:spcPts val="0"/>
                        </a:spcBef>
                        <a:spcAft>
                          <a:spcPts val="0"/>
                        </a:spcAft>
                        <a:buNone/>
                      </a:pPr>
                      <a:r>
                        <a:rPr lang="en-IN" sz="1900"/>
                        <a:t>3</a:t>
                      </a:r>
                      <a:endParaRPr sz="1900"/>
                    </a:p>
                  </a:txBody>
                  <a:tcPr marT="121900" marB="121900" marR="121900" marL="121900"/>
                </a:tc>
                <a:tc>
                  <a:txBody>
                    <a:bodyPr/>
                    <a:lstStyle/>
                    <a:p>
                      <a:pPr indent="0" lvl="0" marL="0" rtl="0" algn="l">
                        <a:spcBef>
                          <a:spcPts val="0"/>
                        </a:spcBef>
                        <a:spcAft>
                          <a:spcPts val="0"/>
                        </a:spcAft>
                        <a:buNone/>
                      </a:pPr>
                      <a:r>
                        <a:rPr lang="en-IN" sz="1900"/>
                        <a:t>Rainy</a:t>
                      </a:r>
                      <a:endParaRPr sz="1900"/>
                    </a:p>
                  </a:txBody>
                  <a:tcPr marT="121900" marB="121900" marR="121900" marL="121900"/>
                </a:tc>
                <a:tc>
                  <a:txBody>
                    <a:bodyPr/>
                    <a:lstStyle/>
                    <a:p>
                      <a:pPr indent="0" lvl="0" marL="0" rtl="0" algn="l">
                        <a:spcBef>
                          <a:spcPts val="0"/>
                        </a:spcBef>
                        <a:spcAft>
                          <a:spcPts val="0"/>
                        </a:spcAft>
                        <a:buNone/>
                      </a:pPr>
                      <a:r>
                        <a:rPr lang="en-IN" sz="1900"/>
                        <a:t>Cold</a:t>
                      </a:r>
                      <a:endParaRPr sz="1900"/>
                    </a:p>
                  </a:txBody>
                  <a:tcPr marT="121900" marB="121900" marR="121900" marL="121900"/>
                </a:tc>
                <a:tc>
                  <a:txBody>
                    <a:bodyPr/>
                    <a:lstStyle/>
                    <a:p>
                      <a:pPr indent="0" lvl="0" marL="0" rtl="0" algn="l">
                        <a:spcBef>
                          <a:spcPts val="0"/>
                        </a:spcBef>
                        <a:spcAft>
                          <a:spcPts val="0"/>
                        </a:spcAft>
                        <a:buNone/>
                      </a:pPr>
                      <a:r>
                        <a:rPr lang="en-IN" sz="1900"/>
                        <a:t>High</a:t>
                      </a:r>
                      <a:endParaRPr sz="1900"/>
                    </a:p>
                  </a:txBody>
                  <a:tcPr marT="121900" marB="121900" marR="121900" marL="121900"/>
                </a:tc>
                <a:tc>
                  <a:txBody>
                    <a:bodyPr/>
                    <a:lstStyle/>
                    <a:p>
                      <a:pPr indent="0" lvl="0" marL="0" rtl="0" algn="l">
                        <a:spcBef>
                          <a:spcPts val="0"/>
                        </a:spcBef>
                        <a:spcAft>
                          <a:spcPts val="0"/>
                        </a:spcAft>
                        <a:buNone/>
                      </a:pPr>
                      <a:r>
                        <a:rPr lang="en-IN" sz="1900"/>
                        <a:t>Strong</a:t>
                      </a:r>
                      <a:endParaRPr sz="1900"/>
                    </a:p>
                  </a:txBody>
                  <a:tcPr marT="121900" marB="121900" marR="121900" marL="121900"/>
                </a:tc>
                <a:tc>
                  <a:txBody>
                    <a:bodyPr/>
                    <a:lstStyle/>
                    <a:p>
                      <a:pPr indent="0" lvl="0" marL="0" rtl="0" algn="l">
                        <a:spcBef>
                          <a:spcPts val="0"/>
                        </a:spcBef>
                        <a:spcAft>
                          <a:spcPts val="0"/>
                        </a:spcAft>
                        <a:buNone/>
                      </a:pPr>
                      <a:r>
                        <a:rPr lang="en-IN" sz="1900"/>
                        <a:t>No</a:t>
                      </a:r>
                      <a:endParaRPr sz="1900"/>
                    </a:p>
                  </a:txBody>
                  <a:tcPr marT="121900" marB="121900" marR="121900" marL="121900"/>
                </a:tc>
              </a:tr>
              <a:tr h="415300">
                <a:tc>
                  <a:txBody>
                    <a:bodyPr/>
                    <a:lstStyle/>
                    <a:p>
                      <a:pPr indent="0" lvl="0" marL="0" rtl="0" algn="l">
                        <a:spcBef>
                          <a:spcPts val="0"/>
                        </a:spcBef>
                        <a:spcAft>
                          <a:spcPts val="0"/>
                        </a:spcAft>
                        <a:buNone/>
                      </a:pPr>
                      <a:r>
                        <a:rPr lang="en-IN" sz="1900"/>
                        <a:t>4</a:t>
                      </a:r>
                      <a:endParaRPr sz="1900"/>
                    </a:p>
                  </a:txBody>
                  <a:tcPr marT="121900" marB="121900" marR="121900" marL="121900"/>
                </a:tc>
                <a:tc>
                  <a:txBody>
                    <a:bodyPr/>
                    <a:lstStyle/>
                    <a:p>
                      <a:pPr indent="0" lvl="0" marL="0" rtl="0" algn="l">
                        <a:spcBef>
                          <a:spcPts val="0"/>
                        </a:spcBef>
                        <a:spcAft>
                          <a:spcPts val="0"/>
                        </a:spcAft>
                        <a:buNone/>
                      </a:pPr>
                      <a:r>
                        <a:rPr lang="en-IN" sz="1900"/>
                        <a:t>Sunny</a:t>
                      </a:r>
                      <a:endParaRPr sz="1900"/>
                    </a:p>
                  </a:txBody>
                  <a:tcPr marT="121900" marB="121900" marR="121900" marL="121900"/>
                </a:tc>
                <a:tc>
                  <a:txBody>
                    <a:bodyPr/>
                    <a:lstStyle/>
                    <a:p>
                      <a:pPr indent="0" lvl="0" marL="0" rtl="0" algn="l">
                        <a:spcBef>
                          <a:spcPts val="0"/>
                        </a:spcBef>
                        <a:spcAft>
                          <a:spcPts val="0"/>
                        </a:spcAft>
                        <a:buNone/>
                      </a:pPr>
                      <a:r>
                        <a:rPr lang="en-IN" sz="1900"/>
                        <a:t>Warm</a:t>
                      </a:r>
                      <a:endParaRPr sz="1900"/>
                    </a:p>
                  </a:txBody>
                  <a:tcPr marT="121900" marB="121900" marR="121900" marL="121900"/>
                </a:tc>
                <a:tc>
                  <a:txBody>
                    <a:bodyPr/>
                    <a:lstStyle/>
                    <a:p>
                      <a:pPr indent="0" lvl="0" marL="0" rtl="0" algn="l">
                        <a:spcBef>
                          <a:spcPts val="0"/>
                        </a:spcBef>
                        <a:spcAft>
                          <a:spcPts val="0"/>
                        </a:spcAft>
                        <a:buNone/>
                      </a:pPr>
                      <a:r>
                        <a:rPr lang="en-IN" sz="1900"/>
                        <a:t>Normal</a:t>
                      </a:r>
                      <a:endParaRPr sz="1900"/>
                    </a:p>
                  </a:txBody>
                  <a:tcPr marT="121900" marB="121900" marR="121900" marL="121900"/>
                </a:tc>
                <a:tc>
                  <a:txBody>
                    <a:bodyPr/>
                    <a:lstStyle/>
                    <a:p>
                      <a:pPr indent="0" lvl="0" marL="0" rtl="0" algn="l">
                        <a:spcBef>
                          <a:spcPts val="0"/>
                        </a:spcBef>
                        <a:spcAft>
                          <a:spcPts val="0"/>
                        </a:spcAft>
                        <a:buNone/>
                      </a:pPr>
                      <a:r>
                        <a:rPr lang="en-IN" sz="1900"/>
                        <a:t>Weak</a:t>
                      </a:r>
                      <a:endParaRPr sz="1900"/>
                    </a:p>
                  </a:txBody>
                  <a:tcPr marT="121900" marB="121900" marR="121900" marL="121900"/>
                </a:tc>
                <a:tc>
                  <a:txBody>
                    <a:bodyPr/>
                    <a:lstStyle/>
                    <a:p>
                      <a:pPr indent="0" lvl="0" marL="0" rtl="0" algn="l">
                        <a:spcBef>
                          <a:spcPts val="0"/>
                        </a:spcBef>
                        <a:spcAft>
                          <a:spcPts val="0"/>
                        </a:spcAft>
                        <a:buNone/>
                      </a:pPr>
                      <a:r>
                        <a:rPr lang="en-IN" sz="1900"/>
                        <a:t>Yes</a:t>
                      </a:r>
                      <a:endParaRPr sz="1900"/>
                    </a:p>
                  </a:txBody>
                  <a:tcPr marT="121900" marB="121900" marR="121900" marL="121900"/>
                </a:tc>
              </a:tr>
            </a:tbl>
          </a:graphicData>
        </a:graphic>
      </p:graphicFrame>
      <p:sp>
        <p:nvSpPr>
          <p:cNvPr id="358" name="Google Shape;358;h579826f69ffc8371_0_95"/>
          <p:cNvSpPr txBox="1"/>
          <p:nvPr/>
        </p:nvSpPr>
        <p:spPr>
          <a:xfrm>
            <a:off x="148400" y="2642100"/>
            <a:ext cx="5817300" cy="4018800"/>
          </a:xfrm>
          <a:prstGeom prst="rect">
            <a:avLst/>
          </a:prstGeom>
          <a:noFill/>
          <a:ln>
            <a:noFill/>
          </a:ln>
        </p:spPr>
        <p:txBody>
          <a:bodyPr anchorCtr="0" anchor="t" bIns="121900" lIns="121900" spcFirstLastPara="1" rIns="121900" wrap="square" tIns="121900">
            <a:spAutoFit/>
          </a:bodyPr>
          <a:lstStyle/>
          <a:p>
            <a:pPr indent="-425450" lvl="0" marL="609600" rtl="0" algn="l">
              <a:lnSpc>
                <a:spcPct val="100000"/>
              </a:lnSpc>
              <a:spcBef>
                <a:spcPts val="0"/>
              </a:spcBef>
              <a:spcAft>
                <a:spcPts val="0"/>
              </a:spcAft>
              <a:buClr>
                <a:schemeClr val="dk1"/>
              </a:buClr>
              <a:buSzPts val="1900"/>
              <a:buAutoNum type="arabicPeriod"/>
            </a:pPr>
            <a:r>
              <a:rPr lang="en-IN" sz="1900">
                <a:solidFill>
                  <a:schemeClr val="dk1"/>
                </a:solidFill>
              </a:rPr>
              <a:t>Start with the </a:t>
            </a:r>
            <a:r>
              <a:rPr b="1" lang="en-IN" sz="1900">
                <a:solidFill>
                  <a:srgbClr val="FF0000"/>
                </a:solidFill>
              </a:rPr>
              <a:t>most specific hypothesis</a:t>
            </a:r>
            <a:r>
              <a:rPr lang="en-IN" sz="1900">
                <a:solidFill>
                  <a:srgbClr val="FF0000"/>
                </a:solidFill>
              </a:rPr>
              <a:t>:</a:t>
            </a:r>
            <a:endParaRPr sz="1900">
              <a:solidFill>
                <a:srgbClr val="FF0000"/>
              </a:solidFill>
            </a:endParaRPr>
          </a:p>
          <a:p>
            <a:pPr indent="0" lvl="0" marL="0" rtl="0" algn="l">
              <a:lnSpc>
                <a:spcPct val="100000"/>
              </a:lnSpc>
              <a:spcBef>
                <a:spcPts val="0"/>
              </a:spcBef>
              <a:spcAft>
                <a:spcPts val="0"/>
              </a:spcAft>
              <a:buNone/>
            </a:pPr>
            <a:r>
              <a:rPr lang="en-IN" sz="1900">
                <a:solidFill>
                  <a:schemeClr val="dk1"/>
                </a:solidFill>
              </a:rPr>
              <a:t>                   S0​=&lt;Ø,Ø,Ø,Ø&gt;</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             This means: Reject all instances initially.</a:t>
            </a:r>
            <a:endParaRPr sz="1900">
              <a:solidFill>
                <a:schemeClr val="dk1"/>
              </a:solidFill>
            </a:endParaRPr>
          </a:p>
          <a:p>
            <a:pPr indent="-425450" lvl="0" marL="609600" rtl="0" algn="l">
              <a:lnSpc>
                <a:spcPct val="115000"/>
              </a:lnSpc>
              <a:spcBef>
                <a:spcPts val="0"/>
              </a:spcBef>
              <a:spcAft>
                <a:spcPts val="0"/>
              </a:spcAft>
              <a:buClr>
                <a:schemeClr val="dk1"/>
              </a:buClr>
              <a:buSzPts val="1900"/>
              <a:buAutoNum type="arabicPeriod"/>
            </a:pPr>
            <a:r>
              <a:rPr lang="en-IN" sz="1900">
                <a:solidFill>
                  <a:schemeClr val="dk1"/>
                </a:solidFill>
              </a:rPr>
              <a:t>Instance1:            </a:t>
            </a:r>
            <a:endParaRPr sz="1900">
              <a:solidFill>
                <a:schemeClr val="dk1"/>
              </a:solidFill>
            </a:endParaRPr>
          </a:p>
          <a:p>
            <a:pPr indent="0" lvl="0" marL="609600" rtl="0" algn="l">
              <a:lnSpc>
                <a:spcPct val="115000"/>
              </a:lnSpc>
              <a:spcBef>
                <a:spcPts val="0"/>
              </a:spcBef>
              <a:spcAft>
                <a:spcPts val="0"/>
              </a:spcAft>
              <a:buNone/>
            </a:pPr>
            <a:r>
              <a:rPr lang="en-IN" sz="1900">
                <a:solidFill>
                  <a:schemeClr val="dk1"/>
                </a:solidFill>
              </a:rPr>
              <a:t>&lt;Sunny, Warm, Normal, Strong&gt;</a:t>
            </a:r>
            <a:endParaRPr sz="1900">
              <a:solidFill>
                <a:schemeClr val="dk1"/>
              </a:solidFill>
            </a:endParaRPr>
          </a:p>
          <a:p>
            <a:pPr indent="0" lvl="0" marL="0" rtl="0" algn="l">
              <a:lnSpc>
                <a:spcPct val="115000"/>
              </a:lnSpc>
              <a:spcBef>
                <a:spcPts val="0"/>
              </a:spcBef>
              <a:spcAft>
                <a:spcPts val="0"/>
              </a:spcAft>
              <a:buNone/>
            </a:pPr>
            <a:r>
              <a:rPr lang="en-IN" sz="1900">
                <a:solidFill>
                  <a:schemeClr val="dk1"/>
                </a:solidFill>
              </a:rPr>
              <a:t>                 Since hypothesis is most specific, replace       </a:t>
            </a:r>
            <a:endParaRPr sz="1900">
              <a:solidFill>
                <a:schemeClr val="dk1"/>
              </a:solidFill>
            </a:endParaRPr>
          </a:p>
          <a:p>
            <a:pPr indent="0" lvl="0" marL="0" rtl="0" algn="l">
              <a:lnSpc>
                <a:spcPct val="115000"/>
              </a:lnSpc>
              <a:spcBef>
                <a:spcPts val="0"/>
              </a:spcBef>
              <a:spcAft>
                <a:spcPts val="0"/>
              </a:spcAft>
              <a:buNone/>
            </a:pPr>
            <a:r>
              <a:rPr lang="en-IN" sz="1900">
                <a:solidFill>
                  <a:schemeClr val="dk1"/>
                </a:solidFill>
              </a:rPr>
              <a:t>                  Ø with attribute values.</a:t>
            </a:r>
            <a:endParaRPr sz="1900">
              <a:solidFill>
                <a:schemeClr val="dk1"/>
              </a:solidFill>
            </a:endParaRPr>
          </a:p>
          <a:p>
            <a:pPr indent="0" lvl="0" marL="0" rtl="0" algn="l">
              <a:lnSpc>
                <a:spcPct val="115000"/>
              </a:lnSpc>
              <a:spcBef>
                <a:spcPts val="0"/>
              </a:spcBef>
              <a:spcAft>
                <a:spcPts val="0"/>
              </a:spcAft>
              <a:buNone/>
            </a:pPr>
            <a:r>
              <a:rPr lang="en-IN" sz="1900">
                <a:solidFill>
                  <a:schemeClr val="dk1"/>
                </a:solidFill>
              </a:rPr>
              <a:t>          &lt;S1=&lt;Sunny,Warm,Normal,Strong&gt;</a:t>
            </a:r>
            <a:endParaRPr sz="1900">
              <a:solidFill>
                <a:schemeClr val="dk1"/>
              </a:solidFill>
            </a:endParaRPr>
          </a:p>
          <a:p>
            <a:pPr indent="-425450" lvl="0" marL="609600" rtl="0" algn="l">
              <a:lnSpc>
                <a:spcPct val="100000"/>
              </a:lnSpc>
              <a:spcBef>
                <a:spcPts val="0"/>
              </a:spcBef>
              <a:spcAft>
                <a:spcPts val="0"/>
              </a:spcAft>
              <a:buClr>
                <a:schemeClr val="dk1"/>
              </a:buClr>
              <a:buSzPts val="1900"/>
              <a:buAutoNum type="arabicPeriod"/>
            </a:pPr>
            <a:r>
              <a:rPr lang="en-IN" sz="1900">
                <a:solidFill>
                  <a:schemeClr val="dk1"/>
                </a:solidFill>
              </a:rPr>
              <a:t>&lt;Sunny, Warm, High, Strong&gt;</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              Updated hypothesis:</a:t>
            </a:r>
            <a:endParaRPr sz="1900">
              <a:solidFill>
                <a:schemeClr val="dk1"/>
              </a:solidFill>
            </a:endParaRPr>
          </a:p>
          <a:p>
            <a:pPr indent="0" lvl="0" marL="609600" rtl="0" algn="l">
              <a:lnSpc>
                <a:spcPct val="100000"/>
              </a:lnSpc>
              <a:spcBef>
                <a:spcPts val="0"/>
              </a:spcBef>
              <a:spcAft>
                <a:spcPts val="0"/>
              </a:spcAft>
              <a:buNone/>
            </a:pPr>
            <a:r>
              <a:rPr lang="en-IN" sz="1900">
                <a:solidFill>
                  <a:schemeClr val="dk1"/>
                </a:solidFill>
              </a:rPr>
              <a:t>&lt;S2=&lt;Sunny,Warm,?,Strong&gt;</a:t>
            </a:r>
            <a:endParaRPr sz="1900">
              <a:solidFill>
                <a:schemeClr val="dk1"/>
              </a:solidFill>
            </a:endParaRPr>
          </a:p>
        </p:txBody>
      </p:sp>
      <p:sp>
        <p:nvSpPr>
          <p:cNvPr id="359" name="Google Shape;359;h579826f69ffc8371_0_95"/>
          <p:cNvSpPr txBox="1"/>
          <p:nvPr/>
        </p:nvSpPr>
        <p:spPr>
          <a:xfrm>
            <a:off x="6413300" y="2764933"/>
            <a:ext cx="5219100" cy="2922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IN" sz="1900">
                <a:solidFill>
                  <a:schemeClr val="dk1"/>
                </a:solidFill>
              </a:rPr>
              <a:t>4. &lt;Rainy, Cold, High, Strong&gt; is a negative sample so Find-s algorithm ignores</a:t>
            </a:r>
            <a:endParaRPr sz="1900">
              <a:solidFill>
                <a:schemeClr val="dk1"/>
              </a:solidFill>
            </a:endParaRPr>
          </a:p>
          <a:p>
            <a:pPr indent="0" lvl="0" marL="609600" rtl="0" algn="l">
              <a:lnSpc>
                <a:spcPct val="115000"/>
              </a:lnSpc>
              <a:spcBef>
                <a:spcPts val="0"/>
              </a:spcBef>
              <a:spcAft>
                <a:spcPts val="0"/>
              </a:spcAft>
              <a:buClr>
                <a:schemeClr val="dk1"/>
              </a:buClr>
              <a:buSzPts val="1500"/>
              <a:buFont typeface="Arial"/>
              <a:buNone/>
            </a:pPr>
            <a:r>
              <a:rPr lang="en-IN" sz="1900">
                <a:solidFill>
                  <a:schemeClr val="dk1"/>
                </a:solidFill>
              </a:rPr>
              <a:t> &lt;S3​=&lt;Sunny,Warm,?,Strong&gt;</a:t>
            </a:r>
            <a:endParaRPr sz="1900">
              <a:solidFill>
                <a:schemeClr val="dk1"/>
              </a:solidFill>
            </a:endParaRPr>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rPr lang="en-IN" sz="1900"/>
              <a:t>5. &lt;Sunny, Warm, Normal, Weak&gt;</a:t>
            </a:r>
            <a:endParaRPr sz="1900"/>
          </a:p>
          <a:p>
            <a:pPr indent="0" lvl="0" marL="0" rtl="0" algn="l">
              <a:lnSpc>
                <a:spcPct val="100000"/>
              </a:lnSpc>
              <a:spcBef>
                <a:spcPts val="0"/>
              </a:spcBef>
              <a:spcAft>
                <a:spcPts val="0"/>
              </a:spcAft>
              <a:buClr>
                <a:schemeClr val="dk1"/>
              </a:buClr>
              <a:buSzPts val="1500"/>
              <a:buFont typeface="Arial"/>
              <a:buNone/>
            </a:pPr>
            <a:r>
              <a:rPr lang="en-IN" sz="1900"/>
              <a:t>     Updated hypothesis:</a:t>
            </a:r>
            <a:endParaRPr sz="1900"/>
          </a:p>
          <a:p>
            <a:pPr indent="0" lvl="0" marL="0" rtl="0" algn="l">
              <a:lnSpc>
                <a:spcPct val="100000"/>
              </a:lnSpc>
              <a:spcBef>
                <a:spcPts val="0"/>
              </a:spcBef>
              <a:spcAft>
                <a:spcPts val="0"/>
              </a:spcAft>
              <a:buNone/>
            </a:pPr>
            <a:r>
              <a:rPr lang="en-IN" sz="1900"/>
              <a:t>     &lt;S4=&lt;Sunny,Warm,?,?&gt;</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rPr lang="en-IN" sz="1900"/>
              <a:t>6. </a:t>
            </a:r>
            <a:r>
              <a:rPr b="1" lang="en-IN" sz="1900">
                <a:solidFill>
                  <a:srgbClr val="FF0000"/>
                </a:solidFill>
              </a:rPr>
              <a:t>Sfinal​=&lt;Sunny,Warm,?,?&gt;</a:t>
            </a:r>
            <a:endParaRPr b="1" sz="1900">
              <a:solidFill>
                <a:srgbClr val="FF0000"/>
              </a:solidFill>
            </a:endParaRPr>
          </a:p>
        </p:txBody>
      </p:sp>
      <p:sp>
        <p:nvSpPr>
          <p:cNvPr id="360" name="Google Shape;360;h579826f69ffc8371_0_95"/>
          <p:cNvSpPr txBox="1"/>
          <p:nvPr/>
        </p:nvSpPr>
        <p:spPr>
          <a:xfrm>
            <a:off x="565967" y="981767"/>
            <a:ext cx="3248400" cy="6618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IN" sz="2700">
                <a:solidFill>
                  <a:schemeClr val="dk1"/>
                </a:solidFill>
              </a:rPr>
              <a:t>Find-S Algorithm</a:t>
            </a:r>
            <a:endParaRPr sz="2700"/>
          </a:p>
        </p:txBody>
      </p:sp>
      <p:sp>
        <p:nvSpPr>
          <p:cNvPr id="361" name="Google Shape;361;h579826f69ffc8371_0_95"/>
          <p:cNvSpPr txBox="1"/>
          <p:nvPr/>
        </p:nvSpPr>
        <p:spPr>
          <a:xfrm>
            <a:off x="5301600" y="5481333"/>
            <a:ext cx="6890400" cy="1123500"/>
          </a:xfrm>
          <a:prstGeom prst="rect">
            <a:avLst/>
          </a:prstGeom>
          <a:noFill/>
          <a:ln>
            <a:noFill/>
          </a:ln>
        </p:spPr>
        <p:txBody>
          <a:bodyPr anchorCtr="0" anchor="t" bIns="121900" lIns="121900" spcFirstLastPara="1" rIns="121900" wrap="square" tIns="121900">
            <a:spAutoFit/>
          </a:bodyPr>
          <a:lstStyle/>
          <a:p>
            <a:pPr indent="0" lvl="0" marL="0" rtl="0" algn="l">
              <a:lnSpc>
                <a:spcPct val="100000"/>
              </a:lnSpc>
              <a:spcBef>
                <a:spcPts val="0"/>
              </a:spcBef>
              <a:spcAft>
                <a:spcPts val="0"/>
              </a:spcAft>
              <a:buNone/>
            </a:pPr>
            <a:r>
              <a:rPr lang="en-IN" sz="1900"/>
              <a:t>The learned concept is:</a:t>
            </a:r>
            <a:endParaRPr sz="1900"/>
          </a:p>
          <a:p>
            <a:pPr indent="0" lvl="0" marL="0" marR="508000" rtl="0" algn="l">
              <a:lnSpc>
                <a:spcPct val="100000"/>
              </a:lnSpc>
              <a:spcBef>
                <a:spcPts val="0"/>
              </a:spcBef>
              <a:spcAft>
                <a:spcPts val="0"/>
              </a:spcAft>
              <a:buNone/>
            </a:pPr>
            <a:r>
              <a:rPr lang="en-IN" sz="1900"/>
              <a:t>If Sky = Sunny AND Temperature = Warm → Play = Yes</a:t>
            </a:r>
            <a:br>
              <a:rPr lang="en-IN" sz="1900"/>
            </a:br>
            <a:r>
              <a:rPr lang="en-IN" sz="1900"/>
              <a:t> Humidity and Wind do not matter.</a:t>
            </a:r>
            <a:endParaRPr sz="19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h579826f69ffc8371_0_103"/>
          <p:cNvSpPr txBox="1"/>
          <p:nvPr>
            <p:ph idx="1" type="body"/>
          </p:nvPr>
        </p:nvSpPr>
        <p:spPr>
          <a:xfrm>
            <a:off x="233900" y="704767"/>
            <a:ext cx="6294900" cy="3776700"/>
          </a:xfrm>
          <a:prstGeom prst="rect">
            <a:avLst/>
          </a:prstGeom>
        </p:spPr>
        <p:txBody>
          <a:bodyPr anchorCtr="0" anchor="t" bIns="121900" lIns="121900" spcFirstLastPara="1" rIns="121900" wrap="square" tIns="121900">
            <a:noAutofit/>
          </a:bodyPr>
          <a:lstStyle/>
          <a:p>
            <a:pPr indent="0" lvl="0" marL="0" rtl="0" algn="l">
              <a:lnSpc>
                <a:spcPct val="115000"/>
              </a:lnSpc>
              <a:spcBef>
                <a:spcPts val="1600"/>
              </a:spcBef>
              <a:spcAft>
                <a:spcPts val="0"/>
              </a:spcAft>
              <a:buClr>
                <a:schemeClr val="dk1"/>
              </a:buClr>
              <a:buSzPts val="1500"/>
              <a:buFont typeface="Arial"/>
              <a:buNone/>
            </a:pPr>
            <a:r>
              <a:rPr lang="en-IN" sz="1900">
                <a:solidFill>
                  <a:schemeClr val="dk1"/>
                </a:solidFill>
              </a:rPr>
              <a:t>The Candidate Elimination Algorithm is an advanced concept learning method that finds all hypotheses consistent with the training data, not just one.</a:t>
            </a:r>
            <a:endParaRPr sz="1900">
              <a:solidFill>
                <a:schemeClr val="dk1"/>
              </a:solidFill>
            </a:endParaRPr>
          </a:p>
          <a:p>
            <a:pPr indent="0" lvl="0" marL="0" rtl="0" algn="l">
              <a:lnSpc>
                <a:spcPct val="115000"/>
              </a:lnSpc>
              <a:spcBef>
                <a:spcPts val="1600"/>
              </a:spcBef>
              <a:spcAft>
                <a:spcPts val="0"/>
              </a:spcAft>
              <a:buClr>
                <a:schemeClr val="dk1"/>
              </a:buClr>
              <a:buSzPts val="1500"/>
              <a:buFont typeface="Arial"/>
              <a:buNone/>
            </a:pPr>
            <a:r>
              <a:rPr lang="en-IN" sz="1900">
                <a:solidFill>
                  <a:schemeClr val="dk1"/>
                </a:solidFill>
              </a:rPr>
              <a:t>It works by maintaining the Version Space — the set of all consistent hypotheses.</a:t>
            </a:r>
            <a:endParaRPr sz="1900">
              <a:solidFill>
                <a:schemeClr val="dk1"/>
              </a:solidFill>
            </a:endParaRPr>
          </a:p>
          <a:p>
            <a:pPr indent="0" lvl="0" marL="0" rtl="0" algn="l">
              <a:lnSpc>
                <a:spcPct val="115000"/>
              </a:lnSpc>
              <a:spcBef>
                <a:spcPts val="1600"/>
              </a:spcBef>
              <a:spcAft>
                <a:spcPts val="0"/>
              </a:spcAft>
              <a:buClr>
                <a:schemeClr val="dk1"/>
              </a:buClr>
              <a:buSzPts val="1500"/>
              <a:buFont typeface="Arial"/>
              <a:buNone/>
            </a:pPr>
            <a:r>
              <a:rPr lang="en-IN" sz="1900">
                <a:solidFill>
                  <a:schemeClr val="dk1"/>
                </a:solidFill>
              </a:rPr>
              <a:t>Unlike Find-S (which finds only one hypothesis), Candidate Elimination:</a:t>
            </a:r>
            <a:endParaRPr sz="1900">
              <a:solidFill>
                <a:schemeClr val="dk1"/>
              </a:solidFill>
            </a:endParaRPr>
          </a:p>
          <a:p>
            <a:pPr indent="0" lvl="0" marL="0" rtl="0" algn="l">
              <a:lnSpc>
                <a:spcPct val="115000"/>
              </a:lnSpc>
              <a:spcBef>
                <a:spcPts val="1600"/>
              </a:spcBef>
              <a:spcAft>
                <a:spcPts val="0"/>
              </a:spcAft>
              <a:buNone/>
            </a:pPr>
            <a:r>
              <a:rPr lang="en-IN" sz="1900">
                <a:solidFill>
                  <a:schemeClr val="dk1"/>
                </a:solidFill>
              </a:rPr>
              <a:t>✔ Uses both positive and negative examples</a:t>
            </a:r>
            <a:br>
              <a:rPr lang="en-IN" sz="1900">
                <a:solidFill>
                  <a:schemeClr val="dk1"/>
                </a:solidFill>
              </a:rPr>
            </a:br>
            <a:r>
              <a:rPr lang="en-IN" sz="1900">
                <a:solidFill>
                  <a:schemeClr val="dk1"/>
                </a:solidFill>
              </a:rPr>
              <a:t>✔ Maintains two boundaries:</a:t>
            </a:r>
            <a:endParaRPr sz="1900">
              <a:solidFill>
                <a:schemeClr val="dk1"/>
              </a:solidFill>
            </a:endParaRPr>
          </a:p>
          <a:p>
            <a:pPr indent="-425450" lvl="0" marL="609600" rtl="0" algn="l">
              <a:lnSpc>
                <a:spcPct val="115000"/>
              </a:lnSpc>
              <a:spcBef>
                <a:spcPts val="1600"/>
              </a:spcBef>
              <a:spcAft>
                <a:spcPts val="0"/>
              </a:spcAft>
              <a:buClr>
                <a:schemeClr val="dk1"/>
              </a:buClr>
              <a:buSzPts val="1900"/>
              <a:buChar char="●"/>
            </a:pPr>
            <a:r>
              <a:rPr lang="en-IN" sz="1900">
                <a:solidFill>
                  <a:schemeClr val="dk1"/>
                </a:solidFill>
              </a:rPr>
              <a:t>S (Specific boundary) → Most specific consistent hypothesis</a:t>
            </a:r>
            <a:endParaRPr sz="1900">
              <a:solidFill>
                <a:schemeClr val="dk1"/>
              </a:solidFill>
            </a:endParaRPr>
          </a:p>
          <a:p>
            <a:pPr indent="-425450" lvl="0" marL="609600" rtl="0" algn="l">
              <a:lnSpc>
                <a:spcPct val="115000"/>
              </a:lnSpc>
              <a:spcBef>
                <a:spcPts val="0"/>
              </a:spcBef>
              <a:spcAft>
                <a:spcPts val="0"/>
              </a:spcAft>
              <a:buClr>
                <a:schemeClr val="dk1"/>
              </a:buClr>
              <a:buSzPts val="1900"/>
              <a:buChar char="●"/>
            </a:pPr>
            <a:r>
              <a:rPr lang="en-IN" sz="1900">
                <a:solidFill>
                  <a:schemeClr val="dk1"/>
                </a:solidFill>
              </a:rPr>
              <a:t>G (General boundary) → Most general consistent hypothesis</a:t>
            </a:r>
            <a:br>
              <a:rPr lang="en-IN" sz="1900">
                <a:solidFill>
                  <a:schemeClr val="dk1"/>
                </a:solidFill>
              </a:rPr>
            </a:br>
            <a:r>
              <a:rPr lang="en-IN" sz="1900">
                <a:solidFill>
                  <a:schemeClr val="dk1"/>
                </a:solidFill>
              </a:rPr>
              <a:t>  Eliminates inconsistent hypotheses step by step</a:t>
            </a:r>
            <a:endParaRPr sz="1900"/>
          </a:p>
        </p:txBody>
      </p:sp>
      <p:sp>
        <p:nvSpPr>
          <p:cNvPr id="367" name="Google Shape;367;h579826f69ffc8371_0_103"/>
          <p:cNvSpPr txBox="1"/>
          <p:nvPr/>
        </p:nvSpPr>
        <p:spPr>
          <a:xfrm>
            <a:off x="3378867" y="129967"/>
            <a:ext cx="4940400" cy="5694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IN" sz="2100">
                <a:solidFill>
                  <a:srgbClr val="980000"/>
                </a:solidFill>
              </a:rPr>
              <a:t>Candidate Elimination Algorithm</a:t>
            </a:r>
            <a:endParaRPr b="1" sz="2100">
              <a:solidFill>
                <a:srgbClr val="980000"/>
              </a:solidFill>
            </a:endParaRPr>
          </a:p>
        </p:txBody>
      </p:sp>
      <p:pic>
        <p:nvPicPr>
          <p:cNvPr id="368" name="Google Shape;368;h579826f69ffc8371_0_103"/>
          <p:cNvPicPr preferRelativeResize="0"/>
          <p:nvPr/>
        </p:nvPicPr>
        <p:blipFill>
          <a:blip r:embed="rId3">
            <a:alphaModFix/>
          </a:blip>
          <a:stretch>
            <a:fillRect/>
          </a:stretch>
        </p:blipFill>
        <p:spPr>
          <a:xfrm>
            <a:off x="6687633" y="1056567"/>
            <a:ext cx="5504367" cy="45078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h579826f69ffc8371_0_109"/>
          <p:cNvSpPr txBox="1"/>
          <p:nvPr>
            <p:ph type="title"/>
          </p:nvPr>
        </p:nvSpPr>
        <p:spPr>
          <a:xfrm>
            <a:off x="138867" y="74800"/>
            <a:ext cx="11360700" cy="7635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SzPts val="1300"/>
              <a:buNone/>
            </a:pPr>
            <a:r>
              <a:rPr lang="en-IN" sz="2800"/>
              <a:t>Candidate elimination algorithm</a:t>
            </a:r>
            <a:endParaRPr sz="2800"/>
          </a:p>
        </p:txBody>
      </p:sp>
      <p:sp>
        <p:nvSpPr>
          <p:cNvPr id="374" name="Google Shape;374;h579826f69ffc8371_0_109"/>
          <p:cNvSpPr txBox="1"/>
          <p:nvPr/>
        </p:nvSpPr>
        <p:spPr>
          <a:xfrm>
            <a:off x="268800" y="938267"/>
            <a:ext cx="5036100" cy="21633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1600"/>
              </a:spcBef>
              <a:spcAft>
                <a:spcPts val="0"/>
              </a:spcAft>
              <a:buNone/>
            </a:pPr>
            <a:r>
              <a:rPr lang="en-IN" sz="1900"/>
              <a:t>Most Specific Hypothesis:</a:t>
            </a:r>
            <a:endParaRPr sz="1900"/>
          </a:p>
          <a:p>
            <a:pPr indent="0" lvl="0" marL="0" rtl="0" algn="l">
              <a:lnSpc>
                <a:spcPct val="115000"/>
              </a:lnSpc>
              <a:spcBef>
                <a:spcPts val="1600"/>
              </a:spcBef>
              <a:spcAft>
                <a:spcPts val="0"/>
              </a:spcAft>
              <a:buNone/>
            </a:pPr>
            <a:r>
              <a:rPr lang="en-IN" sz="1900"/>
              <a:t>S0 = &lt;Ø, Ø, Ø, Ø&gt;</a:t>
            </a:r>
            <a:endParaRPr sz="1900"/>
          </a:p>
          <a:p>
            <a:pPr indent="0" lvl="0" marL="0" rtl="0" algn="l">
              <a:lnSpc>
                <a:spcPct val="115000"/>
              </a:lnSpc>
              <a:spcBef>
                <a:spcPts val="1600"/>
              </a:spcBef>
              <a:spcAft>
                <a:spcPts val="0"/>
              </a:spcAft>
              <a:buNone/>
            </a:pPr>
            <a:r>
              <a:rPr lang="en-IN" sz="1900"/>
              <a:t>Most General Hypothesis:</a:t>
            </a:r>
            <a:endParaRPr sz="1900"/>
          </a:p>
          <a:p>
            <a:pPr indent="0" lvl="0" marL="0" rtl="0" algn="l">
              <a:spcBef>
                <a:spcPts val="1600"/>
              </a:spcBef>
              <a:spcAft>
                <a:spcPts val="0"/>
              </a:spcAft>
              <a:buNone/>
            </a:pPr>
            <a:r>
              <a:rPr lang="en-IN" sz="1900"/>
              <a:t>G0=&lt;?,?,?,?&gt;</a:t>
            </a:r>
            <a:endParaRPr sz="1900"/>
          </a:p>
        </p:txBody>
      </p:sp>
      <p:graphicFrame>
        <p:nvGraphicFramePr>
          <p:cNvPr id="375" name="Google Shape;375;h579826f69ffc8371_0_109"/>
          <p:cNvGraphicFramePr/>
          <p:nvPr/>
        </p:nvGraphicFramePr>
        <p:xfrm>
          <a:off x="5735033" y="133300"/>
          <a:ext cx="3000000" cy="3000000"/>
        </p:xfrm>
        <a:graphic>
          <a:graphicData uri="http://schemas.openxmlformats.org/drawingml/2006/table">
            <a:tbl>
              <a:tblPr>
                <a:noFill/>
                <a:tableStyleId>{A1DC05C0-68A9-4DE6-A59A-6872BC1DB4C4}</a:tableStyleId>
              </a:tblPr>
              <a:tblGrid>
                <a:gridCol w="1347275"/>
                <a:gridCol w="934400"/>
                <a:gridCol w="890925"/>
                <a:gridCol w="1477625"/>
                <a:gridCol w="977825"/>
                <a:gridCol w="695325"/>
              </a:tblGrid>
              <a:tr h="254000">
                <a:tc>
                  <a:txBody>
                    <a:bodyPr/>
                    <a:lstStyle/>
                    <a:p>
                      <a:pPr indent="0" lvl="0" marL="0" rtl="0" algn="l">
                        <a:lnSpc>
                          <a:spcPct val="115000"/>
                        </a:lnSpc>
                        <a:spcBef>
                          <a:spcPts val="0"/>
                        </a:spcBef>
                        <a:spcAft>
                          <a:spcPts val="0"/>
                        </a:spcAft>
                        <a:buNone/>
                      </a:pPr>
                      <a:r>
                        <a:rPr b="1" lang="en-IN" sz="1500">
                          <a:solidFill>
                            <a:srgbClr val="9900FF"/>
                          </a:solidFill>
                        </a:rPr>
                        <a:t>Example</a:t>
                      </a:r>
                      <a:endParaRPr b="1" sz="1500">
                        <a:solidFill>
                          <a:srgbClr val="9900FF"/>
                        </a:solidFill>
                      </a:endParaRPr>
                    </a:p>
                  </a:txBody>
                  <a:tcPr marT="121900" marB="121900" marR="121900" marL="121900"/>
                </a:tc>
                <a:tc>
                  <a:txBody>
                    <a:bodyPr/>
                    <a:lstStyle/>
                    <a:p>
                      <a:pPr indent="0" lvl="0" marL="0" rtl="0" algn="l">
                        <a:lnSpc>
                          <a:spcPct val="115000"/>
                        </a:lnSpc>
                        <a:spcBef>
                          <a:spcPts val="0"/>
                        </a:spcBef>
                        <a:spcAft>
                          <a:spcPts val="0"/>
                        </a:spcAft>
                        <a:buNone/>
                      </a:pPr>
                      <a:r>
                        <a:rPr b="1" lang="en-IN" sz="1500">
                          <a:solidFill>
                            <a:srgbClr val="9900FF"/>
                          </a:solidFill>
                        </a:rPr>
                        <a:t>Sky</a:t>
                      </a:r>
                      <a:endParaRPr b="1" sz="1500">
                        <a:solidFill>
                          <a:srgbClr val="9900FF"/>
                        </a:solidFill>
                      </a:endParaRPr>
                    </a:p>
                  </a:txBody>
                  <a:tcPr marT="121900" marB="121900" marR="121900" marL="121900"/>
                </a:tc>
                <a:tc>
                  <a:txBody>
                    <a:bodyPr/>
                    <a:lstStyle/>
                    <a:p>
                      <a:pPr indent="0" lvl="0" marL="0" rtl="0" algn="l">
                        <a:lnSpc>
                          <a:spcPct val="115000"/>
                        </a:lnSpc>
                        <a:spcBef>
                          <a:spcPts val="0"/>
                        </a:spcBef>
                        <a:spcAft>
                          <a:spcPts val="0"/>
                        </a:spcAft>
                        <a:buNone/>
                      </a:pPr>
                      <a:r>
                        <a:rPr b="1" lang="en-IN" sz="1500">
                          <a:solidFill>
                            <a:srgbClr val="9900FF"/>
                          </a:solidFill>
                        </a:rPr>
                        <a:t>Temp</a:t>
                      </a:r>
                      <a:endParaRPr b="1" sz="1500">
                        <a:solidFill>
                          <a:srgbClr val="9900FF"/>
                        </a:solidFill>
                      </a:endParaRPr>
                    </a:p>
                  </a:txBody>
                  <a:tcPr marT="121900" marB="121900" marR="121900" marL="121900"/>
                </a:tc>
                <a:tc>
                  <a:txBody>
                    <a:bodyPr/>
                    <a:lstStyle/>
                    <a:p>
                      <a:pPr indent="0" lvl="0" marL="0" rtl="0" algn="l">
                        <a:lnSpc>
                          <a:spcPct val="115000"/>
                        </a:lnSpc>
                        <a:spcBef>
                          <a:spcPts val="0"/>
                        </a:spcBef>
                        <a:spcAft>
                          <a:spcPts val="0"/>
                        </a:spcAft>
                        <a:buNone/>
                      </a:pPr>
                      <a:r>
                        <a:rPr b="1" lang="en-IN" sz="1500">
                          <a:solidFill>
                            <a:srgbClr val="9900FF"/>
                          </a:solidFill>
                        </a:rPr>
                        <a:t>Humidity</a:t>
                      </a:r>
                      <a:endParaRPr b="1" sz="1500">
                        <a:solidFill>
                          <a:srgbClr val="9900FF"/>
                        </a:solidFill>
                      </a:endParaRPr>
                    </a:p>
                  </a:txBody>
                  <a:tcPr marT="121900" marB="121900" marR="121900" marL="121900"/>
                </a:tc>
                <a:tc>
                  <a:txBody>
                    <a:bodyPr/>
                    <a:lstStyle/>
                    <a:p>
                      <a:pPr indent="0" lvl="0" marL="0" rtl="0" algn="l">
                        <a:lnSpc>
                          <a:spcPct val="115000"/>
                        </a:lnSpc>
                        <a:spcBef>
                          <a:spcPts val="0"/>
                        </a:spcBef>
                        <a:spcAft>
                          <a:spcPts val="0"/>
                        </a:spcAft>
                        <a:buNone/>
                      </a:pPr>
                      <a:r>
                        <a:rPr b="1" lang="en-IN" sz="1500">
                          <a:solidFill>
                            <a:srgbClr val="9900FF"/>
                          </a:solidFill>
                        </a:rPr>
                        <a:t>Wind</a:t>
                      </a:r>
                      <a:endParaRPr b="1" sz="1500">
                        <a:solidFill>
                          <a:srgbClr val="9900FF"/>
                        </a:solidFill>
                      </a:endParaRPr>
                    </a:p>
                  </a:txBody>
                  <a:tcPr marT="121900" marB="121900" marR="121900" marL="121900"/>
                </a:tc>
                <a:tc>
                  <a:txBody>
                    <a:bodyPr/>
                    <a:lstStyle/>
                    <a:p>
                      <a:pPr indent="0" lvl="0" marL="0" rtl="0" algn="l">
                        <a:lnSpc>
                          <a:spcPct val="115000"/>
                        </a:lnSpc>
                        <a:spcBef>
                          <a:spcPts val="0"/>
                        </a:spcBef>
                        <a:spcAft>
                          <a:spcPts val="0"/>
                        </a:spcAft>
                        <a:buNone/>
                      </a:pPr>
                      <a:r>
                        <a:rPr b="1" lang="en-IN" sz="1500">
                          <a:solidFill>
                            <a:srgbClr val="9900FF"/>
                          </a:solidFill>
                        </a:rPr>
                        <a:t>Play</a:t>
                      </a:r>
                      <a:endParaRPr b="1" sz="1500">
                        <a:solidFill>
                          <a:srgbClr val="9900FF"/>
                        </a:solidFill>
                      </a:endParaRPr>
                    </a:p>
                  </a:txBody>
                  <a:tcPr marT="121900" marB="121900" marR="121900" marL="121900"/>
                </a:tc>
              </a:tr>
              <a:tr h="254000">
                <a:tc>
                  <a:txBody>
                    <a:bodyPr/>
                    <a:lstStyle/>
                    <a:p>
                      <a:pPr indent="0" lvl="0" marL="0" rtl="0" algn="l">
                        <a:spcBef>
                          <a:spcPts val="0"/>
                        </a:spcBef>
                        <a:spcAft>
                          <a:spcPts val="0"/>
                        </a:spcAft>
                        <a:buNone/>
                      </a:pPr>
                      <a:r>
                        <a:rPr lang="en-IN" sz="1900">
                          <a:solidFill>
                            <a:srgbClr val="9900FF"/>
                          </a:solidFill>
                        </a:rPr>
                        <a:t>1</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Sunny</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Warm</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Normal</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Strong</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Yes</a:t>
                      </a:r>
                      <a:endParaRPr sz="1900">
                        <a:solidFill>
                          <a:srgbClr val="9900FF"/>
                        </a:solidFill>
                      </a:endParaRPr>
                    </a:p>
                  </a:txBody>
                  <a:tcPr marT="121900" marB="121900" marR="121900" marL="121900"/>
                </a:tc>
              </a:tr>
              <a:tr h="254000">
                <a:tc>
                  <a:txBody>
                    <a:bodyPr/>
                    <a:lstStyle/>
                    <a:p>
                      <a:pPr indent="0" lvl="0" marL="0" rtl="0" algn="l">
                        <a:spcBef>
                          <a:spcPts val="0"/>
                        </a:spcBef>
                        <a:spcAft>
                          <a:spcPts val="0"/>
                        </a:spcAft>
                        <a:buNone/>
                      </a:pPr>
                      <a:r>
                        <a:rPr lang="en-IN" sz="1900">
                          <a:solidFill>
                            <a:srgbClr val="9900FF"/>
                          </a:solidFill>
                        </a:rPr>
                        <a:t>2</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Sunny</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Warm</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High</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Strong</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Yes</a:t>
                      </a:r>
                      <a:endParaRPr sz="1900">
                        <a:solidFill>
                          <a:srgbClr val="9900FF"/>
                        </a:solidFill>
                      </a:endParaRPr>
                    </a:p>
                  </a:txBody>
                  <a:tcPr marT="121900" marB="121900" marR="121900" marL="121900"/>
                </a:tc>
              </a:tr>
              <a:tr h="254000">
                <a:tc>
                  <a:txBody>
                    <a:bodyPr/>
                    <a:lstStyle/>
                    <a:p>
                      <a:pPr indent="0" lvl="0" marL="0" rtl="0" algn="l">
                        <a:spcBef>
                          <a:spcPts val="0"/>
                        </a:spcBef>
                        <a:spcAft>
                          <a:spcPts val="0"/>
                        </a:spcAft>
                        <a:buNone/>
                      </a:pPr>
                      <a:r>
                        <a:rPr lang="en-IN" sz="1900">
                          <a:solidFill>
                            <a:srgbClr val="9900FF"/>
                          </a:solidFill>
                        </a:rPr>
                        <a:t>3</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Rainy</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Cold</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High</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Strong</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No</a:t>
                      </a:r>
                      <a:endParaRPr sz="1900">
                        <a:solidFill>
                          <a:srgbClr val="9900FF"/>
                        </a:solidFill>
                      </a:endParaRPr>
                    </a:p>
                  </a:txBody>
                  <a:tcPr marT="121900" marB="121900" marR="121900" marL="121900"/>
                </a:tc>
              </a:tr>
              <a:tr h="254000">
                <a:tc>
                  <a:txBody>
                    <a:bodyPr/>
                    <a:lstStyle/>
                    <a:p>
                      <a:pPr indent="0" lvl="0" marL="0" rtl="0" algn="l">
                        <a:spcBef>
                          <a:spcPts val="0"/>
                        </a:spcBef>
                        <a:spcAft>
                          <a:spcPts val="0"/>
                        </a:spcAft>
                        <a:buNone/>
                      </a:pPr>
                      <a:r>
                        <a:rPr lang="en-IN" sz="1900">
                          <a:solidFill>
                            <a:srgbClr val="9900FF"/>
                          </a:solidFill>
                        </a:rPr>
                        <a:t>4</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Sunny</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Warm</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Normal</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Weak</a:t>
                      </a:r>
                      <a:endParaRPr sz="1900">
                        <a:solidFill>
                          <a:srgbClr val="9900FF"/>
                        </a:solidFill>
                      </a:endParaRPr>
                    </a:p>
                  </a:txBody>
                  <a:tcPr marT="121900" marB="121900" marR="121900" marL="121900"/>
                </a:tc>
                <a:tc>
                  <a:txBody>
                    <a:bodyPr/>
                    <a:lstStyle/>
                    <a:p>
                      <a:pPr indent="0" lvl="0" marL="0" rtl="0" algn="l">
                        <a:spcBef>
                          <a:spcPts val="0"/>
                        </a:spcBef>
                        <a:spcAft>
                          <a:spcPts val="0"/>
                        </a:spcAft>
                        <a:buNone/>
                      </a:pPr>
                      <a:r>
                        <a:rPr lang="en-IN" sz="1900">
                          <a:solidFill>
                            <a:srgbClr val="9900FF"/>
                          </a:solidFill>
                        </a:rPr>
                        <a:t>Yes</a:t>
                      </a:r>
                      <a:endParaRPr sz="1900">
                        <a:solidFill>
                          <a:srgbClr val="9900FF"/>
                        </a:solidFill>
                      </a:endParaRPr>
                    </a:p>
                  </a:txBody>
                  <a:tcPr marT="121900" marB="121900" marR="121900" marL="121900"/>
                </a:tc>
              </a:tr>
            </a:tbl>
          </a:graphicData>
        </a:graphic>
      </p:graphicFrame>
      <p:sp>
        <p:nvSpPr>
          <p:cNvPr id="376" name="Google Shape;376;h579826f69ffc8371_0_109"/>
          <p:cNvSpPr txBox="1"/>
          <p:nvPr/>
        </p:nvSpPr>
        <p:spPr>
          <a:xfrm>
            <a:off x="138867" y="3017533"/>
            <a:ext cx="5666400" cy="1416000"/>
          </a:xfrm>
          <a:prstGeom prst="rect">
            <a:avLst/>
          </a:prstGeom>
          <a:noFill/>
          <a:ln>
            <a:noFill/>
          </a:ln>
        </p:spPr>
        <p:txBody>
          <a:bodyPr anchorCtr="0" anchor="t" bIns="121900" lIns="121900" spcFirstLastPara="1" rIns="121900" wrap="square" tIns="121900">
            <a:spAutoFit/>
          </a:bodyPr>
          <a:lstStyle/>
          <a:p>
            <a:pPr indent="-425450" lvl="0" marL="609600" rtl="0" algn="l">
              <a:lnSpc>
                <a:spcPct val="100000"/>
              </a:lnSpc>
              <a:spcBef>
                <a:spcPts val="0"/>
              </a:spcBef>
              <a:spcAft>
                <a:spcPts val="0"/>
              </a:spcAft>
              <a:buSzPts val="1900"/>
              <a:buAutoNum type="arabicPeriod"/>
            </a:pPr>
            <a:r>
              <a:rPr lang="en-IN" sz="1900">
                <a:solidFill>
                  <a:srgbClr val="FF0000"/>
                </a:solidFill>
              </a:rPr>
              <a:t>Instance-1:</a:t>
            </a:r>
            <a:r>
              <a:rPr lang="en-IN" sz="1900"/>
              <a:t> &lt;Sunny, Warm, Normal, Strong&gt;</a:t>
            </a:r>
            <a:endParaRPr sz="1900"/>
          </a:p>
          <a:p>
            <a:pPr indent="0" lvl="0" marL="0" rtl="0" algn="l">
              <a:lnSpc>
                <a:spcPct val="100000"/>
              </a:lnSpc>
              <a:spcBef>
                <a:spcPts val="0"/>
              </a:spcBef>
              <a:spcAft>
                <a:spcPts val="0"/>
              </a:spcAft>
              <a:buNone/>
            </a:pPr>
            <a:r>
              <a:rPr lang="en-IN" sz="1900">
                <a:solidFill>
                  <a:schemeClr val="dk1"/>
                </a:solidFill>
              </a:rPr>
              <a:t>         S0 = &lt;Ø, Ø, Ø, Ø&gt;</a:t>
            </a:r>
            <a:r>
              <a:rPr lang="en-IN" sz="1900"/>
              <a:t>        </a:t>
            </a:r>
            <a:endParaRPr sz="1900"/>
          </a:p>
          <a:p>
            <a:pPr indent="0" lvl="0" marL="0" rtl="0" algn="l">
              <a:lnSpc>
                <a:spcPct val="100000"/>
              </a:lnSpc>
              <a:spcBef>
                <a:spcPts val="0"/>
              </a:spcBef>
              <a:spcAft>
                <a:spcPts val="0"/>
              </a:spcAft>
              <a:buNone/>
            </a:pPr>
            <a:r>
              <a:rPr lang="en-IN" sz="1900"/>
              <a:t>         Replace Ø with values:</a:t>
            </a:r>
            <a:endParaRPr sz="1900"/>
          </a:p>
          <a:p>
            <a:pPr indent="0" lvl="0" marL="609600" rtl="0" algn="l">
              <a:lnSpc>
                <a:spcPct val="100000"/>
              </a:lnSpc>
              <a:spcBef>
                <a:spcPts val="0"/>
              </a:spcBef>
              <a:spcAft>
                <a:spcPts val="0"/>
              </a:spcAft>
              <a:buNone/>
            </a:pPr>
            <a:r>
              <a:rPr lang="en-IN" sz="1900"/>
              <a:t>S1=&lt;Sunny,Warm,Normal,Strong&gt;</a:t>
            </a:r>
            <a:endParaRPr sz="1900"/>
          </a:p>
        </p:txBody>
      </p:sp>
      <p:sp>
        <p:nvSpPr>
          <p:cNvPr id="377" name="Google Shape;377;h579826f69ffc8371_0_109"/>
          <p:cNvSpPr txBox="1"/>
          <p:nvPr/>
        </p:nvSpPr>
        <p:spPr>
          <a:xfrm>
            <a:off x="794100" y="4288067"/>
            <a:ext cx="3999900" cy="5388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IN" sz="1900"/>
              <a:t>G1​=&lt;?,?,?,?&gt; no change</a:t>
            </a:r>
            <a:endParaRPr sz="1900"/>
          </a:p>
        </p:txBody>
      </p:sp>
      <p:sp>
        <p:nvSpPr>
          <p:cNvPr id="378" name="Google Shape;378;h579826f69ffc8371_0_109"/>
          <p:cNvSpPr txBox="1"/>
          <p:nvPr/>
        </p:nvSpPr>
        <p:spPr>
          <a:xfrm>
            <a:off x="138867" y="4706767"/>
            <a:ext cx="7033200" cy="2293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IN" sz="1900"/>
              <a:t>2.     </a:t>
            </a:r>
            <a:r>
              <a:rPr lang="en-IN" sz="1900">
                <a:solidFill>
                  <a:srgbClr val="FF0000"/>
                </a:solidFill>
              </a:rPr>
              <a:t>Instance-2</a:t>
            </a:r>
            <a:r>
              <a:rPr lang="en-IN" sz="1900">
                <a:solidFill>
                  <a:schemeClr val="dk1"/>
                </a:solidFill>
              </a:rPr>
              <a:t>:  </a:t>
            </a:r>
            <a:r>
              <a:rPr lang="en-IN" sz="1900"/>
              <a:t>&lt;Sunny, Warm, High, Strong&gt;</a:t>
            </a:r>
            <a:endParaRPr sz="1900"/>
          </a:p>
          <a:p>
            <a:pPr indent="0" lvl="0" marL="0" rtl="0" algn="l">
              <a:spcBef>
                <a:spcPts val="0"/>
              </a:spcBef>
              <a:spcAft>
                <a:spcPts val="0"/>
              </a:spcAft>
              <a:buNone/>
            </a:pPr>
            <a:r>
              <a:rPr lang="en-IN" sz="1900"/>
              <a:t>        Compare with S₁:</a:t>
            </a:r>
            <a:endParaRPr sz="1900"/>
          </a:p>
          <a:p>
            <a:pPr indent="0" lvl="0" marL="0" rtl="0" algn="l">
              <a:spcBef>
                <a:spcPts val="0"/>
              </a:spcBef>
              <a:spcAft>
                <a:spcPts val="0"/>
              </a:spcAft>
              <a:buNone/>
            </a:pPr>
            <a:r>
              <a:rPr lang="en-IN" sz="1900"/>
              <a:t>       &lt;S2​=&lt;Sunny,Warm,?,Strong&gt;</a:t>
            </a:r>
            <a:endParaRPr sz="1900"/>
          </a:p>
          <a:p>
            <a:pPr indent="0" lvl="0" marL="0" rtl="0" algn="l">
              <a:spcBef>
                <a:spcPts val="0"/>
              </a:spcBef>
              <a:spcAft>
                <a:spcPts val="0"/>
              </a:spcAft>
              <a:buClr>
                <a:schemeClr val="dk1"/>
              </a:buClr>
              <a:buSzPts val="1500"/>
              <a:buFont typeface="Arial"/>
              <a:buNone/>
            </a:pPr>
            <a:r>
              <a:rPr lang="en-IN" sz="1900"/>
              <a:t>       Remove hypotheses inconsistent with this positive example.</a:t>
            </a:r>
            <a:endParaRPr sz="1900"/>
          </a:p>
          <a:p>
            <a:pPr indent="0" lvl="0" marL="0" rtl="0" algn="l">
              <a:spcBef>
                <a:spcPts val="0"/>
              </a:spcBef>
              <a:spcAft>
                <a:spcPts val="0"/>
              </a:spcAft>
              <a:buNone/>
            </a:pPr>
            <a:r>
              <a:rPr lang="en-IN" sz="1900"/>
              <a:t>       Current G still consistent → No change.</a:t>
            </a:r>
            <a:endParaRPr sz="1900"/>
          </a:p>
          <a:p>
            <a:pPr indent="0" lvl="0" marL="0" rtl="0" algn="l">
              <a:spcBef>
                <a:spcPts val="0"/>
              </a:spcBef>
              <a:spcAft>
                <a:spcPts val="0"/>
              </a:spcAft>
              <a:buNone/>
            </a:pPr>
            <a:r>
              <a:rPr lang="en-IN" sz="1900"/>
              <a:t>        G2​=&lt;?,?,?,?&gt;</a:t>
            </a:r>
            <a:endParaRPr sz="1900"/>
          </a:p>
        </p:txBody>
      </p:sp>
      <p:sp>
        <p:nvSpPr>
          <p:cNvPr id="379" name="Google Shape;379;h579826f69ffc8371_0_109"/>
          <p:cNvSpPr txBox="1"/>
          <p:nvPr/>
        </p:nvSpPr>
        <p:spPr>
          <a:xfrm>
            <a:off x="6658667" y="2723900"/>
            <a:ext cx="5186100" cy="5388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IN" sz="1900">
                <a:solidFill>
                  <a:srgbClr val="FF0000"/>
                </a:solidFill>
              </a:rPr>
              <a:t>Instance-3:</a:t>
            </a:r>
            <a:r>
              <a:rPr lang="en-IN" sz="1900"/>
              <a:t>&lt;Rainy, Cold, High, Strong&gt;</a:t>
            </a:r>
            <a:endParaRPr sz="1900"/>
          </a:p>
        </p:txBody>
      </p:sp>
      <p:sp>
        <p:nvSpPr>
          <p:cNvPr id="380" name="Google Shape;380;h579826f69ffc8371_0_109"/>
          <p:cNvSpPr txBox="1"/>
          <p:nvPr/>
        </p:nvSpPr>
        <p:spPr>
          <a:xfrm>
            <a:off x="7022433" y="3178533"/>
            <a:ext cx="5036100" cy="3463200"/>
          </a:xfrm>
          <a:prstGeom prst="rect">
            <a:avLst/>
          </a:prstGeom>
          <a:noFill/>
          <a:ln>
            <a:noFill/>
          </a:ln>
        </p:spPr>
        <p:txBody>
          <a:bodyPr anchorCtr="0" anchor="t" bIns="121900" lIns="121900" spcFirstLastPara="1" rIns="121900" wrap="square" tIns="121900">
            <a:spAutoFit/>
          </a:bodyPr>
          <a:lstStyle/>
          <a:p>
            <a:pPr indent="0" lvl="0" marL="0" rtl="0" algn="l">
              <a:lnSpc>
                <a:spcPct val="100000"/>
              </a:lnSpc>
              <a:spcBef>
                <a:spcPts val="0"/>
              </a:spcBef>
              <a:spcAft>
                <a:spcPts val="0"/>
              </a:spcAft>
              <a:buNone/>
            </a:pPr>
            <a:r>
              <a:rPr lang="en-IN" sz="1900">
                <a:solidFill>
                  <a:schemeClr val="dk1"/>
                </a:solidFill>
                <a:latin typeface="Times New Roman"/>
                <a:ea typeface="Times New Roman"/>
                <a:cs typeface="Times New Roman"/>
                <a:sym typeface="Times New Roman"/>
              </a:rPr>
              <a:t>Now we update </a:t>
            </a:r>
            <a:r>
              <a:rPr b="1" lang="en-IN" sz="1900">
                <a:solidFill>
                  <a:schemeClr val="dk1"/>
                </a:solidFill>
                <a:latin typeface="Times New Roman"/>
                <a:ea typeface="Times New Roman"/>
                <a:cs typeface="Times New Roman"/>
                <a:sym typeface="Times New Roman"/>
              </a:rPr>
              <a:t>G</a:t>
            </a:r>
            <a:r>
              <a:rPr lang="en-IN" sz="1900">
                <a:solidFill>
                  <a:schemeClr val="dk1"/>
                </a:solidFill>
                <a:latin typeface="Times New Roman"/>
                <a:ea typeface="Times New Roman"/>
                <a:cs typeface="Times New Roman"/>
                <a:sym typeface="Times New Roman"/>
              </a:rPr>
              <a:t>, not S.</a:t>
            </a:r>
            <a:endParaRPr sz="1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IN" sz="1900">
                <a:solidFill>
                  <a:schemeClr val="dk1"/>
                </a:solidFill>
                <a:latin typeface="Times New Roman"/>
                <a:ea typeface="Times New Roman"/>
                <a:cs typeface="Times New Roman"/>
                <a:sym typeface="Times New Roman"/>
              </a:rPr>
              <a:t>We must specialize G so it does NOT cover this negative example.</a:t>
            </a:r>
            <a:endParaRPr sz="1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IN" sz="1900">
                <a:solidFill>
                  <a:schemeClr val="dk1"/>
                </a:solidFill>
                <a:latin typeface="Times New Roman"/>
                <a:ea typeface="Times New Roman"/>
                <a:cs typeface="Times New Roman"/>
                <a:sym typeface="Times New Roman"/>
              </a:rPr>
              <a:t>Current:  G2=&lt;?,?,?,?&gt;</a:t>
            </a:r>
            <a:endParaRPr sz="1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IN" sz="1900">
                <a:solidFill>
                  <a:schemeClr val="dk1"/>
                </a:solidFill>
                <a:latin typeface="Times New Roman"/>
                <a:ea typeface="Times New Roman"/>
                <a:cs typeface="Times New Roman"/>
                <a:sym typeface="Times New Roman"/>
              </a:rPr>
              <a:t>To exclude &lt;Rainy, Cold, High, Strong&gt;, we specialize attributes one by one:Possible minimal specializations:</a:t>
            </a:r>
            <a:endParaRPr sz="1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1900">
                <a:solidFill>
                  <a:srgbClr val="9900FF"/>
                </a:solidFill>
                <a:latin typeface="Times New Roman"/>
                <a:ea typeface="Times New Roman"/>
                <a:cs typeface="Times New Roman"/>
                <a:sym typeface="Times New Roman"/>
              </a:rPr>
              <a:t>&lt;Sunny, ?, ?, ?&gt;</a:t>
            </a:r>
            <a:endParaRPr b="1" sz="1900">
              <a:solidFill>
                <a:srgbClr val="9900FF"/>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1900">
                <a:solidFill>
                  <a:srgbClr val="9900FF"/>
                </a:solidFill>
                <a:latin typeface="Times New Roman"/>
                <a:ea typeface="Times New Roman"/>
                <a:cs typeface="Times New Roman"/>
                <a:sym typeface="Times New Roman"/>
              </a:rPr>
              <a:t>&lt;?, Warm, ?, ?&gt;</a:t>
            </a:r>
            <a:endParaRPr b="1" sz="1900">
              <a:solidFill>
                <a:srgbClr val="9900FF"/>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1900">
                <a:solidFill>
                  <a:srgbClr val="9900FF"/>
                </a:solidFill>
                <a:latin typeface="Times New Roman"/>
                <a:ea typeface="Times New Roman"/>
                <a:cs typeface="Times New Roman"/>
                <a:sym typeface="Times New Roman"/>
              </a:rPr>
              <a:t>&lt;?, ?, Normal, ?&gt;</a:t>
            </a:r>
            <a:endParaRPr b="1" sz="1900">
              <a:solidFill>
                <a:srgbClr val="9900FF"/>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1900">
                <a:solidFill>
                  <a:srgbClr val="9900FF"/>
                </a:solidFill>
                <a:latin typeface="Times New Roman"/>
                <a:ea typeface="Times New Roman"/>
                <a:cs typeface="Times New Roman"/>
                <a:sym typeface="Times New Roman"/>
              </a:rPr>
              <a:t>&lt;?, ?, ?, Weak&gt;</a:t>
            </a:r>
            <a:endParaRPr b="1" sz="1900">
              <a:solidFill>
                <a:srgbClr val="9900FF"/>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h579826f69ffc8371_0_120"/>
          <p:cNvPicPr preferRelativeResize="0"/>
          <p:nvPr/>
        </p:nvPicPr>
        <p:blipFill>
          <a:blip r:embed="rId3">
            <a:alphaModFix/>
          </a:blip>
          <a:stretch>
            <a:fillRect/>
          </a:stretch>
        </p:blipFill>
        <p:spPr>
          <a:xfrm>
            <a:off x="694100" y="59167"/>
            <a:ext cx="11436635" cy="6798832"/>
          </a:xfrm>
          <a:prstGeom prst="rect">
            <a:avLst/>
          </a:prstGeom>
          <a:noFill/>
          <a:ln>
            <a:noFill/>
          </a:ln>
        </p:spPr>
      </p:pic>
      <p:sp>
        <p:nvSpPr>
          <p:cNvPr id="386" name="Google Shape;386;h579826f69ffc8371_0_120"/>
          <p:cNvSpPr txBox="1"/>
          <p:nvPr>
            <p:ph type="title"/>
          </p:nvPr>
        </p:nvSpPr>
        <p:spPr>
          <a:xfrm>
            <a:off x="0" y="59176"/>
            <a:ext cx="2558400" cy="8550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SzPts val="990"/>
              <a:buNone/>
            </a:pPr>
            <a:r>
              <a:rPr lang="en-IN" sz="3360"/>
              <a:t>Problem-1</a:t>
            </a:r>
            <a:endParaRPr sz="336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h579826f69ffc8371_0_125"/>
          <p:cNvPicPr preferRelativeResize="0"/>
          <p:nvPr/>
        </p:nvPicPr>
        <p:blipFill>
          <a:blip r:embed="rId3">
            <a:alphaModFix/>
          </a:blip>
          <a:stretch>
            <a:fillRect/>
          </a:stretch>
        </p:blipFill>
        <p:spPr>
          <a:xfrm>
            <a:off x="102133" y="780700"/>
            <a:ext cx="11785601" cy="357271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h579826f69ffc8371_0_188"/>
          <p:cNvSpPr txBox="1"/>
          <p:nvPr>
            <p:ph type="title"/>
          </p:nvPr>
        </p:nvSpPr>
        <p:spPr>
          <a:xfrm>
            <a:off x="629125" y="260575"/>
            <a:ext cx="3601800" cy="590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IN" sz="2900">
                <a:solidFill>
                  <a:srgbClr val="FF0000"/>
                </a:solidFill>
                <a:latin typeface="Arial"/>
                <a:ea typeface="Arial"/>
                <a:cs typeface="Arial"/>
                <a:sym typeface="Arial"/>
              </a:rPr>
              <a:t>Induction biases </a:t>
            </a:r>
            <a:endParaRPr/>
          </a:p>
        </p:txBody>
      </p:sp>
      <p:sp>
        <p:nvSpPr>
          <p:cNvPr id="397" name="Google Shape;397;h579826f69ffc8371_0_188"/>
          <p:cNvSpPr txBox="1"/>
          <p:nvPr>
            <p:ph idx="1" type="body"/>
          </p:nvPr>
        </p:nvSpPr>
        <p:spPr>
          <a:xfrm>
            <a:off x="629125" y="955825"/>
            <a:ext cx="10515600" cy="4351200"/>
          </a:xfrm>
          <a:prstGeom prst="rect">
            <a:avLst/>
          </a:prstGeom>
        </p:spPr>
        <p:txBody>
          <a:bodyPr anchorCtr="0" anchor="t" bIns="45700" lIns="91425" spcFirstLastPara="1" rIns="91425" wrap="square" tIns="45700">
            <a:normAutofit/>
          </a:bodyPr>
          <a:lstStyle/>
          <a:p>
            <a:pPr indent="0" lvl="0" marL="0" rtl="0" algn="just">
              <a:lnSpc>
                <a:spcPct val="115000"/>
              </a:lnSpc>
              <a:spcBef>
                <a:spcPts val="0"/>
              </a:spcBef>
              <a:spcAft>
                <a:spcPts val="0"/>
              </a:spcAft>
              <a:buClr>
                <a:schemeClr val="dk1"/>
              </a:buClr>
              <a:buSzPts val="1100"/>
              <a:buFont typeface="Arial"/>
              <a:buNone/>
            </a:pPr>
            <a:r>
              <a:rPr b="1" lang="en-IN" sz="2400"/>
              <a:t>Induction</a:t>
            </a:r>
            <a:r>
              <a:rPr lang="en-IN" sz="2400"/>
              <a:t> is a process of learning a target function or generalizing training data into a general model.</a:t>
            </a:r>
            <a:endParaRPr sz="2400"/>
          </a:p>
          <a:p>
            <a:pPr indent="0" lvl="0" marL="0" rtl="0" algn="just">
              <a:lnSpc>
                <a:spcPct val="115000"/>
              </a:lnSpc>
              <a:spcBef>
                <a:spcPts val="1200"/>
              </a:spcBef>
              <a:spcAft>
                <a:spcPts val="0"/>
              </a:spcAft>
              <a:buClr>
                <a:schemeClr val="dk1"/>
              </a:buClr>
              <a:buSzPts val="1100"/>
              <a:buFont typeface="Arial"/>
              <a:buNone/>
            </a:pPr>
            <a:r>
              <a:rPr b="1" lang="en-IN" sz="2400"/>
              <a:t>Inductive bias</a:t>
            </a:r>
            <a:r>
              <a:rPr lang="en-IN" sz="2400"/>
              <a:t> is the set of prior assumptions considered by a learning algorithm beyond the training data, in order to perform induction. It is also called the </a:t>
            </a:r>
            <a:r>
              <a:rPr i="1" lang="en-IN" sz="2400"/>
              <a:t>bias of the algorithm</a:t>
            </a:r>
            <a:r>
              <a:rPr lang="en-IN" sz="2400"/>
              <a:t> and is similar to prior knowledge used for learning new concepts.</a:t>
            </a:r>
            <a:endParaRPr sz="2400"/>
          </a:p>
          <a:p>
            <a:pPr indent="0" lvl="0" marL="0" rtl="0" algn="just">
              <a:spcBef>
                <a:spcPts val="1200"/>
              </a:spcBef>
              <a:spcAft>
                <a:spcPts val="0"/>
              </a:spcAft>
              <a:buNone/>
            </a:pPr>
            <a:r>
              <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h648b28e9c55eb513_0_10"/>
          <p:cNvSpPr txBox="1"/>
          <p:nvPr/>
        </p:nvSpPr>
        <p:spPr>
          <a:xfrm>
            <a:off x="286800" y="703475"/>
            <a:ext cx="11618400" cy="5941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2200">
                <a:solidFill>
                  <a:schemeClr val="dk1"/>
                </a:solidFill>
              </a:rPr>
              <a:t>1. Bias</a:t>
            </a:r>
            <a:endParaRPr b="1" sz="2200">
              <a:solidFill>
                <a:schemeClr val="dk1"/>
              </a:solidFill>
            </a:endParaRPr>
          </a:p>
          <a:p>
            <a:pPr indent="0" lvl="0" marL="0" rtl="0" algn="l">
              <a:lnSpc>
                <a:spcPct val="100000"/>
              </a:lnSpc>
              <a:spcBef>
                <a:spcPts val="0"/>
              </a:spcBef>
              <a:spcAft>
                <a:spcPts val="0"/>
              </a:spcAft>
              <a:buNone/>
            </a:pPr>
            <a:r>
              <a:rPr b="1" lang="en-IN" sz="2200">
                <a:solidFill>
                  <a:schemeClr val="dk1"/>
                </a:solidFill>
              </a:rPr>
              <a:t>Bias</a:t>
            </a:r>
            <a:r>
              <a:rPr lang="en-IN" sz="2200">
                <a:solidFill>
                  <a:schemeClr val="dk1"/>
                </a:solidFill>
              </a:rPr>
              <a:t> is the error caused when a model is </a:t>
            </a:r>
            <a:r>
              <a:rPr b="1" lang="en-IN" sz="2200">
                <a:solidFill>
                  <a:schemeClr val="dk1"/>
                </a:solidFill>
              </a:rPr>
              <a:t>too simple</a:t>
            </a:r>
            <a:r>
              <a:rPr lang="en-IN" sz="2200">
                <a:solidFill>
                  <a:schemeClr val="dk1"/>
                </a:solidFill>
              </a:rPr>
              <a:t> and makes strong assumptions about the data.</a:t>
            </a:r>
            <a:endParaRPr sz="2200">
              <a:solidFill>
                <a:schemeClr val="dk1"/>
              </a:solidFill>
            </a:endParaRPr>
          </a:p>
          <a:p>
            <a:pPr indent="-368300" lvl="0" marL="457200" rtl="0" algn="l">
              <a:lnSpc>
                <a:spcPct val="100000"/>
              </a:lnSpc>
              <a:spcBef>
                <a:spcPts val="0"/>
              </a:spcBef>
              <a:spcAft>
                <a:spcPts val="0"/>
              </a:spcAft>
              <a:buClr>
                <a:schemeClr val="dk1"/>
              </a:buClr>
              <a:buSzPts val="2200"/>
              <a:buChar char="●"/>
            </a:pPr>
            <a:r>
              <a:rPr lang="en-IN" sz="2200">
                <a:solidFill>
                  <a:schemeClr val="dk1"/>
                </a:solidFill>
              </a:rPr>
              <a:t>High bias → </a:t>
            </a:r>
            <a:r>
              <a:rPr b="1" lang="en-IN" sz="2200">
                <a:solidFill>
                  <a:schemeClr val="dk1"/>
                </a:solidFill>
              </a:rPr>
              <a:t>Underfitting</a:t>
            </a:r>
            <a:endParaRPr b="1" sz="2200">
              <a:solidFill>
                <a:schemeClr val="dk1"/>
              </a:solidFill>
            </a:endParaRPr>
          </a:p>
          <a:p>
            <a:pPr indent="-368300" lvl="0" marL="457200" rtl="0" algn="l">
              <a:lnSpc>
                <a:spcPct val="100000"/>
              </a:lnSpc>
              <a:spcBef>
                <a:spcPts val="0"/>
              </a:spcBef>
              <a:spcAft>
                <a:spcPts val="0"/>
              </a:spcAft>
              <a:buClr>
                <a:schemeClr val="dk1"/>
              </a:buClr>
              <a:buSzPts val="2200"/>
              <a:buChar char="●"/>
            </a:pPr>
            <a:r>
              <a:rPr lang="en-IN" sz="2200">
                <a:solidFill>
                  <a:schemeClr val="dk1"/>
                </a:solidFill>
              </a:rPr>
              <a:t>The model performs poorly on both training and test data.</a:t>
            </a:r>
            <a:endParaRPr sz="2200">
              <a:solidFill>
                <a:schemeClr val="dk1"/>
              </a:solidFill>
            </a:endParaRPr>
          </a:p>
          <a:p>
            <a:pPr indent="-368300" lvl="0" marL="457200" rtl="0" algn="l">
              <a:lnSpc>
                <a:spcPct val="100000"/>
              </a:lnSpc>
              <a:spcBef>
                <a:spcPts val="0"/>
              </a:spcBef>
              <a:spcAft>
                <a:spcPts val="0"/>
              </a:spcAft>
              <a:buClr>
                <a:schemeClr val="dk1"/>
              </a:buClr>
              <a:buSzPts val="2200"/>
              <a:buChar char="●"/>
            </a:pPr>
            <a:r>
              <a:rPr lang="en-IN" sz="2200">
                <a:solidFill>
                  <a:schemeClr val="dk1"/>
                </a:solidFill>
              </a:rPr>
              <a:t>Example: Using a </a:t>
            </a:r>
            <a:r>
              <a:rPr b="1" lang="en-IN" sz="2200">
                <a:solidFill>
                  <a:schemeClr val="dk1"/>
                </a:solidFill>
              </a:rPr>
              <a:t>s</a:t>
            </a:r>
            <a:r>
              <a:rPr lang="en-IN" sz="2200">
                <a:solidFill>
                  <a:schemeClr val="dk1"/>
                </a:solidFill>
              </a:rPr>
              <a:t>traight line (linear regression) to model a highly complex curved relationship.</a:t>
            </a:r>
            <a:endParaRPr sz="2200">
              <a:solidFill>
                <a:schemeClr val="dk1"/>
              </a:solidFill>
            </a:endParaRPr>
          </a:p>
          <a:p>
            <a:pPr indent="0" lvl="0" marL="381000" marR="381000" rtl="0" algn="l">
              <a:lnSpc>
                <a:spcPct val="100000"/>
              </a:lnSpc>
              <a:spcBef>
                <a:spcPts val="0"/>
              </a:spcBef>
              <a:spcAft>
                <a:spcPts val="0"/>
              </a:spcAft>
              <a:buNone/>
            </a:pPr>
            <a:r>
              <a:rPr lang="en-IN" sz="2200">
                <a:solidFill>
                  <a:schemeClr val="dk1"/>
                </a:solidFill>
              </a:rPr>
              <a:t>Bias is the error due to a model being too simple to capture the actual pattern in the data.</a:t>
            </a:r>
            <a:endParaRPr sz="2200">
              <a:solidFill>
                <a:schemeClr val="dk1"/>
              </a:solidFill>
            </a:endParaRPr>
          </a:p>
          <a:p>
            <a:pPr indent="0" lvl="0" marL="0" rtl="0" algn="l">
              <a:lnSpc>
                <a:spcPct val="100000"/>
              </a:lnSpc>
              <a:spcBef>
                <a:spcPts val="0"/>
              </a:spcBef>
              <a:spcAft>
                <a:spcPts val="0"/>
              </a:spcAft>
              <a:buNone/>
            </a:pPr>
            <a:r>
              <a:t/>
            </a:r>
            <a:endParaRPr b="1" sz="2200">
              <a:solidFill>
                <a:schemeClr val="dk1"/>
              </a:solidFill>
            </a:endParaRPr>
          </a:p>
          <a:p>
            <a:pPr indent="0" lvl="0" marL="0" rtl="0" algn="l">
              <a:lnSpc>
                <a:spcPct val="100000"/>
              </a:lnSpc>
              <a:spcBef>
                <a:spcPts val="0"/>
              </a:spcBef>
              <a:spcAft>
                <a:spcPts val="0"/>
              </a:spcAft>
              <a:buNone/>
            </a:pPr>
            <a:r>
              <a:rPr b="1" lang="en-IN" sz="2200">
                <a:solidFill>
                  <a:schemeClr val="dk1"/>
                </a:solidFill>
              </a:rPr>
              <a:t>2. Variance</a:t>
            </a:r>
            <a:endParaRPr b="1" sz="2200">
              <a:solidFill>
                <a:schemeClr val="dk1"/>
              </a:solidFill>
            </a:endParaRPr>
          </a:p>
          <a:p>
            <a:pPr indent="0" lvl="0" marL="0" rtl="0" algn="l">
              <a:lnSpc>
                <a:spcPct val="100000"/>
              </a:lnSpc>
              <a:spcBef>
                <a:spcPts val="0"/>
              </a:spcBef>
              <a:spcAft>
                <a:spcPts val="0"/>
              </a:spcAft>
              <a:buNone/>
            </a:pPr>
            <a:r>
              <a:rPr b="1" lang="en-IN" sz="2200">
                <a:solidFill>
                  <a:schemeClr val="dk1"/>
                </a:solidFill>
              </a:rPr>
              <a:t>Variance</a:t>
            </a:r>
            <a:r>
              <a:rPr lang="en-IN" sz="2200">
                <a:solidFill>
                  <a:schemeClr val="dk1"/>
                </a:solidFill>
              </a:rPr>
              <a:t> is the error caused when a model is too sensitive to the training data.</a:t>
            </a:r>
            <a:endParaRPr sz="2200">
              <a:solidFill>
                <a:schemeClr val="dk1"/>
              </a:solidFill>
            </a:endParaRPr>
          </a:p>
          <a:p>
            <a:pPr indent="-368300" lvl="0" marL="457200" rtl="0" algn="l">
              <a:lnSpc>
                <a:spcPct val="100000"/>
              </a:lnSpc>
              <a:spcBef>
                <a:spcPts val="0"/>
              </a:spcBef>
              <a:spcAft>
                <a:spcPts val="0"/>
              </a:spcAft>
              <a:buClr>
                <a:schemeClr val="dk1"/>
              </a:buClr>
              <a:buSzPts val="2200"/>
              <a:buChar char="●"/>
            </a:pPr>
            <a:r>
              <a:rPr lang="en-IN" sz="2200">
                <a:solidFill>
                  <a:schemeClr val="dk1"/>
                </a:solidFill>
              </a:rPr>
              <a:t>High variance → </a:t>
            </a:r>
            <a:r>
              <a:rPr b="1" lang="en-IN" sz="2200">
                <a:solidFill>
                  <a:schemeClr val="dk1"/>
                </a:solidFill>
              </a:rPr>
              <a:t>Overfitting</a:t>
            </a:r>
            <a:endParaRPr b="1" sz="2200">
              <a:solidFill>
                <a:schemeClr val="dk1"/>
              </a:solidFill>
            </a:endParaRPr>
          </a:p>
          <a:p>
            <a:pPr indent="-368300" lvl="0" marL="457200" rtl="0" algn="l">
              <a:lnSpc>
                <a:spcPct val="100000"/>
              </a:lnSpc>
              <a:spcBef>
                <a:spcPts val="0"/>
              </a:spcBef>
              <a:spcAft>
                <a:spcPts val="0"/>
              </a:spcAft>
              <a:buClr>
                <a:schemeClr val="dk1"/>
              </a:buClr>
              <a:buSzPts val="2200"/>
              <a:buChar char="●"/>
            </a:pPr>
            <a:r>
              <a:rPr lang="en-IN" sz="2200">
                <a:solidFill>
                  <a:schemeClr val="dk1"/>
                </a:solidFill>
              </a:rPr>
              <a:t>The model performs very well on training data but poorly on unseen/test data.</a:t>
            </a:r>
            <a:endParaRPr sz="2200">
              <a:solidFill>
                <a:schemeClr val="dk1"/>
              </a:solidFill>
            </a:endParaRPr>
          </a:p>
          <a:p>
            <a:pPr indent="-368300" lvl="0" marL="457200" rtl="0" algn="l">
              <a:lnSpc>
                <a:spcPct val="100000"/>
              </a:lnSpc>
              <a:spcBef>
                <a:spcPts val="0"/>
              </a:spcBef>
              <a:spcAft>
                <a:spcPts val="0"/>
              </a:spcAft>
              <a:buClr>
                <a:schemeClr val="dk1"/>
              </a:buClr>
              <a:buSzPts val="2200"/>
              <a:buChar char="●"/>
            </a:pPr>
            <a:r>
              <a:rPr lang="en-IN" sz="2200">
                <a:solidFill>
                  <a:schemeClr val="dk1"/>
                </a:solidFill>
              </a:rPr>
              <a:t>Example: A very deep decision tree that memorizes the training examples.</a:t>
            </a:r>
            <a:endParaRPr sz="2200">
              <a:solidFill>
                <a:schemeClr val="dk1"/>
              </a:solidFill>
            </a:endParaRPr>
          </a:p>
          <a:p>
            <a:pPr indent="0" lvl="0" marL="381000" marR="381000" rtl="0" algn="l">
              <a:lnSpc>
                <a:spcPct val="100000"/>
              </a:lnSpc>
              <a:spcBef>
                <a:spcPts val="0"/>
              </a:spcBef>
              <a:spcAft>
                <a:spcPts val="0"/>
              </a:spcAft>
              <a:buNone/>
            </a:pPr>
            <a:r>
              <a:rPr lang="en-IN" sz="2200">
                <a:solidFill>
                  <a:schemeClr val="dk1"/>
                </a:solidFill>
              </a:rPr>
              <a:t>Variance is the error due to a model changing too much when the training data changes.</a:t>
            </a:r>
            <a:endParaRPr sz="22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h579826f69ffc8371_0_179"/>
          <p:cNvSpPr txBox="1"/>
          <p:nvPr>
            <p:ph type="title"/>
          </p:nvPr>
        </p:nvSpPr>
        <p:spPr>
          <a:xfrm>
            <a:off x="629100" y="2267800"/>
            <a:ext cx="3037500" cy="7164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IN" sz="3700"/>
              <a:t>Bias </a:t>
            </a:r>
            <a:r>
              <a:rPr lang="en-IN" sz="3700"/>
              <a:t>variance</a:t>
            </a:r>
            <a:r>
              <a:rPr lang="en-IN" sz="3700"/>
              <a:t> tradeoff</a:t>
            </a:r>
            <a:endParaRPr sz="3700"/>
          </a:p>
        </p:txBody>
      </p:sp>
      <p:pic>
        <p:nvPicPr>
          <p:cNvPr id="408" name="Google Shape;408;h579826f69ffc8371_0_179"/>
          <p:cNvPicPr preferRelativeResize="0"/>
          <p:nvPr/>
        </p:nvPicPr>
        <p:blipFill>
          <a:blip r:embed="rId3">
            <a:alphaModFix/>
          </a:blip>
          <a:stretch>
            <a:fillRect/>
          </a:stretch>
        </p:blipFill>
        <p:spPr>
          <a:xfrm>
            <a:off x="3561975" y="0"/>
            <a:ext cx="7946700" cy="6517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h648b28e9c55eb513_0_17"/>
          <p:cNvSpPr txBox="1"/>
          <p:nvPr>
            <p:ph type="title"/>
          </p:nvPr>
        </p:nvSpPr>
        <p:spPr>
          <a:xfrm>
            <a:off x="399100" y="323300"/>
            <a:ext cx="5232900" cy="6744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IN" sz="3000">
                <a:solidFill>
                  <a:srgbClr val="FF0000"/>
                </a:solidFill>
                <a:latin typeface="Times New Roman"/>
                <a:ea typeface="Times New Roman"/>
                <a:cs typeface="Times New Roman"/>
                <a:sym typeface="Times New Roman"/>
              </a:rPr>
              <a:t>Modelling in Machine Learning </a:t>
            </a:r>
            <a:endParaRPr sz="3000">
              <a:solidFill>
                <a:srgbClr val="FF0000"/>
              </a:solidFill>
              <a:latin typeface="Times New Roman"/>
              <a:ea typeface="Times New Roman"/>
              <a:cs typeface="Times New Roman"/>
              <a:sym typeface="Times New Roman"/>
            </a:endParaRPr>
          </a:p>
        </p:txBody>
      </p:sp>
      <p:sp>
        <p:nvSpPr>
          <p:cNvPr id="414" name="Google Shape;414;h648b28e9c55eb513_0_17"/>
          <p:cNvSpPr txBox="1"/>
          <p:nvPr>
            <p:ph idx="1" type="body"/>
          </p:nvPr>
        </p:nvSpPr>
        <p:spPr>
          <a:xfrm>
            <a:off x="608200" y="1114750"/>
            <a:ext cx="10515600" cy="4351200"/>
          </a:xfrm>
          <a:prstGeom prst="rect">
            <a:avLst/>
          </a:prstGeom>
        </p:spPr>
        <p:txBody>
          <a:bodyPr anchorCtr="0" anchor="t" bIns="45700" lIns="91425" spcFirstLastPara="1" rIns="91425" wrap="square" tIns="45700">
            <a:noAutofit/>
          </a:bodyPr>
          <a:lstStyle/>
          <a:p>
            <a:pPr indent="-401796" lvl="0" marL="457200" rtl="0" algn="l">
              <a:lnSpc>
                <a:spcPct val="70000"/>
              </a:lnSpc>
              <a:spcBef>
                <a:spcPts val="1000"/>
              </a:spcBef>
              <a:spcAft>
                <a:spcPts val="0"/>
              </a:spcAft>
              <a:buClr>
                <a:srgbClr val="0000FF"/>
              </a:buClr>
              <a:buSzPts val="2728"/>
              <a:buAutoNum type="romanUcPeriod"/>
            </a:pPr>
            <a:r>
              <a:rPr lang="en-IN" sz="2728">
                <a:solidFill>
                  <a:srgbClr val="0000FF"/>
                </a:solidFill>
              </a:rPr>
              <a:t>Model selection and model evaluation</a:t>
            </a:r>
            <a:endParaRPr sz="2728"/>
          </a:p>
          <a:p>
            <a:pPr indent="-401796" lvl="0" marL="457200" rtl="0" algn="l">
              <a:lnSpc>
                <a:spcPct val="70000"/>
              </a:lnSpc>
              <a:spcBef>
                <a:spcPts val="0"/>
              </a:spcBef>
              <a:spcAft>
                <a:spcPts val="0"/>
              </a:spcAft>
              <a:buClr>
                <a:srgbClr val="0000FF"/>
              </a:buClr>
              <a:buSzPts val="2728"/>
              <a:buAutoNum type="romanUcPeriod"/>
            </a:pPr>
            <a:r>
              <a:rPr lang="en-IN" sz="2728">
                <a:solidFill>
                  <a:srgbClr val="0000FF"/>
                </a:solidFill>
              </a:rPr>
              <a:t>Resampling methods</a:t>
            </a:r>
            <a:endParaRPr sz="2728">
              <a:solidFill>
                <a:srgbClr val="0000FF"/>
              </a:solidFill>
            </a:endParaRPr>
          </a:p>
          <a:p>
            <a:pPr indent="0" lvl="0" marL="0" rtl="0" algn="l">
              <a:lnSpc>
                <a:spcPct val="95000"/>
              </a:lnSpc>
              <a:spcBef>
                <a:spcPts val="1200"/>
              </a:spcBef>
              <a:spcAft>
                <a:spcPts val="0"/>
              </a:spcAft>
              <a:buSzPts val="1018"/>
              <a:buNone/>
            </a:pPr>
            <a:r>
              <a:rPr lang="en-IN" sz="2666"/>
              <a:t>The main resampling methods are:</a:t>
            </a:r>
            <a:endParaRPr sz="2666"/>
          </a:p>
          <a:p>
            <a:pPr indent="-397911" lvl="0" marL="457200" rtl="0" algn="l">
              <a:lnSpc>
                <a:spcPct val="95000"/>
              </a:lnSpc>
              <a:spcBef>
                <a:spcPts val="1200"/>
              </a:spcBef>
              <a:spcAft>
                <a:spcPts val="0"/>
              </a:spcAft>
              <a:buSzPts val="2666"/>
              <a:buAutoNum type="arabicPeriod"/>
            </a:pPr>
            <a:r>
              <a:rPr b="1" lang="en-IN" sz="2666"/>
              <a:t>Holdout Method</a:t>
            </a:r>
            <a:endParaRPr b="1" sz="2666"/>
          </a:p>
          <a:p>
            <a:pPr indent="-397911" lvl="0" marL="457200" rtl="0" algn="l">
              <a:lnSpc>
                <a:spcPct val="95000"/>
              </a:lnSpc>
              <a:spcBef>
                <a:spcPts val="0"/>
              </a:spcBef>
              <a:spcAft>
                <a:spcPts val="0"/>
              </a:spcAft>
              <a:buSzPts val="2666"/>
              <a:buAutoNum type="arabicPeriod"/>
            </a:pPr>
            <a:r>
              <a:rPr b="1" lang="en-IN" sz="2666"/>
              <a:t>Random Subsampling</a:t>
            </a:r>
            <a:endParaRPr b="1" sz="2666"/>
          </a:p>
          <a:p>
            <a:pPr indent="-397911" lvl="0" marL="457200" rtl="0" algn="l">
              <a:lnSpc>
                <a:spcPct val="95000"/>
              </a:lnSpc>
              <a:spcBef>
                <a:spcPts val="0"/>
              </a:spcBef>
              <a:spcAft>
                <a:spcPts val="0"/>
              </a:spcAft>
              <a:buSzPts val="2666"/>
              <a:buAutoNum type="arabicPeriod"/>
            </a:pPr>
            <a:r>
              <a:rPr b="1" lang="en-IN" sz="2666"/>
              <a:t>Cross-Validation</a:t>
            </a:r>
            <a:endParaRPr b="1" sz="2666"/>
          </a:p>
          <a:p>
            <a:pPr indent="-397911" lvl="1" marL="914400" rtl="0" algn="l">
              <a:lnSpc>
                <a:spcPct val="95000"/>
              </a:lnSpc>
              <a:spcBef>
                <a:spcPts val="0"/>
              </a:spcBef>
              <a:spcAft>
                <a:spcPts val="0"/>
              </a:spcAft>
              <a:buSzPts val="2666"/>
              <a:buChar char="○"/>
            </a:pPr>
            <a:r>
              <a:rPr lang="en-IN" sz="2666"/>
              <a:t>k-Fold Cross-Validation</a:t>
            </a:r>
            <a:endParaRPr sz="2666"/>
          </a:p>
          <a:p>
            <a:pPr indent="-397911" lvl="1" marL="914400" rtl="0" algn="l">
              <a:lnSpc>
                <a:spcPct val="95000"/>
              </a:lnSpc>
              <a:spcBef>
                <a:spcPts val="0"/>
              </a:spcBef>
              <a:spcAft>
                <a:spcPts val="0"/>
              </a:spcAft>
              <a:buSzPts val="2666"/>
              <a:buChar char="○"/>
            </a:pPr>
            <a:r>
              <a:rPr lang="en-IN" sz="2666"/>
              <a:t>Stratified k-Fold Cross-Validation</a:t>
            </a:r>
            <a:endParaRPr sz="2666"/>
          </a:p>
          <a:p>
            <a:pPr indent="-397911" lvl="1" marL="914400" rtl="0" algn="l">
              <a:lnSpc>
                <a:spcPct val="95000"/>
              </a:lnSpc>
              <a:spcBef>
                <a:spcPts val="0"/>
              </a:spcBef>
              <a:spcAft>
                <a:spcPts val="0"/>
              </a:spcAft>
              <a:buSzPts val="2666"/>
              <a:buChar char="○"/>
            </a:pPr>
            <a:r>
              <a:rPr lang="en-IN" sz="2666"/>
              <a:t>Leave-One-Out Cross-Validation (LOOCV)</a:t>
            </a:r>
            <a:endParaRPr sz="2666"/>
          </a:p>
          <a:p>
            <a:pPr indent="-397911" lvl="1" marL="914400" rtl="0" algn="l">
              <a:lnSpc>
                <a:spcPct val="95000"/>
              </a:lnSpc>
              <a:spcBef>
                <a:spcPts val="0"/>
              </a:spcBef>
              <a:spcAft>
                <a:spcPts val="0"/>
              </a:spcAft>
              <a:buSzPts val="2666"/>
              <a:buChar char="○"/>
            </a:pPr>
            <a:r>
              <a:rPr lang="en-IN" sz="2666"/>
              <a:t>Leave-P-Out Cross-Validation</a:t>
            </a:r>
            <a:endParaRPr sz="2666"/>
          </a:p>
          <a:p>
            <a:pPr indent="-397911" lvl="0" marL="457200" rtl="0" algn="l">
              <a:lnSpc>
                <a:spcPct val="95000"/>
              </a:lnSpc>
              <a:spcBef>
                <a:spcPts val="0"/>
              </a:spcBef>
              <a:spcAft>
                <a:spcPts val="0"/>
              </a:spcAft>
              <a:buSzPts val="2666"/>
              <a:buAutoNum type="arabicPeriod"/>
            </a:pPr>
            <a:r>
              <a:rPr b="1" lang="en-IN" sz="2666"/>
              <a:t>Bootstrap Sampling</a:t>
            </a:r>
            <a:endParaRPr b="1" sz="2666"/>
          </a:p>
          <a:p>
            <a:pPr indent="-397911" lvl="0" marL="457200" rtl="0" algn="l">
              <a:lnSpc>
                <a:spcPct val="95000"/>
              </a:lnSpc>
              <a:spcBef>
                <a:spcPts val="0"/>
              </a:spcBef>
              <a:spcAft>
                <a:spcPts val="0"/>
              </a:spcAft>
              <a:buSzPts val="2666"/>
              <a:buAutoNum type="arabicPeriod"/>
            </a:pPr>
            <a:r>
              <a:rPr b="1" lang="en-IN" sz="2666"/>
              <a:t>Repeated Cross-Validation</a:t>
            </a:r>
            <a:endParaRPr sz="2728"/>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h648b28e9c55eb513_0_22"/>
          <p:cNvSpPr txBox="1"/>
          <p:nvPr>
            <p:ph type="title"/>
          </p:nvPr>
        </p:nvSpPr>
        <p:spPr>
          <a:xfrm>
            <a:off x="216625" y="365125"/>
            <a:ext cx="5310900" cy="1325700"/>
          </a:xfrm>
          <a:prstGeom prst="rect">
            <a:avLst/>
          </a:prstGeom>
        </p:spPr>
        <p:txBody>
          <a:bodyPr anchorCtr="0" anchor="ctr" bIns="45700" lIns="91425" spcFirstLastPara="1" rIns="91425" wrap="square" tIns="45700">
            <a:noAutofit/>
          </a:bodyPr>
          <a:lstStyle/>
          <a:p>
            <a:pPr indent="0" lvl="0" marL="457200" rtl="0" algn="l">
              <a:lnSpc>
                <a:spcPct val="100000"/>
              </a:lnSpc>
              <a:spcBef>
                <a:spcPts val="0"/>
              </a:spcBef>
              <a:spcAft>
                <a:spcPts val="0"/>
              </a:spcAft>
              <a:buNone/>
            </a:pPr>
            <a:r>
              <a:rPr lang="en-IN" sz="3000">
                <a:solidFill>
                  <a:srgbClr val="FF0000"/>
                </a:solidFill>
                <a:latin typeface="Arial"/>
                <a:ea typeface="Arial"/>
                <a:cs typeface="Arial"/>
                <a:sym typeface="Arial"/>
              </a:rPr>
              <a:t>learning Frameworks </a:t>
            </a:r>
            <a:endParaRPr sz="3000">
              <a:solidFill>
                <a:srgbClr val="FF0000"/>
              </a:solidFill>
              <a:latin typeface="Arial"/>
              <a:ea typeface="Arial"/>
              <a:cs typeface="Arial"/>
              <a:sym typeface="Arial"/>
            </a:endParaRPr>
          </a:p>
          <a:p>
            <a:pPr indent="0" lvl="0" marL="0" rtl="0" algn="l">
              <a:spcBef>
                <a:spcPts val="0"/>
              </a:spcBef>
              <a:spcAft>
                <a:spcPts val="0"/>
              </a:spcAft>
              <a:buNone/>
            </a:pPr>
            <a:r>
              <a:t/>
            </a:r>
            <a:endParaRPr sz="3000">
              <a:solidFill>
                <a:srgbClr val="FF0000"/>
              </a:solidFill>
            </a:endParaRPr>
          </a:p>
        </p:txBody>
      </p:sp>
      <p:sp>
        <p:nvSpPr>
          <p:cNvPr id="420" name="Google Shape;420;h648b28e9c55eb513_0_2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IN">
                <a:latin typeface="Times New Roman"/>
                <a:ea typeface="Times New Roman"/>
                <a:cs typeface="Times New Roman"/>
                <a:sym typeface="Times New Roman"/>
              </a:rPr>
              <a:t>A learning framework is a systematic process of collecting data, preparing it, learning patterns using an algorithm, evaluating the learned model, and using it to make predictions. </a:t>
            </a:r>
            <a:endParaRPr>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h648b28e9c55eb513_0_27"/>
          <p:cNvSpPr txBox="1"/>
          <p:nvPr>
            <p:ph idx="1" type="body"/>
          </p:nvPr>
        </p:nvSpPr>
        <p:spPr>
          <a:xfrm>
            <a:off x="4090500" y="2730125"/>
            <a:ext cx="3618000" cy="6315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rPr b="1" lang="en-IN" sz="3300">
                <a:solidFill>
                  <a:srgbClr val="980000"/>
                </a:solidFill>
              </a:rPr>
              <a:t>END OF UNIT-2</a:t>
            </a:r>
            <a:endParaRPr b="1" sz="3300">
              <a:solidFill>
                <a:srgbClr val="98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2026-08-26T11:29:37Z</dcterms:created>
  <dc:creator>Shruthi G</dc:creator>
</cp:coreProperties>
</file>