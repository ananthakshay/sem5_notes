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Chapter 3.5 – Induction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Detailed classroom presentation: Induction Bias, Bias, Variance and Best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/>
            </a:pPr>
            <a:r>
              <a:t>Machine Learning – Basics of Learning Theory</a:t>
            </a:r>
          </a:p>
          <a:p>
            <a:pPr>
              <a:spcAft>
                <a:spcPts val="700"/>
              </a:spcAft>
              <a:defRPr sz="2300"/>
            </a:pPr>
            <a:r>
              <a:t>Section 3.5 of the prescribed textbook</a:t>
            </a:r>
          </a:p>
          <a:p>
            <a:pPr>
              <a:spcAft>
                <a:spcPts val="700"/>
              </a:spcAft>
              <a:defRPr sz="2300"/>
            </a:pPr>
            <a:r>
              <a:t>Subsections: 3.5 Induction Bias; 3.5.1 Bias and Variance; 3.5.2 Bias vs Variance Tradeoff; 3.5.3 Best Fit in Machine Learning</a:t>
            </a:r>
          </a:p>
          <a:p>
            <a:pPr>
              <a:spcAft>
                <a:spcPts val="700"/>
              </a:spcAft>
              <a:defRPr sz="2300"/>
            </a:pPr>
            <a:r>
              <a:t>Includes conceptual explanations, comparison tables, classroom examples and review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3.5, pp. 94–97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Define induction and induction bias in the context of machine learning.</a:t>
            </a:r>
          </a:p>
          <a:p>
            <a:pPr>
              <a:spcAft>
                <a:spcPts val="700"/>
              </a:spcAft>
              <a:defRPr sz="2000"/>
            </a:pPr>
            <a:r>
              <a:t>Explain the two forms of induction bias: constraint/restriction and preference.</a:t>
            </a:r>
          </a:p>
          <a:p>
            <a:pPr>
              <a:spcAft>
                <a:spcPts val="700"/>
              </a:spcAft>
              <a:defRPr sz="2000"/>
            </a:pPr>
            <a:r>
              <a:t>Explain prediction error, bias error and variance error.</a:t>
            </a:r>
          </a:p>
          <a:p>
            <a:pPr>
              <a:spcAft>
                <a:spcPts val="700"/>
              </a:spcAft>
              <a:defRPr sz="2000"/>
            </a:pPr>
            <a:r>
              <a:t>Interpret the effect of high/low bias and high/low variance on learning models.</a:t>
            </a:r>
          </a:p>
          <a:p>
            <a:pPr>
              <a:spcAft>
                <a:spcPts val="700"/>
              </a:spcAft>
              <a:defRPr sz="2000"/>
            </a:pPr>
            <a:r>
              <a:t>Explain the bias–variance trade-off and its importance in model selection.</a:t>
            </a:r>
          </a:p>
          <a:p>
            <a:pPr>
              <a:spcAft>
                <a:spcPts val="700"/>
              </a:spcAft>
              <a:defRPr sz="2000"/>
            </a:pPr>
            <a:r>
              <a:t>Explain overfitting, underfitting and the idea of a best-fit model.</a:t>
            </a:r>
          </a:p>
          <a:p>
            <a:pPr>
              <a:spcAft>
                <a:spcPts val="700"/>
              </a:spcAft>
              <a:defRPr sz="2000"/>
            </a:pPr>
            <a:r>
              <a:t>Describe techniques discussed in the textbook for reducing variance: regularization, early stopping/pruning and ensemble learning.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3.5, pp. 94–97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3.5 Induction Bias –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/>
            </a:pPr>
            <a:r>
              <a:t>Induction is a process of learning a target function or generalizing training data into a general model.</a:t>
            </a:r>
          </a:p>
          <a:p>
            <a:pPr>
              <a:spcAft>
                <a:spcPts val="700"/>
              </a:spcAft>
              <a:defRPr sz="2100"/>
            </a:pPr>
            <a:r>
              <a:t>Induction uses assumptions considered by the learning algorithm to perform learning from the available examples.</a:t>
            </a:r>
          </a:p>
          <a:p>
            <a:pPr>
              <a:spcAft>
                <a:spcPts val="700"/>
              </a:spcAft>
              <a:defRPr sz="2100"/>
            </a:pPr>
            <a:r>
              <a:t>These assumptions are called the induction bias of the algorithm.</a:t>
            </a:r>
          </a:p>
          <a:p>
            <a:pPr>
              <a:spcAft>
                <a:spcPts val="700"/>
              </a:spcAft>
              <a:defRPr sz="2100"/>
            </a:pPr>
            <a:r>
              <a:t>Induction bias is also described as the bias of the algorithm.</a:t>
            </a:r>
          </a:p>
          <a:p>
            <a:pPr>
              <a:spcAft>
                <a:spcPts val="700"/>
              </a:spcAft>
              <a:defRPr sz="2100"/>
            </a:pPr>
            <a:r>
              <a:t>Because the hypothesis space can contain many possible hypotheses, the learner needs assumptions or preferences to guide the search.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3.5, p. 94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Does a Learning Algorithm Need Bias?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Training examples alone may not uniquely determine one correct hypothesis.</a:t>
            </a:r>
          </a:p>
          <a:p>
            <a:pPr>
              <a:spcAft>
                <a:spcPts val="700"/>
              </a:spcAft>
              <a:defRPr sz="2000"/>
            </a:pPr>
            <a:r>
              <a:t>A learner therefore needs assumptions to decide which hypotheses are plausible or preferable.</a:t>
            </a:r>
          </a:p>
          <a:p>
            <a:pPr>
              <a:spcAft>
                <a:spcPts val="700"/>
              </a:spcAft>
              <a:defRPr sz="2000"/>
            </a:pPr>
            <a:r>
              <a:t>Bias can restrict the set of hypotheses considered.</a:t>
            </a:r>
          </a:p>
          <a:p>
            <a:pPr>
              <a:spcAft>
                <a:spcPts val="700"/>
              </a:spcAft>
              <a:defRPr sz="2000"/>
            </a:pPr>
            <a:r>
              <a:t>Bias can also impose an ordering or preference over hypotheses.</a:t>
            </a:r>
          </a:p>
          <a:p>
            <a:pPr>
              <a:spcAft>
                <a:spcPts val="700"/>
              </a:spcAft>
              <a:defRPr sz="2000"/>
            </a:pPr>
            <a:r>
              <a:t>Thus, learning is not merely memorizing training data; it involves selecting a useful generalization.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3.5, p. 94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Two Types of Induction Bias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800955"/>
              </p:ext>
            </p:extLst>
          </p:nvPr>
        </p:nvGraphicFramePr>
        <p:xfrm>
          <a:off x="548640" y="1234440"/>
          <a:ext cx="10972800" cy="2861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8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496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Constraint / Restriction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Restricts the hypothesis space or imposes conditions on allowable hypotheses.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Reduces the set of hypotheses that the learner must consider.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Preference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rPr dirty="0"/>
                        <a:t>Imposes an ordering or preference on the hypothesis space.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rPr dirty="0"/>
                        <a:t>Guides the learner toward preferred hypotheses during search.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3.5, p. 94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Examples of Algorithmic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The textbook illustrates that different learning algorithms use different assumptions.</a:t>
            </a:r>
          </a:p>
          <a:p>
            <a:pPr lvl="1">
              <a:spcAft>
                <a:spcPts val="700"/>
              </a:spcAft>
              <a:defRPr sz="1800"/>
            </a:pPr>
            <a:r>
              <a:t>Decision-tree learning: assumes a preference for particular ways of selecting attributes/tests.</a:t>
            </a:r>
          </a:p>
          <a:p>
            <a:pPr lvl="1">
              <a:spcAft>
                <a:spcPts val="700"/>
              </a:spcAft>
              <a:defRPr sz="1800"/>
            </a:pPr>
            <a:r>
              <a:t>k-Nearest Neighbour: relies on the idea that nearby instances tend to be similar.</a:t>
            </a:r>
          </a:p>
          <a:p>
            <a:pPr lvl="1">
              <a:spcAft>
                <a:spcPts val="700"/>
              </a:spcAft>
              <a:defRPr sz="1800"/>
            </a:pPr>
            <a:r>
              <a:t>Naive Bayes: assumes input variables are independent.</a:t>
            </a:r>
          </a:p>
          <a:p>
            <a:pPr>
              <a:spcAft>
                <a:spcPts val="700"/>
              </a:spcAft>
              <a:defRPr sz="2000"/>
            </a:pPr>
            <a:r>
              <a:t>These assumptions influence how the algorithm searches for or represents the learned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3.5, p. 94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Induction Bias and Hypothesis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Hypothesis space = the set of possible hypotheses considered by a learner.</a:t>
            </a:r>
          </a:p>
          <a:p>
            <a:pPr>
              <a:spcAft>
                <a:spcPts val="700"/>
              </a:spcAft>
              <a:defRPr sz="2000"/>
            </a:pPr>
            <a:r>
              <a:t>Constraint bias reduces the hypotheses that are eligible for consideration.</a:t>
            </a:r>
          </a:p>
          <a:p>
            <a:pPr>
              <a:spcAft>
                <a:spcPts val="700"/>
              </a:spcAft>
              <a:defRPr sz="2000"/>
            </a:pPr>
            <a:r>
              <a:t>Preference bias does not necessarily remove hypotheses; it can determine which hypotheses are preferred or considered first.</a:t>
            </a:r>
          </a:p>
          <a:p>
            <a:pPr>
              <a:spcAft>
                <a:spcPts val="700"/>
              </a:spcAft>
              <a:defRPr sz="2000"/>
            </a:pPr>
            <a:r>
              <a:t>Learning can therefore be viewed as searching a hypothesis space under the assumptions of the learning algorithm.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297680"/>
            <a:ext cx="19202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Hypothesis</a:t>
            </a:r>
            <a:br/>
            <a:r>
              <a:t>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4297680"/>
            <a:ext cx="19202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Constraints /</a:t>
            </a:r>
            <a:br/>
            <a:r>
              <a:t>Restrictions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4297680"/>
            <a:ext cx="19202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Preferences /</a:t>
            </a:r>
            <a:br/>
            <a:r>
              <a:t>Ordering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4297680"/>
            <a:ext cx="19202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Selected</a:t>
            </a:r>
            <a:br/>
            <a:r>
              <a:t>Hypothesis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4736592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77840" y="4736592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4736592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3.5, p. 94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3.5.1 Bias and 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For an input x, the model produces a predicted output ŷ.</a:t>
            </a:r>
          </a:p>
          <a:p>
            <a:pPr>
              <a:spcAft>
                <a:spcPts val="700"/>
              </a:spcAft>
              <a:defRPr sz="1900"/>
            </a:pPr>
            <a:r>
              <a:t>If ŷ differs from the actual output y, the prediction contains error.</a:t>
            </a:r>
          </a:p>
          <a:p>
            <a:pPr>
              <a:spcAft>
                <a:spcPts val="700"/>
              </a:spcAft>
              <a:defRPr sz="1900"/>
            </a:pPr>
            <a:r>
              <a:t>The textbook discusses three kinds of prediction error:</a:t>
            </a:r>
          </a:p>
          <a:p>
            <a:pPr lvl="1">
              <a:spcAft>
                <a:spcPts val="700"/>
              </a:spcAft>
              <a:defRPr sz="1700"/>
            </a:pPr>
            <a:r>
              <a:t>Irreducible error – associated with unknown factors, noise and other effects that cannot be eliminated.</a:t>
            </a:r>
          </a:p>
          <a:p>
            <a:pPr lvl="1">
              <a:spcAft>
                <a:spcPts val="700"/>
              </a:spcAft>
              <a:defRPr sz="1700"/>
            </a:pPr>
            <a:r>
              <a:t>Bias error – associated with the difference between the predicted output and the actual output of the learning model.</a:t>
            </a:r>
          </a:p>
          <a:p>
            <a:pPr lvl="1">
              <a:spcAft>
                <a:spcPts val="700"/>
              </a:spcAft>
              <a:defRPr sz="1700"/>
            </a:pPr>
            <a:r>
              <a:t>Variance error – associated with changes in the target function when the training data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3.5.1, p. 95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Irreducible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/>
            </a:pPr>
            <a:r>
              <a:t>Irreducible error is caused by factors that are unknown or inherently noisy.</a:t>
            </a:r>
          </a:p>
          <a:p>
            <a:pPr>
              <a:spcAft>
                <a:spcPts val="700"/>
              </a:spcAft>
              <a:defRPr sz="2100"/>
            </a:pPr>
            <a:r>
              <a:t>It cannot be completely removed simply by changing the learning algorithm.</a:t>
            </a:r>
          </a:p>
          <a:p>
            <a:pPr>
              <a:spcAft>
                <a:spcPts val="700"/>
              </a:spcAft>
              <a:defRPr sz="2100"/>
            </a:pPr>
            <a:r>
              <a:t>Examples include measurement noise or information not available to the model.</a:t>
            </a:r>
          </a:p>
          <a:p>
            <a:pPr>
              <a:spcAft>
                <a:spcPts val="700"/>
              </a:spcAft>
              <a:defRPr sz="2100"/>
            </a:pPr>
            <a:r>
              <a:t>Important distinction: reducing model complexity or changing the hypothesis does not eliminate information that is absent or noisy in the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3.5.1, p. 95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Bias Error – Detailed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Bias reflects the effect of simplifying assumptions made by a learning model.</a:t>
            </a:r>
          </a:p>
          <a:p>
            <a:pPr>
              <a:spcAft>
                <a:spcPts val="700"/>
              </a:spcAft>
              <a:defRPr sz="2000"/>
            </a:pPr>
            <a:r>
              <a:t>High bias indicates that the model makes strong simplifying assumptions.</a:t>
            </a:r>
          </a:p>
          <a:p>
            <a:pPr>
              <a:spcAft>
                <a:spcPts val="700"/>
              </a:spcAft>
              <a:defRPr sz="2000"/>
            </a:pPr>
            <a:r>
              <a:t>A high-bias model may systematically miss important relationships in the data.</a:t>
            </a:r>
          </a:p>
          <a:p>
            <a:pPr>
              <a:spcAft>
                <a:spcPts val="700"/>
              </a:spcAft>
              <a:defRPr sz="2000"/>
            </a:pPr>
            <a:r>
              <a:t>Bias is therefore related to the model's ability to represent the underlying target relationship.</a:t>
            </a:r>
          </a:p>
          <a:p>
            <a:pPr>
              <a:spcAft>
                <a:spcPts val="700"/>
              </a:spcAft>
              <a:defRPr sz="2000"/>
            </a:pPr>
            <a:r>
              <a:t>Classroom interpretation: if a model is consistently too simple, its predictions can remain systematically inaccurate even when more training examples are supplied.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3.5.1, p. 95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Variance Error – Detailed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/>
            </a:pPr>
            <a:r>
              <a:t>Variance describes how much the learned target function can change when the training data changes.</a:t>
            </a:r>
          </a:p>
          <a:p>
            <a:pPr>
              <a:spcAft>
                <a:spcPts val="700"/>
              </a:spcAft>
              <a:defRPr sz="2100"/>
            </a:pPr>
            <a:r>
              <a:t>A high-variance model is sensitive to the particular training sample used.</a:t>
            </a:r>
          </a:p>
          <a:p>
            <a:pPr>
              <a:spcAft>
                <a:spcPts val="700"/>
              </a:spcAft>
              <a:defRPr sz="2100"/>
            </a:pPr>
            <a:r>
              <a:t>Such a model may fit the training data closely but may not perform consistently on new data.</a:t>
            </a:r>
          </a:p>
          <a:p>
            <a:pPr>
              <a:spcAft>
                <a:spcPts val="700"/>
              </a:spcAft>
              <a:defRPr sz="2100"/>
            </a:pPr>
            <a:r>
              <a:t>Variance is therefore closely related to model sensitivity and generalization.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3.5.1, p. 95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Bias vs Variance – Pictorial Interpretation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371600"/>
            <a:ext cx="420624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194560" y="1828800"/>
            <a:ext cx="146304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66360" y="1874519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High Bias</a:t>
            </a:r>
            <a:br/>
            <a:r>
              <a:t>Low Variance</a:t>
            </a:r>
          </a:p>
        </p:txBody>
      </p:sp>
      <p:sp>
        <p:nvSpPr>
          <p:cNvPr id="6" name="Oval 5"/>
          <p:cNvSpPr/>
          <p:nvPr/>
        </p:nvSpPr>
        <p:spPr>
          <a:xfrm>
            <a:off x="6309360" y="1371600"/>
            <a:ext cx="420624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0" y="1828800"/>
            <a:ext cx="146304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52760" y="1874519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High Bias</a:t>
            </a:r>
            <a:br/>
            <a:r>
              <a:t>High Variance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749039"/>
            <a:ext cx="420624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94560" y="4206240"/>
            <a:ext cx="146304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166360" y="4251959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Low Bias</a:t>
            </a:r>
            <a:br/>
            <a:r>
              <a:t>Low Variance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3749039"/>
            <a:ext cx="420624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680960" y="4206240"/>
            <a:ext cx="146304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52760" y="4251959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/>
            </a:pPr>
            <a:r>
              <a:t>Low Bias</a:t>
            </a:r>
            <a:br/>
            <a:r>
              <a:t>High Variance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Figure 3.3, p. 95 – conceptual pictorial representation reproduced as a teaching diagram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Reading the Four Bias–Variance Cases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504638"/>
              </p:ext>
            </p:extLst>
          </p:nvPr>
        </p:nvGraphicFramePr>
        <p:xfrm>
          <a:off x="548640" y="1234440"/>
          <a:ext cx="10972800" cy="3755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6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0976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sz="2000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sz="2000"/>
                        <a:t>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sz="2000"/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rPr sz="2000"/>
                        <a:t>Typical 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959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rPr sz="2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rPr sz="200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rPr sz="200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rPr sz="2000"/>
                        <a:t>Model is consistently simplified; predictions may be systematically away from target.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rPr sz="2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rPr sz="200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rPr sz="200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rPr sz="2000"/>
                        <a:t>Model has strong simplifying assumptions but is also sensitive to training-data changes.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rPr sz="2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rPr sz="200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rPr sz="200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rPr sz="2000"/>
                        <a:t>Desired stable learning behaviour; model captures useful structure without excessive sensitivity.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rPr sz="20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rPr sz="200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rPr sz="200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rPr sz="2000" dirty="0"/>
                        <a:t>Model can fit complex patterns but may change substantially with the training sample.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Figure 3.3 and discussion, pp. 95–96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3.5.2 Bias vs Variance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There is a trade-off between bias and variance.</a:t>
            </a:r>
          </a:p>
          <a:p>
            <a:pPr>
              <a:spcAft>
                <a:spcPts val="700"/>
              </a:spcAft>
              <a:defRPr sz="2000"/>
            </a:pPr>
            <a:r>
              <a:t>Changing model assumptions and complexity can alter both sources of error.</a:t>
            </a:r>
          </a:p>
          <a:p>
            <a:pPr>
              <a:spcAft>
                <a:spcPts val="700"/>
              </a:spcAft>
              <a:defRPr sz="2000"/>
            </a:pPr>
            <a:r>
              <a:t>Low-bias models generally make fewer simplifying assumptions but can become more sensitive to the training data.</a:t>
            </a:r>
          </a:p>
          <a:p>
            <a:pPr>
              <a:spcAft>
                <a:spcPts val="700"/>
              </a:spcAft>
              <a:defRPr sz="2000"/>
            </a:pPr>
            <a:r>
              <a:t>High-bias models generally make more simplifying assumptions and can be more stable, but may fail to represent the target relationship adequately.</a:t>
            </a:r>
          </a:p>
          <a:p>
            <a:pPr>
              <a:spcAft>
                <a:spcPts val="700"/>
              </a:spcAft>
              <a:defRPr sz="2000"/>
            </a:pPr>
            <a:r>
              <a:t>The practical objective is to balance these effects so that the learned model generalizes well.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3.5.2, p. 96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Textbook Trade-off Table – Bias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222609"/>
              </p:ext>
            </p:extLst>
          </p:nvPr>
        </p:nvGraphicFramePr>
        <p:xfrm>
          <a:off x="548640" y="123444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6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496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sz="2000"/>
                        <a:t>Bias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sz="2000"/>
                        <a:t>Textbook 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sz="2000"/>
                        <a:t>Examples given in the textbook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49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rPr sz="2000"/>
                        <a:t>Low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rPr sz="2000"/>
                        <a:t>Less simplifying assumptions.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rPr sz="2000"/>
                        <a:t>Decision Trees, k-Nearest Neighbours (k-NN), Support Vector Machines (SVM).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9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rPr sz="2000"/>
                        <a:t>High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rPr sz="2000"/>
                        <a:t>More simplifying assumptions or considerations that may restrict the target function.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rPr sz="2000" dirty="0"/>
                        <a:t>Linear Regression, Linear Discriminant Analysis (LDA), Logistic Regression, Naive Bayes.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Table 3.3, p. 96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Textbook Trade-off Table – Variance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496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Variance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Textbook 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Examples given in the textbook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49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Low 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Training data is more general; low-variance algorithms show only slight differences when training data changes.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Linear Regression, LDA, Logistic Regression.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9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High 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Training data is more specific; predictions can differ more when the training data changes.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Decision Trees, k-NN, SVM.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Table 3.3, p. 96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Important Observation: Model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Linear machine-learning algorithms are described in the textbook as often exhibiting high bias and low variance.</a:t>
            </a:r>
          </a:p>
          <a:p>
            <a:pPr>
              <a:spcAft>
                <a:spcPts val="700"/>
              </a:spcAft>
              <a:defRPr sz="2000"/>
            </a:pPr>
            <a:r>
              <a:t>Non-linear machine-learning algorithms are described as exhibiting low bias and high variance.</a:t>
            </a:r>
          </a:p>
          <a:p>
            <a:pPr>
              <a:spcAft>
                <a:spcPts val="700"/>
              </a:spcAft>
              <a:defRPr sz="2000"/>
            </a:pPr>
            <a:r>
              <a:t>Therefore, increasing model flexibility is not automatically better.</a:t>
            </a:r>
          </a:p>
          <a:p>
            <a:pPr>
              <a:spcAft>
                <a:spcPts val="700"/>
              </a:spcAft>
              <a:defRPr sz="2000"/>
            </a:pPr>
            <a:r>
              <a:t>A more flexible model may capture complex relationships but can become sensitive to the training sample.</a:t>
            </a:r>
          </a:p>
          <a:p>
            <a:pPr>
              <a:spcAft>
                <a:spcPts val="700"/>
              </a:spcAft>
              <a:defRPr sz="2000"/>
            </a:pPr>
            <a:r>
              <a:t>A simpler model may be stable but can fail to capture the required relationship.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3.5.2, p. 96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Overfitting and the Bias–Variance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The textbook associates low bias and high variance with the possibility of overfitting.</a:t>
            </a:r>
          </a:p>
          <a:p>
            <a:pPr>
              <a:spcAft>
                <a:spcPts val="700"/>
              </a:spcAft>
              <a:defRPr sz="2000"/>
            </a:pPr>
            <a:r>
              <a:t>An overfitted model can perform very well on training data but poorly on unseen data.</a:t>
            </a:r>
          </a:p>
          <a:p>
            <a:pPr>
              <a:spcAft>
                <a:spcPts val="700"/>
              </a:spcAft>
              <a:defRPr sz="2000"/>
            </a:pPr>
            <a:r>
              <a:t>Regularization can reduce the effect of excessive model complexity.</a:t>
            </a:r>
          </a:p>
          <a:p>
            <a:pPr>
              <a:spcAft>
                <a:spcPts val="700"/>
              </a:spcAft>
              <a:defRPr sz="2000"/>
            </a:pPr>
            <a:r>
              <a:t>Adding more training instances, reducing the feature set, or reducing model complexity can help address high variance, as discussed in the text.</a:t>
            </a:r>
          </a:p>
          <a:p>
            <a:pPr>
              <a:spcAft>
                <a:spcPts val="700"/>
              </a:spcAft>
              <a:defRPr sz="2000"/>
            </a:pPr>
            <a:r>
              <a:t>Goal: improve generalization rather than maximize performance only on the training 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3.5.2, p. 96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Regularization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/>
            </a:pPr>
            <a:r>
              <a:t>Regularization is presented as one way of reducing variance.</a:t>
            </a:r>
          </a:p>
          <a:p>
            <a:pPr>
              <a:spcAft>
                <a:spcPts val="700"/>
              </a:spcAft>
              <a:defRPr sz="2100"/>
            </a:pPr>
            <a:r>
              <a:t>It reduces the number/effect of parameters during the training phase for parametric learning algorithms.</a:t>
            </a:r>
          </a:p>
          <a:p>
            <a:pPr>
              <a:spcAft>
                <a:spcPts val="700"/>
              </a:spcAft>
              <a:defRPr sz="2100"/>
            </a:pPr>
            <a:r>
              <a:t>The purpose is to control model complexity and reduce the tendency to fit training data too closely.</a:t>
            </a:r>
          </a:p>
          <a:p>
            <a:pPr>
              <a:spcAft>
                <a:spcPts val="700"/>
              </a:spcAft>
              <a:defRPr sz="2100"/>
            </a:pPr>
            <a:r>
              <a:t>Teaching point: regularization trades some flexibility for improved generalization.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3.5.2, p. 97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Early Stopping and Pruning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/>
            </a:pPr>
            <a:r>
              <a:t>For tree-based algorithms, early stopping or pruning can help reduce variance.</a:t>
            </a:r>
          </a:p>
          <a:p>
            <a:pPr>
              <a:spcAft>
                <a:spcPts val="700"/>
              </a:spcAft>
              <a:defRPr sz="2100"/>
            </a:pPr>
            <a:r>
              <a:t>Pruning removes or prevents unnecessarily complex parts of a decision tree.</a:t>
            </a:r>
          </a:p>
          <a:p>
            <a:pPr>
              <a:spcAft>
                <a:spcPts val="700"/>
              </a:spcAft>
              <a:defRPr sz="2100"/>
            </a:pPr>
            <a:r>
              <a:t>Early stopping prevents the tree from continuing to grow when further growth may increase sensitivity to training data.</a:t>
            </a:r>
          </a:p>
          <a:p>
            <a:pPr>
              <a:spcAft>
                <a:spcPts val="700"/>
              </a:spcAft>
              <a:defRPr sz="2100"/>
            </a:pPr>
            <a:r>
              <a:t>These techniques control model complexity and can improve generalization.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3.5.2, p. 97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Ensemble Learning and 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/>
            </a:pPr>
            <a:r>
              <a:t>Ensemble learning is another technique mentioned for reducing variance.</a:t>
            </a:r>
          </a:p>
          <a:p>
            <a:pPr>
              <a:spcAft>
                <a:spcPts val="700"/>
              </a:spcAft>
              <a:defRPr sz="2100"/>
            </a:pPr>
            <a:r>
              <a:t>The idea is to train models on multiple datasets and average their predictions.</a:t>
            </a:r>
          </a:p>
          <a:p>
            <a:pPr>
              <a:spcAft>
                <a:spcPts val="700"/>
              </a:spcAft>
              <a:defRPr sz="2100"/>
            </a:pPr>
            <a:r>
              <a:t>Combining predictions can make the final prediction more stable than relying on one learned model.</a:t>
            </a:r>
          </a:p>
          <a:p>
            <a:pPr>
              <a:spcAft>
                <a:spcPts val="700"/>
              </a:spcAft>
              <a:defRPr sz="2100"/>
            </a:pPr>
            <a:r>
              <a:t>The textbook connects ensemble learning with improving generalization and reducing variance.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3.5.2, p. 97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Illustrative Example – Choosing 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Suppose a dataset contains examples of students classified as likely to receive a job offer.</a:t>
            </a:r>
          </a:p>
          <a:p>
            <a:pPr>
              <a:spcAft>
                <a:spcPts val="700"/>
              </a:spcAft>
              <a:defRPr sz="1800"/>
            </a:pPr>
            <a:r>
              <a:t>Model A: a very simple rule uses only one attribute.</a:t>
            </a:r>
          </a:p>
          <a:p>
            <a:pPr lvl="1">
              <a:spcAft>
                <a:spcPts val="700"/>
              </a:spcAft>
              <a:defRPr sz="1600"/>
            </a:pPr>
            <a:r>
              <a:t>Advantage: simple and stable; risk: may ignore important patterns → high bias.</a:t>
            </a:r>
          </a:p>
          <a:p>
            <a:pPr>
              <a:spcAft>
                <a:spcPts val="700"/>
              </a:spcAft>
              <a:defRPr sz="1800"/>
            </a:pPr>
            <a:r>
              <a:t>Model B: a very complex model fits almost every training instance.</a:t>
            </a:r>
          </a:p>
          <a:p>
            <a:pPr lvl="1">
              <a:spcAft>
                <a:spcPts val="700"/>
              </a:spcAft>
              <a:defRPr sz="1600"/>
            </a:pPr>
            <a:r>
              <a:t>Advantage: captures detailed patterns; risk: changes considerably with training data → high variance.</a:t>
            </a:r>
          </a:p>
          <a:p>
            <a:pPr>
              <a:spcAft>
                <a:spcPts val="700"/>
              </a:spcAft>
              <a:defRPr sz="1800"/>
            </a:pPr>
            <a:r>
              <a:t>Model C: a controlled model captures the important patterns while avoiding unnecessary complexity.</a:t>
            </a:r>
          </a:p>
          <a:p>
            <a:pPr lvl="1">
              <a:spcAft>
                <a:spcPts val="700"/>
              </a:spcAft>
              <a:defRPr sz="1600"/>
            </a:pPr>
            <a:r>
              <a:t>Goal: better generalization to new students → a practical best-fit choice.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Illustrative classroom example; interpretation follows the Section 3.5 framework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3.5.3 Best Fit in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/>
            </a:pPr>
            <a:r>
              <a:t>A hypothesis obtained from training instances for a specific model is called inductive learning.</a:t>
            </a:r>
          </a:p>
          <a:p>
            <a:pPr>
              <a:spcAft>
                <a:spcPts val="700"/>
              </a:spcAft>
              <a:defRPr sz="2100"/>
            </a:pPr>
            <a:r>
              <a:t>Generalization is the ability of the model to correctly predict new data after training.</a:t>
            </a:r>
          </a:p>
          <a:p>
            <a:pPr>
              <a:spcAft>
                <a:spcPts val="700"/>
              </a:spcAft>
              <a:defRPr sz="2100"/>
            </a:pPr>
            <a:r>
              <a:t>If a model is over-trained or under-trained, its performance can deteriorate.</a:t>
            </a:r>
          </a:p>
          <a:p>
            <a:pPr>
              <a:spcAft>
                <a:spcPts val="700"/>
              </a:spcAft>
              <a:defRPr sz="2100"/>
            </a:pPr>
            <a:r>
              <a:t>The best-fit model should provide good performance on unseen data.</a:t>
            </a:r>
          </a:p>
          <a:p>
            <a:pPr>
              <a:spcAft>
                <a:spcPts val="700"/>
              </a:spcAft>
              <a:defRPr sz="2100"/>
            </a:pPr>
            <a:r>
              <a:t>The textbook emphasizes the balance between underfitting and overfitting.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3.5.3, p. 97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Underfitting –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/>
            </a:pPr>
            <a:r>
              <a:t>Underfitting occurs when the model is too simple or has not learned enough from the training data.</a:t>
            </a:r>
          </a:p>
          <a:p>
            <a:pPr>
              <a:spcAft>
                <a:spcPts val="700"/>
              </a:spcAft>
              <a:defRPr sz="2100"/>
            </a:pPr>
            <a:r>
              <a:t>The model fails to capture important patterns in the training data.</a:t>
            </a:r>
          </a:p>
          <a:p>
            <a:pPr>
              <a:spcAft>
                <a:spcPts val="700"/>
              </a:spcAft>
              <a:defRPr sz="2100"/>
            </a:pPr>
            <a:r>
              <a:t>Typical indication: poor predictive performance because the model is unable to represent the target relationship adequately.</a:t>
            </a:r>
          </a:p>
          <a:p>
            <a:pPr>
              <a:spcAft>
                <a:spcPts val="700"/>
              </a:spcAft>
              <a:defRPr sz="2100"/>
            </a:pPr>
            <a:r>
              <a:t>Connection with Section 3.5: excessive bias is a major concern when the model is too restrictive or simplistic.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3.5.3, p. 97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Overfitting –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/>
            </a:pPr>
            <a:r>
              <a:t>Overfitting occurs when a model learns too much from the training instances.</a:t>
            </a:r>
          </a:p>
          <a:p>
            <a:pPr>
              <a:spcAft>
                <a:spcPts val="700"/>
              </a:spcAft>
              <a:defRPr sz="2100"/>
            </a:pPr>
            <a:r>
              <a:t>The model can fit training examples very closely but may fail to generalize.</a:t>
            </a:r>
          </a:p>
          <a:p>
            <a:pPr>
              <a:spcAft>
                <a:spcPts val="700"/>
              </a:spcAft>
              <a:defRPr sz="2100"/>
            </a:pPr>
            <a:r>
              <a:t>The textbook describes overfitting as a condition in which the model's performance on unseen/test data can deteriorate.</a:t>
            </a:r>
          </a:p>
          <a:p>
            <a:pPr>
              <a:spcAft>
                <a:spcPts val="700"/>
              </a:spcAft>
              <a:defRPr sz="2100"/>
            </a:pPr>
            <a:r>
              <a:t>High variance is closely associated with this behaviour.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3.5.3, p. 97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Underfitting vs Overfitting vs Best Fit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084241"/>
              </p:ext>
            </p:extLst>
          </p:nvPr>
        </p:nvGraphicFramePr>
        <p:xfrm>
          <a:off x="548640" y="123444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200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2000"/>
                        <a:t>Underfitting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2000"/>
                        <a:t>Best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2000"/>
                        <a:t>Overfitting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Model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Too 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Appropriate for the 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Too complex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Learning behaviour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Learns too little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Learns useful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Learns too much from training instances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Training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Important patterns may be missed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Patterns captured appropriately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Training instances may be fitted very closely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Unseen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Poor generalization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Good generalization is the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Performance may deteriorate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Main concern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High bias / insufficient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/>
                        <a:t>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2000" dirty="0"/>
                        <a:t>High variance / excessive fitting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Synthesis of Section 3.5.2–3.5.3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Best Fit – A Conceptual Learning Curve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5394960"/>
            <a:ext cx="9875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914400" y="1280160"/>
            <a:ext cx="0" cy="411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1828800"/>
            <a:ext cx="100584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6000" y="2286000"/>
            <a:ext cx="100584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91840" y="2743200"/>
            <a:ext cx="100584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97680" y="3291840"/>
            <a:ext cx="1005840" cy="640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0" y="3931920"/>
            <a:ext cx="1005840" cy="640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309360" y="4572000"/>
            <a:ext cx="100584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4937760"/>
            <a:ext cx="1097280" cy="228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80" y="5166360"/>
            <a:ext cx="1097280" cy="137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280160" y="4023360"/>
            <a:ext cx="100584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286000" y="3474720"/>
            <a:ext cx="100584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291840" y="3108960"/>
            <a:ext cx="100584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297680" y="2971800"/>
            <a:ext cx="1005840" cy="137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03520" y="2971800"/>
            <a:ext cx="100584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309360" y="3063240"/>
            <a:ext cx="1005840" cy="411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15200" y="3474720"/>
            <a:ext cx="109728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412480" y="4206240"/>
            <a:ext cx="109728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12480" y="55321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Model complexity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12344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Training 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2062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Validation/Test 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7432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t>Best-fit region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Illustrative teaching diagram; Section 3.5.3 provides the underfitting/best-fit/overfitting interpretation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End-to-End Decision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Step 1: Identify the learning problem and available training data.</a:t>
            </a:r>
          </a:p>
          <a:p>
            <a:pPr>
              <a:spcAft>
                <a:spcPts val="700"/>
              </a:spcAft>
              <a:defRPr sz="1800"/>
            </a:pPr>
            <a:r>
              <a:t>Step 2: Select an appropriate hypothesis/model family.</a:t>
            </a:r>
          </a:p>
          <a:p>
            <a:pPr>
              <a:spcAft>
                <a:spcPts val="700"/>
              </a:spcAft>
              <a:defRPr sz="1800"/>
            </a:pPr>
            <a:r>
              <a:t>Step 3: Consider the assumptions introduced by the algorithm — its induction bias.</a:t>
            </a:r>
          </a:p>
          <a:p>
            <a:pPr>
              <a:spcAft>
                <a:spcPts val="700"/>
              </a:spcAft>
              <a:defRPr sz="1800"/>
            </a:pPr>
            <a:r>
              <a:t>Step 4: Evaluate whether the model is too simple or too complex.</a:t>
            </a:r>
          </a:p>
          <a:p>
            <a:pPr>
              <a:spcAft>
                <a:spcPts val="700"/>
              </a:spcAft>
              <a:defRPr sz="1800"/>
            </a:pPr>
            <a:r>
              <a:t>Step 5: Examine generalization performance on unseen data.</a:t>
            </a:r>
          </a:p>
          <a:p>
            <a:pPr>
              <a:spcAft>
                <a:spcPts val="700"/>
              </a:spcAft>
              <a:defRPr sz="1800"/>
            </a:pPr>
            <a:r>
              <a:t>Step 6: If variance is high, consider regularization, pruning/early stopping, ensemble learning or other complexity-control approaches discussed in the text.</a:t>
            </a:r>
          </a:p>
          <a:p>
            <a:pPr>
              <a:spcAft>
                <a:spcPts val="700"/>
              </a:spcAft>
              <a:defRPr sz="1800"/>
            </a:pPr>
            <a:r>
              <a:t>Step 7: Select the model that provides the desired balance and best generalization.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Integrated classroom workflow from Section 3.5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Induction bias consists of assumptions used by a learning algorithm while generalizing from training data.</a:t>
            </a:r>
          </a:p>
          <a:p>
            <a:pPr>
              <a:spcAft>
                <a:spcPts val="700"/>
              </a:spcAft>
              <a:defRPr sz="1800"/>
            </a:pPr>
            <a:r>
              <a:t>Two types: constraint/restriction and preference.</a:t>
            </a:r>
          </a:p>
          <a:p>
            <a:pPr>
              <a:spcAft>
                <a:spcPts val="700"/>
              </a:spcAft>
              <a:defRPr sz="1800"/>
            </a:pPr>
            <a:r>
              <a:t>Prediction error can include irreducible error, bias error and variance error.</a:t>
            </a:r>
          </a:p>
          <a:p>
            <a:pPr>
              <a:spcAft>
                <a:spcPts val="700"/>
              </a:spcAft>
              <a:defRPr sz="1800"/>
            </a:pPr>
            <a:r>
              <a:t>High bias is associated with stronger simplifying assumptions.</a:t>
            </a:r>
          </a:p>
          <a:p>
            <a:pPr>
              <a:spcAft>
                <a:spcPts val="700"/>
              </a:spcAft>
              <a:defRPr sz="1800"/>
            </a:pPr>
            <a:r>
              <a:t>High variance is associated with greater sensitivity to changes in training data.</a:t>
            </a:r>
          </a:p>
          <a:p>
            <a:pPr>
              <a:spcAft>
                <a:spcPts val="700"/>
              </a:spcAft>
              <a:defRPr sz="1800"/>
            </a:pPr>
            <a:r>
              <a:t>Bias and variance must be considered together — this is the bias–variance trade-off.</a:t>
            </a:r>
          </a:p>
          <a:p>
            <a:pPr>
              <a:spcAft>
                <a:spcPts val="700"/>
              </a:spcAft>
              <a:defRPr sz="1800"/>
            </a:pPr>
            <a:r>
              <a:t>Regularization, pruning/early stopping and ensemble learning are discussed as ways to control variance.</a:t>
            </a:r>
          </a:p>
          <a:p>
            <a:pPr>
              <a:spcAft>
                <a:spcPts val="700"/>
              </a:spcAft>
              <a:defRPr sz="1800"/>
            </a:pPr>
            <a:r>
              <a:t>Best fit means achieving useful generalization rather than merely fitting the training instances.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3.5, pp. 94–97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Exam-Oriented Questions – L2 /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L2: Define induction bias. Explain its two types.</a:t>
            </a:r>
          </a:p>
          <a:p>
            <a:pPr>
              <a:spcAft>
                <a:spcPts val="700"/>
              </a:spcAft>
              <a:defRPr sz="2000"/>
            </a:pPr>
            <a:r>
              <a:t>L2: Differentiate bias and variance.</a:t>
            </a:r>
          </a:p>
          <a:p>
            <a:pPr>
              <a:spcAft>
                <a:spcPts val="700"/>
              </a:spcAft>
              <a:defRPr sz="2000"/>
            </a:pPr>
            <a:r>
              <a:t>L2: What is meant by irreducible error?</a:t>
            </a:r>
          </a:p>
          <a:p>
            <a:pPr>
              <a:spcAft>
                <a:spcPts val="700"/>
              </a:spcAft>
              <a:defRPr sz="2000"/>
            </a:pPr>
            <a:r>
              <a:t>L3: Explain why a learning algorithm needs induction bias.</a:t>
            </a:r>
          </a:p>
          <a:p>
            <a:pPr>
              <a:spcAft>
                <a:spcPts val="700"/>
              </a:spcAft>
              <a:defRPr sz="2000"/>
            </a:pPr>
            <a:r>
              <a:t>L3: Explain the bias–variance trade-off with suitable examples.</a:t>
            </a:r>
          </a:p>
          <a:p>
            <a:pPr>
              <a:spcAft>
                <a:spcPts val="700"/>
              </a:spcAft>
              <a:defRPr sz="2000"/>
            </a:pPr>
            <a:r>
              <a:t>L3: Compare high-bias and high-variance models.</a:t>
            </a:r>
          </a:p>
          <a:p>
            <a:pPr>
              <a:spcAft>
                <a:spcPts val="700"/>
              </a:spcAft>
              <a:defRPr sz="2000"/>
            </a:pPr>
            <a:r>
              <a:t>L3: Explain how regularization can reduce variance.</a:t>
            </a:r>
          </a:p>
          <a:p>
            <a:pPr>
              <a:spcAft>
                <a:spcPts val="700"/>
              </a:spcAft>
              <a:defRPr sz="2000"/>
            </a:pPr>
            <a:r>
              <a:t>L3: Explain underfitting, overfitting and best fit.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3.5, pp. 94–97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Exam-Oriented Questions – L4 /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/>
            </a:pPr>
            <a:r>
              <a:t>L4: A model performs very well on training data but poorly on unseen data. Identify the likely problem and explain the bias/variance interpretation.</a:t>
            </a:r>
          </a:p>
          <a:p>
            <a:pPr>
              <a:spcAft>
                <a:spcPts val="700"/>
              </a:spcAft>
              <a:defRPr sz="1900"/>
            </a:pPr>
            <a:r>
              <a:t>L4: Compare a simple linear model with a highly flexible non-linear model in terms of bias and variance.</a:t>
            </a:r>
          </a:p>
          <a:p>
            <a:pPr>
              <a:spcAft>
                <a:spcPts val="700"/>
              </a:spcAft>
              <a:defRPr sz="1900"/>
            </a:pPr>
            <a:r>
              <a:t>L4: Given two candidate models, recommend which one is preferable when the second model changes substantially with different training samples.</a:t>
            </a:r>
          </a:p>
          <a:p>
            <a:pPr>
              <a:spcAft>
                <a:spcPts val="700"/>
              </a:spcAft>
              <a:defRPr sz="1900"/>
            </a:pPr>
            <a:r>
              <a:t>L4: Explain how regularization, pruning and ensemble learning can be used to improve generalization.</a:t>
            </a:r>
          </a:p>
          <a:p>
            <a:pPr>
              <a:spcAft>
                <a:spcPts val="700"/>
              </a:spcAft>
              <a:defRPr sz="1900"/>
            </a:pPr>
            <a:r>
              <a:t>L4: Design a model-selection strategy that aims to avoid both underfitting and overfitting.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3.5, pp. 94–97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Quick Classroom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Form groups of 3–4 students.</a:t>
            </a:r>
          </a:p>
          <a:p>
            <a:pPr>
              <a:spcAft>
                <a:spcPts val="700"/>
              </a:spcAft>
              <a:defRPr sz="2000"/>
            </a:pPr>
            <a:r>
              <a:t>Give each group two hypothetical models for the same classification task.</a:t>
            </a:r>
          </a:p>
          <a:p>
            <a:pPr>
              <a:spcAft>
                <a:spcPts val="700"/>
              </a:spcAft>
              <a:defRPr sz="2000"/>
            </a:pPr>
            <a:r>
              <a:t>Model A: simple rule using one feature.</a:t>
            </a:r>
          </a:p>
          <a:p>
            <a:pPr>
              <a:spcAft>
                <a:spcPts val="700"/>
              </a:spcAft>
              <a:defRPr sz="2000"/>
            </a:pPr>
            <a:r>
              <a:t>Model B: highly complex rule matching almost every training example.</a:t>
            </a:r>
          </a:p>
          <a:p>
            <a:pPr>
              <a:spcAft>
                <a:spcPts val="700"/>
              </a:spcAft>
              <a:defRPr sz="2000"/>
            </a:pPr>
            <a:r>
              <a:t>Ask students to identify likely bias/variance behaviour.</a:t>
            </a:r>
          </a:p>
          <a:p>
            <a:pPr>
              <a:spcAft>
                <a:spcPts val="700"/>
              </a:spcAft>
              <a:defRPr sz="2000"/>
            </a:pPr>
            <a:r>
              <a:t>Ask: Which model is likely to generalize better? What additional evidence would you seek?</a:t>
            </a:r>
          </a:p>
          <a:p>
            <a:pPr>
              <a:spcAft>
                <a:spcPts val="700"/>
              </a:spcAft>
              <a:defRPr sz="2000"/>
            </a:pPr>
            <a:r>
              <a:t>Discuss regularization/pruning/ensemble learning as possible remedies.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Activity derived from concepts in Section 3.5; examples are illustrative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Section 3.5 – One-Slide Revision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652686"/>
              </p:ext>
            </p:extLst>
          </p:nvPr>
        </p:nvGraphicFramePr>
        <p:xfrm>
          <a:off x="548640" y="123444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3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800"/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800"/>
                        <a:t>Remember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800"/>
                        <a:t>Induction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800"/>
                        <a:t>Prior assumptions used by a learning algorithm.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800"/>
                        <a:t>Constraint / Restriction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800"/>
                        <a:t>Limits the hypothesis space.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800"/>
                        <a:t>Preference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800"/>
                        <a:t>Orders or prefers hypotheses in the hypothesis space.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800"/>
                        <a:t>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800"/>
                        <a:t>Error associated with simplifying assumptions.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800"/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800"/>
                        <a:t>Error/change associated with sensitivity to training-data changes.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800"/>
                        <a:t>Trade-off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800"/>
                        <a:t>Balance bias and variance for good generalization.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800"/>
                        <a:t>Variance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800"/>
                        <a:t>Regularization; early stopping/pruning; ensemble learning.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800"/>
                        <a:t>Best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rPr sz="1800" dirty="0"/>
                        <a:t>Model that generalizes well without underfitting or overfitting.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Based on S. Sridhar &amp; M. Vijayalakshmi, Machine Learning — Chapter 3, Section 3.5, pp. 94–97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3196</Words>
  <Application>Microsoft Office PowerPoint</Application>
  <PresentationFormat>Widescreen</PresentationFormat>
  <Paragraphs>300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ISE</cp:lastModifiedBy>
  <cp:revision>5</cp:revision>
  <dcterms:created xsi:type="dcterms:W3CDTF">2013-01-27T09:14:16Z</dcterms:created>
  <dcterms:modified xsi:type="dcterms:W3CDTF">2026-10-05T08:04:41Z</dcterms:modified>
  <cp:category/>
</cp:coreProperties>
</file>