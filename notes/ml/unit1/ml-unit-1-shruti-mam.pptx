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Lst>
  <p:sldSz cy="6858000" cx="12192000"/>
  <p:notesSz cx="6858000" cy="9144000"/>
  <p:embeddedFontLst>
    <p:embeddedFont>
      <p:font typeface="Play"/>
      <p:regular r:id="rId82"/>
      <p:bold r:id="rId83"/>
    </p:embeddedFont>
    <p:embeddedFont>
      <p:font typeface="Century Schoolbook"/>
      <p:regular r:id="rId84"/>
      <p:bold r:id="rId85"/>
      <p:italic r:id="rId86"/>
      <p:boldItalic r:id="rId87"/>
    </p:embeddedFont>
    <p:embeddedFont>
      <p:font typeface="Roboto Mono"/>
      <p:regular r:id="rId88"/>
      <p:bold r:id="rId89"/>
      <p:italic r:id="rId90"/>
      <p:boldItalic r:id="rId9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2" roundtripDataSignature="AMtx7mh9SNaTNzxObOzeaIjV7d7Stwv2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5FF24C-9B2D-4C22-A1ED-B70111472CD0}">
  <a:tblStyle styleId="{955FF24C-9B2D-4C22-A1ED-B70111472CD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CenturySchoolbook-regular.fntdata"/><Relationship Id="rId83" Type="http://schemas.openxmlformats.org/officeDocument/2006/relationships/font" Target="fonts/Play-bold.fntdata"/><Relationship Id="rId42" Type="http://schemas.openxmlformats.org/officeDocument/2006/relationships/slide" Target="slides/slide37.xml"/><Relationship Id="rId86" Type="http://schemas.openxmlformats.org/officeDocument/2006/relationships/font" Target="fonts/CenturySchoolbook-italic.fntdata"/><Relationship Id="rId41" Type="http://schemas.openxmlformats.org/officeDocument/2006/relationships/slide" Target="slides/slide36.xml"/><Relationship Id="rId85" Type="http://schemas.openxmlformats.org/officeDocument/2006/relationships/font" Target="fonts/CenturySchoolbook-bold.fntdata"/><Relationship Id="rId44" Type="http://schemas.openxmlformats.org/officeDocument/2006/relationships/slide" Target="slides/slide39.xml"/><Relationship Id="rId88" Type="http://schemas.openxmlformats.org/officeDocument/2006/relationships/font" Target="fonts/RobotoMono-regular.fntdata"/><Relationship Id="rId43" Type="http://schemas.openxmlformats.org/officeDocument/2006/relationships/slide" Target="slides/slide38.xml"/><Relationship Id="rId87" Type="http://schemas.openxmlformats.org/officeDocument/2006/relationships/font" Target="fonts/CenturySchoolbook-boldItalic.fntdata"/><Relationship Id="rId46" Type="http://schemas.openxmlformats.org/officeDocument/2006/relationships/slide" Target="slides/slide41.xml"/><Relationship Id="rId45" Type="http://schemas.openxmlformats.org/officeDocument/2006/relationships/slide" Target="slides/slide40.xml"/><Relationship Id="rId89" Type="http://schemas.openxmlformats.org/officeDocument/2006/relationships/font" Target="fonts/RobotoMono-bold.fntdata"/><Relationship Id="rId80" Type="http://schemas.openxmlformats.org/officeDocument/2006/relationships/slide" Target="slides/slide75.xml"/><Relationship Id="rId82" Type="http://schemas.openxmlformats.org/officeDocument/2006/relationships/font" Target="fonts/Play-regular.fntdata"/><Relationship Id="rId81" Type="http://schemas.openxmlformats.org/officeDocument/2006/relationships/slide" Target="slides/slide76.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91" Type="http://schemas.openxmlformats.org/officeDocument/2006/relationships/font" Target="fonts/RobotoMono-boldItalic.fntdata"/><Relationship Id="rId90" Type="http://schemas.openxmlformats.org/officeDocument/2006/relationships/font" Target="fonts/RobotoMono-italic.fntdata"/><Relationship Id="rId92" Type="http://customschemas.google.com/relationships/presentationmetadata" Target="metadata"/><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3fae1a0ec4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3fae1a0ec4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ae1a0ec47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ae1a0ec4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ae4015a90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ae4015a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fae4015a90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fae4015a90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fae4015a90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fae4015a90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9e933d9b6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9e933d9b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9e933d9b6_0_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9e933d9b6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9e933d9b6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9e933d9b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f9e933d9b6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f9e933d9b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f9e933d9b6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f9e933d9b6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f9e933d9b6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f9e933d9b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fae1a0ec47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fae1a0ec4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f9e933d9b6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f9e933d9b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9e933d9b6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9e933d9b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f9e933d9b6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f9e933d9b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9e933d9b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9e933d9b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fb25d47709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fb25d4770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fb25d47709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fb25d47709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b25d47709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b25d4770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a53fc7973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a53fc797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fa53fc7973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fa53fc797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fa5decb760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fa5decb76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fbbad65c7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fbbad65c7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fa53fc797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fa53fc797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fa5decb760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fa5decb760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fa5decb760_0_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fa5decb760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fa5decb760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3fa5decb760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fbbad65c78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fbbad65c78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40a2108870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40a2108870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11367c7104fabfa0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h11367c7104fabfa0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11367c7104fabfa0_0_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h11367c7104fabfa0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h11367c7104fabfa0_0_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h11367c7104fabfa0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11367c7104fabfa0_0_14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h11367c7104fabfa0_0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h11367c7104fabfa0_0_15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h11367c7104fabfa0_0_1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h11367c7104fabfa0_0_15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h11367c7104fabfa0_0_1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h11367c7104fabfa0_0_16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h11367c7104fabfa0_0_1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h11367c7104fabfa0_0_17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2" name="Google Shape;332;h11367c7104fabfa0_0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h11367c7104fabfa0_0_17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h11367c7104fabfa0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h11367c7104fabfa0_0_18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h11367c7104fabfa0_0_1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bbad65c78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bbad65c78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h6a475c1a138cac5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h6a475c1a138cac5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fbbad65c78_0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fbbad65c78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h6a475c1a138cac5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h6a475c1a138cac5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fbbad65c78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fbbad65c7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h5ea66979a77ada05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h5ea66979a77ada05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fbbad65c78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fbbad65c78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h5ea66979a77ada05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h5ea66979a77ada05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h5ea66979a77ada05_1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h5ea66979a77ada05_1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3fbbad65c78_0_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3fbbad65c7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h11367c7104fabfa0_0_3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h11367c7104fabfa0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h639a7c6611a3acbf_1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h639a7c6611a3acbf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h639a7c6611a3acbf_1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h639a7c6611a3acbf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h639a7c6611a3acbf_1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h639a7c6611a3acbf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h639a7c6611a3acbf_1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0" name="Google Shape;440;h639a7c6611a3acbf_1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h3154f12b0ed71a9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h3154f12b0ed71a9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h3154f12b0ed71a99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h3154f12b0ed71a9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h732815749949bfd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h732815749949bfd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h732815749949bfd2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h732815749949bfd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h3154f12b0ed71a9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h3154f12b0ed71a9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h3154f12b0ed71a99_0_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h3154f12b0ed71a99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h732815749949bfd2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h732815749949bfd2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h732815749949bfd2_0_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h732815749949bfd2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h732815749949bfd2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8" name="Google Shape;498;h732815749949bfd2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h732815749949bfd2_0_1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h732815749949bfd2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h732815749949bfd2_0_1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h732815749949bfd2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h11367c7104fabfa0_0_3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h11367c7104fabfa0_0_3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h732815749949bfd2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h732815749949bfd2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h1fb9f94b7e0c5bd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3" name="Google Shape;533;h1fb9f94b7e0c5b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h1fb9f94b7e0c5bd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h1fb9f94b7e0c5b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h1fb9f94b7e0c5bd_0_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h1fb9f94b7e0c5bd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h1fb9f94b7e0c5bd_0_4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h1fb9f94b7e0c5bd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h1fb9f94b7e0c5bd_0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h1fb9f94b7e0c5bd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h11367c7104fabfa0_0_3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h11367c7104fabfa0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h732815749949bfd2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h732815749949bfd2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h11367c7104fabfa0_0_3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h11367c7104fabfa0_0_3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5183188" y="987425"/>
            <a:ext cx="6172200" cy="4873625"/>
          </a:xfrm>
          <a:prstGeom prst="rect">
            <a:avLst/>
          </a:prstGeom>
          <a:noFill/>
          <a:ln>
            <a:noFill/>
          </a:ln>
        </p:spPr>
      </p:sp>
      <p:sp>
        <p:nvSpPr>
          <p:cNvPr id="64" name="Google Shape;64;p1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4.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png"/><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3.png"/><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0.png"/><Relationship Id="rId4" Type="http://schemas.openxmlformats.org/officeDocument/2006/relationships/image" Target="../media/image21.png"/><Relationship Id="rId5"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7.png"/><Relationship Id="rId4" Type="http://schemas.openxmlformats.org/officeDocument/2006/relationships/image" Target="../media/image2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3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5.png"/><Relationship Id="rId4" Type="http://schemas.openxmlformats.org/officeDocument/2006/relationships/image" Target="../media/image4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50.png"/><Relationship Id="rId4" Type="http://schemas.openxmlformats.org/officeDocument/2006/relationships/image" Target="../media/image31.png"/><Relationship Id="rId5" Type="http://schemas.openxmlformats.org/officeDocument/2006/relationships/image" Target="../media/image36.png"/><Relationship Id="rId6" Type="http://schemas.openxmlformats.org/officeDocument/2006/relationships/image" Target="../media/image3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0.png"/><Relationship Id="rId4"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8.png"/><Relationship Id="rId4" Type="http://schemas.openxmlformats.org/officeDocument/2006/relationships/image" Target="../media/image56.png"/><Relationship Id="rId5" Type="http://schemas.openxmlformats.org/officeDocument/2006/relationships/image" Target="../media/image42.png"/><Relationship Id="rId6" Type="http://schemas.openxmlformats.org/officeDocument/2006/relationships/image" Target="../media/image4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40.png"/><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57.png"/><Relationship Id="rId4" Type="http://schemas.openxmlformats.org/officeDocument/2006/relationships/image" Target="../media/image47.png"/><Relationship Id="rId5" Type="http://schemas.openxmlformats.org/officeDocument/2006/relationships/image" Target="../media/image5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 Id="rId3" Type="http://schemas.openxmlformats.org/officeDocument/2006/relationships/image" Target="../media/image48.png"/><Relationship Id="rId4" Type="http://schemas.openxmlformats.org/officeDocument/2006/relationships/image" Target="../media/image44.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 Id="rId3" Type="http://schemas.openxmlformats.org/officeDocument/2006/relationships/image" Target="../media/image65.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 Id="rId3" Type="http://schemas.openxmlformats.org/officeDocument/2006/relationships/image" Target="../media/image49.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 Id="rId3" Type="http://schemas.openxmlformats.org/officeDocument/2006/relationships/image" Target="../media/image5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6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6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6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51.png"/><Relationship Id="rId4" Type="http://schemas.openxmlformats.org/officeDocument/2006/relationships/image" Target="../media/image6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 Id="rId3" Type="http://schemas.openxmlformats.org/officeDocument/2006/relationships/image" Target="../media/image59.png"/><Relationship Id="rId4" Type="http://schemas.openxmlformats.org/officeDocument/2006/relationships/image" Target="../media/image67.png"/><Relationship Id="rId5" Type="http://schemas.openxmlformats.org/officeDocument/2006/relationships/image" Target="../media/image5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64.png"/><Relationship Id="rId4" Type="http://schemas.openxmlformats.org/officeDocument/2006/relationships/image" Target="../media/image60.png"/><Relationship Id="rId5" Type="http://schemas.openxmlformats.org/officeDocument/2006/relationships/image" Target="../media/image68.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 Id="rId3" Type="http://schemas.openxmlformats.org/officeDocument/2006/relationships/image" Target="../media/image70.png"/><Relationship Id="rId4" Type="http://schemas.openxmlformats.org/officeDocument/2006/relationships/image" Target="../media/image69.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a:blip r:embed="rId3">
            <a:alphaModFix/>
          </a:blip>
          <a:stretch>
            <a:fillRect/>
          </a:stretch>
        </p:blipFill>
        <p:spPr>
          <a:xfrm>
            <a:off x="1073875" y="705576"/>
            <a:ext cx="10496075" cy="2218349"/>
          </a:xfrm>
          <a:prstGeom prst="rect">
            <a:avLst/>
          </a:prstGeom>
          <a:noFill/>
          <a:ln>
            <a:noFill/>
          </a:ln>
        </p:spPr>
      </p:pic>
      <p:pic>
        <p:nvPicPr>
          <p:cNvPr id="85" name="Google Shape;85;p1"/>
          <p:cNvPicPr preferRelativeResize="0"/>
          <p:nvPr/>
        </p:nvPicPr>
        <p:blipFill>
          <a:blip r:embed="rId4">
            <a:alphaModFix/>
          </a:blip>
          <a:stretch>
            <a:fillRect/>
          </a:stretch>
        </p:blipFill>
        <p:spPr>
          <a:xfrm>
            <a:off x="1073875" y="2810325"/>
            <a:ext cx="10328801" cy="3958375"/>
          </a:xfrm>
          <a:prstGeom prst="rect">
            <a:avLst/>
          </a:prstGeom>
          <a:noFill/>
          <a:ln>
            <a:noFill/>
          </a:ln>
        </p:spPr>
      </p:pic>
      <p:sp>
        <p:nvSpPr>
          <p:cNvPr id="86" name="Google Shape;86;p1"/>
          <p:cNvSpPr txBox="1"/>
          <p:nvPr>
            <p:ph idx="4294967295" type="title"/>
          </p:nvPr>
        </p:nvSpPr>
        <p:spPr>
          <a:xfrm>
            <a:off x="3905050" y="0"/>
            <a:ext cx="4671900" cy="582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SzPct val="27809"/>
              <a:buNone/>
            </a:pPr>
            <a:r>
              <a:rPr b="1" lang="en-IN" sz="3560">
                <a:solidFill>
                  <a:srgbClr val="0000FF"/>
                </a:solidFill>
              </a:rPr>
              <a:t>Machine Learning-IS51</a:t>
            </a:r>
            <a:endParaRPr b="1" sz="3560">
              <a:solidFill>
                <a:srgbClr val="0000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3fae1a0ec47_0_3"/>
          <p:cNvSpPr txBox="1"/>
          <p:nvPr/>
        </p:nvSpPr>
        <p:spPr>
          <a:xfrm>
            <a:off x="387025" y="957825"/>
            <a:ext cx="5804700" cy="5633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Introduction: </a:t>
            </a:r>
            <a:endParaRPr b="1" sz="3400">
              <a:solidFill>
                <a:srgbClr val="980000"/>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1,1 </a:t>
            </a:r>
            <a:r>
              <a:rPr lang="en-IN" sz="3200">
                <a:solidFill>
                  <a:schemeClr val="dk1"/>
                </a:solidFill>
                <a:latin typeface="Times New Roman"/>
                <a:ea typeface="Times New Roman"/>
                <a:cs typeface="Times New Roman"/>
                <a:sym typeface="Times New Roman"/>
              </a:rPr>
              <a:t>Need for Machine Learning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1.2 Machine Learning Explained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1.3 Machine Learning in Relation to other Fields</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1.4 Types of Machine Learning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1.5 Challenges of Machine Learning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1.6 Machine Learning Process</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1.7 Machine Learning Applications</a:t>
            </a:r>
            <a:endParaRPr sz="3200">
              <a:solidFill>
                <a:schemeClr val="dk1"/>
              </a:solidFill>
              <a:latin typeface="Times New Roman"/>
              <a:ea typeface="Times New Roman"/>
              <a:cs typeface="Times New Roman"/>
              <a:sym typeface="Times New Roman"/>
            </a:endParaRPr>
          </a:p>
        </p:txBody>
      </p:sp>
      <p:sp>
        <p:nvSpPr>
          <p:cNvPr id="92" name="Google Shape;92;g3fae1a0ec47_0_3"/>
          <p:cNvSpPr txBox="1"/>
          <p:nvPr/>
        </p:nvSpPr>
        <p:spPr>
          <a:xfrm>
            <a:off x="6340075" y="1082750"/>
            <a:ext cx="5661600" cy="514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Understanding Data – 1: </a:t>
            </a:r>
            <a:endParaRPr b="1" sz="3400">
              <a:solidFill>
                <a:srgbClr val="980000"/>
              </a:solidFill>
              <a:latin typeface="Times New Roman"/>
              <a:ea typeface="Times New Roman"/>
              <a:cs typeface="Times New Roman"/>
              <a:sym typeface="Times New Roman"/>
            </a:endParaRPr>
          </a:p>
          <a:p>
            <a:pPr indent="0" lvl="0" marL="0" rtl="0" algn="l">
              <a:spcBef>
                <a:spcPts val="0"/>
              </a:spcBef>
              <a:spcAft>
                <a:spcPts val="0"/>
              </a:spcAft>
              <a:buNone/>
            </a:pPr>
            <a:r>
              <a:rPr b="1" lang="en-IN" sz="3200">
                <a:solidFill>
                  <a:srgbClr val="980000"/>
                </a:solidFill>
                <a:latin typeface="Times New Roman"/>
                <a:ea typeface="Times New Roman"/>
                <a:cs typeface="Times New Roman"/>
                <a:sym typeface="Times New Roman"/>
              </a:rPr>
              <a:t>Introduction</a:t>
            </a:r>
            <a:endParaRPr b="1" sz="3200">
              <a:solidFill>
                <a:srgbClr val="980000"/>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2.3 Big Data Analysis Framework</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2.4 Descriptive Statistics</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2.5 Univariate Data Analysis and Visualization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2.6 Bivariate Data and Multivariate Data </a:t>
            </a:r>
            <a:endParaRPr sz="3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IN" sz="3200">
                <a:solidFill>
                  <a:schemeClr val="dk1"/>
                </a:solidFill>
                <a:latin typeface="Times New Roman"/>
                <a:ea typeface="Times New Roman"/>
                <a:cs typeface="Times New Roman"/>
                <a:sym typeface="Times New Roman"/>
              </a:rPr>
              <a:t>2.7 Multivariate Statistics</a:t>
            </a:r>
            <a:endParaRPr sz="3200">
              <a:solidFill>
                <a:schemeClr val="dk1"/>
              </a:solidFill>
              <a:latin typeface="Times New Roman"/>
              <a:ea typeface="Times New Roman"/>
              <a:cs typeface="Times New Roman"/>
              <a:sym typeface="Times New Roman"/>
            </a:endParaRPr>
          </a:p>
        </p:txBody>
      </p:sp>
      <p:sp>
        <p:nvSpPr>
          <p:cNvPr id="93" name="Google Shape;93;g3fae1a0ec47_0_3"/>
          <p:cNvSpPr txBox="1"/>
          <p:nvPr>
            <p:ph type="title"/>
          </p:nvPr>
        </p:nvSpPr>
        <p:spPr>
          <a:xfrm>
            <a:off x="2849975" y="169100"/>
            <a:ext cx="5804700" cy="765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0000FF"/>
                </a:solidFill>
              </a:rPr>
              <a:t>Topics to be covered</a:t>
            </a:r>
            <a:endParaRPr b="1">
              <a:solidFill>
                <a:srgbClr val="0000F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3fae1a0ec47_0_12"/>
          <p:cNvSpPr txBox="1"/>
          <p:nvPr>
            <p:ph type="title"/>
          </p:nvPr>
        </p:nvSpPr>
        <p:spPr>
          <a:xfrm>
            <a:off x="838200" y="318975"/>
            <a:ext cx="11099700" cy="654600"/>
          </a:xfrm>
          <a:prstGeom prst="rect">
            <a:avLst/>
          </a:prstGeom>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1100"/>
              <a:buFont typeface="Arial"/>
              <a:buNone/>
            </a:pPr>
            <a:r>
              <a:rPr b="1" lang="en-IN" sz="4800">
                <a:solidFill>
                  <a:srgbClr val="980000"/>
                </a:solidFill>
                <a:latin typeface="Times New Roman"/>
                <a:ea typeface="Times New Roman"/>
                <a:cs typeface="Times New Roman"/>
                <a:sym typeface="Times New Roman"/>
              </a:rPr>
              <a:t>1.1 Need for Machine Learning </a:t>
            </a:r>
            <a:endParaRPr b="1" sz="4800">
              <a:solidFill>
                <a:srgbClr val="980000"/>
              </a:solidFill>
            </a:endParaRPr>
          </a:p>
        </p:txBody>
      </p:sp>
      <p:sp>
        <p:nvSpPr>
          <p:cNvPr id="99" name="Google Shape;99;g3fae1a0ec47_0_12"/>
          <p:cNvSpPr txBox="1"/>
          <p:nvPr>
            <p:ph idx="1" type="body"/>
          </p:nvPr>
        </p:nvSpPr>
        <p:spPr>
          <a:xfrm>
            <a:off x="838200" y="1445125"/>
            <a:ext cx="10515600" cy="5063100"/>
          </a:xfrm>
          <a:prstGeom prst="rect">
            <a:avLst/>
          </a:prstGeom>
        </p:spPr>
        <p:txBody>
          <a:bodyPr anchorCtr="0" anchor="t" bIns="45700" lIns="91425" spcFirstLastPara="1" rIns="91425" wrap="square" tIns="45700">
            <a:noAutofit/>
          </a:bodyPr>
          <a:lstStyle/>
          <a:p>
            <a:pPr indent="-419100" lvl="0" marL="457200" rtl="0" algn="just">
              <a:lnSpc>
                <a:spcPct val="130000"/>
              </a:lnSpc>
              <a:spcBef>
                <a:spcPts val="1000"/>
              </a:spcBef>
              <a:spcAft>
                <a:spcPts val="0"/>
              </a:spcAft>
              <a:buClr>
                <a:srgbClr val="0B5394"/>
              </a:buClr>
              <a:buSzPts val="3000"/>
              <a:buChar char="•"/>
            </a:pPr>
            <a:r>
              <a:rPr lang="en-IN" sz="3000">
                <a:solidFill>
                  <a:srgbClr val="0B5394"/>
                </a:solidFill>
                <a:latin typeface="Times New Roman"/>
                <a:ea typeface="Times New Roman"/>
                <a:cs typeface="Times New Roman"/>
                <a:sym typeface="Times New Roman"/>
              </a:rPr>
              <a:t>Business organizations generate large amounts of data every day.</a:t>
            </a:r>
            <a:endParaRPr sz="3000">
              <a:solidFill>
                <a:srgbClr val="0B5394"/>
              </a:solidFill>
              <a:latin typeface="Times New Roman"/>
              <a:ea typeface="Times New Roman"/>
              <a:cs typeface="Times New Roman"/>
              <a:sym typeface="Times New Roman"/>
            </a:endParaRPr>
          </a:p>
          <a:p>
            <a:pPr indent="-419100" lvl="0" marL="457200" rtl="0" algn="just">
              <a:lnSpc>
                <a:spcPct val="130000"/>
              </a:lnSpc>
              <a:spcBef>
                <a:spcPts val="0"/>
              </a:spcBef>
              <a:spcAft>
                <a:spcPts val="0"/>
              </a:spcAft>
              <a:buClr>
                <a:srgbClr val="0B5394"/>
              </a:buClr>
              <a:buSzPts val="3000"/>
              <a:buChar char="•"/>
            </a:pPr>
            <a:r>
              <a:rPr lang="en-IN" sz="3000">
                <a:solidFill>
                  <a:srgbClr val="0B5394"/>
                </a:solidFill>
                <a:latin typeface="Times New Roman"/>
                <a:ea typeface="Times New Roman"/>
                <a:cs typeface="Times New Roman"/>
                <a:sym typeface="Times New Roman"/>
              </a:rPr>
              <a:t>Earlier, this data was not fully used because it was stored in different systems and was difficult to combine.</a:t>
            </a:r>
            <a:endParaRPr sz="3000">
              <a:solidFill>
                <a:srgbClr val="0B5394"/>
              </a:solidFill>
              <a:latin typeface="Times New Roman"/>
              <a:ea typeface="Times New Roman"/>
              <a:cs typeface="Times New Roman"/>
              <a:sym typeface="Times New Roman"/>
            </a:endParaRPr>
          </a:p>
          <a:p>
            <a:pPr indent="-419100" lvl="0" marL="457200" rtl="0" algn="just">
              <a:lnSpc>
                <a:spcPct val="130000"/>
              </a:lnSpc>
              <a:spcBef>
                <a:spcPts val="0"/>
              </a:spcBef>
              <a:spcAft>
                <a:spcPts val="0"/>
              </a:spcAft>
              <a:buClr>
                <a:srgbClr val="0B5394"/>
              </a:buClr>
              <a:buSzPts val="3000"/>
              <a:buChar char="•"/>
            </a:pPr>
            <a:r>
              <a:rPr lang="en-IN" sz="3000">
                <a:solidFill>
                  <a:srgbClr val="0B5394"/>
                </a:solidFill>
                <a:latin typeface="Times New Roman"/>
                <a:ea typeface="Times New Roman"/>
                <a:cs typeface="Times New Roman"/>
                <a:sym typeface="Times New Roman"/>
              </a:rPr>
              <a:t>There was also a lack of advanced software tools to analyze the data and find useful information.</a:t>
            </a:r>
            <a:endParaRPr sz="3000">
              <a:solidFill>
                <a:srgbClr val="0B5394"/>
              </a:solidFill>
              <a:latin typeface="Times New Roman"/>
              <a:ea typeface="Times New Roman"/>
              <a:cs typeface="Times New Roman"/>
              <a:sym typeface="Times New Roman"/>
            </a:endParaRPr>
          </a:p>
          <a:p>
            <a:pPr indent="-419100" lvl="0" marL="457200" rtl="0" algn="just">
              <a:lnSpc>
                <a:spcPct val="130000"/>
              </a:lnSpc>
              <a:spcBef>
                <a:spcPts val="0"/>
              </a:spcBef>
              <a:spcAft>
                <a:spcPts val="0"/>
              </a:spcAft>
              <a:buClr>
                <a:srgbClr val="0B5394"/>
              </a:buClr>
              <a:buSzPts val="3000"/>
              <a:buChar char="•"/>
            </a:pPr>
            <a:r>
              <a:rPr lang="en-IN" sz="3000">
                <a:solidFill>
                  <a:srgbClr val="0B5394"/>
                </a:solidFill>
                <a:latin typeface="Times New Roman"/>
                <a:ea typeface="Times New Roman"/>
                <a:cs typeface="Times New Roman"/>
                <a:sym typeface="Times New Roman"/>
              </a:rPr>
              <a:t>Today, organizations use modern technologies such as Machine Learning to analyze data and make better decisions.</a:t>
            </a:r>
            <a:endParaRPr sz="3000">
              <a:solidFill>
                <a:srgbClr val="0B5394"/>
              </a:solidFill>
              <a:latin typeface="Times New Roman"/>
              <a:ea typeface="Times New Roman"/>
              <a:cs typeface="Times New Roman"/>
              <a:sym typeface="Times New Roman"/>
            </a:endParaRPr>
          </a:p>
          <a:p>
            <a:pPr indent="0" lvl="0" marL="457200" rtl="0" algn="just">
              <a:lnSpc>
                <a:spcPct val="130000"/>
              </a:lnSpc>
              <a:spcBef>
                <a:spcPts val="1000"/>
              </a:spcBef>
              <a:spcAft>
                <a:spcPts val="0"/>
              </a:spcAft>
              <a:buNone/>
            </a:pPr>
            <a:r>
              <a:t/>
            </a:r>
            <a:endParaRPr sz="3000">
              <a:solidFill>
                <a:srgbClr val="0B5394"/>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3fae4015a90_0_0"/>
          <p:cNvSpPr txBox="1"/>
          <p:nvPr>
            <p:ph idx="1" type="body"/>
          </p:nvPr>
        </p:nvSpPr>
        <p:spPr>
          <a:xfrm>
            <a:off x="352350" y="327150"/>
            <a:ext cx="11487300" cy="6203700"/>
          </a:xfrm>
          <a:prstGeom prst="rect">
            <a:avLst/>
          </a:prstGeom>
        </p:spPr>
        <p:txBody>
          <a:bodyPr anchorCtr="0" anchor="t" bIns="45700" lIns="91425" spcFirstLastPara="1" rIns="91425" wrap="square" tIns="45700">
            <a:normAutofit fontScale="85000" lnSpcReduction="10000"/>
          </a:bodyPr>
          <a:lstStyle/>
          <a:p>
            <a:pPr indent="0" lvl="0" marL="0" rtl="0" algn="just">
              <a:spcBef>
                <a:spcPts val="1000"/>
              </a:spcBef>
              <a:spcAft>
                <a:spcPts val="0"/>
              </a:spcAft>
              <a:buNone/>
            </a:pPr>
            <a:r>
              <a:rPr b="1" lang="en-IN" sz="3307">
                <a:solidFill>
                  <a:srgbClr val="9900FF"/>
                </a:solidFill>
                <a:latin typeface="Times New Roman"/>
                <a:ea typeface="Times New Roman"/>
                <a:cs typeface="Times New Roman"/>
                <a:sym typeface="Times New Roman"/>
              </a:rPr>
              <a:t>Why is Machine Learning Becoming Popular? </a:t>
            </a:r>
            <a:endParaRPr b="1" sz="3307">
              <a:solidFill>
                <a:srgbClr val="9900FF"/>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ct val="38556"/>
              <a:buFont typeface="Arial"/>
              <a:buNone/>
            </a:pPr>
            <a:r>
              <a:rPr lang="en-IN" sz="2853">
                <a:solidFill>
                  <a:srgbClr val="0B5394"/>
                </a:solidFill>
                <a:latin typeface="Times New Roman"/>
                <a:ea typeface="Times New Roman"/>
                <a:cs typeface="Times New Roman"/>
                <a:sym typeface="Times New Roman"/>
              </a:rPr>
              <a:t>Machine Learning (ML) has become popular mainly because of three major reasons:</a:t>
            </a:r>
            <a:endParaRPr sz="2853">
              <a:solidFill>
                <a:srgbClr val="0B5394"/>
              </a:solidFill>
              <a:latin typeface="Times New Roman"/>
              <a:ea typeface="Times New Roman"/>
              <a:cs typeface="Times New Roman"/>
              <a:sym typeface="Times New Roman"/>
            </a:endParaRPr>
          </a:p>
          <a:p>
            <a:pPr indent="-382590" lvl="0" marL="457200" rtl="0" algn="just">
              <a:lnSpc>
                <a:spcPct val="115000"/>
              </a:lnSpc>
              <a:spcBef>
                <a:spcPts val="1200"/>
              </a:spcBef>
              <a:spcAft>
                <a:spcPts val="0"/>
              </a:spcAft>
              <a:buClr>
                <a:srgbClr val="0B5394"/>
              </a:buClr>
              <a:buSzPct val="100000"/>
              <a:buFont typeface="Times New Roman"/>
              <a:buAutoNum type="arabicPeriod"/>
            </a:pPr>
            <a:r>
              <a:rPr lang="en-IN" sz="2853">
                <a:solidFill>
                  <a:srgbClr val="0B5394"/>
                </a:solidFill>
                <a:latin typeface="Times New Roman"/>
                <a:ea typeface="Times New Roman"/>
                <a:cs typeface="Times New Roman"/>
                <a:sym typeface="Times New Roman"/>
              </a:rPr>
              <a:t>Huge Amount of Data</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Font typeface="Times New Roman"/>
              <a:buChar char="○"/>
            </a:pPr>
            <a:r>
              <a:rPr lang="en-IN" sz="2853">
                <a:solidFill>
                  <a:srgbClr val="0B5394"/>
                </a:solidFill>
                <a:latin typeface="Times New Roman"/>
                <a:ea typeface="Times New Roman"/>
                <a:cs typeface="Times New Roman"/>
                <a:sym typeface="Times New Roman"/>
              </a:rPr>
              <a:t>Companies such as Facebook, Twitter, and YouTube generate massive amounts of data.</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Char char="○"/>
            </a:pPr>
            <a:r>
              <a:rPr lang="en-IN" sz="2853">
                <a:solidFill>
                  <a:srgbClr val="0B5394"/>
                </a:solidFill>
                <a:latin typeface="Times New Roman"/>
                <a:ea typeface="Times New Roman"/>
                <a:cs typeface="Times New Roman"/>
                <a:sym typeface="Times New Roman"/>
              </a:rPr>
              <a:t>Data is growing very rapidly, approximately doubling every year.</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Font typeface="Times New Roman"/>
              <a:buChar char="○"/>
            </a:pPr>
            <a:r>
              <a:rPr lang="en-IN" sz="2853">
                <a:solidFill>
                  <a:srgbClr val="0B5394"/>
                </a:solidFill>
                <a:latin typeface="Times New Roman"/>
                <a:ea typeface="Times New Roman"/>
                <a:cs typeface="Times New Roman"/>
                <a:sym typeface="Times New Roman"/>
              </a:rPr>
              <a:t>ML helps computers analyze this large amount of data.</a:t>
            </a:r>
            <a:endParaRPr sz="2853">
              <a:solidFill>
                <a:srgbClr val="0B5394"/>
              </a:solidFill>
              <a:latin typeface="Times New Roman"/>
              <a:ea typeface="Times New Roman"/>
              <a:cs typeface="Times New Roman"/>
              <a:sym typeface="Times New Roman"/>
            </a:endParaRPr>
          </a:p>
          <a:p>
            <a:pPr indent="-382590" lvl="0" marL="457200" rtl="0" algn="just">
              <a:lnSpc>
                <a:spcPct val="115000"/>
              </a:lnSpc>
              <a:spcBef>
                <a:spcPts val="0"/>
              </a:spcBef>
              <a:spcAft>
                <a:spcPts val="0"/>
              </a:spcAft>
              <a:buClr>
                <a:srgbClr val="0B5394"/>
              </a:buClr>
              <a:buSzPct val="100000"/>
              <a:buFont typeface="Times New Roman"/>
              <a:buAutoNum type="arabicPeriod"/>
            </a:pPr>
            <a:r>
              <a:rPr lang="en-IN" sz="2853">
                <a:solidFill>
                  <a:srgbClr val="0B5394"/>
                </a:solidFill>
                <a:latin typeface="Times New Roman"/>
                <a:ea typeface="Times New Roman"/>
                <a:cs typeface="Times New Roman"/>
                <a:sym typeface="Times New Roman"/>
              </a:rPr>
              <a:t>Lower Storage and Hardware Cost</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Font typeface="Times New Roman"/>
              <a:buChar char="○"/>
            </a:pPr>
            <a:r>
              <a:rPr lang="en-IN" sz="2853">
                <a:solidFill>
                  <a:srgbClr val="0B5394"/>
                </a:solidFill>
                <a:latin typeface="Times New Roman"/>
                <a:ea typeface="Times New Roman"/>
                <a:cs typeface="Times New Roman"/>
                <a:sym typeface="Times New Roman"/>
              </a:rPr>
              <a:t>The cost of storing data has decreased significantly.</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Font typeface="Times New Roman"/>
              <a:buChar char="○"/>
            </a:pPr>
            <a:r>
              <a:rPr lang="en-IN" sz="2853">
                <a:solidFill>
                  <a:srgbClr val="0B5394"/>
                </a:solidFill>
                <a:latin typeface="Times New Roman"/>
                <a:ea typeface="Times New Roman"/>
                <a:cs typeface="Times New Roman"/>
                <a:sym typeface="Times New Roman"/>
              </a:rPr>
              <a:t>Computer hardware has also become cheaper and more powerful.</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Char char="○"/>
            </a:pPr>
            <a:r>
              <a:rPr lang="en-IN" sz="2853">
                <a:solidFill>
                  <a:srgbClr val="0B5394"/>
                </a:solidFill>
                <a:latin typeface="Times New Roman"/>
                <a:ea typeface="Times New Roman"/>
                <a:cs typeface="Times New Roman"/>
                <a:sym typeface="Times New Roman"/>
              </a:rPr>
              <a:t>Therefore, organizations can easily collect, store, process, and transmit data.</a:t>
            </a:r>
            <a:endParaRPr sz="2853">
              <a:solidFill>
                <a:srgbClr val="0B5394"/>
              </a:solidFill>
              <a:latin typeface="Times New Roman"/>
              <a:ea typeface="Times New Roman"/>
              <a:cs typeface="Times New Roman"/>
              <a:sym typeface="Times New Roman"/>
            </a:endParaRPr>
          </a:p>
          <a:p>
            <a:pPr indent="-382590" lvl="0" marL="457200" rtl="0" algn="just">
              <a:lnSpc>
                <a:spcPct val="115000"/>
              </a:lnSpc>
              <a:spcBef>
                <a:spcPts val="0"/>
              </a:spcBef>
              <a:spcAft>
                <a:spcPts val="0"/>
              </a:spcAft>
              <a:buClr>
                <a:srgbClr val="0B5394"/>
              </a:buClr>
              <a:buSzPct val="100000"/>
              <a:buFont typeface="Times New Roman"/>
              <a:buAutoNum type="arabicPeriod"/>
            </a:pPr>
            <a:r>
              <a:rPr lang="en-IN" sz="2853">
                <a:solidFill>
                  <a:srgbClr val="0B5394"/>
                </a:solidFill>
                <a:latin typeface="Times New Roman"/>
                <a:ea typeface="Times New Roman"/>
                <a:cs typeface="Times New Roman"/>
                <a:sym typeface="Times New Roman"/>
              </a:rPr>
              <a:t>Availability of Advanced Algorithms</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Font typeface="Times New Roman"/>
              <a:buChar char="○"/>
            </a:pPr>
            <a:r>
              <a:rPr lang="en-IN" sz="2853">
                <a:solidFill>
                  <a:srgbClr val="0B5394"/>
                </a:solidFill>
                <a:latin typeface="Times New Roman"/>
                <a:ea typeface="Times New Roman"/>
                <a:cs typeface="Times New Roman"/>
                <a:sym typeface="Times New Roman"/>
              </a:rPr>
              <a:t>Many powerful ML algorithms are now available.</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Char char="○"/>
            </a:pPr>
            <a:r>
              <a:rPr lang="en-IN" sz="2853">
                <a:solidFill>
                  <a:srgbClr val="0B5394"/>
                </a:solidFill>
                <a:latin typeface="Times New Roman"/>
                <a:ea typeface="Times New Roman"/>
                <a:cs typeface="Times New Roman"/>
                <a:sym typeface="Times New Roman"/>
              </a:rPr>
              <a:t>Deep Learning has further increased the capabilities of ML.</a:t>
            </a:r>
            <a:endParaRPr sz="2853">
              <a:solidFill>
                <a:srgbClr val="0B5394"/>
              </a:solidFill>
              <a:latin typeface="Times New Roman"/>
              <a:ea typeface="Times New Roman"/>
              <a:cs typeface="Times New Roman"/>
              <a:sym typeface="Times New Roman"/>
            </a:endParaRPr>
          </a:p>
          <a:p>
            <a:pPr indent="-382590" lvl="1" marL="914400" rtl="0" algn="just">
              <a:lnSpc>
                <a:spcPct val="115000"/>
              </a:lnSpc>
              <a:spcBef>
                <a:spcPts val="0"/>
              </a:spcBef>
              <a:spcAft>
                <a:spcPts val="0"/>
              </a:spcAft>
              <a:buClr>
                <a:srgbClr val="0B5394"/>
              </a:buClr>
              <a:buSzPct val="100000"/>
              <a:buFont typeface="Times New Roman"/>
              <a:buChar char="○"/>
            </a:pPr>
            <a:r>
              <a:rPr lang="en-IN" sz="2853">
                <a:solidFill>
                  <a:srgbClr val="0B5394"/>
                </a:solidFill>
                <a:latin typeface="Times New Roman"/>
                <a:ea typeface="Times New Roman"/>
                <a:cs typeface="Times New Roman"/>
                <a:sym typeface="Times New Roman"/>
              </a:rPr>
              <a:t>These algorithms can solve complex real-world problems.</a:t>
            </a:r>
            <a:endParaRPr>
              <a:solidFill>
                <a:srgbClr val="0B5394"/>
              </a:solidFill>
            </a:endParaRPr>
          </a:p>
        </p:txBody>
      </p:sp>
      <p:sp>
        <p:nvSpPr>
          <p:cNvPr id="105" name="Google Shape;105;g3fae4015a90_0_0"/>
          <p:cNvSpPr txBox="1"/>
          <p:nvPr/>
        </p:nvSpPr>
        <p:spPr>
          <a:xfrm>
            <a:off x="9389575" y="0"/>
            <a:ext cx="2802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1.1 Cont’d</a:t>
            </a:r>
            <a:endParaRPr sz="1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3fae4015a90_0_7"/>
          <p:cNvSpPr txBox="1"/>
          <p:nvPr>
            <p:ph idx="1" type="body"/>
          </p:nvPr>
        </p:nvSpPr>
        <p:spPr>
          <a:xfrm>
            <a:off x="0" y="120175"/>
            <a:ext cx="8409900" cy="67377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sz="3279">
                <a:latin typeface="Times New Roman"/>
                <a:ea typeface="Times New Roman"/>
                <a:cs typeface="Times New Roman"/>
                <a:sym typeface="Times New Roman"/>
              </a:rPr>
              <a:t>The Knowledge Pyramid explains how raw data becomes useful for decision-making. </a:t>
            </a:r>
            <a:endParaRPr sz="3279">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ts val="1100"/>
              <a:buFont typeface="Arial"/>
              <a:buNone/>
            </a:pPr>
            <a:r>
              <a:rPr b="1" lang="en-IN" sz="1988">
                <a:solidFill>
                  <a:srgbClr val="9900FF"/>
                </a:solidFill>
              </a:rPr>
              <a:t>Data → Information → Knowledge → Intelligence → Wisdom</a:t>
            </a:r>
            <a:endParaRPr b="1" sz="1988">
              <a:solidFill>
                <a:srgbClr val="9900FF"/>
              </a:solidFill>
            </a:endParaRPr>
          </a:p>
          <a:p>
            <a:pPr indent="-352631" lvl="0" marL="457200" rtl="0" algn="l">
              <a:lnSpc>
                <a:spcPct val="100000"/>
              </a:lnSpc>
              <a:spcBef>
                <a:spcPts val="1200"/>
              </a:spcBef>
              <a:spcAft>
                <a:spcPts val="0"/>
              </a:spcAft>
              <a:buSzPts val="1953"/>
              <a:buChar char="❏"/>
            </a:pPr>
            <a:r>
              <a:rPr b="1" lang="en-IN" sz="1953"/>
              <a:t>Data:</a:t>
            </a:r>
            <a:r>
              <a:rPr lang="en-IN" sz="1953"/>
              <a:t> Raw facts, numbers, symbols, or text.</a:t>
            </a:r>
            <a:endParaRPr sz="1953"/>
          </a:p>
          <a:p>
            <a:pPr indent="0" lvl="0" marL="914400" rtl="0" algn="l">
              <a:lnSpc>
                <a:spcPct val="100000"/>
              </a:lnSpc>
              <a:spcBef>
                <a:spcPts val="1200"/>
              </a:spcBef>
              <a:spcAft>
                <a:spcPts val="0"/>
              </a:spcAft>
              <a:buNone/>
            </a:pPr>
            <a:r>
              <a:rPr lang="en-IN" sz="1953"/>
              <a:t>Example: </a:t>
            </a:r>
            <a:r>
              <a:rPr lang="en-IN" sz="1953">
                <a:solidFill>
                  <a:srgbClr val="188038"/>
                </a:solidFill>
                <a:latin typeface="Roboto Mono"/>
                <a:ea typeface="Roboto Mono"/>
                <a:cs typeface="Roboto Mono"/>
                <a:sym typeface="Roboto Mono"/>
              </a:rPr>
              <a:t>100, 150, 200</a:t>
            </a:r>
            <a:r>
              <a:rPr lang="en-IN" sz="1953"/>
              <a:t> sales records.</a:t>
            </a:r>
            <a:endParaRPr sz="1953"/>
          </a:p>
          <a:p>
            <a:pPr indent="-352631" lvl="0" marL="457200" rtl="0" algn="l">
              <a:lnSpc>
                <a:spcPct val="100000"/>
              </a:lnSpc>
              <a:spcBef>
                <a:spcPts val="1200"/>
              </a:spcBef>
              <a:spcAft>
                <a:spcPts val="0"/>
              </a:spcAft>
              <a:buSzPts val="1953"/>
              <a:buChar char="❏"/>
            </a:pPr>
            <a:r>
              <a:rPr b="1" lang="en-IN" sz="1953"/>
              <a:t>Information:</a:t>
            </a:r>
            <a:r>
              <a:rPr lang="en-IN" sz="1953"/>
              <a:t> Processed data that reveals patterns or relationships.</a:t>
            </a:r>
            <a:endParaRPr sz="1953"/>
          </a:p>
          <a:p>
            <a:pPr indent="0" lvl="0" marL="914400" rtl="0" algn="l">
              <a:lnSpc>
                <a:spcPct val="100000"/>
              </a:lnSpc>
              <a:spcBef>
                <a:spcPts val="1200"/>
              </a:spcBef>
              <a:spcAft>
                <a:spcPts val="0"/>
              </a:spcAft>
              <a:buNone/>
            </a:pPr>
            <a:r>
              <a:rPr lang="en-IN" sz="1953"/>
              <a:t>Example: Product A has the highest sales.</a:t>
            </a:r>
            <a:endParaRPr sz="1953"/>
          </a:p>
          <a:p>
            <a:pPr indent="-352631" lvl="0" marL="457200" rtl="0" algn="l">
              <a:lnSpc>
                <a:spcPct val="100000"/>
              </a:lnSpc>
              <a:spcBef>
                <a:spcPts val="1200"/>
              </a:spcBef>
              <a:spcAft>
                <a:spcPts val="0"/>
              </a:spcAft>
              <a:buSzPts val="1953"/>
              <a:buChar char="❏"/>
            </a:pPr>
            <a:r>
              <a:rPr b="1" lang="en-IN" sz="1953"/>
              <a:t>Knowledge:</a:t>
            </a:r>
            <a:r>
              <a:rPr lang="en-IN" sz="1953"/>
              <a:t> Useful conclusions obtained from information.</a:t>
            </a:r>
            <a:endParaRPr sz="1953"/>
          </a:p>
          <a:p>
            <a:pPr indent="0" lvl="0" marL="914400" rtl="0" algn="l">
              <a:lnSpc>
                <a:spcPct val="100000"/>
              </a:lnSpc>
              <a:spcBef>
                <a:spcPts val="1200"/>
              </a:spcBef>
              <a:spcAft>
                <a:spcPts val="0"/>
              </a:spcAft>
              <a:buNone/>
            </a:pPr>
            <a:r>
              <a:rPr lang="en-IN" sz="1953"/>
              <a:t>Example: Product A has been consistently popular over the last year.</a:t>
            </a:r>
            <a:endParaRPr sz="1953"/>
          </a:p>
          <a:p>
            <a:pPr indent="-352631" lvl="0" marL="457200" rtl="0" algn="l">
              <a:lnSpc>
                <a:spcPct val="100000"/>
              </a:lnSpc>
              <a:spcBef>
                <a:spcPts val="1200"/>
              </a:spcBef>
              <a:spcAft>
                <a:spcPts val="0"/>
              </a:spcAft>
              <a:buSzPts val="1953"/>
              <a:buChar char="❏"/>
            </a:pPr>
            <a:r>
              <a:rPr b="1" lang="en-IN" sz="1953"/>
              <a:t>Intelligence:</a:t>
            </a:r>
            <a:r>
              <a:rPr lang="en-IN" sz="1953"/>
              <a:t> Applying knowledge to take appropriate action.</a:t>
            </a:r>
            <a:endParaRPr sz="1953"/>
          </a:p>
          <a:p>
            <a:pPr indent="0" lvl="0" marL="914400" rtl="0" algn="l">
              <a:lnSpc>
                <a:spcPct val="100000"/>
              </a:lnSpc>
              <a:spcBef>
                <a:spcPts val="1200"/>
              </a:spcBef>
              <a:spcAft>
                <a:spcPts val="0"/>
              </a:spcAft>
              <a:buNone/>
            </a:pPr>
            <a:r>
              <a:rPr lang="en-IN" sz="1953"/>
              <a:t>Example: Increase production of Product A.</a:t>
            </a:r>
            <a:endParaRPr sz="1953"/>
          </a:p>
          <a:p>
            <a:pPr indent="-352631" lvl="0" marL="457200" rtl="0" algn="l">
              <a:lnSpc>
                <a:spcPct val="100000"/>
              </a:lnSpc>
              <a:spcBef>
                <a:spcPts val="1200"/>
              </a:spcBef>
              <a:spcAft>
                <a:spcPts val="0"/>
              </a:spcAft>
              <a:buSzPts val="1953"/>
              <a:buChar char="❏"/>
            </a:pPr>
            <a:r>
              <a:rPr b="1" lang="en-IN" sz="1953"/>
              <a:t>Wisdom:</a:t>
            </a:r>
            <a:r>
              <a:rPr lang="en-IN" sz="1953"/>
              <a:t> Ability to make mature and effective decisions based on experience and understanding.</a:t>
            </a:r>
            <a:endParaRPr sz="1153"/>
          </a:p>
        </p:txBody>
      </p:sp>
      <p:sp>
        <p:nvSpPr>
          <p:cNvPr id="111" name="Google Shape;111;g3fae4015a90_0_7"/>
          <p:cNvSpPr txBox="1"/>
          <p:nvPr/>
        </p:nvSpPr>
        <p:spPr>
          <a:xfrm>
            <a:off x="9389575" y="0"/>
            <a:ext cx="2802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1.1 Cont’d</a:t>
            </a:r>
            <a:endParaRPr sz="1600"/>
          </a:p>
        </p:txBody>
      </p:sp>
      <p:pic>
        <p:nvPicPr>
          <p:cNvPr id="112" name="Google Shape;112;g3fae4015a90_0_7"/>
          <p:cNvPicPr preferRelativeResize="0"/>
          <p:nvPr/>
        </p:nvPicPr>
        <p:blipFill>
          <a:blip r:embed="rId3">
            <a:alphaModFix/>
          </a:blip>
          <a:stretch>
            <a:fillRect/>
          </a:stretch>
        </p:blipFill>
        <p:spPr>
          <a:xfrm>
            <a:off x="7969000" y="708000"/>
            <a:ext cx="4433200" cy="4918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fae4015a90_0_14"/>
          <p:cNvSpPr txBox="1"/>
          <p:nvPr>
            <p:ph idx="1" type="body"/>
          </p:nvPr>
        </p:nvSpPr>
        <p:spPr>
          <a:xfrm>
            <a:off x="572150" y="303900"/>
            <a:ext cx="11217600" cy="62502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None/>
            </a:pPr>
            <a:r>
              <a:rPr b="1" lang="en-IN">
                <a:solidFill>
                  <a:srgbClr val="9900FF"/>
                </a:solidFill>
                <a:latin typeface="Times New Roman"/>
                <a:ea typeface="Times New Roman"/>
                <a:cs typeface="Times New Roman"/>
                <a:sym typeface="Times New Roman"/>
              </a:rPr>
              <a:t>Why Do We Need Machine Learning? </a:t>
            </a:r>
            <a:endParaRPr b="1">
              <a:solidFill>
                <a:srgbClr val="9900FF"/>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sz="2200">
                <a:solidFill>
                  <a:srgbClr val="0B5394"/>
                </a:solidFill>
                <a:latin typeface="Times New Roman"/>
                <a:ea typeface="Times New Roman"/>
                <a:cs typeface="Times New Roman"/>
                <a:sym typeface="Times New Roman"/>
              </a:rPr>
              <a:t>Organizations collect large amounts of historical data.</a:t>
            </a:r>
            <a:endParaRPr sz="2200">
              <a:solidFill>
                <a:srgbClr val="0B5394"/>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Font typeface="Arial"/>
              <a:buNone/>
            </a:pPr>
            <a:r>
              <a:rPr lang="en-IN" sz="2200">
                <a:solidFill>
                  <a:srgbClr val="0B5394"/>
                </a:solidFill>
                <a:latin typeface="Times New Roman"/>
                <a:ea typeface="Times New Roman"/>
                <a:cs typeface="Times New Roman"/>
                <a:sym typeface="Times New Roman"/>
              </a:rPr>
              <a:t>Machine Learning helps to:</a:t>
            </a:r>
            <a:endParaRPr sz="2200">
              <a:solidFill>
                <a:srgbClr val="0B5394"/>
              </a:solidFill>
              <a:latin typeface="Times New Roman"/>
              <a:ea typeface="Times New Roman"/>
              <a:cs typeface="Times New Roman"/>
              <a:sym typeface="Times New Roman"/>
            </a:endParaRPr>
          </a:p>
          <a:p>
            <a:pPr indent="-368300" lvl="0" marL="457200" rtl="0" algn="l">
              <a:lnSpc>
                <a:spcPct val="100000"/>
              </a:lnSpc>
              <a:spcBef>
                <a:spcPts val="1200"/>
              </a:spcBef>
              <a:spcAft>
                <a:spcPts val="0"/>
              </a:spcAft>
              <a:buClr>
                <a:srgbClr val="0B5394"/>
              </a:buClr>
              <a:buSzPts val="2200"/>
              <a:buFont typeface="Times New Roman"/>
              <a:buChar char="●"/>
            </a:pPr>
            <a:r>
              <a:rPr lang="en-IN" sz="2200">
                <a:solidFill>
                  <a:srgbClr val="0B5394"/>
                </a:solidFill>
                <a:latin typeface="Times New Roman"/>
                <a:ea typeface="Times New Roman"/>
                <a:cs typeface="Times New Roman"/>
                <a:sym typeface="Times New Roman"/>
              </a:rPr>
              <a:t>Analyze large datasets</a:t>
            </a:r>
            <a:endParaRPr sz="2200">
              <a:solidFill>
                <a:srgbClr val="0B5394"/>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rgbClr val="0B5394"/>
              </a:buClr>
              <a:buSzPts val="2200"/>
              <a:buFont typeface="Times New Roman"/>
              <a:buChar char="●"/>
            </a:pPr>
            <a:r>
              <a:rPr lang="en-IN" sz="2200">
                <a:solidFill>
                  <a:srgbClr val="0B5394"/>
                </a:solidFill>
                <a:latin typeface="Times New Roman"/>
                <a:ea typeface="Times New Roman"/>
                <a:cs typeface="Times New Roman"/>
                <a:sym typeface="Times New Roman"/>
              </a:rPr>
              <a:t>Identify hidden patterns and trends</a:t>
            </a:r>
            <a:endParaRPr sz="2200">
              <a:solidFill>
                <a:srgbClr val="0B5394"/>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rgbClr val="0B5394"/>
              </a:buClr>
              <a:buSzPts val="2200"/>
              <a:buFont typeface="Times New Roman"/>
              <a:buChar char="●"/>
            </a:pPr>
            <a:r>
              <a:rPr lang="en-IN" sz="2200">
                <a:solidFill>
                  <a:srgbClr val="0B5394"/>
                </a:solidFill>
                <a:latin typeface="Times New Roman"/>
                <a:ea typeface="Times New Roman"/>
                <a:cs typeface="Times New Roman"/>
                <a:sym typeface="Times New Roman"/>
              </a:rPr>
              <a:t>Make better decisions</a:t>
            </a:r>
            <a:endParaRPr sz="2200">
              <a:solidFill>
                <a:srgbClr val="0B5394"/>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rgbClr val="0B5394"/>
              </a:buClr>
              <a:buSzPts val="2200"/>
              <a:buFont typeface="Times New Roman"/>
              <a:buChar char="●"/>
            </a:pPr>
            <a:r>
              <a:rPr lang="en-IN" sz="2200">
                <a:solidFill>
                  <a:srgbClr val="0B5394"/>
                </a:solidFill>
                <a:latin typeface="Times New Roman"/>
                <a:ea typeface="Times New Roman"/>
                <a:cs typeface="Times New Roman"/>
                <a:sym typeface="Times New Roman"/>
              </a:rPr>
              <a:t>Predict future outcomes</a:t>
            </a:r>
            <a:endParaRPr sz="2200">
              <a:solidFill>
                <a:srgbClr val="0B5394"/>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rgbClr val="0B5394"/>
              </a:buClr>
              <a:buSzPts val="2200"/>
              <a:buFont typeface="Times New Roman"/>
              <a:buChar char="●"/>
            </a:pPr>
            <a:r>
              <a:rPr lang="en-IN" sz="2200">
                <a:solidFill>
                  <a:srgbClr val="0B5394"/>
                </a:solidFill>
                <a:latin typeface="Times New Roman"/>
                <a:ea typeface="Times New Roman"/>
                <a:cs typeface="Times New Roman"/>
                <a:sym typeface="Times New Roman"/>
              </a:rPr>
              <a:t>Design new products</a:t>
            </a:r>
            <a:endParaRPr sz="2200">
              <a:solidFill>
                <a:srgbClr val="0B5394"/>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rgbClr val="0B5394"/>
              </a:buClr>
              <a:buSzPts val="2200"/>
              <a:buFont typeface="Times New Roman"/>
              <a:buChar char="●"/>
            </a:pPr>
            <a:r>
              <a:rPr lang="en-IN" sz="2200">
                <a:solidFill>
                  <a:srgbClr val="0B5394"/>
                </a:solidFill>
                <a:latin typeface="Times New Roman"/>
                <a:ea typeface="Times New Roman"/>
                <a:cs typeface="Times New Roman"/>
                <a:sym typeface="Times New Roman"/>
              </a:rPr>
              <a:t>Improve business processes</a:t>
            </a:r>
            <a:endParaRPr sz="2200">
              <a:solidFill>
                <a:srgbClr val="0B5394"/>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rgbClr val="0B5394"/>
              </a:buClr>
              <a:buSzPts val="2200"/>
              <a:buChar char="●"/>
            </a:pPr>
            <a:r>
              <a:rPr lang="en-IN" sz="2200">
                <a:solidFill>
                  <a:srgbClr val="0B5394"/>
                </a:solidFill>
                <a:latin typeface="Times New Roman"/>
                <a:ea typeface="Times New Roman"/>
                <a:cs typeface="Times New Roman"/>
                <a:sym typeface="Times New Roman"/>
              </a:rPr>
              <a:t>Develop effective Decision Support Systems </a:t>
            </a:r>
            <a:endParaRPr sz="2200">
              <a:solidFill>
                <a:srgbClr val="0B5394"/>
              </a:solidFill>
              <a:latin typeface="Times New Roman"/>
              <a:ea typeface="Times New Roman"/>
              <a:cs typeface="Times New Roman"/>
              <a:sym typeface="Times New Roman"/>
            </a:endParaRPr>
          </a:p>
          <a:p>
            <a:pPr indent="0" lvl="0" marL="457200" rtl="0" algn="l">
              <a:lnSpc>
                <a:spcPct val="100000"/>
              </a:lnSpc>
              <a:spcBef>
                <a:spcPts val="1200"/>
              </a:spcBef>
              <a:spcAft>
                <a:spcPts val="0"/>
              </a:spcAft>
              <a:buNone/>
            </a:pPr>
            <a:r>
              <a:rPr lang="en-IN" sz="2200">
                <a:solidFill>
                  <a:srgbClr val="CC0000"/>
                </a:solidFill>
                <a:latin typeface="Times New Roman"/>
                <a:ea typeface="Times New Roman"/>
                <a:cs typeface="Times New Roman"/>
                <a:sym typeface="Times New Roman"/>
              </a:rPr>
              <a:t>Machine Learning converts large amounts of data into Machine Learning converts large amounts of data into useful insights that help organizations make better decisions. </a:t>
            </a:r>
            <a:endParaRPr sz="2200">
              <a:solidFill>
                <a:srgbClr val="CC0000"/>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IN" sz="2200">
                <a:latin typeface="Times New Roman"/>
                <a:ea typeface="Times New Roman"/>
                <a:cs typeface="Times New Roman"/>
                <a:sym typeface="Times New Roman"/>
              </a:rPr>
              <a:t>Simple example:</a:t>
            </a:r>
            <a:endParaRPr sz="2200">
              <a:latin typeface="Times New Roman"/>
              <a:ea typeface="Times New Roman"/>
              <a:cs typeface="Times New Roman"/>
              <a:sym typeface="Times New Roman"/>
            </a:endParaRPr>
          </a:p>
          <a:p>
            <a:pPr indent="0" lvl="0" marL="457200" rtl="0" algn="l">
              <a:lnSpc>
                <a:spcPct val="100000"/>
              </a:lnSpc>
              <a:spcBef>
                <a:spcPts val="1200"/>
              </a:spcBef>
              <a:spcAft>
                <a:spcPts val="0"/>
              </a:spcAft>
              <a:buNone/>
            </a:pPr>
            <a:r>
              <a:rPr b="1" lang="en-IN" sz="2200">
                <a:solidFill>
                  <a:srgbClr val="6AA84F"/>
                </a:solidFill>
                <a:latin typeface="Times New Roman"/>
                <a:ea typeface="Times New Roman"/>
                <a:cs typeface="Times New Roman"/>
                <a:sym typeface="Times New Roman"/>
              </a:rPr>
              <a:t>Sales Data → Sales Pattern → Product Knowledge → Production Decision → Better Business Outcome </a:t>
            </a:r>
            <a:endParaRPr b="1" sz="2200">
              <a:solidFill>
                <a:srgbClr val="6AA84F"/>
              </a:solidFill>
              <a:latin typeface="Times New Roman"/>
              <a:ea typeface="Times New Roman"/>
              <a:cs typeface="Times New Roman"/>
              <a:sym typeface="Times New Roman"/>
            </a:endParaRPr>
          </a:p>
          <a:p>
            <a:pPr indent="0" lvl="0" marL="457200" rtl="0" algn="l">
              <a:lnSpc>
                <a:spcPct val="115000"/>
              </a:lnSpc>
              <a:spcBef>
                <a:spcPts val="1200"/>
              </a:spcBef>
              <a:spcAft>
                <a:spcPts val="1200"/>
              </a:spcAft>
              <a:buNone/>
            </a:pPr>
            <a:r>
              <a:t/>
            </a:r>
            <a:endParaRPr sz="2400">
              <a:latin typeface="Times New Roman"/>
              <a:ea typeface="Times New Roman"/>
              <a:cs typeface="Times New Roman"/>
              <a:sym typeface="Times New Roman"/>
            </a:endParaRPr>
          </a:p>
        </p:txBody>
      </p:sp>
      <p:sp>
        <p:nvSpPr>
          <p:cNvPr id="118" name="Google Shape;118;g3fae4015a90_0_14"/>
          <p:cNvSpPr txBox="1"/>
          <p:nvPr/>
        </p:nvSpPr>
        <p:spPr>
          <a:xfrm>
            <a:off x="9389575" y="0"/>
            <a:ext cx="2802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1.1 Cont’d</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3f9e933d9b6_0_20"/>
          <p:cNvSpPr txBox="1"/>
          <p:nvPr>
            <p:ph type="title"/>
          </p:nvPr>
        </p:nvSpPr>
        <p:spPr>
          <a:xfrm>
            <a:off x="340375" y="520375"/>
            <a:ext cx="11851500" cy="361500"/>
          </a:xfrm>
          <a:prstGeom prst="rect">
            <a:avLst/>
          </a:prstGeom>
        </p:spPr>
        <p:txBody>
          <a:bodyPr anchorCtr="0" anchor="ctr" bIns="45700" lIns="91425" spcFirstLastPara="1" rIns="91425" wrap="square" tIns="45700">
            <a:noAutofit/>
          </a:bodyPr>
          <a:lstStyle/>
          <a:p>
            <a:pPr indent="0" lvl="0" marL="0" rtl="0" algn="ctr">
              <a:lnSpc>
                <a:spcPct val="100000"/>
              </a:lnSpc>
              <a:spcBef>
                <a:spcPts val="0"/>
              </a:spcBef>
              <a:spcAft>
                <a:spcPts val="0"/>
              </a:spcAft>
              <a:buNone/>
            </a:pPr>
            <a:r>
              <a:rPr b="1" lang="en-IN" sz="4800">
                <a:solidFill>
                  <a:srgbClr val="980000"/>
                </a:solidFill>
                <a:latin typeface="Times New Roman"/>
                <a:ea typeface="Times New Roman"/>
                <a:cs typeface="Times New Roman"/>
                <a:sym typeface="Times New Roman"/>
              </a:rPr>
              <a:t>1.2 Machine Learning Explained </a:t>
            </a:r>
            <a:endParaRPr sz="4800"/>
          </a:p>
        </p:txBody>
      </p:sp>
      <p:sp>
        <p:nvSpPr>
          <p:cNvPr id="124" name="Google Shape;124;g3f9e933d9b6_0_20"/>
          <p:cNvSpPr txBox="1"/>
          <p:nvPr>
            <p:ph idx="1" type="body"/>
          </p:nvPr>
        </p:nvSpPr>
        <p:spPr>
          <a:xfrm>
            <a:off x="340375" y="1178875"/>
            <a:ext cx="11451600" cy="835200"/>
          </a:xfrm>
          <a:prstGeom prst="rect">
            <a:avLst/>
          </a:prstGeom>
        </p:spPr>
        <p:txBody>
          <a:bodyPr anchorCtr="0" anchor="t" bIns="45700" lIns="91425" spcFirstLastPara="1" rIns="91425" wrap="square" tIns="45700">
            <a:noAutofit/>
          </a:bodyPr>
          <a:lstStyle/>
          <a:p>
            <a:pPr indent="0" lvl="0" marL="0" rtl="0" algn="l">
              <a:lnSpc>
                <a:spcPct val="70000"/>
              </a:lnSpc>
              <a:spcBef>
                <a:spcPts val="1000"/>
              </a:spcBef>
              <a:spcAft>
                <a:spcPts val="0"/>
              </a:spcAft>
              <a:buSzPts val="853"/>
              <a:buNone/>
            </a:pPr>
            <a:r>
              <a:rPr lang="en-IN" sz="2460">
                <a:latin typeface="Times New Roman"/>
                <a:ea typeface="Times New Roman"/>
                <a:cs typeface="Times New Roman"/>
                <a:sym typeface="Times New Roman"/>
              </a:rPr>
              <a:t>ML is a part of AI. Machine learning is the field of study that gives computers the ability to learn without being explicitly programmed.</a:t>
            </a:r>
            <a:endParaRPr sz="2460">
              <a:latin typeface="Times New Roman"/>
              <a:ea typeface="Times New Roman"/>
              <a:cs typeface="Times New Roman"/>
              <a:sym typeface="Times New Roman"/>
            </a:endParaRPr>
          </a:p>
          <a:p>
            <a:pPr indent="0" lvl="0" marL="0" rtl="0" algn="l">
              <a:lnSpc>
                <a:spcPct val="70000"/>
              </a:lnSpc>
              <a:spcBef>
                <a:spcPts val="1000"/>
              </a:spcBef>
              <a:spcAft>
                <a:spcPts val="0"/>
              </a:spcAft>
              <a:buSzPts val="853"/>
              <a:buNone/>
            </a:pPr>
            <a:r>
              <a:t/>
            </a:r>
            <a:endParaRPr sz="2460">
              <a:latin typeface="Times New Roman"/>
              <a:ea typeface="Times New Roman"/>
              <a:cs typeface="Times New Roman"/>
              <a:sym typeface="Times New Roman"/>
            </a:endParaRPr>
          </a:p>
        </p:txBody>
      </p:sp>
      <p:pic>
        <p:nvPicPr>
          <p:cNvPr id="125" name="Google Shape;125;g3f9e933d9b6_0_20"/>
          <p:cNvPicPr preferRelativeResize="0"/>
          <p:nvPr/>
        </p:nvPicPr>
        <p:blipFill>
          <a:blip r:embed="rId3">
            <a:alphaModFix/>
          </a:blip>
          <a:stretch>
            <a:fillRect/>
          </a:stretch>
        </p:blipFill>
        <p:spPr>
          <a:xfrm>
            <a:off x="1228500" y="2311025"/>
            <a:ext cx="7734300" cy="3362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graphicFrame>
        <p:nvGraphicFramePr>
          <p:cNvPr id="130" name="Google Shape;130;g3f9e933d9b6_0_28"/>
          <p:cNvGraphicFramePr/>
          <p:nvPr/>
        </p:nvGraphicFramePr>
        <p:xfrm>
          <a:off x="716575" y="1051413"/>
          <a:ext cx="3000000" cy="3000000"/>
        </p:xfrm>
        <a:graphic>
          <a:graphicData uri="http://schemas.openxmlformats.org/drawingml/2006/table">
            <a:tbl>
              <a:tblPr>
                <a:noFill/>
                <a:tableStyleId>{955FF24C-9B2D-4C22-A1ED-B70111472CD0}</a:tableStyleId>
              </a:tblPr>
              <a:tblGrid>
                <a:gridCol w="4917875"/>
                <a:gridCol w="5515225"/>
              </a:tblGrid>
              <a:tr h="491250">
                <a:tc>
                  <a:txBody>
                    <a:bodyPr/>
                    <a:lstStyle/>
                    <a:p>
                      <a:pPr indent="0" lvl="0" marL="0" rtl="0" algn="ctr">
                        <a:lnSpc>
                          <a:spcPct val="115000"/>
                        </a:lnSpc>
                        <a:spcBef>
                          <a:spcPts val="0"/>
                        </a:spcBef>
                        <a:spcAft>
                          <a:spcPts val="0"/>
                        </a:spcAft>
                        <a:buNone/>
                      </a:pPr>
                      <a:r>
                        <a:rPr b="1" lang="en-IN" sz="2100"/>
                        <a:t>Conventional Programming</a:t>
                      </a:r>
                      <a:endParaRPr b="1" sz="2100"/>
                    </a:p>
                  </a:txBody>
                  <a:tcPr marT="91425" marB="91425" marR="91425" marL="91425"/>
                </a:tc>
                <a:tc>
                  <a:txBody>
                    <a:bodyPr/>
                    <a:lstStyle/>
                    <a:p>
                      <a:pPr indent="0" lvl="0" marL="0" rtl="0" algn="ctr">
                        <a:lnSpc>
                          <a:spcPct val="115000"/>
                        </a:lnSpc>
                        <a:spcBef>
                          <a:spcPts val="0"/>
                        </a:spcBef>
                        <a:spcAft>
                          <a:spcPts val="0"/>
                        </a:spcAft>
                        <a:buNone/>
                      </a:pPr>
                      <a:r>
                        <a:rPr b="1" lang="en-IN" sz="2100"/>
                        <a:t>Machine Learning</a:t>
                      </a:r>
                      <a:endParaRPr b="1" sz="2100"/>
                    </a:p>
                  </a:txBody>
                  <a:tcPr marT="91425" marB="91425" marR="91425" marL="91425"/>
                </a:tc>
              </a:tr>
              <a:tr h="516325">
                <a:tc>
                  <a:txBody>
                    <a:bodyPr/>
                    <a:lstStyle/>
                    <a:p>
                      <a:pPr indent="-361950" lvl="0" marL="457200" rtl="0" algn="l">
                        <a:lnSpc>
                          <a:spcPct val="100000"/>
                        </a:lnSpc>
                        <a:spcBef>
                          <a:spcPts val="0"/>
                        </a:spcBef>
                        <a:spcAft>
                          <a:spcPts val="0"/>
                        </a:spcAft>
                        <a:buSzPts val="2100"/>
                        <a:buChar char="●"/>
                      </a:pPr>
                      <a:r>
                        <a:rPr lang="en-IN" sz="2100"/>
                        <a:t>Rules are manually written</a:t>
                      </a:r>
                      <a:endParaRPr sz="2100"/>
                    </a:p>
                  </a:txBody>
                  <a:tcPr marT="91425" marB="91425" marR="91425" marL="91425"/>
                </a:tc>
                <a:tc>
                  <a:txBody>
                    <a:bodyPr/>
                    <a:lstStyle/>
                    <a:p>
                      <a:pPr indent="-361950" lvl="0" marL="457200" rtl="0" algn="l">
                        <a:lnSpc>
                          <a:spcPct val="100000"/>
                        </a:lnSpc>
                        <a:spcBef>
                          <a:spcPts val="0"/>
                        </a:spcBef>
                        <a:spcAft>
                          <a:spcPts val="0"/>
                        </a:spcAft>
                        <a:buSzPts val="2100"/>
                        <a:buChar char="●"/>
                      </a:pPr>
                      <a:r>
                        <a:rPr lang="en-IN" sz="2100"/>
                        <a:t>Patterns are learned from data</a:t>
                      </a:r>
                      <a:endParaRPr sz="2100"/>
                    </a:p>
                  </a:txBody>
                  <a:tcPr marT="91425" marB="91425" marR="91425" marL="91425"/>
                </a:tc>
              </a:tr>
              <a:tr h="792050">
                <a:tc>
                  <a:txBody>
                    <a:bodyPr/>
                    <a:lstStyle/>
                    <a:p>
                      <a:pPr indent="-361950" lvl="0" marL="457200" rtl="0" algn="l">
                        <a:lnSpc>
                          <a:spcPct val="100000"/>
                        </a:lnSpc>
                        <a:spcBef>
                          <a:spcPts val="0"/>
                        </a:spcBef>
                        <a:spcAft>
                          <a:spcPts val="0"/>
                        </a:spcAft>
                        <a:buSzPts val="2100"/>
                        <a:buChar char="●"/>
                      </a:pPr>
                      <a:r>
                        <a:rPr lang="en-IN" sz="2100"/>
                        <a:t>Programmer defines the logic</a:t>
                      </a:r>
                      <a:endParaRPr sz="2100"/>
                    </a:p>
                  </a:txBody>
                  <a:tcPr marT="91425" marB="91425" marR="91425" marL="91425"/>
                </a:tc>
                <a:tc>
                  <a:txBody>
                    <a:bodyPr/>
                    <a:lstStyle/>
                    <a:p>
                      <a:pPr indent="-361950" lvl="0" marL="457200" rtl="0" algn="l">
                        <a:lnSpc>
                          <a:spcPct val="100000"/>
                        </a:lnSpc>
                        <a:spcBef>
                          <a:spcPts val="0"/>
                        </a:spcBef>
                        <a:spcAft>
                          <a:spcPts val="0"/>
                        </a:spcAft>
                        <a:buSzPts val="2100"/>
                        <a:buChar char="●"/>
                      </a:pPr>
                      <a:r>
                        <a:rPr lang="en-IN" sz="2100"/>
                        <a:t>Algorithm learns the logic</a:t>
                      </a:r>
                      <a:endParaRPr sz="2100"/>
                    </a:p>
                  </a:txBody>
                  <a:tcPr marT="91425" marB="91425" marR="91425" marL="91425"/>
                </a:tc>
              </a:tr>
              <a:tr h="516325">
                <a:tc>
                  <a:txBody>
                    <a:bodyPr/>
                    <a:lstStyle/>
                    <a:p>
                      <a:pPr indent="-361950" lvl="0" marL="457200" rtl="0" algn="l">
                        <a:lnSpc>
                          <a:spcPct val="100000"/>
                        </a:lnSpc>
                        <a:spcBef>
                          <a:spcPts val="0"/>
                        </a:spcBef>
                        <a:spcAft>
                          <a:spcPts val="0"/>
                        </a:spcAft>
                        <a:buSzPts val="2100"/>
                        <a:buChar char="●"/>
                      </a:pPr>
                      <a:r>
                        <a:rPr lang="en-IN" sz="2100"/>
                        <a:t>Input + Rules → Output</a:t>
                      </a:r>
                      <a:endParaRPr sz="2100"/>
                    </a:p>
                  </a:txBody>
                  <a:tcPr marT="91425" marB="91425" marR="91425" marL="91425"/>
                </a:tc>
                <a:tc>
                  <a:txBody>
                    <a:bodyPr/>
                    <a:lstStyle/>
                    <a:p>
                      <a:pPr indent="-361950" lvl="0" marL="457200" rtl="0" algn="l">
                        <a:lnSpc>
                          <a:spcPct val="100000"/>
                        </a:lnSpc>
                        <a:spcBef>
                          <a:spcPts val="0"/>
                        </a:spcBef>
                        <a:spcAft>
                          <a:spcPts val="0"/>
                        </a:spcAft>
                        <a:buSzPts val="2100"/>
                        <a:buChar char="●"/>
                      </a:pPr>
                      <a:r>
                        <a:rPr lang="en-IN" sz="2100"/>
                        <a:t>Data + Examples → Model</a:t>
                      </a:r>
                      <a:endParaRPr sz="2100"/>
                    </a:p>
                  </a:txBody>
                  <a:tcPr marT="91425" marB="91425" marR="91425" marL="91425"/>
                </a:tc>
              </a:tr>
              <a:tr h="792050">
                <a:tc>
                  <a:txBody>
                    <a:bodyPr/>
                    <a:lstStyle/>
                    <a:p>
                      <a:pPr indent="-361950" lvl="0" marL="457200" rtl="0" algn="l">
                        <a:lnSpc>
                          <a:spcPct val="100000"/>
                        </a:lnSpc>
                        <a:spcBef>
                          <a:spcPts val="0"/>
                        </a:spcBef>
                        <a:spcAft>
                          <a:spcPts val="0"/>
                        </a:spcAft>
                        <a:buSzPts val="2100"/>
                        <a:buChar char="●"/>
                      </a:pPr>
                      <a:r>
                        <a:rPr lang="en-IN" sz="2100"/>
                        <a:t>Difficult for highly complex problems</a:t>
                      </a:r>
                      <a:endParaRPr sz="2100"/>
                    </a:p>
                  </a:txBody>
                  <a:tcPr marT="91425" marB="91425" marR="91425" marL="91425"/>
                </a:tc>
                <a:tc>
                  <a:txBody>
                    <a:bodyPr/>
                    <a:lstStyle/>
                    <a:p>
                      <a:pPr indent="-361950" lvl="0" marL="457200" rtl="0" algn="l">
                        <a:lnSpc>
                          <a:spcPct val="100000"/>
                        </a:lnSpc>
                        <a:spcBef>
                          <a:spcPts val="0"/>
                        </a:spcBef>
                        <a:spcAft>
                          <a:spcPts val="0"/>
                        </a:spcAft>
                        <a:buSzPts val="2100"/>
                        <a:buChar char="●"/>
                      </a:pPr>
                      <a:r>
                        <a:rPr lang="en-IN" sz="2100"/>
                        <a:t>Suitable for complex data-driven problems</a:t>
                      </a:r>
                      <a:endParaRPr sz="2100"/>
                    </a:p>
                  </a:txBody>
                  <a:tcPr marT="91425" marB="91425" marR="91425" marL="91425"/>
                </a:tc>
              </a:tr>
              <a:tr h="792050">
                <a:tc>
                  <a:txBody>
                    <a:bodyPr/>
                    <a:lstStyle/>
                    <a:p>
                      <a:pPr indent="-361950" lvl="0" marL="457200" rtl="0" algn="l">
                        <a:lnSpc>
                          <a:spcPct val="100000"/>
                        </a:lnSpc>
                        <a:spcBef>
                          <a:spcPts val="0"/>
                        </a:spcBef>
                        <a:spcAft>
                          <a:spcPts val="0"/>
                        </a:spcAft>
                        <a:buSzPts val="2100"/>
                        <a:buChar char="●"/>
                      </a:pPr>
                      <a:r>
                        <a:rPr lang="en-IN" sz="2100"/>
                        <a:t>Does not automatically learn</a:t>
                      </a:r>
                      <a:endParaRPr sz="2100"/>
                    </a:p>
                  </a:txBody>
                  <a:tcPr marT="91425" marB="91425" marR="91425" marL="91425"/>
                </a:tc>
                <a:tc>
                  <a:txBody>
                    <a:bodyPr/>
                    <a:lstStyle/>
                    <a:p>
                      <a:pPr indent="-361950" lvl="0" marL="457200" rtl="0" algn="l">
                        <a:lnSpc>
                          <a:spcPct val="100000"/>
                        </a:lnSpc>
                        <a:spcBef>
                          <a:spcPts val="0"/>
                        </a:spcBef>
                        <a:spcAft>
                          <a:spcPts val="0"/>
                        </a:spcAft>
                        <a:buSzPts val="2100"/>
                        <a:buChar char="●"/>
                      </a:pPr>
                      <a:r>
                        <a:rPr lang="en-IN" sz="2100"/>
                        <a:t>Can learn and improve from data</a:t>
                      </a:r>
                      <a:endParaRPr sz="2100"/>
                    </a:p>
                  </a:txBody>
                  <a:tcPr marT="91425" marB="91425" marR="91425" marL="91425"/>
                </a:tc>
              </a:tr>
              <a:tr h="792050">
                <a:tc>
                  <a:txBody>
                    <a:bodyPr/>
                    <a:lstStyle/>
                    <a:p>
                      <a:pPr indent="-361950" lvl="0" marL="457200" rtl="0" algn="l">
                        <a:lnSpc>
                          <a:spcPct val="100000"/>
                        </a:lnSpc>
                        <a:spcBef>
                          <a:spcPts val="0"/>
                        </a:spcBef>
                        <a:spcAft>
                          <a:spcPts val="0"/>
                        </a:spcAft>
                        <a:buSzPts val="2100"/>
                        <a:buChar char="●"/>
                      </a:pPr>
                      <a:r>
                        <a:rPr lang="en-IN" sz="2100"/>
                        <a:t>Example: Calculator program</a:t>
                      </a:r>
                      <a:endParaRPr sz="2100"/>
                    </a:p>
                  </a:txBody>
                  <a:tcPr marT="91425" marB="91425" marR="91425" marL="91425"/>
                </a:tc>
                <a:tc>
                  <a:txBody>
                    <a:bodyPr/>
                    <a:lstStyle/>
                    <a:p>
                      <a:pPr indent="-361950" lvl="0" marL="457200" rtl="0" algn="l">
                        <a:lnSpc>
                          <a:spcPct val="100000"/>
                        </a:lnSpc>
                        <a:spcBef>
                          <a:spcPts val="0"/>
                        </a:spcBef>
                        <a:spcAft>
                          <a:spcPts val="0"/>
                        </a:spcAft>
                        <a:buSzPts val="2100"/>
                        <a:buChar char="●"/>
                      </a:pPr>
                      <a:r>
                        <a:rPr lang="en-IN" sz="2100"/>
                        <a:t>Example: Spam detection</a:t>
                      </a:r>
                      <a:endParaRPr sz="2100"/>
                    </a:p>
                  </a:txBody>
                  <a:tcPr marT="91425" marB="91425" marR="91425" marL="91425"/>
                </a:tc>
              </a:tr>
            </a:tbl>
          </a:graphicData>
        </a:graphic>
      </p:graphicFrame>
      <p:sp>
        <p:nvSpPr>
          <p:cNvPr id="131" name="Google Shape;131;g3f9e933d9b6_0_28"/>
          <p:cNvSpPr txBox="1"/>
          <p:nvPr/>
        </p:nvSpPr>
        <p:spPr>
          <a:xfrm>
            <a:off x="9389575" y="0"/>
            <a:ext cx="2802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1.2 Cont’d</a:t>
            </a:r>
            <a:endParaRPr sz="16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g3f9e933d9b6_0_37"/>
          <p:cNvSpPr txBox="1"/>
          <p:nvPr>
            <p:ph type="title"/>
          </p:nvPr>
        </p:nvSpPr>
        <p:spPr>
          <a:xfrm>
            <a:off x="838200" y="365125"/>
            <a:ext cx="10515600" cy="7014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3500">
                <a:latin typeface="Times New Roman"/>
                <a:ea typeface="Times New Roman"/>
                <a:cs typeface="Times New Roman"/>
                <a:sym typeface="Times New Roman"/>
              </a:rPr>
              <a:t>Limitations of Conventional Programming </a:t>
            </a:r>
            <a:endParaRPr sz="3500">
              <a:latin typeface="Times New Roman"/>
              <a:ea typeface="Times New Roman"/>
              <a:cs typeface="Times New Roman"/>
              <a:sym typeface="Times New Roman"/>
            </a:endParaRPr>
          </a:p>
        </p:txBody>
      </p:sp>
      <p:sp>
        <p:nvSpPr>
          <p:cNvPr id="137" name="Google Shape;137;g3f9e933d9b6_0_37"/>
          <p:cNvSpPr txBox="1"/>
          <p:nvPr>
            <p:ph idx="1" type="body"/>
          </p:nvPr>
        </p:nvSpPr>
        <p:spPr>
          <a:xfrm>
            <a:off x="838200" y="1253400"/>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2100"/>
              <a:t>Conventional programming works well when rules are clearly defined.</a:t>
            </a:r>
            <a:endParaRPr sz="2100"/>
          </a:p>
          <a:p>
            <a:pPr indent="0" lvl="0" marL="0" rtl="0" algn="l">
              <a:lnSpc>
                <a:spcPct val="115000"/>
              </a:lnSpc>
              <a:spcBef>
                <a:spcPts val="1200"/>
              </a:spcBef>
              <a:spcAft>
                <a:spcPts val="0"/>
              </a:spcAft>
              <a:buClr>
                <a:schemeClr val="dk1"/>
              </a:buClr>
              <a:buSzPts val="1100"/>
              <a:buFont typeface="Arial"/>
              <a:buNone/>
            </a:pPr>
            <a:r>
              <a:rPr lang="en-IN" sz="2100"/>
              <a:t>However, it becomes difficult for complex real-world problems such as:</a:t>
            </a:r>
            <a:endParaRPr sz="2100"/>
          </a:p>
          <a:p>
            <a:pPr indent="-361950" lvl="0" marL="457200" rtl="0" algn="l">
              <a:lnSpc>
                <a:spcPct val="115000"/>
              </a:lnSpc>
              <a:spcBef>
                <a:spcPts val="1200"/>
              </a:spcBef>
              <a:spcAft>
                <a:spcPts val="0"/>
              </a:spcAft>
              <a:buSzPts val="2100"/>
              <a:buChar char="●"/>
            </a:pPr>
            <a:r>
              <a:rPr b="1" lang="en-IN" sz="2100"/>
              <a:t>Puzzles</a:t>
            </a:r>
            <a:endParaRPr b="1" sz="2100"/>
          </a:p>
          <a:p>
            <a:pPr indent="-361950" lvl="0" marL="457200" rtl="0" algn="l">
              <a:lnSpc>
                <a:spcPct val="115000"/>
              </a:lnSpc>
              <a:spcBef>
                <a:spcPts val="0"/>
              </a:spcBef>
              <a:spcAft>
                <a:spcPts val="0"/>
              </a:spcAft>
              <a:buSzPts val="2100"/>
              <a:buChar char="●"/>
            </a:pPr>
            <a:r>
              <a:rPr b="1" lang="en-IN" sz="2100"/>
              <a:t>Games</a:t>
            </a:r>
            <a:endParaRPr b="1" sz="2100"/>
          </a:p>
          <a:p>
            <a:pPr indent="-361950" lvl="0" marL="457200" rtl="0" algn="l">
              <a:lnSpc>
                <a:spcPct val="115000"/>
              </a:lnSpc>
              <a:spcBef>
                <a:spcPts val="0"/>
              </a:spcBef>
              <a:spcAft>
                <a:spcPts val="0"/>
              </a:spcAft>
              <a:buSzPts val="2100"/>
              <a:buChar char="●"/>
            </a:pPr>
            <a:r>
              <a:rPr b="1" lang="en-IN" sz="2100"/>
              <a:t>Image Recognition</a:t>
            </a:r>
            <a:endParaRPr b="1" sz="2100"/>
          </a:p>
          <a:p>
            <a:pPr indent="-361950" lvl="0" marL="457200" rtl="0" algn="l">
              <a:lnSpc>
                <a:spcPct val="115000"/>
              </a:lnSpc>
              <a:spcBef>
                <a:spcPts val="0"/>
              </a:spcBef>
              <a:spcAft>
                <a:spcPts val="0"/>
              </a:spcAft>
              <a:buSzPts val="2100"/>
              <a:buChar char="●"/>
            </a:pPr>
            <a:r>
              <a:rPr b="1" lang="en-IN" sz="2100"/>
              <a:t>Natural Language Processing</a:t>
            </a:r>
            <a:endParaRPr b="1" sz="2100"/>
          </a:p>
          <a:p>
            <a:pPr indent="-361950" lvl="0" marL="457200" rtl="0" algn="l">
              <a:lnSpc>
                <a:spcPct val="115000"/>
              </a:lnSpc>
              <a:spcBef>
                <a:spcPts val="0"/>
              </a:spcBef>
              <a:spcAft>
                <a:spcPts val="0"/>
              </a:spcAft>
              <a:buSzPts val="2100"/>
              <a:buChar char="●"/>
            </a:pPr>
            <a:r>
              <a:rPr b="1" lang="en-IN" sz="2100"/>
              <a:t>Autonomous systems</a:t>
            </a:r>
            <a:endParaRPr b="1" sz="2100"/>
          </a:p>
          <a:p>
            <a:pPr indent="0" lvl="0" marL="0" rtl="0" algn="l">
              <a:lnSpc>
                <a:spcPct val="115000"/>
              </a:lnSpc>
              <a:spcBef>
                <a:spcPts val="1200"/>
              </a:spcBef>
              <a:spcAft>
                <a:spcPts val="0"/>
              </a:spcAft>
              <a:buNone/>
            </a:pPr>
            <a:r>
              <a:t/>
            </a:r>
            <a:endParaRPr b="1" sz="2100"/>
          </a:p>
          <a:p>
            <a:pPr indent="-361950" lvl="0" marL="457200" rtl="0" algn="l">
              <a:lnSpc>
                <a:spcPct val="115000"/>
              </a:lnSpc>
              <a:spcBef>
                <a:spcPts val="1200"/>
              </a:spcBef>
              <a:spcAft>
                <a:spcPts val="0"/>
              </a:spcAft>
              <a:buSzPts val="2100"/>
              <a:buChar char="➢"/>
            </a:pPr>
            <a:r>
              <a:rPr lang="en-IN" sz="2100"/>
              <a:t>It is difficult to manually write rules for every possible situation.</a:t>
            </a:r>
            <a:endParaRPr sz="2100"/>
          </a:p>
          <a:p>
            <a:pPr indent="-361950" lvl="0" marL="457200" rtl="0" algn="l">
              <a:lnSpc>
                <a:spcPct val="115000"/>
              </a:lnSpc>
              <a:spcBef>
                <a:spcPts val="0"/>
              </a:spcBef>
              <a:spcAft>
                <a:spcPts val="0"/>
              </a:spcAft>
              <a:buSzPts val="2100"/>
              <a:buChar char="➢"/>
            </a:pPr>
            <a:r>
              <a:rPr lang="en-IN" sz="2100"/>
              <a:t>Complex problems may have too many possible conditions.</a:t>
            </a:r>
            <a:endParaRPr sz="2100"/>
          </a:p>
          <a:p>
            <a:pPr indent="-361950" lvl="0" marL="457200" rtl="0" algn="l">
              <a:lnSpc>
                <a:spcPct val="115000"/>
              </a:lnSpc>
              <a:spcBef>
                <a:spcPts val="0"/>
              </a:spcBef>
              <a:spcAft>
                <a:spcPts val="0"/>
              </a:spcAft>
              <a:buSzPts val="2100"/>
              <a:buChar char="➢"/>
            </a:pPr>
            <a:r>
              <a:rPr lang="en-IN" sz="2100"/>
              <a:t>Human-designed rules may not handle unknown situations effectively.</a:t>
            </a:r>
            <a:endParaRPr sz="2100"/>
          </a:p>
          <a:p>
            <a:pPr indent="0" lvl="0" marL="0" rtl="0" algn="l">
              <a:spcBef>
                <a:spcPts val="1200"/>
              </a:spcBef>
              <a:spcAft>
                <a:spcPts val="0"/>
              </a:spcAft>
              <a:buNone/>
            </a:pPr>
            <a:r>
              <a:t/>
            </a:r>
            <a:endParaRPr sz="3800"/>
          </a:p>
        </p:txBody>
      </p:sp>
      <p:sp>
        <p:nvSpPr>
          <p:cNvPr id="138" name="Google Shape;138;g3f9e933d9b6_0_37"/>
          <p:cNvSpPr txBox="1"/>
          <p:nvPr/>
        </p:nvSpPr>
        <p:spPr>
          <a:xfrm>
            <a:off x="9389575" y="0"/>
            <a:ext cx="2802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1.2 Cont’d</a:t>
            </a:r>
            <a:endParaRPr sz="16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f9e933d9b6_0_44"/>
          <p:cNvSpPr txBox="1"/>
          <p:nvPr>
            <p:ph type="title"/>
          </p:nvPr>
        </p:nvSpPr>
        <p:spPr>
          <a:xfrm>
            <a:off x="372600" y="708000"/>
            <a:ext cx="8046600" cy="4572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lang="en-IN" sz="3000">
                <a:solidFill>
                  <a:srgbClr val="0000FF"/>
                </a:solidFill>
                <a:latin typeface="Times New Roman"/>
                <a:ea typeface="Times New Roman"/>
                <a:cs typeface="Times New Roman"/>
                <a:sym typeface="Times New Roman"/>
              </a:rPr>
              <a:t>Early Artificial Intelligence – Rule-Based Approach </a:t>
            </a:r>
            <a:endParaRPr sz="3000">
              <a:solidFill>
                <a:srgbClr val="0000FF"/>
              </a:solidFill>
              <a:latin typeface="Times New Roman"/>
              <a:ea typeface="Times New Roman"/>
              <a:cs typeface="Times New Roman"/>
              <a:sym typeface="Times New Roman"/>
            </a:endParaRPr>
          </a:p>
        </p:txBody>
      </p:sp>
      <p:sp>
        <p:nvSpPr>
          <p:cNvPr id="144" name="Google Shape;144;g3f9e933d9b6_0_44"/>
          <p:cNvSpPr txBox="1"/>
          <p:nvPr>
            <p:ph idx="1" type="body"/>
          </p:nvPr>
        </p:nvSpPr>
        <p:spPr>
          <a:xfrm>
            <a:off x="661525" y="1716375"/>
            <a:ext cx="110661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2200"/>
              <a:t>The early approach of AI was to create general-purpose rules manually.</a:t>
            </a:r>
            <a:endParaRPr sz="2200"/>
          </a:p>
          <a:p>
            <a:pPr indent="-368300" lvl="0" marL="457200" rtl="0" algn="l">
              <a:lnSpc>
                <a:spcPct val="115000"/>
              </a:lnSpc>
              <a:spcBef>
                <a:spcPts val="1200"/>
              </a:spcBef>
              <a:spcAft>
                <a:spcPts val="0"/>
              </a:spcAft>
              <a:buSzPts val="2200"/>
              <a:buAutoNum type="arabicPeriod"/>
            </a:pPr>
            <a:r>
              <a:rPr lang="en-IN" sz="2200"/>
              <a:t>Understand the problem.</a:t>
            </a:r>
            <a:endParaRPr sz="2200"/>
          </a:p>
          <a:p>
            <a:pPr indent="-368300" lvl="0" marL="457200" rtl="0" algn="l">
              <a:lnSpc>
                <a:spcPct val="115000"/>
              </a:lnSpc>
              <a:spcBef>
                <a:spcPts val="0"/>
              </a:spcBef>
              <a:spcAft>
                <a:spcPts val="0"/>
              </a:spcAft>
              <a:buSzPts val="2200"/>
              <a:buAutoNum type="arabicPeriod"/>
            </a:pPr>
            <a:r>
              <a:rPr lang="en-IN" sz="2200"/>
              <a:t>Obtain knowledge from human experts.</a:t>
            </a:r>
            <a:endParaRPr sz="2200"/>
          </a:p>
          <a:p>
            <a:pPr indent="-368300" lvl="0" marL="457200" rtl="0" algn="l">
              <a:lnSpc>
                <a:spcPct val="115000"/>
              </a:lnSpc>
              <a:spcBef>
                <a:spcPts val="0"/>
              </a:spcBef>
              <a:spcAft>
                <a:spcPts val="0"/>
              </a:spcAft>
              <a:buSzPts val="2200"/>
              <a:buAutoNum type="arabicPeriod"/>
            </a:pPr>
            <a:r>
              <a:rPr lang="en-IN" sz="2200"/>
              <a:t>Convert expert knowledge into rules.</a:t>
            </a:r>
            <a:endParaRPr sz="2200"/>
          </a:p>
          <a:p>
            <a:pPr indent="-368300" lvl="0" marL="457200" rtl="0" algn="l">
              <a:lnSpc>
                <a:spcPct val="115000"/>
              </a:lnSpc>
              <a:spcBef>
                <a:spcPts val="0"/>
              </a:spcBef>
              <a:spcAft>
                <a:spcPts val="0"/>
              </a:spcAft>
              <a:buSzPts val="2200"/>
              <a:buAutoNum type="arabicPeriod"/>
            </a:pPr>
            <a:r>
              <a:rPr lang="en-IN" sz="2200"/>
              <a:t>Represent rules using logic and reasoning.</a:t>
            </a:r>
            <a:endParaRPr sz="2200"/>
          </a:p>
          <a:p>
            <a:pPr indent="-368300" lvl="0" marL="457200" rtl="0" algn="l">
              <a:lnSpc>
                <a:spcPct val="115000"/>
              </a:lnSpc>
              <a:spcBef>
                <a:spcPts val="0"/>
              </a:spcBef>
              <a:spcAft>
                <a:spcPts val="0"/>
              </a:spcAft>
              <a:buSzPts val="2200"/>
              <a:buAutoNum type="arabicPeriod"/>
            </a:pPr>
            <a:r>
              <a:rPr lang="en-IN" sz="2200"/>
              <a:t>Implement the rules in a computer program.</a:t>
            </a:r>
            <a:endParaRPr sz="2200"/>
          </a:p>
          <a:p>
            <a:pPr indent="-368300" lvl="0" marL="457200" rtl="0" algn="l">
              <a:lnSpc>
                <a:spcPct val="115000"/>
              </a:lnSpc>
              <a:spcBef>
                <a:spcPts val="0"/>
              </a:spcBef>
              <a:spcAft>
                <a:spcPts val="0"/>
              </a:spcAft>
              <a:buSzPts val="2200"/>
              <a:buAutoNum type="arabicPeriod"/>
            </a:pPr>
            <a:r>
              <a:rPr lang="en-IN" sz="2200"/>
              <a:t>Use the program to make decisions.</a:t>
            </a:r>
            <a:endParaRPr sz="2200"/>
          </a:p>
          <a:p>
            <a:pPr indent="0" lvl="0" marL="457200" rtl="0" algn="l">
              <a:lnSpc>
                <a:spcPct val="115000"/>
              </a:lnSpc>
              <a:spcBef>
                <a:spcPts val="1200"/>
              </a:spcBef>
              <a:spcAft>
                <a:spcPts val="0"/>
              </a:spcAft>
              <a:buNone/>
            </a:pPr>
            <a:r>
              <a:t/>
            </a:r>
            <a:endParaRPr sz="2200"/>
          </a:p>
          <a:p>
            <a:pPr indent="0" lvl="0" marL="0" rtl="0" algn="ctr">
              <a:lnSpc>
                <a:spcPct val="115000"/>
              </a:lnSpc>
              <a:spcBef>
                <a:spcPts val="1200"/>
              </a:spcBef>
              <a:spcAft>
                <a:spcPts val="0"/>
              </a:spcAft>
              <a:buClr>
                <a:schemeClr val="dk1"/>
              </a:buClr>
              <a:buSzPts val="1100"/>
              <a:buFont typeface="Arial"/>
              <a:buNone/>
            </a:pPr>
            <a:r>
              <a:rPr b="1" lang="en-IN" sz="2300">
                <a:solidFill>
                  <a:srgbClr val="980000"/>
                </a:solidFill>
              </a:rPr>
              <a:t>Expert Knowledge → Rules → Program → Decision</a:t>
            </a:r>
            <a:endParaRPr b="1" sz="2300">
              <a:solidFill>
                <a:srgbClr val="980000"/>
              </a:solidFill>
            </a:endParaRPr>
          </a:p>
          <a:p>
            <a:pPr indent="0" lvl="0" marL="0" rtl="0" algn="l">
              <a:spcBef>
                <a:spcPts val="1200"/>
              </a:spcBef>
              <a:spcAft>
                <a:spcPts val="0"/>
              </a:spcAft>
              <a:buNone/>
            </a:pPr>
            <a:r>
              <a:t/>
            </a:r>
            <a:endParaRPr sz="3900"/>
          </a:p>
        </p:txBody>
      </p:sp>
      <p:sp>
        <p:nvSpPr>
          <p:cNvPr id="145" name="Google Shape;145;g3f9e933d9b6_0_44"/>
          <p:cNvSpPr txBox="1"/>
          <p:nvPr/>
        </p:nvSpPr>
        <p:spPr>
          <a:xfrm>
            <a:off x="9389575" y="0"/>
            <a:ext cx="2802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1.2 Cont’d</a:t>
            </a:r>
            <a:endParaRPr sz="16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3f9e933d9b6_0_56"/>
          <p:cNvSpPr txBox="1"/>
          <p:nvPr/>
        </p:nvSpPr>
        <p:spPr>
          <a:xfrm>
            <a:off x="207225" y="934517"/>
            <a:ext cx="7164600" cy="5484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en-IN" sz="2700">
                <a:solidFill>
                  <a:srgbClr val="0000FF"/>
                </a:solidFill>
                <a:latin typeface="Times New Roman"/>
                <a:ea typeface="Times New Roman"/>
                <a:cs typeface="Times New Roman"/>
                <a:sym typeface="Times New Roman"/>
              </a:rPr>
              <a:t>Expert Systems</a:t>
            </a:r>
            <a:endParaRPr b="1" sz="2700">
              <a:solidFill>
                <a:srgbClr val="0000FF"/>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IN" sz="2200">
                <a:solidFill>
                  <a:schemeClr val="dk1"/>
                </a:solidFill>
                <a:latin typeface="Times New Roman"/>
                <a:ea typeface="Times New Roman"/>
                <a:cs typeface="Times New Roman"/>
                <a:sym typeface="Times New Roman"/>
              </a:rPr>
              <a:t>An Expert System is an AI system that uses the knowledge of human experts to solve problems in a specific domain.</a:t>
            </a:r>
            <a:endParaRPr sz="2200">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IN" sz="2200">
                <a:solidFill>
                  <a:schemeClr val="dk1"/>
                </a:solidFill>
                <a:latin typeface="Times New Roman"/>
                <a:ea typeface="Times New Roman"/>
                <a:cs typeface="Times New Roman"/>
                <a:sym typeface="Times New Roman"/>
              </a:rPr>
              <a:t>Main components:</a:t>
            </a:r>
            <a:endParaRPr sz="2200">
              <a:solidFill>
                <a:schemeClr val="dk1"/>
              </a:solidFill>
              <a:latin typeface="Times New Roman"/>
              <a:ea typeface="Times New Roman"/>
              <a:cs typeface="Times New Roman"/>
              <a:sym typeface="Times New Roman"/>
            </a:endParaRPr>
          </a:p>
          <a:p>
            <a:pPr indent="-368300" lvl="0" marL="457200" rtl="0" algn="l">
              <a:lnSpc>
                <a:spcPct val="100000"/>
              </a:lnSpc>
              <a:spcBef>
                <a:spcPts val="1200"/>
              </a:spcBef>
              <a:spcAft>
                <a:spcPts val="0"/>
              </a:spcAft>
              <a:buClr>
                <a:schemeClr val="dk1"/>
              </a:buClr>
              <a:buSzPts val="2200"/>
              <a:buChar char="●"/>
            </a:pPr>
            <a:r>
              <a:rPr lang="en-IN" sz="2200">
                <a:solidFill>
                  <a:schemeClr val="dk1"/>
                </a:solidFill>
                <a:latin typeface="Times New Roman"/>
                <a:ea typeface="Times New Roman"/>
                <a:cs typeface="Times New Roman"/>
                <a:sym typeface="Times New Roman"/>
              </a:rPr>
              <a:t>Knowledge Base – stores expert knowledge and rules.</a:t>
            </a:r>
            <a:endParaRPr sz="2200">
              <a:solidFill>
                <a:schemeClr val="dk1"/>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latin typeface="Times New Roman"/>
                <a:ea typeface="Times New Roman"/>
                <a:cs typeface="Times New Roman"/>
                <a:sym typeface="Times New Roman"/>
              </a:rPr>
              <a:t>Inference Engine – applies rules to available information.</a:t>
            </a:r>
            <a:endParaRPr sz="2200">
              <a:solidFill>
                <a:schemeClr val="dk1"/>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chemeClr val="dk1"/>
              </a:buClr>
              <a:buSzPts val="2200"/>
              <a:buChar char="●"/>
            </a:pPr>
            <a:r>
              <a:rPr lang="en-IN" sz="2200">
                <a:solidFill>
                  <a:schemeClr val="dk1"/>
                </a:solidFill>
                <a:latin typeface="Times New Roman"/>
                <a:ea typeface="Times New Roman"/>
                <a:cs typeface="Times New Roman"/>
                <a:sym typeface="Times New Roman"/>
              </a:rPr>
              <a:t>User Interface – allows users to interact with the system.</a:t>
            </a:r>
            <a:endParaRPr sz="2200">
              <a:solidFill>
                <a:schemeClr val="dk1"/>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lang="en-IN" sz="2200">
                <a:solidFill>
                  <a:schemeClr val="dk1"/>
                </a:solidFill>
                <a:latin typeface="Times New Roman"/>
                <a:ea typeface="Times New Roman"/>
                <a:cs typeface="Times New Roman"/>
                <a:sym typeface="Times New Roman"/>
              </a:rPr>
              <a:t>Example: MYCIN</a:t>
            </a:r>
            <a:endParaRPr sz="2200">
              <a:solidFill>
                <a:schemeClr val="dk1"/>
              </a:solidFill>
              <a:latin typeface="Times New Roman"/>
              <a:ea typeface="Times New Roman"/>
              <a:cs typeface="Times New Roman"/>
              <a:sym typeface="Times New Roman"/>
            </a:endParaRPr>
          </a:p>
          <a:p>
            <a:pPr indent="-368300" lvl="0" marL="457200" rtl="0" algn="l">
              <a:lnSpc>
                <a:spcPct val="100000"/>
              </a:lnSpc>
              <a:spcBef>
                <a:spcPts val="1200"/>
              </a:spcBef>
              <a:spcAft>
                <a:spcPts val="0"/>
              </a:spcAft>
              <a:buClr>
                <a:schemeClr val="dk1"/>
              </a:buClr>
              <a:buSzPts val="2200"/>
              <a:buChar char="●"/>
            </a:pPr>
            <a:r>
              <a:rPr lang="en-IN" sz="2200">
                <a:solidFill>
                  <a:schemeClr val="dk1"/>
                </a:solidFill>
                <a:latin typeface="Times New Roman"/>
                <a:ea typeface="Times New Roman"/>
                <a:cs typeface="Times New Roman"/>
                <a:sym typeface="Times New Roman"/>
              </a:rPr>
              <a:t>MYCIN was an early expert system for medical diagnosis.</a:t>
            </a:r>
            <a:endParaRPr sz="2200">
              <a:solidFill>
                <a:schemeClr val="dk1"/>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chemeClr val="dk1"/>
              </a:buClr>
              <a:buSzPts val="2200"/>
              <a:buFont typeface="Times New Roman"/>
              <a:buChar char="●"/>
            </a:pPr>
            <a:r>
              <a:rPr lang="en-IN" sz="2200">
                <a:solidFill>
                  <a:schemeClr val="dk1"/>
                </a:solidFill>
                <a:latin typeface="Times New Roman"/>
                <a:ea typeface="Times New Roman"/>
                <a:cs typeface="Times New Roman"/>
                <a:sym typeface="Times New Roman"/>
              </a:rPr>
              <a:t>It used knowledge obtained from doctors.</a:t>
            </a:r>
            <a:endParaRPr sz="2200">
              <a:solidFill>
                <a:schemeClr val="dk1"/>
              </a:solidFill>
              <a:latin typeface="Times New Roman"/>
              <a:ea typeface="Times New Roman"/>
              <a:cs typeface="Times New Roman"/>
              <a:sym typeface="Times New Roman"/>
            </a:endParaRPr>
          </a:p>
          <a:p>
            <a:pPr indent="-368300" lvl="0" marL="457200" rtl="0" algn="l">
              <a:lnSpc>
                <a:spcPct val="100000"/>
              </a:lnSpc>
              <a:spcBef>
                <a:spcPts val="0"/>
              </a:spcBef>
              <a:spcAft>
                <a:spcPts val="0"/>
              </a:spcAft>
              <a:buClr>
                <a:schemeClr val="dk1"/>
              </a:buClr>
              <a:buSzPts val="2200"/>
              <a:buFont typeface="Times New Roman"/>
              <a:buChar char="●"/>
            </a:pPr>
            <a:r>
              <a:rPr lang="en-IN" sz="2200">
                <a:solidFill>
                  <a:schemeClr val="dk1"/>
                </a:solidFill>
                <a:latin typeface="Times New Roman"/>
                <a:ea typeface="Times New Roman"/>
                <a:cs typeface="Times New Roman"/>
                <a:sym typeface="Times New Roman"/>
              </a:rPr>
              <a:t>The system applied predefined rules to assist in diagnosing infections and recommending antibiotics.</a:t>
            </a:r>
            <a:endParaRPr sz="2200">
              <a:solidFill>
                <a:schemeClr val="dk1"/>
              </a:solidFill>
              <a:latin typeface="Times New Roman"/>
              <a:ea typeface="Times New Roman"/>
              <a:cs typeface="Times New Roman"/>
              <a:sym typeface="Times New Roman"/>
            </a:endParaRPr>
          </a:p>
        </p:txBody>
      </p:sp>
      <p:sp>
        <p:nvSpPr>
          <p:cNvPr id="151" name="Google Shape;151;g3f9e933d9b6_0_56"/>
          <p:cNvSpPr txBox="1"/>
          <p:nvPr/>
        </p:nvSpPr>
        <p:spPr>
          <a:xfrm>
            <a:off x="7371950" y="980511"/>
            <a:ext cx="4677000" cy="5387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1400"/>
              </a:spcBef>
              <a:spcAft>
                <a:spcPts val="0"/>
              </a:spcAft>
              <a:buNone/>
            </a:pPr>
            <a:r>
              <a:rPr b="1" lang="en-IN" sz="2400">
                <a:solidFill>
                  <a:srgbClr val="0000FF"/>
                </a:solidFill>
              </a:rPr>
              <a:t>Limitations of Expert Systems</a:t>
            </a:r>
            <a:endParaRPr b="1" sz="2400">
              <a:solidFill>
                <a:srgbClr val="0000FF"/>
              </a:solidFill>
            </a:endParaRPr>
          </a:p>
          <a:p>
            <a:pPr indent="0" lvl="0" marL="0" rtl="0" algn="l">
              <a:lnSpc>
                <a:spcPct val="100000"/>
              </a:lnSpc>
              <a:spcBef>
                <a:spcPts val="1200"/>
              </a:spcBef>
              <a:spcAft>
                <a:spcPts val="0"/>
              </a:spcAft>
              <a:buNone/>
            </a:pPr>
            <a:r>
              <a:rPr lang="en-IN" sz="2100">
                <a:solidFill>
                  <a:schemeClr val="dk1"/>
                </a:solidFill>
              </a:rPr>
              <a:t>Although expert systems were useful, they had several limitations:</a:t>
            </a:r>
            <a:endParaRPr sz="2100">
              <a:solidFill>
                <a:schemeClr val="dk1"/>
              </a:solidFill>
            </a:endParaRPr>
          </a:p>
          <a:p>
            <a:pPr indent="-361950" lvl="0" marL="457200" rtl="0" algn="l">
              <a:lnSpc>
                <a:spcPct val="100000"/>
              </a:lnSpc>
              <a:spcBef>
                <a:spcPts val="1200"/>
              </a:spcBef>
              <a:spcAft>
                <a:spcPts val="0"/>
              </a:spcAft>
              <a:buClr>
                <a:schemeClr val="dk1"/>
              </a:buClr>
              <a:buSzPts val="2100"/>
              <a:buChar char="●"/>
            </a:pPr>
            <a:r>
              <a:rPr lang="en-IN" sz="2100">
                <a:solidFill>
                  <a:schemeClr val="dk1"/>
                </a:solidFill>
              </a:rPr>
              <a:t>They depended heavily on </a:t>
            </a:r>
            <a:r>
              <a:rPr lang="en-IN" sz="2100">
                <a:solidFill>
                  <a:schemeClr val="dk1"/>
                </a:solidFill>
              </a:rPr>
              <a:t>human experts.</a:t>
            </a:r>
            <a:endParaRPr sz="2100">
              <a:solidFill>
                <a:schemeClr val="dk1"/>
              </a:solidFill>
            </a:endParaRPr>
          </a:p>
          <a:p>
            <a:pPr indent="-361950" lvl="0" marL="457200" rtl="0" algn="l">
              <a:lnSpc>
                <a:spcPct val="100000"/>
              </a:lnSpc>
              <a:spcBef>
                <a:spcPts val="0"/>
              </a:spcBef>
              <a:spcAft>
                <a:spcPts val="0"/>
              </a:spcAft>
              <a:buClr>
                <a:schemeClr val="dk1"/>
              </a:buClr>
              <a:buSzPts val="2100"/>
              <a:buChar char="●"/>
            </a:pPr>
            <a:r>
              <a:rPr lang="en-IN" sz="2100">
                <a:solidFill>
                  <a:schemeClr val="dk1"/>
                </a:solidFill>
              </a:rPr>
              <a:t>Rules had to be manually created and updated.</a:t>
            </a:r>
            <a:endParaRPr sz="2100">
              <a:solidFill>
                <a:schemeClr val="dk1"/>
              </a:solidFill>
            </a:endParaRPr>
          </a:p>
          <a:p>
            <a:pPr indent="-361950" lvl="0" marL="457200" rtl="0" algn="l">
              <a:lnSpc>
                <a:spcPct val="100000"/>
              </a:lnSpc>
              <a:spcBef>
                <a:spcPts val="0"/>
              </a:spcBef>
              <a:spcAft>
                <a:spcPts val="0"/>
              </a:spcAft>
              <a:buClr>
                <a:schemeClr val="dk1"/>
              </a:buClr>
              <a:buSzPts val="2100"/>
              <a:buChar char="●"/>
            </a:pPr>
            <a:r>
              <a:rPr lang="en-IN" sz="2100">
                <a:solidFill>
                  <a:schemeClr val="dk1"/>
                </a:solidFill>
              </a:rPr>
              <a:t>Difficult to handle new or unexpected situations.</a:t>
            </a:r>
            <a:endParaRPr sz="2100">
              <a:solidFill>
                <a:schemeClr val="dk1"/>
              </a:solidFill>
            </a:endParaRPr>
          </a:p>
          <a:p>
            <a:pPr indent="-361950" lvl="0" marL="457200" rtl="0" algn="l">
              <a:lnSpc>
                <a:spcPct val="100000"/>
              </a:lnSpc>
              <a:spcBef>
                <a:spcPts val="0"/>
              </a:spcBef>
              <a:spcAft>
                <a:spcPts val="0"/>
              </a:spcAft>
              <a:buClr>
                <a:schemeClr val="dk1"/>
              </a:buClr>
              <a:buSzPts val="2100"/>
              <a:buChar char="●"/>
            </a:pPr>
            <a:r>
              <a:rPr lang="en-IN" sz="2100">
                <a:solidFill>
                  <a:schemeClr val="dk1"/>
                </a:solidFill>
              </a:rPr>
              <a:t>Difficult to scale when the number of rules becomes very large.</a:t>
            </a:r>
            <a:endParaRPr sz="2100">
              <a:solidFill>
                <a:schemeClr val="dk1"/>
              </a:solidFill>
            </a:endParaRPr>
          </a:p>
          <a:p>
            <a:pPr indent="-361950" lvl="0" marL="457200" rtl="0" algn="l">
              <a:lnSpc>
                <a:spcPct val="100000"/>
              </a:lnSpc>
              <a:spcBef>
                <a:spcPts val="0"/>
              </a:spcBef>
              <a:spcAft>
                <a:spcPts val="0"/>
              </a:spcAft>
              <a:buClr>
                <a:schemeClr val="dk1"/>
              </a:buClr>
              <a:buSzPts val="2100"/>
              <a:buChar char="●"/>
            </a:pPr>
            <a:r>
              <a:rPr lang="en-IN" sz="2100">
                <a:solidFill>
                  <a:schemeClr val="dk1"/>
                </a:solidFill>
              </a:rPr>
              <a:t>They did not truly </a:t>
            </a:r>
            <a:r>
              <a:rPr lang="en-IN" sz="2100">
                <a:solidFill>
                  <a:schemeClr val="dk1"/>
                </a:solidFill>
              </a:rPr>
              <a:t>learn from data.</a:t>
            </a:r>
            <a:endParaRPr sz="2100">
              <a:solidFill>
                <a:schemeClr val="dk1"/>
              </a:solidFill>
            </a:endParaRPr>
          </a:p>
          <a:p>
            <a:pPr indent="-361950" lvl="0" marL="457200" rtl="0" algn="l">
              <a:lnSpc>
                <a:spcPct val="100000"/>
              </a:lnSpc>
              <a:spcBef>
                <a:spcPts val="0"/>
              </a:spcBef>
              <a:spcAft>
                <a:spcPts val="0"/>
              </a:spcAft>
              <a:buClr>
                <a:schemeClr val="dk1"/>
              </a:buClr>
              <a:buSzPts val="2100"/>
              <a:buChar char="●"/>
            </a:pPr>
            <a:r>
              <a:rPr lang="en-IN" sz="2100">
                <a:solidFill>
                  <a:schemeClr val="dk1"/>
                </a:solidFill>
              </a:rPr>
              <a:t>Hence, they had limitations in demonstrating genuine intelligence.</a:t>
            </a:r>
            <a:endParaRPr sz="2100">
              <a:solidFill>
                <a:schemeClr val="dk1"/>
              </a:solidFill>
            </a:endParaRPr>
          </a:p>
        </p:txBody>
      </p:sp>
      <p:sp>
        <p:nvSpPr>
          <p:cNvPr id="152" name="Google Shape;152;g3f9e933d9b6_0_56"/>
          <p:cNvSpPr txBox="1"/>
          <p:nvPr/>
        </p:nvSpPr>
        <p:spPr>
          <a:xfrm>
            <a:off x="9837997" y="53163"/>
            <a:ext cx="23595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1.2 Cont’d</a:t>
            </a:r>
            <a:endParaRPr sz="1600"/>
          </a:p>
        </p:txBody>
      </p:sp>
      <p:sp>
        <p:nvSpPr>
          <p:cNvPr id="153" name="Google Shape;153;g3f9e933d9b6_0_56"/>
          <p:cNvSpPr txBox="1"/>
          <p:nvPr/>
        </p:nvSpPr>
        <p:spPr>
          <a:xfrm>
            <a:off x="2360950" y="6242975"/>
            <a:ext cx="8033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200">
                <a:solidFill>
                  <a:srgbClr val="FF0000"/>
                </a:solidFill>
              </a:rPr>
              <a:t>Human must provide the rules → System follows the rules </a:t>
            </a:r>
            <a:endParaRPr b="1" sz="220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f9e933d9b6_0_72"/>
          <p:cNvSpPr txBox="1"/>
          <p:nvPr>
            <p:ph type="title"/>
          </p:nvPr>
        </p:nvSpPr>
        <p:spPr>
          <a:xfrm>
            <a:off x="838200" y="365125"/>
            <a:ext cx="6537000" cy="508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sz="3000">
                <a:solidFill>
                  <a:srgbClr val="0000FF"/>
                </a:solidFill>
                <a:latin typeface="Times New Roman"/>
                <a:ea typeface="Times New Roman"/>
                <a:cs typeface="Times New Roman"/>
                <a:sym typeface="Times New Roman"/>
              </a:rPr>
              <a:t>Shift Towards Machine Learning </a:t>
            </a:r>
            <a:endParaRPr b="1" sz="3000">
              <a:solidFill>
                <a:srgbClr val="0000FF"/>
              </a:solidFill>
              <a:latin typeface="Times New Roman"/>
              <a:ea typeface="Times New Roman"/>
              <a:cs typeface="Times New Roman"/>
              <a:sym typeface="Times New Roman"/>
            </a:endParaRPr>
          </a:p>
        </p:txBody>
      </p:sp>
      <p:sp>
        <p:nvSpPr>
          <p:cNvPr id="159" name="Google Shape;159;g3f9e933d9b6_0_72"/>
          <p:cNvSpPr txBox="1"/>
          <p:nvPr>
            <p:ph idx="1" type="body"/>
          </p:nvPr>
        </p:nvSpPr>
        <p:spPr>
          <a:xfrm>
            <a:off x="838200" y="1118925"/>
            <a:ext cx="10515600" cy="4351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2400"/>
              <a:t>Because rule-based systems had limitations, AI gradually shifted toward a </a:t>
            </a:r>
            <a:r>
              <a:rPr b="1" lang="en-IN" sz="2400"/>
              <a:t>data-driven approach.</a:t>
            </a:r>
            <a:endParaRPr b="1" sz="2400"/>
          </a:p>
          <a:p>
            <a:pPr indent="0" lvl="0" marL="0" rtl="0" algn="l">
              <a:lnSpc>
                <a:spcPct val="115000"/>
              </a:lnSpc>
              <a:spcBef>
                <a:spcPts val="1200"/>
              </a:spcBef>
              <a:spcAft>
                <a:spcPts val="0"/>
              </a:spcAft>
              <a:buClr>
                <a:schemeClr val="dk1"/>
              </a:buClr>
              <a:buSzPts val="1100"/>
              <a:buFont typeface="Arial"/>
              <a:buNone/>
            </a:pPr>
            <a:r>
              <a:rPr lang="en-IN" sz="2400"/>
              <a:t>Instead of manually writing all the rules:</a:t>
            </a:r>
            <a:endParaRPr sz="2400"/>
          </a:p>
          <a:p>
            <a:pPr indent="-381000" lvl="0" marL="457200" rtl="0" algn="l">
              <a:lnSpc>
                <a:spcPct val="115000"/>
              </a:lnSpc>
              <a:spcBef>
                <a:spcPts val="1200"/>
              </a:spcBef>
              <a:spcAft>
                <a:spcPts val="0"/>
              </a:spcAft>
              <a:buSzPts val="2400"/>
              <a:buChar char="●"/>
            </a:pPr>
            <a:r>
              <a:rPr lang="en-IN" sz="2400"/>
              <a:t>Collect relevant data.</a:t>
            </a:r>
            <a:endParaRPr sz="2400"/>
          </a:p>
          <a:p>
            <a:pPr indent="-381000" lvl="0" marL="457200" rtl="0" algn="l">
              <a:lnSpc>
                <a:spcPct val="115000"/>
              </a:lnSpc>
              <a:spcBef>
                <a:spcPts val="0"/>
              </a:spcBef>
              <a:spcAft>
                <a:spcPts val="0"/>
              </a:spcAft>
              <a:buSzPts val="2400"/>
              <a:buChar char="●"/>
            </a:pPr>
            <a:r>
              <a:rPr lang="en-IN" sz="2400"/>
              <a:t>Give the data to a machine learning algorithm.</a:t>
            </a:r>
            <a:endParaRPr sz="2400"/>
          </a:p>
          <a:p>
            <a:pPr indent="-381000" lvl="0" marL="457200" rtl="0" algn="l">
              <a:lnSpc>
                <a:spcPct val="115000"/>
              </a:lnSpc>
              <a:spcBef>
                <a:spcPts val="0"/>
              </a:spcBef>
              <a:spcAft>
                <a:spcPts val="0"/>
              </a:spcAft>
              <a:buSzPts val="2400"/>
              <a:buChar char="●"/>
            </a:pPr>
            <a:r>
              <a:rPr lang="en-IN" sz="2400"/>
              <a:t>The algorithm identifies patterns and relationships.</a:t>
            </a:r>
            <a:endParaRPr sz="2400"/>
          </a:p>
          <a:p>
            <a:pPr indent="-381000" lvl="0" marL="457200" rtl="0" algn="l">
              <a:lnSpc>
                <a:spcPct val="115000"/>
              </a:lnSpc>
              <a:spcBef>
                <a:spcPts val="0"/>
              </a:spcBef>
              <a:spcAft>
                <a:spcPts val="0"/>
              </a:spcAft>
              <a:buSzPts val="2400"/>
              <a:buChar char="●"/>
            </a:pPr>
            <a:r>
              <a:rPr lang="en-IN" sz="2400"/>
              <a:t>A model is automatically developed.</a:t>
            </a:r>
            <a:endParaRPr sz="2400"/>
          </a:p>
          <a:p>
            <a:pPr indent="-381000" lvl="0" marL="457200" rtl="0" algn="l">
              <a:lnSpc>
                <a:spcPct val="115000"/>
              </a:lnSpc>
              <a:spcBef>
                <a:spcPts val="0"/>
              </a:spcBef>
              <a:spcAft>
                <a:spcPts val="0"/>
              </a:spcAft>
              <a:buSzPts val="2400"/>
              <a:buChar char="●"/>
            </a:pPr>
            <a:r>
              <a:rPr lang="en-IN" sz="2400"/>
              <a:t>The model can make predictions on new/unseen data.</a:t>
            </a:r>
            <a:endParaRPr sz="2400"/>
          </a:p>
          <a:p>
            <a:pPr indent="0" lvl="0" marL="0" rtl="0" algn="l">
              <a:spcBef>
                <a:spcPts val="1200"/>
              </a:spcBef>
              <a:spcAft>
                <a:spcPts val="0"/>
              </a:spcAft>
              <a:buNone/>
            </a:pPr>
            <a:r>
              <a:t/>
            </a:r>
            <a:endParaRPr sz="4100"/>
          </a:p>
        </p:txBody>
      </p:sp>
      <p:sp>
        <p:nvSpPr>
          <p:cNvPr id="160" name="Google Shape;160;g3f9e933d9b6_0_72"/>
          <p:cNvSpPr txBox="1"/>
          <p:nvPr/>
        </p:nvSpPr>
        <p:spPr>
          <a:xfrm>
            <a:off x="1020525" y="5314975"/>
            <a:ext cx="7623600" cy="538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300">
                <a:solidFill>
                  <a:srgbClr val="FF0000"/>
                </a:solidFill>
              </a:rPr>
              <a:t>Data → Learning Algorithm → Model → Prediction </a:t>
            </a:r>
            <a:endParaRPr b="1" sz="2300">
              <a:solidFill>
                <a:srgbClr val="FF0000"/>
              </a:solidFill>
            </a:endParaRPr>
          </a:p>
        </p:txBody>
      </p:sp>
      <p:sp>
        <p:nvSpPr>
          <p:cNvPr id="161" name="Google Shape;161;g3f9e933d9b6_0_72"/>
          <p:cNvSpPr txBox="1"/>
          <p:nvPr/>
        </p:nvSpPr>
        <p:spPr>
          <a:xfrm>
            <a:off x="9906000" y="0"/>
            <a:ext cx="22860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1.2 Cont’d</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fae1a0ec47_0_20"/>
          <p:cNvSpPr txBox="1"/>
          <p:nvPr>
            <p:ph idx="1" type="body"/>
          </p:nvPr>
        </p:nvSpPr>
        <p:spPr>
          <a:xfrm>
            <a:off x="269650" y="708000"/>
            <a:ext cx="11571000" cy="60072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IN" sz="2300">
                <a:latin typeface="Times New Roman"/>
                <a:ea typeface="Times New Roman"/>
                <a:cs typeface="Times New Roman"/>
                <a:sym typeface="Times New Roman"/>
              </a:rPr>
              <a:t>Machine Learning (ML) has become popular mainly because of </a:t>
            </a:r>
            <a:r>
              <a:rPr b="1" lang="en-IN" sz="2300">
                <a:latin typeface="Times New Roman"/>
                <a:ea typeface="Times New Roman"/>
                <a:cs typeface="Times New Roman"/>
                <a:sym typeface="Times New Roman"/>
              </a:rPr>
              <a:t>three major reasons</a:t>
            </a:r>
            <a:r>
              <a:rPr lang="en-IN" sz="2300">
                <a:latin typeface="Times New Roman"/>
                <a:ea typeface="Times New Roman"/>
                <a:cs typeface="Times New Roman"/>
                <a:sym typeface="Times New Roman"/>
              </a:rPr>
              <a:t>:</a:t>
            </a:r>
            <a:endParaRPr sz="2300">
              <a:latin typeface="Times New Roman"/>
              <a:ea typeface="Times New Roman"/>
              <a:cs typeface="Times New Roman"/>
              <a:sym typeface="Times New Roman"/>
            </a:endParaRPr>
          </a:p>
          <a:p>
            <a:pPr indent="-374650" lvl="0" marL="457200" rtl="0" algn="l">
              <a:lnSpc>
                <a:spcPct val="115000"/>
              </a:lnSpc>
              <a:spcBef>
                <a:spcPts val="1200"/>
              </a:spcBef>
              <a:spcAft>
                <a:spcPts val="0"/>
              </a:spcAft>
              <a:buSzPts val="2300"/>
              <a:buFont typeface="Times New Roman"/>
              <a:buAutoNum type="arabicPeriod"/>
            </a:pPr>
            <a:r>
              <a:rPr b="1" lang="en-IN" sz="2300">
                <a:latin typeface="Times New Roman"/>
                <a:ea typeface="Times New Roman"/>
                <a:cs typeface="Times New Roman"/>
                <a:sym typeface="Times New Roman"/>
              </a:rPr>
              <a:t>Huge Amount of Data</a:t>
            </a:r>
            <a:endParaRPr b="1"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Font typeface="Times New Roman"/>
              <a:buChar char="○"/>
            </a:pPr>
            <a:r>
              <a:rPr lang="en-IN" sz="2300">
                <a:latin typeface="Times New Roman"/>
                <a:ea typeface="Times New Roman"/>
                <a:cs typeface="Times New Roman"/>
                <a:sym typeface="Times New Roman"/>
              </a:rPr>
              <a:t>Companies such as Facebook, Twitter, and YouTube generate massive amounts of data.</a:t>
            </a:r>
            <a:endParaRPr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Char char="○"/>
            </a:pPr>
            <a:r>
              <a:rPr lang="en-IN" sz="2300">
                <a:latin typeface="Times New Roman"/>
                <a:ea typeface="Times New Roman"/>
                <a:cs typeface="Times New Roman"/>
                <a:sym typeface="Times New Roman"/>
              </a:rPr>
              <a:t>Data is growing very rapidly, approximately </a:t>
            </a:r>
            <a:r>
              <a:rPr b="1" lang="en-IN" sz="2300">
                <a:latin typeface="Times New Roman"/>
                <a:ea typeface="Times New Roman"/>
                <a:cs typeface="Times New Roman"/>
                <a:sym typeface="Times New Roman"/>
              </a:rPr>
              <a:t>doubling every year</a:t>
            </a:r>
            <a:r>
              <a:rPr lang="en-IN" sz="2300">
                <a:latin typeface="Times New Roman"/>
                <a:ea typeface="Times New Roman"/>
                <a:cs typeface="Times New Roman"/>
                <a:sym typeface="Times New Roman"/>
              </a:rPr>
              <a:t>.</a:t>
            </a:r>
            <a:endParaRPr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Font typeface="Times New Roman"/>
              <a:buChar char="○"/>
            </a:pPr>
            <a:r>
              <a:rPr lang="en-IN" sz="2300">
                <a:latin typeface="Times New Roman"/>
                <a:ea typeface="Times New Roman"/>
                <a:cs typeface="Times New Roman"/>
                <a:sym typeface="Times New Roman"/>
              </a:rPr>
              <a:t>ML helps computers analyze this large amount of data.</a:t>
            </a:r>
            <a:endParaRPr sz="2300">
              <a:latin typeface="Times New Roman"/>
              <a:ea typeface="Times New Roman"/>
              <a:cs typeface="Times New Roman"/>
              <a:sym typeface="Times New Roman"/>
            </a:endParaRPr>
          </a:p>
          <a:p>
            <a:pPr indent="-374650" lvl="0" marL="457200" rtl="0" algn="l">
              <a:lnSpc>
                <a:spcPct val="115000"/>
              </a:lnSpc>
              <a:spcBef>
                <a:spcPts val="0"/>
              </a:spcBef>
              <a:spcAft>
                <a:spcPts val="0"/>
              </a:spcAft>
              <a:buSzPts val="2300"/>
              <a:buFont typeface="Times New Roman"/>
              <a:buAutoNum type="arabicPeriod"/>
            </a:pPr>
            <a:r>
              <a:rPr b="1" lang="en-IN" sz="2300">
                <a:latin typeface="Times New Roman"/>
                <a:ea typeface="Times New Roman"/>
                <a:cs typeface="Times New Roman"/>
                <a:sym typeface="Times New Roman"/>
              </a:rPr>
              <a:t>Lower Storage and Hardware Cost</a:t>
            </a:r>
            <a:endParaRPr b="1"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Font typeface="Times New Roman"/>
              <a:buChar char="○"/>
            </a:pPr>
            <a:r>
              <a:rPr lang="en-IN" sz="2300">
                <a:latin typeface="Times New Roman"/>
                <a:ea typeface="Times New Roman"/>
                <a:cs typeface="Times New Roman"/>
                <a:sym typeface="Times New Roman"/>
              </a:rPr>
              <a:t>The cost of storing data has decreased significantly.</a:t>
            </a:r>
            <a:endParaRPr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Font typeface="Times New Roman"/>
              <a:buChar char="○"/>
            </a:pPr>
            <a:r>
              <a:rPr lang="en-IN" sz="2300">
                <a:latin typeface="Times New Roman"/>
                <a:ea typeface="Times New Roman"/>
                <a:cs typeface="Times New Roman"/>
                <a:sym typeface="Times New Roman"/>
              </a:rPr>
              <a:t>Computer hardware has also become cheaper and more powerful.</a:t>
            </a:r>
            <a:endParaRPr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Char char="○"/>
            </a:pPr>
            <a:r>
              <a:rPr lang="en-IN" sz="2300">
                <a:latin typeface="Times New Roman"/>
                <a:ea typeface="Times New Roman"/>
                <a:cs typeface="Times New Roman"/>
                <a:sym typeface="Times New Roman"/>
              </a:rPr>
              <a:t>Therefore, organizations can easily </a:t>
            </a:r>
            <a:r>
              <a:rPr b="1" lang="en-IN" sz="2300">
                <a:latin typeface="Times New Roman"/>
                <a:ea typeface="Times New Roman"/>
                <a:cs typeface="Times New Roman"/>
                <a:sym typeface="Times New Roman"/>
              </a:rPr>
              <a:t>collect, store, process, and transmit data</a:t>
            </a:r>
            <a:r>
              <a:rPr lang="en-IN" sz="2300">
                <a:latin typeface="Times New Roman"/>
                <a:ea typeface="Times New Roman"/>
                <a:cs typeface="Times New Roman"/>
                <a:sym typeface="Times New Roman"/>
              </a:rPr>
              <a:t>.</a:t>
            </a:r>
            <a:endParaRPr sz="2300">
              <a:latin typeface="Times New Roman"/>
              <a:ea typeface="Times New Roman"/>
              <a:cs typeface="Times New Roman"/>
              <a:sym typeface="Times New Roman"/>
            </a:endParaRPr>
          </a:p>
          <a:p>
            <a:pPr indent="-374650" lvl="0" marL="457200" rtl="0" algn="l">
              <a:lnSpc>
                <a:spcPct val="115000"/>
              </a:lnSpc>
              <a:spcBef>
                <a:spcPts val="0"/>
              </a:spcBef>
              <a:spcAft>
                <a:spcPts val="0"/>
              </a:spcAft>
              <a:buSzPts val="2300"/>
              <a:buFont typeface="Times New Roman"/>
              <a:buAutoNum type="arabicPeriod"/>
            </a:pPr>
            <a:r>
              <a:rPr b="1" lang="en-IN" sz="2300">
                <a:latin typeface="Times New Roman"/>
                <a:ea typeface="Times New Roman"/>
                <a:cs typeface="Times New Roman"/>
                <a:sym typeface="Times New Roman"/>
              </a:rPr>
              <a:t>Availability of Advanced Algorithms</a:t>
            </a:r>
            <a:endParaRPr b="1"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Font typeface="Times New Roman"/>
              <a:buChar char="○"/>
            </a:pPr>
            <a:r>
              <a:rPr lang="en-IN" sz="2300">
                <a:latin typeface="Times New Roman"/>
                <a:ea typeface="Times New Roman"/>
                <a:cs typeface="Times New Roman"/>
                <a:sym typeface="Times New Roman"/>
              </a:rPr>
              <a:t>Many powerful ML algorithms are now available.</a:t>
            </a:r>
            <a:endParaRPr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Char char="○"/>
            </a:pPr>
            <a:r>
              <a:rPr lang="en-IN" sz="2300">
                <a:latin typeface="Times New Roman"/>
                <a:ea typeface="Times New Roman"/>
                <a:cs typeface="Times New Roman"/>
                <a:sym typeface="Times New Roman"/>
              </a:rPr>
              <a:t>Deep Learning has further increased the capabilities of ML.</a:t>
            </a:r>
            <a:endParaRPr sz="2300">
              <a:latin typeface="Times New Roman"/>
              <a:ea typeface="Times New Roman"/>
              <a:cs typeface="Times New Roman"/>
              <a:sym typeface="Times New Roman"/>
            </a:endParaRPr>
          </a:p>
          <a:p>
            <a:pPr indent="-374650" lvl="1" marL="914400" rtl="0" algn="l">
              <a:lnSpc>
                <a:spcPct val="115000"/>
              </a:lnSpc>
              <a:spcBef>
                <a:spcPts val="0"/>
              </a:spcBef>
              <a:spcAft>
                <a:spcPts val="0"/>
              </a:spcAft>
              <a:buSzPts val="2300"/>
              <a:buFont typeface="Times New Roman"/>
              <a:buChar char="○"/>
            </a:pPr>
            <a:r>
              <a:rPr lang="en-IN" sz="2300">
                <a:latin typeface="Times New Roman"/>
                <a:ea typeface="Times New Roman"/>
                <a:cs typeface="Times New Roman"/>
                <a:sym typeface="Times New Roman"/>
              </a:rPr>
              <a:t>These algorithms can solve complex real-world problems.</a:t>
            </a:r>
            <a:endParaRPr sz="2300">
              <a:latin typeface="Times New Roman"/>
              <a:ea typeface="Times New Roman"/>
              <a:cs typeface="Times New Roman"/>
              <a:sym typeface="Times New Roman"/>
            </a:endParaRPr>
          </a:p>
          <a:p>
            <a:pPr indent="0" lvl="0" marL="0" rtl="0" algn="l">
              <a:spcBef>
                <a:spcPts val="1200"/>
              </a:spcBef>
              <a:spcAft>
                <a:spcPts val="0"/>
              </a:spcAft>
              <a:buNone/>
            </a:pPr>
            <a:r>
              <a:rPr lang="en-IN" sz="2100">
                <a:latin typeface="Times New Roman"/>
                <a:ea typeface="Times New Roman"/>
                <a:cs typeface="Times New Roman"/>
                <a:sym typeface="Times New Roman"/>
              </a:rPr>
              <a:t> </a:t>
            </a:r>
            <a:endParaRPr sz="2100">
              <a:latin typeface="Times New Roman"/>
              <a:ea typeface="Times New Roman"/>
              <a:cs typeface="Times New Roman"/>
              <a:sym typeface="Times New Roman"/>
            </a:endParaRPr>
          </a:p>
        </p:txBody>
      </p:sp>
      <p:sp>
        <p:nvSpPr>
          <p:cNvPr id="167" name="Google Shape;167;g3fae1a0ec47_0_20"/>
          <p:cNvSpPr txBox="1"/>
          <p:nvPr/>
        </p:nvSpPr>
        <p:spPr>
          <a:xfrm>
            <a:off x="9835125" y="0"/>
            <a:ext cx="2356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1.2 Cont’d</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3f9e933d9b6_0_15"/>
          <p:cNvSpPr txBox="1"/>
          <p:nvPr>
            <p:ph type="title"/>
          </p:nvPr>
        </p:nvSpPr>
        <p:spPr>
          <a:xfrm>
            <a:off x="308375" y="0"/>
            <a:ext cx="4546800" cy="627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sz="2700">
                <a:solidFill>
                  <a:srgbClr val="0000FF"/>
                </a:solidFill>
              </a:rPr>
              <a:t>Machine Learning Process </a:t>
            </a:r>
            <a:endParaRPr b="1" sz="2700">
              <a:solidFill>
                <a:srgbClr val="0000FF"/>
              </a:solidFill>
            </a:endParaRPr>
          </a:p>
        </p:txBody>
      </p:sp>
      <p:sp>
        <p:nvSpPr>
          <p:cNvPr id="173" name="Google Shape;173;g3f9e933d9b6_0_15"/>
          <p:cNvSpPr txBox="1"/>
          <p:nvPr>
            <p:ph idx="1" type="body"/>
          </p:nvPr>
        </p:nvSpPr>
        <p:spPr>
          <a:xfrm>
            <a:off x="308375" y="829425"/>
            <a:ext cx="11660100" cy="6028800"/>
          </a:xfrm>
          <a:prstGeom prst="rect">
            <a:avLst/>
          </a:prstGeom>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853"/>
              <a:buFont typeface="Arial"/>
              <a:buNone/>
            </a:pPr>
            <a:r>
              <a:rPr b="1" lang="en-IN" sz="2108"/>
              <a:t>1. Data Collection</a:t>
            </a:r>
            <a:endParaRPr b="1" sz="2108"/>
          </a:p>
          <a:p>
            <a:pPr indent="-352584" lvl="0" marL="457200" rtl="0" algn="l">
              <a:lnSpc>
                <a:spcPct val="100000"/>
              </a:lnSpc>
              <a:spcBef>
                <a:spcPts val="0"/>
              </a:spcBef>
              <a:spcAft>
                <a:spcPts val="0"/>
              </a:spcAft>
              <a:buSzPts val="1953"/>
              <a:buChar char="●"/>
            </a:pPr>
            <a:r>
              <a:rPr lang="en-IN" sz="1953"/>
              <a:t>First, relevant data is collected.</a:t>
            </a:r>
            <a:endParaRPr sz="1953"/>
          </a:p>
          <a:p>
            <a:pPr indent="-352584" lvl="0" marL="457200" rtl="0" algn="l">
              <a:lnSpc>
                <a:spcPct val="100000"/>
              </a:lnSpc>
              <a:spcBef>
                <a:spcPts val="0"/>
              </a:spcBef>
              <a:spcAft>
                <a:spcPts val="0"/>
              </a:spcAft>
              <a:buSzPts val="1953"/>
              <a:buChar char="●"/>
            </a:pPr>
            <a:r>
              <a:rPr lang="en-IN" sz="1953"/>
              <a:t>The quality and quantity of data are important for learning.</a:t>
            </a:r>
            <a:endParaRPr sz="1953"/>
          </a:p>
          <a:p>
            <a:pPr indent="0" lvl="0" marL="0" rtl="0" algn="l">
              <a:lnSpc>
                <a:spcPct val="100000"/>
              </a:lnSpc>
              <a:spcBef>
                <a:spcPts val="0"/>
              </a:spcBef>
              <a:spcAft>
                <a:spcPts val="0"/>
              </a:spcAft>
              <a:buClr>
                <a:schemeClr val="dk1"/>
              </a:buClr>
              <a:buSzPts val="853"/>
              <a:buFont typeface="Arial"/>
              <a:buNone/>
            </a:pPr>
            <a:r>
              <a:rPr b="1" lang="en-IN" sz="2108"/>
              <a:t>2. Abstraction</a:t>
            </a:r>
            <a:endParaRPr b="1" sz="2108"/>
          </a:p>
          <a:p>
            <a:pPr indent="-352584" lvl="0" marL="457200" rtl="0" algn="l">
              <a:lnSpc>
                <a:spcPct val="100000"/>
              </a:lnSpc>
              <a:spcBef>
                <a:spcPts val="0"/>
              </a:spcBef>
              <a:spcAft>
                <a:spcPts val="0"/>
              </a:spcAft>
              <a:buSzPts val="1953"/>
              <a:buChar char="●"/>
            </a:pPr>
            <a:r>
              <a:rPr lang="en-IN" sz="1953"/>
              <a:t>The collected data is analyzed to identify important concepts and patterns.</a:t>
            </a:r>
            <a:endParaRPr sz="1953"/>
          </a:p>
          <a:p>
            <a:pPr indent="-352584" lvl="0" marL="457200" rtl="0" algn="l">
              <a:lnSpc>
                <a:spcPct val="100000"/>
              </a:lnSpc>
              <a:spcBef>
                <a:spcPts val="0"/>
              </a:spcBef>
              <a:spcAft>
                <a:spcPts val="0"/>
              </a:spcAft>
              <a:buSzPts val="1953"/>
              <a:buChar char="●"/>
            </a:pPr>
            <a:r>
              <a:rPr lang="en-IN" sz="1953"/>
              <a:t>These concepts help the system understand objects or situations.</a:t>
            </a:r>
            <a:endParaRPr sz="1953"/>
          </a:p>
          <a:p>
            <a:pPr indent="-352584" lvl="0" marL="457200" rtl="0" algn="l">
              <a:lnSpc>
                <a:spcPct val="100000"/>
              </a:lnSpc>
              <a:spcBef>
                <a:spcPts val="0"/>
              </a:spcBef>
              <a:spcAft>
                <a:spcPts val="0"/>
              </a:spcAft>
              <a:buSzPts val="1953"/>
              <a:buChar char="●"/>
            </a:pPr>
            <a:r>
              <a:rPr lang="en-IN" sz="1953"/>
              <a:t>Example: From many images of elephants, the system learns the concept of what an elephant looks like.</a:t>
            </a:r>
            <a:endParaRPr sz="1953"/>
          </a:p>
          <a:p>
            <a:pPr indent="0" lvl="0" marL="0" rtl="0" algn="l">
              <a:lnSpc>
                <a:spcPct val="100000"/>
              </a:lnSpc>
              <a:spcBef>
                <a:spcPts val="0"/>
              </a:spcBef>
              <a:spcAft>
                <a:spcPts val="0"/>
              </a:spcAft>
              <a:buClr>
                <a:schemeClr val="dk1"/>
              </a:buClr>
              <a:buSzPts val="853"/>
              <a:buFont typeface="Arial"/>
              <a:buNone/>
            </a:pPr>
            <a:r>
              <a:rPr b="1" lang="en-IN" sz="2108"/>
              <a:t>3. Generalization</a:t>
            </a:r>
            <a:endParaRPr b="1" sz="2108"/>
          </a:p>
          <a:p>
            <a:pPr indent="-352584" lvl="0" marL="457200" rtl="0" algn="l">
              <a:lnSpc>
                <a:spcPct val="100000"/>
              </a:lnSpc>
              <a:spcBef>
                <a:spcPts val="0"/>
              </a:spcBef>
              <a:spcAft>
                <a:spcPts val="0"/>
              </a:spcAft>
              <a:buSzPts val="1953"/>
              <a:buChar char="●"/>
            </a:pPr>
            <a:r>
              <a:rPr lang="en-IN" sz="1953"/>
              <a:t>The learned concepts are converted into useful knowledge for making decisions.</a:t>
            </a:r>
            <a:endParaRPr sz="1953"/>
          </a:p>
          <a:p>
            <a:pPr indent="-352584" lvl="0" marL="457200" rtl="0" algn="l">
              <a:lnSpc>
                <a:spcPct val="100000"/>
              </a:lnSpc>
              <a:spcBef>
                <a:spcPts val="0"/>
              </a:spcBef>
              <a:spcAft>
                <a:spcPts val="0"/>
              </a:spcAft>
              <a:buSzPts val="1953"/>
              <a:buChar char="●"/>
            </a:pPr>
            <a:r>
              <a:rPr lang="en-IN" sz="1953"/>
              <a:t>The system identifies patterns, ranks possible concepts, and develops heuristics.</a:t>
            </a:r>
            <a:endParaRPr sz="1953"/>
          </a:p>
          <a:p>
            <a:pPr indent="-352584" lvl="0" marL="457200" rtl="0" algn="l">
              <a:lnSpc>
                <a:spcPct val="100000"/>
              </a:lnSpc>
              <a:spcBef>
                <a:spcPts val="0"/>
              </a:spcBef>
              <a:spcAft>
                <a:spcPts val="0"/>
              </a:spcAft>
              <a:buSzPts val="1953"/>
              <a:buChar char="●"/>
            </a:pPr>
            <a:r>
              <a:rPr lang="en-IN" sz="1953"/>
              <a:t>Heuristics are practical rules of thumb learned from experience.</a:t>
            </a:r>
            <a:endParaRPr sz="1953"/>
          </a:p>
          <a:p>
            <a:pPr indent="-352584" lvl="0" marL="457200" rtl="0" algn="l">
              <a:lnSpc>
                <a:spcPct val="100000"/>
              </a:lnSpc>
              <a:spcBef>
                <a:spcPts val="0"/>
              </a:spcBef>
              <a:spcAft>
                <a:spcPts val="0"/>
              </a:spcAft>
              <a:buSzPts val="1953"/>
              <a:buChar char="●"/>
            </a:pPr>
            <a:r>
              <a:rPr lang="en-IN" sz="1953"/>
              <a:t>Example: From past experiences, a person learns to recognize situations that may indicate danger.</a:t>
            </a:r>
            <a:endParaRPr sz="1953"/>
          </a:p>
          <a:p>
            <a:pPr indent="0" lvl="0" marL="0" rtl="0" algn="l">
              <a:lnSpc>
                <a:spcPct val="100000"/>
              </a:lnSpc>
              <a:spcBef>
                <a:spcPts val="0"/>
              </a:spcBef>
              <a:spcAft>
                <a:spcPts val="0"/>
              </a:spcAft>
              <a:buClr>
                <a:schemeClr val="dk1"/>
              </a:buClr>
              <a:buSzPts val="853"/>
              <a:buFont typeface="Arial"/>
              <a:buNone/>
            </a:pPr>
            <a:r>
              <a:rPr b="1" lang="en-IN" sz="2108"/>
              <a:t>4. Evaluation and Correction</a:t>
            </a:r>
            <a:endParaRPr b="1" sz="2108"/>
          </a:p>
          <a:p>
            <a:pPr indent="-352584" lvl="0" marL="457200" rtl="0" algn="l">
              <a:lnSpc>
                <a:spcPct val="100000"/>
              </a:lnSpc>
              <a:spcBef>
                <a:spcPts val="0"/>
              </a:spcBef>
              <a:spcAft>
                <a:spcPts val="0"/>
              </a:spcAft>
              <a:buSzPts val="1953"/>
              <a:buChar char="●"/>
            </a:pPr>
            <a:r>
              <a:rPr lang="en-IN" sz="1953"/>
              <a:t>Learned rules or heuristics may sometimes produce incorrect results.</a:t>
            </a:r>
            <a:endParaRPr sz="1953"/>
          </a:p>
          <a:p>
            <a:pPr indent="-352584" lvl="0" marL="457200" rtl="0" algn="l">
              <a:lnSpc>
                <a:spcPct val="100000"/>
              </a:lnSpc>
              <a:spcBef>
                <a:spcPts val="0"/>
              </a:spcBef>
              <a:spcAft>
                <a:spcPts val="0"/>
              </a:spcAft>
              <a:buSzPts val="1953"/>
              <a:buChar char="●"/>
            </a:pPr>
            <a:r>
              <a:rPr lang="en-IN" sz="1953"/>
              <a:t>Evaluation measures are used to check how well the model performs.</a:t>
            </a:r>
            <a:endParaRPr sz="1953"/>
          </a:p>
          <a:p>
            <a:pPr indent="-352584" lvl="0" marL="457200" rtl="0" algn="l">
              <a:lnSpc>
                <a:spcPct val="100000"/>
              </a:lnSpc>
              <a:spcBef>
                <a:spcPts val="0"/>
              </a:spcBef>
              <a:spcAft>
                <a:spcPts val="0"/>
              </a:spcAft>
              <a:buSzPts val="1953"/>
              <a:buChar char="●"/>
            </a:pPr>
            <a:r>
              <a:rPr lang="en-IN" sz="1953"/>
              <a:t>If performance is poor, the model is corrected or improved.</a:t>
            </a:r>
            <a:endParaRPr sz="1953"/>
          </a:p>
          <a:p>
            <a:pPr indent="0" lvl="0" marL="457200" rtl="0" algn="l">
              <a:lnSpc>
                <a:spcPct val="100000"/>
              </a:lnSpc>
              <a:spcBef>
                <a:spcPts val="0"/>
              </a:spcBef>
              <a:spcAft>
                <a:spcPts val="0"/>
              </a:spcAft>
              <a:buNone/>
            </a:pPr>
            <a:r>
              <a:t/>
            </a:r>
            <a:endParaRPr sz="1953"/>
          </a:p>
          <a:p>
            <a:pPr indent="0" lvl="0" marL="0" rtl="0" algn="l">
              <a:lnSpc>
                <a:spcPct val="100000"/>
              </a:lnSpc>
              <a:spcBef>
                <a:spcPts val="0"/>
              </a:spcBef>
              <a:spcAft>
                <a:spcPts val="0"/>
              </a:spcAft>
              <a:buClr>
                <a:schemeClr val="dk1"/>
              </a:buClr>
              <a:buSzPts val="853"/>
              <a:buFont typeface="Arial"/>
              <a:buNone/>
            </a:pPr>
            <a:r>
              <a:rPr b="1" lang="en-IN" sz="2153">
                <a:solidFill>
                  <a:srgbClr val="FF0000"/>
                </a:solidFill>
              </a:rPr>
              <a:t>Data Collection → Abstraction → Generalization → Evaluation → Improved Model</a:t>
            </a:r>
            <a:endParaRPr sz="3270"/>
          </a:p>
        </p:txBody>
      </p:sp>
      <p:sp>
        <p:nvSpPr>
          <p:cNvPr id="174" name="Google Shape;174;g3f9e933d9b6_0_15"/>
          <p:cNvSpPr txBox="1"/>
          <p:nvPr/>
        </p:nvSpPr>
        <p:spPr>
          <a:xfrm>
            <a:off x="9831825" y="0"/>
            <a:ext cx="23601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1.2 Cont’d</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3f9e933d9b6_0_10"/>
          <p:cNvSpPr txBox="1"/>
          <p:nvPr>
            <p:ph type="title"/>
          </p:nvPr>
        </p:nvSpPr>
        <p:spPr>
          <a:xfrm>
            <a:off x="125" y="443025"/>
            <a:ext cx="12192000" cy="488400"/>
          </a:xfrm>
          <a:prstGeom prst="rect">
            <a:avLst/>
          </a:prstGeom>
        </p:spPr>
        <p:txBody>
          <a:bodyPr anchorCtr="0" anchor="ctr" bIns="45700" lIns="91425" spcFirstLastPara="1" rIns="91425" wrap="square" tIns="45700">
            <a:noAutofit/>
          </a:bodyPr>
          <a:lstStyle/>
          <a:p>
            <a:pPr indent="0" lvl="0" marL="0" rtl="0" algn="ctr">
              <a:spcBef>
                <a:spcPts val="0"/>
              </a:spcBef>
              <a:spcAft>
                <a:spcPts val="0"/>
              </a:spcAft>
              <a:buNone/>
            </a:pPr>
            <a:r>
              <a:rPr b="1" lang="en-IN" sz="4800">
                <a:solidFill>
                  <a:srgbClr val="980000"/>
                </a:solidFill>
                <a:latin typeface="Times New Roman"/>
                <a:ea typeface="Times New Roman"/>
                <a:cs typeface="Times New Roman"/>
                <a:sym typeface="Times New Roman"/>
              </a:rPr>
              <a:t>1.3 Machine learning in relation to other field</a:t>
            </a:r>
            <a:endParaRPr b="1" sz="4800">
              <a:solidFill>
                <a:srgbClr val="980000"/>
              </a:solidFill>
              <a:latin typeface="Times New Roman"/>
              <a:ea typeface="Times New Roman"/>
              <a:cs typeface="Times New Roman"/>
              <a:sym typeface="Times New Roman"/>
            </a:endParaRPr>
          </a:p>
        </p:txBody>
      </p:sp>
      <p:pic>
        <p:nvPicPr>
          <p:cNvPr id="180" name="Google Shape;180;g3f9e933d9b6_0_10"/>
          <p:cNvPicPr preferRelativeResize="0"/>
          <p:nvPr/>
        </p:nvPicPr>
        <p:blipFill>
          <a:blip r:embed="rId3">
            <a:alphaModFix/>
          </a:blip>
          <a:stretch>
            <a:fillRect/>
          </a:stretch>
        </p:blipFill>
        <p:spPr>
          <a:xfrm>
            <a:off x="6555125" y="1475475"/>
            <a:ext cx="5360400" cy="4573325"/>
          </a:xfrm>
          <a:prstGeom prst="rect">
            <a:avLst/>
          </a:prstGeom>
          <a:noFill/>
          <a:ln>
            <a:noFill/>
          </a:ln>
        </p:spPr>
      </p:pic>
      <p:sp>
        <p:nvSpPr>
          <p:cNvPr id="181" name="Google Shape;181;g3f9e933d9b6_0_10"/>
          <p:cNvSpPr txBox="1"/>
          <p:nvPr/>
        </p:nvSpPr>
        <p:spPr>
          <a:xfrm>
            <a:off x="250025" y="1375175"/>
            <a:ext cx="6305100" cy="4494600"/>
          </a:xfrm>
          <a:prstGeom prst="rect">
            <a:avLst/>
          </a:prstGeom>
          <a:noFill/>
          <a:ln>
            <a:noFill/>
          </a:ln>
        </p:spPr>
        <p:txBody>
          <a:bodyPr anchorCtr="0" anchor="t" bIns="91425" lIns="91425" spcFirstLastPara="1" rIns="91425" wrap="square" tIns="91425">
            <a:spAutoFit/>
          </a:bodyPr>
          <a:lstStyle/>
          <a:p>
            <a:pPr indent="-355600" lvl="0" marL="457200" rtl="0" algn="just">
              <a:spcBef>
                <a:spcPts val="0"/>
              </a:spcBef>
              <a:spcAft>
                <a:spcPts val="0"/>
              </a:spcAft>
              <a:buSzPts val="2000"/>
              <a:buChar char="●"/>
            </a:pPr>
            <a:r>
              <a:rPr lang="en-IN" sz="2000"/>
              <a:t>Machine learning is an important branch of AI.</a:t>
            </a:r>
            <a:endParaRPr sz="2000"/>
          </a:p>
          <a:p>
            <a:pPr indent="-355600" lvl="0" marL="457200" rtl="0" algn="just">
              <a:spcBef>
                <a:spcPts val="0"/>
              </a:spcBef>
              <a:spcAft>
                <a:spcPts val="0"/>
              </a:spcAft>
              <a:buSzPts val="2000"/>
              <a:buChar char="●"/>
            </a:pPr>
            <a:r>
              <a:rPr lang="en-IN" sz="2000"/>
              <a:t>Machine learning is the subbranch of AI, whose aim is to extract the patterns for prediction. </a:t>
            </a:r>
            <a:endParaRPr sz="2000"/>
          </a:p>
          <a:p>
            <a:pPr indent="-355600" lvl="0" marL="457200" rtl="0" algn="just">
              <a:spcBef>
                <a:spcPts val="0"/>
              </a:spcBef>
              <a:spcAft>
                <a:spcPts val="0"/>
              </a:spcAft>
              <a:buSzPts val="2000"/>
              <a:buChar char="●"/>
            </a:pPr>
            <a:r>
              <a:rPr lang="en-IN" sz="2000"/>
              <a:t>The aim of AI is to develop intelligent agents. An agent can be a robot, humans, or any autonomous systems. </a:t>
            </a:r>
            <a:endParaRPr sz="2000"/>
          </a:p>
          <a:p>
            <a:pPr indent="-355600" lvl="0" marL="457200" rtl="0" algn="just">
              <a:spcBef>
                <a:spcPts val="0"/>
              </a:spcBef>
              <a:spcAft>
                <a:spcPts val="0"/>
              </a:spcAft>
              <a:buSzPts val="2000"/>
              <a:buChar char="●"/>
            </a:pPr>
            <a:r>
              <a:rPr lang="en-IN" sz="2000"/>
              <a:t>Deep learning is a subbranch of machine learning. In deep learning, the models are constructed using neural network technology. Many neurons form a network connected with the activation functions that trigger further neurons to perform tasks. </a:t>
            </a:r>
            <a:endParaRPr sz="2000"/>
          </a:p>
          <a:p>
            <a:pPr indent="-355600" lvl="0" marL="457200" rtl="0" algn="just">
              <a:spcBef>
                <a:spcPts val="0"/>
              </a:spcBef>
              <a:spcAft>
                <a:spcPts val="0"/>
              </a:spcAft>
              <a:buSzPts val="2000"/>
              <a:buChar char="●"/>
            </a:pPr>
            <a:r>
              <a:rPr lang="en-IN" sz="2000"/>
              <a:t>Machine learning starts with data. Therefore, data science and machine learning are interlinked. </a:t>
            </a:r>
            <a:endParaRPr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g3f9e933d9b6_0_5"/>
          <p:cNvSpPr txBox="1"/>
          <p:nvPr/>
        </p:nvSpPr>
        <p:spPr>
          <a:xfrm>
            <a:off x="9831825" y="0"/>
            <a:ext cx="23601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1.3 Cont’d</a:t>
            </a:r>
            <a:endParaRPr sz="1600"/>
          </a:p>
        </p:txBody>
      </p:sp>
      <p:sp>
        <p:nvSpPr>
          <p:cNvPr id="187" name="Google Shape;187;g3f9e933d9b6_0_5"/>
          <p:cNvSpPr txBox="1"/>
          <p:nvPr/>
        </p:nvSpPr>
        <p:spPr>
          <a:xfrm>
            <a:off x="211250" y="116075"/>
            <a:ext cx="5585400" cy="50127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2200">
                <a:solidFill>
                  <a:srgbClr val="980000"/>
                </a:solidFill>
                <a:latin typeface="Times New Roman"/>
                <a:ea typeface="Times New Roman"/>
                <a:cs typeface="Times New Roman"/>
                <a:sym typeface="Times New Roman"/>
              </a:rPr>
              <a:t>Data science deals with gathering of data for analysis  </a:t>
            </a:r>
            <a:r>
              <a:rPr b="1" lang="en-IN" sz="2200">
                <a:solidFill>
                  <a:srgbClr val="980000"/>
                </a:solidFill>
                <a:latin typeface="Times New Roman"/>
                <a:ea typeface="Times New Roman"/>
                <a:cs typeface="Times New Roman"/>
                <a:sym typeface="Times New Roman"/>
              </a:rPr>
              <a:t>It is a broad field that includes:</a:t>
            </a:r>
            <a:endParaRPr b="1" sz="2200">
              <a:solidFill>
                <a:srgbClr val="980000"/>
              </a:solidFill>
              <a:latin typeface="Times New Roman"/>
              <a:ea typeface="Times New Roman"/>
              <a:cs typeface="Times New Roman"/>
              <a:sym typeface="Times New Roman"/>
            </a:endParaRPr>
          </a:p>
          <a:p>
            <a:pPr indent="0" lvl="0" marL="0" rtl="0" algn="l">
              <a:lnSpc>
                <a:spcPct val="100000"/>
              </a:lnSpc>
              <a:spcBef>
                <a:spcPts val="1400"/>
              </a:spcBef>
              <a:spcAft>
                <a:spcPts val="0"/>
              </a:spcAft>
              <a:buNone/>
            </a:pPr>
            <a:r>
              <a:rPr b="1" lang="en-IN" sz="1900">
                <a:solidFill>
                  <a:srgbClr val="0000FF"/>
                </a:solidFill>
                <a:latin typeface="Times New Roman"/>
                <a:ea typeface="Times New Roman"/>
                <a:cs typeface="Times New Roman"/>
                <a:sym typeface="Times New Roman"/>
              </a:rPr>
              <a:t>1. Big Data</a:t>
            </a:r>
            <a:endParaRPr b="1" sz="1900">
              <a:solidFill>
                <a:srgbClr val="0000FF"/>
              </a:solidFill>
              <a:latin typeface="Times New Roman"/>
              <a:ea typeface="Times New Roman"/>
              <a:cs typeface="Times New Roman"/>
              <a:sym typeface="Times New Roman"/>
            </a:endParaRPr>
          </a:p>
          <a:p>
            <a:pPr indent="0" lvl="0" marL="0" rtl="0" algn="l">
              <a:lnSpc>
                <a:spcPct val="100000"/>
              </a:lnSpc>
              <a:spcBef>
                <a:spcPts val="1200"/>
              </a:spcBef>
              <a:spcAft>
                <a:spcPts val="0"/>
              </a:spcAft>
              <a:buNone/>
            </a:pPr>
            <a:r>
              <a:rPr lang="en-IN" sz="1900">
                <a:solidFill>
                  <a:schemeClr val="dk1"/>
                </a:solidFill>
                <a:latin typeface="Times New Roman"/>
                <a:ea typeface="Times New Roman"/>
                <a:cs typeface="Times New Roman"/>
                <a:sym typeface="Times New Roman"/>
              </a:rPr>
              <a:t>Big Data is a specialization within data science focused on managing data with three primary characteristics:</a:t>
            </a:r>
            <a:endParaRPr sz="1900">
              <a:solidFill>
                <a:schemeClr val="dk1"/>
              </a:solidFill>
              <a:latin typeface="Times New Roman"/>
              <a:ea typeface="Times New Roman"/>
              <a:cs typeface="Times New Roman"/>
              <a:sym typeface="Times New Roman"/>
            </a:endParaRPr>
          </a:p>
          <a:p>
            <a:pPr indent="-349250" lvl="0" marL="457200" rtl="0" algn="l">
              <a:lnSpc>
                <a:spcPct val="100000"/>
              </a:lnSpc>
              <a:spcBef>
                <a:spcPts val="1200"/>
              </a:spcBef>
              <a:spcAft>
                <a:spcPts val="0"/>
              </a:spcAft>
              <a:buClr>
                <a:schemeClr val="dk1"/>
              </a:buClr>
              <a:buSzPts val="1900"/>
              <a:buChar char="●"/>
            </a:pPr>
            <a:r>
              <a:rPr b="1" lang="en-IN" sz="1900">
                <a:solidFill>
                  <a:schemeClr val="dk1"/>
                </a:solidFill>
                <a:latin typeface="Times New Roman"/>
                <a:ea typeface="Times New Roman"/>
                <a:cs typeface="Times New Roman"/>
                <a:sym typeface="Times New Roman"/>
              </a:rPr>
              <a:t>Volume:</a:t>
            </a:r>
            <a:r>
              <a:rPr lang="en-IN" sz="1900">
                <a:solidFill>
                  <a:schemeClr val="dk1"/>
                </a:solidFill>
                <a:latin typeface="Times New Roman"/>
                <a:ea typeface="Times New Roman"/>
                <a:cs typeface="Times New Roman"/>
                <a:sym typeface="Times New Roman"/>
              </a:rPr>
              <a:t> Large quantities of data created by major tech platforms (e.g., social media and video sites).</a:t>
            </a:r>
            <a:endParaRPr sz="1900">
              <a:solidFill>
                <a:schemeClr val="dk1"/>
              </a:solidFill>
              <a:latin typeface="Times New Roman"/>
              <a:ea typeface="Times New Roman"/>
              <a:cs typeface="Times New Roman"/>
              <a:sym typeface="Times New Roman"/>
            </a:endParaRPr>
          </a:p>
          <a:p>
            <a:pPr indent="-349250" lvl="0" marL="457200" rtl="0" algn="l">
              <a:lnSpc>
                <a:spcPct val="100000"/>
              </a:lnSpc>
              <a:spcBef>
                <a:spcPts val="0"/>
              </a:spcBef>
              <a:spcAft>
                <a:spcPts val="0"/>
              </a:spcAft>
              <a:buClr>
                <a:schemeClr val="dk1"/>
              </a:buClr>
              <a:buSzPts val="1900"/>
              <a:buChar char="●"/>
            </a:pPr>
            <a:r>
              <a:rPr b="1" lang="en-IN" sz="1900">
                <a:solidFill>
                  <a:schemeClr val="dk1"/>
                </a:solidFill>
                <a:latin typeface="Times New Roman"/>
                <a:ea typeface="Times New Roman"/>
                <a:cs typeface="Times New Roman"/>
                <a:sym typeface="Times New Roman"/>
              </a:rPr>
              <a:t>Variety:</a:t>
            </a:r>
            <a:r>
              <a:rPr lang="en-IN" sz="1900">
                <a:solidFill>
                  <a:schemeClr val="dk1"/>
                </a:solidFill>
                <a:latin typeface="Times New Roman"/>
                <a:ea typeface="Times New Roman"/>
                <a:cs typeface="Times New Roman"/>
                <a:sym typeface="Times New Roman"/>
              </a:rPr>
              <a:t> Diverse formats and media types, including images and video files.</a:t>
            </a:r>
            <a:endParaRPr sz="1900">
              <a:solidFill>
                <a:schemeClr val="dk1"/>
              </a:solidFill>
              <a:latin typeface="Times New Roman"/>
              <a:ea typeface="Times New Roman"/>
              <a:cs typeface="Times New Roman"/>
              <a:sym typeface="Times New Roman"/>
            </a:endParaRPr>
          </a:p>
          <a:p>
            <a:pPr indent="-349250" lvl="0" marL="457200" rtl="0" algn="l">
              <a:lnSpc>
                <a:spcPct val="100000"/>
              </a:lnSpc>
              <a:spcBef>
                <a:spcPts val="0"/>
              </a:spcBef>
              <a:spcAft>
                <a:spcPts val="0"/>
              </a:spcAft>
              <a:buClr>
                <a:schemeClr val="dk1"/>
              </a:buClr>
              <a:buSzPts val="1900"/>
              <a:buChar char="●"/>
            </a:pPr>
            <a:r>
              <a:rPr b="1" lang="en-IN" sz="1900">
                <a:solidFill>
                  <a:schemeClr val="dk1"/>
                </a:solidFill>
                <a:latin typeface="Times New Roman"/>
                <a:ea typeface="Times New Roman"/>
                <a:cs typeface="Times New Roman"/>
                <a:sym typeface="Times New Roman"/>
              </a:rPr>
              <a:t>Velocity:</a:t>
            </a:r>
            <a:r>
              <a:rPr lang="en-IN" sz="1900">
                <a:solidFill>
                  <a:schemeClr val="dk1"/>
                </a:solidFill>
                <a:latin typeface="Times New Roman"/>
                <a:ea typeface="Times New Roman"/>
                <a:cs typeface="Times New Roman"/>
                <a:sym typeface="Times New Roman"/>
              </a:rPr>
              <a:t> The rapid rate at which information is generated and processed.</a:t>
            </a:r>
            <a:endParaRPr sz="1900">
              <a:solidFill>
                <a:schemeClr val="dk1"/>
              </a:solidFill>
              <a:latin typeface="Times New Roman"/>
              <a:ea typeface="Times New Roman"/>
              <a:cs typeface="Times New Roman"/>
              <a:sym typeface="Times New Roman"/>
            </a:endParaRPr>
          </a:p>
          <a:p>
            <a:pPr indent="0" lvl="0" marL="0" rtl="0" algn="l">
              <a:lnSpc>
                <a:spcPct val="100000"/>
              </a:lnSpc>
              <a:spcBef>
                <a:spcPts val="1200"/>
              </a:spcBef>
              <a:spcAft>
                <a:spcPts val="1200"/>
              </a:spcAft>
              <a:buNone/>
            </a:pPr>
            <a:r>
              <a:rPr lang="en-IN" sz="1900">
                <a:solidFill>
                  <a:schemeClr val="dk1"/>
                </a:solidFill>
                <a:latin typeface="Times New Roman"/>
                <a:ea typeface="Times New Roman"/>
                <a:cs typeface="Times New Roman"/>
                <a:sym typeface="Times New Roman"/>
              </a:rPr>
              <a:t>It powers machine learning tasks like translation and image recognition, and drives advancements in deep learning (which builds models using neural networks).</a:t>
            </a:r>
            <a:endParaRPr sz="1900">
              <a:latin typeface="Times New Roman"/>
              <a:ea typeface="Times New Roman"/>
              <a:cs typeface="Times New Roman"/>
              <a:sym typeface="Times New Roman"/>
            </a:endParaRPr>
          </a:p>
        </p:txBody>
      </p:sp>
      <p:sp>
        <p:nvSpPr>
          <p:cNvPr id="188" name="Google Shape;188;g3f9e933d9b6_0_5"/>
          <p:cNvSpPr txBox="1"/>
          <p:nvPr/>
        </p:nvSpPr>
        <p:spPr>
          <a:xfrm>
            <a:off x="5939525" y="116075"/>
            <a:ext cx="6123300" cy="62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000">
                <a:solidFill>
                  <a:srgbClr val="0000FF"/>
                </a:solidFill>
                <a:latin typeface="Times New Roman"/>
                <a:ea typeface="Times New Roman"/>
                <a:cs typeface="Times New Roman"/>
                <a:sym typeface="Times New Roman"/>
              </a:rPr>
              <a:t>2. Data Mining</a:t>
            </a:r>
            <a:endParaRPr b="1" sz="2000">
              <a:solidFill>
                <a:srgbClr val="0000FF"/>
              </a:solidFill>
              <a:latin typeface="Times New Roman"/>
              <a:ea typeface="Times New Roman"/>
              <a:cs typeface="Times New Roman"/>
              <a:sym typeface="Times New Roman"/>
            </a:endParaRPr>
          </a:p>
          <a:p>
            <a:pPr indent="0" lvl="0" marL="0" rtl="0" algn="l">
              <a:spcBef>
                <a:spcPts val="1200"/>
              </a:spcBef>
              <a:spcAft>
                <a:spcPts val="0"/>
              </a:spcAft>
              <a:buNone/>
            </a:pPr>
            <a:r>
              <a:rPr lang="en-IN" sz="1800">
                <a:solidFill>
                  <a:schemeClr val="dk1"/>
                </a:solidFill>
                <a:latin typeface="Times New Roman"/>
                <a:ea typeface="Times New Roman"/>
                <a:cs typeface="Times New Roman"/>
                <a:sym typeface="Times New Roman"/>
              </a:rPr>
              <a:t>Originating from business needs, data mining focuses on uncovering hidden insights within datasets that might otherwise be overlooked. While often conflated with machine learning, they differ in purpose:</a:t>
            </a:r>
            <a:endParaRPr sz="1800">
              <a:solidFill>
                <a:schemeClr val="dk1"/>
              </a:solidFill>
              <a:latin typeface="Times New Roman"/>
              <a:ea typeface="Times New Roman"/>
              <a:cs typeface="Times New Roman"/>
              <a:sym typeface="Times New Roman"/>
            </a:endParaRPr>
          </a:p>
          <a:p>
            <a:pPr indent="-342900" lvl="0" marL="457200" rtl="0" algn="l">
              <a:spcBef>
                <a:spcPts val="1200"/>
              </a:spcBef>
              <a:spcAft>
                <a:spcPts val="0"/>
              </a:spcAft>
              <a:buClr>
                <a:schemeClr val="dk1"/>
              </a:buClr>
              <a:buSzPts val="1800"/>
              <a:buChar char="●"/>
            </a:pPr>
            <a:r>
              <a:rPr b="1" lang="en-IN" sz="1800">
                <a:solidFill>
                  <a:schemeClr val="dk1"/>
                </a:solidFill>
                <a:latin typeface="Times New Roman"/>
                <a:ea typeface="Times New Roman"/>
                <a:cs typeface="Times New Roman"/>
                <a:sym typeface="Times New Roman"/>
              </a:rPr>
              <a:t>Data Mining:</a:t>
            </a:r>
            <a:r>
              <a:rPr lang="en-IN" sz="1800">
                <a:solidFill>
                  <a:schemeClr val="dk1"/>
                </a:solidFill>
                <a:latin typeface="Times New Roman"/>
                <a:ea typeface="Times New Roman"/>
                <a:cs typeface="Times New Roman"/>
                <a:sym typeface="Times New Roman"/>
              </a:rPr>
              <a:t> Focused on discovering hidden patterns in existing data.</a:t>
            </a:r>
            <a:endParaRPr sz="1800">
              <a:solidFill>
                <a:schemeClr val="dk1"/>
              </a:solidFill>
              <a:latin typeface="Times New Roman"/>
              <a:ea typeface="Times New Roman"/>
              <a:cs typeface="Times New Roman"/>
              <a:sym typeface="Times New Roman"/>
            </a:endParaRPr>
          </a:p>
          <a:p>
            <a:pPr indent="-342900" lvl="0" marL="457200" rtl="0" algn="l">
              <a:spcBef>
                <a:spcPts val="0"/>
              </a:spcBef>
              <a:spcAft>
                <a:spcPts val="0"/>
              </a:spcAft>
              <a:buClr>
                <a:schemeClr val="dk1"/>
              </a:buClr>
              <a:buSzPts val="1800"/>
              <a:buChar char="●"/>
            </a:pPr>
            <a:r>
              <a:rPr b="1" lang="en-IN" sz="1800">
                <a:solidFill>
                  <a:schemeClr val="dk1"/>
                </a:solidFill>
                <a:latin typeface="Times New Roman"/>
                <a:ea typeface="Times New Roman"/>
                <a:cs typeface="Times New Roman"/>
                <a:sym typeface="Times New Roman"/>
              </a:rPr>
              <a:t>Machine Learning:</a:t>
            </a:r>
            <a:r>
              <a:rPr lang="en-IN" sz="1800">
                <a:solidFill>
                  <a:schemeClr val="dk1"/>
                </a:solidFill>
                <a:latin typeface="Times New Roman"/>
                <a:ea typeface="Times New Roman"/>
                <a:cs typeface="Times New Roman"/>
                <a:sym typeface="Times New Roman"/>
              </a:rPr>
              <a:t> Focused on using data patterns to make predictions.</a:t>
            </a:r>
            <a:endParaRPr sz="1800">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IN" sz="2000">
                <a:solidFill>
                  <a:srgbClr val="0000FF"/>
                </a:solidFill>
                <a:latin typeface="Times New Roman"/>
                <a:ea typeface="Times New Roman"/>
                <a:cs typeface="Times New Roman"/>
                <a:sym typeface="Times New Roman"/>
              </a:rPr>
              <a:t>3. Data Analytics</a:t>
            </a:r>
            <a:endParaRPr b="1" sz="2000">
              <a:solidFill>
                <a:srgbClr val="0000FF"/>
              </a:solidFill>
              <a:latin typeface="Times New Roman"/>
              <a:ea typeface="Times New Roman"/>
              <a:cs typeface="Times New Roman"/>
              <a:sym typeface="Times New Roman"/>
            </a:endParaRPr>
          </a:p>
          <a:p>
            <a:pPr indent="0" lvl="0" marL="0" rtl="0" algn="l">
              <a:spcBef>
                <a:spcPts val="1200"/>
              </a:spcBef>
              <a:spcAft>
                <a:spcPts val="0"/>
              </a:spcAft>
              <a:buNone/>
            </a:pPr>
            <a:r>
              <a:rPr lang="en-IN" sz="1800">
                <a:solidFill>
                  <a:schemeClr val="dk1"/>
                </a:solidFill>
                <a:latin typeface="Times New Roman"/>
                <a:ea typeface="Times New Roman"/>
                <a:cs typeface="Times New Roman"/>
                <a:sym typeface="Times New Roman"/>
              </a:rPr>
              <a:t>Data analytics transforms raw data into actionable knowledge. A key subtype, </a:t>
            </a:r>
            <a:r>
              <a:rPr b="1" lang="en-IN" sz="1800">
                <a:solidFill>
                  <a:schemeClr val="dk1"/>
                </a:solidFill>
                <a:latin typeface="Times New Roman"/>
                <a:ea typeface="Times New Roman"/>
                <a:cs typeface="Times New Roman"/>
                <a:sym typeface="Times New Roman"/>
              </a:rPr>
              <a:t>Predictive Analytics</a:t>
            </a:r>
            <a:r>
              <a:rPr lang="en-IN" sz="1800">
                <a:solidFill>
                  <a:schemeClr val="dk1"/>
                </a:solidFill>
                <a:latin typeface="Times New Roman"/>
                <a:ea typeface="Times New Roman"/>
                <a:cs typeface="Times New Roman"/>
                <a:sym typeface="Times New Roman"/>
              </a:rPr>
              <a:t>, relies on machine learning algorithms to forecast future outcomes.</a:t>
            </a:r>
            <a:endParaRPr sz="1800">
              <a:solidFill>
                <a:schemeClr val="dk1"/>
              </a:solidFill>
              <a:latin typeface="Times New Roman"/>
              <a:ea typeface="Times New Roman"/>
              <a:cs typeface="Times New Roman"/>
              <a:sym typeface="Times New Roman"/>
            </a:endParaRPr>
          </a:p>
          <a:p>
            <a:pPr indent="0" lvl="0" marL="0" rtl="0" algn="l">
              <a:spcBef>
                <a:spcPts val="1400"/>
              </a:spcBef>
              <a:spcAft>
                <a:spcPts val="0"/>
              </a:spcAft>
              <a:buNone/>
            </a:pPr>
            <a:r>
              <a:rPr b="1" lang="en-IN" sz="2000">
                <a:solidFill>
                  <a:srgbClr val="0000FF"/>
                </a:solidFill>
                <a:latin typeface="Times New Roman"/>
                <a:ea typeface="Times New Roman"/>
                <a:cs typeface="Times New Roman"/>
                <a:sym typeface="Times New Roman"/>
              </a:rPr>
              <a:t>4. Pattern Recognition</a:t>
            </a:r>
            <a:endParaRPr b="1" sz="2000">
              <a:solidFill>
                <a:srgbClr val="0000FF"/>
              </a:solidFill>
              <a:latin typeface="Times New Roman"/>
              <a:ea typeface="Times New Roman"/>
              <a:cs typeface="Times New Roman"/>
              <a:sym typeface="Times New Roman"/>
            </a:endParaRPr>
          </a:p>
          <a:p>
            <a:pPr indent="0" lvl="0" marL="0" rtl="0" algn="l">
              <a:spcBef>
                <a:spcPts val="1200"/>
              </a:spcBef>
              <a:spcAft>
                <a:spcPts val="1200"/>
              </a:spcAft>
              <a:buNone/>
            </a:pPr>
            <a:r>
              <a:rPr lang="en-IN" sz="1800">
                <a:solidFill>
                  <a:schemeClr val="dk1"/>
                </a:solidFill>
                <a:latin typeface="Times New Roman"/>
                <a:ea typeface="Times New Roman"/>
                <a:cs typeface="Times New Roman"/>
                <a:sym typeface="Times New Roman"/>
              </a:rPr>
              <a:t>An engineering domain that uses machine learning algorithms to identify features, analyze structures, and classify patterns. It can be understood as a specific practical application of machine learning.</a:t>
            </a:r>
            <a:endParaRPr sz="1800">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g3f9e933d9b6_0_0"/>
          <p:cNvSpPr txBox="1"/>
          <p:nvPr/>
        </p:nvSpPr>
        <p:spPr>
          <a:xfrm>
            <a:off x="9831825" y="0"/>
            <a:ext cx="23601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1.3 Cont’d</a:t>
            </a:r>
            <a:endParaRPr sz="1600"/>
          </a:p>
        </p:txBody>
      </p:sp>
      <p:pic>
        <p:nvPicPr>
          <p:cNvPr id="194" name="Google Shape;194;g3f9e933d9b6_0_0"/>
          <p:cNvPicPr preferRelativeResize="0"/>
          <p:nvPr/>
        </p:nvPicPr>
        <p:blipFill>
          <a:blip r:embed="rId3">
            <a:alphaModFix/>
          </a:blip>
          <a:stretch>
            <a:fillRect/>
          </a:stretch>
        </p:blipFill>
        <p:spPr>
          <a:xfrm>
            <a:off x="741775" y="788950"/>
            <a:ext cx="9679425" cy="51195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fb25d47709_0_8"/>
          <p:cNvSpPr txBox="1"/>
          <p:nvPr/>
        </p:nvSpPr>
        <p:spPr>
          <a:xfrm>
            <a:off x="9831825" y="0"/>
            <a:ext cx="23601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3400">
                <a:solidFill>
                  <a:srgbClr val="980000"/>
                </a:solidFill>
                <a:latin typeface="Times New Roman"/>
                <a:ea typeface="Times New Roman"/>
                <a:cs typeface="Times New Roman"/>
                <a:sym typeface="Times New Roman"/>
              </a:rPr>
              <a:t>1.3 Cont’d</a:t>
            </a:r>
            <a:endParaRPr sz="1600"/>
          </a:p>
        </p:txBody>
      </p:sp>
      <p:sp>
        <p:nvSpPr>
          <p:cNvPr id="200" name="Google Shape;200;g3fb25d47709_0_8"/>
          <p:cNvSpPr txBox="1"/>
          <p:nvPr/>
        </p:nvSpPr>
        <p:spPr>
          <a:xfrm>
            <a:off x="160750" y="107700"/>
            <a:ext cx="6000900" cy="56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500">
                <a:solidFill>
                  <a:srgbClr val="980000"/>
                </a:solidFill>
              </a:rPr>
              <a:t> Machine Learning and Statistics </a:t>
            </a:r>
            <a:endParaRPr b="1" sz="2500">
              <a:solidFill>
                <a:srgbClr val="980000"/>
              </a:solidFill>
            </a:endParaRPr>
          </a:p>
        </p:txBody>
      </p:sp>
      <p:sp>
        <p:nvSpPr>
          <p:cNvPr id="201" name="Google Shape;201;g3fb25d47709_0_8"/>
          <p:cNvSpPr txBox="1"/>
          <p:nvPr/>
        </p:nvSpPr>
        <p:spPr>
          <a:xfrm>
            <a:off x="244925" y="1000125"/>
            <a:ext cx="11593200" cy="4433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IN" sz="2600">
                <a:solidFill>
                  <a:schemeClr val="dk1"/>
                </a:solidFill>
                <a:latin typeface="Times New Roman"/>
                <a:ea typeface="Times New Roman"/>
                <a:cs typeface="Times New Roman"/>
                <a:sym typeface="Times New Roman"/>
              </a:rPr>
              <a:t>Statistics:</a:t>
            </a:r>
            <a:r>
              <a:rPr lang="en-IN" sz="2600">
                <a:solidFill>
                  <a:schemeClr val="dk1"/>
                </a:solidFill>
                <a:latin typeface="Times New Roman"/>
                <a:ea typeface="Times New Roman"/>
                <a:cs typeface="Times New Roman"/>
                <a:sym typeface="Times New Roman"/>
              </a:rPr>
              <a:t> </a:t>
            </a:r>
            <a:endParaRPr sz="2600">
              <a:solidFill>
                <a:schemeClr val="dk1"/>
              </a:solidFill>
              <a:latin typeface="Times New Roman"/>
              <a:ea typeface="Times New Roman"/>
              <a:cs typeface="Times New Roman"/>
              <a:sym typeface="Times New Roman"/>
            </a:endParaRPr>
          </a:p>
          <a:p>
            <a:pPr indent="-387350" lvl="0" marL="457200" rtl="0" algn="just">
              <a:spcBef>
                <a:spcPts val="0"/>
              </a:spcBef>
              <a:spcAft>
                <a:spcPts val="0"/>
              </a:spcAft>
              <a:buClr>
                <a:schemeClr val="dk1"/>
              </a:buClr>
              <a:buSzPts val="2500"/>
              <a:buFont typeface="Times New Roman"/>
              <a:buChar char="●"/>
            </a:pPr>
            <a:r>
              <a:rPr lang="en-IN" sz="2500">
                <a:solidFill>
                  <a:schemeClr val="dk1"/>
                </a:solidFill>
                <a:latin typeface="Times New Roman"/>
                <a:ea typeface="Times New Roman"/>
                <a:cs typeface="Times New Roman"/>
                <a:sym typeface="Times New Roman"/>
              </a:rPr>
              <a:t>A mathematical branch with strong, rigorous theoretical foundations. It relies on hypothesis testing and experiments to validate data relationships. </a:t>
            </a:r>
            <a:endParaRPr sz="2500">
              <a:solidFill>
                <a:schemeClr val="dk1"/>
              </a:solidFill>
              <a:latin typeface="Times New Roman"/>
              <a:ea typeface="Times New Roman"/>
              <a:cs typeface="Times New Roman"/>
              <a:sym typeface="Times New Roman"/>
            </a:endParaRPr>
          </a:p>
          <a:p>
            <a:pPr indent="-387350" lvl="0" marL="457200" rtl="0" algn="just">
              <a:spcBef>
                <a:spcPts val="0"/>
              </a:spcBef>
              <a:spcAft>
                <a:spcPts val="0"/>
              </a:spcAft>
              <a:buClr>
                <a:schemeClr val="dk1"/>
              </a:buClr>
              <a:buSzPts val="2500"/>
              <a:buFont typeface="Times New Roman"/>
              <a:buChar char="●"/>
            </a:pPr>
            <a:r>
              <a:rPr lang="en-IN" sz="2500">
                <a:solidFill>
                  <a:schemeClr val="dk1"/>
                </a:solidFill>
                <a:latin typeface="Times New Roman"/>
                <a:ea typeface="Times New Roman"/>
                <a:cs typeface="Times New Roman"/>
                <a:sym typeface="Times New Roman"/>
              </a:rPr>
              <a:t>Math-heavy, using complex equations and strict assumptions tailored to specific datasets. Requires deep statistical knowledge. </a:t>
            </a:r>
            <a:endParaRPr sz="25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b="1" lang="en-IN" sz="2500">
                <a:solidFill>
                  <a:schemeClr val="dk1"/>
                </a:solidFill>
                <a:latin typeface="Times New Roman"/>
                <a:ea typeface="Times New Roman"/>
                <a:cs typeface="Times New Roman"/>
                <a:sym typeface="Times New Roman"/>
              </a:rPr>
              <a:t>Machine Learning:</a:t>
            </a:r>
            <a:r>
              <a:rPr lang="en-IN" sz="2500">
                <a:solidFill>
                  <a:schemeClr val="dk1"/>
                </a:solidFill>
                <a:latin typeface="Times New Roman"/>
                <a:ea typeface="Times New Roman"/>
                <a:cs typeface="Times New Roman"/>
                <a:sym typeface="Times New Roman"/>
              </a:rPr>
              <a:t> </a:t>
            </a:r>
            <a:endParaRPr sz="2500">
              <a:solidFill>
                <a:schemeClr val="dk1"/>
              </a:solidFill>
              <a:latin typeface="Times New Roman"/>
              <a:ea typeface="Times New Roman"/>
              <a:cs typeface="Times New Roman"/>
              <a:sym typeface="Times New Roman"/>
            </a:endParaRPr>
          </a:p>
          <a:p>
            <a:pPr indent="-387350" lvl="0" marL="457200" rtl="0" algn="just">
              <a:spcBef>
                <a:spcPts val="0"/>
              </a:spcBef>
              <a:spcAft>
                <a:spcPts val="0"/>
              </a:spcAft>
              <a:buClr>
                <a:schemeClr val="dk1"/>
              </a:buClr>
              <a:buSzPts val="2500"/>
              <a:buFont typeface="Times New Roman"/>
              <a:buChar char="●"/>
            </a:pPr>
            <a:r>
              <a:rPr lang="en-IN" sz="2500">
                <a:solidFill>
                  <a:schemeClr val="dk1"/>
                </a:solidFill>
                <a:latin typeface="Times New Roman"/>
                <a:ea typeface="Times New Roman"/>
                <a:cs typeface="Times New Roman"/>
                <a:sym typeface="Times New Roman"/>
              </a:rPr>
              <a:t>A computational approach focused on learning directly from data with fewer underlying assumptions. </a:t>
            </a:r>
            <a:endParaRPr sz="2500">
              <a:solidFill>
                <a:schemeClr val="dk1"/>
              </a:solidFill>
              <a:latin typeface="Times New Roman"/>
              <a:ea typeface="Times New Roman"/>
              <a:cs typeface="Times New Roman"/>
              <a:sym typeface="Times New Roman"/>
            </a:endParaRPr>
          </a:p>
          <a:p>
            <a:pPr indent="-387350" lvl="0" marL="457200" rtl="0" algn="just">
              <a:spcBef>
                <a:spcPts val="0"/>
              </a:spcBef>
              <a:spcAft>
                <a:spcPts val="0"/>
              </a:spcAft>
              <a:buClr>
                <a:schemeClr val="dk1"/>
              </a:buClr>
              <a:buSzPts val="2500"/>
              <a:buFont typeface="Times New Roman"/>
              <a:buChar char="●"/>
            </a:pPr>
            <a:r>
              <a:rPr lang="en-IN" sz="2500">
                <a:solidFill>
                  <a:schemeClr val="dk1"/>
                </a:solidFill>
                <a:latin typeface="Times New Roman"/>
                <a:ea typeface="Times New Roman"/>
                <a:cs typeface="Times New Roman"/>
                <a:sym typeface="Times New Roman"/>
              </a:rPr>
              <a:t>Requires less formal statistical background but relies heavily on software tools to automate the learning process. </a:t>
            </a:r>
            <a:endParaRPr sz="25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500">
              <a:solidFill>
                <a:schemeClr val="dk1"/>
              </a:solidFill>
              <a:latin typeface="Times New Roman"/>
              <a:ea typeface="Times New Roman"/>
              <a:cs typeface="Times New Roman"/>
              <a:sym typeface="Times New Roman"/>
            </a:endParaRPr>
          </a:p>
        </p:txBody>
      </p:sp>
      <p:sp>
        <p:nvSpPr>
          <p:cNvPr id="202" name="Google Shape;202;g3fb25d47709_0_8"/>
          <p:cNvSpPr txBox="1"/>
          <p:nvPr/>
        </p:nvSpPr>
        <p:spPr>
          <a:xfrm>
            <a:off x="975625" y="5302700"/>
            <a:ext cx="9797100" cy="1046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IN" sz="2800">
                <a:solidFill>
                  <a:srgbClr val="0000FF"/>
                </a:solidFill>
              </a:rPr>
              <a:t>“</a:t>
            </a:r>
            <a:r>
              <a:rPr lang="en-IN" sz="2800">
                <a:solidFill>
                  <a:srgbClr val="0000FF"/>
                </a:solidFill>
              </a:rPr>
              <a:t>Many views consider </a:t>
            </a:r>
            <a:r>
              <a:rPr b="1" lang="en-IN" sz="2800">
                <a:solidFill>
                  <a:srgbClr val="0000FF"/>
                </a:solidFill>
              </a:rPr>
              <a:t>Machine Learning</a:t>
            </a:r>
            <a:r>
              <a:rPr lang="en-IN" sz="2800">
                <a:solidFill>
                  <a:srgbClr val="0000FF"/>
                </a:solidFill>
              </a:rPr>
              <a:t> as the modern, automated evolution of "old Statistics". </a:t>
            </a:r>
            <a:endParaRPr sz="3100">
              <a:solidFill>
                <a:srgbClr val="0000FF"/>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g3fb25d47709_0_44"/>
          <p:cNvPicPr preferRelativeResize="0"/>
          <p:nvPr/>
        </p:nvPicPr>
        <p:blipFill>
          <a:blip r:embed="rId3">
            <a:alphaModFix/>
          </a:blip>
          <a:stretch>
            <a:fillRect/>
          </a:stretch>
        </p:blipFill>
        <p:spPr>
          <a:xfrm>
            <a:off x="1410900" y="1087875"/>
            <a:ext cx="9751199" cy="5323650"/>
          </a:xfrm>
          <a:prstGeom prst="rect">
            <a:avLst/>
          </a:prstGeom>
          <a:noFill/>
          <a:ln>
            <a:noFill/>
          </a:ln>
        </p:spPr>
      </p:pic>
      <p:sp>
        <p:nvSpPr>
          <p:cNvPr id="208" name="Google Shape;208;g3fb25d47709_0_44"/>
          <p:cNvSpPr txBox="1"/>
          <p:nvPr/>
        </p:nvSpPr>
        <p:spPr>
          <a:xfrm>
            <a:off x="464350" y="268450"/>
            <a:ext cx="11621700" cy="923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IN" sz="4800">
                <a:solidFill>
                  <a:srgbClr val="980000"/>
                </a:solidFill>
              </a:rPr>
              <a:t>1.4 Types of Machine Learning </a:t>
            </a:r>
            <a:endParaRPr b="1" sz="4800">
              <a:solidFill>
                <a:srgbClr val="9800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fb25d47709_0_14"/>
          <p:cNvSpPr txBox="1"/>
          <p:nvPr>
            <p:ph type="title"/>
          </p:nvPr>
        </p:nvSpPr>
        <p:spPr>
          <a:xfrm>
            <a:off x="608225" y="4358675"/>
            <a:ext cx="7616400" cy="1071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3600">
                <a:solidFill>
                  <a:srgbClr val="0000FF"/>
                </a:solidFill>
              </a:rPr>
              <a:t>Labelled and Unlabelled Data </a:t>
            </a:r>
            <a:endParaRPr sz="3600">
              <a:solidFill>
                <a:srgbClr val="0000FF"/>
              </a:solidFill>
            </a:endParaRPr>
          </a:p>
        </p:txBody>
      </p:sp>
      <p:pic>
        <p:nvPicPr>
          <p:cNvPr id="214" name="Google Shape;214;g3fb25d47709_0_14"/>
          <p:cNvPicPr preferRelativeResize="0"/>
          <p:nvPr/>
        </p:nvPicPr>
        <p:blipFill>
          <a:blip r:embed="rId3">
            <a:alphaModFix/>
          </a:blip>
          <a:stretch>
            <a:fillRect/>
          </a:stretch>
        </p:blipFill>
        <p:spPr>
          <a:xfrm>
            <a:off x="608200" y="1275825"/>
            <a:ext cx="7323649" cy="1885950"/>
          </a:xfrm>
          <a:prstGeom prst="rect">
            <a:avLst/>
          </a:prstGeom>
          <a:noFill/>
          <a:ln>
            <a:noFill/>
          </a:ln>
        </p:spPr>
      </p:pic>
      <p:pic>
        <p:nvPicPr>
          <p:cNvPr id="215" name="Google Shape;215;g3fb25d47709_0_14"/>
          <p:cNvPicPr preferRelativeResize="0"/>
          <p:nvPr/>
        </p:nvPicPr>
        <p:blipFill>
          <a:blip r:embed="rId4">
            <a:alphaModFix/>
          </a:blip>
          <a:stretch>
            <a:fillRect/>
          </a:stretch>
        </p:blipFill>
        <p:spPr>
          <a:xfrm>
            <a:off x="7588800" y="1436925"/>
            <a:ext cx="4420225" cy="4871600"/>
          </a:xfrm>
          <a:prstGeom prst="rect">
            <a:avLst/>
          </a:prstGeom>
          <a:noFill/>
          <a:ln>
            <a:noFill/>
          </a:ln>
        </p:spPr>
      </p:pic>
      <p:sp>
        <p:nvSpPr>
          <p:cNvPr id="216" name="Google Shape;216;g3fb25d47709_0_14"/>
          <p:cNvSpPr txBox="1"/>
          <p:nvPr>
            <p:ph type="title"/>
          </p:nvPr>
        </p:nvSpPr>
        <p:spPr>
          <a:xfrm>
            <a:off x="608200" y="203925"/>
            <a:ext cx="7616400" cy="1071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IN" sz="3900">
                <a:solidFill>
                  <a:srgbClr val="0000FF"/>
                </a:solidFill>
              </a:rPr>
              <a:t>Dataset </a:t>
            </a:r>
            <a:endParaRPr sz="3900">
              <a:solidFill>
                <a:srgbClr val="00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3fa53fc7973_0_20"/>
          <p:cNvSpPr txBox="1"/>
          <p:nvPr>
            <p:ph type="title"/>
          </p:nvPr>
        </p:nvSpPr>
        <p:spPr>
          <a:xfrm>
            <a:off x="131275" y="365125"/>
            <a:ext cx="5124300" cy="7257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t/>
            </a:r>
            <a:endParaRPr b="1"/>
          </a:p>
          <a:p>
            <a:pPr indent="0" lvl="0" marL="0" rtl="0" algn="l">
              <a:spcBef>
                <a:spcPts val="0"/>
              </a:spcBef>
              <a:spcAft>
                <a:spcPts val="0"/>
              </a:spcAft>
              <a:buNone/>
            </a:pPr>
            <a:r>
              <a:rPr b="1" lang="en-IN">
                <a:solidFill>
                  <a:srgbClr val="0000FF"/>
                </a:solidFill>
              </a:rPr>
              <a:t>Supervised learning:</a:t>
            </a:r>
            <a:endParaRPr b="1">
              <a:solidFill>
                <a:srgbClr val="0000FF"/>
              </a:solidFill>
            </a:endParaRPr>
          </a:p>
          <a:p>
            <a:pPr indent="0" lvl="0" marL="0" rtl="0" algn="l">
              <a:spcBef>
                <a:spcPts val="0"/>
              </a:spcBef>
              <a:spcAft>
                <a:spcPts val="0"/>
              </a:spcAft>
              <a:buNone/>
            </a:pPr>
            <a:r>
              <a:t/>
            </a:r>
            <a:endParaRPr b="1"/>
          </a:p>
          <a:p>
            <a:pPr indent="0" lvl="0" marL="0" rtl="0" algn="l">
              <a:spcBef>
                <a:spcPts val="0"/>
              </a:spcBef>
              <a:spcAft>
                <a:spcPts val="0"/>
              </a:spcAft>
              <a:buNone/>
            </a:pPr>
            <a:r>
              <a:rPr b="1" lang="en-IN">
                <a:solidFill>
                  <a:srgbClr val="0000FF"/>
                </a:solidFill>
              </a:rPr>
              <a:t>c</a:t>
            </a:r>
            <a:r>
              <a:rPr b="1" lang="en-IN">
                <a:solidFill>
                  <a:srgbClr val="0000FF"/>
                </a:solidFill>
              </a:rPr>
              <a:t>lassification :</a:t>
            </a:r>
            <a:endParaRPr b="1">
              <a:solidFill>
                <a:srgbClr val="0000FF"/>
              </a:solidFill>
            </a:endParaRPr>
          </a:p>
        </p:txBody>
      </p:sp>
      <p:pic>
        <p:nvPicPr>
          <p:cNvPr id="222" name="Google Shape;222;g3fa53fc7973_0_20"/>
          <p:cNvPicPr preferRelativeResize="0"/>
          <p:nvPr/>
        </p:nvPicPr>
        <p:blipFill>
          <a:blip r:embed="rId3">
            <a:alphaModFix/>
          </a:blip>
          <a:stretch>
            <a:fillRect/>
          </a:stretch>
        </p:blipFill>
        <p:spPr>
          <a:xfrm>
            <a:off x="4419225" y="1090975"/>
            <a:ext cx="7657350" cy="4088500"/>
          </a:xfrm>
          <a:prstGeom prst="rect">
            <a:avLst/>
          </a:prstGeom>
          <a:noFill/>
          <a:ln>
            <a:noFill/>
          </a:ln>
        </p:spPr>
      </p:pic>
      <p:pic>
        <p:nvPicPr>
          <p:cNvPr id="223" name="Google Shape;223;g3fa53fc7973_0_20"/>
          <p:cNvPicPr preferRelativeResize="0"/>
          <p:nvPr/>
        </p:nvPicPr>
        <p:blipFill>
          <a:blip r:embed="rId4">
            <a:alphaModFix/>
          </a:blip>
          <a:stretch>
            <a:fillRect/>
          </a:stretch>
        </p:blipFill>
        <p:spPr>
          <a:xfrm>
            <a:off x="5699425" y="5459900"/>
            <a:ext cx="6230795" cy="621400"/>
          </a:xfrm>
          <a:prstGeom prst="rect">
            <a:avLst/>
          </a:prstGeom>
          <a:noFill/>
          <a:ln>
            <a:noFill/>
          </a:ln>
        </p:spPr>
      </p:pic>
      <p:sp>
        <p:nvSpPr>
          <p:cNvPr id="224" name="Google Shape;224;g3fa53fc7973_0_20"/>
          <p:cNvSpPr txBox="1"/>
          <p:nvPr/>
        </p:nvSpPr>
        <p:spPr>
          <a:xfrm>
            <a:off x="229250" y="2581300"/>
            <a:ext cx="4384200" cy="3949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2300"/>
              <a:t>Some of the key algorithms of classification are:</a:t>
            </a:r>
            <a:endParaRPr sz="2300"/>
          </a:p>
          <a:p>
            <a:pPr indent="-355600" lvl="0" marL="457200" rtl="0" algn="l">
              <a:lnSpc>
                <a:spcPct val="115000"/>
              </a:lnSpc>
              <a:spcBef>
                <a:spcPts val="1200"/>
              </a:spcBef>
              <a:spcAft>
                <a:spcPts val="0"/>
              </a:spcAft>
              <a:buClr>
                <a:schemeClr val="dk1"/>
              </a:buClr>
              <a:buSzPts val="2000"/>
              <a:buChar char="●"/>
            </a:pPr>
            <a:r>
              <a:rPr lang="en-IN" sz="2300"/>
              <a:t>Decision Tree</a:t>
            </a:r>
            <a:endParaRPr sz="2300"/>
          </a:p>
          <a:p>
            <a:pPr indent="-355600" lvl="0" marL="457200" rtl="0" algn="l">
              <a:lnSpc>
                <a:spcPct val="115000"/>
              </a:lnSpc>
              <a:spcBef>
                <a:spcPts val="0"/>
              </a:spcBef>
              <a:spcAft>
                <a:spcPts val="0"/>
              </a:spcAft>
              <a:buClr>
                <a:schemeClr val="dk1"/>
              </a:buClr>
              <a:buSzPts val="2000"/>
              <a:buChar char="●"/>
            </a:pPr>
            <a:r>
              <a:rPr lang="en-IN" sz="2300"/>
              <a:t>Random Forest</a:t>
            </a:r>
            <a:endParaRPr sz="2300"/>
          </a:p>
          <a:p>
            <a:pPr indent="-355600" lvl="0" marL="457200" rtl="0" algn="l">
              <a:lnSpc>
                <a:spcPct val="115000"/>
              </a:lnSpc>
              <a:spcBef>
                <a:spcPts val="0"/>
              </a:spcBef>
              <a:spcAft>
                <a:spcPts val="0"/>
              </a:spcAft>
              <a:buClr>
                <a:schemeClr val="dk1"/>
              </a:buClr>
              <a:buSzPts val="2000"/>
              <a:buChar char="●"/>
            </a:pPr>
            <a:r>
              <a:rPr lang="en-IN" sz="2300"/>
              <a:t>Support Vector Machines</a:t>
            </a:r>
            <a:endParaRPr sz="2300"/>
          </a:p>
          <a:p>
            <a:pPr indent="-355600" lvl="0" marL="457200" rtl="0" algn="l">
              <a:lnSpc>
                <a:spcPct val="115000"/>
              </a:lnSpc>
              <a:spcBef>
                <a:spcPts val="0"/>
              </a:spcBef>
              <a:spcAft>
                <a:spcPts val="0"/>
              </a:spcAft>
              <a:buClr>
                <a:schemeClr val="dk1"/>
              </a:buClr>
              <a:buSzPts val="2000"/>
              <a:buChar char="●"/>
            </a:pPr>
            <a:r>
              <a:rPr lang="en-IN" sz="2300"/>
              <a:t>Naïve Bayes</a:t>
            </a:r>
            <a:endParaRPr sz="2300"/>
          </a:p>
          <a:p>
            <a:pPr indent="-355600" lvl="0" marL="457200" rtl="0" algn="l">
              <a:lnSpc>
                <a:spcPct val="115000"/>
              </a:lnSpc>
              <a:spcBef>
                <a:spcPts val="0"/>
              </a:spcBef>
              <a:spcAft>
                <a:spcPts val="0"/>
              </a:spcAft>
              <a:buClr>
                <a:schemeClr val="dk1"/>
              </a:buClr>
              <a:buSzPts val="2000"/>
              <a:buChar char="●"/>
            </a:pPr>
            <a:r>
              <a:rPr lang="en-IN" sz="2300"/>
              <a:t>Artificial Neural Network and Deep Learning networks like CNN</a:t>
            </a:r>
            <a:endParaRPr sz="23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fa53fc7973_0_15"/>
          <p:cNvSpPr txBox="1"/>
          <p:nvPr>
            <p:ph type="title"/>
          </p:nvPr>
        </p:nvSpPr>
        <p:spPr>
          <a:xfrm>
            <a:off x="231800" y="370475"/>
            <a:ext cx="5316600" cy="711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0000FF"/>
                </a:solidFill>
              </a:rPr>
              <a:t>Regression Models </a:t>
            </a:r>
            <a:endParaRPr b="1">
              <a:solidFill>
                <a:srgbClr val="0000FF"/>
              </a:solidFill>
            </a:endParaRPr>
          </a:p>
        </p:txBody>
      </p:sp>
      <p:pic>
        <p:nvPicPr>
          <p:cNvPr id="230" name="Google Shape;230;g3fa53fc7973_0_15"/>
          <p:cNvPicPr preferRelativeResize="0"/>
          <p:nvPr/>
        </p:nvPicPr>
        <p:blipFill>
          <a:blip r:embed="rId3">
            <a:alphaModFix/>
          </a:blip>
          <a:stretch>
            <a:fillRect/>
          </a:stretch>
        </p:blipFill>
        <p:spPr>
          <a:xfrm>
            <a:off x="5318300" y="589350"/>
            <a:ext cx="6711625" cy="5740050"/>
          </a:xfrm>
          <a:prstGeom prst="rect">
            <a:avLst/>
          </a:prstGeom>
          <a:noFill/>
          <a:ln>
            <a:noFill/>
          </a:ln>
        </p:spPr>
      </p:pic>
      <p:sp>
        <p:nvSpPr>
          <p:cNvPr id="231" name="Google Shape;231;g3fa53fc7973_0_15"/>
          <p:cNvSpPr txBox="1"/>
          <p:nvPr/>
        </p:nvSpPr>
        <p:spPr>
          <a:xfrm>
            <a:off x="464350" y="1562200"/>
            <a:ext cx="4641300" cy="13392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IN" sz="2500">
                <a:solidFill>
                  <a:schemeClr val="dk1"/>
                </a:solidFill>
              </a:rPr>
              <a:t>Regression models predict continuous variables (such as product sales or product price). </a:t>
            </a:r>
            <a:endParaRPr sz="2500"/>
          </a:p>
        </p:txBody>
      </p:sp>
      <p:sp>
        <p:nvSpPr>
          <p:cNvPr id="232" name="Google Shape;232;g3fa53fc7973_0_15"/>
          <p:cNvSpPr txBox="1"/>
          <p:nvPr/>
        </p:nvSpPr>
        <p:spPr>
          <a:xfrm>
            <a:off x="464350" y="3163375"/>
            <a:ext cx="48540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500"/>
              <a:t>The regression model takes input x and generates a model in the form of a fitted line of the form      y = f(x).</a:t>
            </a:r>
            <a:endParaRPr sz="2500"/>
          </a:p>
          <a:p>
            <a:pPr indent="0" lvl="0" marL="0" rtl="0" algn="l">
              <a:spcBef>
                <a:spcPts val="0"/>
              </a:spcBef>
              <a:spcAft>
                <a:spcPts val="0"/>
              </a:spcAft>
              <a:buNone/>
            </a:pPr>
            <a:r>
              <a:rPr lang="en-IN" sz="2500"/>
              <a:t>Here, x is the independent variable that may be one or more attributes and y is the dependent variable. </a:t>
            </a:r>
            <a:endParaRPr sz="2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g3fa5decb760_0_12"/>
          <p:cNvSpPr txBox="1"/>
          <p:nvPr>
            <p:ph type="title"/>
          </p:nvPr>
        </p:nvSpPr>
        <p:spPr>
          <a:xfrm>
            <a:off x="300250" y="391400"/>
            <a:ext cx="3115200" cy="6063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IN">
                <a:solidFill>
                  <a:srgbClr val="0000FF"/>
                </a:solidFill>
              </a:rPr>
              <a:t>Comparison</a:t>
            </a:r>
            <a:r>
              <a:rPr b="1" lang="en-IN">
                <a:solidFill>
                  <a:srgbClr val="0000FF"/>
                </a:solidFill>
              </a:rPr>
              <a:t> </a:t>
            </a:r>
            <a:endParaRPr b="1">
              <a:solidFill>
                <a:srgbClr val="0000FF"/>
              </a:solidFill>
            </a:endParaRPr>
          </a:p>
        </p:txBody>
      </p:sp>
      <p:pic>
        <p:nvPicPr>
          <p:cNvPr id="238" name="Google Shape;238;g3fa5decb760_0_12"/>
          <p:cNvPicPr preferRelativeResize="0"/>
          <p:nvPr/>
        </p:nvPicPr>
        <p:blipFill>
          <a:blip r:embed="rId3">
            <a:alphaModFix/>
          </a:blip>
          <a:stretch>
            <a:fillRect/>
          </a:stretch>
        </p:blipFill>
        <p:spPr>
          <a:xfrm>
            <a:off x="3729250" y="140500"/>
            <a:ext cx="7624551" cy="5122600"/>
          </a:xfrm>
          <a:prstGeom prst="rect">
            <a:avLst/>
          </a:prstGeom>
          <a:noFill/>
          <a:ln>
            <a:noFill/>
          </a:ln>
        </p:spPr>
      </p:pic>
      <p:pic>
        <p:nvPicPr>
          <p:cNvPr id="239" name="Google Shape;239;g3fa5decb760_0_12"/>
          <p:cNvPicPr preferRelativeResize="0"/>
          <p:nvPr/>
        </p:nvPicPr>
        <p:blipFill>
          <a:blip r:embed="rId4">
            <a:alphaModFix/>
          </a:blip>
          <a:stretch>
            <a:fillRect/>
          </a:stretch>
        </p:blipFill>
        <p:spPr>
          <a:xfrm>
            <a:off x="3729250" y="5263100"/>
            <a:ext cx="7624551" cy="14008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g3fbbad65c78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Clr>
                <a:schemeClr val="dk1"/>
              </a:buClr>
              <a:buSzPts val="1100"/>
              <a:buFont typeface="Arial"/>
              <a:buNone/>
            </a:pPr>
            <a:r>
              <a:rPr b="1" lang="en-IN">
                <a:solidFill>
                  <a:srgbClr val="0000FF"/>
                </a:solidFill>
              </a:rPr>
              <a:t>Unsupervised Learning </a:t>
            </a:r>
            <a:endParaRPr b="1">
              <a:solidFill>
                <a:srgbClr val="0000FF"/>
              </a:solidFill>
            </a:endParaRPr>
          </a:p>
          <a:p>
            <a:pPr indent="0" lvl="0" marL="0" rtl="0" algn="l">
              <a:spcBef>
                <a:spcPts val="0"/>
              </a:spcBef>
              <a:spcAft>
                <a:spcPts val="0"/>
              </a:spcAft>
              <a:buNone/>
            </a:pPr>
            <a:r>
              <a:t/>
            </a:r>
            <a:endParaRPr/>
          </a:p>
        </p:txBody>
      </p:sp>
      <p:pic>
        <p:nvPicPr>
          <p:cNvPr id="245" name="Google Shape;245;g3fbbad65c78_0_0"/>
          <p:cNvPicPr preferRelativeResize="0"/>
          <p:nvPr/>
        </p:nvPicPr>
        <p:blipFill rotWithShape="1">
          <a:blip r:embed="rId3">
            <a:alphaModFix/>
          </a:blip>
          <a:srcRect b="0" l="0" r="0" t="0"/>
          <a:stretch/>
        </p:blipFill>
        <p:spPr>
          <a:xfrm>
            <a:off x="4476750" y="1690825"/>
            <a:ext cx="7715250" cy="4410700"/>
          </a:xfrm>
          <a:prstGeom prst="rect">
            <a:avLst/>
          </a:prstGeom>
          <a:noFill/>
          <a:ln>
            <a:noFill/>
          </a:ln>
        </p:spPr>
      </p:pic>
      <p:sp>
        <p:nvSpPr>
          <p:cNvPr id="246" name="Google Shape;246;g3fbbad65c78_0_0"/>
          <p:cNvSpPr txBox="1"/>
          <p:nvPr/>
        </p:nvSpPr>
        <p:spPr>
          <a:xfrm>
            <a:off x="183700" y="1793750"/>
            <a:ext cx="4000500" cy="3940500"/>
          </a:xfrm>
          <a:prstGeom prst="rect">
            <a:avLst/>
          </a:prstGeom>
          <a:noFill/>
          <a:ln>
            <a:noFill/>
          </a:ln>
        </p:spPr>
        <p:txBody>
          <a:bodyPr anchorCtr="0" anchor="t" bIns="91425" lIns="91425" spcFirstLastPara="1" rIns="91425" wrap="square" tIns="91425">
            <a:spAutoFit/>
          </a:bodyPr>
          <a:lstStyle/>
          <a:p>
            <a:pPr indent="0" lvl="0" marL="0" rtl="0" algn="just">
              <a:spcBef>
                <a:spcPts val="600"/>
              </a:spcBef>
              <a:spcAft>
                <a:spcPts val="0"/>
              </a:spcAft>
              <a:buNone/>
            </a:pPr>
            <a:r>
              <a:rPr lang="en-IN" sz="2000">
                <a:solidFill>
                  <a:schemeClr val="dk1"/>
                </a:solidFill>
                <a:highlight>
                  <a:schemeClr val="lt1"/>
                </a:highlight>
                <a:latin typeface="Cambria"/>
                <a:ea typeface="Cambria"/>
                <a:cs typeface="Cambria"/>
                <a:sym typeface="Cambria"/>
              </a:rPr>
              <a:t>A machine learning model tries to find any similarities, differences, patterns, and structure in data by itself. No prior human intervention is needed.</a:t>
            </a:r>
            <a:endParaRPr sz="2000">
              <a:solidFill>
                <a:schemeClr val="dk1"/>
              </a:solidFill>
              <a:highlight>
                <a:schemeClr val="lt1"/>
              </a:highlight>
              <a:latin typeface="Cambria"/>
              <a:ea typeface="Cambria"/>
              <a:cs typeface="Cambria"/>
              <a:sym typeface="Cambria"/>
            </a:endParaRPr>
          </a:p>
          <a:p>
            <a:pPr indent="0" lvl="0" marL="0" rtl="0" algn="just">
              <a:spcBef>
                <a:spcPts val="600"/>
              </a:spcBef>
              <a:spcAft>
                <a:spcPts val="0"/>
              </a:spcAft>
              <a:buNone/>
            </a:pPr>
            <a:r>
              <a:rPr lang="en-IN" sz="2200">
                <a:solidFill>
                  <a:schemeClr val="dk1"/>
                </a:solidFill>
                <a:highlight>
                  <a:schemeClr val="lt1"/>
                </a:highlight>
                <a:latin typeface="Cambria"/>
                <a:ea typeface="Cambria"/>
                <a:cs typeface="Cambria"/>
                <a:sym typeface="Cambria"/>
              </a:rPr>
              <a:t>Example:</a:t>
            </a:r>
            <a:r>
              <a:rPr lang="en-IN" sz="2000">
                <a:solidFill>
                  <a:schemeClr val="dk1"/>
                </a:solidFill>
                <a:highlight>
                  <a:schemeClr val="lt1"/>
                </a:highlight>
                <a:latin typeface="Cambria"/>
                <a:ea typeface="Cambria"/>
                <a:cs typeface="Cambria"/>
                <a:sym typeface="Cambria"/>
              </a:rPr>
              <a:t>Anomaly detection, Customer and market segmentation, recommender system</a:t>
            </a:r>
            <a:endParaRPr sz="2000">
              <a:solidFill>
                <a:schemeClr val="dk1"/>
              </a:solidFill>
              <a:highlight>
                <a:schemeClr val="lt1"/>
              </a:highlight>
              <a:latin typeface="Cambria"/>
              <a:ea typeface="Cambria"/>
              <a:cs typeface="Cambria"/>
              <a:sym typeface="Cambria"/>
            </a:endParaRPr>
          </a:p>
          <a:p>
            <a:pPr indent="-393700" lvl="0" marL="457200" rtl="0" algn="just">
              <a:spcBef>
                <a:spcPts val="600"/>
              </a:spcBef>
              <a:spcAft>
                <a:spcPts val="0"/>
              </a:spcAft>
              <a:buClr>
                <a:srgbClr val="0000FF"/>
              </a:buClr>
              <a:buSzPts val="2600"/>
              <a:buFont typeface="Cambria"/>
              <a:buChar char="●"/>
            </a:pPr>
            <a:r>
              <a:rPr lang="en-IN" sz="2600">
                <a:solidFill>
                  <a:srgbClr val="0000FF"/>
                </a:solidFill>
                <a:highlight>
                  <a:schemeClr val="lt1"/>
                </a:highlight>
                <a:latin typeface="Cambria"/>
                <a:ea typeface="Cambria"/>
                <a:cs typeface="Cambria"/>
                <a:sym typeface="Cambria"/>
              </a:rPr>
              <a:t>Clustering</a:t>
            </a:r>
            <a:endParaRPr sz="2600">
              <a:solidFill>
                <a:srgbClr val="0000FF"/>
              </a:solidFill>
              <a:highlight>
                <a:schemeClr val="lt1"/>
              </a:highlight>
              <a:latin typeface="Cambria"/>
              <a:ea typeface="Cambria"/>
              <a:cs typeface="Cambria"/>
              <a:sym typeface="Cambria"/>
            </a:endParaRPr>
          </a:p>
          <a:p>
            <a:pPr indent="-393700" lvl="0" marL="457200" rtl="0" algn="just">
              <a:spcBef>
                <a:spcPts val="0"/>
              </a:spcBef>
              <a:spcAft>
                <a:spcPts val="0"/>
              </a:spcAft>
              <a:buClr>
                <a:srgbClr val="0000FF"/>
              </a:buClr>
              <a:buSzPts val="2600"/>
              <a:buFont typeface="Cambria"/>
              <a:buChar char="●"/>
            </a:pPr>
            <a:r>
              <a:rPr lang="en-IN" sz="2600">
                <a:solidFill>
                  <a:srgbClr val="0000FF"/>
                </a:solidFill>
                <a:highlight>
                  <a:schemeClr val="lt1"/>
                </a:highlight>
                <a:latin typeface="Cambria"/>
                <a:ea typeface="Cambria"/>
                <a:cs typeface="Cambria"/>
                <a:sym typeface="Cambria"/>
              </a:rPr>
              <a:t>Association </a:t>
            </a:r>
            <a:endParaRPr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fa53fc7973_0_5"/>
          <p:cNvSpPr txBox="1"/>
          <p:nvPr>
            <p:ph type="title"/>
          </p:nvPr>
        </p:nvSpPr>
        <p:spPr>
          <a:xfrm>
            <a:off x="321150" y="365125"/>
            <a:ext cx="11032800" cy="4446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IN">
                <a:solidFill>
                  <a:srgbClr val="0000FF"/>
                </a:solidFill>
              </a:rPr>
              <a:t>Unsupervised Learning </a:t>
            </a:r>
            <a:endParaRPr b="1">
              <a:solidFill>
                <a:srgbClr val="0000FF"/>
              </a:solidFill>
            </a:endParaRPr>
          </a:p>
        </p:txBody>
      </p:sp>
      <p:sp>
        <p:nvSpPr>
          <p:cNvPr id="252" name="Google Shape;252;g3fa53fc7973_0_5"/>
          <p:cNvSpPr txBox="1"/>
          <p:nvPr/>
        </p:nvSpPr>
        <p:spPr>
          <a:xfrm>
            <a:off x="321150" y="1146250"/>
            <a:ext cx="11200200" cy="1954800"/>
          </a:xfrm>
          <a:prstGeom prst="rect">
            <a:avLst/>
          </a:prstGeom>
          <a:noFill/>
          <a:ln>
            <a:noFill/>
          </a:ln>
        </p:spPr>
        <p:txBody>
          <a:bodyPr anchorCtr="0" anchor="t" bIns="91425" lIns="91425" spcFirstLastPara="1" rIns="91425" wrap="square" tIns="91425">
            <a:spAutoFit/>
          </a:bodyPr>
          <a:lstStyle/>
          <a:p>
            <a:pPr indent="-374650" lvl="0" marL="457200" rtl="0" algn="just">
              <a:spcBef>
                <a:spcPts val="0"/>
              </a:spcBef>
              <a:spcAft>
                <a:spcPts val="0"/>
              </a:spcAft>
              <a:buSzPts val="2300"/>
              <a:buChar char="●"/>
            </a:pPr>
            <a:r>
              <a:rPr lang="en-IN" sz="2300"/>
              <a:t>Operates without a supervisor, teacher, or target labels.</a:t>
            </a:r>
            <a:endParaRPr sz="2300"/>
          </a:p>
          <a:p>
            <a:pPr indent="-374650" lvl="0" marL="457200" rtl="0" algn="just">
              <a:spcBef>
                <a:spcPts val="0"/>
              </a:spcBef>
              <a:spcAft>
                <a:spcPts val="0"/>
              </a:spcAft>
              <a:buSzPts val="2300"/>
              <a:buChar char="●"/>
            </a:pPr>
            <a:r>
              <a:rPr lang="en-IN" sz="2300"/>
              <a:t>Relies on finding inherent patterns, structures, and grouping principles directly from unlabelled data.</a:t>
            </a:r>
            <a:endParaRPr sz="2300"/>
          </a:p>
          <a:p>
            <a:pPr indent="-374650" lvl="0" marL="457200" rtl="0" algn="just">
              <a:spcBef>
                <a:spcPts val="0"/>
              </a:spcBef>
              <a:spcAft>
                <a:spcPts val="0"/>
              </a:spcAft>
              <a:buSzPts val="2300"/>
              <a:buChar char="●"/>
            </a:pPr>
            <a:r>
              <a:rPr lang="en-IN" sz="2300">
                <a:solidFill>
                  <a:schemeClr val="dk1"/>
                </a:solidFill>
              </a:rPr>
              <a:t>Key algorithmic families include </a:t>
            </a:r>
            <a:r>
              <a:rPr b="1" lang="en-IN" sz="2300">
                <a:solidFill>
                  <a:srgbClr val="FF0000"/>
                </a:solidFill>
              </a:rPr>
              <a:t>Cluster Analysis and Dimensionality Reduction</a:t>
            </a:r>
            <a:r>
              <a:rPr lang="en-IN" sz="2300">
                <a:solidFill>
                  <a:srgbClr val="FF0000"/>
                </a:solidFill>
              </a:rPr>
              <a:t>. </a:t>
            </a:r>
            <a:endParaRPr sz="2300">
              <a:solidFill>
                <a:srgbClr val="FF0000"/>
              </a:solidFill>
            </a:endParaRPr>
          </a:p>
        </p:txBody>
      </p:sp>
      <p:sp>
        <p:nvSpPr>
          <p:cNvPr id="253" name="Google Shape;253;g3fa53fc7973_0_5"/>
          <p:cNvSpPr txBox="1"/>
          <p:nvPr/>
        </p:nvSpPr>
        <p:spPr>
          <a:xfrm>
            <a:off x="464100" y="3101050"/>
            <a:ext cx="10746900" cy="3681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IN" sz="2400">
                <a:solidFill>
                  <a:schemeClr val="dk1"/>
                </a:solidFill>
              </a:rPr>
              <a:t>Applications:</a:t>
            </a:r>
            <a:endParaRPr b="1" sz="2400">
              <a:solidFill>
                <a:schemeClr val="dk1"/>
              </a:solidFill>
            </a:endParaRPr>
          </a:p>
          <a:p>
            <a:pPr indent="-381000" lvl="0" marL="457200" rtl="0" algn="l">
              <a:lnSpc>
                <a:spcPct val="115000"/>
              </a:lnSpc>
              <a:spcBef>
                <a:spcPts val="1200"/>
              </a:spcBef>
              <a:spcAft>
                <a:spcPts val="0"/>
              </a:spcAft>
              <a:buClr>
                <a:schemeClr val="dk1"/>
              </a:buClr>
              <a:buSzPts val="2400"/>
              <a:buChar char="●"/>
            </a:pPr>
            <a:r>
              <a:rPr b="1" lang="en-IN" sz="2400">
                <a:solidFill>
                  <a:schemeClr val="dk1"/>
                </a:solidFill>
              </a:rPr>
              <a:t>Image Processing:</a:t>
            </a:r>
            <a:r>
              <a:rPr lang="en-IN" sz="2400">
                <a:solidFill>
                  <a:schemeClr val="dk1"/>
                </a:solidFill>
              </a:rPr>
              <a:t> Segmentation of Regions of Interest (ROI) in images.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IN" sz="2400">
                <a:solidFill>
                  <a:schemeClr val="dk1"/>
                </a:solidFill>
              </a:rPr>
              <a:t>Medical Imaging:</a:t>
            </a:r>
            <a:r>
              <a:rPr lang="en-IN" sz="2400">
                <a:solidFill>
                  <a:schemeClr val="dk1"/>
                </a:solidFill>
              </a:rPr>
              <a:t> Automated detection of abnormal growths or tumors.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IN" sz="2400">
                <a:solidFill>
                  <a:schemeClr val="dk1"/>
                </a:solidFill>
              </a:rPr>
              <a:t>Bioinformatics:</a:t>
            </a:r>
            <a:r>
              <a:rPr lang="en-IN" sz="2400">
                <a:solidFill>
                  <a:schemeClr val="dk1"/>
                </a:solidFill>
              </a:rPr>
              <a:t> Pattern matching and signature clustering in gene databases.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b="1" lang="en-IN" sz="2400">
                <a:solidFill>
                  <a:schemeClr val="dk1"/>
                </a:solidFill>
              </a:rPr>
              <a:t>Computer Vision Example:</a:t>
            </a:r>
            <a:r>
              <a:rPr lang="en-IN" sz="2400">
                <a:solidFill>
                  <a:schemeClr val="dk1"/>
                </a:solidFill>
              </a:rPr>
              <a:t> Grouping mixed image sets (e.g., separating images of cats and dogs) into distinct clusters based purely on visual attributes.</a:t>
            </a:r>
            <a:endParaRPr sz="24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fa5decb760_0_47"/>
          <p:cNvSpPr txBox="1"/>
          <p:nvPr>
            <p:ph type="title"/>
          </p:nvPr>
        </p:nvSpPr>
        <p:spPr>
          <a:xfrm>
            <a:off x="404800" y="328675"/>
            <a:ext cx="3366300" cy="7110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sz="3000"/>
              <a:t>Cluster Analysis :</a:t>
            </a:r>
            <a:endParaRPr b="1" sz="3000"/>
          </a:p>
        </p:txBody>
      </p:sp>
      <p:sp>
        <p:nvSpPr>
          <p:cNvPr id="259" name="Google Shape;259;g3fa5decb760_0_47"/>
          <p:cNvSpPr txBox="1"/>
          <p:nvPr>
            <p:ph idx="1" type="body"/>
          </p:nvPr>
        </p:nvSpPr>
        <p:spPr>
          <a:xfrm>
            <a:off x="691825" y="1039525"/>
            <a:ext cx="10515600" cy="4351200"/>
          </a:xfrm>
          <a:prstGeom prst="rect">
            <a:avLst/>
          </a:prstGeom>
        </p:spPr>
        <p:txBody>
          <a:bodyPr anchorCtr="0" anchor="t" bIns="45700" lIns="91425" spcFirstLastPara="1" rIns="91425" wrap="square" tIns="45700">
            <a:noAutofit/>
          </a:bodyPr>
          <a:lstStyle/>
          <a:p>
            <a:pPr indent="-376238" lvl="0" marL="457200" rtl="0" algn="just">
              <a:lnSpc>
                <a:spcPct val="150000"/>
              </a:lnSpc>
              <a:spcBef>
                <a:spcPts val="1000"/>
              </a:spcBef>
              <a:spcAft>
                <a:spcPts val="0"/>
              </a:spcAft>
              <a:buSzPts val="2325"/>
              <a:buChar char="•"/>
            </a:pPr>
            <a:r>
              <a:rPr lang="en-IN" sz="2325"/>
              <a:t>Cluster analysis is an unsupervised learning technique that groups unlabelled data into disjoint clusters based purely on feature attributes. </a:t>
            </a:r>
            <a:endParaRPr sz="2325"/>
          </a:p>
          <a:p>
            <a:pPr indent="-376238" lvl="0" marL="457200" rtl="0" algn="just">
              <a:lnSpc>
                <a:spcPct val="150000"/>
              </a:lnSpc>
              <a:spcBef>
                <a:spcPts val="0"/>
              </a:spcBef>
              <a:spcAft>
                <a:spcPts val="0"/>
              </a:spcAft>
              <a:buSzPts val="2325"/>
              <a:buChar char="•"/>
            </a:pPr>
            <a:r>
              <a:rPr lang="en-IN" sz="2325"/>
              <a:t>Ensures high intra-cluster similarity (objects within a group share common traits) and high inter-cluster variation (objects across groups differ significantly). </a:t>
            </a:r>
            <a:endParaRPr sz="2325"/>
          </a:p>
          <a:p>
            <a:pPr indent="-376238" lvl="0" marL="457200" rtl="0" algn="just">
              <a:lnSpc>
                <a:spcPct val="150000"/>
              </a:lnSpc>
              <a:spcBef>
                <a:spcPts val="0"/>
              </a:spcBef>
              <a:spcAft>
                <a:spcPts val="0"/>
              </a:spcAft>
              <a:buSzPts val="2325"/>
              <a:buChar char="•"/>
            </a:pPr>
            <a:r>
              <a:rPr lang="en-IN" sz="2325"/>
              <a:t>Ensures high intra-cluster similarity (objects within a group share common traits) and high inter-cluster variation (objects across groups differ significantly). </a:t>
            </a:r>
            <a:endParaRPr sz="2325"/>
          </a:p>
          <a:p>
            <a:pPr indent="-376238" lvl="0" marL="457200" rtl="0" algn="just">
              <a:lnSpc>
                <a:spcPct val="150000"/>
              </a:lnSpc>
              <a:spcBef>
                <a:spcPts val="0"/>
              </a:spcBef>
              <a:spcAft>
                <a:spcPts val="0"/>
              </a:spcAft>
              <a:buSzPts val="2325"/>
              <a:buChar char="•"/>
            </a:pPr>
            <a:r>
              <a:rPr lang="en-IN" sz="2325"/>
              <a:t>Automatically separates the dataset into distinct clusters (e.g., Cluster 1: Cats, Cluster 2: Dogs). </a:t>
            </a:r>
            <a:endParaRPr sz="2325"/>
          </a:p>
          <a:p>
            <a:pPr indent="0" lvl="0" marL="457200" rtl="0" algn="just">
              <a:lnSpc>
                <a:spcPct val="150000"/>
              </a:lnSpc>
              <a:spcBef>
                <a:spcPts val="1000"/>
              </a:spcBef>
              <a:spcAft>
                <a:spcPts val="0"/>
              </a:spcAft>
              <a:buNone/>
            </a:pPr>
            <a:r>
              <a:t/>
            </a:r>
            <a:endParaRPr sz="2325"/>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pic>
        <p:nvPicPr>
          <p:cNvPr id="264" name="Google Shape;264;g3fa5decb760_0_57"/>
          <p:cNvPicPr preferRelativeResize="0"/>
          <p:nvPr/>
        </p:nvPicPr>
        <p:blipFill>
          <a:blip r:embed="rId3">
            <a:alphaModFix/>
          </a:blip>
          <a:stretch>
            <a:fillRect/>
          </a:stretch>
        </p:blipFill>
        <p:spPr>
          <a:xfrm>
            <a:off x="5732900" y="1768075"/>
            <a:ext cx="6375749" cy="3491050"/>
          </a:xfrm>
          <a:prstGeom prst="rect">
            <a:avLst/>
          </a:prstGeom>
          <a:noFill/>
          <a:ln>
            <a:noFill/>
          </a:ln>
        </p:spPr>
      </p:pic>
      <p:sp>
        <p:nvSpPr>
          <p:cNvPr id="265" name="Google Shape;265;g3fa5decb760_0_57"/>
          <p:cNvSpPr txBox="1"/>
          <p:nvPr/>
        </p:nvSpPr>
        <p:spPr>
          <a:xfrm>
            <a:off x="357200" y="830850"/>
            <a:ext cx="5375700" cy="519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chemeClr val="dk1"/>
                </a:solidFill>
              </a:rPr>
              <a:t>Some of the clustering algorithms are</a:t>
            </a:r>
            <a:endParaRPr b="1" sz="2200">
              <a:solidFill>
                <a:schemeClr val="dk1"/>
              </a:solidFill>
            </a:endParaRPr>
          </a:p>
          <a:p>
            <a:pPr indent="0" lvl="0" marL="0" rtl="0" algn="l">
              <a:lnSpc>
                <a:spcPct val="115000"/>
              </a:lnSpc>
              <a:spcBef>
                <a:spcPts val="0"/>
              </a:spcBef>
              <a:spcAft>
                <a:spcPts val="0"/>
              </a:spcAft>
              <a:buNone/>
            </a:pPr>
            <a:r>
              <a:rPr b="1" lang="en-IN" sz="2200">
                <a:solidFill>
                  <a:srgbClr val="FF0000"/>
                </a:solidFill>
              </a:rPr>
              <a:t>k-means algorithm:</a:t>
            </a:r>
            <a:r>
              <a:rPr lang="en-IN" sz="2200">
                <a:solidFill>
                  <a:srgbClr val="FF0000"/>
                </a:solidFill>
              </a:rPr>
              <a:t> </a:t>
            </a:r>
            <a:endParaRPr sz="2200">
              <a:solidFill>
                <a:srgbClr val="FF0000"/>
              </a:solidFill>
            </a:endParaRPr>
          </a:p>
          <a:p>
            <a:pPr indent="0" lvl="0" marL="0" rtl="0" algn="just">
              <a:lnSpc>
                <a:spcPct val="115000"/>
              </a:lnSpc>
              <a:spcBef>
                <a:spcPts val="0"/>
              </a:spcBef>
              <a:spcAft>
                <a:spcPts val="0"/>
              </a:spcAft>
              <a:buNone/>
            </a:pPr>
            <a:r>
              <a:rPr lang="en-IN" sz="2200">
                <a:solidFill>
                  <a:schemeClr val="dk1"/>
                </a:solidFill>
              </a:rPr>
              <a:t>A centroid-based partition technique that iteratively assigns data points to k pre-specified clusters by minimizing within-cluster variance (Euclidean distance).</a:t>
            </a:r>
            <a:endParaRPr sz="2200">
              <a:solidFill>
                <a:schemeClr val="dk1"/>
              </a:solidFill>
            </a:endParaRPr>
          </a:p>
          <a:p>
            <a:pPr indent="0" lvl="0" marL="0" rtl="0" algn="l">
              <a:lnSpc>
                <a:spcPct val="115000"/>
              </a:lnSpc>
              <a:spcBef>
                <a:spcPts val="0"/>
              </a:spcBef>
              <a:spcAft>
                <a:spcPts val="0"/>
              </a:spcAft>
              <a:buNone/>
            </a:pPr>
            <a:r>
              <a:rPr b="1" lang="en-IN" sz="2200">
                <a:solidFill>
                  <a:srgbClr val="FF0000"/>
                </a:solidFill>
              </a:rPr>
              <a:t>Hierarchical algorithms:</a:t>
            </a:r>
            <a:r>
              <a:rPr lang="en-IN" sz="2200">
                <a:solidFill>
                  <a:srgbClr val="FF0000"/>
                </a:solidFill>
              </a:rPr>
              <a:t> </a:t>
            </a:r>
            <a:r>
              <a:rPr lang="en-IN" sz="2200">
                <a:solidFill>
                  <a:schemeClr val="dk1"/>
                </a:solidFill>
              </a:rPr>
              <a:t>Structure-based approaches that build a nested tree of clusters (dendrogram) using either a </a:t>
            </a:r>
            <a:r>
              <a:rPr b="1" lang="en-IN" sz="2200">
                <a:solidFill>
                  <a:schemeClr val="dk1"/>
                </a:solidFill>
              </a:rPr>
              <a:t>bottom-up. (agglomerative)</a:t>
            </a:r>
            <a:r>
              <a:rPr lang="en-IN" sz="2200">
                <a:solidFill>
                  <a:schemeClr val="dk1"/>
                </a:solidFill>
              </a:rPr>
              <a:t> or </a:t>
            </a:r>
            <a:r>
              <a:rPr b="1" lang="en-IN" sz="2200">
                <a:solidFill>
                  <a:schemeClr val="dk1"/>
                </a:solidFill>
              </a:rPr>
              <a:t>top-down (divisive)</a:t>
            </a:r>
            <a:r>
              <a:rPr lang="en-IN" sz="2200">
                <a:solidFill>
                  <a:schemeClr val="dk1"/>
                </a:solidFill>
              </a:rPr>
              <a:t> strategy.</a:t>
            </a:r>
            <a:endParaRPr sz="22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3fa5decb760_0_42"/>
          <p:cNvSpPr txBox="1"/>
          <p:nvPr>
            <p:ph type="title"/>
          </p:nvPr>
        </p:nvSpPr>
        <p:spPr>
          <a:xfrm>
            <a:off x="428625" y="360525"/>
            <a:ext cx="10925400" cy="603900"/>
          </a:xfrm>
          <a:prstGeom prst="rect">
            <a:avLst/>
          </a:prstGeom>
        </p:spPr>
        <p:txBody>
          <a:bodyPr anchorCtr="0" anchor="ctr" bIns="45700" lIns="91425" spcFirstLastPara="1" rIns="91425" wrap="square" tIns="45700">
            <a:noAutofit/>
          </a:bodyPr>
          <a:lstStyle/>
          <a:p>
            <a:pPr indent="0" lvl="0" marL="0" rtl="0" algn="l">
              <a:spcBef>
                <a:spcPts val="0"/>
              </a:spcBef>
              <a:spcAft>
                <a:spcPts val="0"/>
              </a:spcAft>
              <a:buSzPts val="990"/>
              <a:buNone/>
            </a:pPr>
            <a:r>
              <a:rPr b="1" lang="en-IN" sz="3060">
                <a:solidFill>
                  <a:srgbClr val="0000FF"/>
                </a:solidFill>
              </a:rPr>
              <a:t>Dimensionality Reduction </a:t>
            </a:r>
            <a:endParaRPr b="1" sz="3060">
              <a:solidFill>
                <a:srgbClr val="0000FF"/>
              </a:solidFill>
            </a:endParaRPr>
          </a:p>
        </p:txBody>
      </p:sp>
      <p:sp>
        <p:nvSpPr>
          <p:cNvPr id="271" name="Google Shape;271;g3fa5decb760_0_42"/>
          <p:cNvSpPr txBox="1"/>
          <p:nvPr>
            <p:ph idx="1" type="body"/>
          </p:nvPr>
        </p:nvSpPr>
        <p:spPr>
          <a:xfrm>
            <a:off x="621000" y="1217775"/>
            <a:ext cx="10732800" cy="4175700"/>
          </a:xfrm>
          <a:prstGeom prst="rect">
            <a:avLst/>
          </a:prstGeom>
        </p:spPr>
        <p:txBody>
          <a:bodyPr anchorCtr="0" anchor="t" bIns="45700" lIns="91425" spcFirstLastPara="1" rIns="91425" wrap="square" tIns="45700">
            <a:normAutofit/>
          </a:bodyPr>
          <a:lstStyle/>
          <a:p>
            <a:pPr indent="-368300" lvl="0" marL="457200" rtl="0" algn="just">
              <a:lnSpc>
                <a:spcPct val="115000"/>
              </a:lnSpc>
              <a:spcBef>
                <a:spcPts val="0"/>
              </a:spcBef>
              <a:spcAft>
                <a:spcPts val="0"/>
              </a:spcAft>
              <a:buSzPts val="2200"/>
              <a:buChar char="●"/>
            </a:pPr>
            <a:r>
              <a:rPr lang="en-IN" sz="2200"/>
              <a:t>Dimensionality reduction algorithms fall under unsupervised learning. </a:t>
            </a:r>
            <a:endParaRPr sz="2200"/>
          </a:p>
          <a:p>
            <a:pPr indent="-368300" lvl="0" marL="457200" rtl="0" algn="just">
              <a:lnSpc>
                <a:spcPct val="115000"/>
              </a:lnSpc>
              <a:spcBef>
                <a:spcPts val="0"/>
              </a:spcBef>
              <a:spcAft>
                <a:spcPts val="0"/>
              </a:spcAft>
              <a:buSzPts val="2200"/>
              <a:buChar char="●"/>
            </a:pPr>
            <a:r>
              <a:rPr lang="en-IN" sz="2200"/>
              <a:t>Accepts high-dimensional data as input and transforms it into a lower-dimensional space. </a:t>
            </a:r>
            <a:endParaRPr sz="2200"/>
          </a:p>
          <a:p>
            <a:pPr indent="-368300" lvl="0" marL="457200" rtl="0" algn="just">
              <a:lnSpc>
                <a:spcPct val="115000"/>
              </a:lnSpc>
              <a:spcBef>
                <a:spcPts val="0"/>
              </a:spcBef>
              <a:spcAft>
                <a:spcPts val="0"/>
              </a:spcAft>
              <a:buSzPts val="2200"/>
              <a:buChar char="●"/>
            </a:pPr>
            <a:r>
              <a:rPr lang="en-IN" sz="2200"/>
              <a:t>Shrinks the dataset feature count while preserving its overall structure and generality (mitigating the "curse of dimensionality"). </a:t>
            </a:r>
            <a:endParaRPr sz="2200"/>
          </a:p>
          <a:p>
            <a:pPr indent="-368300" lvl="0" marL="457200" rtl="0" algn="just">
              <a:lnSpc>
                <a:spcPct val="115000"/>
              </a:lnSpc>
              <a:spcBef>
                <a:spcPts val="0"/>
              </a:spcBef>
              <a:spcAft>
                <a:spcPts val="0"/>
              </a:spcAft>
              <a:buSzPts val="2200"/>
              <a:buChar char="●"/>
            </a:pPr>
            <a:r>
              <a:rPr lang="en-IN" sz="2200"/>
              <a:t>Reducing input dimensions significantly lowers training time, memory consumption, and algorithmic complexity. </a:t>
            </a:r>
            <a:endParaRPr sz="2200"/>
          </a:p>
          <a:p>
            <a:pPr indent="-368300" lvl="0" marL="457200" rtl="0" algn="just">
              <a:lnSpc>
                <a:spcPct val="115000"/>
              </a:lnSpc>
              <a:spcBef>
                <a:spcPts val="0"/>
              </a:spcBef>
              <a:spcAft>
                <a:spcPts val="0"/>
              </a:spcAft>
              <a:buSzPts val="2200"/>
              <a:buChar char="●"/>
            </a:pPr>
            <a:r>
              <a:rPr lang="en-IN" sz="2200"/>
              <a:t>Noise removal before feeding data into predictive models. </a:t>
            </a:r>
            <a:endParaRPr sz="2200"/>
          </a:p>
          <a:p>
            <a:pPr indent="-368300" lvl="0" marL="457200" rtl="0" algn="just">
              <a:lnSpc>
                <a:spcPct val="115000"/>
              </a:lnSpc>
              <a:spcBef>
                <a:spcPts val="0"/>
              </a:spcBef>
              <a:spcAft>
                <a:spcPts val="0"/>
              </a:spcAft>
              <a:buSzPts val="2200"/>
              <a:buChar char="●"/>
            </a:pPr>
            <a:r>
              <a:rPr lang="en-IN" sz="2200"/>
              <a:t>Common Techniques includes Principal Component Analysis (PCA), Linear Discriminant Analysis (LDA).</a:t>
            </a:r>
            <a:endParaRPr sz="22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pic>
        <p:nvPicPr>
          <p:cNvPr id="276" name="Google Shape;276;g3fbbad65c78_0_13"/>
          <p:cNvPicPr preferRelativeResize="0"/>
          <p:nvPr/>
        </p:nvPicPr>
        <p:blipFill rotWithShape="1">
          <a:blip r:embed="rId3">
            <a:alphaModFix/>
          </a:blip>
          <a:srcRect b="0" l="0" r="0" t="0"/>
          <a:stretch/>
        </p:blipFill>
        <p:spPr>
          <a:xfrm>
            <a:off x="71450" y="1387475"/>
            <a:ext cx="11983624" cy="39167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40a21088704_0_0"/>
          <p:cNvSpPr txBox="1"/>
          <p:nvPr/>
        </p:nvSpPr>
        <p:spPr>
          <a:xfrm>
            <a:off x="620800" y="2019850"/>
            <a:ext cx="3078000" cy="925500"/>
          </a:xfrm>
          <a:prstGeom prst="rect">
            <a:avLst/>
          </a:prstGeom>
          <a:noFill/>
          <a:ln>
            <a:noFill/>
          </a:ln>
        </p:spPr>
        <p:txBody>
          <a:bodyPr anchorCtr="0" anchor="b" bIns="45700" lIns="91425" spcFirstLastPara="1" rIns="91425" wrap="square" tIns="45700">
            <a:normAutofit fontScale="70000" lnSpcReduction="20000"/>
          </a:bodyPr>
          <a:lstStyle/>
          <a:p>
            <a:pPr indent="0" lvl="0" marL="0" rtl="0" algn="ctr">
              <a:spcBef>
                <a:spcPts val="0"/>
              </a:spcBef>
              <a:spcAft>
                <a:spcPts val="0"/>
              </a:spcAft>
              <a:buNone/>
            </a:pPr>
            <a:r>
              <a:rPr b="1" lang="en-IN" sz="3000" cap="small">
                <a:solidFill>
                  <a:srgbClr val="0000FF"/>
                </a:solidFill>
                <a:latin typeface="Century Schoolbook"/>
                <a:ea typeface="Century Schoolbook"/>
                <a:cs typeface="Century Schoolbook"/>
                <a:sym typeface="Century Schoolbook"/>
              </a:rPr>
              <a:t>measuring machine learning models </a:t>
            </a:r>
            <a:endParaRPr b="1" sz="3000" cap="small">
              <a:solidFill>
                <a:srgbClr val="0000FF"/>
              </a:solidFill>
              <a:latin typeface="Century Schoolbook"/>
              <a:ea typeface="Century Schoolbook"/>
              <a:cs typeface="Century Schoolbook"/>
              <a:sym typeface="Century Schoolbook"/>
            </a:endParaRPr>
          </a:p>
          <a:p>
            <a:pPr indent="0" lvl="0" marL="0" rtl="0" algn="ctr">
              <a:spcBef>
                <a:spcPts val="0"/>
              </a:spcBef>
              <a:spcAft>
                <a:spcPts val="0"/>
              </a:spcAft>
              <a:buNone/>
            </a:pPr>
            <a:r>
              <a:rPr b="1" lang="en-IN" sz="2233" cap="small">
                <a:solidFill>
                  <a:srgbClr val="FF00FF"/>
                </a:solidFill>
                <a:latin typeface="Century Schoolbook"/>
                <a:ea typeface="Century Schoolbook"/>
                <a:cs typeface="Century Schoolbook"/>
                <a:sym typeface="Century Schoolbook"/>
              </a:rPr>
              <a:t>SUPERVISED </a:t>
            </a:r>
            <a:r>
              <a:rPr b="1" lang="en-IN" sz="2788" cap="small">
                <a:solidFill>
                  <a:srgbClr val="FF00FF"/>
                </a:solidFill>
                <a:latin typeface="Century Schoolbook"/>
                <a:ea typeface="Century Schoolbook"/>
                <a:cs typeface="Century Schoolbook"/>
                <a:sym typeface="Century Schoolbook"/>
              </a:rPr>
              <a:t>L</a:t>
            </a:r>
            <a:r>
              <a:rPr b="1" lang="en-IN" sz="3677" cap="small">
                <a:solidFill>
                  <a:srgbClr val="FF00FF"/>
                </a:solidFill>
                <a:latin typeface="Century Schoolbook"/>
                <a:ea typeface="Century Schoolbook"/>
                <a:cs typeface="Century Schoolbook"/>
                <a:sym typeface="Century Schoolbook"/>
              </a:rPr>
              <a:t>earning</a:t>
            </a:r>
            <a:endParaRPr b="1" sz="3677" cap="small">
              <a:solidFill>
                <a:srgbClr val="FF00FF"/>
              </a:solidFill>
              <a:latin typeface="Century Schoolbook"/>
              <a:ea typeface="Century Schoolbook"/>
              <a:cs typeface="Century Schoolbook"/>
              <a:sym typeface="Century Schoolbook"/>
            </a:endParaRPr>
          </a:p>
        </p:txBody>
      </p:sp>
      <p:sp>
        <p:nvSpPr>
          <p:cNvPr id="282" name="Google Shape;282;g40a21088704_0_0"/>
          <p:cNvSpPr txBox="1"/>
          <p:nvPr/>
        </p:nvSpPr>
        <p:spPr>
          <a:xfrm>
            <a:off x="529875" y="3719250"/>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100">
                <a:solidFill>
                  <a:srgbClr val="0000FF"/>
                </a:solidFill>
              </a:rPr>
              <a:t>Classification Metrics </a:t>
            </a:r>
            <a:endParaRPr b="1" sz="2100">
              <a:solidFill>
                <a:srgbClr val="0000FF"/>
              </a:solidFill>
            </a:endParaRPr>
          </a:p>
        </p:txBody>
      </p:sp>
      <p:graphicFrame>
        <p:nvGraphicFramePr>
          <p:cNvPr id="283" name="Google Shape;283;g40a21088704_0_0"/>
          <p:cNvGraphicFramePr/>
          <p:nvPr/>
        </p:nvGraphicFramePr>
        <p:xfrm>
          <a:off x="4474150" y="283950"/>
          <a:ext cx="3000000" cy="3000000"/>
        </p:xfrm>
        <a:graphic>
          <a:graphicData uri="http://schemas.openxmlformats.org/drawingml/2006/table">
            <a:tbl>
              <a:tblPr>
                <a:noFill/>
                <a:tableStyleId>{955FF24C-9B2D-4C22-A1ED-B70111472CD0}</a:tableStyleId>
              </a:tblPr>
              <a:tblGrid>
                <a:gridCol w="1359800"/>
                <a:gridCol w="1593550"/>
                <a:gridCol w="3941325"/>
                <a:gridCol w="924250"/>
              </a:tblGrid>
              <a:tr h="100000">
                <a:tc>
                  <a:txBody>
                    <a:bodyPr/>
                    <a:lstStyle/>
                    <a:p>
                      <a:pPr indent="0" lvl="0" marL="0" rtl="0" algn="ctr">
                        <a:lnSpc>
                          <a:spcPct val="115000"/>
                        </a:lnSpc>
                        <a:spcBef>
                          <a:spcPts val="0"/>
                        </a:spcBef>
                        <a:spcAft>
                          <a:spcPts val="0"/>
                        </a:spcAft>
                        <a:buNone/>
                      </a:pPr>
                      <a:r>
                        <a:rPr b="1" lang="en-IN" sz="1600"/>
                        <a:t>Metric</a:t>
                      </a:r>
                      <a:endParaRPr b="1" sz="1600"/>
                    </a:p>
                  </a:txBody>
                  <a:tcPr marT="91425" marB="91425" marR="91425" marL="91425"/>
                </a:tc>
                <a:tc>
                  <a:txBody>
                    <a:bodyPr/>
                    <a:lstStyle/>
                    <a:p>
                      <a:pPr indent="0" lvl="0" marL="0" rtl="0" algn="ctr">
                        <a:lnSpc>
                          <a:spcPct val="115000"/>
                        </a:lnSpc>
                        <a:spcBef>
                          <a:spcPts val="0"/>
                        </a:spcBef>
                        <a:spcAft>
                          <a:spcPts val="0"/>
                        </a:spcAft>
                        <a:buNone/>
                      </a:pPr>
                      <a:r>
                        <a:rPr b="1" lang="en-IN" sz="1600"/>
                        <a:t>Formula</a:t>
                      </a:r>
                      <a:endParaRPr b="1" sz="1600"/>
                    </a:p>
                  </a:txBody>
                  <a:tcPr marT="91425" marB="91425" marR="91425" marL="91425"/>
                </a:tc>
                <a:tc>
                  <a:txBody>
                    <a:bodyPr/>
                    <a:lstStyle/>
                    <a:p>
                      <a:pPr indent="0" lvl="0" marL="0" rtl="0" algn="ctr">
                        <a:lnSpc>
                          <a:spcPct val="115000"/>
                        </a:lnSpc>
                        <a:spcBef>
                          <a:spcPts val="0"/>
                        </a:spcBef>
                        <a:spcAft>
                          <a:spcPts val="0"/>
                        </a:spcAft>
                        <a:buNone/>
                      </a:pPr>
                      <a:r>
                        <a:rPr b="1" lang="en-IN" sz="1600"/>
                        <a:t>Meaning</a:t>
                      </a:r>
                      <a:endParaRPr b="1" sz="1600"/>
                    </a:p>
                  </a:txBody>
                  <a:tcPr marT="91425" marB="91425" marR="91425" marL="91425"/>
                </a:tc>
                <a:tc>
                  <a:txBody>
                    <a:bodyPr/>
                    <a:lstStyle/>
                    <a:p>
                      <a:pPr indent="0" lvl="0" marL="0" rtl="0" algn="ctr">
                        <a:lnSpc>
                          <a:spcPct val="115000"/>
                        </a:lnSpc>
                        <a:spcBef>
                          <a:spcPts val="0"/>
                        </a:spcBef>
                        <a:spcAft>
                          <a:spcPts val="0"/>
                        </a:spcAft>
                        <a:buNone/>
                      </a:pPr>
                      <a:r>
                        <a:rPr b="1" lang="en-IN" sz="1600"/>
                        <a:t>Better Value</a:t>
                      </a:r>
                      <a:endParaRPr b="1" sz="1600"/>
                    </a:p>
                  </a:txBody>
                  <a:tcPr marT="91425" marB="91425" marR="91425" marL="91425"/>
                </a:tc>
              </a:tr>
              <a:tr h="257175">
                <a:tc>
                  <a:txBody>
                    <a:bodyPr/>
                    <a:lstStyle/>
                    <a:p>
                      <a:pPr indent="0" lvl="0" marL="0" rtl="0" algn="l">
                        <a:spcBef>
                          <a:spcPts val="0"/>
                        </a:spcBef>
                        <a:spcAft>
                          <a:spcPts val="0"/>
                        </a:spcAft>
                        <a:buNone/>
                      </a:pPr>
                      <a:r>
                        <a:rPr b="1" lang="en-IN" sz="1600"/>
                        <a:t>Accuracy</a:t>
                      </a:r>
                      <a:endParaRPr b="1" sz="1600"/>
                    </a:p>
                  </a:txBody>
                  <a:tcPr marT="91425" marB="91425" marR="91425" marL="91425"/>
                </a:tc>
                <a:tc>
                  <a:txBody>
                    <a:bodyPr/>
                    <a:lstStyle/>
                    <a:p>
                      <a:pPr indent="0" lvl="0" marL="0" rtl="0" algn="l">
                        <a:spcBef>
                          <a:spcPts val="0"/>
                        </a:spcBef>
                        <a:spcAft>
                          <a:spcPts val="0"/>
                        </a:spcAft>
                        <a:buNone/>
                      </a:pPr>
                      <a:r>
                        <a:rPr lang="en-IN" sz="1600"/>
                        <a:t>TP+TNTP+TN+FP+FN\frac{TP+TN}{TP+TN+FP+FN}</a:t>
                      </a:r>
                      <a:endParaRPr sz="1600"/>
                    </a:p>
                  </a:txBody>
                  <a:tcPr marT="91425" marB="91425" marR="91425" marL="91425"/>
                </a:tc>
                <a:tc>
                  <a:txBody>
                    <a:bodyPr/>
                    <a:lstStyle/>
                    <a:p>
                      <a:pPr indent="0" lvl="0" marL="0" rtl="0" algn="l">
                        <a:spcBef>
                          <a:spcPts val="0"/>
                        </a:spcBef>
                        <a:spcAft>
                          <a:spcPts val="0"/>
                        </a:spcAft>
                        <a:buNone/>
                      </a:pPr>
                      <a:r>
                        <a:rPr lang="en-IN" sz="1600"/>
                        <a:t>Percentage of correctly classified samples</a:t>
                      </a:r>
                      <a:endParaRPr sz="1600"/>
                    </a:p>
                  </a:txBody>
                  <a:tcPr marT="91425" marB="91425" marR="91425" marL="91425"/>
                </a:tc>
                <a:tc>
                  <a:txBody>
                    <a:bodyPr/>
                    <a:lstStyle/>
                    <a:p>
                      <a:pPr indent="0" lvl="0" marL="0" rtl="0" algn="l">
                        <a:spcBef>
                          <a:spcPts val="0"/>
                        </a:spcBef>
                        <a:spcAft>
                          <a:spcPts val="0"/>
                        </a:spcAft>
                        <a:buNone/>
                      </a:pPr>
                      <a:r>
                        <a:rPr lang="en-IN" sz="1600"/>
                        <a:t>Higher</a:t>
                      </a:r>
                      <a:endParaRPr sz="1600"/>
                    </a:p>
                  </a:txBody>
                  <a:tcPr marT="91425" marB="91425" marR="91425" marL="91425"/>
                </a:tc>
              </a:tr>
              <a:tr h="257175">
                <a:tc>
                  <a:txBody>
                    <a:bodyPr/>
                    <a:lstStyle/>
                    <a:p>
                      <a:pPr indent="0" lvl="0" marL="0" rtl="0" algn="l">
                        <a:spcBef>
                          <a:spcPts val="0"/>
                        </a:spcBef>
                        <a:spcAft>
                          <a:spcPts val="0"/>
                        </a:spcAft>
                        <a:buNone/>
                      </a:pPr>
                      <a:r>
                        <a:rPr b="1" lang="en-IN" sz="1600"/>
                        <a:t>Precision</a:t>
                      </a:r>
                      <a:endParaRPr b="1" sz="1600"/>
                    </a:p>
                  </a:txBody>
                  <a:tcPr marT="91425" marB="91425" marR="91425" marL="91425"/>
                </a:tc>
                <a:tc>
                  <a:txBody>
                    <a:bodyPr/>
                    <a:lstStyle/>
                    <a:p>
                      <a:pPr indent="0" lvl="0" marL="0" rtl="0" algn="l">
                        <a:spcBef>
                          <a:spcPts val="0"/>
                        </a:spcBef>
                        <a:spcAft>
                          <a:spcPts val="0"/>
                        </a:spcAft>
                        <a:buNone/>
                      </a:pPr>
                      <a:r>
                        <a:rPr lang="en-IN" sz="1600"/>
                        <a:t>TPTP+FP\frac{TP}{TP+FP}</a:t>
                      </a:r>
                      <a:endParaRPr sz="1600"/>
                    </a:p>
                  </a:txBody>
                  <a:tcPr marT="91425" marB="91425" marR="91425" marL="91425"/>
                </a:tc>
                <a:tc>
                  <a:txBody>
                    <a:bodyPr/>
                    <a:lstStyle/>
                    <a:p>
                      <a:pPr indent="0" lvl="0" marL="0" rtl="0" algn="l">
                        <a:spcBef>
                          <a:spcPts val="0"/>
                        </a:spcBef>
                        <a:spcAft>
                          <a:spcPts val="0"/>
                        </a:spcAft>
                        <a:buNone/>
                      </a:pPr>
                      <a:r>
                        <a:rPr lang="en-IN" sz="1600"/>
                        <a:t>Of all predicted positives, how many are actually positive</a:t>
                      </a:r>
                      <a:endParaRPr sz="1600"/>
                    </a:p>
                  </a:txBody>
                  <a:tcPr marT="91425" marB="91425" marR="91425" marL="91425"/>
                </a:tc>
                <a:tc>
                  <a:txBody>
                    <a:bodyPr/>
                    <a:lstStyle/>
                    <a:p>
                      <a:pPr indent="0" lvl="0" marL="0" rtl="0" algn="l">
                        <a:spcBef>
                          <a:spcPts val="0"/>
                        </a:spcBef>
                        <a:spcAft>
                          <a:spcPts val="0"/>
                        </a:spcAft>
                        <a:buNone/>
                      </a:pPr>
                      <a:r>
                        <a:rPr lang="en-IN" sz="1600"/>
                        <a:t>Higher</a:t>
                      </a:r>
                      <a:endParaRPr sz="1600"/>
                    </a:p>
                  </a:txBody>
                  <a:tcPr marT="91425" marB="91425" marR="91425" marL="91425"/>
                </a:tc>
              </a:tr>
              <a:tr h="257175">
                <a:tc>
                  <a:txBody>
                    <a:bodyPr/>
                    <a:lstStyle/>
                    <a:p>
                      <a:pPr indent="0" lvl="0" marL="0" rtl="0" algn="l">
                        <a:spcBef>
                          <a:spcPts val="0"/>
                        </a:spcBef>
                        <a:spcAft>
                          <a:spcPts val="0"/>
                        </a:spcAft>
                        <a:buNone/>
                      </a:pPr>
                      <a:r>
                        <a:rPr b="1" lang="en-IN" sz="1600"/>
                        <a:t>Recall / Sensitivity</a:t>
                      </a:r>
                      <a:endParaRPr b="1" sz="1600"/>
                    </a:p>
                  </a:txBody>
                  <a:tcPr marT="91425" marB="91425" marR="91425" marL="91425"/>
                </a:tc>
                <a:tc>
                  <a:txBody>
                    <a:bodyPr/>
                    <a:lstStyle/>
                    <a:p>
                      <a:pPr indent="0" lvl="0" marL="0" rtl="0" algn="l">
                        <a:spcBef>
                          <a:spcPts val="0"/>
                        </a:spcBef>
                        <a:spcAft>
                          <a:spcPts val="0"/>
                        </a:spcAft>
                        <a:buNone/>
                      </a:pPr>
                      <a:r>
                        <a:rPr lang="en-IN" sz="1600"/>
                        <a:t>TPTP+FN\frac{TP}{TP+FN}</a:t>
                      </a:r>
                      <a:endParaRPr sz="1600"/>
                    </a:p>
                  </a:txBody>
                  <a:tcPr marT="91425" marB="91425" marR="91425" marL="91425"/>
                </a:tc>
                <a:tc>
                  <a:txBody>
                    <a:bodyPr/>
                    <a:lstStyle/>
                    <a:p>
                      <a:pPr indent="0" lvl="0" marL="0" rtl="0" algn="l">
                        <a:spcBef>
                          <a:spcPts val="0"/>
                        </a:spcBef>
                        <a:spcAft>
                          <a:spcPts val="0"/>
                        </a:spcAft>
                        <a:buNone/>
                      </a:pPr>
                      <a:r>
                        <a:rPr lang="en-IN" sz="1600"/>
                        <a:t>Of all actual positives, how many are correctly detected</a:t>
                      </a:r>
                      <a:endParaRPr sz="1600"/>
                    </a:p>
                  </a:txBody>
                  <a:tcPr marT="91425" marB="91425" marR="91425" marL="91425"/>
                </a:tc>
                <a:tc>
                  <a:txBody>
                    <a:bodyPr/>
                    <a:lstStyle/>
                    <a:p>
                      <a:pPr indent="0" lvl="0" marL="0" rtl="0" algn="l">
                        <a:spcBef>
                          <a:spcPts val="0"/>
                        </a:spcBef>
                        <a:spcAft>
                          <a:spcPts val="0"/>
                        </a:spcAft>
                        <a:buNone/>
                      </a:pPr>
                      <a:r>
                        <a:rPr lang="en-IN" sz="1600"/>
                        <a:t>Higher</a:t>
                      </a:r>
                      <a:endParaRPr sz="1600"/>
                    </a:p>
                  </a:txBody>
                  <a:tcPr marT="91425" marB="91425" marR="91425" marL="91425"/>
                </a:tc>
              </a:tr>
              <a:tr h="257175">
                <a:tc>
                  <a:txBody>
                    <a:bodyPr/>
                    <a:lstStyle/>
                    <a:p>
                      <a:pPr indent="0" lvl="0" marL="0" rtl="0" algn="l">
                        <a:spcBef>
                          <a:spcPts val="0"/>
                        </a:spcBef>
                        <a:spcAft>
                          <a:spcPts val="0"/>
                        </a:spcAft>
                        <a:buNone/>
                      </a:pPr>
                      <a:r>
                        <a:rPr b="1" lang="en-IN" sz="1600"/>
                        <a:t>Specificity</a:t>
                      </a:r>
                      <a:endParaRPr b="1" sz="1600"/>
                    </a:p>
                  </a:txBody>
                  <a:tcPr marT="91425" marB="91425" marR="91425" marL="91425"/>
                </a:tc>
                <a:tc>
                  <a:txBody>
                    <a:bodyPr/>
                    <a:lstStyle/>
                    <a:p>
                      <a:pPr indent="0" lvl="0" marL="0" rtl="0" algn="l">
                        <a:spcBef>
                          <a:spcPts val="0"/>
                        </a:spcBef>
                        <a:spcAft>
                          <a:spcPts val="0"/>
                        </a:spcAft>
                        <a:buNone/>
                      </a:pPr>
                      <a:r>
                        <a:rPr lang="en-IN" sz="1600"/>
                        <a:t>TNTN+FP\frac{TN}{TN+FP}</a:t>
                      </a:r>
                      <a:endParaRPr sz="1600"/>
                    </a:p>
                  </a:txBody>
                  <a:tcPr marT="91425" marB="91425" marR="91425" marL="91425"/>
                </a:tc>
                <a:tc>
                  <a:txBody>
                    <a:bodyPr/>
                    <a:lstStyle/>
                    <a:p>
                      <a:pPr indent="0" lvl="0" marL="0" rtl="0" algn="l">
                        <a:spcBef>
                          <a:spcPts val="0"/>
                        </a:spcBef>
                        <a:spcAft>
                          <a:spcPts val="0"/>
                        </a:spcAft>
                        <a:buNone/>
                      </a:pPr>
                      <a:r>
                        <a:rPr lang="en-IN" sz="1600"/>
                        <a:t>Of all actual negatives, how many are correctly identified</a:t>
                      </a:r>
                      <a:endParaRPr sz="1600"/>
                    </a:p>
                  </a:txBody>
                  <a:tcPr marT="91425" marB="91425" marR="91425" marL="91425"/>
                </a:tc>
                <a:tc>
                  <a:txBody>
                    <a:bodyPr/>
                    <a:lstStyle/>
                    <a:p>
                      <a:pPr indent="0" lvl="0" marL="0" rtl="0" algn="l">
                        <a:spcBef>
                          <a:spcPts val="0"/>
                        </a:spcBef>
                        <a:spcAft>
                          <a:spcPts val="0"/>
                        </a:spcAft>
                        <a:buNone/>
                      </a:pPr>
                      <a:r>
                        <a:rPr lang="en-IN" sz="1600"/>
                        <a:t>Higher</a:t>
                      </a:r>
                      <a:endParaRPr sz="1600"/>
                    </a:p>
                  </a:txBody>
                  <a:tcPr marT="91425" marB="91425" marR="91425" marL="91425"/>
                </a:tc>
              </a:tr>
              <a:tr h="257175">
                <a:tc>
                  <a:txBody>
                    <a:bodyPr/>
                    <a:lstStyle/>
                    <a:p>
                      <a:pPr indent="0" lvl="0" marL="0" rtl="0" algn="l">
                        <a:spcBef>
                          <a:spcPts val="0"/>
                        </a:spcBef>
                        <a:spcAft>
                          <a:spcPts val="0"/>
                        </a:spcAft>
                        <a:buNone/>
                      </a:pPr>
                      <a:r>
                        <a:rPr b="1" lang="en-IN" sz="1600"/>
                        <a:t>F1-score</a:t>
                      </a:r>
                      <a:endParaRPr b="1" sz="1600"/>
                    </a:p>
                  </a:txBody>
                  <a:tcPr marT="91425" marB="91425" marR="91425" marL="91425"/>
                </a:tc>
                <a:tc>
                  <a:txBody>
                    <a:bodyPr/>
                    <a:lstStyle/>
                    <a:p>
                      <a:pPr indent="0" lvl="0" marL="0" rtl="0" algn="l">
                        <a:spcBef>
                          <a:spcPts val="0"/>
                        </a:spcBef>
                        <a:spcAft>
                          <a:spcPts val="0"/>
                        </a:spcAft>
                        <a:buNone/>
                      </a:pPr>
                      <a:r>
                        <a:rPr lang="en-IN" sz="1600"/>
                        <a:t>2Precision×RecallPrecision+Recall2\frac{Precision\times Recall}{Precision+Recall}</a:t>
                      </a:r>
                      <a:endParaRPr sz="1600"/>
                    </a:p>
                  </a:txBody>
                  <a:tcPr marT="91425" marB="91425" marR="91425" marL="91425"/>
                </a:tc>
                <a:tc>
                  <a:txBody>
                    <a:bodyPr/>
                    <a:lstStyle/>
                    <a:p>
                      <a:pPr indent="0" lvl="0" marL="0" rtl="0" algn="l">
                        <a:spcBef>
                          <a:spcPts val="0"/>
                        </a:spcBef>
                        <a:spcAft>
                          <a:spcPts val="0"/>
                        </a:spcAft>
                        <a:buNone/>
                      </a:pPr>
                      <a:r>
                        <a:rPr lang="en-IN" sz="1600"/>
                        <a:t>Balance between Precision and Recall</a:t>
                      </a:r>
                      <a:endParaRPr sz="1600"/>
                    </a:p>
                  </a:txBody>
                  <a:tcPr marT="91425" marB="91425" marR="91425" marL="91425"/>
                </a:tc>
                <a:tc>
                  <a:txBody>
                    <a:bodyPr/>
                    <a:lstStyle/>
                    <a:p>
                      <a:pPr indent="0" lvl="0" marL="0" rtl="0" algn="l">
                        <a:spcBef>
                          <a:spcPts val="0"/>
                        </a:spcBef>
                        <a:spcAft>
                          <a:spcPts val="0"/>
                        </a:spcAft>
                        <a:buNone/>
                      </a:pPr>
                      <a:r>
                        <a:rPr lang="en-IN" sz="1600"/>
                        <a:t>Higher</a:t>
                      </a:r>
                      <a:endParaRPr sz="1600"/>
                    </a:p>
                  </a:txBody>
                  <a:tcPr marT="91425" marB="91425" marR="91425" marL="91425"/>
                </a:tc>
              </a:tr>
              <a:tr h="190500">
                <a:tc>
                  <a:txBody>
                    <a:bodyPr/>
                    <a:lstStyle/>
                    <a:p>
                      <a:pPr indent="0" lvl="0" marL="0" rtl="0" algn="l">
                        <a:spcBef>
                          <a:spcPts val="0"/>
                        </a:spcBef>
                        <a:spcAft>
                          <a:spcPts val="0"/>
                        </a:spcAft>
                        <a:buNone/>
                      </a:pPr>
                      <a:r>
                        <a:rPr b="1" lang="en-IN" sz="1600"/>
                        <a:t>ROC-AUC</a:t>
                      </a:r>
                      <a:endParaRPr b="1" sz="1600"/>
                    </a:p>
                  </a:txBody>
                  <a:tcPr marT="91425" marB="91425" marR="91425" marL="91425"/>
                </a:tc>
                <a:tc>
                  <a:txBody>
                    <a:bodyPr/>
                    <a:lstStyle/>
                    <a:p>
                      <a:pPr indent="0" lvl="0" marL="0" rtl="0" algn="l">
                        <a:spcBef>
                          <a:spcPts val="0"/>
                        </a:spcBef>
                        <a:spcAft>
                          <a:spcPts val="0"/>
                        </a:spcAft>
                        <a:buNone/>
                      </a:pPr>
                      <a:r>
                        <a:rPr lang="en-IN" sz="1600"/>
                        <a:t>Area under ROC curve</a:t>
                      </a:r>
                      <a:endParaRPr sz="1600"/>
                    </a:p>
                  </a:txBody>
                  <a:tcPr marT="91425" marB="91425" marR="91425" marL="91425"/>
                </a:tc>
                <a:tc>
                  <a:txBody>
                    <a:bodyPr/>
                    <a:lstStyle/>
                    <a:p>
                      <a:pPr indent="0" lvl="0" marL="0" rtl="0" algn="l">
                        <a:spcBef>
                          <a:spcPts val="0"/>
                        </a:spcBef>
                        <a:spcAft>
                          <a:spcPts val="0"/>
                        </a:spcAft>
                        <a:buNone/>
                      </a:pPr>
                      <a:r>
                        <a:rPr lang="en-IN" sz="1600"/>
                        <a:t>Ability to distinguish between classes across thresholds</a:t>
                      </a:r>
                      <a:endParaRPr sz="1600"/>
                    </a:p>
                  </a:txBody>
                  <a:tcPr marT="91425" marB="91425" marR="91425" marL="91425"/>
                </a:tc>
                <a:tc>
                  <a:txBody>
                    <a:bodyPr/>
                    <a:lstStyle/>
                    <a:p>
                      <a:pPr indent="0" lvl="0" marL="0" rtl="0" algn="l">
                        <a:spcBef>
                          <a:spcPts val="0"/>
                        </a:spcBef>
                        <a:spcAft>
                          <a:spcPts val="0"/>
                        </a:spcAft>
                        <a:buNone/>
                      </a:pPr>
                      <a:r>
                        <a:rPr lang="en-IN" sz="1600"/>
                        <a:t>Higher</a:t>
                      </a:r>
                      <a:endParaRPr sz="1600"/>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h11367c7104fabfa0_0_0"/>
          <p:cNvSpPr txBox="1"/>
          <p:nvPr>
            <p:ph type="title"/>
          </p:nvPr>
        </p:nvSpPr>
        <p:spPr>
          <a:xfrm>
            <a:off x="609600" y="274643"/>
            <a:ext cx="9956700" cy="5061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SzPct val="45455"/>
              <a:buNone/>
            </a:pPr>
            <a:r>
              <a:rPr b="1" lang="en-IN">
                <a:solidFill>
                  <a:schemeClr val="accent3"/>
                </a:solidFill>
              </a:rPr>
              <a:t>W</a:t>
            </a:r>
            <a:r>
              <a:rPr b="1" lang="en-IN">
                <a:solidFill>
                  <a:schemeClr val="accent3"/>
                </a:solidFill>
              </a:rPr>
              <a:t>hat is Confusion matrix?</a:t>
            </a:r>
            <a:endParaRPr b="1">
              <a:solidFill>
                <a:schemeClr val="accent3"/>
              </a:solidFill>
            </a:endParaRPr>
          </a:p>
        </p:txBody>
      </p:sp>
      <p:pic>
        <p:nvPicPr>
          <p:cNvPr id="289" name="Google Shape;289;h11367c7104fabfa0_0_0"/>
          <p:cNvPicPr preferRelativeResize="0"/>
          <p:nvPr/>
        </p:nvPicPr>
        <p:blipFill rotWithShape="1">
          <a:blip r:embed="rId3">
            <a:alphaModFix/>
          </a:blip>
          <a:srcRect b="0" l="0" r="0" t="0"/>
          <a:stretch/>
        </p:blipFill>
        <p:spPr>
          <a:xfrm>
            <a:off x="3060700" y="2271713"/>
            <a:ext cx="4552950" cy="2314575"/>
          </a:xfrm>
          <a:prstGeom prst="rect">
            <a:avLst/>
          </a:prstGeom>
          <a:noFill/>
          <a:ln>
            <a:noFill/>
          </a:ln>
        </p:spPr>
      </p:pic>
      <p:pic>
        <p:nvPicPr>
          <p:cNvPr id="290" name="Google Shape;290;h11367c7104fabfa0_0_0"/>
          <p:cNvPicPr preferRelativeResize="0"/>
          <p:nvPr/>
        </p:nvPicPr>
        <p:blipFill rotWithShape="1">
          <a:blip r:embed="rId4">
            <a:alphaModFix/>
          </a:blip>
          <a:srcRect b="0" l="0" r="0" t="0"/>
          <a:stretch/>
        </p:blipFill>
        <p:spPr>
          <a:xfrm>
            <a:off x="609600" y="933150"/>
            <a:ext cx="10942866" cy="8732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h11367c7104fabfa0_0_6"/>
          <p:cNvSpPr txBox="1"/>
          <p:nvPr>
            <p:ph type="title"/>
          </p:nvPr>
        </p:nvSpPr>
        <p:spPr>
          <a:xfrm>
            <a:off x="1040933" y="274650"/>
            <a:ext cx="9246000" cy="9348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100000"/>
              </a:lnSpc>
              <a:spcBef>
                <a:spcPts val="0"/>
              </a:spcBef>
              <a:spcAft>
                <a:spcPts val="0"/>
              </a:spcAft>
              <a:buSzPct val="45455"/>
              <a:buNone/>
            </a:pPr>
            <a:r>
              <a:rPr b="1" lang="en-IN">
                <a:solidFill>
                  <a:schemeClr val="accent3"/>
                </a:solidFill>
              </a:rPr>
              <a:t>confusion matrix for binary classification problems</a:t>
            </a:r>
            <a:endParaRPr b="1">
              <a:solidFill>
                <a:schemeClr val="accent3"/>
              </a:solidFill>
            </a:endParaRPr>
          </a:p>
        </p:txBody>
      </p:sp>
      <p:pic>
        <p:nvPicPr>
          <p:cNvPr id="296" name="Google Shape;296;h11367c7104fabfa0_0_6"/>
          <p:cNvPicPr preferRelativeResize="0"/>
          <p:nvPr/>
        </p:nvPicPr>
        <p:blipFill rotWithShape="1">
          <a:blip r:embed="rId3">
            <a:alphaModFix/>
          </a:blip>
          <a:srcRect b="0" l="0" r="0" t="0"/>
          <a:stretch/>
        </p:blipFill>
        <p:spPr>
          <a:xfrm>
            <a:off x="178600" y="1346550"/>
            <a:ext cx="11858625" cy="2868275"/>
          </a:xfrm>
          <a:prstGeom prst="rect">
            <a:avLst/>
          </a:prstGeom>
          <a:noFill/>
          <a:ln>
            <a:noFill/>
          </a:ln>
        </p:spPr>
      </p:pic>
      <p:pic>
        <p:nvPicPr>
          <p:cNvPr id="297" name="Google Shape;297;h11367c7104fabfa0_0_6"/>
          <p:cNvPicPr preferRelativeResize="0"/>
          <p:nvPr/>
        </p:nvPicPr>
        <p:blipFill rotWithShape="1">
          <a:blip r:embed="rId4">
            <a:alphaModFix/>
          </a:blip>
          <a:srcRect b="0" l="0" r="0" t="0"/>
          <a:stretch/>
        </p:blipFill>
        <p:spPr>
          <a:xfrm>
            <a:off x="11912" y="4351925"/>
            <a:ext cx="12192001" cy="18752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h11367c7104fabfa0_0_12"/>
          <p:cNvSpPr txBox="1"/>
          <p:nvPr>
            <p:ph type="title"/>
          </p:nvPr>
        </p:nvSpPr>
        <p:spPr>
          <a:xfrm>
            <a:off x="609600" y="274645"/>
            <a:ext cx="9956700" cy="674400"/>
          </a:xfrm>
          <a:prstGeom prst="rect">
            <a:avLst/>
          </a:prstGeom>
          <a:noFill/>
          <a:ln>
            <a:noFill/>
          </a:ln>
        </p:spPr>
        <p:txBody>
          <a:bodyPr anchorCtr="0" anchor="b" bIns="45700" lIns="91425" spcFirstLastPara="1" rIns="91425" wrap="square" tIns="45700">
            <a:normAutofit fontScale="90000"/>
          </a:bodyPr>
          <a:lstStyle/>
          <a:p>
            <a:pPr indent="0" lvl="0" marL="0" rtl="0" algn="l">
              <a:lnSpc>
                <a:spcPct val="100000"/>
              </a:lnSpc>
              <a:spcBef>
                <a:spcPts val="0"/>
              </a:spcBef>
              <a:spcAft>
                <a:spcPts val="0"/>
              </a:spcAft>
              <a:buSzPct val="40909"/>
              <a:buNone/>
            </a:pPr>
            <a:r>
              <a:rPr lang="en-IN">
                <a:solidFill>
                  <a:schemeClr val="accent3"/>
                </a:solidFill>
              </a:rPr>
              <a:t>Performance measures</a:t>
            </a:r>
            <a:endParaRPr>
              <a:solidFill>
                <a:schemeClr val="accent3"/>
              </a:solidFill>
            </a:endParaRPr>
          </a:p>
        </p:txBody>
      </p:sp>
      <p:sp>
        <p:nvSpPr>
          <p:cNvPr id="303" name="Google Shape;303;h11367c7104fabfa0_0_12"/>
          <p:cNvSpPr txBox="1"/>
          <p:nvPr>
            <p:ph idx="1" type="body"/>
          </p:nvPr>
        </p:nvSpPr>
        <p:spPr>
          <a:xfrm>
            <a:off x="609600" y="1600200"/>
            <a:ext cx="9956700" cy="1599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600"/>
              </a:spcBef>
              <a:spcAft>
                <a:spcPts val="0"/>
              </a:spcAft>
              <a:buSzPts val="1260"/>
              <a:buNone/>
            </a:pPr>
            <a:r>
              <a:t/>
            </a:r>
            <a:endParaRPr/>
          </a:p>
        </p:txBody>
      </p:sp>
      <p:pic>
        <p:nvPicPr>
          <p:cNvPr id="304" name="Google Shape;304;h11367c7104fabfa0_0_12"/>
          <p:cNvPicPr preferRelativeResize="0"/>
          <p:nvPr/>
        </p:nvPicPr>
        <p:blipFill rotWithShape="1">
          <a:blip r:embed="rId3">
            <a:alphaModFix/>
          </a:blip>
          <a:srcRect b="0" l="0" r="0" t="0"/>
          <a:stretch/>
        </p:blipFill>
        <p:spPr>
          <a:xfrm>
            <a:off x="163267" y="1392588"/>
            <a:ext cx="11552467" cy="407282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h11367c7104fabfa0_0_145"/>
          <p:cNvPicPr preferRelativeResize="0"/>
          <p:nvPr/>
        </p:nvPicPr>
        <p:blipFill rotWithShape="1">
          <a:blip r:embed="rId3">
            <a:alphaModFix/>
          </a:blip>
          <a:srcRect b="0" l="0" r="0" t="0"/>
          <a:stretch/>
        </p:blipFill>
        <p:spPr>
          <a:xfrm>
            <a:off x="399300" y="627125"/>
            <a:ext cx="7935068" cy="4924424"/>
          </a:xfrm>
          <a:prstGeom prst="rect">
            <a:avLst/>
          </a:prstGeom>
          <a:noFill/>
          <a:ln>
            <a:noFill/>
          </a:ln>
        </p:spPr>
      </p:pic>
      <p:pic>
        <p:nvPicPr>
          <p:cNvPr id="310" name="Google Shape;310;h11367c7104fabfa0_0_145"/>
          <p:cNvPicPr preferRelativeResize="0"/>
          <p:nvPr/>
        </p:nvPicPr>
        <p:blipFill rotWithShape="1">
          <a:blip r:embed="rId4">
            <a:alphaModFix/>
          </a:blip>
          <a:srcRect b="0" l="0" r="0" t="0"/>
          <a:stretch/>
        </p:blipFill>
        <p:spPr>
          <a:xfrm>
            <a:off x="292484" y="5551550"/>
            <a:ext cx="6505575" cy="1219200"/>
          </a:xfrm>
          <a:prstGeom prst="rect">
            <a:avLst/>
          </a:prstGeom>
          <a:noFill/>
          <a:ln>
            <a:noFill/>
          </a:ln>
        </p:spPr>
      </p:pic>
      <p:sp>
        <p:nvSpPr>
          <p:cNvPr id="311" name="Google Shape;311;h11367c7104fabfa0_0_145"/>
          <p:cNvSpPr txBox="1"/>
          <p:nvPr>
            <p:ph type="title"/>
          </p:nvPr>
        </p:nvSpPr>
        <p:spPr>
          <a:xfrm>
            <a:off x="292500" y="115675"/>
            <a:ext cx="2276700" cy="501900"/>
          </a:xfrm>
          <a:prstGeom prst="rect">
            <a:avLst/>
          </a:prstGeom>
          <a:noFill/>
          <a:ln>
            <a:noFill/>
          </a:ln>
        </p:spPr>
        <p:txBody>
          <a:bodyPr anchorCtr="0" anchor="b" bIns="45700" lIns="91425" spcFirstLastPara="1" rIns="91425" wrap="square" tIns="45700">
            <a:normAutofit/>
          </a:bodyPr>
          <a:lstStyle/>
          <a:p>
            <a:pPr indent="0" lvl="0" marL="0" rtl="0" algn="l">
              <a:lnSpc>
                <a:spcPct val="100000"/>
              </a:lnSpc>
              <a:spcBef>
                <a:spcPts val="0"/>
              </a:spcBef>
              <a:spcAft>
                <a:spcPts val="0"/>
              </a:spcAft>
              <a:buSzPts val="1800"/>
              <a:buNone/>
            </a:pPr>
            <a:r>
              <a:rPr b="1" lang="en-IN" sz="2600"/>
              <a:t>Example</a:t>
            </a:r>
            <a:endParaRPr b="1" sz="2600"/>
          </a:p>
        </p:txBody>
      </p:sp>
      <p:pic>
        <p:nvPicPr>
          <p:cNvPr id="312" name="Google Shape;312;h11367c7104fabfa0_0_145"/>
          <p:cNvPicPr preferRelativeResize="0"/>
          <p:nvPr/>
        </p:nvPicPr>
        <p:blipFill rotWithShape="1">
          <a:blip r:embed="rId5">
            <a:alphaModFix/>
          </a:blip>
          <a:srcRect b="0" l="0" r="0" t="0"/>
          <a:stretch/>
        </p:blipFill>
        <p:spPr>
          <a:xfrm>
            <a:off x="6881800" y="0"/>
            <a:ext cx="4833966" cy="2589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h11367c7104fabfa0_0_152"/>
          <p:cNvSpPr txBox="1"/>
          <p:nvPr>
            <p:ph type="title"/>
          </p:nvPr>
        </p:nvSpPr>
        <p:spPr>
          <a:xfrm>
            <a:off x="0" y="940650"/>
            <a:ext cx="5042400" cy="1489200"/>
          </a:xfrm>
          <a:prstGeom prst="rect">
            <a:avLst/>
          </a:prstGeom>
          <a:noFill/>
          <a:ln>
            <a:noFill/>
          </a:ln>
        </p:spPr>
        <p:txBody>
          <a:bodyPr anchorCtr="0" anchor="b" bIns="45700" lIns="91425" spcFirstLastPara="1" rIns="91425" wrap="square" tIns="45700">
            <a:noAutofit/>
          </a:bodyPr>
          <a:lstStyle/>
          <a:p>
            <a:pPr indent="0" lvl="0" marL="0" rtl="0" algn="ctr">
              <a:lnSpc>
                <a:spcPct val="100000"/>
              </a:lnSpc>
              <a:spcBef>
                <a:spcPts val="0"/>
              </a:spcBef>
              <a:spcAft>
                <a:spcPts val="0"/>
              </a:spcAft>
              <a:buSzPts val="990"/>
              <a:buNone/>
            </a:pPr>
            <a:r>
              <a:rPr b="1" lang="en-IN" sz="3000">
                <a:solidFill>
                  <a:schemeClr val="accent1"/>
                </a:solidFill>
              </a:rPr>
              <a:t>confusion matrix for </a:t>
            </a:r>
            <a:endParaRPr b="1" sz="3000">
              <a:solidFill>
                <a:schemeClr val="accent1"/>
              </a:solidFill>
            </a:endParaRPr>
          </a:p>
          <a:p>
            <a:pPr indent="0" lvl="0" marL="0" rtl="0" algn="ctr">
              <a:lnSpc>
                <a:spcPct val="100000"/>
              </a:lnSpc>
              <a:spcBef>
                <a:spcPts val="0"/>
              </a:spcBef>
              <a:spcAft>
                <a:spcPts val="0"/>
              </a:spcAft>
              <a:buSzPts val="990"/>
              <a:buNone/>
            </a:pPr>
            <a:r>
              <a:rPr b="1" lang="en-IN" sz="3000">
                <a:solidFill>
                  <a:schemeClr val="accent1"/>
                </a:solidFill>
              </a:rPr>
              <a:t>multiclass classification</a:t>
            </a:r>
            <a:endParaRPr b="1" sz="3000">
              <a:solidFill>
                <a:schemeClr val="accent1"/>
              </a:solidFill>
            </a:endParaRPr>
          </a:p>
        </p:txBody>
      </p:sp>
      <p:pic>
        <p:nvPicPr>
          <p:cNvPr id="318" name="Google Shape;318;h11367c7104fabfa0_0_152"/>
          <p:cNvPicPr preferRelativeResize="0"/>
          <p:nvPr/>
        </p:nvPicPr>
        <p:blipFill rotWithShape="1">
          <a:blip r:embed="rId3">
            <a:alphaModFix/>
          </a:blip>
          <a:srcRect b="0" l="0" r="0" t="0"/>
          <a:stretch/>
        </p:blipFill>
        <p:spPr>
          <a:xfrm>
            <a:off x="502151" y="2632500"/>
            <a:ext cx="4242167" cy="2511000"/>
          </a:xfrm>
          <a:prstGeom prst="rect">
            <a:avLst/>
          </a:prstGeom>
          <a:noFill/>
          <a:ln>
            <a:noFill/>
          </a:ln>
        </p:spPr>
      </p:pic>
      <p:pic>
        <p:nvPicPr>
          <p:cNvPr id="319" name="Google Shape;319;h11367c7104fabfa0_0_152"/>
          <p:cNvPicPr preferRelativeResize="0"/>
          <p:nvPr/>
        </p:nvPicPr>
        <p:blipFill rotWithShape="1">
          <a:blip r:embed="rId4">
            <a:alphaModFix/>
          </a:blip>
          <a:srcRect b="0" l="0" r="0" t="0"/>
          <a:stretch/>
        </p:blipFill>
        <p:spPr>
          <a:xfrm>
            <a:off x="5163900" y="78900"/>
            <a:ext cx="4944500" cy="66852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id="324" name="Google Shape;324;h11367c7104fabfa0_0_158"/>
          <p:cNvPicPr preferRelativeResize="0"/>
          <p:nvPr/>
        </p:nvPicPr>
        <p:blipFill rotWithShape="1">
          <a:blip r:embed="rId3">
            <a:alphaModFix/>
          </a:blip>
          <a:srcRect b="0" l="0" r="0" t="0"/>
          <a:stretch/>
        </p:blipFill>
        <p:spPr>
          <a:xfrm>
            <a:off x="1964525" y="176350"/>
            <a:ext cx="8411775" cy="6503049"/>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pic>
        <p:nvPicPr>
          <p:cNvPr id="329" name="Google Shape;329;h11367c7104fabfa0_0_164"/>
          <p:cNvPicPr preferRelativeResize="0"/>
          <p:nvPr/>
        </p:nvPicPr>
        <p:blipFill rotWithShape="1">
          <a:blip r:embed="rId3">
            <a:alphaModFix/>
          </a:blip>
          <a:srcRect b="0" l="0" r="0" t="0"/>
          <a:stretch/>
        </p:blipFill>
        <p:spPr>
          <a:xfrm>
            <a:off x="2643175" y="660800"/>
            <a:ext cx="8036725" cy="57685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pic>
        <p:nvPicPr>
          <p:cNvPr id="334" name="Google Shape;334;h11367c7104fabfa0_0_170"/>
          <p:cNvPicPr preferRelativeResize="0"/>
          <p:nvPr/>
        </p:nvPicPr>
        <p:blipFill rotWithShape="1">
          <a:blip r:embed="rId3">
            <a:alphaModFix/>
          </a:blip>
          <a:srcRect b="0" l="0" r="0" t="0"/>
          <a:stretch/>
        </p:blipFill>
        <p:spPr>
          <a:xfrm>
            <a:off x="1910976" y="532775"/>
            <a:ext cx="7999101" cy="5792452"/>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h11367c7104fabfa0_0_176"/>
          <p:cNvPicPr preferRelativeResize="0"/>
          <p:nvPr/>
        </p:nvPicPr>
        <p:blipFill rotWithShape="1">
          <a:blip r:embed="rId3">
            <a:alphaModFix/>
          </a:blip>
          <a:srcRect b="0" l="0" r="0" t="0"/>
          <a:stretch/>
        </p:blipFill>
        <p:spPr>
          <a:xfrm>
            <a:off x="1910950" y="750100"/>
            <a:ext cx="8251025" cy="542672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h11367c7104fabfa0_0_182"/>
          <p:cNvSpPr txBox="1"/>
          <p:nvPr>
            <p:ph idx="1" type="body"/>
          </p:nvPr>
        </p:nvSpPr>
        <p:spPr>
          <a:xfrm>
            <a:off x="283525" y="4429125"/>
            <a:ext cx="11562300" cy="21489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600"/>
              </a:spcBef>
              <a:spcAft>
                <a:spcPts val="0"/>
              </a:spcAft>
              <a:buSzPts val="770"/>
              <a:buNone/>
            </a:pPr>
            <a:r>
              <a:rPr lang="en-IN" sz="2680">
                <a:latin typeface="Times New Roman"/>
                <a:ea typeface="Times New Roman"/>
                <a:cs typeface="Times New Roman"/>
                <a:sym typeface="Times New Roman"/>
              </a:rPr>
              <a:t>weighed F1= </a:t>
            </a:r>
            <a:endParaRPr sz="2680">
              <a:latin typeface="Times New Roman"/>
              <a:ea typeface="Times New Roman"/>
              <a:cs typeface="Times New Roman"/>
              <a:sym typeface="Times New Roman"/>
            </a:endParaRPr>
          </a:p>
          <a:p>
            <a:pPr indent="0" lvl="0" marL="0" rtl="0" algn="l">
              <a:lnSpc>
                <a:spcPct val="80000"/>
              </a:lnSpc>
              <a:spcBef>
                <a:spcPts val="600"/>
              </a:spcBef>
              <a:spcAft>
                <a:spcPts val="0"/>
              </a:spcAft>
              <a:buSzPts val="770"/>
              <a:buNone/>
            </a:pPr>
            <a:r>
              <a:rPr lang="en-IN" sz="2680">
                <a:latin typeface="Times New Roman"/>
                <a:ea typeface="Times New Roman"/>
                <a:cs typeface="Times New Roman"/>
                <a:sym typeface="Times New Roman"/>
              </a:rPr>
              <a:t>(number of class-1 samples(i.e 10)*F1-score(C-1)+</a:t>
            </a:r>
            <a:endParaRPr sz="2680">
              <a:latin typeface="Times New Roman"/>
              <a:ea typeface="Times New Roman"/>
              <a:cs typeface="Times New Roman"/>
              <a:sym typeface="Times New Roman"/>
            </a:endParaRPr>
          </a:p>
          <a:p>
            <a:pPr indent="0" lvl="0" marL="0" rtl="0" algn="l">
              <a:lnSpc>
                <a:spcPct val="80000"/>
              </a:lnSpc>
              <a:spcBef>
                <a:spcPts val="600"/>
              </a:spcBef>
              <a:spcAft>
                <a:spcPts val="0"/>
              </a:spcAft>
              <a:buSzPts val="770"/>
              <a:buNone/>
            </a:pPr>
            <a:r>
              <a:rPr lang="en-IN" sz="2680">
                <a:latin typeface="Times New Roman"/>
                <a:ea typeface="Times New Roman"/>
                <a:cs typeface="Times New Roman"/>
                <a:sym typeface="Times New Roman"/>
              </a:rPr>
              <a:t>number of class-2 samples(i.e 10)*F1-score(C-2)+</a:t>
            </a:r>
            <a:endParaRPr sz="2680">
              <a:latin typeface="Times New Roman"/>
              <a:ea typeface="Times New Roman"/>
              <a:cs typeface="Times New Roman"/>
              <a:sym typeface="Times New Roman"/>
            </a:endParaRPr>
          </a:p>
          <a:p>
            <a:pPr indent="0" lvl="0" marL="0" rtl="0" algn="l">
              <a:lnSpc>
                <a:spcPct val="80000"/>
              </a:lnSpc>
              <a:spcBef>
                <a:spcPts val="600"/>
              </a:spcBef>
              <a:spcAft>
                <a:spcPts val="0"/>
              </a:spcAft>
              <a:buSzPts val="770"/>
              <a:buNone/>
            </a:pPr>
            <a:r>
              <a:rPr lang="en-IN" sz="2680">
                <a:latin typeface="Times New Roman"/>
                <a:ea typeface="Times New Roman"/>
                <a:cs typeface="Times New Roman"/>
                <a:sym typeface="Times New Roman"/>
              </a:rPr>
              <a:t>number of class-3 samples(i.e 10)*F1-score(C-3)) / total number of samples of all classes(i.e 10+10+10)</a:t>
            </a:r>
            <a:endParaRPr sz="2680">
              <a:latin typeface="Times New Roman"/>
              <a:ea typeface="Times New Roman"/>
              <a:cs typeface="Times New Roman"/>
              <a:sym typeface="Times New Roman"/>
            </a:endParaRPr>
          </a:p>
          <a:p>
            <a:pPr indent="0" lvl="0" marL="0" rtl="0" algn="l">
              <a:lnSpc>
                <a:spcPct val="80000"/>
              </a:lnSpc>
              <a:spcBef>
                <a:spcPts val="600"/>
              </a:spcBef>
              <a:spcAft>
                <a:spcPts val="0"/>
              </a:spcAft>
              <a:buClr>
                <a:schemeClr val="dk1"/>
              </a:buClr>
              <a:buSzPts val="770"/>
              <a:buFont typeface="Arial"/>
              <a:buNone/>
            </a:pPr>
            <a:r>
              <a:t/>
            </a:r>
            <a:endParaRPr sz="2680"/>
          </a:p>
          <a:p>
            <a:pPr indent="0" lvl="0" marL="0" rtl="0" algn="l">
              <a:lnSpc>
                <a:spcPct val="80000"/>
              </a:lnSpc>
              <a:spcBef>
                <a:spcPts val="600"/>
              </a:spcBef>
              <a:spcAft>
                <a:spcPts val="0"/>
              </a:spcAft>
              <a:buSzPts val="770"/>
              <a:buNone/>
            </a:pPr>
            <a:r>
              <a:t/>
            </a:r>
            <a:endParaRPr sz="1679"/>
          </a:p>
        </p:txBody>
      </p:sp>
      <p:pic>
        <p:nvPicPr>
          <p:cNvPr id="345" name="Google Shape;345;h11367c7104fabfa0_0_182"/>
          <p:cNvPicPr preferRelativeResize="0"/>
          <p:nvPr/>
        </p:nvPicPr>
        <p:blipFill rotWithShape="1">
          <a:blip r:embed="rId3">
            <a:alphaModFix/>
          </a:blip>
          <a:srcRect b="0" l="0" r="0" t="0"/>
          <a:stretch/>
        </p:blipFill>
        <p:spPr>
          <a:xfrm>
            <a:off x="3163650" y="260425"/>
            <a:ext cx="6351853" cy="40054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g3fbbad65c78_0_26"/>
          <p:cNvSpPr txBox="1"/>
          <p:nvPr>
            <p:ph type="title"/>
          </p:nvPr>
        </p:nvSpPr>
        <p:spPr>
          <a:xfrm>
            <a:off x="214525" y="165300"/>
            <a:ext cx="6910800" cy="7035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IN" sz="3200">
                <a:solidFill>
                  <a:srgbClr val="0000FF"/>
                </a:solidFill>
                <a:latin typeface="Times New Roman"/>
                <a:ea typeface="Times New Roman"/>
                <a:cs typeface="Times New Roman"/>
                <a:sym typeface="Times New Roman"/>
              </a:rPr>
              <a:t>1.5 Challenges of Machine Learning </a:t>
            </a:r>
            <a:endParaRPr b="1">
              <a:solidFill>
                <a:srgbClr val="0000FF"/>
              </a:solidFill>
            </a:endParaRPr>
          </a:p>
        </p:txBody>
      </p:sp>
      <p:sp>
        <p:nvSpPr>
          <p:cNvPr id="351" name="Google Shape;351;g3fbbad65c78_0_26"/>
          <p:cNvSpPr txBox="1"/>
          <p:nvPr>
            <p:ph idx="1" type="body"/>
          </p:nvPr>
        </p:nvSpPr>
        <p:spPr>
          <a:xfrm>
            <a:off x="372800" y="868825"/>
            <a:ext cx="11289300" cy="1670400"/>
          </a:xfrm>
          <a:prstGeom prst="rect">
            <a:avLst/>
          </a:prstGeom>
        </p:spPr>
        <p:txBody>
          <a:bodyPr anchorCtr="0" anchor="t" bIns="45700" lIns="91425" spcFirstLastPara="1" rIns="91425" wrap="square" tIns="45700">
            <a:noAutofit/>
          </a:bodyPr>
          <a:lstStyle/>
          <a:p>
            <a:pPr indent="0" lvl="0" marL="0" rtl="0" algn="just">
              <a:lnSpc>
                <a:spcPct val="100000"/>
              </a:lnSpc>
              <a:spcBef>
                <a:spcPts val="1000"/>
              </a:spcBef>
              <a:spcAft>
                <a:spcPts val="0"/>
              </a:spcAft>
              <a:buSzPts val="935"/>
              <a:buNone/>
            </a:pPr>
            <a:r>
              <a:rPr lang="en-IN" sz="1900"/>
              <a:t>Computers are better than humans at fast computation and repetitive tasks, and they can perform complex activities such as chess and Go. Humans, however, are generally better at recognition and understanding tasks. Deep learning has reduced this gap by enabling machines to recognize faces and patterns efficiently. Nevertheless, machine learning systems depend heavily on large amounts of high-quality data, making data quality and availability major challenges in building effective models. </a:t>
            </a:r>
            <a:endParaRPr sz="1900"/>
          </a:p>
          <a:p>
            <a:pPr indent="0" lvl="0" marL="914400" rtl="0" algn="just">
              <a:lnSpc>
                <a:spcPct val="100000"/>
              </a:lnSpc>
              <a:spcBef>
                <a:spcPts val="1000"/>
              </a:spcBef>
              <a:spcAft>
                <a:spcPts val="0"/>
              </a:spcAft>
              <a:buSzPts val="935"/>
              <a:buNone/>
            </a:pPr>
            <a:r>
              <a:t/>
            </a:r>
            <a:endParaRPr sz="1900"/>
          </a:p>
        </p:txBody>
      </p:sp>
      <p:pic>
        <p:nvPicPr>
          <p:cNvPr id="352" name="Google Shape;352;g3fbbad65c78_0_26"/>
          <p:cNvPicPr preferRelativeResize="0"/>
          <p:nvPr/>
        </p:nvPicPr>
        <p:blipFill>
          <a:blip r:embed="rId3">
            <a:alphaModFix/>
          </a:blip>
          <a:stretch>
            <a:fillRect/>
          </a:stretch>
        </p:blipFill>
        <p:spPr>
          <a:xfrm>
            <a:off x="7881450" y="3145450"/>
            <a:ext cx="4101749" cy="2571750"/>
          </a:xfrm>
          <a:prstGeom prst="rect">
            <a:avLst/>
          </a:prstGeom>
          <a:noFill/>
          <a:ln>
            <a:noFill/>
          </a:ln>
        </p:spPr>
      </p:pic>
      <p:sp>
        <p:nvSpPr>
          <p:cNvPr id="353" name="Google Shape;353;g3fbbad65c78_0_26"/>
          <p:cNvSpPr txBox="1"/>
          <p:nvPr/>
        </p:nvSpPr>
        <p:spPr>
          <a:xfrm>
            <a:off x="214525" y="2719750"/>
            <a:ext cx="7473600" cy="3786600"/>
          </a:xfrm>
          <a:prstGeom prst="rect">
            <a:avLst/>
          </a:prstGeom>
          <a:noFill/>
          <a:ln>
            <a:noFill/>
          </a:ln>
        </p:spPr>
        <p:txBody>
          <a:bodyPr anchorCtr="0" anchor="t" bIns="91425" lIns="91425" spcFirstLastPara="1" rIns="91425" wrap="square" tIns="91425">
            <a:spAutoFit/>
          </a:bodyPr>
          <a:lstStyle/>
          <a:p>
            <a:pPr indent="-342900" lvl="0" marL="457200" rtl="0" algn="just">
              <a:lnSpc>
                <a:spcPct val="100000"/>
              </a:lnSpc>
              <a:spcBef>
                <a:spcPts val="1000"/>
              </a:spcBef>
              <a:spcAft>
                <a:spcPts val="0"/>
              </a:spcAft>
              <a:buClr>
                <a:srgbClr val="FF0000"/>
              </a:buClr>
              <a:buSzPts val="1800"/>
              <a:buAutoNum type="arabicPeriod"/>
            </a:pPr>
            <a:r>
              <a:rPr b="1" lang="en-IN" sz="1800">
                <a:solidFill>
                  <a:srgbClr val="FF0000"/>
                </a:solidFill>
              </a:rPr>
              <a:t>Problems </a:t>
            </a:r>
            <a:endParaRPr b="1" sz="1800">
              <a:solidFill>
                <a:srgbClr val="FF0000"/>
              </a:solidFill>
            </a:endParaRPr>
          </a:p>
          <a:p>
            <a:pPr indent="-342900" lvl="1" marL="914400" rtl="0" algn="just">
              <a:lnSpc>
                <a:spcPct val="100000"/>
              </a:lnSpc>
              <a:spcBef>
                <a:spcPts val="0"/>
              </a:spcBef>
              <a:spcAft>
                <a:spcPts val="0"/>
              </a:spcAft>
              <a:buClr>
                <a:schemeClr val="dk1"/>
              </a:buClr>
              <a:buSzPts val="1800"/>
              <a:buChar char="◆"/>
            </a:pPr>
            <a:r>
              <a:rPr lang="en-IN" sz="1800">
                <a:solidFill>
                  <a:schemeClr val="dk1"/>
                </a:solidFill>
              </a:rPr>
              <a:t>Machine learning works well with well-posed problems, where the problem specifications and required information are clearly defined. </a:t>
            </a:r>
            <a:endParaRPr sz="1800">
              <a:solidFill>
                <a:schemeClr val="dk1"/>
              </a:solidFill>
            </a:endParaRPr>
          </a:p>
          <a:p>
            <a:pPr indent="-342900" lvl="1" marL="914400" rtl="0" algn="just">
              <a:lnSpc>
                <a:spcPct val="100000"/>
              </a:lnSpc>
              <a:spcBef>
                <a:spcPts val="0"/>
              </a:spcBef>
              <a:spcAft>
                <a:spcPts val="0"/>
              </a:spcAft>
              <a:buClr>
                <a:schemeClr val="dk1"/>
              </a:buClr>
              <a:buSzPts val="1800"/>
              <a:buChar char="◆"/>
            </a:pPr>
            <a:r>
              <a:rPr lang="en-IN" sz="1800">
                <a:solidFill>
                  <a:schemeClr val="dk1"/>
                </a:solidFill>
              </a:rPr>
              <a:t>Ill-posed problems occur when the available data is insufficient to determine a unique solution. </a:t>
            </a:r>
            <a:endParaRPr sz="1800">
              <a:solidFill>
                <a:schemeClr val="dk1"/>
              </a:solidFill>
            </a:endParaRPr>
          </a:p>
          <a:p>
            <a:pPr indent="-342900" lvl="1" marL="914400" rtl="0" algn="just">
              <a:lnSpc>
                <a:spcPct val="100000"/>
              </a:lnSpc>
              <a:spcBef>
                <a:spcPts val="0"/>
              </a:spcBef>
              <a:spcAft>
                <a:spcPts val="0"/>
              </a:spcAft>
              <a:buClr>
                <a:schemeClr val="dk1"/>
              </a:buClr>
              <a:buSzPts val="1800"/>
              <a:buChar char="◆"/>
            </a:pPr>
            <a:r>
              <a:rPr lang="en-IN" sz="1800">
                <a:solidFill>
                  <a:schemeClr val="dk1"/>
                </a:solidFill>
              </a:rPr>
              <a:t>In the given example, the same data can be explained by different functions such as multiplication, division, or squaring. </a:t>
            </a:r>
            <a:endParaRPr sz="1800">
              <a:solidFill>
                <a:schemeClr val="dk1"/>
              </a:solidFill>
            </a:endParaRPr>
          </a:p>
          <a:p>
            <a:pPr indent="-342900" lvl="1" marL="914400" rtl="0" algn="just">
              <a:lnSpc>
                <a:spcPct val="100000"/>
              </a:lnSpc>
              <a:spcBef>
                <a:spcPts val="0"/>
              </a:spcBef>
              <a:spcAft>
                <a:spcPts val="0"/>
              </a:spcAft>
              <a:buClr>
                <a:schemeClr val="dk1"/>
              </a:buClr>
              <a:buSzPts val="1800"/>
              <a:buChar char="◆"/>
            </a:pPr>
            <a:r>
              <a:rPr lang="en-IN" sz="1800">
                <a:solidFill>
                  <a:schemeClr val="dk1"/>
                </a:solidFill>
              </a:rPr>
              <a:t>Therefore, additional examples or data are needed to identify the correct model.</a:t>
            </a:r>
            <a:endParaRPr sz="1800">
              <a:solidFill>
                <a:schemeClr val="dk1"/>
              </a:solidFill>
            </a:endParaRPr>
          </a:p>
          <a:p>
            <a:pPr indent="-342900" lvl="1" marL="914400" rtl="0" algn="just">
              <a:lnSpc>
                <a:spcPct val="100000"/>
              </a:lnSpc>
              <a:spcBef>
                <a:spcPts val="0"/>
              </a:spcBef>
              <a:spcAft>
                <a:spcPts val="0"/>
              </a:spcAft>
              <a:buClr>
                <a:schemeClr val="dk1"/>
              </a:buClr>
              <a:buSzPts val="1800"/>
              <a:buChar char="◆"/>
            </a:pPr>
            <a:r>
              <a:rPr lang="en-IN" sz="1800">
                <a:solidFill>
                  <a:schemeClr val="dk1"/>
                </a:solidFill>
              </a:rPr>
              <a:t>Puzzles, games, scientific computing, and real-world problems can become ill-posed when their specifications or information are incomplete.</a:t>
            </a:r>
            <a:endParaRPr sz="1800">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h6a475c1a138cac5_0_11"/>
          <p:cNvSpPr txBox="1"/>
          <p:nvPr>
            <p:ph idx="1" type="body"/>
          </p:nvPr>
        </p:nvSpPr>
        <p:spPr>
          <a:xfrm>
            <a:off x="341850" y="261125"/>
            <a:ext cx="11508300" cy="6305100"/>
          </a:xfrm>
          <a:prstGeom prst="rect">
            <a:avLst/>
          </a:prstGeom>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Font typeface="Arial"/>
              <a:buNone/>
            </a:pPr>
            <a:r>
              <a:rPr b="1" lang="en-IN" sz="2000">
                <a:solidFill>
                  <a:srgbClr val="FF0000"/>
                </a:solidFill>
              </a:rPr>
              <a:t>2. Huge Data</a:t>
            </a:r>
            <a:endParaRPr b="1" sz="2000">
              <a:solidFill>
                <a:srgbClr val="FF0000"/>
              </a:solidFill>
            </a:endParaRPr>
          </a:p>
          <a:p>
            <a:pPr indent="-355600" lvl="0" marL="457200" rtl="0" algn="just">
              <a:lnSpc>
                <a:spcPct val="100000"/>
              </a:lnSpc>
              <a:spcBef>
                <a:spcPts val="0"/>
              </a:spcBef>
              <a:spcAft>
                <a:spcPts val="0"/>
              </a:spcAft>
              <a:buSzPts val="2000"/>
              <a:buChar char="●"/>
            </a:pPr>
            <a:r>
              <a:rPr lang="en-IN" sz="2000"/>
              <a:t>Machine learning requires large amounts of high-quality data.</a:t>
            </a:r>
            <a:endParaRPr sz="2000"/>
          </a:p>
          <a:p>
            <a:pPr indent="-355600" lvl="0" marL="457200" rtl="0" algn="just">
              <a:lnSpc>
                <a:spcPct val="100000"/>
              </a:lnSpc>
              <a:spcBef>
                <a:spcPts val="0"/>
              </a:spcBef>
              <a:spcAft>
                <a:spcPts val="0"/>
              </a:spcAft>
              <a:buSzPts val="2000"/>
              <a:buChar char="●"/>
            </a:pPr>
            <a:r>
              <a:rPr lang="en-IN" sz="2000"/>
              <a:t>Data should be accurate and free from problems such as missing or incorrect values.</a:t>
            </a:r>
            <a:endParaRPr sz="2000"/>
          </a:p>
          <a:p>
            <a:pPr indent="-355600" lvl="0" marL="457200" rtl="0" algn="just">
              <a:lnSpc>
                <a:spcPct val="100000"/>
              </a:lnSpc>
              <a:spcBef>
                <a:spcPts val="0"/>
              </a:spcBef>
              <a:spcAft>
                <a:spcPts val="0"/>
              </a:spcAft>
              <a:buSzPts val="2000"/>
              <a:buChar char="●"/>
            </a:pPr>
            <a:r>
              <a:rPr lang="en-IN" sz="2000"/>
              <a:t>Collecting and maintaining quality data is a major challenge.</a:t>
            </a:r>
            <a:endParaRPr sz="2000"/>
          </a:p>
          <a:p>
            <a:pPr indent="0" lvl="0" marL="0" rtl="0" algn="just">
              <a:lnSpc>
                <a:spcPct val="100000"/>
              </a:lnSpc>
              <a:spcBef>
                <a:spcPts val="0"/>
              </a:spcBef>
              <a:spcAft>
                <a:spcPts val="0"/>
              </a:spcAft>
              <a:buClr>
                <a:schemeClr val="dk1"/>
              </a:buClr>
              <a:buSzPts val="1100"/>
              <a:buFont typeface="Arial"/>
              <a:buNone/>
            </a:pPr>
            <a:r>
              <a:rPr b="1" lang="en-IN" sz="2000">
                <a:solidFill>
                  <a:srgbClr val="FF0000"/>
                </a:solidFill>
              </a:rPr>
              <a:t>3. High Computing Power</a:t>
            </a:r>
            <a:endParaRPr b="1" sz="2000">
              <a:solidFill>
                <a:srgbClr val="FF0000"/>
              </a:solidFill>
            </a:endParaRPr>
          </a:p>
          <a:p>
            <a:pPr indent="-355600" lvl="0" marL="457200" rtl="0" algn="just">
              <a:lnSpc>
                <a:spcPct val="100000"/>
              </a:lnSpc>
              <a:spcBef>
                <a:spcPts val="0"/>
              </a:spcBef>
              <a:spcAft>
                <a:spcPts val="0"/>
              </a:spcAft>
              <a:buSzPts val="2000"/>
              <a:buChar char="●"/>
            </a:pPr>
            <a:r>
              <a:rPr lang="en-IN" sz="2000"/>
              <a:t>Big Data and complex ML tasks require high computational resources.</a:t>
            </a:r>
            <a:endParaRPr sz="2000"/>
          </a:p>
          <a:p>
            <a:pPr indent="-355600" lvl="0" marL="457200" rtl="0" algn="just">
              <a:lnSpc>
                <a:spcPct val="100000"/>
              </a:lnSpc>
              <a:spcBef>
                <a:spcPts val="0"/>
              </a:spcBef>
              <a:spcAft>
                <a:spcPts val="0"/>
              </a:spcAft>
              <a:buSzPts val="2000"/>
              <a:buChar char="●"/>
            </a:pPr>
            <a:r>
              <a:rPr lang="en-IN" sz="2000"/>
              <a:t>GPUs and TPUs are often used to speed up machine learning computations.</a:t>
            </a:r>
            <a:endParaRPr sz="2000"/>
          </a:p>
          <a:p>
            <a:pPr indent="-355600" lvl="0" marL="457200" rtl="0" algn="just">
              <a:lnSpc>
                <a:spcPct val="100000"/>
              </a:lnSpc>
              <a:spcBef>
                <a:spcPts val="0"/>
              </a:spcBef>
              <a:spcAft>
                <a:spcPts val="0"/>
              </a:spcAft>
              <a:buSzPts val="2000"/>
              <a:buChar char="●"/>
            </a:pPr>
            <a:r>
              <a:rPr lang="en-IN" sz="2000"/>
              <a:t>Increasing algorithm complexity also increases time and computational requirements.</a:t>
            </a:r>
            <a:endParaRPr sz="2000"/>
          </a:p>
          <a:p>
            <a:pPr indent="0" lvl="0" marL="0" rtl="0" algn="just">
              <a:lnSpc>
                <a:spcPct val="100000"/>
              </a:lnSpc>
              <a:spcBef>
                <a:spcPts val="0"/>
              </a:spcBef>
              <a:spcAft>
                <a:spcPts val="0"/>
              </a:spcAft>
              <a:buClr>
                <a:schemeClr val="dk1"/>
              </a:buClr>
              <a:buSzPts val="1100"/>
              <a:buFont typeface="Arial"/>
              <a:buNone/>
            </a:pPr>
            <a:r>
              <a:rPr b="1" lang="en-IN" sz="2000">
                <a:solidFill>
                  <a:srgbClr val="FF0000"/>
                </a:solidFill>
              </a:rPr>
              <a:t>4. Complexity of Algorithms</a:t>
            </a:r>
            <a:endParaRPr b="1" sz="2000">
              <a:solidFill>
                <a:srgbClr val="FF0000"/>
              </a:solidFill>
            </a:endParaRPr>
          </a:p>
          <a:p>
            <a:pPr indent="-355600" lvl="0" marL="457200" rtl="0" algn="just">
              <a:lnSpc>
                <a:spcPct val="100000"/>
              </a:lnSpc>
              <a:spcBef>
                <a:spcPts val="0"/>
              </a:spcBef>
              <a:spcAft>
                <a:spcPts val="0"/>
              </a:spcAft>
              <a:buSzPts val="2000"/>
              <a:buChar char="●"/>
            </a:pPr>
            <a:r>
              <a:rPr lang="en-IN" sz="2000"/>
              <a:t>Choosing, designing, implementing, and evaluating suitable ML algorithms can be challenging.</a:t>
            </a:r>
            <a:endParaRPr sz="2000"/>
          </a:p>
          <a:p>
            <a:pPr indent="-355600" lvl="0" marL="457200" rtl="0" algn="just">
              <a:lnSpc>
                <a:spcPct val="100000"/>
              </a:lnSpc>
              <a:spcBef>
                <a:spcPts val="0"/>
              </a:spcBef>
              <a:spcAft>
                <a:spcPts val="0"/>
              </a:spcAft>
              <a:buSzPts val="2000"/>
              <a:buChar char="●"/>
            </a:pPr>
            <a:r>
              <a:rPr lang="en-IN" sz="2000"/>
              <a:t>Different algorithms may need to be compared to identify an appropriate solution.</a:t>
            </a:r>
            <a:endParaRPr sz="2000"/>
          </a:p>
          <a:p>
            <a:pPr indent="-355600" lvl="0" marL="457200" rtl="0" algn="just">
              <a:lnSpc>
                <a:spcPct val="100000"/>
              </a:lnSpc>
              <a:spcBef>
                <a:spcPts val="0"/>
              </a:spcBef>
              <a:spcAft>
                <a:spcPts val="0"/>
              </a:spcAft>
              <a:buSzPts val="2000"/>
              <a:buChar char="●"/>
            </a:pPr>
            <a:r>
              <a:rPr lang="en-IN" sz="2000"/>
              <a:t>Algorithm selection and optimization are important challenges for ML professionals.</a:t>
            </a:r>
            <a:endParaRPr sz="2000"/>
          </a:p>
          <a:p>
            <a:pPr indent="0" lvl="0" marL="0" rtl="0" algn="just">
              <a:lnSpc>
                <a:spcPct val="100000"/>
              </a:lnSpc>
              <a:spcBef>
                <a:spcPts val="0"/>
              </a:spcBef>
              <a:spcAft>
                <a:spcPts val="0"/>
              </a:spcAft>
              <a:buNone/>
            </a:pPr>
            <a:r>
              <a:rPr b="1" lang="en-IN" sz="2000">
                <a:solidFill>
                  <a:srgbClr val="FF0000"/>
                </a:solidFill>
              </a:rPr>
              <a:t>5. Bias–Variance Tradeoff</a:t>
            </a:r>
            <a:endParaRPr b="1" sz="2000">
              <a:solidFill>
                <a:srgbClr val="FF0000"/>
              </a:solidFill>
            </a:endParaRPr>
          </a:p>
          <a:p>
            <a:pPr indent="-355600" lvl="0" marL="457200" rtl="0" algn="just">
              <a:lnSpc>
                <a:spcPct val="100000"/>
              </a:lnSpc>
              <a:spcBef>
                <a:spcPts val="0"/>
              </a:spcBef>
              <a:spcAft>
                <a:spcPts val="0"/>
              </a:spcAft>
              <a:buSzPts val="2000"/>
              <a:buChar char="●"/>
            </a:pPr>
            <a:r>
              <a:rPr lang="en-IN" sz="2000"/>
              <a:t>Bias and variance are important sources of model error.</a:t>
            </a:r>
            <a:endParaRPr sz="2000"/>
          </a:p>
          <a:p>
            <a:pPr indent="-355600" lvl="0" marL="457200" rtl="0" algn="just">
              <a:lnSpc>
                <a:spcPct val="100000"/>
              </a:lnSpc>
              <a:spcBef>
                <a:spcPts val="0"/>
              </a:spcBef>
              <a:spcAft>
                <a:spcPts val="0"/>
              </a:spcAft>
              <a:buSzPts val="2000"/>
              <a:buChar char="●"/>
            </a:pPr>
            <a:r>
              <a:rPr lang="en-IN" sz="2000"/>
              <a:t>Overfitting: The model performs very well on training data but poorly on test data, resulting in poor generalization.</a:t>
            </a:r>
            <a:endParaRPr sz="2000"/>
          </a:p>
          <a:p>
            <a:pPr indent="-355600" lvl="0" marL="457200" rtl="0" algn="just">
              <a:lnSpc>
                <a:spcPct val="100000"/>
              </a:lnSpc>
              <a:spcBef>
                <a:spcPts val="0"/>
              </a:spcBef>
              <a:spcAft>
                <a:spcPts val="0"/>
              </a:spcAft>
              <a:buSzPts val="2000"/>
              <a:buChar char="●"/>
            </a:pPr>
            <a:r>
              <a:rPr lang="en-IN" sz="2000"/>
              <a:t>Underfitting: The model performs poorly even on training data but may generalize reasonably well.</a:t>
            </a:r>
            <a:endParaRPr sz="2000"/>
          </a:p>
          <a:p>
            <a:pPr indent="-355600" lvl="0" marL="457200" rtl="0" algn="just">
              <a:lnSpc>
                <a:spcPct val="100000"/>
              </a:lnSpc>
              <a:spcBef>
                <a:spcPts val="0"/>
              </a:spcBef>
              <a:spcAft>
                <a:spcPts val="0"/>
              </a:spcAft>
              <a:buSzPts val="2000"/>
              <a:buChar char="●"/>
            </a:pPr>
            <a:r>
              <a:rPr lang="en-IN" sz="2000"/>
              <a:t>Finding the right balance between bias and variance is a major challenge in machine learning.</a:t>
            </a:r>
            <a:endParaRPr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fbbad65c78_0_31"/>
          <p:cNvSpPr txBox="1"/>
          <p:nvPr>
            <p:ph type="title"/>
          </p:nvPr>
        </p:nvSpPr>
        <p:spPr>
          <a:xfrm>
            <a:off x="352825" y="333800"/>
            <a:ext cx="5788200" cy="5178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34375"/>
              <a:buFont typeface="Arial"/>
              <a:buNone/>
            </a:pPr>
            <a:r>
              <a:rPr b="1" lang="en-IN" sz="3200">
                <a:solidFill>
                  <a:srgbClr val="0000FF"/>
                </a:solidFill>
                <a:latin typeface="Times New Roman"/>
                <a:ea typeface="Times New Roman"/>
                <a:cs typeface="Times New Roman"/>
                <a:sym typeface="Times New Roman"/>
              </a:rPr>
              <a:t>1.6 Machine Learning Process</a:t>
            </a:r>
            <a:endParaRPr/>
          </a:p>
        </p:txBody>
      </p:sp>
      <p:pic>
        <p:nvPicPr>
          <p:cNvPr id="364" name="Google Shape;364;g3fbbad65c78_0_31"/>
          <p:cNvPicPr preferRelativeResize="0"/>
          <p:nvPr/>
        </p:nvPicPr>
        <p:blipFill>
          <a:blip r:embed="rId3">
            <a:alphaModFix/>
          </a:blip>
          <a:stretch>
            <a:fillRect/>
          </a:stretch>
        </p:blipFill>
        <p:spPr>
          <a:xfrm>
            <a:off x="6344425" y="648225"/>
            <a:ext cx="5552425" cy="5761975"/>
          </a:xfrm>
          <a:prstGeom prst="rect">
            <a:avLst/>
          </a:prstGeom>
          <a:noFill/>
          <a:ln>
            <a:noFill/>
          </a:ln>
        </p:spPr>
      </p:pic>
      <p:pic>
        <p:nvPicPr>
          <p:cNvPr id="365" name="Google Shape;365;g3fbbad65c78_0_31"/>
          <p:cNvPicPr preferRelativeResize="0"/>
          <p:nvPr/>
        </p:nvPicPr>
        <p:blipFill>
          <a:blip r:embed="rId4">
            <a:alphaModFix/>
          </a:blip>
          <a:stretch>
            <a:fillRect/>
          </a:stretch>
        </p:blipFill>
        <p:spPr>
          <a:xfrm>
            <a:off x="568900" y="2104375"/>
            <a:ext cx="6934200" cy="2656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sp>
        <p:nvSpPr>
          <p:cNvPr id="370" name="Google Shape;370;h6a475c1a138cac5_0_24"/>
          <p:cNvSpPr txBox="1"/>
          <p:nvPr/>
        </p:nvSpPr>
        <p:spPr>
          <a:xfrm>
            <a:off x="334100" y="738575"/>
            <a:ext cx="11240100" cy="5652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2400">
                <a:solidFill>
                  <a:srgbClr val="FF0000"/>
                </a:solidFill>
              </a:rPr>
              <a:t>Understand the Business</a:t>
            </a:r>
            <a:r>
              <a:rPr lang="en-IN" sz="2400">
                <a:solidFill>
                  <a:srgbClr val="FF0000"/>
                </a:solidFill>
              </a:rPr>
              <a:t>:</a:t>
            </a:r>
            <a:r>
              <a:rPr lang="en-IN" sz="2400">
                <a:solidFill>
                  <a:schemeClr val="dk1"/>
                </a:solidFill>
              </a:rPr>
              <a:t> Defines project objectives and requirements from a business perspective, converting them into a machine learning problem definition.</a:t>
            </a:r>
            <a:endParaRPr sz="2400">
              <a:solidFill>
                <a:schemeClr val="dk1"/>
              </a:solidFill>
            </a:endParaRPr>
          </a:p>
          <a:p>
            <a:pPr indent="0" lvl="0" marL="0" rtl="0" algn="just">
              <a:lnSpc>
                <a:spcPct val="115000"/>
              </a:lnSpc>
              <a:spcBef>
                <a:spcPts val="0"/>
              </a:spcBef>
              <a:spcAft>
                <a:spcPts val="0"/>
              </a:spcAft>
              <a:buNone/>
            </a:pPr>
            <a:r>
              <a:rPr b="1" lang="en-IN" sz="2400">
                <a:solidFill>
                  <a:srgbClr val="FF0000"/>
                </a:solidFill>
              </a:rPr>
              <a:t>Understand the Data</a:t>
            </a:r>
            <a:r>
              <a:rPr lang="en-IN" sz="2400">
                <a:solidFill>
                  <a:srgbClr val="FF0000"/>
                </a:solidFill>
              </a:rPr>
              <a:t>:</a:t>
            </a:r>
            <a:r>
              <a:rPr lang="en-IN" sz="2400">
                <a:solidFill>
                  <a:schemeClr val="dk1"/>
                </a:solidFill>
              </a:rPr>
              <a:t> Involves initial data collection, exploring data characteristics, identifying quality issues, and discovering first insights.</a:t>
            </a:r>
            <a:endParaRPr sz="2400">
              <a:solidFill>
                <a:schemeClr val="dk1"/>
              </a:solidFill>
            </a:endParaRPr>
          </a:p>
          <a:p>
            <a:pPr indent="0" lvl="0" marL="0" rtl="0" algn="just">
              <a:lnSpc>
                <a:spcPct val="115000"/>
              </a:lnSpc>
              <a:spcBef>
                <a:spcPts val="0"/>
              </a:spcBef>
              <a:spcAft>
                <a:spcPts val="0"/>
              </a:spcAft>
              <a:buNone/>
            </a:pPr>
            <a:r>
              <a:rPr b="1" lang="en-IN" sz="2400">
                <a:solidFill>
                  <a:srgbClr val="FF0000"/>
                </a:solidFill>
              </a:rPr>
              <a:t>Data Preprocessing</a:t>
            </a:r>
            <a:r>
              <a:rPr lang="en-IN" sz="2400">
                <a:solidFill>
                  <a:srgbClr val="FF0000"/>
                </a:solidFill>
              </a:rPr>
              <a:t>:</a:t>
            </a:r>
            <a:r>
              <a:rPr lang="en-IN" sz="2400">
                <a:solidFill>
                  <a:schemeClr val="dk1"/>
                </a:solidFill>
              </a:rPr>
              <a:t> Cleans raw data, handles missing values, normalizes features, and transforms datasets into the final format required for modeling.</a:t>
            </a:r>
            <a:endParaRPr sz="2400">
              <a:solidFill>
                <a:schemeClr val="dk1"/>
              </a:solidFill>
            </a:endParaRPr>
          </a:p>
          <a:p>
            <a:pPr indent="0" lvl="0" marL="0" rtl="0" algn="just">
              <a:lnSpc>
                <a:spcPct val="115000"/>
              </a:lnSpc>
              <a:spcBef>
                <a:spcPts val="0"/>
              </a:spcBef>
              <a:spcAft>
                <a:spcPts val="0"/>
              </a:spcAft>
              <a:buNone/>
            </a:pPr>
            <a:r>
              <a:rPr b="1" lang="en-IN" sz="2400">
                <a:solidFill>
                  <a:srgbClr val="FF0000"/>
                </a:solidFill>
              </a:rPr>
              <a:t>Modelling</a:t>
            </a:r>
            <a:r>
              <a:rPr lang="en-IN" sz="2400">
                <a:solidFill>
                  <a:srgbClr val="FF0000"/>
                </a:solidFill>
              </a:rPr>
              <a:t>:</a:t>
            </a:r>
            <a:r>
              <a:rPr lang="en-IN" sz="2400">
                <a:solidFill>
                  <a:schemeClr val="dk1"/>
                </a:solidFill>
              </a:rPr>
              <a:t> Selects and applies various machine learning algorithms to the prepared data and tunes model parameters for optimal performance.</a:t>
            </a:r>
            <a:endParaRPr sz="2400">
              <a:solidFill>
                <a:schemeClr val="dk1"/>
              </a:solidFill>
            </a:endParaRPr>
          </a:p>
          <a:p>
            <a:pPr indent="0" lvl="0" marL="0" rtl="0" algn="just">
              <a:lnSpc>
                <a:spcPct val="115000"/>
              </a:lnSpc>
              <a:spcBef>
                <a:spcPts val="0"/>
              </a:spcBef>
              <a:spcAft>
                <a:spcPts val="0"/>
              </a:spcAft>
              <a:buNone/>
            </a:pPr>
            <a:r>
              <a:rPr b="1" lang="en-IN" sz="2400">
                <a:solidFill>
                  <a:srgbClr val="FF0000"/>
                </a:solidFill>
              </a:rPr>
              <a:t>Model Evaluation</a:t>
            </a:r>
            <a:r>
              <a:rPr lang="en-IN" sz="2400">
                <a:solidFill>
                  <a:srgbClr val="FF0000"/>
                </a:solidFill>
              </a:rPr>
              <a:t>: </a:t>
            </a:r>
            <a:r>
              <a:rPr lang="en-IN" sz="2400">
                <a:solidFill>
                  <a:schemeClr val="dk1"/>
                </a:solidFill>
              </a:rPr>
              <a:t>Assesses the model against business metrics and key performance indicators (KPIs) to ensure it meets original business goals before deployment.</a:t>
            </a:r>
            <a:endParaRPr sz="2400">
              <a:solidFill>
                <a:schemeClr val="dk1"/>
              </a:solidFill>
            </a:endParaRPr>
          </a:p>
          <a:p>
            <a:pPr indent="0" lvl="0" marL="0" rtl="0" algn="just">
              <a:lnSpc>
                <a:spcPct val="115000"/>
              </a:lnSpc>
              <a:spcBef>
                <a:spcPts val="0"/>
              </a:spcBef>
              <a:spcAft>
                <a:spcPts val="0"/>
              </a:spcAft>
              <a:buNone/>
            </a:pPr>
            <a:r>
              <a:rPr b="1" lang="en-IN" sz="2400">
                <a:solidFill>
                  <a:srgbClr val="FF0000"/>
                </a:solidFill>
              </a:rPr>
              <a:t>Model Deployment</a:t>
            </a:r>
            <a:r>
              <a:rPr lang="en-IN" sz="2400">
                <a:solidFill>
                  <a:srgbClr val="FF0000"/>
                </a:solidFill>
              </a:rPr>
              <a:t>:</a:t>
            </a:r>
            <a:r>
              <a:rPr lang="en-IN" sz="2400">
                <a:solidFill>
                  <a:schemeClr val="dk1"/>
                </a:solidFill>
              </a:rPr>
              <a:t> Integrates the validated model into a live production environment so end-users or systems can make data-driven decisions.</a:t>
            </a:r>
            <a:endParaRPr sz="2400">
              <a:solidFill>
                <a:schemeClr val="dk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g3fbbad65c78_0_36"/>
          <p:cNvSpPr txBox="1"/>
          <p:nvPr>
            <p:ph type="title"/>
          </p:nvPr>
        </p:nvSpPr>
        <p:spPr>
          <a:xfrm>
            <a:off x="276069" y="300881"/>
            <a:ext cx="10515600" cy="6468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IN" sz="3200">
                <a:solidFill>
                  <a:srgbClr val="0000FF"/>
                </a:solidFill>
                <a:latin typeface="Times New Roman"/>
                <a:ea typeface="Times New Roman"/>
                <a:cs typeface="Times New Roman"/>
                <a:sym typeface="Times New Roman"/>
              </a:rPr>
              <a:t>1.7 Machine Learning Applications</a:t>
            </a:r>
            <a:endParaRPr/>
          </a:p>
        </p:txBody>
      </p:sp>
      <p:sp>
        <p:nvSpPr>
          <p:cNvPr id="376" name="Google Shape;376;g3fbbad65c78_0_36"/>
          <p:cNvSpPr txBox="1"/>
          <p:nvPr/>
        </p:nvSpPr>
        <p:spPr>
          <a:xfrm>
            <a:off x="208050" y="1011850"/>
            <a:ext cx="11775900" cy="5602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en-IN" sz="2200">
                <a:solidFill>
                  <a:srgbClr val="FF0000"/>
                </a:solidFill>
              </a:rPr>
              <a:t>Sentiment Analysis</a:t>
            </a:r>
            <a:r>
              <a:rPr lang="en-IN" sz="2200">
                <a:solidFill>
                  <a:srgbClr val="FF0000"/>
                </a:solidFill>
              </a:rPr>
              <a:t>:</a:t>
            </a:r>
            <a:r>
              <a:rPr lang="en-IN" sz="2200">
                <a:solidFill>
                  <a:schemeClr val="dk1"/>
                </a:solidFill>
              </a:rPr>
              <a:t> An application of natural language processing (NLP) that converts words in documents into sentiments such as happy, sad, and angry, often captured by emoticons. It is used to automatically assign star ratings (e.g., five stars or one star) to movie or product reviews.</a:t>
            </a:r>
            <a:endParaRPr sz="2200">
              <a:solidFill>
                <a:schemeClr val="dk1"/>
              </a:solidFill>
            </a:endParaRPr>
          </a:p>
          <a:p>
            <a:pPr indent="0" lvl="0" marL="0" rtl="0" algn="l">
              <a:lnSpc>
                <a:spcPct val="150000"/>
              </a:lnSpc>
              <a:spcBef>
                <a:spcPts val="0"/>
              </a:spcBef>
              <a:spcAft>
                <a:spcPts val="0"/>
              </a:spcAft>
              <a:buNone/>
            </a:pPr>
            <a:r>
              <a:rPr b="1" lang="en-IN" sz="2200">
                <a:solidFill>
                  <a:srgbClr val="FF0000"/>
                </a:solidFill>
              </a:rPr>
              <a:t>Recommendation Systems</a:t>
            </a:r>
            <a:r>
              <a:rPr lang="en-IN" sz="2200">
                <a:solidFill>
                  <a:srgbClr val="FF0000"/>
                </a:solidFill>
              </a:rPr>
              <a:t>:</a:t>
            </a:r>
            <a:r>
              <a:rPr lang="en-IN" sz="2200">
                <a:solidFill>
                  <a:schemeClr val="dk1"/>
                </a:solidFill>
              </a:rPr>
              <a:t> Systems based on machine learning that enable personalized purchases. Examples include Amazon suggesting related books or books bought by people with similar tastes, and Netflix suggesting shows or movies based on user taste.</a:t>
            </a:r>
            <a:endParaRPr sz="2200">
              <a:solidFill>
                <a:schemeClr val="dk1"/>
              </a:solidFill>
            </a:endParaRPr>
          </a:p>
          <a:p>
            <a:pPr indent="0" lvl="0" marL="0" rtl="0" algn="l">
              <a:lnSpc>
                <a:spcPct val="150000"/>
              </a:lnSpc>
              <a:spcBef>
                <a:spcPts val="0"/>
              </a:spcBef>
              <a:spcAft>
                <a:spcPts val="0"/>
              </a:spcAft>
              <a:buNone/>
            </a:pPr>
            <a:r>
              <a:rPr b="1" lang="en-IN" sz="2200">
                <a:solidFill>
                  <a:srgbClr val="FF0000"/>
                </a:solidFill>
              </a:rPr>
              <a:t>Voice Assistants</a:t>
            </a:r>
            <a:r>
              <a:rPr lang="en-IN" sz="2200">
                <a:solidFill>
                  <a:srgbClr val="FF0000"/>
                </a:solidFill>
              </a:rPr>
              <a:t>: </a:t>
            </a:r>
            <a:r>
              <a:rPr lang="en-IN" sz="2200">
                <a:solidFill>
                  <a:schemeClr val="dk1"/>
                </a:solidFill>
              </a:rPr>
              <a:t>Products such as Amazon Alexa, Microsoft Cortana, Apple Siri, and Google Assistant that process speech commands to perform tasks.</a:t>
            </a:r>
            <a:endParaRPr sz="2200">
              <a:solidFill>
                <a:schemeClr val="dk1"/>
              </a:solidFill>
            </a:endParaRPr>
          </a:p>
          <a:p>
            <a:pPr indent="0" lvl="0" marL="0" rtl="0" algn="l">
              <a:lnSpc>
                <a:spcPct val="150000"/>
              </a:lnSpc>
              <a:spcBef>
                <a:spcPts val="0"/>
              </a:spcBef>
              <a:spcAft>
                <a:spcPts val="0"/>
              </a:spcAft>
              <a:buNone/>
            </a:pPr>
            <a:r>
              <a:rPr b="1" lang="en-IN" sz="2200">
                <a:solidFill>
                  <a:srgbClr val="FF0000"/>
                </a:solidFill>
              </a:rPr>
              <a:t>Navigation &amp; Mapping Technologies</a:t>
            </a:r>
            <a:r>
              <a:rPr lang="en-IN" sz="2200">
                <a:solidFill>
                  <a:srgbClr val="FF0000"/>
                </a:solidFill>
              </a:rPr>
              <a:t>: </a:t>
            </a:r>
            <a:r>
              <a:rPr lang="en-IN" sz="2200">
                <a:solidFill>
                  <a:schemeClr val="dk1"/>
                </a:solidFill>
              </a:rPr>
              <a:t>Technologies such as Google Maps and Uber that locate and navigate the shortest paths to reduce travel time.</a:t>
            </a:r>
            <a:endParaRPr sz="2200">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h5ea66979a77ada05_1_3"/>
          <p:cNvPicPr preferRelativeResize="0"/>
          <p:nvPr/>
        </p:nvPicPr>
        <p:blipFill>
          <a:blip r:embed="rId3">
            <a:alphaModFix/>
          </a:blip>
          <a:stretch>
            <a:fillRect/>
          </a:stretch>
        </p:blipFill>
        <p:spPr>
          <a:xfrm>
            <a:off x="2125250" y="0"/>
            <a:ext cx="7753151" cy="6858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g3fbbad65c78_0_8"/>
          <p:cNvSpPr txBox="1"/>
          <p:nvPr>
            <p:ph type="title"/>
          </p:nvPr>
        </p:nvSpPr>
        <p:spPr>
          <a:xfrm>
            <a:off x="280350" y="365125"/>
            <a:ext cx="11073600" cy="13257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None/>
            </a:pPr>
            <a:r>
              <a:rPr b="1" lang="en-IN" sz="3400">
                <a:solidFill>
                  <a:srgbClr val="980000"/>
                </a:solidFill>
                <a:latin typeface="Times New Roman"/>
                <a:ea typeface="Times New Roman"/>
                <a:cs typeface="Times New Roman"/>
                <a:sym typeface="Times New Roman"/>
              </a:rPr>
              <a:t>Understanding Data – 1:    </a:t>
            </a:r>
            <a:r>
              <a:rPr b="1" lang="en-IN" sz="3200">
                <a:solidFill>
                  <a:srgbClr val="980000"/>
                </a:solidFill>
                <a:latin typeface="Times New Roman"/>
                <a:ea typeface="Times New Roman"/>
                <a:cs typeface="Times New Roman"/>
                <a:sym typeface="Times New Roman"/>
              </a:rPr>
              <a:t>Introduction</a:t>
            </a:r>
            <a:endParaRPr b="1" sz="3200">
              <a:solidFill>
                <a:srgbClr val="980000"/>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3422">
                <a:solidFill>
                  <a:srgbClr val="0000FF"/>
                </a:solidFill>
                <a:latin typeface="Times New Roman"/>
                <a:ea typeface="Times New Roman"/>
                <a:cs typeface="Times New Roman"/>
                <a:sym typeface="Times New Roman"/>
              </a:rPr>
              <a:t>2.3 Big Data Analysis Framework</a:t>
            </a:r>
            <a:endParaRPr b="1" sz="3422">
              <a:solidFill>
                <a:srgbClr val="0000FF"/>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ct val="32353"/>
              <a:buFont typeface="Arial"/>
              <a:buNone/>
            </a:pPr>
            <a:r>
              <a:t/>
            </a:r>
            <a:endParaRPr b="1" sz="3400">
              <a:solidFill>
                <a:srgbClr val="980000"/>
              </a:solidFill>
              <a:latin typeface="Times New Roman"/>
              <a:ea typeface="Times New Roman"/>
              <a:cs typeface="Times New Roman"/>
              <a:sym typeface="Times New Roman"/>
            </a:endParaRPr>
          </a:p>
        </p:txBody>
      </p:sp>
      <p:sp>
        <p:nvSpPr>
          <p:cNvPr id="387" name="Google Shape;387;g3fbbad65c78_0_8"/>
          <p:cNvSpPr txBox="1"/>
          <p:nvPr/>
        </p:nvSpPr>
        <p:spPr>
          <a:xfrm>
            <a:off x="280350" y="1590025"/>
            <a:ext cx="11631300" cy="2624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2200">
                <a:solidFill>
                  <a:schemeClr val="dk1"/>
                </a:solidFill>
                <a:latin typeface="Times New Roman"/>
                <a:ea typeface="Times New Roman"/>
                <a:cs typeface="Times New Roman"/>
                <a:sym typeface="Times New Roman"/>
              </a:rPr>
              <a:t>Difference Between Data Analytics and Data Analysis</a:t>
            </a:r>
            <a:endParaRPr b="1" sz="2200">
              <a:solidFill>
                <a:schemeClr val="dk1"/>
              </a:solidFill>
              <a:latin typeface="Times New Roman"/>
              <a:ea typeface="Times New Roman"/>
              <a:cs typeface="Times New Roman"/>
              <a:sym typeface="Times New Roman"/>
            </a:endParaRPr>
          </a:p>
          <a:p>
            <a:pPr indent="-368300" lvl="0" marL="457200" rtl="0" algn="l">
              <a:lnSpc>
                <a:spcPct val="115000"/>
              </a:lnSpc>
              <a:spcBef>
                <a:spcPts val="1200"/>
              </a:spcBef>
              <a:spcAft>
                <a:spcPts val="0"/>
              </a:spcAft>
              <a:buClr>
                <a:schemeClr val="dk1"/>
              </a:buClr>
              <a:buSzPts val="2200"/>
              <a:buChar char="●"/>
            </a:pPr>
            <a:r>
              <a:rPr b="1" lang="en-IN" sz="2200">
                <a:solidFill>
                  <a:schemeClr val="dk1"/>
                </a:solidFill>
                <a:latin typeface="Times New Roman"/>
                <a:ea typeface="Times New Roman"/>
                <a:cs typeface="Times New Roman"/>
                <a:sym typeface="Times New Roman"/>
              </a:rPr>
              <a:t>Data Analytics</a:t>
            </a:r>
            <a:r>
              <a:rPr lang="en-IN" sz="2200">
                <a:solidFill>
                  <a:schemeClr val="dk1"/>
                </a:solidFill>
                <a:latin typeface="Times New Roman"/>
                <a:ea typeface="Times New Roman"/>
                <a:cs typeface="Times New Roman"/>
                <a:sym typeface="Times New Roman"/>
              </a:rPr>
              <a:t>: A general, broader concept that covers the complete cycle of data management, including data collection, preprocessing, and analysis. It focuses more on the future and aids in making predictions.</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Char char="●"/>
            </a:pPr>
            <a:r>
              <a:rPr b="1" lang="en-IN" sz="2200">
                <a:solidFill>
                  <a:schemeClr val="dk1"/>
                </a:solidFill>
                <a:latin typeface="Times New Roman"/>
                <a:ea typeface="Times New Roman"/>
                <a:cs typeface="Times New Roman"/>
                <a:sym typeface="Times New Roman"/>
              </a:rPr>
              <a:t>Data Analysis</a:t>
            </a:r>
            <a:r>
              <a:rPr lang="en-IN" sz="2200">
                <a:solidFill>
                  <a:schemeClr val="dk1"/>
                </a:solidFill>
                <a:latin typeface="Times New Roman"/>
                <a:ea typeface="Times New Roman"/>
                <a:cs typeface="Times New Roman"/>
                <a:sym typeface="Times New Roman"/>
              </a:rPr>
              <a:t>: A specific component within data analytics. It focuses on taking historical data and analyzing it to extract useful information and insights for decision-making.</a:t>
            </a:r>
            <a:endParaRPr sz="2200">
              <a:solidFill>
                <a:schemeClr val="dk1"/>
              </a:solidFill>
              <a:latin typeface="Times New Roman"/>
              <a:ea typeface="Times New Roman"/>
              <a:cs typeface="Times New Roman"/>
              <a:sym typeface="Times New Roman"/>
            </a:endParaRPr>
          </a:p>
        </p:txBody>
      </p:sp>
      <p:sp>
        <p:nvSpPr>
          <p:cNvPr id="388" name="Google Shape;388;g3fbbad65c78_0_8"/>
          <p:cNvSpPr txBox="1"/>
          <p:nvPr/>
        </p:nvSpPr>
        <p:spPr>
          <a:xfrm>
            <a:off x="407575" y="4352500"/>
            <a:ext cx="4766700" cy="20319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2400">
                <a:solidFill>
                  <a:srgbClr val="0000FF"/>
                </a:solidFill>
                <a:latin typeface="Times New Roman"/>
                <a:ea typeface="Times New Roman"/>
                <a:cs typeface="Times New Roman"/>
                <a:sym typeface="Times New Roman"/>
              </a:rPr>
              <a:t>4 Types of Data Analytics</a:t>
            </a:r>
            <a:endParaRPr b="1" sz="2400">
              <a:solidFill>
                <a:srgbClr val="0000FF"/>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1"/>
              </a:buClr>
              <a:buSzPts val="2400"/>
              <a:buFont typeface="Times New Roman"/>
              <a:buAutoNum type="arabicPeriod"/>
            </a:pPr>
            <a:r>
              <a:rPr lang="en-IN" sz="2400">
                <a:solidFill>
                  <a:schemeClr val="dk1"/>
                </a:solidFill>
                <a:latin typeface="Times New Roman"/>
                <a:ea typeface="Times New Roman"/>
                <a:cs typeface="Times New Roman"/>
                <a:sym typeface="Times New Roman"/>
              </a:rPr>
              <a:t>Descriptive analytics</a:t>
            </a:r>
            <a:endParaRPr sz="2400">
              <a:solidFill>
                <a:schemeClr val="dk1"/>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1"/>
              </a:buClr>
              <a:buSzPts val="2400"/>
              <a:buFont typeface="Times New Roman"/>
              <a:buAutoNum type="arabicPeriod"/>
            </a:pPr>
            <a:r>
              <a:rPr lang="en-IN" sz="2400">
                <a:solidFill>
                  <a:schemeClr val="dk1"/>
                </a:solidFill>
                <a:latin typeface="Times New Roman"/>
                <a:ea typeface="Times New Roman"/>
                <a:cs typeface="Times New Roman"/>
                <a:sym typeface="Times New Roman"/>
              </a:rPr>
              <a:t>Diagnostic analytics</a:t>
            </a:r>
            <a:endParaRPr sz="2400">
              <a:solidFill>
                <a:schemeClr val="dk1"/>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1"/>
              </a:buClr>
              <a:buSzPts val="2400"/>
              <a:buFont typeface="Times New Roman"/>
              <a:buAutoNum type="arabicPeriod"/>
            </a:pPr>
            <a:r>
              <a:rPr lang="en-IN" sz="2400">
                <a:solidFill>
                  <a:schemeClr val="dk1"/>
                </a:solidFill>
                <a:latin typeface="Times New Roman"/>
                <a:ea typeface="Times New Roman"/>
                <a:cs typeface="Times New Roman"/>
                <a:sym typeface="Times New Roman"/>
              </a:rPr>
              <a:t>Predictive analytics</a:t>
            </a:r>
            <a:endParaRPr sz="2400">
              <a:solidFill>
                <a:schemeClr val="dk1"/>
              </a:solidFill>
              <a:latin typeface="Times New Roman"/>
              <a:ea typeface="Times New Roman"/>
              <a:cs typeface="Times New Roman"/>
              <a:sym typeface="Times New Roman"/>
            </a:endParaRPr>
          </a:p>
          <a:p>
            <a:pPr indent="-381000" lvl="0" marL="457200" rtl="0" algn="l">
              <a:lnSpc>
                <a:spcPct val="100000"/>
              </a:lnSpc>
              <a:spcBef>
                <a:spcPts val="0"/>
              </a:spcBef>
              <a:spcAft>
                <a:spcPts val="0"/>
              </a:spcAft>
              <a:buClr>
                <a:schemeClr val="dk1"/>
              </a:buClr>
              <a:buSzPts val="2400"/>
              <a:buFont typeface="Times New Roman"/>
              <a:buAutoNum type="arabicPeriod"/>
            </a:pPr>
            <a:r>
              <a:rPr lang="en-IN" sz="2400">
                <a:solidFill>
                  <a:schemeClr val="dk1"/>
                </a:solidFill>
                <a:latin typeface="Times New Roman"/>
                <a:ea typeface="Times New Roman"/>
                <a:cs typeface="Times New Roman"/>
                <a:sym typeface="Times New Roman"/>
              </a:rPr>
              <a:t>Prescriptive analytics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h5ea66979a77ada05_1_15"/>
          <p:cNvSpPr txBox="1"/>
          <p:nvPr/>
        </p:nvSpPr>
        <p:spPr>
          <a:xfrm>
            <a:off x="260175" y="221150"/>
            <a:ext cx="11242800" cy="6156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2000">
                <a:solidFill>
                  <a:srgbClr val="FF0000"/>
                </a:solidFill>
              </a:rPr>
              <a:t>Descriptive Analytics</a:t>
            </a:r>
            <a:r>
              <a:rPr lang="en-IN" sz="2000">
                <a:solidFill>
                  <a:srgbClr val="FF0000"/>
                </a:solidFill>
              </a:rPr>
              <a:t>:</a:t>
            </a:r>
            <a:r>
              <a:rPr lang="en-IN" sz="2000">
                <a:solidFill>
                  <a:schemeClr val="dk1"/>
                </a:solidFill>
              </a:rPr>
              <a:t> Focuses on describing and quantifying the main features of collected data. It relies strictly on the descriptive aspect of statistics rather than inference.</a:t>
            </a:r>
            <a:endParaRPr sz="2000">
              <a:solidFill>
                <a:schemeClr val="dk1"/>
              </a:solidFill>
            </a:endParaRPr>
          </a:p>
          <a:p>
            <a:pPr indent="0" lvl="0" marL="0" rtl="0" algn="just">
              <a:lnSpc>
                <a:spcPct val="115000"/>
              </a:lnSpc>
              <a:spcBef>
                <a:spcPts val="0"/>
              </a:spcBef>
              <a:spcAft>
                <a:spcPts val="0"/>
              </a:spcAft>
              <a:buNone/>
            </a:pPr>
            <a:r>
              <a:rPr b="1" lang="en-IN" sz="2000">
                <a:solidFill>
                  <a:srgbClr val="0000FF"/>
                </a:solidFill>
              </a:rPr>
              <a:t>Example:</a:t>
            </a:r>
            <a:endParaRPr b="1" sz="2000">
              <a:solidFill>
                <a:srgbClr val="0000FF"/>
              </a:solidFill>
            </a:endParaRPr>
          </a:p>
          <a:p>
            <a:pPr indent="0" lvl="0" marL="0" rtl="0" algn="just">
              <a:lnSpc>
                <a:spcPct val="115000"/>
              </a:lnSpc>
              <a:spcBef>
                <a:spcPts val="0"/>
              </a:spcBef>
              <a:spcAft>
                <a:spcPts val="0"/>
              </a:spcAft>
              <a:buNone/>
            </a:pPr>
            <a:r>
              <a:rPr b="1" lang="en-IN" sz="2000">
                <a:solidFill>
                  <a:schemeClr val="dk1"/>
                </a:solidFill>
              </a:rPr>
              <a:t>Monthly Sales Summary:</a:t>
            </a:r>
            <a:r>
              <a:rPr lang="en-IN" sz="2000">
                <a:solidFill>
                  <a:schemeClr val="dk1"/>
                </a:solidFill>
              </a:rPr>
              <a:t> A retail store generates end-of-month reports showing total revenue, units sold per location, and top-selling product lines.</a:t>
            </a:r>
            <a:endParaRPr sz="2000">
              <a:solidFill>
                <a:schemeClr val="dk1"/>
              </a:solidFill>
            </a:endParaRPr>
          </a:p>
          <a:p>
            <a:pPr indent="0" lvl="0" marL="0" rtl="0" algn="just">
              <a:lnSpc>
                <a:spcPct val="115000"/>
              </a:lnSpc>
              <a:spcBef>
                <a:spcPts val="0"/>
              </a:spcBef>
              <a:spcAft>
                <a:spcPts val="0"/>
              </a:spcAft>
              <a:buNone/>
            </a:pPr>
            <a:r>
              <a:rPr b="1" lang="en-IN" sz="2000">
                <a:solidFill>
                  <a:schemeClr val="dk1"/>
                </a:solidFill>
              </a:rPr>
              <a:t>Website Traffic Metrics:</a:t>
            </a:r>
            <a:r>
              <a:rPr lang="en-IN" sz="2000">
                <a:solidFill>
                  <a:schemeClr val="dk1"/>
                </a:solidFill>
              </a:rPr>
              <a:t> An e-commerce company tracks daily visitor counts, page views, and average session durations across different geographic regions using an analytics dashboard.</a:t>
            </a:r>
            <a:endParaRPr sz="2000">
              <a:solidFill>
                <a:schemeClr val="dk1"/>
              </a:solidFill>
            </a:endParaRPr>
          </a:p>
          <a:p>
            <a:pPr indent="0" lvl="0" marL="0" rtl="0" algn="just">
              <a:lnSpc>
                <a:spcPct val="115000"/>
              </a:lnSpc>
              <a:spcBef>
                <a:spcPts val="0"/>
              </a:spcBef>
              <a:spcAft>
                <a:spcPts val="0"/>
              </a:spcAft>
              <a:buNone/>
            </a:pPr>
            <a:r>
              <a:rPr b="1" lang="en-IN" sz="2000">
                <a:solidFill>
                  <a:srgbClr val="FF0000"/>
                </a:solidFill>
              </a:rPr>
              <a:t>Diagnostic Analytics</a:t>
            </a:r>
            <a:r>
              <a:rPr lang="en-IN" sz="2000">
                <a:solidFill>
                  <a:srgbClr val="FF0000"/>
                </a:solidFill>
              </a:rPr>
              <a:t>:</a:t>
            </a:r>
            <a:r>
              <a:rPr lang="en-IN" sz="2000">
                <a:solidFill>
                  <a:schemeClr val="dk1"/>
                </a:solidFill>
              </a:rPr>
              <a:t> Known as causal analysis, it answers the question </a:t>
            </a:r>
            <a:r>
              <a:rPr i="1" lang="en-IN" sz="2000">
                <a:solidFill>
                  <a:schemeClr val="dk1"/>
                </a:solidFill>
              </a:rPr>
              <a:t>"Why?"</a:t>
            </a:r>
            <a:r>
              <a:rPr lang="en-IN" sz="2000">
                <a:solidFill>
                  <a:schemeClr val="dk1"/>
                </a:solidFill>
              </a:rPr>
              <a:t> by determining the cause and effect of events. For instance, if a product is not selling, it aims to analyze the underlying reasons and associated effects.</a:t>
            </a:r>
            <a:endParaRPr sz="2000">
              <a:solidFill>
                <a:schemeClr val="dk1"/>
              </a:solidFill>
            </a:endParaRPr>
          </a:p>
          <a:p>
            <a:pPr indent="0" lvl="0" marL="0" rtl="0" algn="just">
              <a:lnSpc>
                <a:spcPct val="115000"/>
              </a:lnSpc>
              <a:spcBef>
                <a:spcPts val="0"/>
              </a:spcBef>
              <a:spcAft>
                <a:spcPts val="0"/>
              </a:spcAft>
              <a:buNone/>
            </a:pPr>
            <a:r>
              <a:rPr b="1" lang="en-IN" sz="2000">
                <a:solidFill>
                  <a:srgbClr val="0000FF"/>
                </a:solidFill>
              </a:rPr>
              <a:t>Example:</a:t>
            </a:r>
            <a:endParaRPr b="1" sz="2000">
              <a:solidFill>
                <a:srgbClr val="0000FF"/>
              </a:solidFill>
            </a:endParaRPr>
          </a:p>
          <a:p>
            <a:pPr indent="0" lvl="0" marL="0" rtl="0" algn="just">
              <a:lnSpc>
                <a:spcPct val="115000"/>
              </a:lnSpc>
              <a:spcBef>
                <a:spcPts val="0"/>
              </a:spcBef>
              <a:spcAft>
                <a:spcPts val="0"/>
              </a:spcAft>
              <a:buNone/>
            </a:pPr>
            <a:r>
              <a:rPr b="1" lang="en-IN" sz="2000">
                <a:solidFill>
                  <a:schemeClr val="dk1"/>
                </a:solidFill>
              </a:rPr>
              <a:t>Checkout Drop-off Investigation:</a:t>
            </a:r>
            <a:r>
              <a:rPr lang="en-IN" sz="2000">
                <a:solidFill>
                  <a:schemeClr val="dk1"/>
                </a:solidFill>
              </a:rPr>
              <a:t> An online retailer notices a sudden 20% drop in conversions and analyzes site log data to discover that a bug in the newly updated payment gateway was causing transaction failures.</a:t>
            </a:r>
            <a:endParaRPr sz="2000">
              <a:solidFill>
                <a:schemeClr val="dk1"/>
              </a:solidFill>
            </a:endParaRPr>
          </a:p>
          <a:p>
            <a:pPr indent="0" lvl="0" marL="0" rtl="0" algn="just">
              <a:lnSpc>
                <a:spcPct val="115000"/>
              </a:lnSpc>
              <a:spcBef>
                <a:spcPts val="0"/>
              </a:spcBef>
              <a:spcAft>
                <a:spcPts val="0"/>
              </a:spcAft>
              <a:buNone/>
            </a:pPr>
            <a:r>
              <a:rPr b="1" lang="en-IN" sz="2000">
                <a:solidFill>
                  <a:schemeClr val="dk1"/>
                </a:solidFill>
              </a:rPr>
              <a:t>Customer Churn Root-Cause Analysis:</a:t>
            </a:r>
            <a:r>
              <a:rPr lang="en-IN" sz="2000">
                <a:solidFill>
                  <a:schemeClr val="dk1"/>
                </a:solidFill>
              </a:rPr>
              <a:t> A subscription service analyzes user engagement patterns and customer support logs to determine that poor app performance after a software update led to increased cancellations.</a:t>
            </a:r>
            <a:endParaRPr sz="2000">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h5ea66979a77ada05_1_27"/>
          <p:cNvSpPr txBox="1"/>
          <p:nvPr/>
        </p:nvSpPr>
        <p:spPr>
          <a:xfrm>
            <a:off x="407150" y="207900"/>
            <a:ext cx="11320500" cy="6194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b="1" lang="en-IN" sz="1900">
                <a:solidFill>
                  <a:srgbClr val="FF0000"/>
                </a:solidFill>
              </a:rPr>
              <a:t>Predictive Analytics</a:t>
            </a:r>
            <a:r>
              <a:rPr lang="en-IN" sz="1900">
                <a:solidFill>
                  <a:srgbClr val="FF0000"/>
                </a:solidFill>
              </a:rPr>
              <a:t>:</a:t>
            </a:r>
            <a:r>
              <a:rPr lang="en-IN" sz="1900">
                <a:solidFill>
                  <a:schemeClr val="dk1"/>
                </a:solidFill>
              </a:rPr>
              <a:t> Deals with the future by answering </a:t>
            </a:r>
            <a:r>
              <a:rPr i="1" lang="en-IN" sz="1900">
                <a:solidFill>
                  <a:schemeClr val="dk1"/>
                </a:solidFill>
              </a:rPr>
              <a:t>"What will happen in the future given this data?"</a:t>
            </a:r>
            <a:r>
              <a:rPr lang="en-IN" sz="1900">
                <a:solidFill>
                  <a:schemeClr val="dk1"/>
                </a:solidFill>
              </a:rPr>
              <a:t> It applies algorithms to discover patterns and predict outcomes, forming the core focus of machine learning.</a:t>
            </a:r>
            <a:endParaRPr sz="1900">
              <a:solidFill>
                <a:schemeClr val="dk1"/>
              </a:solidFill>
            </a:endParaRPr>
          </a:p>
          <a:p>
            <a:pPr indent="0" lvl="0" marL="0" rtl="0" algn="just">
              <a:lnSpc>
                <a:spcPct val="115000"/>
              </a:lnSpc>
              <a:spcBef>
                <a:spcPts val="0"/>
              </a:spcBef>
              <a:spcAft>
                <a:spcPts val="0"/>
              </a:spcAft>
              <a:buNone/>
            </a:pPr>
            <a:r>
              <a:rPr b="1" lang="en-IN" sz="1900">
                <a:solidFill>
                  <a:srgbClr val="0000FF"/>
                </a:solidFill>
              </a:rPr>
              <a:t>Example:</a:t>
            </a:r>
            <a:endParaRPr b="1" sz="1900">
              <a:solidFill>
                <a:srgbClr val="0000FF"/>
              </a:solidFill>
            </a:endParaRPr>
          </a:p>
          <a:p>
            <a:pPr indent="0" lvl="0" marL="0" rtl="0" algn="just">
              <a:lnSpc>
                <a:spcPct val="115000"/>
              </a:lnSpc>
              <a:spcBef>
                <a:spcPts val="0"/>
              </a:spcBef>
              <a:spcAft>
                <a:spcPts val="0"/>
              </a:spcAft>
              <a:buNone/>
            </a:pPr>
            <a:r>
              <a:rPr b="1" lang="en-IN" sz="1900">
                <a:solidFill>
                  <a:schemeClr val="dk1"/>
                </a:solidFill>
              </a:rPr>
              <a:t>Seasonal Demand Forecasting:</a:t>
            </a:r>
            <a:r>
              <a:rPr lang="en-IN" sz="1900">
                <a:solidFill>
                  <a:schemeClr val="dk1"/>
                </a:solidFill>
              </a:rPr>
              <a:t> A supermarket chain uses historical sales trends, weather predictions, and upcoming holiday schedules to estimate how much inventory to stock for the next quarter.</a:t>
            </a:r>
            <a:endParaRPr sz="1900">
              <a:solidFill>
                <a:schemeClr val="dk1"/>
              </a:solidFill>
            </a:endParaRPr>
          </a:p>
          <a:p>
            <a:pPr indent="0" lvl="0" marL="0" rtl="0" algn="just">
              <a:lnSpc>
                <a:spcPct val="115000"/>
              </a:lnSpc>
              <a:spcBef>
                <a:spcPts val="0"/>
              </a:spcBef>
              <a:spcAft>
                <a:spcPts val="0"/>
              </a:spcAft>
              <a:buNone/>
            </a:pPr>
            <a:r>
              <a:rPr b="1" lang="en-IN" sz="1900">
                <a:solidFill>
                  <a:schemeClr val="dk1"/>
                </a:solidFill>
              </a:rPr>
              <a:t>Credit Default Risk Scoring:</a:t>
            </a:r>
            <a:r>
              <a:rPr lang="en-IN" sz="1900">
                <a:solidFill>
                  <a:schemeClr val="dk1"/>
                </a:solidFill>
              </a:rPr>
              <a:t> A bank uses machine learning models trained on past customer payment histories and credit scores to estimate the likelihood of a loan applicant defaulting.</a:t>
            </a:r>
            <a:endParaRPr sz="1900">
              <a:solidFill>
                <a:schemeClr val="dk1"/>
              </a:solidFill>
            </a:endParaRPr>
          </a:p>
          <a:p>
            <a:pPr indent="0" lvl="0" marL="0" rtl="0" algn="just">
              <a:lnSpc>
                <a:spcPct val="115000"/>
              </a:lnSpc>
              <a:spcBef>
                <a:spcPts val="0"/>
              </a:spcBef>
              <a:spcAft>
                <a:spcPts val="0"/>
              </a:spcAft>
              <a:buNone/>
            </a:pPr>
            <a:r>
              <a:rPr b="1" lang="en-IN" sz="1900">
                <a:solidFill>
                  <a:srgbClr val="FF0000"/>
                </a:solidFill>
              </a:rPr>
              <a:t>Prescriptive Analytics</a:t>
            </a:r>
            <a:r>
              <a:rPr lang="en-IN" sz="1900">
                <a:solidFill>
                  <a:srgbClr val="FF0000"/>
                </a:solidFill>
              </a:rPr>
              <a:t>:</a:t>
            </a:r>
            <a:r>
              <a:rPr lang="en-IN" sz="1900">
                <a:solidFill>
                  <a:schemeClr val="dk1"/>
                </a:solidFill>
              </a:rPr>
              <a:t> Recommends the best course of action for business organizations. Going beyond prediction, it suggests specific sets of actions to assist decision-making, improve future planning, and mitigate risks.</a:t>
            </a:r>
            <a:endParaRPr sz="1900">
              <a:solidFill>
                <a:schemeClr val="dk1"/>
              </a:solidFill>
            </a:endParaRPr>
          </a:p>
          <a:p>
            <a:pPr indent="0" lvl="0" marL="0" rtl="0" algn="just">
              <a:lnSpc>
                <a:spcPct val="115000"/>
              </a:lnSpc>
              <a:spcBef>
                <a:spcPts val="0"/>
              </a:spcBef>
              <a:spcAft>
                <a:spcPts val="0"/>
              </a:spcAft>
              <a:buNone/>
            </a:pPr>
            <a:r>
              <a:rPr b="1" lang="en-IN" sz="1900">
                <a:solidFill>
                  <a:srgbClr val="0000FF"/>
                </a:solidFill>
              </a:rPr>
              <a:t>Example:</a:t>
            </a:r>
            <a:endParaRPr b="1" sz="1900">
              <a:solidFill>
                <a:srgbClr val="0000FF"/>
              </a:solidFill>
            </a:endParaRPr>
          </a:p>
          <a:p>
            <a:pPr indent="0" lvl="0" marL="0" rtl="0" algn="just">
              <a:lnSpc>
                <a:spcPct val="115000"/>
              </a:lnSpc>
              <a:spcBef>
                <a:spcPts val="0"/>
              </a:spcBef>
              <a:spcAft>
                <a:spcPts val="0"/>
              </a:spcAft>
              <a:buNone/>
            </a:pPr>
            <a:r>
              <a:rPr b="1" lang="en-IN" sz="1900">
                <a:solidFill>
                  <a:schemeClr val="dk1"/>
                </a:solidFill>
              </a:rPr>
              <a:t>Dynamic Delivery Route Optimization:</a:t>
            </a:r>
            <a:r>
              <a:rPr lang="en-IN" sz="1900">
                <a:solidFill>
                  <a:schemeClr val="dk1"/>
                </a:solidFill>
              </a:rPr>
              <a:t> Logistics companies like UPS evaluate real-time traffic conditions, weather alerts, and delivery time windows to automatically prescribe the fastest, most fuel-efficient routes for drivers.</a:t>
            </a:r>
            <a:endParaRPr sz="1900">
              <a:solidFill>
                <a:schemeClr val="dk1"/>
              </a:solidFill>
            </a:endParaRPr>
          </a:p>
          <a:p>
            <a:pPr indent="0" lvl="0" marL="0" rtl="0" algn="just">
              <a:lnSpc>
                <a:spcPct val="115000"/>
              </a:lnSpc>
              <a:spcBef>
                <a:spcPts val="0"/>
              </a:spcBef>
              <a:spcAft>
                <a:spcPts val="0"/>
              </a:spcAft>
              <a:buNone/>
            </a:pPr>
            <a:r>
              <a:rPr b="1" lang="en-IN" sz="1900">
                <a:solidFill>
                  <a:schemeClr val="dk1"/>
                </a:solidFill>
              </a:rPr>
              <a:t>Automated Airline Price Adjustments:</a:t>
            </a:r>
            <a:r>
              <a:rPr lang="en-IN" sz="1900">
                <a:solidFill>
                  <a:schemeClr val="dk1"/>
                </a:solidFill>
              </a:rPr>
              <a:t> An airline uses algorithms that evaluate real-time booking speeds, competitor pricing, and remaining seat capacity to automatically adjust dynamic ticket prices to maximize profitability.</a:t>
            </a:r>
            <a:endParaRPr sz="1900">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g3fbbad65c78_0_46"/>
          <p:cNvSpPr txBox="1"/>
          <p:nvPr>
            <p:ph type="title"/>
          </p:nvPr>
        </p:nvSpPr>
        <p:spPr>
          <a:xfrm>
            <a:off x="265350" y="387800"/>
            <a:ext cx="11088600" cy="7197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990"/>
              <a:buFont typeface="Arial"/>
              <a:buNone/>
            </a:pPr>
            <a:r>
              <a:rPr b="1" lang="en-IN" sz="3380">
                <a:solidFill>
                  <a:srgbClr val="0000FF"/>
                </a:solidFill>
                <a:latin typeface="Times New Roman"/>
                <a:ea typeface="Times New Roman"/>
                <a:cs typeface="Times New Roman"/>
                <a:sym typeface="Times New Roman"/>
              </a:rPr>
              <a:t>2.4 Descriptive Statistics</a:t>
            </a:r>
            <a:endParaRPr b="1" sz="3380">
              <a:solidFill>
                <a:srgbClr val="0000FF"/>
              </a:solidFill>
              <a:latin typeface="Times New Roman"/>
              <a:ea typeface="Times New Roman"/>
              <a:cs typeface="Times New Roman"/>
              <a:sym typeface="Times New Roman"/>
            </a:endParaRPr>
          </a:p>
          <a:p>
            <a:pPr indent="0" lvl="0" marL="0" rtl="0" algn="l">
              <a:spcBef>
                <a:spcPts val="0"/>
              </a:spcBef>
              <a:spcAft>
                <a:spcPts val="0"/>
              </a:spcAft>
              <a:buSzPts val="990"/>
              <a:buNone/>
            </a:pPr>
            <a:r>
              <a:t/>
            </a:r>
            <a:endParaRPr b="1" sz="4460"/>
          </a:p>
        </p:txBody>
      </p:sp>
      <p:sp>
        <p:nvSpPr>
          <p:cNvPr id="404" name="Google Shape;404;g3fbbad65c78_0_46"/>
          <p:cNvSpPr txBox="1"/>
          <p:nvPr>
            <p:ph idx="1" type="body"/>
          </p:nvPr>
        </p:nvSpPr>
        <p:spPr>
          <a:xfrm>
            <a:off x="879025" y="703050"/>
            <a:ext cx="10107600" cy="3032100"/>
          </a:xfrm>
          <a:prstGeom prst="rect">
            <a:avLst/>
          </a:prstGeom>
        </p:spPr>
        <p:txBody>
          <a:bodyPr anchorCtr="0" anchor="t" bIns="45700" lIns="91425" spcFirstLastPara="1" rIns="91425" wrap="square" tIns="45700">
            <a:normAutofit/>
          </a:bodyPr>
          <a:lstStyle/>
          <a:p>
            <a:pPr indent="-368300" lvl="0" marL="457200" rtl="0" algn="just">
              <a:spcBef>
                <a:spcPts val="1000"/>
              </a:spcBef>
              <a:spcAft>
                <a:spcPts val="0"/>
              </a:spcAft>
              <a:buSzPts val="2200"/>
              <a:buFont typeface="Times New Roman"/>
              <a:buChar char="•"/>
            </a:pPr>
            <a:r>
              <a:rPr lang="en-IN" sz="2200">
                <a:latin typeface="Times New Roman"/>
                <a:ea typeface="Times New Roman"/>
                <a:cs typeface="Times New Roman"/>
                <a:sym typeface="Times New Roman"/>
              </a:rPr>
              <a:t>Descriptive statistics is a branch of statistics used to summarize, organize, and describe data. It helps us understand the important characteristics of a dataset without making predictions. </a:t>
            </a:r>
            <a:endParaRPr sz="2200">
              <a:latin typeface="Times New Roman"/>
              <a:ea typeface="Times New Roman"/>
              <a:cs typeface="Times New Roman"/>
              <a:sym typeface="Times New Roman"/>
            </a:endParaRPr>
          </a:p>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To understand the basic nature and characteristics of data.</a:t>
            </a:r>
            <a:endParaRPr sz="2200">
              <a:latin typeface="Times New Roman"/>
              <a:ea typeface="Times New Roman"/>
              <a:cs typeface="Times New Roman"/>
              <a:sym typeface="Times New Roman"/>
            </a:endParaRPr>
          </a:p>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Represents data using graphs, charts, and plots. </a:t>
            </a:r>
            <a:endParaRPr sz="2200">
              <a:latin typeface="Times New Roman"/>
              <a:ea typeface="Times New Roman"/>
              <a:cs typeface="Times New Roman"/>
              <a:sym typeface="Times New Roman"/>
            </a:endParaRPr>
          </a:p>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Examines data to discover patterns, relationships, and unusual observations. </a:t>
            </a:r>
            <a:endParaRPr sz="2200">
              <a:latin typeface="Times New Roman"/>
              <a:ea typeface="Times New Roman"/>
              <a:cs typeface="Times New Roman"/>
              <a:sym typeface="Times New Roman"/>
            </a:endParaRPr>
          </a:p>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Understanding the data helps us decide which machine learning or data-mining techniques can be applied. </a:t>
            </a:r>
            <a:endParaRPr sz="2200">
              <a:latin typeface="Times New Roman"/>
              <a:ea typeface="Times New Roman"/>
              <a:cs typeface="Times New Roman"/>
              <a:sym typeface="Times New Roman"/>
            </a:endParaRPr>
          </a:p>
          <a:p>
            <a:pPr indent="-368300" lvl="0" marL="457200" rtl="0" algn="just">
              <a:spcBef>
                <a:spcPts val="0"/>
              </a:spcBef>
              <a:spcAft>
                <a:spcPts val="0"/>
              </a:spcAft>
              <a:buSzPts val="2200"/>
              <a:buFont typeface="Times New Roman"/>
              <a:buChar char="•"/>
            </a:pPr>
            <a:r>
              <a:rPr lang="en-IN" sz="2200">
                <a:latin typeface="Times New Roman"/>
                <a:ea typeface="Times New Roman"/>
                <a:cs typeface="Times New Roman"/>
                <a:sym typeface="Times New Roman"/>
              </a:rPr>
              <a:t>Descriptive statistics + Data visualization atr the main Components of EDA  </a:t>
            </a:r>
            <a:endParaRPr sz="2200">
              <a:latin typeface="Times New Roman"/>
              <a:ea typeface="Times New Roman"/>
              <a:cs typeface="Times New Roman"/>
              <a:sym typeface="Times New Roman"/>
            </a:endParaRPr>
          </a:p>
        </p:txBody>
      </p:sp>
      <p:sp>
        <p:nvSpPr>
          <p:cNvPr id="405" name="Google Shape;405;g3fbbad65c78_0_46"/>
          <p:cNvSpPr txBox="1"/>
          <p:nvPr/>
        </p:nvSpPr>
        <p:spPr>
          <a:xfrm>
            <a:off x="879014" y="3571861"/>
            <a:ext cx="10883100" cy="29553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None/>
            </a:pPr>
            <a:r>
              <a:rPr b="1" lang="en-IN" sz="2000">
                <a:solidFill>
                  <a:srgbClr val="FF0000"/>
                </a:solidFill>
                <a:latin typeface="Times New Roman"/>
                <a:ea typeface="Times New Roman"/>
                <a:cs typeface="Times New Roman"/>
                <a:sym typeface="Times New Roman"/>
              </a:rPr>
              <a:t>Example</a:t>
            </a:r>
            <a:r>
              <a:rPr lang="en-IN" sz="2000">
                <a:solidFill>
                  <a:schemeClr val="dk1"/>
                </a:solidFill>
                <a:latin typeface="Times New Roman"/>
                <a:ea typeface="Times New Roman"/>
                <a:cs typeface="Times New Roman"/>
                <a:sym typeface="Times New Roman"/>
              </a:rPr>
              <a:t>: </a:t>
            </a:r>
            <a:r>
              <a:rPr lang="en-IN" sz="2000">
                <a:solidFill>
                  <a:schemeClr val="dk1"/>
                </a:solidFill>
                <a:latin typeface="Times New Roman"/>
                <a:ea typeface="Times New Roman"/>
                <a:cs typeface="Times New Roman"/>
                <a:sym typeface="Times New Roman"/>
              </a:rPr>
              <a:t>Suppose we have students' marks:</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b="1" lang="en-IN" sz="2000">
                <a:solidFill>
                  <a:schemeClr val="dk1"/>
                </a:solidFill>
                <a:latin typeface="Times New Roman"/>
                <a:ea typeface="Times New Roman"/>
                <a:cs typeface="Times New Roman"/>
                <a:sym typeface="Times New Roman"/>
              </a:rPr>
              <a:t>45, 60, 70, 75, 80, 90</a:t>
            </a:r>
            <a:endParaRPr b="1" sz="20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IN" sz="2000">
                <a:solidFill>
                  <a:schemeClr val="dk1"/>
                </a:solidFill>
                <a:latin typeface="Times New Roman"/>
                <a:ea typeface="Times New Roman"/>
                <a:cs typeface="Times New Roman"/>
                <a:sym typeface="Times New Roman"/>
              </a:rPr>
              <a:t>Descriptive statistics can tell us:</a:t>
            </a:r>
            <a:endParaRPr sz="2000">
              <a:solidFill>
                <a:schemeClr val="dk1"/>
              </a:solidFill>
              <a:latin typeface="Times New Roman"/>
              <a:ea typeface="Times New Roman"/>
              <a:cs typeface="Times New Roman"/>
              <a:sym typeface="Times New Roman"/>
            </a:endParaRPr>
          </a:p>
          <a:p>
            <a:pPr indent="-355600" lvl="0" marL="457200" rtl="0" algn="l">
              <a:lnSpc>
                <a:spcPct val="100000"/>
              </a:lnSpc>
              <a:spcBef>
                <a:spcPts val="0"/>
              </a:spcBef>
              <a:spcAft>
                <a:spcPts val="0"/>
              </a:spcAft>
              <a:buClr>
                <a:schemeClr val="dk1"/>
              </a:buClr>
              <a:buSzPts val="2000"/>
              <a:buChar char="●"/>
            </a:pPr>
            <a:r>
              <a:rPr b="1" lang="en-IN" sz="2000">
                <a:solidFill>
                  <a:schemeClr val="dk1"/>
                </a:solidFill>
                <a:latin typeface="Times New Roman"/>
                <a:ea typeface="Times New Roman"/>
                <a:cs typeface="Times New Roman"/>
                <a:sym typeface="Times New Roman"/>
              </a:rPr>
              <a:t>Mean</a:t>
            </a:r>
            <a:r>
              <a:rPr lang="en-IN" sz="2000">
                <a:solidFill>
                  <a:schemeClr val="dk1"/>
                </a:solidFill>
                <a:latin typeface="Times New Roman"/>
                <a:ea typeface="Times New Roman"/>
                <a:cs typeface="Times New Roman"/>
                <a:sym typeface="Times New Roman"/>
              </a:rPr>
              <a:t> → Average mark</a:t>
            </a:r>
            <a:endParaRPr sz="2000">
              <a:solidFill>
                <a:schemeClr val="dk1"/>
              </a:solidFill>
              <a:latin typeface="Times New Roman"/>
              <a:ea typeface="Times New Roman"/>
              <a:cs typeface="Times New Roman"/>
              <a:sym typeface="Times New Roman"/>
            </a:endParaRPr>
          </a:p>
          <a:p>
            <a:pPr indent="-355600" lvl="0" marL="457200" rtl="0" algn="l">
              <a:lnSpc>
                <a:spcPct val="100000"/>
              </a:lnSpc>
              <a:spcBef>
                <a:spcPts val="0"/>
              </a:spcBef>
              <a:spcAft>
                <a:spcPts val="0"/>
              </a:spcAft>
              <a:buClr>
                <a:schemeClr val="dk1"/>
              </a:buClr>
              <a:buSzPts val="2000"/>
              <a:buChar char="●"/>
            </a:pPr>
            <a:r>
              <a:rPr b="1" lang="en-IN" sz="2000">
                <a:solidFill>
                  <a:schemeClr val="dk1"/>
                </a:solidFill>
                <a:latin typeface="Times New Roman"/>
                <a:ea typeface="Times New Roman"/>
                <a:cs typeface="Times New Roman"/>
                <a:sym typeface="Times New Roman"/>
              </a:rPr>
              <a:t>Median</a:t>
            </a:r>
            <a:r>
              <a:rPr lang="en-IN" sz="2000">
                <a:solidFill>
                  <a:schemeClr val="dk1"/>
                </a:solidFill>
                <a:latin typeface="Times New Roman"/>
                <a:ea typeface="Times New Roman"/>
                <a:cs typeface="Times New Roman"/>
                <a:sym typeface="Times New Roman"/>
              </a:rPr>
              <a:t> → Middle mark</a:t>
            </a:r>
            <a:endParaRPr sz="2000">
              <a:solidFill>
                <a:schemeClr val="dk1"/>
              </a:solidFill>
              <a:latin typeface="Times New Roman"/>
              <a:ea typeface="Times New Roman"/>
              <a:cs typeface="Times New Roman"/>
              <a:sym typeface="Times New Roman"/>
            </a:endParaRPr>
          </a:p>
          <a:p>
            <a:pPr indent="-355600" lvl="0" marL="457200" rtl="0" algn="l">
              <a:lnSpc>
                <a:spcPct val="100000"/>
              </a:lnSpc>
              <a:spcBef>
                <a:spcPts val="0"/>
              </a:spcBef>
              <a:spcAft>
                <a:spcPts val="0"/>
              </a:spcAft>
              <a:buClr>
                <a:schemeClr val="dk1"/>
              </a:buClr>
              <a:buSzPts val="2000"/>
              <a:buChar char="●"/>
            </a:pPr>
            <a:r>
              <a:rPr b="1" lang="en-IN" sz="2000">
                <a:solidFill>
                  <a:schemeClr val="dk1"/>
                </a:solidFill>
                <a:latin typeface="Times New Roman"/>
                <a:ea typeface="Times New Roman"/>
                <a:cs typeface="Times New Roman"/>
                <a:sym typeface="Times New Roman"/>
              </a:rPr>
              <a:t>Minimum</a:t>
            </a:r>
            <a:r>
              <a:rPr lang="en-IN" sz="2000">
                <a:solidFill>
                  <a:schemeClr val="dk1"/>
                </a:solidFill>
                <a:latin typeface="Times New Roman"/>
                <a:ea typeface="Times New Roman"/>
                <a:cs typeface="Times New Roman"/>
                <a:sym typeface="Times New Roman"/>
              </a:rPr>
              <a:t> → 45</a:t>
            </a:r>
            <a:endParaRPr sz="2000">
              <a:solidFill>
                <a:schemeClr val="dk1"/>
              </a:solidFill>
              <a:latin typeface="Times New Roman"/>
              <a:ea typeface="Times New Roman"/>
              <a:cs typeface="Times New Roman"/>
              <a:sym typeface="Times New Roman"/>
            </a:endParaRPr>
          </a:p>
          <a:p>
            <a:pPr indent="-355600" lvl="0" marL="457200" rtl="0" algn="l">
              <a:lnSpc>
                <a:spcPct val="100000"/>
              </a:lnSpc>
              <a:spcBef>
                <a:spcPts val="0"/>
              </a:spcBef>
              <a:spcAft>
                <a:spcPts val="0"/>
              </a:spcAft>
              <a:buClr>
                <a:schemeClr val="dk1"/>
              </a:buClr>
              <a:buSzPts val="2000"/>
              <a:buChar char="●"/>
            </a:pPr>
            <a:r>
              <a:rPr b="1" lang="en-IN" sz="2000">
                <a:solidFill>
                  <a:schemeClr val="dk1"/>
                </a:solidFill>
                <a:latin typeface="Times New Roman"/>
                <a:ea typeface="Times New Roman"/>
                <a:cs typeface="Times New Roman"/>
                <a:sym typeface="Times New Roman"/>
              </a:rPr>
              <a:t>Maximum</a:t>
            </a:r>
            <a:r>
              <a:rPr lang="en-IN" sz="2000">
                <a:solidFill>
                  <a:schemeClr val="dk1"/>
                </a:solidFill>
                <a:latin typeface="Times New Roman"/>
                <a:ea typeface="Times New Roman"/>
                <a:cs typeface="Times New Roman"/>
                <a:sym typeface="Times New Roman"/>
              </a:rPr>
              <a:t> → 90</a:t>
            </a:r>
            <a:endParaRPr sz="2000">
              <a:solidFill>
                <a:schemeClr val="dk1"/>
              </a:solidFill>
              <a:latin typeface="Times New Roman"/>
              <a:ea typeface="Times New Roman"/>
              <a:cs typeface="Times New Roman"/>
              <a:sym typeface="Times New Roman"/>
            </a:endParaRPr>
          </a:p>
          <a:p>
            <a:pPr indent="-355600" lvl="0" marL="457200" rtl="0" algn="l">
              <a:lnSpc>
                <a:spcPct val="100000"/>
              </a:lnSpc>
              <a:spcBef>
                <a:spcPts val="0"/>
              </a:spcBef>
              <a:spcAft>
                <a:spcPts val="0"/>
              </a:spcAft>
              <a:buClr>
                <a:schemeClr val="dk1"/>
              </a:buClr>
              <a:buSzPts val="2000"/>
              <a:buChar char="●"/>
            </a:pPr>
            <a:r>
              <a:rPr b="1" lang="en-IN" sz="2000">
                <a:solidFill>
                  <a:schemeClr val="dk1"/>
                </a:solidFill>
                <a:latin typeface="Times New Roman"/>
                <a:ea typeface="Times New Roman"/>
                <a:cs typeface="Times New Roman"/>
                <a:sym typeface="Times New Roman"/>
              </a:rPr>
              <a:t>Range</a:t>
            </a:r>
            <a:r>
              <a:rPr lang="en-IN" sz="2000">
                <a:solidFill>
                  <a:schemeClr val="dk1"/>
                </a:solidFill>
                <a:latin typeface="Times New Roman"/>
                <a:ea typeface="Times New Roman"/>
                <a:cs typeface="Times New Roman"/>
                <a:sym typeface="Times New Roman"/>
              </a:rPr>
              <a:t> → 90 − 45 = 45</a:t>
            </a:r>
            <a:endParaRPr sz="2000">
              <a:solidFill>
                <a:schemeClr val="dk1"/>
              </a:solidFill>
              <a:latin typeface="Times New Roman"/>
              <a:ea typeface="Times New Roman"/>
              <a:cs typeface="Times New Roman"/>
              <a:sym typeface="Times New Roman"/>
            </a:endParaRPr>
          </a:p>
          <a:p>
            <a:pPr indent="0" lvl="0" marL="0" rtl="0" algn="l">
              <a:lnSpc>
                <a:spcPct val="100000"/>
              </a:lnSpc>
              <a:spcBef>
                <a:spcPts val="0"/>
              </a:spcBef>
              <a:spcAft>
                <a:spcPts val="0"/>
              </a:spcAft>
              <a:buNone/>
            </a:pPr>
            <a:r>
              <a:rPr lang="en-IN" sz="2000">
                <a:solidFill>
                  <a:schemeClr val="dk1"/>
                </a:solidFill>
                <a:latin typeface="Times New Roman"/>
                <a:ea typeface="Times New Roman"/>
                <a:cs typeface="Times New Roman"/>
                <a:sym typeface="Times New Roman"/>
              </a:rPr>
              <a:t>A </a:t>
            </a:r>
            <a:r>
              <a:rPr b="1" lang="en-IN" sz="2000">
                <a:solidFill>
                  <a:schemeClr val="dk1"/>
                </a:solidFill>
                <a:latin typeface="Times New Roman"/>
                <a:ea typeface="Times New Roman"/>
                <a:cs typeface="Times New Roman"/>
                <a:sym typeface="Times New Roman"/>
              </a:rPr>
              <a:t>bar chart or histogram</a:t>
            </a:r>
            <a:r>
              <a:rPr lang="en-IN" sz="2000">
                <a:solidFill>
                  <a:schemeClr val="dk1"/>
                </a:solidFill>
                <a:latin typeface="Times New Roman"/>
                <a:ea typeface="Times New Roman"/>
                <a:cs typeface="Times New Roman"/>
                <a:sym typeface="Times New Roman"/>
              </a:rPr>
              <a:t> can visually show how the marks are distributed.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h11367c7104fabfa0_0_321"/>
          <p:cNvSpPr txBox="1"/>
          <p:nvPr>
            <p:ph type="title"/>
          </p:nvPr>
        </p:nvSpPr>
        <p:spPr>
          <a:xfrm>
            <a:off x="244925" y="240100"/>
            <a:ext cx="11109000" cy="7098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IN" sz="3200">
                <a:solidFill>
                  <a:srgbClr val="0000FF"/>
                </a:solidFill>
                <a:latin typeface="Times New Roman"/>
                <a:ea typeface="Times New Roman"/>
                <a:cs typeface="Times New Roman"/>
                <a:sym typeface="Times New Roman"/>
              </a:rPr>
              <a:t>2.5 Univariate Data Analysis and Visualization </a:t>
            </a:r>
            <a:endParaRPr b="1">
              <a:solidFill>
                <a:srgbClr val="0000FF"/>
              </a:solidFill>
            </a:endParaRPr>
          </a:p>
        </p:txBody>
      </p:sp>
      <p:sp>
        <p:nvSpPr>
          <p:cNvPr id="411" name="Google Shape;411;h11367c7104fabfa0_0_321"/>
          <p:cNvSpPr txBox="1"/>
          <p:nvPr>
            <p:ph idx="1" type="body"/>
          </p:nvPr>
        </p:nvSpPr>
        <p:spPr>
          <a:xfrm>
            <a:off x="390000" y="1074800"/>
            <a:ext cx="11412000" cy="33723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lang="en-IN" sz="2200">
                <a:latin typeface="Times New Roman"/>
                <a:ea typeface="Times New Roman"/>
                <a:cs typeface="Times New Roman"/>
                <a:sym typeface="Times New Roman"/>
              </a:rPr>
              <a:t>Univariate analysis is the simplest form of statistical analysis where the dataset consists of only one variable. It focuses purely on describing the data and identifying patterns within a single category, rather than dealing with causes or relationships between variables. </a:t>
            </a:r>
            <a:endParaRPr sz="2200">
              <a:latin typeface="Times New Roman"/>
              <a:ea typeface="Times New Roman"/>
              <a:cs typeface="Times New Roman"/>
              <a:sym typeface="Times New Roman"/>
            </a:endParaRPr>
          </a:p>
          <a:p>
            <a:pPr indent="0" lvl="0" marL="0" rtl="0" algn="l">
              <a:lnSpc>
                <a:spcPct val="115000"/>
              </a:lnSpc>
              <a:spcBef>
                <a:spcPts val="0"/>
              </a:spcBef>
              <a:spcAft>
                <a:spcPts val="0"/>
              </a:spcAft>
              <a:buClr>
                <a:schemeClr val="dk1"/>
              </a:buClr>
              <a:buSzPts val="1100"/>
              <a:buFont typeface="Arial"/>
              <a:buNone/>
            </a:pPr>
            <a:r>
              <a:rPr lang="en-IN" sz="2200">
                <a:solidFill>
                  <a:srgbClr val="FF0000"/>
                </a:solidFill>
                <a:latin typeface="Times New Roman"/>
                <a:ea typeface="Times New Roman"/>
                <a:cs typeface="Times New Roman"/>
                <a:sym typeface="Times New Roman"/>
              </a:rPr>
              <a:t>Key components involved in describing univariate data include:</a:t>
            </a:r>
            <a:endParaRPr sz="2200">
              <a:solidFill>
                <a:srgbClr val="FF0000"/>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IN" sz="2200">
                <a:latin typeface="Times New Roman"/>
                <a:ea typeface="Times New Roman"/>
                <a:cs typeface="Times New Roman"/>
                <a:sym typeface="Times New Roman"/>
              </a:rPr>
              <a:t>Frequency Distributions</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IN" sz="2200">
                <a:latin typeface="Times New Roman"/>
                <a:ea typeface="Times New Roman"/>
                <a:cs typeface="Times New Roman"/>
                <a:sym typeface="Times New Roman"/>
              </a:rPr>
              <a:t>Central Tendency Measures</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IN" sz="2200">
                <a:latin typeface="Times New Roman"/>
                <a:ea typeface="Times New Roman"/>
                <a:cs typeface="Times New Roman"/>
                <a:sym typeface="Times New Roman"/>
              </a:rPr>
              <a:t>Dispersion or Variation</a:t>
            </a:r>
            <a:endParaRPr sz="2200">
              <a:latin typeface="Times New Roman"/>
              <a:ea typeface="Times New Roman"/>
              <a:cs typeface="Times New Roman"/>
              <a:sym typeface="Times New Roman"/>
            </a:endParaRPr>
          </a:p>
          <a:p>
            <a:pPr indent="-368300" lvl="0" marL="457200" rtl="0" algn="l">
              <a:lnSpc>
                <a:spcPct val="115000"/>
              </a:lnSpc>
              <a:spcBef>
                <a:spcPts val="0"/>
              </a:spcBef>
              <a:spcAft>
                <a:spcPts val="0"/>
              </a:spcAft>
              <a:buSzPts val="2200"/>
              <a:buFont typeface="Times New Roman"/>
              <a:buChar char="●"/>
            </a:pPr>
            <a:r>
              <a:rPr lang="en-IN" sz="2200">
                <a:latin typeface="Times New Roman"/>
                <a:ea typeface="Times New Roman"/>
                <a:cs typeface="Times New Roman"/>
                <a:sym typeface="Times New Roman"/>
              </a:rPr>
              <a:t>Shape of the Data</a:t>
            </a:r>
            <a:endParaRPr sz="2200">
              <a:latin typeface="Times New Roman"/>
              <a:ea typeface="Times New Roman"/>
              <a:cs typeface="Times New Roman"/>
              <a:sym typeface="Times New Roman"/>
            </a:endParaRPr>
          </a:p>
        </p:txBody>
      </p:sp>
      <p:sp>
        <p:nvSpPr>
          <p:cNvPr id="412" name="Google Shape;412;h11367c7104fabfa0_0_321"/>
          <p:cNvSpPr txBox="1"/>
          <p:nvPr/>
        </p:nvSpPr>
        <p:spPr>
          <a:xfrm>
            <a:off x="390000" y="3982756"/>
            <a:ext cx="114120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latin typeface="Times New Roman"/>
                <a:ea typeface="Times New Roman"/>
                <a:cs typeface="Times New Roman"/>
                <a:sym typeface="Times New Roman"/>
              </a:rPr>
              <a:t>To understand data, graph visualization is must. Data visualization helps to understand data. It helps to present information and data to customers. Some of the graphs that are used in univariate data analysis are bar charts, histograms, frequency polygons and pie charts. </a:t>
            </a:r>
            <a:endParaRPr sz="2000">
              <a:latin typeface="Times New Roman"/>
              <a:ea typeface="Times New Roman"/>
              <a:cs typeface="Times New Roman"/>
              <a:sym typeface="Times New Roman"/>
            </a:endParaRPr>
          </a:p>
        </p:txBody>
      </p:sp>
      <p:sp>
        <p:nvSpPr>
          <p:cNvPr id="413" name="Google Shape;413;h11367c7104fabfa0_0_321"/>
          <p:cNvSpPr txBox="1"/>
          <p:nvPr/>
        </p:nvSpPr>
        <p:spPr>
          <a:xfrm>
            <a:off x="390000" y="5113153"/>
            <a:ext cx="113079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000">
                <a:solidFill>
                  <a:srgbClr val="FF0000"/>
                </a:solidFill>
                <a:latin typeface="Times New Roman"/>
                <a:ea typeface="Times New Roman"/>
                <a:cs typeface="Times New Roman"/>
                <a:sym typeface="Times New Roman"/>
              </a:rPr>
              <a:t>2.5.1 Data Visualization</a:t>
            </a:r>
            <a:endParaRPr b="1" sz="2000">
              <a:solidFill>
                <a:srgbClr val="FF0000"/>
              </a:solidFill>
              <a:latin typeface="Times New Roman"/>
              <a:ea typeface="Times New Roman"/>
              <a:cs typeface="Times New Roman"/>
              <a:sym typeface="Times New Roman"/>
            </a:endParaRPr>
          </a:p>
          <a:p>
            <a:pPr indent="0" lvl="0" marL="0" rtl="0" algn="l">
              <a:spcBef>
                <a:spcPts val="0"/>
              </a:spcBef>
              <a:spcAft>
                <a:spcPts val="0"/>
              </a:spcAft>
              <a:buNone/>
            </a:pPr>
            <a:r>
              <a:rPr b="1" lang="en-IN" sz="2000">
                <a:solidFill>
                  <a:schemeClr val="dk1"/>
                </a:solidFill>
                <a:latin typeface="Times New Roman"/>
                <a:ea typeface="Times New Roman"/>
                <a:cs typeface="Times New Roman"/>
                <a:sym typeface="Times New Roman"/>
              </a:rPr>
              <a:t>Bar Chart</a:t>
            </a:r>
            <a:r>
              <a:rPr lang="en-IN" sz="2000">
                <a:solidFill>
                  <a:schemeClr val="dk1"/>
                </a:solidFill>
                <a:latin typeface="Times New Roman"/>
                <a:ea typeface="Times New Roman"/>
                <a:cs typeface="Times New Roman"/>
                <a:sym typeface="Times New Roman"/>
              </a:rPr>
              <a:t> A Bar chart (or Bar graph) is used to display the frequency distribution for variables. Bar charts are used to illustrate discrete data. The charts can also help to explain the counts of nominal data. It also helps in comparing the frequency of different groups.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pic>
        <p:nvPicPr>
          <p:cNvPr id="418" name="Google Shape;418;h639a7c6611a3acbf_1_23"/>
          <p:cNvPicPr preferRelativeResize="0"/>
          <p:nvPr/>
        </p:nvPicPr>
        <p:blipFill>
          <a:blip r:embed="rId3">
            <a:alphaModFix/>
          </a:blip>
          <a:stretch>
            <a:fillRect/>
          </a:stretch>
        </p:blipFill>
        <p:spPr>
          <a:xfrm>
            <a:off x="134550" y="22650"/>
            <a:ext cx="5419725" cy="3084875"/>
          </a:xfrm>
          <a:prstGeom prst="rect">
            <a:avLst/>
          </a:prstGeom>
          <a:noFill/>
          <a:ln>
            <a:noFill/>
          </a:ln>
        </p:spPr>
      </p:pic>
      <p:pic>
        <p:nvPicPr>
          <p:cNvPr id="419" name="Google Shape;419;h639a7c6611a3acbf_1_23"/>
          <p:cNvPicPr preferRelativeResize="0"/>
          <p:nvPr/>
        </p:nvPicPr>
        <p:blipFill>
          <a:blip r:embed="rId4">
            <a:alphaModFix/>
          </a:blip>
          <a:stretch>
            <a:fillRect/>
          </a:stretch>
        </p:blipFill>
        <p:spPr>
          <a:xfrm>
            <a:off x="5840025" y="111925"/>
            <a:ext cx="6351976" cy="3531400"/>
          </a:xfrm>
          <a:prstGeom prst="rect">
            <a:avLst/>
          </a:prstGeom>
          <a:noFill/>
          <a:ln>
            <a:noFill/>
          </a:ln>
        </p:spPr>
      </p:pic>
      <p:pic>
        <p:nvPicPr>
          <p:cNvPr id="420" name="Google Shape;420;h639a7c6611a3acbf_1_23"/>
          <p:cNvPicPr preferRelativeResize="0"/>
          <p:nvPr/>
        </p:nvPicPr>
        <p:blipFill>
          <a:blip r:embed="rId5">
            <a:alphaModFix/>
          </a:blip>
          <a:stretch>
            <a:fillRect/>
          </a:stretch>
        </p:blipFill>
        <p:spPr>
          <a:xfrm>
            <a:off x="134550" y="3214700"/>
            <a:ext cx="5419725" cy="3643300"/>
          </a:xfrm>
          <a:prstGeom prst="rect">
            <a:avLst/>
          </a:prstGeom>
          <a:noFill/>
          <a:ln>
            <a:noFill/>
          </a:ln>
        </p:spPr>
      </p:pic>
      <p:pic>
        <p:nvPicPr>
          <p:cNvPr id="421" name="Google Shape;421;h639a7c6611a3acbf_1_23"/>
          <p:cNvPicPr preferRelativeResize="0"/>
          <p:nvPr/>
        </p:nvPicPr>
        <p:blipFill>
          <a:blip r:embed="rId6">
            <a:alphaModFix/>
          </a:blip>
          <a:stretch>
            <a:fillRect/>
          </a:stretch>
        </p:blipFill>
        <p:spPr>
          <a:xfrm>
            <a:off x="5947175" y="3643325"/>
            <a:ext cx="5947175" cy="32146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h639a7c6611a3acbf_1_32"/>
          <p:cNvSpPr txBox="1"/>
          <p:nvPr>
            <p:ph idx="1" type="body"/>
          </p:nvPr>
        </p:nvSpPr>
        <p:spPr>
          <a:xfrm>
            <a:off x="141675" y="164700"/>
            <a:ext cx="6798000" cy="6479100"/>
          </a:xfrm>
          <a:prstGeom prst="rect">
            <a:avLst/>
          </a:prstGeom>
        </p:spPr>
        <p:txBody>
          <a:bodyPr anchorCtr="0" anchor="t" bIns="45700" lIns="91425" spcFirstLastPara="1" rIns="91425" wrap="square" tIns="45700">
            <a:normAutofit lnSpcReduction="10000"/>
          </a:bodyPr>
          <a:lstStyle/>
          <a:p>
            <a:pPr indent="0" lvl="0" marL="0" rtl="0" algn="just">
              <a:spcBef>
                <a:spcPts val="1000"/>
              </a:spcBef>
              <a:spcAft>
                <a:spcPts val="0"/>
              </a:spcAft>
              <a:buNone/>
            </a:pPr>
            <a:r>
              <a:rPr b="1" lang="en-IN" sz="1800">
                <a:solidFill>
                  <a:srgbClr val="FF0000"/>
                </a:solidFill>
              </a:rPr>
              <a:t>2.5.2 Central Tendency</a:t>
            </a:r>
            <a:endParaRPr b="1" sz="1800">
              <a:solidFill>
                <a:srgbClr val="FF0000"/>
              </a:solidFill>
            </a:endParaRPr>
          </a:p>
          <a:p>
            <a:pPr indent="0" lvl="0" marL="0" rtl="0" algn="just">
              <a:spcBef>
                <a:spcPts val="1000"/>
              </a:spcBef>
              <a:spcAft>
                <a:spcPts val="0"/>
              </a:spcAft>
              <a:buNone/>
            </a:pPr>
            <a:r>
              <a:rPr lang="en-IN" sz="1592">
                <a:latin typeface="Times New Roman"/>
                <a:ea typeface="Times New Roman"/>
                <a:cs typeface="Times New Roman"/>
                <a:sym typeface="Times New Roman"/>
              </a:rPr>
              <a:t>Central Tendency Overview: Condensing or summarizing data makes analysis and comparisons easier. Mass data tends to concentrate near a central location, known as a measure of central tendency or averages (the "first order of measures"). The most popular measures are mean, median, and mode. </a:t>
            </a:r>
            <a:endParaRPr sz="1592">
              <a:latin typeface="Times New Roman"/>
              <a:ea typeface="Times New Roman"/>
              <a:cs typeface="Times New Roman"/>
              <a:sym typeface="Times New Roman"/>
            </a:endParaRPr>
          </a:p>
          <a:p>
            <a:pPr indent="0" lvl="0" marL="0" rtl="0" algn="just">
              <a:lnSpc>
                <a:spcPct val="115000"/>
              </a:lnSpc>
              <a:spcBef>
                <a:spcPts val="0"/>
              </a:spcBef>
              <a:spcAft>
                <a:spcPts val="0"/>
              </a:spcAft>
              <a:buClr>
                <a:schemeClr val="dk1"/>
              </a:buClr>
              <a:buSzPts val="1100"/>
              <a:buFont typeface="Arial"/>
              <a:buNone/>
            </a:pPr>
            <a:r>
              <a:rPr lang="en-IN" sz="1792">
                <a:solidFill>
                  <a:srgbClr val="0000FF"/>
                </a:solidFill>
                <a:latin typeface="Times New Roman"/>
                <a:ea typeface="Times New Roman"/>
                <a:cs typeface="Times New Roman"/>
                <a:sym typeface="Times New Roman"/>
              </a:rPr>
              <a:t>Arithmetic Mean:</a:t>
            </a:r>
            <a:endParaRPr sz="1792">
              <a:solidFill>
                <a:srgbClr val="0000FF"/>
              </a:solidFill>
              <a:latin typeface="Times New Roman"/>
              <a:ea typeface="Times New Roman"/>
              <a:cs typeface="Times New Roman"/>
              <a:sym typeface="Times New Roman"/>
            </a:endParaRPr>
          </a:p>
          <a:p>
            <a:pPr indent="-336035" lvl="0" marL="457200" rtl="0" algn="just">
              <a:lnSpc>
                <a:spcPct val="115000"/>
              </a:lnSpc>
              <a:spcBef>
                <a:spcPts val="1200"/>
              </a:spcBef>
              <a:spcAft>
                <a:spcPts val="0"/>
              </a:spcAft>
              <a:buSzPts val="1692"/>
              <a:buFont typeface="Times New Roman"/>
              <a:buChar char="●"/>
            </a:pPr>
            <a:r>
              <a:rPr lang="en-IN" sz="1692">
                <a:latin typeface="Times New Roman"/>
                <a:ea typeface="Times New Roman"/>
                <a:cs typeface="Times New Roman"/>
                <a:sym typeface="Times New Roman"/>
              </a:rPr>
              <a:t>Represents the 'center' of the dataset and is commonly used in everyday contexts (e.g., average income, average traffic).</a:t>
            </a:r>
            <a:endParaRPr sz="1692">
              <a:latin typeface="Times New Roman"/>
              <a:ea typeface="Times New Roman"/>
              <a:cs typeface="Times New Roman"/>
              <a:sym typeface="Times New Roman"/>
            </a:endParaRPr>
          </a:p>
          <a:p>
            <a:pPr indent="-336035" lvl="0" marL="457200" rtl="0" algn="just">
              <a:lnSpc>
                <a:spcPct val="115000"/>
              </a:lnSpc>
              <a:spcBef>
                <a:spcPts val="0"/>
              </a:spcBef>
              <a:spcAft>
                <a:spcPts val="0"/>
              </a:spcAft>
              <a:buSzPts val="1692"/>
              <a:buFont typeface="Times New Roman"/>
              <a:buChar char="●"/>
            </a:pPr>
            <a:r>
              <a:rPr lang="en-IN" sz="1692">
                <a:latin typeface="Times New Roman"/>
                <a:ea typeface="Times New Roman"/>
                <a:cs typeface="Times New Roman"/>
                <a:sym typeface="Times New Roman"/>
              </a:rPr>
              <a:t>Calculated by adding all data values and dividing the sum by the total number of observations (N).</a:t>
            </a:r>
            <a:endParaRPr sz="1692">
              <a:latin typeface="Times New Roman"/>
              <a:ea typeface="Times New Roman"/>
              <a:cs typeface="Times New Roman"/>
              <a:sym typeface="Times New Roman"/>
            </a:endParaRPr>
          </a:p>
          <a:p>
            <a:pPr indent="-336035" lvl="0" marL="457200" rtl="0" algn="just">
              <a:lnSpc>
                <a:spcPct val="115000"/>
              </a:lnSpc>
              <a:spcBef>
                <a:spcPts val="0"/>
              </a:spcBef>
              <a:spcAft>
                <a:spcPts val="0"/>
              </a:spcAft>
              <a:buSzPts val="1692"/>
              <a:buFont typeface="Times New Roman"/>
              <a:buChar char="●"/>
            </a:pPr>
            <a:r>
              <a:rPr lang="en-IN" sz="1692">
                <a:latin typeface="Times New Roman"/>
                <a:ea typeface="Times New Roman"/>
                <a:cs typeface="Times New Roman"/>
                <a:sym typeface="Times New Roman"/>
              </a:rPr>
              <a:t>Formula:</a:t>
            </a:r>
            <a:endParaRPr sz="1692">
              <a:latin typeface="Times New Roman"/>
              <a:ea typeface="Times New Roman"/>
              <a:cs typeface="Times New Roman"/>
              <a:sym typeface="Times New Roman"/>
            </a:endParaRPr>
          </a:p>
          <a:p>
            <a:pPr indent="0" lvl="0" marL="0" rtl="0" algn="just">
              <a:spcBef>
                <a:spcPts val="1200"/>
              </a:spcBef>
              <a:spcAft>
                <a:spcPts val="0"/>
              </a:spcAft>
              <a:buNone/>
            </a:pPr>
            <a:r>
              <a:t/>
            </a:r>
            <a:endParaRPr sz="1800"/>
          </a:p>
          <a:p>
            <a:pPr indent="0" lvl="0" marL="0" rtl="0" algn="just">
              <a:spcBef>
                <a:spcPts val="1000"/>
              </a:spcBef>
              <a:spcAft>
                <a:spcPts val="0"/>
              </a:spcAft>
              <a:buNone/>
            </a:pPr>
            <a:r>
              <a:t/>
            </a:r>
            <a:endParaRPr sz="1800"/>
          </a:p>
          <a:p>
            <a:pPr indent="0" lvl="0" marL="0" rtl="0" algn="just">
              <a:spcBef>
                <a:spcPts val="1000"/>
              </a:spcBef>
              <a:spcAft>
                <a:spcPts val="0"/>
              </a:spcAft>
              <a:buNone/>
            </a:pPr>
            <a:r>
              <a:t/>
            </a:r>
            <a:endParaRPr sz="1800"/>
          </a:p>
          <a:p>
            <a:pPr indent="0" lvl="0" marL="0" rtl="0" algn="just">
              <a:spcBef>
                <a:spcPts val="1000"/>
              </a:spcBef>
              <a:spcAft>
                <a:spcPts val="0"/>
              </a:spcAft>
              <a:buNone/>
            </a:pPr>
            <a:r>
              <a:t/>
            </a:r>
            <a:endParaRPr sz="1800"/>
          </a:p>
          <a:p>
            <a:pPr indent="0" lvl="0" marL="0" rtl="0" algn="just">
              <a:spcBef>
                <a:spcPts val="1000"/>
              </a:spcBef>
              <a:spcAft>
                <a:spcPts val="0"/>
              </a:spcAft>
              <a:buNone/>
            </a:pPr>
            <a:r>
              <a:t/>
            </a:r>
            <a:endParaRPr sz="1800"/>
          </a:p>
          <a:p>
            <a:pPr indent="0" lvl="0" marL="0" rtl="0" algn="just">
              <a:spcBef>
                <a:spcPts val="1000"/>
              </a:spcBef>
              <a:spcAft>
                <a:spcPts val="0"/>
              </a:spcAft>
              <a:buNone/>
            </a:pPr>
            <a:r>
              <a:rPr b="1" lang="en-IN" sz="1800"/>
              <a:t>Weighted Mean:</a:t>
            </a:r>
            <a:r>
              <a:rPr lang="en-IN" sz="1800"/>
              <a:t> Unlike the standard arithmetic mean (which weights all items equally), a weighted mean assigns different levels of importance/weightage to different items depending on their relative importance. </a:t>
            </a:r>
            <a:endParaRPr sz="1800"/>
          </a:p>
          <a:p>
            <a:pPr indent="0" lvl="0" marL="0" rtl="0" algn="just">
              <a:spcBef>
                <a:spcPts val="1000"/>
              </a:spcBef>
              <a:spcAft>
                <a:spcPts val="0"/>
              </a:spcAft>
              <a:buNone/>
            </a:pPr>
            <a:r>
              <a:t/>
            </a:r>
            <a:endParaRPr sz="1800"/>
          </a:p>
        </p:txBody>
      </p:sp>
      <p:pic>
        <p:nvPicPr>
          <p:cNvPr id="427" name="Google Shape;427;h639a7c6611a3acbf_1_32"/>
          <p:cNvPicPr preferRelativeResize="0"/>
          <p:nvPr/>
        </p:nvPicPr>
        <p:blipFill>
          <a:blip r:embed="rId3">
            <a:alphaModFix/>
          </a:blip>
          <a:stretch>
            <a:fillRect/>
          </a:stretch>
        </p:blipFill>
        <p:spPr>
          <a:xfrm>
            <a:off x="7068925" y="1816550"/>
            <a:ext cx="5123075" cy="1380469"/>
          </a:xfrm>
          <a:prstGeom prst="rect">
            <a:avLst/>
          </a:prstGeom>
          <a:noFill/>
          <a:ln>
            <a:noFill/>
          </a:ln>
        </p:spPr>
      </p:pic>
      <p:pic>
        <p:nvPicPr>
          <p:cNvPr id="428" name="Google Shape;428;h639a7c6611a3acbf_1_32"/>
          <p:cNvPicPr preferRelativeResize="0"/>
          <p:nvPr/>
        </p:nvPicPr>
        <p:blipFill>
          <a:blip r:embed="rId4">
            <a:alphaModFix/>
          </a:blip>
          <a:stretch>
            <a:fillRect/>
          </a:stretch>
        </p:blipFill>
        <p:spPr>
          <a:xfrm>
            <a:off x="141675" y="3287500"/>
            <a:ext cx="8777799" cy="357050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pic>
        <p:nvPicPr>
          <p:cNvPr id="433" name="Google Shape;433;h639a7c6611a3acbf_1_42"/>
          <p:cNvPicPr preferRelativeResize="0"/>
          <p:nvPr/>
        </p:nvPicPr>
        <p:blipFill>
          <a:blip r:embed="rId3">
            <a:alphaModFix/>
          </a:blip>
          <a:stretch>
            <a:fillRect/>
          </a:stretch>
        </p:blipFill>
        <p:spPr>
          <a:xfrm>
            <a:off x="152400" y="124050"/>
            <a:ext cx="8732325" cy="689050"/>
          </a:xfrm>
          <a:prstGeom prst="rect">
            <a:avLst/>
          </a:prstGeom>
          <a:noFill/>
          <a:ln>
            <a:noFill/>
          </a:ln>
        </p:spPr>
      </p:pic>
      <p:pic>
        <p:nvPicPr>
          <p:cNvPr id="434" name="Google Shape;434;h639a7c6611a3acbf_1_42"/>
          <p:cNvPicPr preferRelativeResize="0"/>
          <p:nvPr/>
        </p:nvPicPr>
        <p:blipFill>
          <a:blip r:embed="rId4">
            <a:alphaModFix/>
          </a:blip>
          <a:stretch>
            <a:fillRect/>
          </a:stretch>
        </p:blipFill>
        <p:spPr>
          <a:xfrm>
            <a:off x="339325" y="716925"/>
            <a:ext cx="8131125" cy="1640350"/>
          </a:xfrm>
          <a:prstGeom prst="rect">
            <a:avLst/>
          </a:prstGeom>
          <a:noFill/>
          <a:ln>
            <a:noFill/>
          </a:ln>
        </p:spPr>
      </p:pic>
      <p:pic>
        <p:nvPicPr>
          <p:cNvPr id="435" name="Google Shape;435;h639a7c6611a3acbf_1_42"/>
          <p:cNvPicPr preferRelativeResize="0"/>
          <p:nvPr/>
        </p:nvPicPr>
        <p:blipFill>
          <a:blip r:embed="rId5">
            <a:alphaModFix/>
          </a:blip>
          <a:stretch>
            <a:fillRect/>
          </a:stretch>
        </p:blipFill>
        <p:spPr>
          <a:xfrm>
            <a:off x="339325" y="1975960"/>
            <a:ext cx="6151275" cy="1640340"/>
          </a:xfrm>
          <a:prstGeom prst="rect">
            <a:avLst/>
          </a:prstGeom>
          <a:noFill/>
          <a:ln>
            <a:noFill/>
          </a:ln>
        </p:spPr>
      </p:pic>
      <p:sp>
        <p:nvSpPr>
          <p:cNvPr id="436" name="Google Shape;436;h639a7c6611a3acbf_1_42"/>
          <p:cNvSpPr txBox="1"/>
          <p:nvPr/>
        </p:nvSpPr>
        <p:spPr>
          <a:xfrm>
            <a:off x="197050" y="3933730"/>
            <a:ext cx="117675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200">
                <a:solidFill>
                  <a:schemeClr val="dk1"/>
                </a:solidFill>
                <a:latin typeface="Times New Roman"/>
                <a:ea typeface="Times New Roman"/>
                <a:cs typeface="Times New Roman"/>
                <a:sym typeface="Times New Roman"/>
              </a:rPr>
              <a:t>Logarithmic / Anti-log Formula (for larger datasets):</a:t>
            </a:r>
            <a:r>
              <a:rPr lang="en-IN" sz="2200">
                <a:solidFill>
                  <a:schemeClr val="dk1"/>
                </a:solidFill>
                <a:latin typeface="Times New Roman"/>
                <a:ea typeface="Times New Roman"/>
                <a:cs typeface="Times New Roman"/>
                <a:sym typeface="Times New Roman"/>
              </a:rPr>
              <a:t> Because multiplying many numbers can be difficult, the geometric mean is commonly calculated using logarithms: </a:t>
            </a:r>
            <a:endParaRPr sz="2200">
              <a:latin typeface="Times New Roman"/>
              <a:ea typeface="Times New Roman"/>
              <a:cs typeface="Times New Roman"/>
              <a:sym typeface="Times New Roman"/>
            </a:endParaRPr>
          </a:p>
        </p:txBody>
      </p:sp>
      <p:pic>
        <p:nvPicPr>
          <p:cNvPr id="437" name="Google Shape;437;h639a7c6611a3acbf_1_42"/>
          <p:cNvPicPr preferRelativeResize="0"/>
          <p:nvPr/>
        </p:nvPicPr>
        <p:blipFill>
          <a:blip r:embed="rId6">
            <a:alphaModFix/>
          </a:blip>
          <a:stretch>
            <a:fillRect/>
          </a:stretch>
        </p:blipFill>
        <p:spPr>
          <a:xfrm>
            <a:off x="152400" y="4779156"/>
            <a:ext cx="11767449" cy="873821"/>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h639a7c6611a3acbf_1_54"/>
          <p:cNvSpPr txBox="1"/>
          <p:nvPr>
            <p:ph idx="1" type="body"/>
          </p:nvPr>
        </p:nvSpPr>
        <p:spPr>
          <a:xfrm>
            <a:off x="581025" y="274425"/>
            <a:ext cx="10919700" cy="26319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IN" sz="1800"/>
              <a:t>The </a:t>
            </a:r>
            <a:r>
              <a:rPr b="1" lang="en-IN" sz="1900">
                <a:solidFill>
                  <a:srgbClr val="0000FF"/>
                </a:solidFill>
              </a:rPr>
              <a:t>Median</a:t>
            </a:r>
            <a:r>
              <a:rPr lang="en-IN" sz="1900">
                <a:solidFill>
                  <a:srgbClr val="0000FF"/>
                </a:solidFill>
              </a:rPr>
              <a:t> </a:t>
            </a:r>
            <a:r>
              <a:rPr lang="en-IN" sz="1800"/>
              <a:t>is the middle value in a distribution, dividing the dataset into two equal halves where half the values are lower and half are higher. </a:t>
            </a:r>
            <a:endParaRPr sz="1800"/>
          </a:p>
          <a:p>
            <a:pPr indent="0" lvl="0" marL="0" rtl="0" algn="l">
              <a:lnSpc>
                <a:spcPct val="115000"/>
              </a:lnSpc>
              <a:spcBef>
                <a:spcPts val="0"/>
              </a:spcBef>
              <a:spcAft>
                <a:spcPts val="0"/>
              </a:spcAft>
              <a:buClr>
                <a:schemeClr val="dk1"/>
              </a:buClr>
              <a:buSzPts val="1100"/>
              <a:buFont typeface="Arial"/>
              <a:buNone/>
            </a:pPr>
            <a:r>
              <a:rPr b="1" lang="en-IN" sz="1800"/>
              <a:t>Basic Rules (Ungrouped Data)</a:t>
            </a:r>
            <a:endParaRPr b="1" sz="1800"/>
          </a:p>
          <a:p>
            <a:pPr indent="-342900" lvl="0" marL="457200" rtl="0" algn="l">
              <a:lnSpc>
                <a:spcPct val="115000"/>
              </a:lnSpc>
              <a:spcBef>
                <a:spcPts val="400"/>
              </a:spcBef>
              <a:spcAft>
                <a:spcPts val="0"/>
              </a:spcAft>
              <a:buSzPts val="1800"/>
              <a:buChar char="●"/>
            </a:pPr>
            <a:r>
              <a:rPr b="1" lang="en-IN" sz="1800"/>
              <a:t>Odd number of items (N is odd):</a:t>
            </a:r>
            <a:r>
              <a:rPr lang="en-IN" sz="1800"/>
              <a:t> The median is the exact middle value.</a:t>
            </a:r>
            <a:endParaRPr sz="1800"/>
          </a:p>
          <a:p>
            <a:pPr indent="-342900" lvl="0" marL="457200" rtl="0" algn="l">
              <a:lnSpc>
                <a:spcPct val="115000"/>
              </a:lnSpc>
              <a:spcBef>
                <a:spcPts val="0"/>
              </a:spcBef>
              <a:spcAft>
                <a:spcPts val="0"/>
              </a:spcAft>
              <a:buSzPts val="1800"/>
              <a:buChar char="●"/>
            </a:pPr>
            <a:r>
              <a:rPr b="1" lang="en-IN" sz="1800"/>
              <a:t>Even number of items (N is even):</a:t>
            </a:r>
            <a:r>
              <a:rPr lang="en-IN" sz="1800"/>
              <a:t> The median is the average (mean) of the two central values.</a:t>
            </a:r>
            <a:endParaRPr sz="1800"/>
          </a:p>
          <a:p>
            <a:pPr indent="0" lvl="0" marL="0" rtl="0" algn="l">
              <a:lnSpc>
                <a:spcPct val="115000"/>
              </a:lnSpc>
              <a:spcBef>
                <a:spcPts val="1400"/>
              </a:spcBef>
              <a:spcAft>
                <a:spcPts val="0"/>
              </a:spcAft>
              <a:buNone/>
            </a:pPr>
            <a:r>
              <a:rPr b="1" lang="en-IN" sz="1800"/>
              <a:t>Continuous / Grouped Data Formula</a:t>
            </a:r>
            <a:endParaRPr b="1" sz="1800"/>
          </a:p>
          <a:p>
            <a:pPr indent="0" lvl="0" marL="0" rtl="0" algn="l">
              <a:lnSpc>
                <a:spcPct val="115000"/>
              </a:lnSpc>
              <a:spcBef>
                <a:spcPts val="1200"/>
              </a:spcBef>
              <a:spcAft>
                <a:spcPts val="1200"/>
              </a:spcAft>
              <a:buNone/>
            </a:pPr>
            <a:r>
              <a:rPr lang="en-IN" sz="1800"/>
              <a:t>For continuous data grouped into classes, the median is calculated using:</a:t>
            </a:r>
            <a:endParaRPr sz="1800"/>
          </a:p>
        </p:txBody>
      </p:sp>
      <p:pic>
        <p:nvPicPr>
          <p:cNvPr id="443" name="Google Shape;443;h639a7c6611a3acbf_1_54"/>
          <p:cNvPicPr preferRelativeResize="0"/>
          <p:nvPr/>
        </p:nvPicPr>
        <p:blipFill>
          <a:blip r:embed="rId3">
            <a:alphaModFix/>
          </a:blip>
          <a:stretch>
            <a:fillRect/>
          </a:stretch>
        </p:blipFill>
        <p:spPr>
          <a:xfrm>
            <a:off x="265825" y="4373900"/>
            <a:ext cx="3510150" cy="1054875"/>
          </a:xfrm>
          <a:prstGeom prst="rect">
            <a:avLst/>
          </a:prstGeom>
          <a:noFill/>
          <a:ln>
            <a:noFill/>
          </a:ln>
        </p:spPr>
      </p:pic>
      <p:pic>
        <p:nvPicPr>
          <p:cNvPr id="444" name="Google Shape;444;h639a7c6611a3acbf_1_54"/>
          <p:cNvPicPr preferRelativeResize="0"/>
          <p:nvPr/>
        </p:nvPicPr>
        <p:blipFill>
          <a:blip r:embed="rId4">
            <a:alphaModFix/>
          </a:blip>
          <a:stretch>
            <a:fillRect/>
          </a:stretch>
        </p:blipFill>
        <p:spPr>
          <a:xfrm>
            <a:off x="4165125" y="3014944"/>
            <a:ext cx="7775150" cy="3741006"/>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h3154f12b0ed71a99_0_0"/>
          <p:cNvSpPr txBox="1"/>
          <p:nvPr>
            <p:ph type="title"/>
          </p:nvPr>
        </p:nvSpPr>
        <p:spPr>
          <a:xfrm>
            <a:off x="384375" y="365125"/>
            <a:ext cx="10969500" cy="2709900"/>
          </a:xfrm>
          <a:prstGeom prst="rect">
            <a:avLst/>
          </a:prstGeom>
        </p:spPr>
        <p:txBody>
          <a:bodyPr anchorCtr="0" anchor="ctr" bIns="45700" lIns="91425" spcFirstLastPara="1" rIns="91425" wrap="square" tIns="45700">
            <a:normAutofit fontScale="90000"/>
          </a:bodyPr>
          <a:lstStyle/>
          <a:p>
            <a:pPr indent="0" lvl="0" marL="0" rtl="0" algn="l">
              <a:spcBef>
                <a:spcPts val="0"/>
              </a:spcBef>
              <a:spcAft>
                <a:spcPts val="0"/>
              </a:spcAft>
              <a:buNone/>
            </a:pPr>
            <a:r>
              <a:rPr b="1" lang="en-IN" sz="2400">
                <a:solidFill>
                  <a:srgbClr val="0000FF"/>
                </a:solidFill>
                <a:latin typeface="Times New Roman"/>
                <a:ea typeface="Times New Roman"/>
                <a:cs typeface="Times New Roman"/>
                <a:sym typeface="Times New Roman"/>
              </a:rPr>
              <a:t>Mode </a:t>
            </a:r>
            <a:endParaRPr b="1" sz="2400">
              <a:solidFill>
                <a:srgbClr val="0000FF"/>
              </a:solidFill>
              <a:latin typeface="Times New Roman"/>
              <a:ea typeface="Times New Roman"/>
              <a:cs typeface="Times New Roman"/>
              <a:sym typeface="Times New Roman"/>
            </a:endParaRPr>
          </a:p>
          <a:p>
            <a:pPr indent="-365760" lvl="0" marL="457200" rtl="0" algn="l">
              <a:spcBef>
                <a:spcPts val="0"/>
              </a:spcBef>
              <a:spcAft>
                <a:spcPts val="0"/>
              </a:spcAft>
              <a:buSzPct val="100000"/>
              <a:buFont typeface="Times New Roman"/>
              <a:buChar char="●"/>
            </a:pPr>
            <a:r>
              <a:rPr lang="en-IN" sz="2400">
                <a:latin typeface="Times New Roman"/>
                <a:ea typeface="Times New Roman"/>
                <a:cs typeface="Times New Roman"/>
                <a:sym typeface="Times New Roman"/>
              </a:rPr>
              <a:t>It is the value that occurs most frequently in a dataset (the value with the highest frequency). </a:t>
            </a:r>
            <a:endParaRPr sz="2400">
              <a:latin typeface="Times New Roman"/>
              <a:ea typeface="Times New Roman"/>
              <a:cs typeface="Times New Roman"/>
              <a:sym typeface="Times New Roman"/>
            </a:endParaRPr>
          </a:p>
          <a:p>
            <a:pPr indent="-365760" lvl="0" marL="457200" rtl="0" algn="l">
              <a:spcBef>
                <a:spcPts val="0"/>
              </a:spcBef>
              <a:spcAft>
                <a:spcPts val="0"/>
              </a:spcAft>
              <a:buSzPct val="100000"/>
              <a:buFont typeface="Times New Roman"/>
              <a:buChar char="●"/>
            </a:pPr>
            <a:r>
              <a:rPr lang="en-IN" sz="2400">
                <a:latin typeface="Times New Roman"/>
                <a:ea typeface="Times New Roman"/>
                <a:cs typeface="Times New Roman"/>
                <a:sym typeface="Times New Roman"/>
              </a:rPr>
              <a:t>It applies strictly to discrete data and is not used for continuous data since continuous data lacks repeated values. </a:t>
            </a:r>
            <a:endParaRPr sz="2400">
              <a:latin typeface="Times New Roman"/>
              <a:ea typeface="Times New Roman"/>
              <a:cs typeface="Times New Roman"/>
              <a:sym typeface="Times New Roman"/>
            </a:endParaRPr>
          </a:p>
          <a:p>
            <a:pPr indent="-365760" lvl="0" marL="457200" rtl="0" algn="l">
              <a:spcBef>
                <a:spcPts val="0"/>
              </a:spcBef>
              <a:spcAft>
                <a:spcPts val="0"/>
              </a:spcAft>
              <a:buSzPct val="100000"/>
              <a:buFont typeface="Times New Roman"/>
              <a:buChar char="●"/>
            </a:pPr>
            <a:r>
              <a:rPr lang="en-IN" sz="2400">
                <a:latin typeface="Times New Roman"/>
                <a:ea typeface="Times New Roman"/>
                <a:cs typeface="Times New Roman"/>
                <a:sym typeface="Times New Roman"/>
              </a:rPr>
              <a:t>Calculate the frequencies of all individual values; the value (or values) with the highest frequency is the mode. </a:t>
            </a:r>
            <a:endParaRPr sz="2400">
              <a:latin typeface="Times New Roman"/>
              <a:ea typeface="Times New Roman"/>
              <a:cs typeface="Times New Roman"/>
              <a:sym typeface="Times New Roman"/>
            </a:endParaRPr>
          </a:p>
          <a:p>
            <a:pPr indent="0" lvl="0" marL="0" rtl="0" algn="l">
              <a:spcBef>
                <a:spcPts val="0"/>
              </a:spcBef>
              <a:spcAft>
                <a:spcPts val="0"/>
              </a:spcAft>
              <a:buNone/>
            </a:pPr>
            <a:r>
              <a:t/>
            </a:r>
            <a:endParaRPr sz="2400">
              <a:latin typeface="Times New Roman"/>
              <a:ea typeface="Times New Roman"/>
              <a:cs typeface="Times New Roman"/>
              <a:sym typeface="Times New Roman"/>
            </a:endParaRPr>
          </a:p>
        </p:txBody>
      </p:sp>
      <p:sp>
        <p:nvSpPr>
          <p:cNvPr id="450" name="Google Shape;450;h3154f12b0ed71a99_0_0"/>
          <p:cNvSpPr txBox="1"/>
          <p:nvPr/>
        </p:nvSpPr>
        <p:spPr>
          <a:xfrm>
            <a:off x="384375" y="2609700"/>
            <a:ext cx="9588900" cy="427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2400">
                <a:solidFill>
                  <a:srgbClr val="FF0000"/>
                </a:solidFill>
                <a:latin typeface="Times New Roman"/>
                <a:ea typeface="Times New Roman"/>
                <a:cs typeface="Times New Roman"/>
                <a:sym typeface="Times New Roman"/>
              </a:rPr>
              <a:t>2.5.3 </a:t>
            </a:r>
            <a:r>
              <a:rPr b="1" lang="en-IN" sz="2400">
                <a:solidFill>
                  <a:srgbClr val="FF0000"/>
                </a:solidFill>
                <a:latin typeface="Times New Roman"/>
                <a:ea typeface="Times New Roman"/>
                <a:cs typeface="Times New Roman"/>
                <a:sym typeface="Times New Roman"/>
              </a:rPr>
              <a:t>Dispersion </a:t>
            </a:r>
            <a:endParaRPr b="1" sz="2400">
              <a:solidFill>
                <a:srgbClr val="FF0000"/>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IN" sz="2200">
                <a:solidFill>
                  <a:schemeClr val="dk1"/>
                </a:solidFill>
                <a:latin typeface="Times New Roman"/>
                <a:ea typeface="Times New Roman"/>
                <a:cs typeface="Times New Roman"/>
                <a:sym typeface="Times New Roman"/>
              </a:rPr>
              <a:t>Dispersion is the spread of a set of data around its central tendency (mean, median, or mode). </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lang="en-IN" sz="2200">
                <a:solidFill>
                  <a:schemeClr val="dk1"/>
                </a:solidFill>
                <a:latin typeface="Times New Roman"/>
                <a:ea typeface="Times New Roman"/>
                <a:cs typeface="Times New Roman"/>
                <a:sym typeface="Times New Roman"/>
              </a:rPr>
              <a:t>Measures of dispersion are second-order measures. Common representations include range, variance, standard deviation, and standard error. </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b="1" lang="en-IN" sz="2200">
                <a:solidFill>
                  <a:schemeClr val="dk1"/>
                </a:solidFill>
                <a:latin typeface="Times New Roman"/>
                <a:ea typeface="Times New Roman"/>
                <a:cs typeface="Times New Roman"/>
                <a:sym typeface="Times New Roman"/>
              </a:rPr>
              <a:t>Range</a:t>
            </a:r>
            <a:r>
              <a:rPr lang="en-IN" sz="2200">
                <a:solidFill>
                  <a:schemeClr val="dk1"/>
                </a:solidFill>
                <a:latin typeface="Times New Roman"/>
                <a:ea typeface="Times New Roman"/>
                <a:cs typeface="Times New Roman"/>
                <a:sym typeface="Times New Roman"/>
              </a:rPr>
              <a:t>: The difference between the maximum and minimum values in a given set of data. </a:t>
            </a:r>
            <a:endParaRPr sz="2200">
              <a:solidFill>
                <a:schemeClr val="dk1"/>
              </a:solidFill>
              <a:latin typeface="Times New Roman"/>
              <a:ea typeface="Times New Roman"/>
              <a:cs typeface="Times New Roman"/>
              <a:sym typeface="Times New Roman"/>
            </a:endParaRPr>
          </a:p>
          <a:p>
            <a:pPr indent="-368300" lvl="0" marL="457200" rtl="0" algn="l">
              <a:spcBef>
                <a:spcPts val="0"/>
              </a:spcBef>
              <a:spcAft>
                <a:spcPts val="0"/>
              </a:spcAft>
              <a:buClr>
                <a:schemeClr val="dk1"/>
              </a:buClr>
              <a:buSzPts val="2200"/>
              <a:buFont typeface="Times New Roman"/>
              <a:buChar char="●"/>
            </a:pPr>
            <a:r>
              <a:rPr b="1" lang="en-IN" sz="2200">
                <a:solidFill>
                  <a:schemeClr val="dk1"/>
                </a:solidFill>
                <a:latin typeface="Times New Roman"/>
                <a:ea typeface="Times New Roman"/>
                <a:cs typeface="Times New Roman"/>
                <a:sym typeface="Times New Roman"/>
              </a:rPr>
              <a:t>Standard Deviation</a:t>
            </a:r>
            <a:r>
              <a:rPr lang="en-IN" sz="2200">
                <a:solidFill>
                  <a:schemeClr val="dk1"/>
                </a:solidFill>
                <a:latin typeface="Times New Roman"/>
                <a:ea typeface="Times New Roman"/>
                <a:cs typeface="Times New Roman"/>
                <a:sym typeface="Times New Roman"/>
              </a:rPr>
              <a:t>: The average distance from the mean of the dataset to each data point. It helps measure the spread of data, which the mean alone does not capture (e.g., 10, 20, 30 and 10, 50, 0 both have a mean of 20, but different spread). </a:t>
            </a:r>
            <a:endParaRPr sz="22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sz="2200">
              <a:solidFill>
                <a:srgbClr val="0000FF"/>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pic>
        <p:nvPicPr>
          <p:cNvPr id="455" name="Google Shape;455;h3154f12b0ed71a99_0_19"/>
          <p:cNvPicPr preferRelativeResize="0"/>
          <p:nvPr/>
        </p:nvPicPr>
        <p:blipFill>
          <a:blip r:embed="rId3">
            <a:alphaModFix/>
          </a:blip>
          <a:stretch>
            <a:fillRect/>
          </a:stretch>
        </p:blipFill>
        <p:spPr>
          <a:xfrm>
            <a:off x="9652850" y="520113"/>
            <a:ext cx="2335900" cy="1283875"/>
          </a:xfrm>
          <a:prstGeom prst="rect">
            <a:avLst/>
          </a:prstGeom>
          <a:noFill/>
          <a:ln>
            <a:noFill/>
          </a:ln>
        </p:spPr>
      </p:pic>
      <p:sp>
        <p:nvSpPr>
          <p:cNvPr id="456" name="Google Shape;456;h3154f12b0ed71a99_0_19"/>
          <p:cNvSpPr txBox="1"/>
          <p:nvPr/>
        </p:nvSpPr>
        <p:spPr>
          <a:xfrm>
            <a:off x="586900" y="122649"/>
            <a:ext cx="92046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IN" sz="2200">
                <a:latin typeface="Times New Roman"/>
                <a:ea typeface="Times New Roman"/>
                <a:cs typeface="Times New Roman"/>
                <a:sym typeface="Times New Roman"/>
              </a:rPr>
              <a:t>N represents the size of the population, Xi is an observation from the population, and mean is the population mean. </a:t>
            </a:r>
            <a:endParaRPr sz="2200">
              <a:latin typeface="Times New Roman"/>
              <a:ea typeface="Times New Roman"/>
              <a:cs typeface="Times New Roman"/>
              <a:sym typeface="Times New Roman"/>
            </a:endParaRPr>
          </a:p>
        </p:txBody>
      </p:sp>
      <p:pic>
        <p:nvPicPr>
          <p:cNvPr id="457" name="Google Shape;457;h3154f12b0ed71a99_0_19"/>
          <p:cNvPicPr preferRelativeResize="0"/>
          <p:nvPr/>
        </p:nvPicPr>
        <p:blipFill>
          <a:blip r:embed="rId4">
            <a:alphaModFix/>
          </a:blip>
          <a:stretch>
            <a:fillRect/>
          </a:stretch>
        </p:blipFill>
        <p:spPr>
          <a:xfrm>
            <a:off x="526425" y="968083"/>
            <a:ext cx="9112900" cy="694125"/>
          </a:xfrm>
          <a:prstGeom prst="rect">
            <a:avLst/>
          </a:prstGeom>
          <a:noFill/>
          <a:ln>
            <a:noFill/>
          </a:ln>
        </p:spPr>
      </p:pic>
      <p:pic>
        <p:nvPicPr>
          <p:cNvPr id="458" name="Google Shape;458;h3154f12b0ed71a99_0_19"/>
          <p:cNvPicPr preferRelativeResize="0"/>
          <p:nvPr/>
        </p:nvPicPr>
        <p:blipFill>
          <a:blip r:embed="rId5">
            <a:alphaModFix/>
          </a:blip>
          <a:stretch>
            <a:fillRect/>
          </a:stretch>
        </p:blipFill>
        <p:spPr>
          <a:xfrm>
            <a:off x="1641425" y="1692075"/>
            <a:ext cx="9204600" cy="5165925"/>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pic>
        <p:nvPicPr>
          <p:cNvPr id="463" name="Google Shape;463;h732815749949bfd2_0_0"/>
          <p:cNvPicPr preferRelativeResize="0"/>
          <p:nvPr/>
        </p:nvPicPr>
        <p:blipFill>
          <a:blip r:embed="rId3">
            <a:alphaModFix/>
          </a:blip>
          <a:stretch>
            <a:fillRect/>
          </a:stretch>
        </p:blipFill>
        <p:spPr>
          <a:xfrm>
            <a:off x="239025" y="968950"/>
            <a:ext cx="10477500" cy="3238500"/>
          </a:xfrm>
          <a:prstGeom prst="rect">
            <a:avLst/>
          </a:prstGeom>
          <a:noFill/>
          <a:ln>
            <a:noFill/>
          </a:ln>
        </p:spPr>
      </p:pic>
      <p:pic>
        <p:nvPicPr>
          <p:cNvPr id="464" name="Google Shape;464;h732815749949bfd2_0_0"/>
          <p:cNvPicPr preferRelativeResize="0"/>
          <p:nvPr/>
        </p:nvPicPr>
        <p:blipFill>
          <a:blip r:embed="rId4">
            <a:alphaModFix/>
          </a:blip>
          <a:stretch>
            <a:fillRect/>
          </a:stretch>
        </p:blipFill>
        <p:spPr>
          <a:xfrm>
            <a:off x="239025" y="4207450"/>
            <a:ext cx="9934575" cy="176212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pic>
        <p:nvPicPr>
          <p:cNvPr id="469" name="Google Shape;469;h732815749949bfd2_0_7"/>
          <p:cNvPicPr preferRelativeResize="0"/>
          <p:nvPr/>
        </p:nvPicPr>
        <p:blipFill>
          <a:blip r:embed="rId3">
            <a:alphaModFix/>
          </a:blip>
          <a:stretch>
            <a:fillRect/>
          </a:stretch>
        </p:blipFill>
        <p:spPr>
          <a:xfrm>
            <a:off x="686600" y="599975"/>
            <a:ext cx="10477500" cy="52578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h3154f12b0ed71a99_0_30"/>
          <p:cNvSpPr txBox="1"/>
          <p:nvPr>
            <p:ph type="title"/>
          </p:nvPr>
        </p:nvSpPr>
        <p:spPr>
          <a:xfrm>
            <a:off x="324293" y="365125"/>
            <a:ext cx="10515600" cy="6273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sz="2600">
                <a:solidFill>
                  <a:srgbClr val="0000FF"/>
                </a:solidFill>
              </a:rPr>
              <a:t>2.5.4 </a:t>
            </a:r>
            <a:r>
              <a:rPr b="1" lang="en-IN" sz="2600">
                <a:solidFill>
                  <a:srgbClr val="0000FF"/>
                </a:solidFill>
              </a:rPr>
              <a:t>Shape</a:t>
            </a:r>
            <a:r>
              <a:rPr lang="en-IN" sz="3000">
                <a:solidFill>
                  <a:srgbClr val="0000FF"/>
                </a:solidFill>
              </a:rPr>
              <a:t>:</a:t>
            </a:r>
            <a:endParaRPr sz="3000">
              <a:solidFill>
                <a:srgbClr val="0000FF"/>
              </a:solidFill>
            </a:endParaRPr>
          </a:p>
        </p:txBody>
      </p:sp>
      <p:sp>
        <p:nvSpPr>
          <p:cNvPr id="475" name="Google Shape;475;h3154f12b0ed71a99_0_30"/>
          <p:cNvSpPr txBox="1"/>
          <p:nvPr>
            <p:ph idx="1" type="body"/>
          </p:nvPr>
        </p:nvSpPr>
        <p:spPr>
          <a:xfrm>
            <a:off x="324300" y="904150"/>
            <a:ext cx="11655000" cy="4351200"/>
          </a:xfrm>
          <a:prstGeom prst="rect">
            <a:avLst/>
          </a:prstGeom>
        </p:spPr>
        <p:txBody>
          <a:bodyPr anchorCtr="0" anchor="t" bIns="45700" lIns="91425" spcFirstLastPara="1" rIns="91425" wrap="square" tIns="45700">
            <a:normAutofit/>
          </a:bodyPr>
          <a:lstStyle/>
          <a:p>
            <a:pPr indent="0" lvl="0" marL="457200" rtl="0" algn="just">
              <a:spcBef>
                <a:spcPts val="1000"/>
              </a:spcBef>
              <a:spcAft>
                <a:spcPts val="0"/>
              </a:spcAft>
              <a:buNone/>
            </a:pPr>
            <a:r>
              <a:rPr lang="en-IN" sz="2400"/>
              <a:t>Skewness and Kurtosis (referred to as moments) indicate the symmetry/asymmetry and peak location of a dataset. </a:t>
            </a:r>
            <a:endParaRPr sz="2400"/>
          </a:p>
          <a:p>
            <a:pPr indent="0" lvl="0" marL="0" rtl="0" algn="l">
              <a:lnSpc>
                <a:spcPct val="100000"/>
              </a:lnSpc>
              <a:spcBef>
                <a:spcPts val="0"/>
              </a:spcBef>
              <a:spcAft>
                <a:spcPts val="0"/>
              </a:spcAft>
              <a:buNone/>
            </a:pPr>
            <a:r>
              <a:rPr b="1" lang="en-IN" sz="2500">
                <a:solidFill>
                  <a:srgbClr val="FF0000"/>
                </a:solidFill>
              </a:rPr>
              <a:t>Skewness</a:t>
            </a:r>
            <a:r>
              <a:rPr lang="en-IN" sz="2300"/>
              <a:t>:</a:t>
            </a:r>
            <a:endParaRPr sz="2300"/>
          </a:p>
          <a:p>
            <a:pPr indent="-374650" lvl="0" marL="457200" rtl="0" algn="l">
              <a:lnSpc>
                <a:spcPct val="100000"/>
              </a:lnSpc>
              <a:spcBef>
                <a:spcPts val="1200"/>
              </a:spcBef>
              <a:spcAft>
                <a:spcPts val="0"/>
              </a:spcAft>
              <a:buSzPts val="2300"/>
              <a:buChar char="●"/>
            </a:pPr>
            <a:r>
              <a:rPr b="1" lang="en-IN" sz="2300"/>
              <a:t>Order</a:t>
            </a:r>
            <a:r>
              <a:rPr lang="en-IN" sz="2300"/>
              <a:t>: Measures of direction and degree of symmetry are called third-order measures.</a:t>
            </a:r>
            <a:endParaRPr sz="2300"/>
          </a:p>
          <a:p>
            <a:pPr indent="-374650" lvl="0" marL="457200" rtl="0" algn="l">
              <a:lnSpc>
                <a:spcPct val="100000"/>
              </a:lnSpc>
              <a:spcBef>
                <a:spcPts val="0"/>
              </a:spcBef>
              <a:spcAft>
                <a:spcPts val="0"/>
              </a:spcAft>
              <a:buSzPts val="2300"/>
              <a:buChar char="●"/>
            </a:pPr>
            <a:r>
              <a:rPr b="1" lang="en-IN" sz="2300"/>
              <a:t>Ideal Value</a:t>
            </a:r>
            <a:r>
              <a:rPr lang="en-IN" sz="2300"/>
              <a:t>: In an ideal normal distribution, skewness should be zero.</a:t>
            </a:r>
            <a:endParaRPr sz="2300"/>
          </a:p>
          <a:p>
            <a:pPr indent="-374650" lvl="0" marL="457200" rtl="0" algn="l">
              <a:lnSpc>
                <a:spcPct val="100000"/>
              </a:lnSpc>
              <a:spcBef>
                <a:spcPts val="0"/>
              </a:spcBef>
              <a:spcAft>
                <a:spcPts val="0"/>
              </a:spcAft>
              <a:buSzPts val="2300"/>
              <a:buChar char="●"/>
            </a:pPr>
            <a:r>
              <a:rPr b="1" lang="en-IN" sz="2300"/>
              <a:t>Symmetry in Datasets</a:t>
            </a:r>
            <a:r>
              <a:rPr lang="en-IN" sz="2300"/>
              <a:t>: More often than not, a given dataset does not display perfect symmetry.</a:t>
            </a:r>
            <a:endParaRPr sz="2300"/>
          </a:p>
          <a:p>
            <a:pPr indent="0" lvl="0" marL="457200" rtl="0" algn="just">
              <a:spcBef>
                <a:spcPts val="1200"/>
              </a:spcBef>
              <a:spcAft>
                <a:spcPts val="0"/>
              </a:spcAft>
              <a:buNone/>
            </a:pPr>
            <a:r>
              <a:t/>
            </a:r>
            <a:endParaRPr sz="2400"/>
          </a:p>
        </p:txBody>
      </p:sp>
      <p:pic>
        <p:nvPicPr>
          <p:cNvPr id="476" name="Google Shape;476;h3154f12b0ed71a99_0_30"/>
          <p:cNvPicPr preferRelativeResize="0"/>
          <p:nvPr/>
        </p:nvPicPr>
        <p:blipFill>
          <a:blip r:embed="rId3">
            <a:alphaModFix/>
          </a:blip>
          <a:stretch>
            <a:fillRect/>
          </a:stretch>
        </p:blipFill>
        <p:spPr>
          <a:xfrm>
            <a:off x="1726951" y="4111250"/>
            <a:ext cx="8692950" cy="256125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pic>
        <p:nvPicPr>
          <p:cNvPr id="481" name="Google Shape;481;h3154f12b0ed71a99_0_38"/>
          <p:cNvPicPr preferRelativeResize="0"/>
          <p:nvPr/>
        </p:nvPicPr>
        <p:blipFill>
          <a:blip r:embed="rId3">
            <a:alphaModFix/>
          </a:blip>
          <a:stretch>
            <a:fillRect/>
          </a:stretch>
        </p:blipFill>
        <p:spPr>
          <a:xfrm>
            <a:off x="613125" y="815150"/>
            <a:ext cx="6404350" cy="542262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h732815749949bfd2_0_39"/>
          <p:cNvSpPr txBox="1"/>
          <p:nvPr>
            <p:ph idx="1" type="body"/>
          </p:nvPr>
        </p:nvSpPr>
        <p:spPr>
          <a:xfrm>
            <a:off x="152400" y="1663325"/>
            <a:ext cx="4119300" cy="4687800"/>
          </a:xfrm>
          <a:prstGeom prst="rect">
            <a:avLst/>
          </a:prstGeom>
        </p:spPr>
        <p:txBody>
          <a:bodyPr anchorCtr="0" anchor="t" bIns="45700" lIns="91425" spcFirstLastPara="1" rIns="91425" wrap="square" tIns="45700">
            <a:normAutofit/>
          </a:bodyPr>
          <a:lstStyle/>
          <a:p>
            <a:pPr indent="0" lvl="0" marL="0" rtl="0" algn="just">
              <a:lnSpc>
                <a:spcPct val="115000"/>
              </a:lnSpc>
              <a:spcBef>
                <a:spcPts val="0"/>
              </a:spcBef>
              <a:spcAft>
                <a:spcPts val="0"/>
              </a:spcAft>
              <a:buClr>
                <a:schemeClr val="dk1"/>
              </a:buClr>
              <a:buSzPts val="1100"/>
              <a:buFont typeface="Arial"/>
              <a:buNone/>
            </a:pPr>
            <a:r>
              <a:rPr lang="en-IN"/>
              <a:t>Kurtosis describes the shape of a distribution by indicating the heaviness of its tails and the likelihood of extreme observations compared with a normal distribution.</a:t>
            </a:r>
            <a:endParaRPr/>
          </a:p>
          <a:p>
            <a:pPr indent="0" lvl="0" marL="0" rtl="0" algn="just">
              <a:spcBef>
                <a:spcPts val="1000"/>
              </a:spcBef>
              <a:spcAft>
                <a:spcPts val="0"/>
              </a:spcAft>
              <a:buNone/>
            </a:pPr>
            <a:r>
              <a:t/>
            </a:r>
            <a:endParaRPr/>
          </a:p>
        </p:txBody>
      </p:sp>
      <p:pic>
        <p:nvPicPr>
          <p:cNvPr id="487" name="Google Shape;487;h732815749949bfd2_0_39"/>
          <p:cNvPicPr preferRelativeResize="0"/>
          <p:nvPr/>
        </p:nvPicPr>
        <p:blipFill>
          <a:blip r:embed="rId3">
            <a:alphaModFix/>
          </a:blip>
          <a:stretch>
            <a:fillRect/>
          </a:stretch>
        </p:blipFill>
        <p:spPr>
          <a:xfrm>
            <a:off x="5077100" y="1663325"/>
            <a:ext cx="7445825" cy="5194675"/>
          </a:xfrm>
          <a:prstGeom prst="rect">
            <a:avLst/>
          </a:prstGeom>
          <a:noFill/>
          <a:ln>
            <a:noFill/>
          </a:ln>
        </p:spPr>
      </p:pic>
      <p:sp>
        <p:nvSpPr>
          <p:cNvPr id="488" name="Google Shape;488;h732815749949bfd2_0_39"/>
          <p:cNvSpPr txBox="1"/>
          <p:nvPr/>
        </p:nvSpPr>
        <p:spPr>
          <a:xfrm>
            <a:off x="304800" y="696700"/>
            <a:ext cx="3000000" cy="66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IN" sz="3100">
                <a:solidFill>
                  <a:srgbClr val="FF0000"/>
                </a:solidFill>
              </a:rPr>
              <a:t>Kurtosis </a:t>
            </a:r>
            <a:endParaRPr b="1" sz="1700">
              <a:solidFill>
                <a:srgbClr val="FF0000"/>
              </a:solidFill>
            </a:endParaRPr>
          </a:p>
        </p:txBody>
      </p:sp>
      <p:sp>
        <p:nvSpPr>
          <p:cNvPr id="489" name="Google Shape;489;h732815749949bfd2_0_39"/>
          <p:cNvSpPr txBox="1"/>
          <p:nvPr/>
        </p:nvSpPr>
        <p:spPr>
          <a:xfrm>
            <a:off x="5229500" y="966600"/>
            <a:ext cx="6801600" cy="615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IN" sz="2800">
                <a:solidFill>
                  <a:srgbClr val="FF0000"/>
                </a:solidFill>
              </a:rPr>
              <a:t>The population kurtosis is given by:</a:t>
            </a:r>
            <a:endParaRPr sz="2800">
              <a:solidFill>
                <a:srgbClr val="FF0000"/>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h732815749949bfd2_0_86"/>
          <p:cNvSpPr txBox="1"/>
          <p:nvPr>
            <p:ph type="title"/>
          </p:nvPr>
        </p:nvSpPr>
        <p:spPr>
          <a:xfrm>
            <a:off x="243850" y="0"/>
            <a:ext cx="11109900" cy="8142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0"/>
              </a:spcAft>
              <a:buNone/>
            </a:pPr>
            <a:r>
              <a:rPr b="1" lang="en-IN" sz="2400">
                <a:solidFill>
                  <a:srgbClr val="FF0000"/>
                </a:solidFill>
                <a:latin typeface="Arial"/>
                <a:ea typeface="Arial"/>
                <a:cs typeface="Arial"/>
                <a:sym typeface="Arial"/>
              </a:rPr>
              <a:t>Mean Absolute Deviation (MAD)</a:t>
            </a:r>
            <a:endParaRPr sz="2400">
              <a:solidFill>
                <a:srgbClr val="FF0000"/>
              </a:solidFill>
            </a:endParaRPr>
          </a:p>
        </p:txBody>
      </p:sp>
      <p:pic>
        <p:nvPicPr>
          <p:cNvPr id="495" name="Google Shape;495;h732815749949bfd2_0_86"/>
          <p:cNvPicPr preferRelativeResize="0"/>
          <p:nvPr/>
        </p:nvPicPr>
        <p:blipFill>
          <a:blip r:embed="rId3">
            <a:alphaModFix/>
          </a:blip>
          <a:stretch>
            <a:fillRect/>
          </a:stretch>
        </p:blipFill>
        <p:spPr>
          <a:xfrm>
            <a:off x="1158250" y="667575"/>
            <a:ext cx="9666500" cy="609895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h732815749949bfd2_0_113"/>
          <p:cNvSpPr txBox="1"/>
          <p:nvPr>
            <p:ph type="title"/>
          </p:nvPr>
        </p:nvSpPr>
        <p:spPr>
          <a:xfrm>
            <a:off x="193800" y="226425"/>
            <a:ext cx="4513200" cy="740100"/>
          </a:xfrm>
          <a:prstGeom prst="rect">
            <a:avLst/>
          </a:prstGeom>
        </p:spPr>
        <p:txBody>
          <a:bodyPr anchorCtr="0" anchor="ctr" bIns="45700" lIns="91425" spcFirstLastPara="1" rIns="91425" wrap="square" tIns="45700">
            <a:normAutofit/>
          </a:bodyPr>
          <a:lstStyle/>
          <a:p>
            <a:pPr indent="0" lvl="0" marL="0" rtl="0" algn="l">
              <a:lnSpc>
                <a:spcPct val="115000"/>
              </a:lnSpc>
              <a:spcBef>
                <a:spcPts val="0"/>
              </a:spcBef>
              <a:spcAft>
                <a:spcPts val="800"/>
              </a:spcAft>
              <a:buNone/>
            </a:pPr>
            <a:r>
              <a:rPr b="1" lang="en-IN" sz="2400">
                <a:solidFill>
                  <a:srgbClr val="FF0000"/>
                </a:solidFill>
                <a:latin typeface="Arial"/>
                <a:ea typeface="Arial"/>
                <a:cs typeface="Arial"/>
                <a:sym typeface="Arial"/>
              </a:rPr>
              <a:t>Coefficient of Variation (CV)</a:t>
            </a:r>
            <a:endParaRPr b="1" sz="2400">
              <a:solidFill>
                <a:srgbClr val="FF0000"/>
              </a:solidFill>
            </a:endParaRPr>
          </a:p>
        </p:txBody>
      </p:sp>
      <p:sp>
        <p:nvSpPr>
          <p:cNvPr id="501" name="Google Shape;501;h732815749949bfd2_0_113"/>
          <p:cNvSpPr txBox="1"/>
          <p:nvPr/>
        </p:nvSpPr>
        <p:spPr>
          <a:xfrm>
            <a:off x="193800" y="1502225"/>
            <a:ext cx="2749800" cy="48069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800"/>
              </a:spcAft>
              <a:buNone/>
            </a:pPr>
            <a:r>
              <a:rPr lang="en-IN" sz="2200"/>
              <a:t>Coefficient of Variation measures the relative variability of a dataset with respect to its mean. It is particularly useful for comparing the variability of datasets having different units or different means.</a:t>
            </a:r>
            <a:endParaRPr sz="2200"/>
          </a:p>
        </p:txBody>
      </p:sp>
      <p:pic>
        <p:nvPicPr>
          <p:cNvPr id="502" name="Google Shape;502;h732815749949bfd2_0_113"/>
          <p:cNvPicPr preferRelativeResize="0"/>
          <p:nvPr/>
        </p:nvPicPr>
        <p:blipFill>
          <a:blip r:embed="rId3">
            <a:alphaModFix/>
          </a:blip>
          <a:stretch>
            <a:fillRect/>
          </a:stretch>
        </p:blipFill>
        <p:spPr>
          <a:xfrm>
            <a:off x="3509550" y="1227900"/>
            <a:ext cx="8682451" cy="539932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sp>
        <p:nvSpPr>
          <p:cNvPr id="507" name="Google Shape;507;h732815749949bfd2_0_123"/>
          <p:cNvSpPr txBox="1"/>
          <p:nvPr>
            <p:ph idx="1" type="body"/>
          </p:nvPr>
        </p:nvSpPr>
        <p:spPr>
          <a:xfrm>
            <a:off x="175950" y="133200"/>
            <a:ext cx="11644500" cy="6495300"/>
          </a:xfrm>
          <a:prstGeom prst="rect">
            <a:avLst/>
          </a:prstGeom>
        </p:spPr>
        <p:txBody>
          <a:bodyPr anchorCtr="0" anchor="t" bIns="45700" lIns="91425" spcFirstLastPara="1" rIns="91425" wrap="square" tIns="45700">
            <a:noAutofit/>
          </a:bodyPr>
          <a:lstStyle/>
          <a:p>
            <a:pPr indent="0" lvl="0" marL="0" rtl="0" algn="just">
              <a:lnSpc>
                <a:spcPct val="115000"/>
              </a:lnSpc>
              <a:spcBef>
                <a:spcPts val="1400"/>
              </a:spcBef>
              <a:spcAft>
                <a:spcPts val="0"/>
              </a:spcAft>
              <a:buClr>
                <a:schemeClr val="dk1"/>
              </a:buClr>
              <a:buSzPts val="1100"/>
              <a:buFont typeface="Arial"/>
              <a:buNone/>
            </a:pPr>
            <a:r>
              <a:rPr b="1" lang="en-IN" sz="2000">
                <a:solidFill>
                  <a:srgbClr val="FF0000"/>
                </a:solidFill>
                <a:latin typeface="Times New Roman"/>
                <a:ea typeface="Times New Roman"/>
                <a:cs typeface="Times New Roman"/>
                <a:sym typeface="Times New Roman"/>
              </a:rPr>
              <a:t>2.5.5 Special Univariate Plots</a:t>
            </a:r>
            <a:endParaRPr b="1" sz="2000">
              <a:solidFill>
                <a:srgbClr val="FF0000"/>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Clr>
                <a:schemeClr val="dk1"/>
              </a:buClr>
              <a:buSzPts val="1100"/>
              <a:buFont typeface="Arial"/>
              <a:buNone/>
            </a:pPr>
            <a:r>
              <a:rPr b="1" lang="en-IN" sz="2000">
                <a:latin typeface="Times New Roman"/>
                <a:ea typeface="Times New Roman"/>
                <a:cs typeface="Times New Roman"/>
                <a:sym typeface="Times New Roman"/>
              </a:rPr>
              <a:t>Univariate plots</a:t>
            </a:r>
            <a:r>
              <a:rPr lang="en-IN" sz="2000">
                <a:latin typeface="Times New Roman"/>
                <a:ea typeface="Times New Roman"/>
                <a:cs typeface="Times New Roman"/>
                <a:sym typeface="Times New Roman"/>
              </a:rPr>
              <a:t> are graphical methods used to study </a:t>
            </a:r>
            <a:r>
              <a:rPr b="1" lang="en-IN" sz="2000">
                <a:latin typeface="Times New Roman"/>
                <a:ea typeface="Times New Roman"/>
                <a:cs typeface="Times New Roman"/>
                <a:sym typeface="Times New Roman"/>
              </a:rPr>
              <a:t>one variable at a time</a:t>
            </a:r>
            <a:r>
              <a:rPr lang="en-IN" sz="2000">
                <a:latin typeface="Times New Roman"/>
                <a:ea typeface="Times New Roman"/>
                <a:cs typeface="Times New Roman"/>
                <a:sym typeface="Times New Roman"/>
              </a:rPr>
              <a:t>. In addition to common plots such as histograms and box plots, several </a:t>
            </a:r>
            <a:r>
              <a:rPr b="1" lang="en-IN" sz="2000">
                <a:latin typeface="Times New Roman"/>
                <a:ea typeface="Times New Roman"/>
                <a:cs typeface="Times New Roman"/>
                <a:sym typeface="Times New Roman"/>
              </a:rPr>
              <a:t>specialized plots</a:t>
            </a:r>
            <a:r>
              <a:rPr lang="en-IN" sz="2000">
                <a:latin typeface="Times New Roman"/>
                <a:ea typeface="Times New Roman"/>
                <a:cs typeface="Times New Roman"/>
                <a:sym typeface="Times New Roman"/>
              </a:rPr>
              <a:t> are useful for understanding the distribution, spread, skewness, and unusual observations of a single variable.</a:t>
            </a:r>
            <a:endParaRPr sz="2000">
              <a:latin typeface="Times New Roman"/>
              <a:ea typeface="Times New Roman"/>
              <a:cs typeface="Times New Roman"/>
              <a:sym typeface="Times New Roman"/>
            </a:endParaRPr>
          </a:p>
          <a:p>
            <a:pPr indent="-355600" lvl="0" marL="457200" rtl="0" algn="just">
              <a:lnSpc>
                <a:spcPct val="115000"/>
              </a:lnSpc>
              <a:spcBef>
                <a:spcPts val="1200"/>
              </a:spcBef>
              <a:spcAft>
                <a:spcPts val="0"/>
              </a:spcAft>
              <a:buSzPts val="2000"/>
              <a:buFont typeface="Times New Roman"/>
              <a:buAutoNum type="arabicPeriod"/>
            </a:pPr>
            <a:r>
              <a:rPr b="1" lang="en-IN" sz="2000">
                <a:latin typeface="Times New Roman"/>
                <a:ea typeface="Times New Roman"/>
                <a:cs typeface="Times New Roman"/>
                <a:sym typeface="Times New Roman"/>
              </a:rPr>
              <a:t>Stem-and-Leaf Plot</a:t>
            </a:r>
            <a:br>
              <a:rPr b="1" lang="en-IN" sz="2000">
                <a:latin typeface="Times New Roman"/>
                <a:ea typeface="Times New Roman"/>
                <a:cs typeface="Times New Roman"/>
                <a:sym typeface="Times New Roman"/>
              </a:rPr>
            </a:br>
            <a:endParaRPr b="1" sz="2000">
              <a:latin typeface="Times New Roman"/>
              <a:ea typeface="Times New Roman"/>
              <a:cs typeface="Times New Roman"/>
              <a:sym typeface="Times New Roman"/>
            </a:endParaRPr>
          </a:p>
          <a:p>
            <a:pPr indent="-355600" lvl="1" marL="914400" rtl="0" algn="just">
              <a:lnSpc>
                <a:spcPct val="115000"/>
              </a:lnSpc>
              <a:spcBef>
                <a:spcPts val="0"/>
              </a:spcBef>
              <a:spcAft>
                <a:spcPts val="0"/>
              </a:spcAft>
              <a:buSzPts val="2000"/>
              <a:buFont typeface="Times New Roman"/>
              <a:buChar char="○"/>
            </a:pPr>
            <a:r>
              <a:rPr lang="en-IN" sz="2000">
                <a:latin typeface="Times New Roman"/>
                <a:ea typeface="Times New Roman"/>
                <a:cs typeface="Times New Roman"/>
                <a:sym typeface="Times New Roman"/>
              </a:rPr>
              <a:t>Displays individual numerical observations while preserving their original values.</a:t>
            </a:r>
            <a:endParaRPr sz="2000">
              <a:latin typeface="Times New Roman"/>
              <a:ea typeface="Times New Roman"/>
              <a:cs typeface="Times New Roman"/>
              <a:sym typeface="Times New Roman"/>
            </a:endParaRPr>
          </a:p>
          <a:p>
            <a:pPr indent="-355600" lvl="1" marL="914400" rtl="0" algn="just">
              <a:lnSpc>
                <a:spcPct val="115000"/>
              </a:lnSpc>
              <a:spcBef>
                <a:spcPts val="0"/>
              </a:spcBef>
              <a:spcAft>
                <a:spcPts val="0"/>
              </a:spcAft>
              <a:buSzPts val="2000"/>
              <a:buFont typeface="Times New Roman"/>
              <a:buChar char="○"/>
            </a:pPr>
            <a:r>
              <a:rPr lang="en-IN" sz="2000">
                <a:latin typeface="Times New Roman"/>
                <a:ea typeface="Times New Roman"/>
                <a:cs typeface="Times New Roman"/>
                <a:sym typeface="Times New Roman"/>
              </a:rPr>
              <a:t>Useful for small or moderately sized datasets.</a:t>
            </a:r>
            <a:endParaRPr sz="2000">
              <a:latin typeface="Times New Roman"/>
              <a:ea typeface="Times New Roman"/>
              <a:cs typeface="Times New Roman"/>
              <a:sym typeface="Times New Roman"/>
            </a:endParaRPr>
          </a:p>
          <a:p>
            <a:pPr indent="-355600" lvl="1" marL="914400" rtl="0" algn="just">
              <a:lnSpc>
                <a:spcPct val="115000"/>
              </a:lnSpc>
              <a:spcBef>
                <a:spcPts val="0"/>
              </a:spcBef>
              <a:spcAft>
                <a:spcPts val="0"/>
              </a:spcAft>
              <a:buSzPts val="2000"/>
              <a:buChar char="○"/>
            </a:pPr>
            <a:r>
              <a:rPr lang="en-IN" sz="2000">
                <a:latin typeface="Times New Roman"/>
                <a:ea typeface="Times New Roman"/>
                <a:cs typeface="Times New Roman"/>
                <a:sym typeface="Times New Roman"/>
              </a:rPr>
              <a:t>Helps identify the </a:t>
            </a:r>
            <a:r>
              <a:rPr b="1" lang="en-IN" sz="2000">
                <a:latin typeface="Times New Roman"/>
                <a:ea typeface="Times New Roman"/>
                <a:cs typeface="Times New Roman"/>
                <a:sym typeface="Times New Roman"/>
              </a:rPr>
              <a:t>center, spread, clusters, and outliers</a:t>
            </a:r>
            <a:r>
              <a:rPr lang="en-IN" sz="2000">
                <a:latin typeface="Times New Roman"/>
                <a:ea typeface="Times New Roman"/>
                <a:cs typeface="Times New Roman"/>
                <a:sym typeface="Times New Roman"/>
              </a:rPr>
              <a:t>.</a:t>
            </a:r>
            <a:endParaRPr sz="2000">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lang="en-IN" sz="2000">
                <a:latin typeface="Times New Roman"/>
                <a:ea typeface="Times New Roman"/>
                <a:cs typeface="Times New Roman"/>
                <a:sym typeface="Times New Roman"/>
              </a:rPr>
              <a:t>Example:</a:t>
            </a:r>
            <a:br>
              <a:rPr lang="en-IN" sz="2000">
                <a:latin typeface="Times New Roman"/>
                <a:ea typeface="Times New Roman"/>
                <a:cs typeface="Times New Roman"/>
                <a:sym typeface="Times New Roman"/>
              </a:rPr>
            </a:br>
            <a:r>
              <a:rPr lang="en-IN" sz="2000">
                <a:latin typeface="Times New Roman"/>
                <a:ea typeface="Times New Roman"/>
                <a:cs typeface="Times New Roman"/>
                <a:sym typeface="Times New Roman"/>
              </a:rPr>
              <a:t> Data = 12, 13, 15, 16, 21, 22, 25</a:t>
            </a:r>
            <a:endParaRPr sz="2000">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IN" sz="2000">
                <a:solidFill>
                  <a:srgbClr val="0000FF"/>
                </a:solidFill>
                <a:latin typeface="Times New Roman"/>
                <a:ea typeface="Times New Roman"/>
                <a:cs typeface="Times New Roman"/>
                <a:sym typeface="Times New Roman"/>
              </a:rPr>
              <a:t>Stem-and-Leaf Plot</a:t>
            </a:r>
            <a:endParaRPr sz="2000">
              <a:solidFill>
                <a:srgbClr val="0000FF"/>
              </a:solidFill>
              <a:latin typeface="Times New Roman"/>
              <a:ea typeface="Times New Roman"/>
              <a:cs typeface="Times New Roman"/>
              <a:sym typeface="Times New Roman"/>
            </a:endParaRPr>
          </a:p>
          <a:p>
            <a:pPr indent="0" lvl="0" marL="0" rtl="0" algn="just">
              <a:spcBef>
                <a:spcPts val="1200"/>
              </a:spcBef>
              <a:spcAft>
                <a:spcPts val="0"/>
              </a:spcAft>
              <a:buClr>
                <a:schemeClr val="dk1"/>
              </a:buClr>
              <a:buSzPts val="1100"/>
              <a:buFont typeface="Arial"/>
              <a:buNone/>
            </a:pPr>
            <a:r>
              <a:rPr b="1" lang="en-IN" sz="2000">
                <a:solidFill>
                  <a:srgbClr val="0000FF"/>
                </a:solidFill>
                <a:latin typeface="Times New Roman"/>
                <a:ea typeface="Times New Roman"/>
                <a:cs typeface="Times New Roman"/>
                <a:sym typeface="Times New Roman"/>
              </a:rPr>
              <a:t>           1 | 2 3 5 6</a:t>
            </a:r>
            <a:endParaRPr b="1" sz="2000">
              <a:solidFill>
                <a:srgbClr val="0000FF"/>
              </a:solidFill>
              <a:latin typeface="Times New Roman"/>
              <a:ea typeface="Times New Roman"/>
              <a:cs typeface="Times New Roman"/>
              <a:sym typeface="Times New Roman"/>
            </a:endParaRPr>
          </a:p>
          <a:p>
            <a:pPr indent="0" lvl="0" marL="0" rtl="0" algn="just">
              <a:spcBef>
                <a:spcPts val="1000"/>
              </a:spcBef>
              <a:spcAft>
                <a:spcPts val="0"/>
              </a:spcAft>
              <a:buClr>
                <a:schemeClr val="dk1"/>
              </a:buClr>
              <a:buSzPts val="1100"/>
              <a:buFont typeface="Arial"/>
              <a:buNone/>
            </a:pPr>
            <a:r>
              <a:rPr b="1" lang="en-IN" sz="2000">
                <a:solidFill>
                  <a:srgbClr val="0000FF"/>
                </a:solidFill>
                <a:latin typeface="Times New Roman"/>
                <a:ea typeface="Times New Roman"/>
                <a:cs typeface="Times New Roman"/>
                <a:sym typeface="Times New Roman"/>
              </a:rPr>
              <a:t>           2 | 1 2 5</a:t>
            </a:r>
            <a:endParaRPr b="1" sz="2000">
              <a:solidFill>
                <a:srgbClr val="0000FF"/>
              </a:solidFill>
              <a:latin typeface="Times New Roman"/>
              <a:ea typeface="Times New Roman"/>
              <a:cs typeface="Times New Roman"/>
              <a:sym typeface="Times New Roman"/>
            </a:endParaRPr>
          </a:p>
          <a:p>
            <a:pPr indent="0" lvl="0" marL="0" rtl="0" algn="just">
              <a:spcBef>
                <a:spcPts val="1000"/>
              </a:spcBef>
              <a:spcAft>
                <a:spcPts val="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h732815749949bfd2_0_130"/>
          <p:cNvSpPr txBox="1"/>
          <p:nvPr>
            <p:ph idx="1" type="body"/>
          </p:nvPr>
        </p:nvSpPr>
        <p:spPr>
          <a:xfrm>
            <a:off x="323125" y="295100"/>
            <a:ext cx="5625300" cy="6259800"/>
          </a:xfrm>
          <a:prstGeom prst="rect">
            <a:avLst/>
          </a:prstGeom>
        </p:spPr>
        <p:txBody>
          <a:bodyPr anchorCtr="0" anchor="t" bIns="45700" lIns="91425" spcFirstLastPara="1" rIns="91425" wrap="square" tIns="45700">
            <a:normAutofit fontScale="92500" lnSpcReduction="20000"/>
          </a:bodyPr>
          <a:lstStyle/>
          <a:p>
            <a:pPr indent="0" lvl="0" marL="0" rtl="0" algn="l">
              <a:lnSpc>
                <a:spcPct val="115000"/>
              </a:lnSpc>
              <a:spcBef>
                <a:spcPts val="1800"/>
              </a:spcBef>
              <a:spcAft>
                <a:spcPts val="0"/>
              </a:spcAft>
              <a:buClr>
                <a:schemeClr val="dk1"/>
              </a:buClr>
              <a:buSzPct val="52381"/>
              <a:buFont typeface="Arial"/>
              <a:buNone/>
            </a:pPr>
            <a:r>
              <a:rPr b="1" lang="en-IN" sz="2100">
                <a:solidFill>
                  <a:srgbClr val="FF0000"/>
                </a:solidFill>
                <a:latin typeface="Times New Roman"/>
                <a:ea typeface="Times New Roman"/>
                <a:cs typeface="Times New Roman"/>
                <a:sym typeface="Times New Roman"/>
              </a:rPr>
              <a:t>Q–Q Plot (Quantile–Quantile Plot)</a:t>
            </a:r>
            <a:endParaRPr b="1" sz="2100">
              <a:solidFill>
                <a:srgbClr val="FF0000"/>
              </a:solidFill>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52381"/>
              <a:buFont typeface="Arial"/>
              <a:buNone/>
            </a:pPr>
            <a:r>
              <a:rPr lang="en-IN" sz="2100">
                <a:latin typeface="Times New Roman"/>
                <a:ea typeface="Times New Roman"/>
                <a:cs typeface="Times New Roman"/>
                <a:sym typeface="Times New Roman"/>
              </a:rPr>
              <a:t>A Q–Q plot is a special univariate plot used to determine whether a dataset follows a particular theoretical distribution, most commonly the normal distribution.</a:t>
            </a:r>
            <a:endParaRPr sz="2100">
              <a:latin typeface="Times New Roman"/>
              <a:ea typeface="Times New Roman"/>
              <a:cs typeface="Times New Roman"/>
              <a:sym typeface="Times New Roman"/>
            </a:endParaRPr>
          </a:p>
          <a:p>
            <a:pPr indent="0" lvl="0" marL="0" rtl="0" algn="l">
              <a:lnSpc>
                <a:spcPct val="115000"/>
              </a:lnSpc>
              <a:spcBef>
                <a:spcPts val="1200"/>
              </a:spcBef>
              <a:spcAft>
                <a:spcPts val="0"/>
              </a:spcAft>
              <a:buClr>
                <a:schemeClr val="dk1"/>
              </a:buClr>
              <a:buSzPct val="55000"/>
              <a:buFont typeface="Arial"/>
              <a:buNone/>
            </a:pPr>
            <a:r>
              <a:rPr lang="en-IN" sz="2000">
                <a:latin typeface="Times New Roman"/>
                <a:ea typeface="Times New Roman"/>
                <a:cs typeface="Times New Roman"/>
                <a:sym typeface="Times New Roman"/>
              </a:rPr>
              <a:t>A Q–Q plot compares:</a:t>
            </a:r>
            <a:endParaRPr sz="2000">
              <a:latin typeface="Times New Roman"/>
              <a:ea typeface="Times New Roman"/>
              <a:cs typeface="Times New Roman"/>
              <a:sym typeface="Times New Roman"/>
            </a:endParaRPr>
          </a:p>
          <a:p>
            <a:pPr indent="-346075" lvl="0" marL="457200" rtl="0" algn="l">
              <a:lnSpc>
                <a:spcPct val="115000"/>
              </a:lnSpc>
              <a:spcBef>
                <a:spcPts val="1200"/>
              </a:spcBef>
              <a:spcAft>
                <a:spcPts val="0"/>
              </a:spcAft>
              <a:buSzPct val="100000"/>
              <a:buChar char="●"/>
            </a:pPr>
            <a:r>
              <a:rPr b="1" lang="en-IN" sz="2000">
                <a:latin typeface="Times New Roman"/>
                <a:ea typeface="Times New Roman"/>
                <a:cs typeface="Times New Roman"/>
                <a:sym typeface="Times New Roman"/>
              </a:rPr>
              <a:t>X-axis:</a:t>
            </a:r>
            <a:r>
              <a:rPr lang="en-IN" sz="2000">
                <a:latin typeface="Times New Roman"/>
                <a:ea typeface="Times New Roman"/>
                <a:cs typeface="Times New Roman"/>
                <a:sym typeface="Times New Roman"/>
              </a:rPr>
              <a:t> Theoretical quantiles expected from a normal distribution</a:t>
            </a:r>
            <a:endParaRPr sz="2000">
              <a:latin typeface="Times New Roman"/>
              <a:ea typeface="Times New Roman"/>
              <a:cs typeface="Times New Roman"/>
              <a:sym typeface="Times New Roman"/>
            </a:endParaRPr>
          </a:p>
          <a:p>
            <a:pPr indent="-346075" lvl="0" marL="457200" rtl="0" algn="l">
              <a:lnSpc>
                <a:spcPct val="115000"/>
              </a:lnSpc>
              <a:spcBef>
                <a:spcPts val="0"/>
              </a:spcBef>
              <a:spcAft>
                <a:spcPts val="0"/>
              </a:spcAft>
              <a:buSzPct val="100000"/>
              <a:buChar char="●"/>
            </a:pPr>
            <a:r>
              <a:rPr b="1" lang="en-IN" sz="2000">
                <a:latin typeface="Times New Roman"/>
                <a:ea typeface="Times New Roman"/>
                <a:cs typeface="Times New Roman"/>
                <a:sym typeface="Times New Roman"/>
              </a:rPr>
              <a:t>Y-axis:</a:t>
            </a:r>
            <a:r>
              <a:rPr lang="en-IN" sz="2000">
                <a:latin typeface="Times New Roman"/>
                <a:ea typeface="Times New Roman"/>
                <a:cs typeface="Times New Roman"/>
                <a:sym typeface="Times New Roman"/>
              </a:rPr>
              <a:t> Observed/sample quantiles obtained from the dataset</a:t>
            </a:r>
            <a:endParaRPr sz="2000">
              <a:latin typeface="Times New Roman"/>
              <a:ea typeface="Times New Roman"/>
              <a:cs typeface="Times New Roman"/>
              <a:sym typeface="Times New Roman"/>
            </a:endParaRPr>
          </a:p>
          <a:p>
            <a:pPr indent="0" lvl="0" marL="0" rtl="0" algn="l">
              <a:lnSpc>
                <a:spcPct val="115000"/>
              </a:lnSpc>
              <a:spcBef>
                <a:spcPts val="1400"/>
              </a:spcBef>
              <a:spcAft>
                <a:spcPts val="0"/>
              </a:spcAft>
              <a:buNone/>
            </a:pPr>
            <a:r>
              <a:rPr b="1" lang="en-IN" sz="2000">
                <a:solidFill>
                  <a:srgbClr val="FF0000"/>
                </a:solidFill>
              </a:rPr>
              <a:t>Example</a:t>
            </a:r>
            <a:endParaRPr b="1" sz="2000">
              <a:solidFill>
                <a:srgbClr val="FF0000"/>
              </a:solidFill>
            </a:endParaRPr>
          </a:p>
          <a:p>
            <a:pPr indent="0" lvl="0" marL="0" rtl="0" algn="l">
              <a:lnSpc>
                <a:spcPct val="115000"/>
              </a:lnSpc>
              <a:spcBef>
                <a:spcPts val="1200"/>
              </a:spcBef>
              <a:spcAft>
                <a:spcPts val="0"/>
              </a:spcAft>
              <a:buNone/>
            </a:pPr>
            <a:r>
              <a:rPr lang="en-IN" sz="2000"/>
              <a:t>Suppose the observed data is:</a:t>
            </a:r>
            <a:endParaRPr sz="2000"/>
          </a:p>
          <a:p>
            <a:pPr indent="0" lvl="0" marL="0" rtl="0" algn="l">
              <a:lnSpc>
                <a:spcPct val="115000"/>
              </a:lnSpc>
              <a:spcBef>
                <a:spcPts val="1200"/>
              </a:spcBef>
              <a:spcAft>
                <a:spcPts val="0"/>
              </a:spcAft>
              <a:buNone/>
            </a:pPr>
            <a:r>
              <a:rPr b="1" lang="en-IN" sz="2000"/>
              <a:t>10, 12, 13, 15, 16, 18, 20, 21, 23, 25</a:t>
            </a:r>
            <a:endParaRPr b="1" sz="2000"/>
          </a:p>
          <a:p>
            <a:pPr indent="0" lvl="0" marL="0" rtl="0" algn="l">
              <a:lnSpc>
                <a:spcPct val="115000"/>
              </a:lnSpc>
              <a:spcBef>
                <a:spcPts val="1200"/>
              </a:spcBef>
              <a:spcAft>
                <a:spcPts val="0"/>
              </a:spcAft>
              <a:buNone/>
            </a:pPr>
            <a:r>
              <a:rPr lang="en-IN" sz="2000">
                <a:latin typeface="Times New Roman"/>
                <a:ea typeface="Times New Roman"/>
                <a:cs typeface="Times New Roman"/>
                <a:sym typeface="Times New Roman"/>
              </a:rPr>
              <a:t>The observations are first arranged in ascending order and compared with the corresponding theoretical normal quantiles.</a:t>
            </a:r>
            <a:endParaRPr sz="2000">
              <a:latin typeface="Times New Roman"/>
              <a:ea typeface="Times New Roman"/>
              <a:cs typeface="Times New Roman"/>
              <a:sym typeface="Times New Roman"/>
            </a:endParaRPr>
          </a:p>
          <a:p>
            <a:pPr indent="0" lvl="0" marL="0" rtl="0" algn="l">
              <a:spcBef>
                <a:spcPts val="1200"/>
              </a:spcBef>
              <a:spcAft>
                <a:spcPts val="0"/>
              </a:spcAft>
              <a:buNone/>
            </a:pPr>
            <a:r>
              <a:t/>
            </a:r>
            <a:endParaRPr sz="2100">
              <a:latin typeface="Times New Roman"/>
              <a:ea typeface="Times New Roman"/>
              <a:cs typeface="Times New Roman"/>
              <a:sym typeface="Times New Roman"/>
            </a:endParaRPr>
          </a:p>
        </p:txBody>
      </p:sp>
      <p:sp>
        <p:nvSpPr>
          <p:cNvPr id="513" name="Google Shape;513;h732815749949bfd2_0_130"/>
          <p:cNvSpPr txBox="1"/>
          <p:nvPr/>
        </p:nvSpPr>
        <p:spPr>
          <a:xfrm>
            <a:off x="7520900" y="178100"/>
            <a:ext cx="30000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t>y=x</a:t>
            </a:r>
            <a:endParaRPr sz="2000"/>
          </a:p>
          <a:p>
            <a:pPr indent="0" lvl="0" marL="0" rtl="0" algn="l">
              <a:spcBef>
                <a:spcPts val="0"/>
              </a:spcBef>
              <a:spcAft>
                <a:spcPts val="0"/>
              </a:spcAft>
              <a:buNone/>
            </a:pPr>
            <a:r>
              <a:rPr lang="en-IN" sz="2000"/>
              <a:t>(-1.5,-1.4)</a:t>
            </a:r>
            <a:endParaRPr sz="2000"/>
          </a:p>
          <a:p>
            <a:pPr indent="0" lvl="0" marL="0" rtl="0" algn="l">
              <a:spcBef>
                <a:spcPts val="0"/>
              </a:spcBef>
              <a:spcAft>
                <a:spcPts val="0"/>
              </a:spcAft>
              <a:buNone/>
            </a:pPr>
            <a:r>
              <a:rPr lang="en-IN" sz="2000"/>
              <a:t>(-1,-1.1)</a:t>
            </a:r>
            <a:endParaRPr sz="2000"/>
          </a:p>
          <a:p>
            <a:pPr indent="0" lvl="0" marL="0" rtl="0" algn="l">
              <a:spcBef>
                <a:spcPts val="0"/>
              </a:spcBef>
              <a:spcAft>
                <a:spcPts val="0"/>
              </a:spcAft>
              <a:buNone/>
            </a:pPr>
            <a:r>
              <a:rPr lang="en-IN" sz="2000"/>
              <a:t>(-0.5,-0.4)</a:t>
            </a:r>
            <a:endParaRPr sz="2000"/>
          </a:p>
          <a:p>
            <a:pPr indent="0" lvl="0" marL="0" rtl="0" algn="l">
              <a:spcBef>
                <a:spcPts val="0"/>
              </a:spcBef>
              <a:spcAft>
                <a:spcPts val="0"/>
              </a:spcAft>
              <a:buNone/>
            </a:pPr>
            <a:r>
              <a:rPr lang="en-IN" sz="2000"/>
              <a:t>(0,0.1)</a:t>
            </a:r>
            <a:endParaRPr sz="2000"/>
          </a:p>
          <a:p>
            <a:pPr indent="0" lvl="0" marL="0" rtl="0" algn="l">
              <a:spcBef>
                <a:spcPts val="0"/>
              </a:spcBef>
              <a:spcAft>
                <a:spcPts val="0"/>
              </a:spcAft>
              <a:buNone/>
            </a:pPr>
            <a:r>
              <a:rPr lang="en-IN" sz="2000"/>
              <a:t>(0.5,0.6)</a:t>
            </a:r>
            <a:endParaRPr sz="2000"/>
          </a:p>
          <a:p>
            <a:pPr indent="0" lvl="0" marL="0" rtl="0" algn="l">
              <a:spcBef>
                <a:spcPts val="0"/>
              </a:spcBef>
              <a:spcAft>
                <a:spcPts val="0"/>
              </a:spcAft>
              <a:buNone/>
            </a:pPr>
            <a:r>
              <a:rPr lang="en-IN" sz="2000"/>
              <a:t>(1,1.0)</a:t>
            </a:r>
            <a:endParaRPr sz="2000"/>
          </a:p>
          <a:p>
            <a:pPr indent="0" lvl="0" marL="0" rtl="0" algn="l">
              <a:spcBef>
                <a:spcPts val="0"/>
              </a:spcBef>
              <a:spcAft>
                <a:spcPts val="0"/>
              </a:spcAft>
              <a:buNone/>
            </a:pPr>
            <a:r>
              <a:rPr lang="en-IN" sz="2000"/>
              <a:t>(1.5,1.4)</a:t>
            </a:r>
            <a:endParaRPr sz="2000"/>
          </a:p>
        </p:txBody>
      </p:sp>
      <p:pic>
        <p:nvPicPr>
          <p:cNvPr id="514" name="Google Shape;514;h732815749949bfd2_0_130"/>
          <p:cNvPicPr preferRelativeResize="0"/>
          <p:nvPr/>
        </p:nvPicPr>
        <p:blipFill>
          <a:blip r:embed="rId3">
            <a:alphaModFix/>
          </a:blip>
          <a:stretch>
            <a:fillRect/>
          </a:stretch>
        </p:blipFill>
        <p:spPr>
          <a:xfrm>
            <a:off x="6777800" y="2936275"/>
            <a:ext cx="4486275" cy="3495675"/>
          </a:xfrm>
          <a:prstGeom prst="rect">
            <a:avLst/>
          </a:prstGeom>
          <a:noFill/>
          <a:ln>
            <a:noFill/>
          </a:ln>
        </p:spPr>
      </p:pic>
      <p:sp>
        <p:nvSpPr>
          <p:cNvPr id="515" name="Google Shape;515;h732815749949bfd2_0_130"/>
          <p:cNvSpPr txBox="1"/>
          <p:nvPr/>
        </p:nvSpPr>
        <p:spPr>
          <a:xfrm>
            <a:off x="6777799" y="2825600"/>
            <a:ext cx="44862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t>A simplified Q–Q plot may look like this: </a:t>
            </a:r>
            <a:endParaRPr sz="20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h11367c7104fabfa0_0_316"/>
          <p:cNvSpPr txBox="1"/>
          <p:nvPr>
            <p:ph type="title"/>
          </p:nvPr>
        </p:nvSpPr>
        <p:spPr>
          <a:xfrm>
            <a:off x="80925" y="365125"/>
            <a:ext cx="7040100" cy="633300"/>
          </a:xfrm>
          <a:prstGeom prst="rect">
            <a:avLst/>
          </a:prstGeom>
        </p:spPr>
        <p:txBody>
          <a:bodyPr anchorCtr="0" anchor="ctr" bIns="45700" lIns="91425" spcFirstLastPara="1" rIns="91425" wrap="square" tIns="45700">
            <a:normAutofit fontScale="90000"/>
          </a:bodyPr>
          <a:lstStyle/>
          <a:p>
            <a:pPr indent="0" lvl="0" marL="0" rtl="0" algn="l">
              <a:lnSpc>
                <a:spcPct val="100000"/>
              </a:lnSpc>
              <a:spcBef>
                <a:spcPts val="0"/>
              </a:spcBef>
              <a:spcAft>
                <a:spcPts val="0"/>
              </a:spcAft>
              <a:buClr>
                <a:schemeClr val="dk1"/>
              </a:buClr>
              <a:buSzPct val="34375"/>
              <a:buFont typeface="Arial"/>
              <a:buNone/>
            </a:pPr>
            <a:r>
              <a:rPr b="1" lang="en-IN" sz="3200">
                <a:solidFill>
                  <a:srgbClr val="0000FF"/>
                </a:solidFill>
                <a:latin typeface="Times New Roman"/>
                <a:ea typeface="Times New Roman"/>
                <a:cs typeface="Times New Roman"/>
                <a:sym typeface="Times New Roman"/>
              </a:rPr>
              <a:t>2.6 Bivariate Data and Multivariate Data </a:t>
            </a:r>
            <a:endParaRPr b="1">
              <a:solidFill>
                <a:srgbClr val="0000FF"/>
              </a:solidFill>
            </a:endParaRPr>
          </a:p>
        </p:txBody>
      </p:sp>
      <p:sp>
        <p:nvSpPr>
          <p:cNvPr id="521" name="Google Shape;521;h11367c7104fabfa0_0_316"/>
          <p:cNvSpPr txBox="1"/>
          <p:nvPr/>
        </p:nvSpPr>
        <p:spPr>
          <a:xfrm>
            <a:off x="283225" y="1084475"/>
            <a:ext cx="6514200" cy="3140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IN" sz="2400">
                <a:solidFill>
                  <a:schemeClr val="dk1"/>
                </a:solidFill>
                <a:latin typeface="Times New Roman"/>
                <a:ea typeface="Times New Roman"/>
                <a:cs typeface="Times New Roman"/>
                <a:sym typeface="Times New Roman"/>
              </a:rPr>
              <a:t>Bivariate data is a type of data that consists of two variables measured for the same set of observations. It is mainly used to study the relationship or association between the two variables. </a:t>
            </a:r>
            <a:endParaRPr sz="2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IN" sz="2400">
                <a:solidFill>
                  <a:srgbClr val="0000FF"/>
                </a:solidFill>
                <a:latin typeface="Times New Roman"/>
                <a:ea typeface="Times New Roman"/>
                <a:cs typeface="Times New Roman"/>
                <a:sym typeface="Times New Roman"/>
              </a:rPr>
              <a:t>Example</a:t>
            </a:r>
            <a:r>
              <a:rPr lang="en-IN" sz="2400">
                <a:solidFill>
                  <a:schemeClr val="dk1"/>
                </a:solidFill>
                <a:latin typeface="Times New Roman"/>
                <a:ea typeface="Times New Roman"/>
                <a:cs typeface="Times New Roman"/>
                <a:sym typeface="Times New Roman"/>
              </a:rPr>
              <a:t>:  </a:t>
            </a:r>
            <a:endParaRPr sz="2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IN" sz="2400">
                <a:solidFill>
                  <a:schemeClr val="dk1"/>
                </a:solidFill>
                <a:latin typeface="Times New Roman"/>
                <a:ea typeface="Times New Roman"/>
                <a:cs typeface="Times New Roman"/>
                <a:sym typeface="Times New Roman"/>
              </a:rPr>
              <a:t>a. House area → House price </a:t>
            </a:r>
            <a:endParaRPr sz="24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en-IN" sz="2400">
                <a:solidFill>
                  <a:schemeClr val="dk1"/>
                </a:solidFill>
                <a:latin typeface="Times New Roman"/>
                <a:ea typeface="Times New Roman"/>
                <a:cs typeface="Times New Roman"/>
                <a:sym typeface="Times New Roman"/>
              </a:rPr>
              <a:t>b. Study Hours —&gt; Marks</a:t>
            </a:r>
            <a:endParaRPr sz="2400">
              <a:solidFill>
                <a:schemeClr val="dk1"/>
              </a:solidFill>
              <a:latin typeface="Times New Roman"/>
              <a:ea typeface="Times New Roman"/>
              <a:cs typeface="Times New Roman"/>
              <a:sym typeface="Times New Roman"/>
            </a:endParaRPr>
          </a:p>
        </p:txBody>
      </p:sp>
      <p:sp>
        <p:nvSpPr>
          <p:cNvPr id="522" name="Google Shape;522;h11367c7104fabfa0_0_316"/>
          <p:cNvSpPr txBox="1"/>
          <p:nvPr/>
        </p:nvSpPr>
        <p:spPr>
          <a:xfrm>
            <a:off x="364150" y="4310625"/>
            <a:ext cx="6514200" cy="1403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IN" sz="2400">
                <a:solidFill>
                  <a:schemeClr val="dk1"/>
                </a:solidFill>
                <a:latin typeface="Times New Roman"/>
                <a:ea typeface="Times New Roman"/>
                <a:cs typeface="Times New Roman"/>
                <a:sym typeface="Times New Roman"/>
              </a:rPr>
              <a:t>A </a:t>
            </a:r>
            <a:r>
              <a:rPr b="1" lang="en-IN" sz="2400">
                <a:solidFill>
                  <a:schemeClr val="dk1"/>
                </a:solidFill>
                <a:latin typeface="Times New Roman"/>
                <a:ea typeface="Times New Roman"/>
                <a:cs typeface="Times New Roman"/>
                <a:sym typeface="Times New Roman"/>
              </a:rPr>
              <a:t>scatter plot</a:t>
            </a:r>
            <a:r>
              <a:rPr lang="en-IN" sz="2400">
                <a:solidFill>
                  <a:schemeClr val="dk1"/>
                </a:solidFill>
                <a:latin typeface="Times New Roman"/>
                <a:ea typeface="Times New Roman"/>
                <a:cs typeface="Times New Roman"/>
                <a:sym typeface="Times New Roman"/>
              </a:rPr>
              <a:t> and </a:t>
            </a:r>
            <a:r>
              <a:rPr b="1" lang="en-IN" sz="2400">
                <a:solidFill>
                  <a:schemeClr val="dk1"/>
                </a:solidFill>
                <a:latin typeface="Times New Roman"/>
                <a:ea typeface="Times New Roman"/>
                <a:cs typeface="Times New Roman"/>
                <a:sym typeface="Times New Roman"/>
              </a:rPr>
              <a:t>Line graph </a:t>
            </a:r>
            <a:r>
              <a:rPr lang="en-IN" sz="2400">
                <a:solidFill>
                  <a:schemeClr val="dk1"/>
                </a:solidFill>
                <a:latin typeface="Times New Roman"/>
                <a:ea typeface="Times New Roman"/>
                <a:cs typeface="Times New Roman"/>
                <a:sym typeface="Times New Roman"/>
              </a:rPr>
              <a:t>is a graphical method used to visualize bivariate data. Each observation is represented by a point:</a:t>
            </a:r>
            <a:endParaRPr sz="2400">
              <a:solidFill>
                <a:schemeClr val="dk1"/>
              </a:solidFill>
              <a:latin typeface="Times New Roman"/>
              <a:ea typeface="Times New Roman"/>
              <a:cs typeface="Times New Roman"/>
              <a:sym typeface="Times New Roman"/>
            </a:endParaRPr>
          </a:p>
        </p:txBody>
      </p:sp>
      <p:pic>
        <p:nvPicPr>
          <p:cNvPr id="523" name="Google Shape;523;h11367c7104fabfa0_0_316"/>
          <p:cNvPicPr preferRelativeResize="0"/>
          <p:nvPr/>
        </p:nvPicPr>
        <p:blipFill>
          <a:blip r:embed="rId3">
            <a:alphaModFix/>
          </a:blip>
          <a:stretch>
            <a:fillRect/>
          </a:stretch>
        </p:blipFill>
        <p:spPr>
          <a:xfrm>
            <a:off x="7120975" y="365125"/>
            <a:ext cx="4956375" cy="2932375"/>
          </a:xfrm>
          <a:prstGeom prst="rect">
            <a:avLst/>
          </a:prstGeom>
          <a:noFill/>
          <a:ln>
            <a:noFill/>
          </a:ln>
        </p:spPr>
      </p:pic>
      <p:pic>
        <p:nvPicPr>
          <p:cNvPr id="524" name="Google Shape;524;h11367c7104fabfa0_0_316"/>
          <p:cNvPicPr preferRelativeResize="0"/>
          <p:nvPr/>
        </p:nvPicPr>
        <p:blipFill>
          <a:blip r:embed="rId4">
            <a:alphaModFix/>
          </a:blip>
          <a:stretch>
            <a:fillRect/>
          </a:stretch>
        </p:blipFill>
        <p:spPr>
          <a:xfrm>
            <a:off x="7161525" y="3196200"/>
            <a:ext cx="5030475" cy="35094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h732815749949bfd2_0_146"/>
          <p:cNvSpPr txBox="1"/>
          <p:nvPr>
            <p:ph idx="1" type="body"/>
          </p:nvPr>
        </p:nvSpPr>
        <p:spPr>
          <a:xfrm>
            <a:off x="220100" y="147925"/>
            <a:ext cx="5257500" cy="6510000"/>
          </a:xfrm>
          <a:prstGeom prst="rect">
            <a:avLst/>
          </a:prstGeom>
        </p:spPr>
        <p:txBody>
          <a:bodyPr anchorCtr="0" anchor="t" bIns="45700" lIns="91425" spcFirstLastPara="1" rIns="91425" wrap="square" tIns="45700">
            <a:noAutofit/>
          </a:bodyPr>
          <a:lstStyle/>
          <a:p>
            <a:pPr indent="0" lvl="0" marL="0" rtl="0" algn="just">
              <a:lnSpc>
                <a:spcPct val="115000"/>
              </a:lnSpc>
              <a:spcBef>
                <a:spcPts val="1800"/>
              </a:spcBef>
              <a:spcAft>
                <a:spcPts val="0"/>
              </a:spcAft>
              <a:buClr>
                <a:schemeClr val="dk1"/>
              </a:buClr>
              <a:buSzPts val="1100"/>
              <a:buFont typeface="Arial"/>
              <a:buNone/>
            </a:pPr>
            <a:r>
              <a:rPr b="1" lang="en-IN" sz="1800">
                <a:solidFill>
                  <a:srgbClr val="0000FF"/>
                </a:solidFill>
              </a:rPr>
              <a:t>Multivariate Data</a:t>
            </a:r>
            <a:endParaRPr b="1" sz="1800">
              <a:solidFill>
                <a:srgbClr val="0000FF"/>
              </a:solidFill>
            </a:endParaRPr>
          </a:p>
          <a:p>
            <a:pPr indent="0" lvl="0" marL="0" rtl="0" algn="just">
              <a:lnSpc>
                <a:spcPct val="115000"/>
              </a:lnSpc>
              <a:spcBef>
                <a:spcPts val="1200"/>
              </a:spcBef>
              <a:spcAft>
                <a:spcPts val="0"/>
              </a:spcAft>
              <a:buClr>
                <a:schemeClr val="dk1"/>
              </a:buClr>
              <a:buSzPts val="1100"/>
              <a:buFont typeface="Arial"/>
              <a:buNone/>
            </a:pPr>
            <a:r>
              <a:rPr lang="en-IN" sz="1800"/>
              <a:t>Multivariate data consists of three or more variables measured or observed for the same set of individuals, objects, or observations.</a:t>
            </a:r>
            <a:endParaRPr sz="1800"/>
          </a:p>
          <a:p>
            <a:pPr indent="0" lvl="0" marL="0" rtl="0" algn="just">
              <a:lnSpc>
                <a:spcPct val="115000"/>
              </a:lnSpc>
              <a:spcBef>
                <a:spcPts val="1200"/>
              </a:spcBef>
              <a:spcAft>
                <a:spcPts val="0"/>
              </a:spcAft>
              <a:buClr>
                <a:schemeClr val="dk1"/>
              </a:buClr>
              <a:buSzPts val="1100"/>
              <a:buFont typeface="Arial"/>
              <a:buNone/>
            </a:pPr>
            <a:r>
              <a:rPr lang="en-IN" sz="1800"/>
              <a:t>It is used when we want to study the relationship between multiple variables simultaneously.</a:t>
            </a:r>
            <a:endParaRPr sz="1800"/>
          </a:p>
          <a:p>
            <a:pPr indent="0" lvl="0" marL="0" rtl="0" algn="just">
              <a:lnSpc>
                <a:spcPct val="115000"/>
              </a:lnSpc>
              <a:spcBef>
                <a:spcPts val="1200"/>
              </a:spcBef>
              <a:spcAft>
                <a:spcPts val="0"/>
              </a:spcAft>
              <a:buClr>
                <a:schemeClr val="dk1"/>
              </a:buClr>
              <a:buSzPts val="1100"/>
              <a:buFont typeface="Arial"/>
              <a:buNone/>
            </a:pPr>
            <a:r>
              <a:rPr b="1" lang="en-IN" sz="1800"/>
              <a:t>Example:</a:t>
            </a:r>
            <a:endParaRPr b="1" sz="1800"/>
          </a:p>
          <a:p>
            <a:pPr indent="0" lvl="0" marL="0" rtl="0" algn="just">
              <a:lnSpc>
                <a:spcPct val="115000"/>
              </a:lnSpc>
              <a:spcBef>
                <a:spcPts val="1200"/>
              </a:spcBef>
              <a:spcAft>
                <a:spcPts val="0"/>
              </a:spcAft>
              <a:buNone/>
            </a:pPr>
            <a:r>
              <a:rPr lang="en-IN" sz="1800"/>
              <a:t>Suppose information about students is collected:</a:t>
            </a:r>
            <a:endParaRPr sz="1800"/>
          </a:p>
          <a:p>
            <a:pPr indent="0" lvl="0" marL="0" rtl="0" algn="just">
              <a:lnSpc>
                <a:spcPct val="115000"/>
              </a:lnSpc>
              <a:spcBef>
                <a:spcPts val="1200"/>
              </a:spcBef>
              <a:spcAft>
                <a:spcPts val="0"/>
              </a:spcAft>
              <a:buNone/>
            </a:pPr>
            <a:r>
              <a:rPr lang="en-IN" sz="1800"/>
              <a:t>Here we have four variables:</a:t>
            </a:r>
            <a:endParaRPr sz="1800"/>
          </a:p>
          <a:p>
            <a:pPr indent="-342900" lvl="0" marL="457200" rtl="0" algn="just">
              <a:lnSpc>
                <a:spcPct val="115000"/>
              </a:lnSpc>
              <a:spcBef>
                <a:spcPts val="1200"/>
              </a:spcBef>
              <a:spcAft>
                <a:spcPts val="0"/>
              </a:spcAft>
              <a:buSzPts val="1800"/>
              <a:buAutoNum type="arabicPeriod"/>
            </a:pPr>
            <a:r>
              <a:rPr lang="en-IN" sz="1800"/>
              <a:t>Hours Studied</a:t>
            </a:r>
            <a:endParaRPr sz="1800"/>
          </a:p>
          <a:p>
            <a:pPr indent="-342900" lvl="0" marL="457200" rtl="0" algn="just">
              <a:lnSpc>
                <a:spcPct val="115000"/>
              </a:lnSpc>
              <a:spcBef>
                <a:spcPts val="0"/>
              </a:spcBef>
              <a:spcAft>
                <a:spcPts val="0"/>
              </a:spcAft>
              <a:buSzPts val="1800"/>
              <a:buAutoNum type="arabicPeriod"/>
            </a:pPr>
            <a:r>
              <a:rPr lang="en-IN" sz="1800"/>
              <a:t>Attendance</a:t>
            </a:r>
            <a:endParaRPr sz="1800"/>
          </a:p>
          <a:p>
            <a:pPr indent="-342900" lvl="0" marL="457200" rtl="0" algn="just">
              <a:lnSpc>
                <a:spcPct val="115000"/>
              </a:lnSpc>
              <a:spcBef>
                <a:spcPts val="0"/>
              </a:spcBef>
              <a:spcAft>
                <a:spcPts val="0"/>
              </a:spcAft>
              <a:buSzPts val="1800"/>
              <a:buAutoNum type="arabicPeriod"/>
            </a:pPr>
            <a:r>
              <a:rPr lang="en-IN" sz="1800"/>
              <a:t>Assignment Score</a:t>
            </a:r>
            <a:endParaRPr sz="1800"/>
          </a:p>
          <a:p>
            <a:pPr indent="-342900" lvl="0" marL="457200" rtl="0" algn="just">
              <a:lnSpc>
                <a:spcPct val="115000"/>
              </a:lnSpc>
              <a:spcBef>
                <a:spcPts val="0"/>
              </a:spcBef>
              <a:spcAft>
                <a:spcPts val="0"/>
              </a:spcAft>
              <a:buSzPts val="1800"/>
              <a:buAutoNum type="arabicPeriod"/>
            </a:pPr>
            <a:r>
              <a:rPr lang="en-IN" sz="1800"/>
              <a:t>Examination Marks</a:t>
            </a:r>
            <a:endParaRPr sz="1800"/>
          </a:p>
          <a:p>
            <a:pPr indent="0" lvl="0" marL="0" rtl="0" algn="just">
              <a:lnSpc>
                <a:spcPct val="115000"/>
              </a:lnSpc>
              <a:spcBef>
                <a:spcPts val="1200"/>
              </a:spcBef>
              <a:spcAft>
                <a:spcPts val="0"/>
              </a:spcAft>
              <a:buNone/>
            </a:pPr>
            <a:r>
              <a:rPr lang="en-IN" sz="1800"/>
              <a:t>Therefore, this is multivariate data.</a:t>
            </a:r>
            <a:endParaRPr sz="1800"/>
          </a:p>
          <a:p>
            <a:pPr indent="0" lvl="0" marL="0" rtl="0" algn="just">
              <a:lnSpc>
                <a:spcPct val="115000"/>
              </a:lnSpc>
              <a:spcBef>
                <a:spcPts val="1200"/>
              </a:spcBef>
              <a:spcAft>
                <a:spcPts val="0"/>
              </a:spcAft>
              <a:buClr>
                <a:schemeClr val="dk1"/>
              </a:buClr>
              <a:buSzPts val="1100"/>
              <a:buFont typeface="Arial"/>
              <a:buNone/>
            </a:pPr>
            <a:r>
              <a:t/>
            </a:r>
            <a:endParaRPr sz="1800"/>
          </a:p>
          <a:p>
            <a:pPr indent="0" lvl="0" marL="0" rtl="0" algn="just">
              <a:spcBef>
                <a:spcPts val="1200"/>
              </a:spcBef>
              <a:spcAft>
                <a:spcPts val="0"/>
              </a:spcAft>
              <a:buNone/>
            </a:pPr>
            <a:r>
              <a:t/>
            </a:r>
            <a:endParaRPr sz="1800"/>
          </a:p>
        </p:txBody>
      </p:sp>
      <p:graphicFrame>
        <p:nvGraphicFramePr>
          <p:cNvPr id="530" name="Google Shape;530;h732815749949bfd2_0_146"/>
          <p:cNvGraphicFramePr/>
          <p:nvPr/>
        </p:nvGraphicFramePr>
        <p:xfrm>
          <a:off x="5654250" y="1579925"/>
          <a:ext cx="3000000" cy="3000000"/>
        </p:xfrm>
        <a:graphic>
          <a:graphicData uri="http://schemas.openxmlformats.org/drawingml/2006/table">
            <a:tbl>
              <a:tblPr>
                <a:noFill/>
                <a:tableStyleId>{955FF24C-9B2D-4C22-A1ED-B70111472CD0}</a:tableStyleId>
              </a:tblPr>
              <a:tblGrid>
                <a:gridCol w="1221875"/>
                <a:gridCol w="1185700"/>
                <a:gridCol w="1587425"/>
                <a:gridCol w="1362025"/>
                <a:gridCol w="906875"/>
              </a:tblGrid>
              <a:tr h="190500">
                <a:tc>
                  <a:txBody>
                    <a:bodyPr/>
                    <a:lstStyle/>
                    <a:p>
                      <a:pPr indent="0" lvl="0" marL="0" rtl="0" algn="ctr">
                        <a:lnSpc>
                          <a:spcPct val="115000"/>
                        </a:lnSpc>
                        <a:spcBef>
                          <a:spcPts val="0"/>
                        </a:spcBef>
                        <a:spcAft>
                          <a:spcPts val="0"/>
                        </a:spcAft>
                        <a:buNone/>
                      </a:pPr>
                      <a:r>
                        <a:rPr b="1" lang="en-IN" sz="1600">
                          <a:solidFill>
                            <a:srgbClr val="FF0000"/>
                          </a:solidFill>
                        </a:rPr>
                        <a:t>Student</a:t>
                      </a:r>
                      <a:endParaRPr b="1" sz="1600">
                        <a:solidFill>
                          <a:srgbClr val="FF0000"/>
                        </a:solidFill>
                      </a:endParaRPr>
                    </a:p>
                  </a:txBody>
                  <a:tcPr marT="91425" marB="91425" marR="91425" marL="91425"/>
                </a:tc>
                <a:tc>
                  <a:txBody>
                    <a:bodyPr/>
                    <a:lstStyle/>
                    <a:p>
                      <a:pPr indent="0" lvl="0" marL="0" rtl="0" algn="ctr">
                        <a:lnSpc>
                          <a:spcPct val="115000"/>
                        </a:lnSpc>
                        <a:spcBef>
                          <a:spcPts val="0"/>
                        </a:spcBef>
                        <a:spcAft>
                          <a:spcPts val="0"/>
                        </a:spcAft>
                        <a:buNone/>
                      </a:pPr>
                      <a:r>
                        <a:rPr b="1" lang="en-IN" sz="1600">
                          <a:solidFill>
                            <a:srgbClr val="FF0000"/>
                          </a:solidFill>
                        </a:rPr>
                        <a:t>Hours Studied</a:t>
                      </a:r>
                      <a:endParaRPr b="1" sz="1600">
                        <a:solidFill>
                          <a:srgbClr val="FF0000"/>
                        </a:solidFill>
                      </a:endParaRPr>
                    </a:p>
                  </a:txBody>
                  <a:tcPr marT="91425" marB="91425" marR="91425" marL="91425"/>
                </a:tc>
                <a:tc>
                  <a:txBody>
                    <a:bodyPr/>
                    <a:lstStyle/>
                    <a:p>
                      <a:pPr indent="0" lvl="0" marL="0" rtl="0" algn="ctr">
                        <a:lnSpc>
                          <a:spcPct val="115000"/>
                        </a:lnSpc>
                        <a:spcBef>
                          <a:spcPts val="0"/>
                        </a:spcBef>
                        <a:spcAft>
                          <a:spcPts val="0"/>
                        </a:spcAft>
                        <a:buNone/>
                      </a:pPr>
                      <a:r>
                        <a:rPr b="1" lang="en-IN" sz="1600">
                          <a:solidFill>
                            <a:srgbClr val="FF0000"/>
                          </a:solidFill>
                        </a:rPr>
                        <a:t>Attendance (%)</a:t>
                      </a:r>
                      <a:endParaRPr b="1" sz="1600">
                        <a:solidFill>
                          <a:srgbClr val="FF0000"/>
                        </a:solidFill>
                      </a:endParaRPr>
                    </a:p>
                  </a:txBody>
                  <a:tcPr marT="91425" marB="91425" marR="91425" marL="91425"/>
                </a:tc>
                <a:tc>
                  <a:txBody>
                    <a:bodyPr/>
                    <a:lstStyle/>
                    <a:p>
                      <a:pPr indent="0" lvl="0" marL="0" rtl="0" algn="ctr">
                        <a:lnSpc>
                          <a:spcPct val="115000"/>
                        </a:lnSpc>
                        <a:spcBef>
                          <a:spcPts val="0"/>
                        </a:spcBef>
                        <a:spcAft>
                          <a:spcPts val="0"/>
                        </a:spcAft>
                        <a:buNone/>
                      </a:pPr>
                      <a:r>
                        <a:rPr b="1" lang="en-IN" sz="1600">
                          <a:solidFill>
                            <a:srgbClr val="FF0000"/>
                          </a:solidFill>
                        </a:rPr>
                        <a:t>Assignment Score</a:t>
                      </a:r>
                      <a:endParaRPr b="1" sz="1600">
                        <a:solidFill>
                          <a:srgbClr val="FF0000"/>
                        </a:solidFill>
                      </a:endParaRPr>
                    </a:p>
                  </a:txBody>
                  <a:tcPr marT="91425" marB="91425" marR="91425" marL="91425"/>
                </a:tc>
                <a:tc>
                  <a:txBody>
                    <a:bodyPr/>
                    <a:lstStyle/>
                    <a:p>
                      <a:pPr indent="0" lvl="0" marL="0" rtl="0" algn="ctr">
                        <a:lnSpc>
                          <a:spcPct val="115000"/>
                        </a:lnSpc>
                        <a:spcBef>
                          <a:spcPts val="0"/>
                        </a:spcBef>
                        <a:spcAft>
                          <a:spcPts val="0"/>
                        </a:spcAft>
                        <a:buNone/>
                      </a:pPr>
                      <a:r>
                        <a:rPr b="1" lang="en-IN" sz="1600">
                          <a:solidFill>
                            <a:srgbClr val="FF0000"/>
                          </a:solidFill>
                        </a:rPr>
                        <a:t>Marks</a:t>
                      </a:r>
                      <a:endParaRPr b="1" sz="1600">
                        <a:solidFill>
                          <a:srgbClr val="FF0000"/>
                        </a:solidFill>
                      </a:endParaRPr>
                    </a:p>
                  </a:txBody>
                  <a:tcPr marT="91425" marB="91425" marR="91425" marL="91425"/>
                </a:tc>
              </a:tr>
              <a:tr h="190500">
                <a:tc>
                  <a:txBody>
                    <a:bodyPr/>
                    <a:lstStyle/>
                    <a:p>
                      <a:pPr indent="0" lvl="0" marL="0" rtl="0" algn="ctr">
                        <a:spcBef>
                          <a:spcPts val="0"/>
                        </a:spcBef>
                        <a:spcAft>
                          <a:spcPts val="0"/>
                        </a:spcAft>
                        <a:buNone/>
                      </a:pPr>
                      <a:r>
                        <a:rPr lang="en-IN" sz="2000"/>
                        <a:t>A</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2</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70</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60</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45</a:t>
                      </a:r>
                      <a:endParaRPr sz="2000"/>
                    </a:p>
                  </a:txBody>
                  <a:tcPr marT="91425" marB="91425" marR="91425" marL="91425"/>
                </a:tc>
              </a:tr>
              <a:tr h="190500">
                <a:tc>
                  <a:txBody>
                    <a:bodyPr/>
                    <a:lstStyle/>
                    <a:p>
                      <a:pPr indent="0" lvl="0" marL="0" rtl="0" algn="ctr">
                        <a:spcBef>
                          <a:spcPts val="0"/>
                        </a:spcBef>
                        <a:spcAft>
                          <a:spcPts val="0"/>
                        </a:spcAft>
                        <a:buNone/>
                      </a:pPr>
                      <a:r>
                        <a:rPr lang="en-IN" sz="2000"/>
                        <a:t>B</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3</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75</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65</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50</a:t>
                      </a:r>
                      <a:endParaRPr sz="2000"/>
                    </a:p>
                  </a:txBody>
                  <a:tcPr marT="91425" marB="91425" marR="91425" marL="91425"/>
                </a:tc>
              </a:tr>
              <a:tr h="190500">
                <a:tc>
                  <a:txBody>
                    <a:bodyPr/>
                    <a:lstStyle/>
                    <a:p>
                      <a:pPr indent="0" lvl="0" marL="0" rtl="0" algn="ctr">
                        <a:spcBef>
                          <a:spcPts val="0"/>
                        </a:spcBef>
                        <a:spcAft>
                          <a:spcPts val="0"/>
                        </a:spcAft>
                        <a:buNone/>
                      </a:pPr>
                      <a:r>
                        <a:rPr lang="en-IN" sz="2000"/>
                        <a:t>C</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4</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80</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72</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60</a:t>
                      </a:r>
                      <a:endParaRPr sz="2000"/>
                    </a:p>
                  </a:txBody>
                  <a:tcPr marT="91425" marB="91425" marR="91425" marL="91425"/>
                </a:tc>
              </a:tr>
              <a:tr h="190500">
                <a:tc>
                  <a:txBody>
                    <a:bodyPr/>
                    <a:lstStyle/>
                    <a:p>
                      <a:pPr indent="0" lvl="0" marL="0" rtl="0" algn="ctr">
                        <a:spcBef>
                          <a:spcPts val="0"/>
                        </a:spcBef>
                        <a:spcAft>
                          <a:spcPts val="0"/>
                        </a:spcAft>
                        <a:buNone/>
                      </a:pPr>
                      <a:r>
                        <a:rPr lang="en-IN" sz="2000"/>
                        <a:t>D</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5</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90</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85</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68</a:t>
                      </a:r>
                      <a:endParaRPr sz="2000"/>
                    </a:p>
                  </a:txBody>
                  <a:tcPr marT="91425" marB="91425" marR="91425" marL="91425"/>
                </a:tc>
              </a:tr>
              <a:tr h="190500">
                <a:tc>
                  <a:txBody>
                    <a:bodyPr/>
                    <a:lstStyle/>
                    <a:p>
                      <a:pPr indent="0" lvl="0" marL="0" rtl="0" algn="ctr">
                        <a:spcBef>
                          <a:spcPts val="0"/>
                        </a:spcBef>
                        <a:spcAft>
                          <a:spcPts val="0"/>
                        </a:spcAft>
                        <a:buNone/>
                      </a:pPr>
                      <a:r>
                        <a:rPr lang="en-IN" sz="2000"/>
                        <a:t>E</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6</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95</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90</a:t>
                      </a:r>
                      <a:endParaRPr sz="2000"/>
                    </a:p>
                  </a:txBody>
                  <a:tcPr marT="91425" marB="91425" marR="91425" marL="91425"/>
                </a:tc>
                <a:tc>
                  <a:txBody>
                    <a:bodyPr/>
                    <a:lstStyle/>
                    <a:p>
                      <a:pPr indent="0" lvl="0" marL="0" rtl="0" algn="ctr">
                        <a:lnSpc>
                          <a:spcPct val="115000"/>
                        </a:lnSpc>
                        <a:spcBef>
                          <a:spcPts val="0"/>
                        </a:spcBef>
                        <a:spcAft>
                          <a:spcPts val="0"/>
                        </a:spcAft>
                        <a:buNone/>
                      </a:pPr>
                      <a:r>
                        <a:rPr lang="en-IN" sz="2000"/>
                        <a:t>75</a:t>
                      </a:r>
                      <a:endParaRPr sz="2000"/>
                    </a:p>
                  </a:txBody>
                  <a:tcPr marT="91425" marB="91425" marR="91425" marL="91425"/>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graphicFrame>
        <p:nvGraphicFramePr>
          <p:cNvPr id="535" name="Google Shape;535;h1fb9f94b7e0c5bd_0_9"/>
          <p:cNvGraphicFramePr/>
          <p:nvPr/>
        </p:nvGraphicFramePr>
        <p:xfrm>
          <a:off x="559975" y="506850"/>
          <a:ext cx="3000000" cy="3000000"/>
        </p:xfrm>
        <a:graphic>
          <a:graphicData uri="http://schemas.openxmlformats.org/drawingml/2006/table">
            <a:tbl>
              <a:tblPr>
                <a:noFill/>
                <a:tableStyleId>{955FF24C-9B2D-4C22-A1ED-B70111472CD0}</a:tableStyleId>
              </a:tblPr>
              <a:tblGrid>
                <a:gridCol w="1890675"/>
                <a:gridCol w="4205225"/>
                <a:gridCol w="5016900"/>
              </a:tblGrid>
              <a:tr h="190500">
                <a:tc>
                  <a:txBody>
                    <a:bodyPr/>
                    <a:lstStyle/>
                    <a:p>
                      <a:pPr indent="0" lvl="0" marL="0" rtl="0" algn="ctr">
                        <a:lnSpc>
                          <a:spcPct val="115000"/>
                        </a:lnSpc>
                        <a:spcBef>
                          <a:spcPts val="0"/>
                        </a:spcBef>
                        <a:spcAft>
                          <a:spcPts val="0"/>
                        </a:spcAft>
                        <a:buNone/>
                      </a:pPr>
                      <a:r>
                        <a:rPr b="1" lang="en-IN" sz="2200">
                          <a:latin typeface="Times New Roman"/>
                          <a:ea typeface="Times New Roman"/>
                          <a:cs typeface="Times New Roman"/>
                          <a:sym typeface="Times New Roman"/>
                        </a:rPr>
                        <a:t>Feature</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sz="2200">
                          <a:latin typeface="Times New Roman"/>
                          <a:ea typeface="Times New Roman"/>
                          <a:cs typeface="Times New Roman"/>
                          <a:sym typeface="Times New Roman"/>
                        </a:rPr>
                        <a:t>Bivariate Data</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ctr">
                        <a:lnSpc>
                          <a:spcPct val="115000"/>
                        </a:lnSpc>
                        <a:spcBef>
                          <a:spcPts val="0"/>
                        </a:spcBef>
                        <a:spcAft>
                          <a:spcPts val="0"/>
                        </a:spcAft>
                        <a:buNone/>
                      </a:pPr>
                      <a:r>
                        <a:rPr b="1" lang="en-IN" sz="2200">
                          <a:latin typeface="Times New Roman"/>
                          <a:ea typeface="Times New Roman"/>
                          <a:cs typeface="Times New Roman"/>
                          <a:sym typeface="Times New Roman"/>
                        </a:rPr>
                        <a:t>Multivariate Data</a:t>
                      </a:r>
                      <a:endParaRPr b="1" sz="2200">
                        <a:latin typeface="Times New Roman"/>
                        <a:ea typeface="Times New Roman"/>
                        <a:cs typeface="Times New Roman"/>
                        <a:sym typeface="Times New Roman"/>
                      </a:endParaRPr>
                    </a:p>
                  </a:txBody>
                  <a:tcPr marT="91425" marB="91425" marR="91425" marL="91425"/>
                </a:tc>
              </a:tr>
              <a:tr h="190500">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Meaning</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Data involving </a:t>
                      </a:r>
                      <a:r>
                        <a:rPr b="1" lang="en-IN" sz="2200">
                          <a:latin typeface="Times New Roman"/>
                          <a:ea typeface="Times New Roman"/>
                          <a:cs typeface="Times New Roman"/>
                          <a:sym typeface="Times New Roman"/>
                        </a:rPr>
                        <a:t>two variables</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Data involving </a:t>
                      </a:r>
                      <a:r>
                        <a:rPr b="1" lang="en-IN" sz="2200">
                          <a:latin typeface="Times New Roman"/>
                          <a:ea typeface="Times New Roman"/>
                          <a:cs typeface="Times New Roman"/>
                          <a:sym typeface="Times New Roman"/>
                        </a:rPr>
                        <a:t>three or more variables</a:t>
                      </a:r>
                      <a:endParaRPr b="1" sz="2200">
                        <a:latin typeface="Times New Roman"/>
                        <a:ea typeface="Times New Roman"/>
                        <a:cs typeface="Times New Roman"/>
                        <a:sym typeface="Times New Roman"/>
                      </a:endParaRPr>
                    </a:p>
                  </a:txBody>
                  <a:tcPr marT="91425" marB="91425" marR="91425" marL="91425"/>
                </a:tc>
              </a:tr>
              <a:tr h="190500">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Number of variables</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Exactly </a:t>
                      </a:r>
                      <a:r>
                        <a:rPr b="1" lang="en-IN" sz="2200">
                          <a:latin typeface="Times New Roman"/>
                          <a:ea typeface="Times New Roman"/>
                          <a:cs typeface="Times New Roman"/>
                          <a:sym typeface="Times New Roman"/>
                        </a:rPr>
                        <a:t>2</a:t>
                      </a:r>
                      <a:endParaRPr b="1"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b="1" lang="en-IN" sz="2200">
                          <a:latin typeface="Times New Roman"/>
                          <a:ea typeface="Times New Roman"/>
                          <a:cs typeface="Times New Roman"/>
                          <a:sym typeface="Times New Roman"/>
                        </a:rPr>
                        <a:t>3 or more</a:t>
                      </a:r>
                      <a:endParaRPr b="1" sz="2200">
                        <a:latin typeface="Times New Roman"/>
                        <a:ea typeface="Times New Roman"/>
                        <a:cs typeface="Times New Roman"/>
                        <a:sym typeface="Times New Roman"/>
                      </a:endParaRPr>
                    </a:p>
                  </a:txBody>
                  <a:tcPr marT="91425" marB="91425" marR="91425" marL="91425"/>
                </a:tc>
              </a:tr>
              <a:tr h="190500">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Main purpose</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Study the relationship between two variables</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Study relationships among multiple variables</a:t>
                      </a:r>
                      <a:endParaRPr sz="2200">
                        <a:latin typeface="Times New Roman"/>
                        <a:ea typeface="Times New Roman"/>
                        <a:cs typeface="Times New Roman"/>
                        <a:sym typeface="Times New Roman"/>
                      </a:endParaRPr>
                    </a:p>
                  </a:txBody>
                  <a:tcPr marT="91425" marB="91425" marR="91425" marL="91425"/>
                </a:tc>
              </a:tr>
              <a:tr h="190500">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Example</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Height and weight</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Height, weight, age, and blood pressure</a:t>
                      </a:r>
                      <a:endParaRPr sz="2200">
                        <a:latin typeface="Times New Roman"/>
                        <a:ea typeface="Times New Roman"/>
                        <a:cs typeface="Times New Roman"/>
                        <a:sym typeface="Times New Roman"/>
                      </a:endParaRPr>
                    </a:p>
                  </a:txBody>
                  <a:tcPr marT="91425" marB="91425" marR="91425" marL="91425"/>
                </a:tc>
              </a:tr>
              <a:tr h="190500">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Typical analysis</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Correlation, covariance, simple linear regression</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Multiple regression, PCA, clustering, multivariate analysis</a:t>
                      </a:r>
                      <a:endParaRPr sz="2200">
                        <a:latin typeface="Times New Roman"/>
                        <a:ea typeface="Times New Roman"/>
                        <a:cs typeface="Times New Roman"/>
                        <a:sym typeface="Times New Roman"/>
                      </a:endParaRPr>
                    </a:p>
                  </a:txBody>
                  <a:tcPr marT="91425" marB="91425" marR="91425" marL="91425"/>
                </a:tc>
              </a:tr>
              <a:tr h="190500">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Common visualization</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Scatter plot</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Pair plot, heatmap, 3D scatter plot, parallel coordinates</a:t>
                      </a:r>
                      <a:endParaRPr sz="2200">
                        <a:latin typeface="Times New Roman"/>
                        <a:ea typeface="Times New Roman"/>
                        <a:cs typeface="Times New Roman"/>
                        <a:sym typeface="Times New Roman"/>
                      </a:endParaRPr>
                    </a:p>
                  </a:txBody>
                  <a:tcPr marT="91425" marB="91425" marR="91425" marL="91425"/>
                </a:tc>
              </a:tr>
              <a:tr h="190500">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Example in ML</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Hours studied → Marks</a:t>
                      </a:r>
                      <a:endParaRPr sz="2200">
                        <a:latin typeface="Times New Roman"/>
                        <a:ea typeface="Times New Roman"/>
                        <a:cs typeface="Times New Roman"/>
                        <a:sym typeface="Times New Roman"/>
                      </a:endParaRPr>
                    </a:p>
                  </a:txBody>
                  <a:tcPr marT="91425" marB="91425" marR="91425" marL="91425"/>
                </a:tc>
                <a:tc>
                  <a:txBody>
                    <a:bodyPr/>
                    <a:lstStyle/>
                    <a:p>
                      <a:pPr indent="0" lvl="0" marL="0" rtl="0" algn="l">
                        <a:spcBef>
                          <a:spcPts val="0"/>
                        </a:spcBef>
                        <a:spcAft>
                          <a:spcPts val="0"/>
                        </a:spcAft>
                        <a:buNone/>
                      </a:pPr>
                      <a:r>
                        <a:rPr lang="en-IN" sz="2200">
                          <a:latin typeface="Times New Roman"/>
                          <a:ea typeface="Times New Roman"/>
                          <a:cs typeface="Times New Roman"/>
                          <a:sym typeface="Times New Roman"/>
                        </a:rPr>
                        <a:t>Hours studied + Attendance + Previous marks → Final marks</a:t>
                      </a:r>
                      <a:endParaRPr sz="2200">
                        <a:latin typeface="Times New Roman"/>
                        <a:ea typeface="Times New Roman"/>
                        <a:cs typeface="Times New Roman"/>
                        <a:sym typeface="Times New Roman"/>
                      </a:endParaRPr>
                    </a:p>
                  </a:txBody>
                  <a:tcPr marT="91425" marB="91425" marR="91425" marL="91425"/>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h1fb9f94b7e0c5bd_0_17"/>
          <p:cNvSpPr txBox="1"/>
          <p:nvPr>
            <p:ph type="title"/>
          </p:nvPr>
        </p:nvSpPr>
        <p:spPr>
          <a:xfrm>
            <a:off x="202300" y="161848"/>
            <a:ext cx="11151600" cy="6270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IN" sz="3200">
                <a:solidFill>
                  <a:srgbClr val="0000FF"/>
                </a:solidFill>
                <a:latin typeface="Times New Roman"/>
                <a:ea typeface="Times New Roman"/>
                <a:cs typeface="Times New Roman"/>
                <a:sym typeface="Times New Roman"/>
              </a:rPr>
              <a:t>Bivariate statistics:  </a:t>
            </a:r>
            <a:r>
              <a:rPr b="1" lang="en-IN" sz="3200">
                <a:solidFill>
                  <a:srgbClr val="FF0000"/>
                </a:solidFill>
                <a:latin typeface="Times New Roman"/>
                <a:ea typeface="Times New Roman"/>
                <a:cs typeface="Times New Roman"/>
                <a:sym typeface="Times New Roman"/>
              </a:rPr>
              <a:t>Covariance </a:t>
            </a:r>
            <a:endParaRPr>
              <a:solidFill>
                <a:srgbClr val="FF0000"/>
              </a:solidFill>
            </a:endParaRPr>
          </a:p>
        </p:txBody>
      </p:sp>
      <p:sp>
        <p:nvSpPr>
          <p:cNvPr id="541" name="Google Shape;541;h1fb9f94b7e0c5bd_0_17"/>
          <p:cNvSpPr txBox="1"/>
          <p:nvPr/>
        </p:nvSpPr>
        <p:spPr>
          <a:xfrm>
            <a:off x="521200" y="849650"/>
            <a:ext cx="11151600" cy="12930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IN" sz="2400">
                <a:latin typeface="Times New Roman"/>
                <a:ea typeface="Times New Roman"/>
                <a:cs typeface="Times New Roman"/>
                <a:sym typeface="Times New Roman"/>
              </a:rPr>
              <a:t>Covariance and correlation are examples of bivariate statistics. Covariance is a measure of the joint probability of random variables (such as X and Y) and is used to measure the variance between two dimensions. </a:t>
            </a:r>
            <a:endParaRPr sz="2400">
              <a:latin typeface="Times New Roman"/>
              <a:ea typeface="Times New Roman"/>
              <a:cs typeface="Times New Roman"/>
              <a:sym typeface="Times New Roman"/>
            </a:endParaRPr>
          </a:p>
        </p:txBody>
      </p:sp>
      <p:pic>
        <p:nvPicPr>
          <p:cNvPr id="542" name="Google Shape;542;h1fb9f94b7e0c5bd_0_17"/>
          <p:cNvPicPr preferRelativeResize="0"/>
          <p:nvPr/>
        </p:nvPicPr>
        <p:blipFill>
          <a:blip r:embed="rId3">
            <a:alphaModFix/>
          </a:blip>
          <a:stretch>
            <a:fillRect/>
          </a:stretch>
        </p:blipFill>
        <p:spPr>
          <a:xfrm>
            <a:off x="60700" y="2142650"/>
            <a:ext cx="6493850" cy="1293000"/>
          </a:xfrm>
          <a:prstGeom prst="rect">
            <a:avLst/>
          </a:prstGeom>
          <a:noFill/>
          <a:ln>
            <a:noFill/>
          </a:ln>
        </p:spPr>
      </p:pic>
      <p:pic>
        <p:nvPicPr>
          <p:cNvPr id="543" name="Google Shape;543;h1fb9f94b7e0c5bd_0_17"/>
          <p:cNvPicPr preferRelativeResize="0"/>
          <p:nvPr/>
        </p:nvPicPr>
        <p:blipFill>
          <a:blip r:embed="rId4">
            <a:alphaModFix/>
          </a:blip>
          <a:stretch>
            <a:fillRect/>
          </a:stretch>
        </p:blipFill>
        <p:spPr>
          <a:xfrm>
            <a:off x="71500" y="3459275"/>
            <a:ext cx="6300975" cy="1658950"/>
          </a:xfrm>
          <a:prstGeom prst="rect">
            <a:avLst/>
          </a:prstGeom>
          <a:noFill/>
          <a:ln>
            <a:noFill/>
          </a:ln>
        </p:spPr>
      </p:pic>
      <p:pic>
        <p:nvPicPr>
          <p:cNvPr id="544" name="Google Shape;544;h1fb9f94b7e0c5bd_0_17"/>
          <p:cNvPicPr preferRelativeResize="0"/>
          <p:nvPr/>
        </p:nvPicPr>
        <p:blipFill>
          <a:blip r:embed="rId5">
            <a:alphaModFix/>
          </a:blip>
          <a:stretch>
            <a:fillRect/>
          </a:stretch>
        </p:blipFill>
        <p:spPr>
          <a:xfrm>
            <a:off x="6372475" y="2872675"/>
            <a:ext cx="5819524" cy="34998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h1fb9f94b7e0c5bd_0_29"/>
          <p:cNvSpPr txBox="1"/>
          <p:nvPr>
            <p:ph type="title"/>
          </p:nvPr>
        </p:nvSpPr>
        <p:spPr>
          <a:xfrm>
            <a:off x="150375" y="81900"/>
            <a:ext cx="3491100" cy="1325700"/>
          </a:xfrm>
          <a:prstGeom prst="rect">
            <a:avLst/>
          </a:prstGeom>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dk1"/>
              </a:buClr>
              <a:buSzPts val="1100"/>
              <a:buFont typeface="Arial"/>
              <a:buNone/>
            </a:pPr>
            <a:r>
              <a:rPr b="1" lang="en-IN" sz="3000">
                <a:solidFill>
                  <a:srgbClr val="FF0000"/>
                </a:solidFill>
                <a:latin typeface="Times New Roman"/>
                <a:ea typeface="Times New Roman"/>
                <a:cs typeface="Times New Roman"/>
                <a:sym typeface="Times New Roman"/>
              </a:rPr>
              <a:t>Correlation:</a:t>
            </a:r>
            <a:r>
              <a:rPr lang="en-IN" sz="3000">
                <a:solidFill>
                  <a:srgbClr val="FF0000"/>
                </a:solidFill>
                <a:latin typeface="Times New Roman"/>
                <a:ea typeface="Times New Roman"/>
                <a:cs typeface="Times New Roman"/>
                <a:sym typeface="Times New Roman"/>
              </a:rPr>
              <a:t> </a:t>
            </a:r>
            <a:endParaRPr sz="3000"/>
          </a:p>
        </p:txBody>
      </p:sp>
      <p:sp>
        <p:nvSpPr>
          <p:cNvPr id="550" name="Google Shape;550;h1fb9f94b7e0c5bd_0_29"/>
          <p:cNvSpPr txBox="1"/>
          <p:nvPr/>
        </p:nvSpPr>
        <p:spPr>
          <a:xfrm>
            <a:off x="150375" y="1132900"/>
            <a:ext cx="12077400" cy="1662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IN" sz="2400">
                <a:solidFill>
                  <a:srgbClr val="FF0000"/>
                </a:solidFill>
                <a:latin typeface="Times New Roman"/>
                <a:ea typeface="Times New Roman"/>
                <a:cs typeface="Times New Roman"/>
                <a:sym typeface="Times New Roman"/>
              </a:rPr>
              <a:t>Correlation</a:t>
            </a:r>
            <a:r>
              <a:rPr lang="en-IN" sz="2400">
                <a:solidFill>
                  <a:srgbClr val="FF0000"/>
                </a:solidFill>
                <a:latin typeface="Times New Roman"/>
                <a:ea typeface="Times New Roman"/>
                <a:cs typeface="Times New Roman"/>
                <a:sym typeface="Times New Roman"/>
              </a:rPr>
              <a:t> </a:t>
            </a:r>
            <a:r>
              <a:rPr lang="en-IN" sz="2400">
                <a:solidFill>
                  <a:schemeClr val="dk1"/>
                </a:solidFill>
                <a:latin typeface="Times New Roman"/>
                <a:ea typeface="Times New Roman"/>
                <a:cs typeface="Times New Roman"/>
                <a:sym typeface="Times New Roman"/>
              </a:rPr>
              <a:t>is a statistical measure that quantifies the strength and direction of a linear relationship between two variables. While </a:t>
            </a:r>
            <a:r>
              <a:rPr b="1" lang="en-IN" sz="2400">
                <a:solidFill>
                  <a:schemeClr val="dk1"/>
                </a:solidFill>
                <a:latin typeface="Times New Roman"/>
                <a:ea typeface="Times New Roman"/>
                <a:cs typeface="Times New Roman"/>
                <a:sym typeface="Times New Roman"/>
              </a:rPr>
              <a:t>covariance</a:t>
            </a:r>
            <a:r>
              <a:rPr lang="en-IN" sz="2400">
                <a:solidFill>
                  <a:schemeClr val="dk1"/>
                </a:solidFill>
                <a:latin typeface="Times New Roman"/>
                <a:ea typeface="Times New Roman"/>
                <a:cs typeface="Times New Roman"/>
                <a:sym typeface="Times New Roman"/>
              </a:rPr>
              <a:t> indicates whether two variables change together, correlation standardizes this measure—scale-independent and bounded—making it easy to evaluate how strongly the variables are related. </a:t>
            </a:r>
            <a:endParaRPr sz="2400">
              <a:latin typeface="Times New Roman"/>
              <a:ea typeface="Times New Roman"/>
              <a:cs typeface="Times New Roman"/>
              <a:sym typeface="Times New Roman"/>
            </a:endParaRPr>
          </a:p>
        </p:txBody>
      </p:sp>
      <p:sp>
        <p:nvSpPr>
          <p:cNvPr id="551" name="Google Shape;551;h1fb9f94b7e0c5bd_0_29"/>
          <p:cNvSpPr txBox="1"/>
          <p:nvPr/>
        </p:nvSpPr>
        <p:spPr>
          <a:xfrm>
            <a:off x="242775" y="2795200"/>
            <a:ext cx="11713200" cy="383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IN" sz="2400">
                <a:solidFill>
                  <a:schemeClr val="dk1"/>
                </a:solidFill>
                <a:latin typeface="Times New Roman"/>
                <a:ea typeface="Times New Roman"/>
                <a:cs typeface="Times New Roman"/>
                <a:sym typeface="Times New Roman"/>
              </a:rPr>
              <a:t>1. Direction of Correlation</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2400">
                <a:solidFill>
                  <a:schemeClr val="dk1"/>
                </a:solidFill>
                <a:latin typeface="Times New Roman"/>
                <a:ea typeface="Times New Roman"/>
                <a:cs typeface="Times New Roman"/>
                <a:sym typeface="Times New Roman"/>
              </a:rPr>
              <a:t>The direction describes how one variable changes relative to another:</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1200"/>
              </a:spcBef>
              <a:spcAft>
                <a:spcPts val="0"/>
              </a:spcAft>
              <a:buClr>
                <a:schemeClr val="dk1"/>
              </a:buClr>
              <a:buSzPts val="2400"/>
              <a:buChar char="●"/>
            </a:pPr>
            <a:r>
              <a:rPr b="1" lang="en-IN" sz="2400">
                <a:solidFill>
                  <a:schemeClr val="dk1"/>
                </a:solidFill>
                <a:latin typeface="Times New Roman"/>
                <a:ea typeface="Times New Roman"/>
                <a:cs typeface="Times New Roman"/>
                <a:sym typeface="Times New Roman"/>
              </a:rPr>
              <a:t>Positive Correlation:</a:t>
            </a:r>
            <a:r>
              <a:rPr lang="en-IN" sz="2400">
                <a:solidFill>
                  <a:schemeClr val="dk1"/>
                </a:solidFill>
                <a:latin typeface="Times New Roman"/>
                <a:ea typeface="Times New Roman"/>
                <a:cs typeface="Times New Roman"/>
                <a:sym typeface="Times New Roman"/>
              </a:rPr>
              <a:t> As one variable increases, the other variable tends to increase as well (e.g., study time and exam scores).</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IN" sz="2400">
                <a:solidFill>
                  <a:schemeClr val="dk1"/>
                </a:solidFill>
                <a:latin typeface="Times New Roman"/>
                <a:ea typeface="Times New Roman"/>
                <a:cs typeface="Times New Roman"/>
                <a:sym typeface="Times New Roman"/>
              </a:rPr>
              <a:t>Negative Correlation:</a:t>
            </a:r>
            <a:r>
              <a:rPr lang="en-IN" sz="2400">
                <a:solidFill>
                  <a:schemeClr val="dk1"/>
                </a:solidFill>
                <a:latin typeface="Times New Roman"/>
                <a:ea typeface="Times New Roman"/>
                <a:cs typeface="Times New Roman"/>
                <a:sym typeface="Times New Roman"/>
              </a:rPr>
              <a:t> As one variable increases, the other tends to decrease (e.g., speed of a car and travel time to a destination).</a:t>
            </a:r>
            <a:endParaRPr sz="2400">
              <a:solidFill>
                <a:schemeClr val="dk1"/>
              </a:solidFill>
              <a:latin typeface="Times New Roman"/>
              <a:ea typeface="Times New Roman"/>
              <a:cs typeface="Times New Roman"/>
              <a:sym typeface="Times New Roman"/>
            </a:endParaRPr>
          </a:p>
          <a:p>
            <a:pPr indent="-381000" lvl="0" marL="457200" rtl="0" algn="l">
              <a:lnSpc>
                <a:spcPct val="115000"/>
              </a:lnSpc>
              <a:spcBef>
                <a:spcPts val="0"/>
              </a:spcBef>
              <a:spcAft>
                <a:spcPts val="0"/>
              </a:spcAft>
              <a:buClr>
                <a:schemeClr val="dk1"/>
              </a:buClr>
              <a:buSzPts val="2400"/>
              <a:buChar char="●"/>
            </a:pPr>
            <a:r>
              <a:rPr b="1" lang="en-IN" sz="2400">
                <a:solidFill>
                  <a:schemeClr val="dk1"/>
                </a:solidFill>
                <a:latin typeface="Times New Roman"/>
                <a:ea typeface="Times New Roman"/>
                <a:cs typeface="Times New Roman"/>
                <a:sym typeface="Times New Roman"/>
              </a:rPr>
              <a:t>Zero Correlation:</a:t>
            </a:r>
            <a:r>
              <a:rPr lang="en-IN" sz="2400">
                <a:solidFill>
                  <a:schemeClr val="dk1"/>
                </a:solidFill>
                <a:latin typeface="Times New Roman"/>
                <a:ea typeface="Times New Roman"/>
                <a:cs typeface="Times New Roman"/>
                <a:sym typeface="Times New Roman"/>
              </a:rPr>
              <a:t> Changes in one variable show no linear relation to changes in the other (e.g., shoe size and intelligence quotient).</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h1fb9f94b7e0c5bd_0_43"/>
          <p:cNvSpPr txBox="1"/>
          <p:nvPr>
            <p:ph type="title"/>
          </p:nvPr>
        </p:nvSpPr>
        <p:spPr>
          <a:xfrm>
            <a:off x="253550" y="102125"/>
            <a:ext cx="11100300" cy="1325700"/>
          </a:xfrm>
          <a:prstGeom prst="rect">
            <a:avLst/>
          </a:prstGeom>
        </p:spPr>
        <p:txBody>
          <a:bodyPr anchorCtr="0" anchor="ctr" bIns="45700" lIns="91425" spcFirstLastPara="1" rIns="91425" wrap="square" tIns="45700">
            <a:normAutofit/>
          </a:bodyPr>
          <a:lstStyle/>
          <a:p>
            <a:pPr indent="0" lvl="0" marL="0" rtl="0" algn="just">
              <a:spcBef>
                <a:spcPts val="0"/>
              </a:spcBef>
              <a:spcAft>
                <a:spcPts val="0"/>
              </a:spcAft>
              <a:buNone/>
            </a:pPr>
            <a:r>
              <a:rPr lang="en-IN" sz="2400">
                <a:latin typeface="Times New Roman"/>
                <a:ea typeface="Times New Roman"/>
                <a:cs typeface="Times New Roman"/>
                <a:sym typeface="Times New Roman"/>
              </a:rPr>
              <a:t>2. The most common measure of linear correlation is the </a:t>
            </a:r>
            <a:r>
              <a:rPr b="1" lang="en-IN" sz="2400">
                <a:latin typeface="Times New Roman"/>
                <a:ea typeface="Times New Roman"/>
                <a:cs typeface="Times New Roman"/>
                <a:sym typeface="Times New Roman"/>
              </a:rPr>
              <a:t>Pearson correlation coefficient</a:t>
            </a:r>
            <a:r>
              <a:rPr lang="en-IN" sz="2400">
                <a:latin typeface="Times New Roman"/>
                <a:ea typeface="Times New Roman"/>
                <a:cs typeface="Times New Roman"/>
                <a:sym typeface="Times New Roman"/>
              </a:rPr>
              <a:t> (r). It normalizes the covariance of two variables by the product of their standard deviations. </a:t>
            </a:r>
            <a:endParaRPr sz="2400">
              <a:latin typeface="Times New Roman"/>
              <a:ea typeface="Times New Roman"/>
              <a:cs typeface="Times New Roman"/>
              <a:sym typeface="Times New Roman"/>
            </a:endParaRPr>
          </a:p>
        </p:txBody>
      </p:sp>
      <p:pic>
        <p:nvPicPr>
          <p:cNvPr id="557" name="Google Shape;557;h1fb9f94b7e0c5bd_0_43"/>
          <p:cNvPicPr preferRelativeResize="0"/>
          <p:nvPr/>
        </p:nvPicPr>
        <p:blipFill>
          <a:blip r:embed="rId3">
            <a:alphaModFix/>
          </a:blip>
          <a:stretch>
            <a:fillRect/>
          </a:stretch>
        </p:blipFill>
        <p:spPr>
          <a:xfrm>
            <a:off x="253540" y="1286224"/>
            <a:ext cx="6422401" cy="1325700"/>
          </a:xfrm>
          <a:prstGeom prst="rect">
            <a:avLst/>
          </a:prstGeom>
          <a:noFill/>
          <a:ln>
            <a:noFill/>
          </a:ln>
        </p:spPr>
      </p:pic>
      <p:pic>
        <p:nvPicPr>
          <p:cNvPr id="558" name="Google Shape;558;h1fb9f94b7e0c5bd_0_43"/>
          <p:cNvPicPr preferRelativeResize="0"/>
          <p:nvPr/>
        </p:nvPicPr>
        <p:blipFill>
          <a:blip r:embed="rId4">
            <a:alphaModFix/>
          </a:blip>
          <a:stretch>
            <a:fillRect/>
          </a:stretch>
        </p:blipFill>
        <p:spPr>
          <a:xfrm>
            <a:off x="253550" y="2528750"/>
            <a:ext cx="6422400" cy="4167400"/>
          </a:xfrm>
          <a:prstGeom prst="rect">
            <a:avLst/>
          </a:prstGeom>
          <a:noFill/>
          <a:ln>
            <a:noFill/>
          </a:ln>
        </p:spPr>
      </p:pic>
      <p:pic>
        <p:nvPicPr>
          <p:cNvPr id="559" name="Google Shape;559;h1fb9f94b7e0c5bd_0_43"/>
          <p:cNvPicPr preferRelativeResize="0"/>
          <p:nvPr/>
        </p:nvPicPr>
        <p:blipFill>
          <a:blip r:embed="rId5">
            <a:alphaModFix/>
          </a:blip>
          <a:stretch>
            <a:fillRect/>
          </a:stretch>
        </p:blipFill>
        <p:spPr>
          <a:xfrm>
            <a:off x="6675950" y="1152325"/>
            <a:ext cx="5441875" cy="1943350"/>
          </a:xfrm>
          <a:prstGeom prst="rect">
            <a:avLst/>
          </a:prstGeom>
          <a:noFill/>
          <a:ln>
            <a:noFill/>
          </a:ln>
        </p:spPr>
      </p:pic>
      <p:sp>
        <p:nvSpPr>
          <p:cNvPr id="560" name="Google Shape;560;h1fb9f94b7e0c5bd_0_43"/>
          <p:cNvSpPr txBox="1"/>
          <p:nvPr/>
        </p:nvSpPr>
        <p:spPr>
          <a:xfrm>
            <a:off x="6332025" y="3317725"/>
            <a:ext cx="5785800" cy="3403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IN" sz="2200">
                <a:solidFill>
                  <a:schemeClr val="dk1"/>
                </a:solidFill>
                <a:latin typeface="Times New Roman"/>
                <a:ea typeface="Times New Roman"/>
                <a:cs typeface="Times New Roman"/>
                <a:sym typeface="Times New Roman"/>
              </a:rPr>
              <a:t>4. </a:t>
            </a:r>
            <a:r>
              <a:rPr lang="en-IN" sz="2200">
                <a:solidFill>
                  <a:schemeClr val="dk1"/>
                </a:solidFill>
                <a:latin typeface="Times New Roman"/>
                <a:ea typeface="Times New Roman"/>
                <a:cs typeface="Times New Roman"/>
                <a:sym typeface="Times New Roman"/>
              </a:rPr>
              <a:t>A foundational rule in statistics is that </a:t>
            </a:r>
            <a:r>
              <a:rPr b="1" lang="en-IN" sz="2200">
                <a:solidFill>
                  <a:schemeClr val="dk1"/>
                </a:solidFill>
                <a:latin typeface="Times New Roman"/>
                <a:ea typeface="Times New Roman"/>
                <a:cs typeface="Times New Roman"/>
                <a:sym typeface="Times New Roman"/>
              </a:rPr>
              <a:t>correlation does not imply causation</a:t>
            </a:r>
            <a:r>
              <a:rPr lang="en-IN" sz="2200">
                <a:solidFill>
                  <a:schemeClr val="dk1"/>
                </a:solidFill>
                <a:latin typeface="Times New Roman"/>
                <a:ea typeface="Times New Roman"/>
                <a:cs typeface="Times New Roman"/>
                <a:sym typeface="Times New Roman"/>
              </a:rPr>
              <a:t>:</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1200"/>
              </a:spcBef>
              <a:spcAft>
                <a:spcPts val="0"/>
              </a:spcAft>
              <a:buClr>
                <a:schemeClr val="dk1"/>
              </a:buClr>
              <a:buSzPts val="2200"/>
              <a:buFont typeface="Times New Roman"/>
              <a:buChar char="●"/>
            </a:pPr>
            <a:r>
              <a:rPr lang="en-IN" sz="2200">
                <a:solidFill>
                  <a:schemeClr val="dk1"/>
                </a:solidFill>
                <a:latin typeface="Times New Roman"/>
                <a:ea typeface="Times New Roman"/>
                <a:cs typeface="Times New Roman"/>
                <a:sym typeface="Times New Roman"/>
              </a:rPr>
              <a:t>High correlation simply means two variables move together predictably.</a:t>
            </a:r>
            <a:endParaRPr sz="2200">
              <a:solidFill>
                <a:schemeClr val="dk1"/>
              </a:solidFill>
              <a:latin typeface="Times New Roman"/>
              <a:ea typeface="Times New Roman"/>
              <a:cs typeface="Times New Roman"/>
              <a:sym typeface="Times New Roman"/>
            </a:endParaRPr>
          </a:p>
          <a:p>
            <a:pPr indent="-368300" lvl="0" marL="457200" rtl="0" algn="l">
              <a:lnSpc>
                <a:spcPct val="115000"/>
              </a:lnSpc>
              <a:spcBef>
                <a:spcPts val="0"/>
              </a:spcBef>
              <a:spcAft>
                <a:spcPts val="0"/>
              </a:spcAft>
              <a:buClr>
                <a:schemeClr val="dk1"/>
              </a:buClr>
              <a:buSzPts val="2200"/>
              <a:buFont typeface="Times New Roman"/>
              <a:buChar char="●"/>
            </a:pPr>
            <a:r>
              <a:rPr lang="en-IN" sz="2200">
                <a:solidFill>
                  <a:schemeClr val="dk1"/>
                </a:solidFill>
                <a:latin typeface="Times New Roman"/>
                <a:ea typeface="Times New Roman"/>
                <a:cs typeface="Times New Roman"/>
                <a:sym typeface="Times New Roman"/>
              </a:rPr>
              <a:t>It does not mean that changes in one variable cause changes in the other; the relationship may be coincidental or driven by a third, unseen variable (a confounding factor).</a:t>
            </a:r>
            <a:endParaRPr sz="2200">
              <a:solidFill>
                <a:schemeClr val="dk1"/>
              </a:solidFill>
              <a:latin typeface="Times New Roman"/>
              <a:ea typeface="Times New Roman"/>
              <a:cs typeface="Times New Roman"/>
              <a:sym typeface="Times New Roman"/>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h1fb9f94b7e0c5bd_0_63"/>
          <p:cNvSpPr txBox="1"/>
          <p:nvPr>
            <p:ph type="title"/>
          </p:nvPr>
        </p:nvSpPr>
        <p:spPr>
          <a:xfrm>
            <a:off x="838200" y="228767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IN"/>
              <a:t>Solved </a:t>
            </a:r>
            <a:r>
              <a:rPr lang="en-IN"/>
              <a:t>exercises</a:t>
            </a:r>
            <a:r>
              <a:rPr lang="en-IN"/>
              <a:t> on </a:t>
            </a:r>
            <a:r>
              <a:rPr lang="en-IN"/>
              <a:t>correlation</a:t>
            </a:r>
            <a:r>
              <a:rPr lang="en-IN"/>
              <a:t> and covarience</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h11367c7104fabfa0_0_326"/>
          <p:cNvSpPr txBox="1"/>
          <p:nvPr>
            <p:ph type="title"/>
          </p:nvPr>
        </p:nvSpPr>
        <p:spPr>
          <a:xfrm>
            <a:off x="283550" y="365125"/>
            <a:ext cx="11070300" cy="885000"/>
          </a:xfrm>
          <a:prstGeom prst="rect">
            <a:avLst/>
          </a:prstGeom>
        </p:spPr>
        <p:txBody>
          <a:bodyPr anchorCtr="0" anchor="ctr" bIns="45700" lIns="91425" spcFirstLastPara="1" rIns="91425" wrap="square" tIns="45700">
            <a:noAutofit/>
          </a:bodyPr>
          <a:lstStyle/>
          <a:p>
            <a:pPr indent="0" lvl="0" marL="0" rtl="0" algn="l">
              <a:lnSpc>
                <a:spcPct val="100000"/>
              </a:lnSpc>
              <a:spcBef>
                <a:spcPts val="0"/>
              </a:spcBef>
              <a:spcAft>
                <a:spcPts val="0"/>
              </a:spcAft>
              <a:buClr>
                <a:schemeClr val="dk1"/>
              </a:buClr>
              <a:buSzPts val="990"/>
              <a:buFont typeface="Arial"/>
              <a:buNone/>
            </a:pPr>
            <a:r>
              <a:rPr b="1" lang="en-IN" sz="3200">
                <a:solidFill>
                  <a:srgbClr val="0000FF"/>
                </a:solidFill>
                <a:latin typeface="Times New Roman"/>
                <a:ea typeface="Times New Roman"/>
                <a:cs typeface="Times New Roman"/>
                <a:sym typeface="Times New Roman"/>
              </a:rPr>
              <a:t>2.7 Multivariate Statistics</a:t>
            </a:r>
            <a:endParaRPr b="1" sz="3200">
              <a:solidFill>
                <a:srgbClr val="0000FF"/>
              </a:solidFill>
              <a:latin typeface="Times New Roman"/>
              <a:ea typeface="Times New Roman"/>
              <a:cs typeface="Times New Roman"/>
              <a:sym typeface="Times New Roman"/>
            </a:endParaRPr>
          </a:p>
          <a:p>
            <a:pPr indent="0" lvl="0" marL="0" rtl="0" algn="l">
              <a:spcBef>
                <a:spcPts val="0"/>
              </a:spcBef>
              <a:spcAft>
                <a:spcPts val="0"/>
              </a:spcAft>
              <a:buSzPts val="990"/>
              <a:buNone/>
            </a:pPr>
            <a:r>
              <a:t/>
            </a:r>
            <a:endParaRPr b="1" sz="3960">
              <a:solidFill>
                <a:srgbClr val="0000FF"/>
              </a:solidFill>
            </a:endParaRPr>
          </a:p>
        </p:txBody>
      </p:sp>
      <p:sp>
        <p:nvSpPr>
          <p:cNvPr id="571" name="Google Shape;571;h11367c7104fabfa0_0_326"/>
          <p:cNvSpPr txBox="1"/>
          <p:nvPr/>
        </p:nvSpPr>
        <p:spPr>
          <a:xfrm>
            <a:off x="283550" y="886050"/>
            <a:ext cx="11713500" cy="44313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n-IN" sz="2200">
                <a:solidFill>
                  <a:schemeClr val="dk1"/>
                </a:solidFill>
                <a:latin typeface="Times New Roman"/>
                <a:ea typeface="Times New Roman"/>
                <a:cs typeface="Times New Roman"/>
                <a:sym typeface="Times New Roman"/>
              </a:rPr>
              <a:t>Multivariate statistics is a branch of statistics that deals with the simultaneous analysis of two or more variables for each observation.It helps us understand the relationships, patterns, dependencies, and combined effects among multiple variables.</a:t>
            </a:r>
            <a:endParaRPr sz="22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0"/>
              </a:spcAft>
              <a:buNone/>
            </a:pPr>
            <a:r>
              <a:rPr b="1" lang="en-IN" sz="2000">
                <a:solidFill>
                  <a:srgbClr val="FF0000"/>
                </a:solidFill>
                <a:latin typeface="Times New Roman"/>
                <a:ea typeface="Times New Roman"/>
                <a:cs typeface="Times New Roman"/>
                <a:sym typeface="Times New Roman"/>
              </a:rPr>
              <a:t>Example</a:t>
            </a:r>
            <a:r>
              <a:rPr lang="en-IN" sz="2000">
                <a:solidFill>
                  <a:schemeClr val="dk1"/>
                </a:solidFill>
                <a:latin typeface="Times New Roman"/>
                <a:ea typeface="Times New Roman"/>
                <a:cs typeface="Times New Roman"/>
                <a:sym typeface="Times New Roman"/>
              </a:rPr>
              <a:t>:</a:t>
            </a:r>
            <a:endParaRPr sz="2000">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rPr lang="en-IN" sz="2000">
                <a:solidFill>
                  <a:schemeClr val="dk1"/>
                </a:solidFill>
                <a:latin typeface="Times New Roman"/>
                <a:ea typeface="Times New Roman"/>
                <a:cs typeface="Times New Roman"/>
                <a:sym typeface="Times New Roman"/>
              </a:rPr>
              <a:t>W</a:t>
            </a:r>
            <a:r>
              <a:rPr lang="en-IN" sz="2000">
                <a:solidFill>
                  <a:schemeClr val="dk1"/>
                </a:solidFill>
                <a:latin typeface="Times New Roman"/>
                <a:ea typeface="Times New Roman"/>
                <a:cs typeface="Times New Roman"/>
                <a:sym typeface="Times New Roman"/>
              </a:rPr>
              <a:t>e have four variables: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1200"/>
              </a:spcBef>
              <a:spcAft>
                <a:spcPts val="0"/>
              </a:spcAft>
              <a:buClr>
                <a:schemeClr val="dk1"/>
              </a:buClr>
              <a:buSzPts val="2000"/>
              <a:buFont typeface="Times New Roman"/>
              <a:buChar char="●"/>
            </a:pPr>
            <a:r>
              <a:rPr lang="en-IN" sz="2000">
                <a:solidFill>
                  <a:schemeClr val="dk1"/>
                </a:solidFill>
                <a:latin typeface="Times New Roman"/>
                <a:ea typeface="Times New Roman"/>
                <a:cs typeface="Times New Roman"/>
                <a:sym typeface="Times New Roman"/>
              </a:rPr>
              <a:t>Study Hours</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IN" sz="2000">
                <a:solidFill>
                  <a:schemeClr val="dk1"/>
                </a:solidFill>
                <a:latin typeface="Times New Roman"/>
                <a:ea typeface="Times New Roman"/>
                <a:cs typeface="Times New Roman"/>
                <a:sym typeface="Times New Roman"/>
              </a:rPr>
              <a:t>Attendance</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Font typeface="Times New Roman"/>
              <a:buChar char="●"/>
            </a:pPr>
            <a:r>
              <a:rPr lang="en-IN" sz="2000">
                <a:solidFill>
                  <a:schemeClr val="dk1"/>
                </a:solidFill>
                <a:latin typeface="Times New Roman"/>
                <a:ea typeface="Times New Roman"/>
                <a:cs typeface="Times New Roman"/>
                <a:sym typeface="Times New Roman"/>
              </a:rPr>
              <a:t>Assignment Score</a:t>
            </a:r>
            <a:endParaRPr sz="2000">
              <a:solidFill>
                <a:schemeClr val="dk1"/>
              </a:solidFill>
              <a:latin typeface="Times New Roman"/>
              <a:ea typeface="Times New Roman"/>
              <a:cs typeface="Times New Roman"/>
              <a:sym typeface="Times New Roman"/>
            </a:endParaRPr>
          </a:p>
          <a:p>
            <a:pPr indent="-355600" lvl="0" marL="457200" rtl="0" algn="l">
              <a:lnSpc>
                <a:spcPct val="115000"/>
              </a:lnSpc>
              <a:spcBef>
                <a:spcPts val="0"/>
              </a:spcBef>
              <a:spcAft>
                <a:spcPts val="0"/>
              </a:spcAft>
              <a:buClr>
                <a:schemeClr val="dk1"/>
              </a:buClr>
              <a:buSzPts val="2000"/>
              <a:buChar char="●"/>
            </a:pPr>
            <a:r>
              <a:rPr lang="en-IN" sz="2000">
                <a:solidFill>
                  <a:schemeClr val="dk1"/>
                </a:solidFill>
                <a:latin typeface="Times New Roman"/>
                <a:ea typeface="Times New Roman"/>
                <a:cs typeface="Times New Roman"/>
                <a:sym typeface="Times New Roman"/>
              </a:rPr>
              <a:t>Exam Score</a:t>
            </a:r>
            <a:endParaRPr sz="2000">
              <a:solidFill>
                <a:schemeClr val="dk1"/>
              </a:solidFill>
              <a:latin typeface="Times New Roman"/>
              <a:ea typeface="Times New Roman"/>
              <a:cs typeface="Times New Roman"/>
              <a:sym typeface="Times New Roman"/>
            </a:endParaRPr>
          </a:p>
          <a:p>
            <a:pPr indent="0" lvl="0" marL="0" rtl="0" algn="just">
              <a:lnSpc>
                <a:spcPct val="115000"/>
              </a:lnSpc>
              <a:spcBef>
                <a:spcPts val="1200"/>
              </a:spcBef>
              <a:spcAft>
                <a:spcPts val="1200"/>
              </a:spcAft>
              <a:buNone/>
            </a:pPr>
            <a:r>
              <a:t/>
            </a:r>
            <a:endParaRPr sz="2200">
              <a:solidFill>
                <a:schemeClr val="dk1"/>
              </a:solidFill>
              <a:latin typeface="Times New Roman"/>
              <a:ea typeface="Times New Roman"/>
              <a:cs typeface="Times New Roman"/>
              <a:sym typeface="Times New Roman"/>
            </a:endParaRPr>
          </a:p>
        </p:txBody>
      </p:sp>
      <p:sp>
        <p:nvSpPr>
          <p:cNvPr id="572" name="Google Shape;572;h11367c7104fabfa0_0_326"/>
          <p:cNvSpPr txBox="1"/>
          <p:nvPr/>
        </p:nvSpPr>
        <p:spPr>
          <a:xfrm>
            <a:off x="283550" y="4802375"/>
            <a:ext cx="10951500" cy="86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IN" sz="2200">
                <a:solidFill>
                  <a:schemeClr val="dk1"/>
                </a:solidFill>
                <a:latin typeface="Times New Roman"/>
                <a:ea typeface="Times New Roman"/>
                <a:cs typeface="Times New Roman"/>
                <a:sym typeface="Times New Roman"/>
              </a:rPr>
              <a:t>Since more than two variables are analyzed together, this is </a:t>
            </a:r>
            <a:r>
              <a:rPr b="1" lang="en-IN" sz="2200">
                <a:solidFill>
                  <a:srgbClr val="FF0000"/>
                </a:solidFill>
                <a:latin typeface="Times New Roman"/>
                <a:ea typeface="Times New Roman"/>
                <a:cs typeface="Times New Roman"/>
                <a:sym typeface="Times New Roman"/>
              </a:rPr>
              <a:t>multivariate data</a:t>
            </a:r>
            <a:r>
              <a:rPr lang="en-IN" sz="2200">
                <a:solidFill>
                  <a:schemeClr val="dk1"/>
                </a:solidFill>
                <a:latin typeface="Times New Roman"/>
                <a:ea typeface="Times New Roman"/>
                <a:cs typeface="Times New Roman"/>
                <a:sym typeface="Times New Roman"/>
              </a:rPr>
              <a:t>, and statistical methods used to analyze it are called </a:t>
            </a:r>
            <a:r>
              <a:rPr b="1" lang="en-IN" sz="2200">
                <a:solidFill>
                  <a:srgbClr val="FF0000"/>
                </a:solidFill>
                <a:latin typeface="Times New Roman"/>
                <a:ea typeface="Times New Roman"/>
                <a:cs typeface="Times New Roman"/>
                <a:sym typeface="Times New Roman"/>
              </a:rPr>
              <a:t>multivariate statistics</a:t>
            </a:r>
            <a:r>
              <a:rPr lang="en-IN" sz="2200">
                <a:solidFill>
                  <a:srgbClr val="FF0000"/>
                </a:solidFill>
                <a:latin typeface="Times New Roman"/>
                <a:ea typeface="Times New Roman"/>
                <a:cs typeface="Times New Roman"/>
                <a:sym typeface="Times New Roman"/>
              </a:rPr>
              <a:t>. </a:t>
            </a:r>
            <a:endParaRPr sz="2200">
              <a:solidFill>
                <a:srgbClr val="FF0000"/>
              </a:solidFill>
              <a:latin typeface="Times New Roman"/>
              <a:ea typeface="Times New Roman"/>
              <a:cs typeface="Times New Roman"/>
              <a:sym typeface="Times New Roman"/>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h732815749949bfd2_0_156"/>
          <p:cNvSpPr txBox="1"/>
          <p:nvPr>
            <p:ph type="title"/>
          </p:nvPr>
        </p:nvSpPr>
        <p:spPr>
          <a:xfrm>
            <a:off x="2246725" y="298875"/>
            <a:ext cx="1499400" cy="711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sz="2000"/>
              <a:t>Heatmap </a:t>
            </a:r>
            <a:endParaRPr b="1" sz="2000"/>
          </a:p>
        </p:txBody>
      </p:sp>
      <p:sp>
        <p:nvSpPr>
          <p:cNvPr id="578" name="Google Shape;578;h732815749949bfd2_0_156"/>
          <p:cNvSpPr txBox="1"/>
          <p:nvPr/>
        </p:nvSpPr>
        <p:spPr>
          <a:xfrm>
            <a:off x="8723750" y="423825"/>
            <a:ext cx="1283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IN" sz="1800"/>
              <a:t>Pair Plot </a:t>
            </a:r>
            <a:endParaRPr b="1" sz="1800"/>
          </a:p>
        </p:txBody>
      </p:sp>
      <p:sp>
        <p:nvSpPr>
          <p:cNvPr id="579" name="Google Shape;579;h732815749949bfd2_0_156"/>
          <p:cNvSpPr txBox="1"/>
          <p:nvPr/>
        </p:nvSpPr>
        <p:spPr>
          <a:xfrm>
            <a:off x="1848425" y="1162875"/>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t>Display correlations or values using intensity </a:t>
            </a:r>
            <a:endParaRPr sz="2000"/>
          </a:p>
        </p:txBody>
      </p:sp>
      <p:sp>
        <p:nvSpPr>
          <p:cNvPr id="580" name="Google Shape;580;h732815749949bfd2_0_156"/>
          <p:cNvSpPr txBox="1"/>
          <p:nvPr/>
        </p:nvSpPr>
        <p:spPr>
          <a:xfrm>
            <a:off x="7865600" y="1024200"/>
            <a:ext cx="3000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IN" sz="2000"/>
              <a:t>Combine scatter plots and distributions </a:t>
            </a:r>
            <a:endParaRPr sz="2000"/>
          </a:p>
        </p:txBody>
      </p:sp>
      <p:pic>
        <p:nvPicPr>
          <p:cNvPr id="581" name="Google Shape;581;h732815749949bfd2_0_156"/>
          <p:cNvPicPr preferRelativeResize="0"/>
          <p:nvPr/>
        </p:nvPicPr>
        <p:blipFill>
          <a:blip r:embed="rId3">
            <a:alphaModFix/>
          </a:blip>
          <a:stretch>
            <a:fillRect/>
          </a:stretch>
        </p:blipFill>
        <p:spPr>
          <a:xfrm>
            <a:off x="262025" y="1935825"/>
            <a:ext cx="5863076" cy="4030350"/>
          </a:xfrm>
          <a:prstGeom prst="rect">
            <a:avLst/>
          </a:prstGeom>
          <a:noFill/>
          <a:ln>
            <a:noFill/>
          </a:ln>
        </p:spPr>
      </p:pic>
      <p:pic>
        <p:nvPicPr>
          <p:cNvPr id="582" name="Google Shape;582;h732815749949bfd2_0_156"/>
          <p:cNvPicPr preferRelativeResize="0"/>
          <p:nvPr/>
        </p:nvPicPr>
        <p:blipFill>
          <a:blip r:embed="rId4">
            <a:alphaModFix/>
          </a:blip>
          <a:stretch>
            <a:fillRect/>
          </a:stretch>
        </p:blipFill>
        <p:spPr>
          <a:xfrm>
            <a:off x="6691600" y="1963275"/>
            <a:ext cx="5348001" cy="3811575"/>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h11367c7104fabfa0_0_336"/>
          <p:cNvSpPr txBox="1"/>
          <p:nvPr>
            <p:ph type="title"/>
          </p:nvPr>
        </p:nvSpPr>
        <p:spPr>
          <a:xfrm>
            <a:off x="3729000" y="2391100"/>
            <a:ext cx="4298700" cy="9666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188038"/>
                </a:solidFill>
              </a:rPr>
              <a:t>END OF UNIT-1</a:t>
            </a:r>
            <a:endParaRPr b="1">
              <a:solidFill>
                <a:srgbClr val="188038"/>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2026-08-26T11:29:37Z</dcterms:created>
  <dc:creator>Shruthi G</dc:creator>
</cp:coreProperties>
</file>