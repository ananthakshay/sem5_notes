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Machine Learning – Chapter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Basic Concepts of Learning | S. Sridhar &amp; M. Vijayalakshmi, Oxford University Press (2021)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3: Basic Concepts of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Learning: improving performance through experience</a:t>
            </a:r>
          </a:p>
          <a:p>
            <a:pPr>
              <a:spcAft>
                <a:spcPts val="900"/>
              </a:spcAft>
              <a:defRPr sz="2400"/>
            </a:pPr>
            <a:r>
              <a:t>Concept learning and hypothesis spaces</a:t>
            </a:r>
          </a:p>
          <a:p>
            <a:pPr>
              <a:spcAft>
                <a:spcPts val="900"/>
              </a:spcAft>
              <a:defRPr sz="2400"/>
            </a:pPr>
            <a:r>
              <a:t>Generalization and specialization</a:t>
            </a:r>
          </a:p>
          <a:p>
            <a:pPr>
              <a:spcAft>
                <a:spcPts val="900"/>
              </a:spcAft>
              <a:defRPr sz="2400"/>
            </a:pPr>
            <a:r>
              <a:t>Inductive bias</a:t>
            </a:r>
          </a:p>
          <a:p>
            <a:pPr>
              <a:spcAft>
                <a:spcPts val="900"/>
              </a:spcAft>
              <a:defRPr sz="2400"/>
            </a:pPr>
            <a:r>
              <a:t>Design of a learning system</a:t>
            </a:r>
          </a:p>
          <a:p>
            <a:pPr>
              <a:spcAft>
                <a:spcPts val="900"/>
              </a:spcAft>
              <a:defRPr sz="2400"/>
            </a:pPr>
            <a:r>
              <a:t>Learning frameworks: PAC, mistake-bound and VC dimension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Learning: 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A learner receives experience and produces a model or hypothesis.</a:t>
            </a:r>
          </a:p>
          <a:p>
            <a:pPr>
              <a:spcAft>
                <a:spcPts val="900"/>
              </a:spcAft>
              <a:defRPr sz="2400"/>
            </a:pPr>
            <a:r>
              <a:t>The model should perform well on unseen examples.</a:t>
            </a:r>
          </a:p>
          <a:p>
            <a:pPr>
              <a:spcAft>
                <a:spcPts val="900"/>
              </a:spcAft>
              <a:defRPr sz="2400"/>
            </a:pPr>
            <a:r>
              <a:t>Learning involves representation, search/optimization and evaluation.</a:t>
            </a:r>
          </a:p>
          <a:p>
            <a:pPr>
              <a:spcAft>
                <a:spcPts val="900"/>
              </a:spcAft>
              <a:defRPr sz="2400"/>
            </a:pPr>
            <a:r>
              <a:t>Generalization is the central objective.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Supervised learning – labelled examples</a:t>
            </a:r>
          </a:p>
          <a:p>
            <a:pPr>
              <a:spcAft>
                <a:spcPts val="900"/>
              </a:spcAft>
              <a:defRPr sz="2400"/>
            </a:pPr>
            <a:r>
              <a:t>Unsupervised learning – discover structure in data</a:t>
            </a:r>
          </a:p>
          <a:p>
            <a:pPr>
              <a:spcAft>
                <a:spcPts val="900"/>
              </a:spcAft>
              <a:defRPr sz="2400"/>
            </a:pPr>
            <a:r>
              <a:t>Semi-supervised learning – labelled + unlabelled data</a:t>
            </a:r>
          </a:p>
          <a:p>
            <a:pPr>
              <a:spcAft>
                <a:spcPts val="900"/>
              </a:spcAft>
              <a:defRPr sz="2400"/>
            </a:pPr>
            <a:r>
              <a:t>Reinforcement learning – learn through actions and rewards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of a Learning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Define the task T</a:t>
            </a:r>
          </a:p>
          <a:p>
            <a:pPr>
              <a:spcAft>
                <a:spcPts val="900"/>
              </a:spcAft>
              <a:defRPr sz="2400"/>
            </a:pPr>
            <a:r>
              <a:t>Define the experience E</a:t>
            </a:r>
          </a:p>
          <a:p>
            <a:pPr>
              <a:spcAft>
                <a:spcPts val="900"/>
              </a:spcAft>
              <a:defRPr sz="2400"/>
            </a:pPr>
            <a:r>
              <a:t>Choose a performance measure P</a:t>
            </a:r>
          </a:p>
          <a:p>
            <a:pPr>
              <a:spcAft>
                <a:spcPts val="900"/>
              </a:spcAft>
              <a:defRPr sz="2400"/>
            </a:pPr>
            <a:r>
              <a:t>Collect and prepare representative data</a:t>
            </a:r>
          </a:p>
          <a:p>
            <a:pPr>
              <a:spcAft>
                <a:spcPts val="900"/>
              </a:spcAft>
              <a:defRPr sz="2400"/>
            </a:pPr>
            <a:r>
              <a:t>Select a representation and hypothesis space</a:t>
            </a:r>
          </a:p>
          <a:p>
            <a:pPr>
              <a:spcAft>
                <a:spcPts val="900"/>
              </a:spcAft>
              <a:defRPr sz="2400"/>
            </a:pPr>
            <a:r>
              <a:t>Choose learning algorithm and evaluation procedure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T–E–P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Task (T): what the system must do</a:t>
            </a:r>
          </a:p>
          <a:p>
            <a:pPr>
              <a:spcAft>
                <a:spcPts val="900"/>
              </a:spcAft>
              <a:defRPr sz="2400"/>
            </a:pPr>
            <a:r>
              <a:t>Experience (E): information available for learning</a:t>
            </a:r>
          </a:p>
          <a:p>
            <a:pPr>
              <a:spcAft>
                <a:spcPts val="900"/>
              </a:spcAft>
              <a:defRPr sz="2400"/>
            </a:pPr>
            <a:r>
              <a:t>Performance (P): how success is measured</a:t>
            </a:r>
          </a:p>
          <a:p>
            <a:pPr>
              <a:spcAft>
                <a:spcPts val="900"/>
              </a:spcAft>
              <a:defRPr sz="2400"/>
            </a:pPr>
            <a:r>
              <a:t>Example: spam classification → T = classify emails; E = labelled emails; P = accuracy/F1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A concept is a Boolean-valued function over instances.</a:t>
            </a:r>
          </a:p>
          <a:p>
            <a:pPr>
              <a:spcAft>
                <a:spcPts val="900"/>
              </a:spcAft>
              <a:defRPr sz="2400"/>
            </a:pPr>
            <a:r>
              <a:t>Positive examples satisfy the target concept.</a:t>
            </a:r>
          </a:p>
          <a:p>
            <a:pPr>
              <a:spcAft>
                <a:spcPts val="900"/>
              </a:spcAft>
              <a:defRPr sz="2400"/>
            </a:pPr>
            <a:r>
              <a:t>Negative examples do not satisfy the target concept.</a:t>
            </a:r>
          </a:p>
          <a:p>
            <a:pPr>
              <a:spcAft>
                <a:spcPts val="900"/>
              </a:spcAft>
              <a:defRPr sz="2400"/>
            </a:pPr>
            <a:r>
              <a:t>Goal: infer a hypothesis consistent with observed training examples.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EnjoySport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Attributes may include Sky, AirTemp, Humidity, Wind and Water.</a:t>
            </a:r>
          </a:p>
          <a:p>
            <a:pPr>
              <a:spcAft>
                <a:spcPts val="900"/>
              </a:spcAft>
              <a:defRPr sz="2400"/>
            </a:pPr>
            <a:r>
              <a:t>Target concept: whether a day is suitable for a sport.</a:t>
            </a:r>
          </a:p>
          <a:p>
            <a:pPr>
              <a:spcAft>
                <a:spcPts val="900"/>
              </a:spcAft>
              <a:defRPr sz="2400"/>
            </a:pPr>
            <a:r>
              <a:t>Training examples provide positive and negative instances.</a:t>
            </a:r>
          </a:p>
          <a:p>
            <a:pPr>
              <a:spcAft>
                <a:spcPts val="900"/>
              </a:spcAft>
              <a:defRPr sz="2400"/>
            </a:pPr>
            <a:r>
              <a:t>The learner searches for a hypothesis that explains the examples.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A hypothesis is a candidate description of the target concept.</a:t>
            </a:r>
          </a:p>
          <a:p>
            <a:pPr>
              <a:spcAft>
                <a:spcPts val="900"/>
              </a:spcAft>
              <a:defRPr sz="2400"/>
            </a:pPr>
            <a:r>
              <a:t>A hypothesis maps instances to predicted class labels.</a:t>
            </a:r>
          </a:p>
          <a:p>
            <a:pPr>
              <a:spcAft>
                <a:spcPts val="900"/>
              </a:spcAft>
              <a:defRPr sz="2400"/>
            </a:pPr>
            <a:r>
              <a:t>The hypothesis space H contains all hypotheses permitted by the representation.</a:t>
            </a:r>
          </a:p>
          <a:p>
            <a:pPr>
              <a:spcAft>
                <a:spcPts val="900"/>
              </a:spcAft>
              <a:defRPr sz="2400"/>
            </a:pPr>
            <a:r>
              <a:t>Learning searches H for a useful hypothesis.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H defines what the learner is capable of representing.</a:t>
            </a:r>
          </a:p>
          <a:p>
            <a:pPr>
              <a:spcAft>
                <a:spcPts val="900"/>
              </a:spcAft>
              <a:defRPr sz="2400"/>
            </a:pPr>
            <a:r>
              <a:t>A richer H can represent more concepts but may increase search complexity.</a:t>
            </a:r>
          </a:p>
          <a:p>
            <a:pPr>
              <a:spcAft>
                <a:spcPts val="900"/>
              </a:spcAft>
              <a:defRPr sz="2400"/>
            </a:pPr>
            <a:r>
              <a:t>A restricted H can simplify learning but may exclude the target concept.</a:t>
            </a:r>
          </a:p>
          <a:p>
            <a:pPr>
              <a:spcAft>
                <a:spcPts val="900"/>
              </a:spcAft>
              <a:defRPr sz="2400"/>
            </a:pPr>
            <a:r>
              <a:t>Representation therefore affects learning 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Generalization and Specialization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Generalization covers more instances than the original hypothesis.</a:t>
            </a:r>
          </a:p>
          <a:p>
            <a:pPr>
              <a:spcAft>
                <a:spcPts val="900"/>
              </a:spcAft>
              <a:defRPr sz="2400"/>
            </a:pPr>
            <a:r>
              <a:t>Specialization covers fewer instances.</a:t>
            </a:r>
          </a:p>
          <a:p>
            <a:pPr>
              <a:spcAft>
                <a:spcPts val="900"/>
              </a:spcAft>
              <a:defRPr sz="2400"/>
            </a:pPr>
            <a:r>
              <a:t>Generalization is useful when a hypothesis is too specific.</a:t>
            </a:r>
          </a:p>
          <a:p>
            <a:pPr>
              <a:spcAft>
                <a:spcPts val="900"/>
              </a:spcAft>
              <a:defRPr sz="2400"/>
            </a:pPr>
            <a:r>
              <a:t>Specialization is useful when a hypothesis is too general.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Version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Version space = set of hypotheses consistent with all training examples.</a:t>
            </a:r>
          </a:p>
          <a:p>
            <a:pPr>
              <a:spcAft>
                <a:spcPts val="900"/>
              </a:spcAft>
              <a:defRPr sz="2400"/>
            </a:pPr>
            <a:r>
              <a:t>Positive examples eliminate hypotheses that reject them.</a:t>
            </a:r>
          </a:p>
          <a:p>
            <a:pPr>
              <a:spcAft>
                <a:spcPts val="900"/>
              </a:spcAft>
              <a:defRPr sz="2400"/>
            </a:pPr>
            <a:r>
              <a:t>Negative examples eliminate hypotheses that accept them.</a:t>
            </a:r>
          </a:p>
          <a:p>
            <a:pPr>
              <a:spcAft>
                <a:spcPts val="900"/>
              </a:spcAft>
              <a:defRPr sz="2400"/>
            </a:pPr>
            <a:r>
              <a:t>As training data increases, the version space generally becomes smaller.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Find-S: Basic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Start with the most specific hypothesis.</a:t>
            </a:r>
          </a:p>
          <a:p>
            <a:pPr>
              <a:spcAft>
                <a:spcPts val="900"/>
              </a:spcAft>
              <a:defRPr sz="2400"/>
            </a:pPr>
            <a:r>
              <a:t>Process positive examples.</a:t>
            </a:r>
          </a:p>
          <a:p>
            <a:pPr>
              <a:spcAft>
                <a:spcPts val="900"/>
              </a:spcAft>
              <a:defRPr sz="2400"/>
            </a:pPr>
            <a:r>
              <a:t>Generalize only enough to cover each positive example.</a:t>
            </a:r>
          </a:p>
          <a:p>
            <a:pPr>
              <a:spcAft>
                <a:spcPts val="900"/>
              </a:spcAft>
              <a:defRPr sz="2400"/>
            </a:pPr>
            <a:r>
              <a:t>Negative examples are not explicitly used by Find-S.</a:t>
            </a:r>
          </a:p>
          <a:p>
            <a:pPr>
              <a:spcAft>
                <a:spcPts val="900"/>
              </a:spcAft>
              <a:defRPr sz="2400"/>
            </a:pPr>
            <a:r>
              <a:t>The result is one maximally specific consistent hypothesis under the representation.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Candidate-Elimination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Maintains the set of hypotheses consistent with the data.</a:t>
            </a:r>
          </a:p>
          <a:p>
            <a:pPr>
              <a:spcAft>
                <a:spcPts val="900"/>
              </a:spcAft>
              <a:defRPr sz="2400"/>
            </a:pPr>
            <a:r>
              <a:t>Uses a Specific boundary S and General boundary G.</a:t>
            </a:r>
          </a:p>
          <a:p>
            <a:pPr>
              <a:spcAft>
                <a:spcPts val="900"/>
              </a:spcAft>
              <a:defRPr sz="2400"/>
            </a:pPr>
            <a:r>
              <a:t>Positive examples move S toward generalization and G toward consistency.</a:t>
            </a:r>
          </a:p>
          <a:p>
            <a:pPr>
              <a:spcAft>
                <a:spcPts val="900"/>
              </a:spcAft>
              <a:defRPr sz="2400"/>
            </a:pPr>
            <a:r>
              <a:t>Negative examples specialize S/G boundaries as required.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Inductive Bias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Inductive bias = assumptions used to generalize beyond observed data.</a:t>
            </a:r>
          </a:p>
          <a:p>
            <a:pPr>
              <a:spcAft>
                <a:spcPts val="900"/>
              </a:spcAft>
              <a:defRPr sz="2400"/>
            </a:pPr>
            <a:r>
              <a:t>Without bias, many hypotheses may fit the training data equally well.</a:t>
            </a:r>
          </a:p>
          <a:p>
            <a:pPr>
              <a:spcAft>
                <a:spcPts val="900"/>
              </a:spcAft>
              <a:defRPr sz="2400"/>
            </a:pPr>
            <a:r>
              <a:t>Bias guides the search and determines which generalizations are preferred.</a:t>
            </a:r>
          </a:p>
          <a:p>
            <a:pPr>
              <a:spcAft>
                <a:spcPts val="900"/>
              </a:spcAft>
              <a:defRPr sz="2400"/>
            </a:pPr>
            <a:r>
              <a:t>Examples: linearity, smoothness, simplicity, locality.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Restriction Bias vs Preference Bias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Restriction bias limits the hypotheses that can be represented.</a:t>
            </a:r>
          </a:p>
          <a:p>
            <a:pPr>
              <a:spcAft>
                <a:spcPts val="900"/>
              </a:spcAft>
              <a:defRPr sz="2400"/>
            </a:pPr>
            <a:r>
              <a:t>Preference bias ranks or prefers some hypotheses over others.</a:t>
            </a:r>
          </a:p>
          <a:p>
            <a:pPr>
              <a:spcAft>
                <a:spcPts val="900"/>
              </a:spcAft>
              <a:defRPr sz="2400"/>
            </a:pPr>
            <a:r>
              <a:t>Decision trees and linear models impose structural assumptions.</a:t>
            </a:r>
          </a:p>
          <a:p>
            <a:pPr>
              <a:spcAft>
                <a:spcPts val="900"/>
              </a:spcAft>
              <a:defRPr sz="2400"/>
            </a:pPr>
            <a:r>
              <a:t>The bias affects both learnability and generalization.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Modelling in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Choose input representation X and target Y.</a:t>
            </a:r>
          </a:p>
          <a:p>
            <a:pPr>
              <a:spcAft>
                <a:spcPts val="900"/>
              </a:spcAft>
              <a:defRPr sz="2400"/>
            </a:pPr>
            <a:r>
              <a:t>Define a model family or hypothesis class.</a:t>
            </a:r>
          </a:p>
          <a:p>
            <a:pPr>
              <a:spcAft>
                <a:spcPts val="900"/>
              </a:spcAft>
              <a:defRPr sz="2400"/>
            </a:pPr>
            <a:r>
              <a:t>Estimate model parameters from training data.</a:t>
            </a:r>
          </a:p>
          <a:p>
            <a:pPr>
              <a:spcAft>
                <a:spcPts val="900"/>
              </a:spcAft>
              <a:defRPr sz="2400"/>
            </a:pPr>
            <a:r>
              <a:t>Validate performance on data not used for fitting.</a:t>
            </a:r>
          </a:p>
          <a:p>
            <a:pPr>
              <a:spcAft>
                <a:spcPts val="900"/>
              </a:spcAft>
              <a:defRPr sz="2400"/>
            </a:pPr>
            <a:r>
              <a:t>Use the final model for prediction or decision making.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Training, Validation and Test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Training set: used to fit the model.</a:t>
            </a:r>
          </a:p>
          <a:p>
            <a:pPr>
              <a:spcAft>
                <a:spcPts val="900"/>
              </a:spcAft>
              <a:defRPr sz="2400"/>
            </a:pPr>
            <a:r>
              <a:t>Validation set: used for model/hyperparameter selection.</a:t>
            </a:r>
          </a:p>
          <a:p>
            <a:pPr>
              <a:spcAft>
                <a:spcPts val="900"/>
              </a:spcAft>
              <a:defRPr sz="2400"/>
            </a:pPr>
            <a:r>
              <a:t>Test set: final unbiased performance estimate.</a:t>
            </a:r>
          </a:p>
          <a:p>
            <a:pPr>
              <a:spcAft>
                <a:spcPts val="900"/>
              </a:spcAft>
              <a:defRPr sz="2400"/>
            </a:pPr>
            <a:r>
              <a:t>Data leakage occurs when information from evaluation data influences training decisions.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Overfitting and Underfitting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Underfitting: model is too simple to capture important structure.</a:t>
            </a:r>
          </a:p>
          <a:p>
            <a:pPr>
              <a:spcAft>
                <a:spcPts val="900"/>
              </a:spcAft>
              <a:defRPr sz="2400"/>
            </a:pPr>
            <a:r>
              <a:t>Overfitting: model captures noise or peculiarities of training data.</a:t>
            </a:r>
          </a:p>
          <a:p>
            <a:pPr>
              <a:spcAft>
                <a:spcPts val="900"/>
              </a:spcAft>
              <a:defRPr sz="2400"/>
            </a:pPr>
            <a:r>
              <a:t>Good generalization balances fit and complexity.</a:t>
            </a:r>
          </a:p>
          <a:p>
            <a:pPr>
              <a:spcAft>
                <a:spcPts val="900"/>
              </a:spcAft>
              <a:defRPr sz="2400"/>
            </a:pPr>
            <a:r>
              <a:t>Regularization, validation and suitable representation help control overfitting.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Frameworks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Frameworks formalize how learning performance and sample requirements are studied.</a:t>
            </a:r>
          </a:p>
          <a:p>
            <a:pPr>
              <a:spcAft>
                <a:spcPts val="900"/>
              </a:spcAft>
              <a:defRPr sz="2400"/>
            </a:pPr>
            <a:r>
              <a:t>PAC learning studies probably approximately correct learning.</a:t>
            </a:r>
          </a:p>
          <a:p>
            <a:pPr>
              <a:spcAft>
                <a:spcPts val="900"/>
              </a:spcAft>
              <a:defRPr sz="2400"/>
            </a:pPr>
            <a:r>
              <a:t>Mistake-bound models count prediction errors.</a:t>
            </a:r>
          </a:p>
          <a:p>
            <a:pPr>
              <a:spcAft>
                <a:spcPts val="900"/>
              </a:spcAft>
              <a:defRPr sz="2400"/>
            </a:pPr>
            <a:r>
              <a:t>VC dimension characterizes expressive capacity of hypothesis classes.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Probably: success holds with high probability.</a:t>
            </a:r>
          </a:p>
          <a:p>
            <a:pPr>
              <a:spcAft>
                <a:spcPts val="900"/>
              </a:spcAft>
              <a:defRPr sz="2400"/>
            </a:pPr>
            <a:r>
              <a:t>Approximately correct: error is below a chosen tolerance.</a:t>
            </a:r>
          </a:p>
          <a:p>
            <a:pPr>
              <a:spcAft>
                <a:spcPts val="900"/>
              </a:spcAft>
              <a:defRPr sz="2400"/>
            </a:pPr>
            <a:r>
              <a:t>Learning is evaluated using sample complexity and confidence/error parameters.</a:t>
            </a:r>
          </a:p>
          <a:p>
            <a:pPr>
              <a:spcAft>
                <a:spcPts val="900"/>
              </a:spcAft>
              <a:defRPr sz="2400"/>
            </a:pPr>
            <a:r>
              <a:t>PAC analysis connects data requirements with learnability.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Mistake-Bound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Designed for online or sequential prediction settings.</a:t>
            </a:r>
          </a:p>
          <a:p>
            <a:pPr>
              <a:spcAft>
                <a:spcPts val="900"/>
              </a:spcAft>
              <a:defRPr sz="2400"/>
            </a:pPr>
            <a:r>
              <a:t>Learner predicts before seeing the true label.</a:t>
            </a:r>
          </a:p>
          <a:p>
            <a:pPr>
              <a:spcAft>
                <a:spcPts val="900"/>
              </a:spcAft>
              <a:defRPr sz="2400"/>
            </a:pPr>
            <a:r>
              <a:t>A mistake is counted whenever prediction differs from the true label.</a:t>
            </a:r>
          </a:p>
          <a:p>
            <a:pPr>
              <a:spcAft>
                <a:spcPts val="900"/>
              </a:spcAft>
              <a:defRPr sz="2400"/>
            </a:pPr>
            <a:r>
              <a:t>Goal: derive an upper bound on the number of mistakes.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VC Dimension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VC dimension measures the capacity of a hypothesis class.</a:t>
            </a:r>
          </a:p>
          <a:p>
            <a:pPr>
              <a:spcAft>
                <a:spcPts val="900"/>
              </a:spcAft>
              <a:defRPr sz="2400"/>
            </a:pPr>
            <a:r>
              <a:t>A set is shattered if every possible binary labelling can be represented.</a:t>
            </a:r>
          </a:p>
          <a:p>
            <a:pPr>
              <a:spcAft>
                <a:spcPts val="900"/>
              </a:spcAft>
              <a:defRPr sz="2400"/>
            </a:pPr>
            <a:r>
              <a:t>Higher capacity can represent more patterns.</a:t>
            </a:r>
          </a:p>
          <a:p>
            <a:pPr>
              <a:spcAft>
                <a:spcPts val="900"/>
              </a:spcAft>
              <a:defRPr sz="2400"/>
            </a:pPr>
            <a:r>
              <a:t>Capacity must be considered together with sample size and generalization.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Generalization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Training error measures performance on observed examples.</a:t>
            </a:r>
          </a:p>
          <a:p>
            <a:pPr>
              <a:spcAft>
                <a:spcPts val="900"/>
              </a:spcAft>
              <a:defRPr sz="2400"/>
            </a:pPr>
            <a:r>
              <a:t>Generalization error measures expected performance on unseen examples.</a:t>
            </a:r>
          </a:p>
          <a:p>
            <a:pPr>
              <a:spcAft>
                <a:spcPts val="900"/>
              </a:spcAft>
              <a:defRPr sz="2400"/>
            </a:pPr>
            <a:r>
              <a:t>The goal is low error on the underlying data distribution, not merely memorization.</a:t>
            </a:r>
          </a:p>
          <a:p>
            <a:pPr>
              <a:spcAft>
                <a:spcPts val="900"/>
              </a:spcAft>
              <a:defRPr sz="2400"/>
            </a:pPr>
            <a:r>
              <a:t>Validation and test procedures estimate generalization empirically.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1. Define task and performance measure</a:t>
            </a:r>
          </a:p>
          <a:p>
            <a:pPr>
              <a:spcAft>
                <a:spcPts val="900"/>
              </a:spcAft>
              <a:defRPr sz="2400"/>
            </a:pPr>
            <a:r>
              <a:t>2. Collect and preprocess data</a:t>
            </a:r>
          </a:p>
          <a:p>
            <a:pPr>
              <a:spcAft>
                <a:spcPts val="900"/>
              </a:spcAft>
              <a:defRPr sz="2400"/>
            </a:pPr>
            <a:r>
              <a:t>3. Choose representation and hypothesis space</a:t>
            </a:r>
          </a:p>
          <a:p>
            <a:pPr>
              <a:spcAft>
                <a:spcPts val="900"/>
              </a:spcAft>
              <a:defRPr sz="2400"/>
            </a:pPr>
            <a:r>
              <a:t>4. Train learner</a:t>
            </a:r>
          </a:p>
          <a:p>
            <a:pPr>
              <a:spcAft>
                <a:spcPts val="900"/>
              </a:spcAft>
              <a:defRPr sz="2400"/>
            </a:pPr>
            <a:r>
              <a:t>5. Validate and tune</a:t>
            </a:r>
          </a:p>
          <a:p>
            <a:pPr>
              <a:spcAft>
                <a:spcPts val="900"/>
              </a:spcAft>
              <a:defRPr sz="2400"/>
            </a:pPr>
            <a:r>
              <a:t>6. Evaluate on test data</a:t>
            </a:r>
          </a:p>
          <a:p>
            <a:pPr>
              <a:spcAft>
                <a:spcPts val="900"/>
              </a:spcAft>
              <a:defRPr sz="2400"/>
            </a:pPr>
            <a:r>
              <a:t>7. Deploy and monitor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Worked Example: Concept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Given labelled instances, identify attributes relevant to the target concept.</a:t>
            </a:r>
          </a:p>
          <a:p>
            <a:pPr>
              <a:spcAft>
                <a:spcPts val="900"/>
              </a:spcAft>
              <a:defRPr sz="2400"/>
            </a:pPr>
            <a:r>
              <a:t>Start with a specific hypothesis.</a:t>
            </a:r>
          </a:p>
          <a:p>
            <a:pPr>
              <a:spcAft>
                <a:spcPts val="900"/>
              </a:spcAft>
              <a:defRPr sz="2400"/>
            </a:pPr>
            <a:r>
              <a:t>Use positive examples to generalize where necessary.</a:t>
            </a:r>
          </a:p>
          <a:p>
            <a:pPr>
              <a:spcAft>
                <a:spcPts val="900"/>
              </a:spcAft>
              <a:defRPr sz="2400"/>
            </a:pPr>
            <a:r>
              <a:t>Check consistency with negative examples.</a:t>
            </a:r>
          </a:p>
          <a:p>
            <a:pPr>
              <a:spcAft>
                <a:spcPts val="900"/>
              </a:spcAft>
              <a:defRPr sz="2400"/>
            </a:pPr>
            <a:r>
              <a:t>The final hypothesis should balance consistency and useful generalization.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Learning is generalization from experience.</a:t>
            </a:r>
          </a:p>
          <a:p>
            <a:pPr>
              <a:spcAft>
                <a:spcPts val="900"/>
              </a:spcAft>
              <a:defRPr sz="2400"/>
            </a:pPr>
            <a:r>
              <a:t>Concept learning uses examples to infer hypotheses.</a:t>
            </a:r>
          </a:p>
          <a:p>
            <a:pPr>
              <a:spcAft>
                <a:spcPts val="900"/>
              </a:spcAft>
              <a:defRPr sz="2400"/>
            </a:pPr>
            <a:r>
              <a:t>Hypothesis space and inductive bias determine what can be learned.</a:t>
            </a:r>
          </a:p>
          <a:p>
            <a:pPr>
              <a:spcAft>
                <a:spcPts val="900"/>
              </a:spcAft>
              <a:defRPr sz="2400"/>
            </a:pPr>
            <a:r>
              <a:t>Version spaces capture hypotheses consistent with observations.</a:t>
            </a:r>
          </a:p>
          <a:p>
            <a:pPr>
              <a:spcAft>
                <a:spcPts val="900"/>
              </a:spcAft>
              <a:defRPr sz="2400"/>
            </a:pPr>
            <a:r>
              <a:t>PAC, mistake-bound and VC frameworks provide theoretical views of learning.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3: Examination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Define concept learning, hypothesis and hypothesis space.</a:t>
            </a:r>
          </a:p>
          <a:p>
            <a:pPr>
              <a:spcAft>
                <a:spcPts val="900"/>
              </a:spcAft>
              <a:defRPr sz="2400"/>
            </a:pPr>
            <a:r>
              <a:t>Explain inductive bias with an example.</a:t>
            </a:r>
          </a:p>
          <a:p>
            <a:pPr>
              <a:spcAft>
                <a:spcPts val="900"/>
              </a:spcAft>
              <a:defRPr sz="2400"/>
            </a:pPr>
            <a:r>
              <a:t>Solve a Find-S or version-space problem.</a:t>
            </a:r>
          </a:p>
          <a:p>
            <a:pPr>
              <a:spcAft>
                <a:spcPts val="900"/>
              </a:spcAft>
              <a:defRPr sz="2400"/>
            </a:pPr>
            <a:r>
              <a:t>Differentiate training, validation and test sets.</a:t>
            </a:r>
          </a:p>
          <a:p>
            <a:pPr>
              <a:spcAft>
                <a:spcPts val="900"/>
              </a:spcAft>
              <a:defRPr sz="2400"/>
            </a:pPr>
            <a:r>
              <a:t>Explain PAC learning, mistake-bound model and VC dimension.</a:t>
            </a:r>
          </a:p>
          <a:p>
            <a:pPr>
              <a:spcAft>
                <a:spcPts val="900"/>
              </a:spcAft>
              <a:defRPr sz="2400"/>
            </a:pPr>
            <a:r>
              <a:t>Discuss overfitting and generalization.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