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Chapter 3.6 – Modeling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Chapter 3.6 – Modeling in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Model Selection • Model Evaluation • Re-sampling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S. Sridhar &amp; M. Vijayalakshmi, Machine Learning, Oxford University Press (2021) | Chapter 3, pp. 98–104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Explain why model selection and model evaluation are critical after model training.</a:t>
            </a:r>
          </a:p>
          <a:p>
            <a:pPr>
              <a:spcAft>
                <a:spcPts val="800"/>
              </a:spcAft>
              <a:defRPr sz="2000"/>
            </a:pPr>
            <a:r>
              <a:t>Distinguish model performance from model complexity.</a:t>
            </a:r>
          </a:p>
          <a:p>
            <a:pPr>
              <a:spcAft>
                <a:spcPts val="800"/>
              </a:spcAft>
              <a:defRPr sz="2000"/>
            </a:pPr>
            <a:r>
              <a:t>Explain training error, test error and Mean Squared Error (MSE).</a:t>
            </a:r>
          </a:p>
          <a:p>
            <a:pPr>
              <a:spcAft>
                <a:spcPts val="800"/>
              </a:spcAft>
              <a:defRPr sz="2000"/>
            </a:pPr>
            <a:r>
              <a:t>Describe re-sampling as a model-selection strategy.</a:t>
            </a:r>
          </a:p>
          <a:p>
            <a:pPr>
              <a:spcAft>
                <a:spcPts val="800"/>
              </a:spcAft>
              <a:defRPr sz="2000"/>
            </a:pPr>
            <a:r>
              <a:t>Apply Holdout, K-fold, Stratified K-fold and LOOCV.</a:t>
            </a:r>
          </a:p>
          <a:p>
            <a:pPr>
              <a:spcAft>
                <a:spcPts val="800"/>
              </a:spcAft>
              <a:defRPr sz="2000"/>
            </a:pPr>
            <a:r>
              <a:t>Interpret classifier evaluation using a contingency table, ROC/AUC and precision–recall.</a:t>
            </a:r>
          </a:p>
          <a:p>
            <a:pPr>
              <a:spcAft>
                <a:spcPts val="800"/>
              </a:spcAft>
              <a:defRPr sz="2000"/>
            </a:pPr>
            <a:r>
              <a:t>Understand scoring approaches such as Minimum Description Length (MDL).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3.6 Modeling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Modeling means training a machine-learning algorithm using a training dataset, tuning it to improve performance, validating it, and making predictions on unseen data.</a:t>
            </a:r>
          </a:p>
          <a:p>
            <a:pPr>
              <a:spcAft>
                <a:spcPts val="800"/>
              </a:spcAft>
              <a:defRPr sz="2000"/>
            </a:pPr>
            <a:r>
              <a:t>The book summarizes four basic steps: choose a suitable algorithm; train it; tune the model parameters; evaluate the learned model.</a:t>
            </a:r>
          </a:p>
          <a:p>
            <a:pPr>
              <a:spcAft>
                <a:spcPts val="800"/>
              </a:spcAft>
              <a:defRPr sz="2000"/>
            </a:pPr>
            <a:r>
              <a:t>Model selection and evaluation are separate but connected activities: the selected model must also demonstrate useful generalization.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320040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Choose algorithm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22295" y="363474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71850" y="3168015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Train model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720" y="3749041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932170" y="3246121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Tune parameters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69605" y="370332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11540" y="3246121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Evaluate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Model Selection: What Does It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Model selection is the process of selecting one good-enough model from alternative machine-learning models for a dataset.</a:t>
            </a:r>
          </a:p>
          <a:p>
            <a:pPr>
              <a:spcAft>
                <a:spcPts val="800"/>
              </a:spcAft>
              <a:defRPr sz="2000"/>
            </a:pPr>
            <a:r>
              <a:t>It can also mean selecting features or hyperparameters for the same learning algorithm.</a:t>
            </a:r>
          </a:p>
          <a:p>
            <a:pPr>
              <a:spcAft>
                <a:spcPts val="800"/>
              </a:spcAft>
              <a:defRPr sz="2000"/>
            </a:pPr>
            <a:r>
              <a:t>The book emphasizes that finding an absolutely best model is difficult because predictive error is present in practical learning problems.</a:t>
            </a:r>
          </a:p>
          <a:p>
            <a:pPr>
              <a:spcAft>
                <a:spcPts val="800"/>
              </a:spcAft>
              <a:defRPr sz="2000"/>
            </a:pPr>
            <a:r>
              <a:t>Goal: choose a model that performs fairly well and generalizes to unseen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Two Types of Complexity to Consider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How well does the model perform on the training dataset?</a:t>
            </a:r>
          </a:p>
          <a:p>
            <a:pPr>
              <a:spcAft>
                <a:spcPts val="800"/>
              </a:spcAft>
              <a:defRPr sz="1700"/>
            </a:pPr>
            <a:r>
              <a:t>Performance is observed through measures such as error or accuracy.</a:t>
            </a:r>
          </a:p>
          <a:p>
            <a:pPr>
              <a:spcAft>
                <a:spcPts val="800"/>
              </a:spcAft>
              <a:defRPr sz="1700"/>
            </a:pPr>
            <a:r>
              <a:t>Good training performance alone is not sufficient.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Model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How complex is the learned model?</a:t>
            </a:r>
          </a:p>
          <a:p>
            <a:pPr>
              <a:spcAft>
                <a:spcPts val="800"/>
              </a:spcAft>
              <a:defRPr sz="1700"/>
            </a:pPr>
            <a:r>
              <a:t>Complex models can fit training data closely.</a:t>
            </a:r>
          </a:p>
          <a:p>
            <a:pPr>
              <a:spcAft>
                <a:spcPts val="800"/>
              </a:spcAft>
              <a:defRPr sz="1700"/>
            </a:pPr>
            <a:r>
              <a:t>Excessive complexity may reduce generalization and lead to overfitting.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Training Set and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Training dataset: used to learn the model.</a:t>
            </a:r>
          </a:p>
          <a:p>
            <a:pPr>
              <a:spcAft>
                <a:spcPts val="800"/>
              </a:spcAft>
              <a:defRPr sz="2000"/>
            </a:pPr>
            <a:r>
              <a:t>Test dataset: kept unseen during training and used to assess the model's ability to predict new data.</a:t>
            </a:r>
          </a:p>
          <a:p>
            <a:pPr>
              <a:spcAft>
                <a:spcPts val="800"/>
              </a:spcAft>
              <a:defRPr sz="2000"/>
            </a:pPr>
            <a:r>
              <a:t>If training and test data are treated as the same data, the model can overfit and may perform poorly on genuinely unseen observations.</a:t>
            </a:r>
          </a:p>
          <a:p>
            <a:pPr>
              <a:spcAft>
                <a:spcPts val="800"/>
              </a:spcAft>
              <a:defRPr sz="2000"/>
            </a:pPr>
            <a:r>
              <a:t>Separation of data supports an unbiased estimate of generalization performance.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280" y="3928110"/>
            <a:ext cx="326136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Dataset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72840" y="440436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901440" y="3909060"/>
            <a:ext cx="326136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Training set → Model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296148" y="444246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665720" y="3909060"/>
            <a:ext cx="326136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Unseen test set →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Training Error, Test Error and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Training error (in-sample error): error obtained when the learned model is applied to the training data.</a:t>
            </a:r>
          </a:p>
          <a:p>
            <a:pPr>
              <a:spcAft>
                <a:spcPts val="800"/>
              </a:spcAft>
              <a:defRPr sz="2000"/>
            </a:pPr>
            <a:r>
              <a:t>Test error (out-of-sample error): average error when the model predicts unseen observations.</a:t>
            </a:r>
          </a:p>
          <a:p>
            <a:pPr>
              <a:spcAft>
                <a:spcPts val="800"/>
              </a:spcAft>
              <a:defRPr sz="2000"/>
            </a:pPr>
            <a:r>
              <a:t>Loss/error function aggregates differences between true and predicted outputs.</a:t>
            </a:r>
          </a:p>
          <a:p>
            <a:pPr>
              <a:spcAft>
                <a:spcPts val="800"/>
              </a:spcAft>
              <a:defRPr sz="2000"/>
            </a:pPr>
            <a:r>
              <a:t>For regression, the book introduces Mean Squared Error (MSE).</a:t>
            </a:r>
          </a:p>
          <a:p>
            <a:pPr>
              <a:spcAft>
                <a:spcPts val="800"/>
              </a:spcAft>
              <a:defRPr sz="2000"/>
            </a:pPr>
            <a:r>
              <a:t>Smaller MSE means lower squared prediction error and therefore a more accurate prediction under this criterion.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368165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rPr dirty="0"/>
              <a:t>MSE = (1/N) Σ [yᵢ − f(xᵢ)]²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Average squared difference between observed and predicted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Model Selection Approaches in the 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Re-sampling methods: construct training/testing/validation sets and observe model performance across the phases.</a:t>
            </a:r>
          </a:p>
          <a:p>
            <a:pPr>
              <a:spcAft>
                <a:spcPts val="800"/>
              </a:spcAft>
              <a:defRPr sz="2000"/>
            </a:pPr>
            <a:r>
              <a:t>2. Fit a model on training data and compute measures such as error or accuracy.</a:t>
            </a:r>
          </a:p>
          <a:p>
            <a:pPr>
              <a:spcAft>
                <a:spcPts val="800"/>
              </a:spcAft>
              <a:defRPr sz="2000"/>
            </a:pPr>
            <a:r>
              <a:t>3. Use a probabilistic framework and quantify model performance as a score.</a:t>
            </a:r>
          </a:p>
          <a:p>
            <a:pPr>
              <a:spcAft>
                <a:spcPts val="800"/>
              </a:spcAft>
              <a:defRPr sz="2000"/>
            </a:pPr>
            <a:r>
              <a:t>The first approach is especially useful when the dataset is relatively small.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3.6.2 Re-sampling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Re-sampling selects or reconstructs training/test data by repeatedly choosing instances from the given dataset.</a:t>
            </a:r>
          </a:p>
          <a:p>
            <a:pPr>
              <a:spcAft>
                <a:spcPts val="800"/>
              </a:spcAft>
              <a:defRPr sz="2000"/>
            </a:pPr>
            <a:r>
              <a:t>Purpose: tune/select a model and improve the reliability of estimated performance.</a:t>
            </a:r>
          </a:p>
          <a:p>
            <a:pPr>
              <a:spcAft>
                <a:spcPts val="800"/>
              </a:spcAft>
              <a:defRPr sz="2000"/>
            </a:pPr>
            <a:r>
              <a:t>Common methods named in the book: random train/test splits, cross-validation and bootstrap.</a:t>
            </a:r>
          </a:p>
          <a:p>
            <a:pPr>
              <a:spcAft>
                <a:spcPts val="800"/>
              </a:spcAft>
              <a:defRPr sz="2000"/>
            </a:pPr>
            <a:r>
              <a:t>Cross-validation family discussed here: Holdout, K-fold, Stratified K-fold and LOOCV.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Holdout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The dataset is split into two subsets: training dataset and test dataset.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The model is trained on the training subset and evaluated on the test subset.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Single holdout: the split is performed once.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Repeated holdout: the split/evaluation is repeated and average performance is used.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Limitation emphasized by the book: performance can have high variance because it depends strongly on the particular split.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10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47525C8D-4741-45AD-820A-9CCF87D54E00}"/>
              </a:ext>
            </a:extLst>
          </p:cNvPr>
          <p:cNvSpPr/>
          <p:nvPr/>
        </p:nvSpPr>
        <p:spPr>
          <a:xfrm>
            <a:off x="935355" y="461391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Full dataset</a:t>
            </a:r>
          </a:p>
        </p:txBody>
      </p:sp>
      <p:cxnSp>
        <p:nvCxnSpPr>
          <p:cNvPr id="13" name="Connector 4">
            <a:extLst>
              <a:ext uri="{FF2B5EF4-FFF2-40B4-BE49-F238E27FC236}">
                <a16:creationId xmlns:a16="http://schemas.microsoft.com/office/drawing/2014/main" id="{1883A230-6807-4A9C-AE31-0C49038E0605}"/>
              </a:ext>
            </a:extLst>
          </p:cNvPr>
          <p:cNvCxnSpPr/>
          <p:nvPr/>
        </p:nvCxnSpPr>
        <p:spPr>
          <a:xfrm>
            <a:off x="3324225" y="511683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77AA04B6-2A85-4B56-A9AD-52F8CB55AA1B}"/>
              </a:ext>
            </a:extLst>
          </p:cNvPr>
          <p:cNvSpPr/>
          <p:nvPr/>
        </p:nvSpPr>
        <p:spPr>
          <a:xfrm>
            <a:off x="3552825" y="461391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Training subset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B3F4508D-613F-43B4-A2A5-8557EFDE51D6}"/>
              </a:ext>
            </a:extLst>
          </p:cNvPr>
          <p:cNvSpPr/>
          <p:nvPr/>
        </p:nvSpPr>
        <p:spPr>
          <a:xfrm>
            <a:off x="6170295" y="461391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Test subset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C0B66E17-756C-4591-8555-2D944D1D6DAC}"/>
              </a:ext>
            </a:extLst>
          </p:cNvPr>
          <p:cNvSpPr/>
          <p:nvPr/>
        </p:nvSpPr>
        <p:spPr>
          <a:xfrm>
            <a:off x="8787765" y="461391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Average / report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K-fold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Split the training dataset into K approximately equal folds.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At each iteration, K−1 folds are used for training and the remaining fold is used for evaluation.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Repeat for K iterations so that each fold serves as the hold-out fold once.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Average the K performance values to obtain the final estimate.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Advantage: uses the available training data more efficiently than a single holdout.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11</a:t>
            </a: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090E1C68-9057-4D8B-B080-F1DC412F163D}"/>
              </a:ext>
            </a:extLst>
          </p:cNvPr>
          <p:cNvSpPr/>
          <p:nvPr/>
        </p:nvSpPr>
        <p:spPr>
          <a:xfrm>
            <a:off x="723519" y="4509135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Fold 1 test</a:t>
            </a:r>
          </a:p>
        </p:txBody>
      </p: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C61555EF-73C9-4F37-8BC0-6F8D37FE5326}"/>
              </a:ext>
            </a:extLst>
          </p:cNvPr>
          <p:cNvSpPr/>
          <p:nvPr/>
        </p:nvSpPr>
        <p:spPr>
          <a:xfrm>
            <a:off x="2817495" y="4509135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Fold 2 test</a:t>
            </a:r>
          </a:p>
        </p:txBody>
      </p:sp>
      <p:sp>
        <p:nvSpPr>
          <p:cNvPr id="21" name="Rounded Rectangle 7">
            <a:extLst>
              <a:ext uri="{FF2B5EF4-FFF2-40B4-BE49-F238E27FC236}">
                <a16:creationId xmlns:a16="http://schemas.microsoft.com/office/drawing/2014/main" id="{828C82D6-4D6E-4F8F-9442-99A84FE75BE9}"/>
              </a:ext>
            </a:extLst>
          </p:cNvPr>
          <p:cNvSpPr/>
          <p:nvPr/>
        </p:nvSpPr>
        <p:spPr>
          <a:xfrm>
            <a:off x="4911471" y="4509135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…</a:t>
            </a:r>
          </a:p>
        </p:txBody>
      </p:sp>
      <p:sp>
        <p:nvSpPr>
          <p:cNvPr id="22" name="Rounded Rectangle 9">
            <a:extLst>
              <a:ext uri="{FF2B5EF4-FFF2-40B4-BE49-F238E27FC236}">
                <a16:creationId xmlns:a16="http://schemas.microsoft.com/office/drawing/2014/main" id="{3AB00773-4B68-44AF-AD4D-AE0B1E9F02DC}"/>
              </a:ext>
            </a:extLst>
          </p:cNvPr>
          <p:cNvSpPr/>
          <p:nvPr/>
        </p:nvSpPr>
        <p:spPr>
          <a:xfrm>
            <a:off x="7005447" y="4509135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Fold K test</a:t>
            </a:r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0192BAD6-ADDA-4C1D-9BB4-85B2ACE49936}"/>
              </a:ext>
            </a:extLst>
          </p:cNvPr>
          <p:cNvSpPr/>
          <p:nvPr/>
        </p:nvSpPr>
        <p:spPr>
          <a:xfrm>
            <a:off x="9099423" y="4509135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Average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K-fold Cross-Validation –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Input: dataset with n instances and a chosen number K of folds.</a:t>
            </a:r>
          </a:p>
          <a:p>
            <a:pPr>
              <a:spcAft>
                <a:spcPts val="800"/>
              </a:spcAft>
              <a:defRPr sz="2000"/>
            </a:pPr>
            <a:r>
              <a:t>1. Split the dataset into K folds.</a:t>
            </a:r>
          </a:p>
          <a:p>
            <a:pPr>
              <a:spcAft>
                <a:spcPts val="800"/>
              </a:spcAft>
              <a:defRPr sz="2000"/>
            </a:pPr>
            <a:r>
              <a:t>2. For each fold: train on the other K−1 folds.</a:t>
            </a:r>
          </a:p>
          <a:p>
            <a:pPr>
              <a:spcAft>
                <a:spcPts val="800"/>
              </a:spcAft>
              <a:defRPr sz="2000"/>
            </a:pPr>
            <a:r>
              <a:t>3. Evaluate on the remaining hold-out fold.</a:t>
            </a:r>
          </a:p>
          <a:p>
            <a:pPr>
              <a:spcAft>
                <a:spcPts val="800"/>
              </a:spcAft>
              <a:defRPr sz="2000"/>
            </a:pPr>
            <a:r>
              <a:t>4. Record the performance measure.</a:t>
            </a:r>
          </a:p>
          <a:p>
            <a:pPr>
              <a:spcAft>
                <a:spcPts val="800"/>
              </a:spcAft>
              <a:defRPr sz="2000"/>
            </a:pPr>
            <a:r>
              <a:t>5. Compute the average performance across the K iterations.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Stratified K-fold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Stratified K-fold is similar to ordinary K-fold cross-validation.</a:t>
            </a:r>
          </a:p>
          <a:p>
            <a:pPr>
              <a:spcAft>
                <a:spcPts val="800"/>
              </a:spcAft>
              <a:defRPr sz="2000"/>
            </a:pPr>
            <a:r>
              <a:t>Key difference: each fold is constructed to preserve approximately the same proportion of instances for a given categorical/class value.</a:t>
            </a:r>
          </a:p>
          <a:p>
            <a:pPr>
              <a:spcAft>
                <a:spcPts val="800"/>
              </a:spcAft>
              <a:defRPr sz="2000"/>
            </a:pPr>
            <a:r>
              <a:t>This is especially useful for classification datasets where class proportions should be maintained across folds.</a:t>
            </a:r>
          </a:p>
          <a:p>
            <a:pPr>
              <a:spcAft>
                <a:spcPts val="800"/>
              </a:spcAft>
              <a:defRPr sz="2000"/>
            </a:pPr>
            <a:r>
              <a:t>Example: if the complete dataset has two classes with an imbalanced proportion, each fold attempts to preserve that proportion.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Leave-One-Out Cross-Validation (LOOCV)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With n instances, LOOCV trains on n−1 instances and leaves one instance as the hold-out evaluation case.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The process is repeated n times, with a different instance held out each time.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The average test error/performance across all n runs is the estimate.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Book example: with 100 instances, 99 are used for training and one for testing in each of 100 iterations.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LOOCV is computationally expensive but has low bias.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14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AC7D9377-1A59-46B7-BDC8-5A918C0F6618}"/>
              </a:ext>
            </a:extLst>
          </p:cNvPr>
          <p:cNvSpPr/>
          <p:nvPr/>
        </p:nvSpPr>
        <p:spPr>
          <a:xfrm>
            <a:off x="640080" y="4413885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n samples</a:t>
            </a:r>
          </a:p>
        </p:txBody>
      </p: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5F21C127-DD9C-43C3-8708-29BAE24A8A67}"/>
              </a:ext>
            </a:extLst>
          </p:cNvPr>
          <p:cNvSpPr/>
          <p:nvPr/>
        </p:nvSpPr>
        <p:spPr>
          <a:xfrm>
            <a:off x="2734056" y="4413885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Train on n−1</a:t>
            </a: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E7DC4F63-D4A5-4C4F-88F5-294F0EE05568}"/>
              </a:ext>
            </a:extLst>
          </p:cNvPr>
          <p:cNvSpPr/>
          <p:nvPr/>
        </p:nvSpPr>
        <p:spPr>
          <a:xfrm>
            <a:off x="4828032" y="4413885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Test on 1</a:t>
            </a: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17381FB4-9A51-442E-9454-9DDE9E18A849}"/>
              </a:ext>
            </a:extLst>
          </p:cNvPr>
          <p:cNvSpPr/>
          <p:nvPr/>
        </p:nvSpPr>
        <p:spPr>
          <a:xfrm>
            <a:off x="6922008" y="4413885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Repeat n times</a:t>
            </a:r>
          </a:p>
        </p:txBody>
      </p: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1FC5ED9F-5B5B-41D7-B258-589203507C43}"/>
              </a:ext>
            </a:extLst>
          </p:cNvPr>
          <p:cNvSpPr/>
          <p:nvPr/>
        </p:nvSpPr>
        <p:spPr>
          <a:xfrm>
            <a:off x="9015984" y="4413885"/>
            <a:ext cx="1865376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Average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Worked Example: 5-fold CV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Suppose five folds produce accuracy values: 0.82, 0.86, 0.84, 0.88 and 0.80.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Average accuracy = (0.82 + 0.86 + 0.84 + 0.88 + 0.80) / 5.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Average accuracy = 0.84 = 84%.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Interpretation: the cross-validation estimate summarizes performance across all five hold-out folds rather than relying on one split.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9075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rPr dirty="0"/>
              <a:t>CV Accuracy = (Σ Accuracyᵢ) / K = 0.84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Use the same metric consistently across all folds.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Classifier Evaluation: Contingency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TP (True Positive): positive cases correctly classified.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TN (True Negative): negative cases correctly classified.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FP (False Positive): negative case incorrectly classified as positive.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FN (False Negative): positive case incorrectly classified as negative.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The book uses disease/cancer testing as an illustrative scenario and notes that FP and FN can have different practical costs.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69011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Actual Positive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5116830"/>
            <a:ext cx="4815840" cy="7181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rPr dirty="0"/>
              <a:t>Predicted Positive → TP</a:t>
            </a:r>
          </a:p>
          <a:p>
            <a:pPr>
              <a:spcAft>
                <a:spcPts val="800"/>
              </a:spcAft>
              <a:defRPr sz="1700"/>
            </a:pPr>
            <a:r>
              <a:rPr dirty="0"/>
              <a:t>Predicted Negative → FN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8345" y="467487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Actual Negative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3274" y="5101590"/>
            <a:ext cx="3865245" cy="7181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rPr dirty="0"/>
              <a:t>Predicted Positive → FP</a:t>
            </a:r>
          </a:p>
          <a:p>
            <a:pPr>
              <a:spcAft>
                <a:spcPts val="800"/>
              </a:spcAft>
              <a:defRPr sz="1700"/>
            </a:pPr>
            <a:r>
              <a:rPr dirty="0"/>
              <a:t>Predicted Negative → 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Sensitivity and Specificity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Sensitivity is also called the True Positive Rate.</a:t>
            </a:r>
          </a:p>
          <a:p>
            <a:pPr>
              <a:spcAft>
                <a:spcPts val="800"/>
              </a:spcAft>
              <a:defRPr sz="2000"/>
            </a:pPr>
            <a:r>
              <a:t>It measures the ability to identify positive cases correctly.</a:t>
            </a:r>
          </a:p>
          <a:p>
            <a:pPr>
              <a:spcAft>
                <a:spcPts val="800"/>
              </a:spcAft>
              <a:defRPr sz="2000"/>
            </a:pPr>
            <a:r>
              <a:t>Specificity measures the ability to identify negative cases correctly.</a:t>
            </a:r>
          </a:p>
          <a:p>
            <a:pPr>
              <a:spcAft>
                <a:spcPts val="800"/>
              </a:spcAft>
              <a:defRPr sz="2000"/>
            </a:pPr>
            <a:r>
              <a:t>These metrics should be interpreted together when both types of error matter.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rPr dirty="0"/>
              <a:t>Sensitivity = TP / (TP + FN)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Specificity = TN / (TN + FP)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Precision, Recall and F1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Precision is the positive predictive value: among predicted-positive cases, how many are actually positive?</a:t>
            </a:r>
          </a:p>
          <a:p>
            <a:pPr>
              <a:spcAft>
                <a:spcPts val="800"/>
              </a:spcAft>
              <a:defRPr sz="2000"/>
            </a:pPr>
            <a:r>
              <a:t>Recall is the same as sensitivity.</a:t>
            </a:r>
          </a:p>
          <a:p>
            <a:pPr>
              <a:spcAft>
                <a:spcPts val="800"/>
              </a:spcAft>
              <a:defRPr sz="2000"/>
            </a:pPr>
            <a:r>
              <a:t>F1 score combines precision and recall through their harmonic mean.</a:t>
            </a:r>
          </a:p>
          <a:p>
            <a:pPr>
              <a:spcAft>
                <a:spcPts val="800"/>
              </a:spcAft>
              <a:defRPr sz="2000"/>
            </a:pPr>
            <a:r>
              <a:t>F1 is useful when a balance between precision and recall is needed for a chosen threshold.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60" y="37947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/>
            </a:pPr>
            <a:r>
              <a:rPr dirty="0"/>
              <a:t>Precision = TP / (TP + FP)   |   Recall = TP / (TP + FN)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F1 = 2 × Precision × Recall / (Precision + Recall)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ROC Curve and AUC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ROC is a visual method for checking and comparing classifier performance.</a:t>
            </a:r>
          </a:p>
          <a:p>
            <a:pPr>
              <a:spcAft>
                <a:spcPts val="800"/>
              </a:spcAft>
              <a:defRPr sz="2000"/>
            </a:pPr>
            <a:r>
              <a:t>It plots sensitivity (TPR) against false positive rate (1 − specificity) for different threshold values.</a:t>
            </a:r>
          </a:p>
          <a:p>
            <a:pPr>
              <a:spcAft>
                <a:spcPts val="800"/>
              </a:spcAft>
              <a:defRPr sz="2000"/>
            </a:pPr>
            <a:r>
              <a:t>The book illustrates several classifiers and notes that a larger area under the ROC curve indicates better performance.</a:t>
            </a:r>
          </a:p>
          <a:p>
            <a:pPr>
              <a:spcAft>
                <a:spcPts val="800"/>
              </a:spcAft>
              <a:defRPr sz="2000"/>
            </a:pPr>
            <a:r>
              <a:t>AUC = area under the ROC curve; a perfect classifier has AUC =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19</a:t>
            </a: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EBDB2242-83D1-4C94-9793-471A8021CC3B}"/>
              </a:ext>
            </a:extLst>
          </p:cNvPr>
          <p:cNvSpPr/>
          <p:nvPr/>
        </p:nvSpPr>
        <p:spPr>
          <a:xfrm>
            <a:off x="868680" y="470916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rPr dirty="0"/>
              <a:t>Threshold changes</a:t>
            </a:r>
          </a:p>
        </p:txBody>
      </p:sp>
      <p:sp>
        <p:nvSpPr>
          <p:cNvPr id="19" name="Rounded Rectangle 5">
            <a:extLst>
              <a:ext uri="{FF2B5EF4-FFF2-40B4-BE49-F238E27FC236}">
                <a16:creationId xmlns:a16="http://schemas.microsoft.com/office/drawing/2014/main" id="{8BE3C91D-ECA6-4D4C-B56F-253BAB2C421B}"/>
              </a:ext>
            </a:extLst>
          </p:cNvPr>
          <p:cNvSpPr/>
          <p:nvPr/>
        </p:nvSpPr>
        <p:spPr>
          <a:xfrm>
            <a:off x="3486150" y="470916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TPR &amp; FPR</a:t>
            </a: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79687925-1D23-48DE-9365-C9691C0C3E18}"/>
              </a:ext>
            </a:extLst>
          </p:cNvPr>
          <p:cNvSpPr/>
          <p:nvPr/>
        </p:nvSpPr>
        <p:spPr>
          <a:xfrm>
            <a:off x="6103620" y="470916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ROC curve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9045FF56-8B22-445D-A5F7-4EC3C3A9EFDB}"/>
              </a:ext>
            </a:extLst>
          </p:cNvPr>
          <p:cNvSpPr/>
          <p:nvPr/>
        </p:nvSpPr>
        <p:spPr>
          <a:xfrm>
            <a:off x="8721090" y="4709160"/>
            <a:ext cx="238887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Area under curve → AUC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Precision–Recall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precision–recall curve plots precision and recall for different classification thresholds.</a:t>
            </a:r>
          </a:p>
          <a:p>
            <a:pPr>
              <a:spcAft>
                <a:spcPts val="800"/>
              </a:spcAft>
              <a:defRPr sz="2000"/>
            </a:pPr>
            <a:r>
              <a:t>It is particularly useful when class imbalance is present.</a:t>
            </a:r>
          </a:p>
          <a:p>
            <a:pPr>
              <a:spcAft>
                <a:spcPts val="800"/>
              </a:spcAft>
              <a:defRPr sz="2000"/>
            </a:pPr>
            <a:r>
              <a:t>The book contrasts ROC and precision–recall usage: ROC is used when there is no class imbalance, while precision–recall is useful for moderate-to-large class imbalance.</a:t>
            </a:r>
          </a:p>
          <a:p>
            <a:pPr>
              <a:spcAft>
                <a:spcPts val="800"/>
              </a:spcAft>
              <a:defRPr sz="2000"/>
            </a:pPr>
            <a:r>
              <a:t>Threshold selection controls the trade-off between false positives and false negatives.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Scoring Methods: Minimum Description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Model selection can combine model complexity and performance into a single score.</a:t>
            </a:r>
          </a:p>
          <a:p>
            <a:pPr>
              <a:spcAft>
                <a:spcPts val="800"/>
              </a:spcAft>
              <a:defRPr sz="2000"/>
            </a:pPr>
            <a:r>
              <a:t>Minimum Description Length (MDL) describes the target variable and model using bits.</a:t>
            </a:r>
          </a:p>
          <a:p>
            <a:pPr>
              <a:spcAft>
                <a:spcPts val="800"/>
              </a:spcAft>
              <a:defRPr sz="2000"/>
            </a:pPr>
            <a:r>
              <a:t>MDL follows the idea that a simpler explanation/model is preferable when it provides an adequate description of the data.</a:t>
            </a:r>
          </a:p>
          <a:p>
            <a:pPr>
              <a:spcAft>
                <a:spcPts val="800"/>
              </a:spcAft>
              <a:defRPr sz="2000"/>
            </a:pPr>
            <a:r>
              <a:t>It is presented as an alternative scoring-based approach for model selection.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Comparison of Re-sampling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Holdout / Repeated Holdout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Simple and fast</a:t>
            </a:r>
          </a:p>
          <a:p>
            <a:pPr>
              <a:spcAft>
                <a:spcPts val="800"/>
              </a:spcAft>
              <a:defRPr sz="1700"/>
            </a:pPr>
            <a:r>
              <a:t>Performance depends on split</a:t>
            </a:r>
          </a:p>
          <a:p>
            <a:pPr>
              <a:spcAft>
                <a:spcPts val="800"/>
              </a:spcAft>
              <a:defRPr sz="1700"/>
            </a:pPr>
            <a:r>
              <a:t>Repeated holdout reduces dependence on one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05156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K-fold / Stratified / LOOCV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508760"/>
            <a:ext cx="5029200" cy="4480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K-fold: K training/evaluation cycles</a:t>
            </a:r>
          </a:p>
          <a:p>
            <a:pPr>
              <a:spcAft>
                <a:spcPts val="800"/>
              </a:spcAft>
              <a:defRPr sz="1700"/>
            </a:pPr>
            <a:r>
              <a:t>Stratified: preserves class proportions</a:t>
            </a:r>
          </a:p>
          <a:p>
            <a:pPr>
              <a:spcAft>
                <a:spcPts val="800"/>
              </a:spcAft>
              <a:defRPr sz="1700"/>
            </a:pPr>
            <a:r>
              <a:t>LOOCV: n cycles; low bias but expensive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Exam-oriented Summary – Section 3.6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9834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Define model selection and model evaluation.</a:t>
            </a:r>
          </a:p>
          <a:p>
            <a:pPr>
              <a:spcAft>
                <a:spcPts val="800"/>
              </a:spcAft>
              <a:defRPr sz="2000"/>
            </a:pPr>
            <a:r>
              <a:t>Differentiate training error and test error.</a:t>
            </a:r>
          </a:p>
          <a:p>
            <a:pPr>
              <a:spcAft>
                <a:spcPts val="800"/>
              </a:spcAft>
              <a:defRPr sz="2000"/>
            </a:pPr>
            <a:r>
              <a:t>Derive/compute MSE for a set of predicted and actual values.</a:t>
            </a:r>
          </a:p>
          <a:p>
            <a:pPr>
              <a:spcAft>
                <a:spcPts val="800"/>
              </a:spcAft>
              <a:defRPr sz="2000"/>
            </a:pPr>
            <a:r>
              <a:t>Explain Holdout, K-fold, Stratified K-fold and LOOCV.</a:t>
            </a:r>
          </a:p>
          <a:p>
            <a:pPr>
              <a:spcAft>
                <a:spcPts val="800"/>
              </a:spcAft>
              <a:defRPr sz="2000"/>
            </a:pPr>
            <a:r>
              <a:t>Construct a contingency table and compute sensitivity, specificity, precision, recall and F1.</a:t>
            </a:r>
          </a:p>
          <a:p>
            <a:pPr>
              <a:spcAft>
                <a:spcPts val="800"/>
              </a:spcAft>
              <a:defRPr sz="2000"/>
            </a:pPr>
            <a:r>
              <a:t>Explain ROC, AUC and precision–recall curves.</a:t>
            </a:r>
          </a:p>
          <a:p>
            <a:pPr>
              <a:spcAft>
                <a:spcPts val="800"/>
              </a:spcAft>
              <a:defRPr sz="2000"/>
            </a:pPr>
            <a:r>
              <a:t>Discuss MDL as a scoring approach.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/>
            </a:pPr>
            <a:r>
              <a:t>Source: Chapter 3, Sections 3.6.1–3.6.2, pp. 98–104  |  Slide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2067</Words>
  <Application>Microsoft Office PowerPoint</Application>
  <PresentationFormat>Widescreen</PresentationFormat>
  <Paragraphs>195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ISE</cp:lastModifiedBy>
  <cp:revision>3</cp:revision>
  <dcterms:created xsi:type="dcterms:W3CDTF">2013-01-27T09:14:16Z</dcterms:created>
  <dcterms:modified xsi:type="dcterms:W3CDTF">2026-10-06T04:12:39Z</dcterms:modified>
  <cp:category/>
</cp:coreProperties>
</file>