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11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Machine Learning – Chapter 2: Understanding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718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/>
            </a:pPr>
            <a:r>
              <a:t>Based on S. Sridhar &amp; M. Vijayalakshmi, Machine Learning, Oxford University 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Detailed teaching slides • Data understanding, preprocessing, statistics, probability and feature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Chapter 2 – Understanding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is the foundation on which machine-learning algorithms operate.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Before selecting or applying an ML algorithm, the dataset must be understood, represented, cleaned, summarized and explored.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This chapter covers data types, data management, analytics, visualization, statistics, multivariate analysis, probability, hypothesis testing, and feature engineering.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Understand data and different types of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Understand data storage and representation.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Learn the basics of data management and preprocessing.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Understand descriptive statistics and visualization.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Perform univariate, bivariate and multivariate data analysis.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Review essential mathematics, probability and statistical testing.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Understand feature engineering and dimensionality reduction.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2.1 What is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consists of facts that can be processed by a computer.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Examples include numbers, text, images, audio, video and other digital representations.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may be stored in files, databases or data warehouses.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Operational data is generated during normal business processes; non-operational data is often used for information and decision-making.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becomes useful for ML only after appropriate preparation and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Elements / Characteristics of Big Data – The 6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Volume – amount of data generated and stored.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Velocity – speed at which data is generated and processed.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Variety – diversity of forms and sources: text, image, video, audio, etc.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Veracity – reliability, truthfulness and quality of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Validity – correctness or suitability of data for the intended task.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Value – useful information extracted from data and its influence on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quality strongly affects the quality of analysis and ML models.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Numeric data quality can be considered through factors such as precision and accuracy.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Precision concerns closeness among repeated measurements.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Accuracy concerns closeness of a measurement to the true value.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Poor quality data can produce misleading patterns and unreliable models.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2.1.1 Types of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Structured data – organized in a predefined structure such as tables.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Unstructured data – data without a fixed tabular structure, including images, audio, text documents and programs.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Semi-structured data – partly organized data such as XML/JSON, RSS feeds, hierarchical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Structured data can further be represented as records, data matrices, graphs and ordered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Structured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Record data: measurements organized as objects/records with attributes or fields.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matrix: numerical attributes arranged as rows and columns.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Graph data: represents relationships among objects.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Ordered data: attributes have an implicit order.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Examples of ordered data include temporal, sequence and spatial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Ordered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Temporal data – observations associated with time; e.g., temperature measured over time.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Sequence data – ordered symbols/items without necessarily having timestamps.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Spatial data – observations associated with positions, regions or locations.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ordering itself contains useful information and should be preserved during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2.1.2 Data Storage and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After data collection, data must be stored in a form suitable for analysis.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Flat files are simple and commonly used for small datasets.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Common tabular formats include CSV and TSV.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Database systems support storage, querying, transactions and administration.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also discusses spatial databases, WWW, XML, data streams, RSS and JSON.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and Other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Transactional databases store records associated with transactions.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Time-series databases store time-indexed measurements and events.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Spatial databases store geographic/spatial information.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World Wide Web is a major online information source.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XML and JSON provide structured/semi-structured data interchange; data streams represent continuously arriving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2.2 Big Data Analytics and Types of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3048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Data analytics assists organizations in making decisions.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Data analysis and data analytics are related but not identical: analytics emphasizes extracting useful insights and decision support.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The chapter identifies four types: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1. Descriptive analytics</a:t>
            </a:r>
            <a:r>
              <a:rPr lang="en-IN" dirty="0"/>
              <a:t> – describing the main features of the data</a:t>
            </a:r>
            <a:endParaRPr dirty="0"/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2. Diagnostic analytics</a:t>
            </a:r>
            <a:r>
              <a:rPr lang="en-IN" dirty="0"/>
              <a:t>- causal analysis , (deals with ‘why’) finds the cause and effect of the events</a:t>
            </a:r>
            <a:endParaRPr dirty="0"/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3. Predictive analytics</a:t>
            </a:r>
            <a:r>
              <a:rPr lang="en-IN" dirty="0"/>
              <a:t>- deals with the future. “What will happen in future given the data”</a:t>
            </a:r>
            <a:endParaRPr dirty="0"/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rPr dirty="0"/>
              <a:t>4. Prescriptive analytics</a:t>
            </a:r>
            <a:r>
              <a:rPr lang="en-IN" dirty="0"/>
              <a:t>- finding the best course of action for the business organizations.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Four Types of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341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Aft>
                <a:spcPts val="1000"/>
              </a:spcAft>
              <a:defRPr sz="2000"/>
            </a:pPr>
            <a:r>
              <a:rPr dirty="0"/>
              <a:t>Descriptive – What happened? Summarizes and describes collected data.</a:t>
            </a:r>
            <a:r>
              <a:rPr lang="en-US" dirty="0"/>
              <a:t> Data aggregation, data summarization, statistical measures, frequency distributions, data visualization, dashboards, reports, mean/median/mode, standard deviation</a:t>
            </a:r>
            <a:endParaRPr dirty="0"/>
          </a:p>
          <a:p>
            <a:pPr algn="just">
              <a:lnSpc>
                <a:spcPct val="105000"/>
              </a:lnSpc>
              <a:spcAft>
                <a:spcPts val="1000"/>
              </a:spcAft>
              <a:defRPr sz="2000"/>
            </a:pPr>
            <a:r>
              <a:rPr dirty="0"/>
              <a:t>Diagnostic – Why did it happen? Looks for causes/effects and associated factors.</a:t>
            </a:r>
            <a:r>
              <a:rPr lang="en-IN" dirty="0"/>
              <a:t> Drill-down analysis, correlation analysis, root-cause analysis, variance analysis, comparative analysis, association analysis, hypothesis testing</a:t>
            </a:r>
            <a:endParaRPr dirty="0"/>
          </a:p>
          <a:p>
            <a:pPr algn="just">
              <a:lnSpc>
                <a:spcPct val="105000"/>
              </a:lnSpc>
              <a:spcAft>
                <a:spcPts val="1000"/>
              </a:spcAft>
              <a:defRPr sz="2000"/>
            </a:pPr>
            <a:r>
              <a:rPr dirty="0"/>
              <a:t>Predictive – What will happen? Uses patterns in historical data to predict future outcomes.</a:t>
            </a:r>
            <a:r>
              <a:rPr lang="en-US" dirty="0"/>
              <a:t> Regression, classification, time-series forecasting, decision trees, random forests, neural networks, clustering, machine learning models</a:t>
            </a:r>
            <a:endParaRPr dirty="0"/>
          </a:p>
          <a:p>
            <a:pPr algn="just">
              <a:lnSpc>
                <a:spcPct val="105000"/>
              </a:lnSpc>
              <a:spcAft>
                <a:spcPts val="1000"/>
              </a:spcAft>
              <a:defRPr sz="2000"/>
            </a:pPr>
            <a:r>
              <a:rPr dirty="0"/>
              <a:t>Prescriptive – What should be done? Goes beyond prediction to recommend actions.</a:t>
            </a:r>
            <a:r>
              <a:rPr lang="en-US" dirty="0"/>
              <a:t> Optimization, simulation, what-if analysis, decision analysis, rule-based systems, constraint optimization, reinforcement learning, recommendation systems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2.3 Big Data Analysis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presents a four-layer analytics architecture: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1. Data connection layer – data ingestion and connectors; includes ETL activities.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2. Data management layer – storage, retrieval, querying and parallel data management.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3. Data analytic layer – statistical tests, ML algorithms, model construction and validation.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4. Presentation layer – dashboards and applications for displaying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27–29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Data collection is the first step in the big-data processing cycle.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Good-quality data should satisfy three important properties: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Timeliness – relevant and not obsolete.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Relevancy – directly useful for the ML/data-mining problem and sufficiently representative.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Knowledge about the data – understandable and interpretable by domain experts.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Sources discussed include open/public data, social media and multimedia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29–30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2.3.2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Real-world data is often 'dirty'.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Common problems include incomplete data, inaccurate data, outliers, missing values, inconsistent values and duplicate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cleaning identifies and corrects/removes errors before modeling.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Cleaning may include handling missing values, smoothing noise, removing outliers and resolving inconsistencies.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30–31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Missing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Common strategies described in the chapter: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1. Ignore the tuple when the missing value is associated with the class label.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2. Fill manually when feasible and domain knowledge is available.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3. Use a global constant such as 'Unknown' or a specified value.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4. Use the attribute average.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5. Use the class-specific average.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6. Use the most probable value inferred from other methods/classification.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Outliers and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Noise is random error or variance in measured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Outliers are observations that differ markedly from the rest of the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Binning can be used to smooth noisy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illustrates smoothing by bin means and smoothing by bin boundaries.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Outlier handling should be driven by domain knowledge and the purpose of the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31–32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Binning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Dataset: 12, 14, 19, 22, 24, 26, 28, 31, 34.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With equal-frequency binning of size 3: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Bin 1 = 12, 14, 19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Bin 2 = 22, 24, 26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Bin 3 = 28, 31, 34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Bin means can replace values within each bin; boundaries can replace values by the nearest bin boundary.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31–32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Integration and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integration combines data from multiple sources into a single data source.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aim is to merge data and remove redundancies introduced during integration.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Data transformation changes data into a form appropriate for ML algorithms.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Normalization scales attributes to comparable ranges.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introduces Min–Max normalization and z-score normalization.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Min–Max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Maps a value V from its original range [min, max] to a target range [new_min, new_max].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Formula: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V′ = ((V − min) / (max − min)) × (new_max − new_min) + new_min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For a 0–1 target range, the transformation becomes (V − min)/(max − min).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Useful when features have different numeric scales.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32; Eq. 2.1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z-Score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Uses the mean and standard deviation of an attribute.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Formula: z = (V − μ) / σ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transformed variable is centered around zero and measured in standard-deviation units.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notes its use for detecting possible outliers.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Example in the text: values 10, 20, 30 produce z-scores −1, 0 and +1 for μ = 20 and σ = 10.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32–33; Eq. 2.2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2.4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Descriptive statistics summarizes and describes a dataset.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It is descriptive: it does not by itself go beyond the observed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It supports understanding of data before applying ML algorithms.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Exploratory Data Analysis (EDA) uses descriptive statistics and visualization to investigate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Key areas: data types, central tendency, dispersion and shape.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Measurement /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Categorical (qualitative) data: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Nominal – categories without meaningful order.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Ordinal – categories with an order.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Numerical (quantitative) data: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Interval – meaningful differences; zero is not an absolute absence.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  <a:defRPr sz="1700"/>
            </a:pPr>
            <a:r>
              <a:t>Ratio – meaningful differences and ratios; zero has a meaningful interpretation.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Data may also be discrete or continuous.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34–35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Discrete, Continuous, Univariate, Bivariate, Multivariate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Discrete data: countable values, typically recorded as integers.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Continuous data: can take values over a range, including decimal values.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Univariate data: one variable.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Bivariate data: two variables.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Multivariate data: more than two variables.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2.5 Univariate Data Analysis and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Univariate analysis studies one variable at a time.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It focuses on frequency distribution, central tendency, dispersion and shape.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Visualization helps present, summarize and explore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Chapter examples include bar charts, pie charts, histograms and dot plots.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36–38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Visualization – Bar, Pie, Histogram, Dot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Bar chart – displays frequency/counts for categories or discrete values.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Pie chart – shows parts of a whole using percentage/proportion.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Histogram – groups numerical values into intervals/bins and shows frequency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Dot plot – displays individual observations as points and is less clustered than a bar chart.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Choice of visualization should match the variable type and analysis objective.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36–38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Central Tendency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Mean – arithmetic average: x̄ = (1/N) Σxi.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Weighted mean – observations contribute according to their weights.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Geometric mean – Nth root of the product of N values.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Median – middle value after sorting; useful when data contains extreme values.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Mode – most frequently occurring value; particularly useful for discrete/categorical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38–39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Dispersion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Range = maximum − minimum.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Standard deviation measures spread around the mean.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Quartiles divide ordered data; Q1, Q2 (median) and Q3 are important.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Interquartile range: IQR = Q3 − Q1.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The chapter identifies values above Q3 + 1.5×IQR or below Q1 − 1.5×IQR as potential outliers.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Semi-interquartile range = 1/2 IQR.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40–41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Five-Point Summary and Box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Five-point summary: minimum, Q1, median (Q2), Q3 and maximum.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Box plot visually represents these five statistics.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box represents the middle 50% of observations.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median is shown inside the box.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Whiskers extend toward the lower and upper extremes; the plot helps reveal spread and possible outliers.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Shape of Data – Skewness and Kurtosis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Skewness describes asymmetry of a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Positive skew: longer tail toward higher values; mean is generally greater than median.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Negative skew: longer tail toward lower values; mean is generally less than median.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Kurtosis describes the peakedness/tail behavior relative to a normal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also discusses mean absolute deviation (MAD) and coefficient of variation (CV).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41–43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Special Univariate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Stem-and-leaf plot preserves individual observations while showing distribution shape.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Q–Q plot compares sample quantiles with theoretical normal quantiles.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If points approximately follow the reference line, the data may be reasonably consistent with the theoretical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Large deviations from the line suggest a different distributional shape.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43–44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2.6 Bivariate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Bivariate data contains two variables.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purpose is to identify relationships between variables and explore possible causes/effects.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uses temperature and sweater sales as an example.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Scatter plots are used to visualize the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Line graphs can also show trends in paired observations.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44–45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Covariance measures the joint variability of two variables X and 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Population form: Cov(X,Y) = (1/N) Σ[(xi − E(X))(yi − E(Y))].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Positive covariance: variables tend to increase together.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Negative covariance: one tends to increase when the other decreases.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magnitude depends on the measurement scales, so covariance is not directly standardized.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46; Eq. 2.17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Pearson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Correlation standardizes covariance and measures the direction and strength of linear association.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r = Cov(X,Y)/(σX σY).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r is bounded between −1 and +1.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Positive r → positive linear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Negative r → negative linear relationship.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r near zero indicates little/no linear relationship; it does not by itself prove independence.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46–47; Eq. 2.18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2.7 Multivariate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Multivariate data involves more than two variables.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objective is to study relationships among several variables simultaneously.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mentions regression analysis, principal component analysis and multivariate analysis of variance as examples.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multivariate dataset can be represented as a matrix of observations and attributes.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Mean becomes a mean vector; covariance becomes a covariance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Heatmap and Pairplot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Heatmap is a graphical representation of a 2D matrix using color intensity.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It can make patterns in large matrices easier to perceive.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Pairplot/scatter matrix displays pairwise scatter plots for multiple variables.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Pairplots help visually inspect relationships, trends, clusters and possible correlations.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These are exploratory tools; interpretation should be supported by numerical measures.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47–48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6CE33-8DD4-4CDE-A46B-0C9416A7F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192118"/>
            <a:ext cx="6431505" cy="37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04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2.8 Essential Mathematics for Multivariate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Machine learning uses concepts from linear algebra, statistics and probability.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Linear algebra provides tools for vectors, matrices and transformations.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introduces linear systems, Gaussian elimination and matrix decomposition.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Probability distributions support probabilistic modeling and statistical reasoning.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Linear Systems and Gaussian Elimination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linear system can be represented as Ax = 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For a nonsingular square matrix, x can be written as A⁻¹y.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Gaussian elimination transforms the augmented matrix into reduced/echelon form.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Basic row operations: swap rows; multiply/divide a row by a constant; add/subtract a multiple of another row.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Back-substitution is used after elimination to obtain remaining unknowns.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49–50; Eqs. 2.19–2.22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Matrix Decompositions – 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Matrix decomposition expresses a matrix as a product of simpler matrices.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LU decomposition represents A as A = LU.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L is a lower triangular matrix.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U is an upper triangular matrix.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Gaussian elimination can be used to obtain L and U.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Decomposition is useful when repeated or complex matrix operations are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50–51; Eq. 2.23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Probability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probability distribution describes how probability is associated with values of a random variable.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Two broad categories are discrete and continuous distributions.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PDF describes probability density for continuous variables.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CDF gives cumulative probability up to a value.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discusses Normal, Uniform, Exponential, Binomial, Poisson and Bernoulli distributions.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52–54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Continuous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Normal distribution – bell-shaped continuous distribution characterized by mean μ and standard deviation σ.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z-score: z = (x − μ)/σ.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Uniform distribution – values in a specified interval have equal density.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Exponential distribution – models waiting/time-between-events in appropriate settings; parameter λ is used.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correct distributional assumption matters in statistical modeling.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53–54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Discrete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Binomial distribution – models a fixed number of trials with two outcomes, such as success/failure.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Poisson distribution – models counts of events occurring over an interval under appropriate assumptions.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Bernoulli distribution – a single binary trial with outcomes represented by success/failure.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These distributions provide probability models for different types of ML/statistical problems.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54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Density Estimation and 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Density estimation estimates the probability density function from observed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Parametric density estimation assumes a known distribution family and estimates its parameters.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Maximum Likelihood Estimation (MLE) chooses parameter values that maximize the likelihood of observed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introduces Gaussian Mixture Models and Expectation-Maximization (EM).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EM alternates between an expectation step and a maximization step until the parameters fit the latent-variable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55–57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Non-Parametric Density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Non-parametric methods do not assume a fixed parametric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Parzen window estimates density by counting observations within a region/window.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K-Nearest Neighbour (KNN) estimation uses the neighbourhood of a point to estimate density.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These methods can adapt to data distributions without specifying a particular parametric family.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56–57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2.9 Overview of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hypothesis is a statement about a population or data-generating process.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Null hypothesis H0 is tested against an alternative hypothesis H1.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Statistical testing helps determine whether observed differences are statistically significant.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Typical steps: formulate hypotheses → select test/statistic → choose significance level α → compute p-value → make a decision.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Type I error: reject a true H0. Type II error: fail to reject a false H0.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57–58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p-value and Confidence Interval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p-value indicates how compatible the observed result is with the null hypothesis under the test assumptions.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small p-value provides evidence against H0.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Confidence interval gives a range of plausible values at a specified confidence level.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presents confidence level = 1 − significance level.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Statistical conclusions should consider assumptions, sample size and practical significance.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58–59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Comparing Learning Methods – z and 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z-test: used when assumptions such as known population variation and sufficiently large sample size are appropriate.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t-test: used to test means, especially when population variance is unknown and sample sizes are small.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One-sample t-test compares a sample mean with a theoretical/population mean.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Independent two-sample t-test compares means of two groups.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Paired t-test evaluates paired observations, such as before/after measurements.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59–61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Chi-Square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A non-parametric test used for categorical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uses a goodness-of-fit/association-style example involving observed and expected frequencies.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Statistic: χ² = Σ[(Oi − Ei)²/Ei].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Large discrepancies between observed and expected frequencies provide evidence against H0.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Degrees of freedom depend on the number of categories and constraints.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pp. 61–62; Eq. 2.51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2.10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Features are attributes used by an ML model.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Feature engineering determines a useful subset or representation of features that can improve model performance.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Feature Transformation changes features into forms that may be more useful for learning.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Feature Selection identifies important features and removes irrelevant or redundant ones.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uses BMI as an example of creating a feature from height and weight.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Dimensionality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Feature selection reduces the number of attributes by retaining useful features.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With n features, there can be 2ⁿ possible subsets, making exhaustive search expensive.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Reducing dimensionality can reduce computation and remove irrelevant information.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Feature selection is often a practical approach because it keeps the original feature representation.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000"/>
            </a:pPr>
            <a:r>
              <a:t>The chapter introduces dimensionality reduction as part of feature engineering.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p.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Data Understanding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1. Collect relevant, timely and understandable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2. Identify data types and storage/representation.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3. Inspect data quality and detect missing values/outliers/inconsistencies.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4. Clean, integrate, transform and normalize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5. Explore with descriptive statistics and visualizations.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6. Study relationships using bivariate/multivariate analysis.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7. Apply appropriate probability/statistical methods.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8. Engineer/select features before ML modeling.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Synthesis of Chapter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Quick Revision – Key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Mean: x̄ = (1/N) Σxi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Min–Max: V′ = ((V−min)/(max−min))(new_max−new_min)+new_min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z-score: z = (V−μ)/σ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IQR = Q3−Q1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Cov(X,Y) = (1/N)Σ[(xi−E(X))(yi−E(Y))]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Pearson r = Cov(X,Y)/(σXσY)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Chi-square: χ² = Σ[(Oi−Ei)²/Ei]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Chapter 2 equations and definitions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Exam-Oriented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Define structured, unstructured and semi-structured data with examples.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the 6 Vs of big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the four types of analytics with examples.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data preprocessing and methods for handling missing values/outliers.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Compare Min–Max and z-score normalization.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mean, median, mode, standard deviation, IQR and box plot.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Differentiate covariance and correlation.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Gaussian elimination and LU decomposition.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normal, binomial, Poisson and Bernoulli distributions.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hypothesis testing, p-value, z-test, t-test and chi-square test.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Explain feature engineering, feature selection and dimensionality reduction.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Chapter 2 review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Chapter 2 –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Good ML starts with good understanding of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Data type determines appropriate representation, preprocessing and visualization.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Cleaning and transformation improve the quality and suitability of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Descriptive, bivariate and multivariate analysis reveal structure and relationships.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Probability, statistics and linear algebra provide mathematical foundations for ML.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Feature engineering and dimensionality reduction prepare data for effective learning.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S. Sridhar &amp; M. Vijayalakshmi, Machine Learning, OUP India — Chapter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4687</Words>
  <Application>Microsoft Office PowerPoint</Application>
  <PresentationFormat>Widescreen</PresentationFormat>
  <Paragraphs>384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ISE</cp:lastModifiedBy>
  <cp:revision>6</cp:revision>
  <dcterms:created xsi:type="dcterms:W3CDTF">2013-01-27T09:14:16Z</dcterms:created>
  <dcterms:modified xsi:type="dcterms:W3CDTF">2026-09-22T05:58:10Z</dcterms:modified>
  <cp:category/>
</cp:coreProperties>
</file>