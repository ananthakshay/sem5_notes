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Chapter 3.7 – Learning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Chapter 3.7 – Learning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PAC Learning • Estimating Hypothesis Accuracy • Hoeffding’s Inequality • VC Dimension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S. Sridhar &amp; M. Vijayalakshmi, Machine Learning, Oxford University Press (2021) | Chapter 3, pp. 104–108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Explain the role of computational learning theory in analyzing machine-learning algorithms.</a:t>
            </a:r>
          </a:p>
          <a:p>
            <a:pPr>
              <a:spcAft>
                <a:spcPts val="800"/>
              </a:spcAft>
              <a:defRPr sz="2000"/>
            </a:pPr>
            <a:r>
              <a:t>Describe PAC (Probably Approximately Correct) learning.</a:t>
            </a:r>
          </a:p>
          <a:p>
            <a:pPr>
              <a:spcAft>
                <a:spcPts val="800"/>
              </a:spcAft>
              <a:defRPr sz="2000"/>
            </a:pPr>
            <a:r>
              <a:t>Understand sample complexity and the finite/infinite hypothesis-space distinction.</a:t>
            </a:r>
          </a:p>
          <a:p>
            <a:pPr>
              <a:spcAft>
                <a:spcPts val="800"/>
              </a:spcAft>
              <a:defRPr sz="2000"/>
            </a:pPr>
            <a:r>
              <a:t>Estimate hypothesis accuracy using sample error and confidence intervals.</a:t>
            </a:r>
          </a:p>
          <a:p>
            <a:pPr>
              <a:spcAft>
                <a:spcPts val="800"/>
              </a:spcAft>
              <a:defRPr sz="2000"/>
            </a:pPr>
            <a:r>
              <a:t>Explain the relationship between in-sample and out-of-sample error using Hoeffding’s inequality.</a:t>
            </a:r>
          </a:p>
          <a:p>
            <a:pPr>
              <a:spcAft>
                <a:spcPts val="800"/>
              </a:spcAft>
              <a:defRPr sz="2000"/>
            </a:pPr>
            <a:r>
              <a:t>Define VC dimension and explain the idea of shattering.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Why a Learning Framework?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 learner may fit the available training examples well but still misclassify unseen instances.</a:t>
            </a:r>
          </a:p>
          <a:p>
            <a:pPr>
              <a:spcAft>
                <a:spcPts val="800"/>
              </a:spcAft>
              <a:defRPr sz="2000"/>
            </a:pPr>
            <a:r>
              <a:t>A theoretical framework helps answer: How many examples are enough? How accurate is the learned hypothesis? How complex is the hypothesis class?</a:t>
            </a:r>
          </a:p>
          <a:p>
            <a:pPr>
              <a:spcAft>
                <a:spcPts val="800"/>
              </a:spcAft>
              <a:defRPr sz="2000"/>
            </a:pPr>
            <a:r>
              <a:t>The book introduces PAC learning, mistake-bound ideas, sample complexity, computational complexity and VC dimension.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Training samples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28950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57550" y="219456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Learn 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46420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875020" y="219456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Estimate error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63890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92490" y="219456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Bound generalization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PAC Learning –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PAC = Probably Approximately Correct.</a:t>
            </a:r>
          </a:p>
          <a:p>
            <a:pPr>
              <a:spcAft>
                <a:spcPts val="800"/>
              </a:spcAft>
              <a:defRPr sz="2000"/>
            </a:pPr>
            <a:r>
              <a:t>A hypothesis that makes wrong predictions most of the time can be rejected.</a:t>
            </a:r>
          </a:p>
          <a:p>
            <a:pPr>
              <a:spcAft>
                <a:spcPts val="800"/>
              </a:spcAft>
              <a:defRPr sz="2000"/>
            </a:pPr>
            <a:r>
              <a:t>A hypothesis that is consistently correct on a large number of samples is unlikely to be wrong.</a:t>
            </a:r>
          </a:p>
          <a:p>
            <a:pPr>
              <a:spcAft>
                <a:spcPts val="800"/>
              </a:spcAft>
              <a:defRPr sz="2000"/>
            </a:pPr>
            <a:r>
              <a:t>“Approximately” refers to being close to the target function; “probably” refers to having low generalization error with high confidence.</a:t>
            </a:r>
          </a:p>
          <a:p>
            <a:pPr>
              <a:spcAft>
                <a:spcPts val="800"/>
              </a:spcAft>
              <a:defRPr sz="2000"/>
            </a:pPr>
            <a:r>
              <a:t>An algorithm that returns a PAC hypothesis is called a PAC algorithm.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PAC Framework: Basic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Unseen samples are drawn according to a fixed distribution related to the learning problem.</a:t>
            </a:r>
          </a:p>
          <a:p>
            <a:pPr>
              <a:spcAft>
                <a:spcPts val="800"/>
              </a:spcAft>
              <a:defRPr sz="2000"/>
            </a:pPr>
            <a:r>
              <a:t>2. The proportion of wrongly classified samples is the error rate.</a:t>
            </a:r>
          </a:p>
          <a:p>
            <a:pPr>
              <a:spcAft>
                <a:spcPts val="800"/>
              </a:spcAft>
              <a:defRPr sz="2000"/>
            </a:pPr>
            <a:r>
              <a:t>3. The learner seeks a hypothesis h that is close to an unknown target function f.</a:t>
            </a:r>
          </a:p>
          <a:p>
            <a:pPr>
              <a:spcAft>
                <a:spcPts val="800"/>
              </a:spcAft>
              <a:defRPr sz="2000"/>
            </a:pPr>
            <a:r>
              <a:t>4. A good hypothesis should generalize beyond the observed training samples.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PAC Error Parameters ε and 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ε (epsilon) represents the tolerated approximation/generalization error.</a:t>
            </a:r>
          </a:p>
          <a:p>
            <a:pPr>
              <a:spcAft>
                <a:spcPts val="800"/>
              </a:spcAft>
              <a:defRPr sz="2000"/>
            </a:pPr>
            <a:r>
              <a:t>δ (delta) represents the small probability that the learned hypothesis fails to meet the desired error bound.</a:t>
            </a:r>
          </a:p>
          <a:p>
            <a:pPr>
              <a:spcAft>
                <a:spcPts val="800"/>
              </a:spcAft>
              <a:defRPr sz="2000"/>
            </a:pPr>
            <a:r>
              <a:t>PAC objective: obtain a hypothesis with error ≤ ε with probability at least 1 − δ.</a:t>
            </a:r>
          </a:p>
          <a:p>
            <a:pPr>
              <a:spcAft>
                <a:spcPts val="800"/>
              </a:spcAft>
              <a:defRPr sz="2000"/>
            </a:pPr>
            <a:r>
              <a:t>Smaller ε demands higher accuracy; smaller δ demands greater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Goal:  P(error(h) ≤ ε) ≥ 1 − 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ε = accuracy tolerance; δ = allowed failure probability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PAC Sample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For a finite hypothesis space, the book derives a sample-size condition from the probability that an incorrect hypothesis remains consistent with the observed samples.</a:t>
            </a:r>
          </a:p>
          <a:p>
            <a:pPr>
              <a:spcAft>
                <a:spcPts val="800"/>
              </a:spcAft>
              <a:defRPr sz="2000"/>
            </a:pPr>
            <a:r>
              <a:t>The probability that a particular bad hypothesis agrees with N samples decreases exponentially with N.</a:t>
            </a:r>
          </a:p>
          <a:p>
            <a:pPr>
              <a:spcAft>
                <a:spcPts val="800"/>
              </a:spcAft>
              <a:defRPr sz="2000"/>
            </a:pPr>
            <a:r>
              <a:t>Considering all hypotheses leads to a bound involving |H|, ε and δ.</a:t>
            </a:r>
          </a:p>
          <a:p>
            <a:pPr>
              <a:spcAft>
                <a:spcPts val="800"/>
              </a:spcAft>
              <a:defRPr sz="2000"/>
            </a:pPr>
            <a:r>
              <a:t>The book expresses the resulting sample-complexity relationship in logarithmic 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N grows with ln|H|, ln(1/δ), and 1/ε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More hypotheses or stricter accuracy/confidence requirements require more training samples.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Interpretation of PAC Sample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If the hypothesis space becomes larger, more samples are required to identify a reliable hypothesis.</a:t>
            </a:r>
          </a:p>
          <a:p>
            <a:pPr>
              <a:spcAft>
                <a:spcPts val="800"/>
              </a:spcAft>
              <a:defRPr sz="2000"/>
            </a:pPr>
            <a:r>
              <a:t>If ε is reduced, the learner demands a smaller generalization error, so the required sample size increases.</a:t>
            </a:r>
          </a:p>
          <a:p>
            <a:pPr>
              <a:spcAft>
                <a:spcPts val="800"/>
              </a:spcAft>
              <a:defRPr sz="2000"/>
            </a:pPr>
            <a:r>
              <a:t>If δ is reduced, the learner demands greater confidence, so the required sample size increases.</a:t>
            </a:r>
          </a:p>
          <a:p>
            <a:pPr>
              <a:spcAft>
                <a:spcPts val="800"/>
              </a:spcAft>
              <a:defRPr sz="2000"/>
            </a:pPr>
            <a:r>
              <a:t>Thus, sample complexity captures the data requirement for reliable generalization.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Mistake Bound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mistake-bound model is an alternative learning framework to PAC.</a:t>
            </a:r>
          </a:p>
          <a:p>
            <a:pPr>
              <a:spcAft>
                <a:spcPts val="800"/>
              </a:spcAft>
              <a:defRPr sz="2000"/>
            </a:pPr>
            <a:r>
              <a:t>The learner is evaluated by the number of prediction mistakes made before converging to the correct hypothesis.</a:t>
            </a:r>
          </a:p>
          <a:p>
            <a:pPr>
              <a:spcAft>
                <a:spcPts val="800"/>
              </a:spcAft>
              <a:defRPr sz="2000"/>
            </a:pPr>
            <a:r>
              <a:t>Unlike PAC, the learner predicts the target function before being shown the correct label and the mistakes are counted.</a:t>
            </a:r>
          </a:p>
          <a:p>
            <a:pPr>
              <a:spcAft>
                <a:spcPts val="800"/>
              </a:spcAft>
              <a:defRPr sz="2000"/>
            </a:pPr>
            <a:r>
              <a:t>This is useful for applications where mistakes are costly and the number of mistakes before learning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Mistake Bounds: Key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For Find-S, the book discusses a bound related to the number of hypothesis variables.</a:t>
            </a:r>
          </a:p>
          <a:p>
            <a:pPr>
              <a:spcAft>
                <a:spcPts val="800"/>
              </a:spcAft>
              <a:defRPr sz="2000"/>
            </a:pPr>
            <a:r>
              <a:t>For Find-S and a related learning method, the text gives logarithmic-style mistake bounds.</a:t>
            </a:r>
          </a:p>
          <a:p>
            <a:pPr>
              <a:spcAft>
                <a:spcPts val="800"/>
              </a:spcAft>
              <a:defRPr sz="2000"/>
            </a:pPr>
            <a:r>
              <a:t>For an arbitrary concept class C, the worst-case number of mistakes is related to its VC dimension and logarithmic terms.</a:t>
            </a:r>
          </a:p>
          <a:p>
            <a:pPr>
              <a:spcAft>
                <a:spcPts val="800"/>
              </a:spcAft>
              <a:defRPr sz="2000"/>
            </a:pPr>
            <a:r>
              <a:t>Important distinction: PAC focuses on probability/error guarantees; mistake-bound learning focuses on the count of prediction errors before convergence.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Finite vs Infinite Hypothesis 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Finite Hypothesis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PAC framework can identify classes learnable from a polynomial number of training samples.</a:t>
            </a:r>
          </a:p>
          <a:p>
            <a:pPr>
              <a:spcAft>
                <a:spcPts val="800"/>
              </a:spcAft>
              <a:defRPr sz="1700"/>
            </a:pPr>
            <a:r>
              <a:t>Sample complexity can be related to |H|.</a:t>
            </a:r>
          </a:p>
          <a:p>
            <a:pPr>
              <a:spcAft>
                <a:spcPts val="800"/>
              </a:spcAft>
              <a:defRPr sz="1700"/>
            </a:pPr>
            <a:r>
              <a:t>Number of possible hypotheses is finite.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Infinite Hypothesis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A direct finite-|H| bound is not sufficient.</a:t>
            </a:r>
          </a:p>
          <a:p>
            <a:pPr>
              <a:spcAft>
                <a:spcPts val="800"/>
              </a:spcAft>
              <a:defRPr sz="1700"/>
            </a:pPr>
            <a:r>
              <a:t>VC dimension provides a way to characterize the complexity of the hypothesis class.</a:t>
            </a:r>
          </a:p>
          <a:p>
            <a:pPr>
              <a:spcAft>
                <a:spcPts val="800"/>
              </a:spcAft>
              <a:defRPr sz="1700"/>
            </a:pPr>
            <a:r>
              <a:t>Generalization bounds depend on the ability of the class to shatter finite 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Sample Complexity vs Computational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Sample complexity: number of training instances required for a learner to converge to a successful hypothesis.</a:t>
            </a:r>
          </a:p>
          <a:p>
            <a:pPr>
              <a:spcAft>
                <a:spcPts val="800"/>
              </a:spcAft>
              <a:defRPr sz="2000"/>
            </a:pPr>
            <a:r>
              <a:t>Computational complexity: amount of computational effort required for the learner to converge.</a:t>
            </a:r>
          </a:p>
          <a:p>
            <a:pPr>
              <a:spcAft>
                <a:spcPts val="800"/>
              </a:spcAft>
              <a:defRPr sz="2000"/>
            </a:pPr>
            <a:r>
              <a:t>A method can have a manageable sample requirement but still be computationally expensive.</a:t>
            </a:r>
          </a:p>
          <a:p>
            <a:pPr>
              <a:spcAft>
                <a:spcPts val="800"/>
              </a:spcAft>
              <a:defRPr sz="2000"/>
            </a:pPr>
            <a:r>
              <a:t>Both dimensions matter when assessing the practicality of a learning framework.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Sample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How much data?</a:t>
            </a:r>
          </a:p>
          <a:p>
            <a:pPr>
              <a:spcAft>
                <a:spcPts val="800"/>
              </a:spcAft>
              <a:defRPr sz="1700"/>
            </a:pPr>
            <a:r>
              <a:t>Training-instance requirement</a:t>
            </a:r>
          </a:p>
          <a:p>
            <a:pPr>
              <a:spcAft>
                <a:spcPts val="800"/>
              </a:spcAft>
              <a:defRPr sz="1700"/>
            </a:pPr>
            <a:r>
              <a:t>Generalization/data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Computational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How much computation?</a:t>
            </a:r>
          </a:p>
          <a:p>
            <a:pPr>
              <a:spcAft>
                <a:spcPts val="800"/>
              </a:spcAft>
              <a:defRPr sz="1700"/>
            </a:pPr>
            <a:r>
              <a:t>Time/effort requirement</a:t>
            </a:r>
          </a:p>
          <a:p>
            <a:pPr>
              <a:spcAft>
                <a:spcPts val="800"/>
              </a:spcAft>
              <a:defRPr sz="1700"/>
            </a:pPr>
            <a:r>
              <a:t>Algorithmic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3.7.2 Estimating Hypothesis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Sample error of h: proportion of training instances misclassified by h.</a:t>
            </a:r>
          </a:p>
          <a:p>
            <a:pPr>
              <a:spcAft>
                <a:spcPts val="800"/>
              </a:spcAft>
              <a:defRPr sz="2000"/>
            </a:pPr>
            <a:r>
              <a:t>True error of h: probability that h misclassifies a randomly drawn instance from the domain.</a:t>
            </a:r>
          </a:p>
          <a:p>
            <a:pPr>
              <a:spcAft>
                <a:spcPts val="800"/>
              </a:spcAft>
              <a:defRPr sz="2000"/>
            </a:pPr>
            <a:r>
              <a:t>Training performance can be better than true performance because the model has already seen the training examples.</a:t>
            </a:r>
          </a:p>
          <a:p>
            <a:pPr>
              <a:spcAft>
                <a:spcPts val="800"/>
              </a:spcAft>
              <a:defRPr sz="2000"/>
            </a:pPr>
            <a:r>
              <a:t>Confidence intervals can be used to estimate the true error from the observed sample error.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Sample Error = (# misclassified training instances) /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True Error = P[h(x) ≠ f(x)] for a random domain instance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Confidence Interval for Hypothesis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book presents a 95% confidence-style approximation using the sample error and sample size.</a:t>
            </a:r>
          </a:p>
          <a:p>
            <a:pPr>
              <a:spcAft>
                <a:spcPts val="800"/>
              </a:spcAft>
              <a:defRPr sz="2000"/>
            </a:pPr>
            <a:r>
              <a:t>The expression has the form sample error ± 1.96 times a standard-error term.</a:t>
            </a:r>
          </a:p>
          <a:p>
            <a:pPr>
              <a:spcAft>
                <a:spcPts val="800"/>
              </a:spcAft>
              <a:defRPr sz="2000"/>
            </a:pPr>
            <a:r>
              <a:t>Larger n reduces the uncertainty around the estimate.</a:t>
            </a:r>
          </a:p>
          <a:p>
            <a:pPr>
              <a:spcAft>
                <a:spcPts val="800"/>
              </a:spcAft>
              <a:defRPr sz="2000"/>
            </a:pPr>
            <a:r>
              <a:t>This is an estimation tool: it does not make the sample error itself equal to the true error.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error(h) ± 1.96 √[error(h)(1−error(h))/n]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95% confidence-style interval presented in the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In-Sample vs Out-of-Sample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In-sample error / empirical error: difference between target function f and hypothesis h on training data.</a:t>
            </a:r>
          </a:p>
          <a:p>
            <a:pPr>
              <a:spcAft>
                <a:spcPts val="800"/>
              </a:spcAft>
              <a:defRPr sz="2000"/>
            </a:pPr>
            <a:r>
              <a:t>Out-of-sample error / generalization error: difference between f and h on unknown test data.</a:t>
            </a:r>
          </a:p>
          <a:p>
            <a:pPr>
              <a:spcAft>
                <a:spcPts val="800"/>
              </a:spcAft>
              <a:defRPr sz="2000"/>
            </a:pPr>
            <a:r>
              <a:t>A good learning framework seeks a small gap between training and generalization performance.</a:t>
            </a:r>
          </a:p>
          <a:p>
            <a:pPr>
              <a:spcAft>
                <a:spcPts val="800"/>
              </a:spcAft>
              <a:defRPr sz="2000"/>
            </a:pPr>
            <a:r>
              <a:t>The book introduces Hoeffding’s inequality to quantify a probabilistic bound on this deviation.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In-Sample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Observed on training data</a:t>
            </a:r>
          </a:p>
          <a:p>
            <a:pPr>
              <a:spcAft>
                <a:spcPts val="800"/>
              </a:spcAft>
              <a:defRPr sz="1700"/>
            </a:pPr>
            <a:r>
              <a:t>Empirical error</a:t>
            </a:r>
          </a:p>
          <a:p>
            <a:pPr>
              <a:spcAft>
                <a:spcPts val="800"/>
              </a:spcAft>
              <a:defRPr sz="1700"/>
            </a:pPr>
            <a:r>
              <a:t>Usually easier to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Out-of-Sample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Observed on unseen data</a:t>
            </a:r>
          </a:p>
          <a:p>
            <a:pPr>
              <a:spcAft>
                <a:spcPts val="800"/>
              </a:spcAft>
              <a:defRPr sz="1700"/>
            </a:pPr>
            <a:r>
              <a:t>Generalization error</a:t>
            </a:r>
          </a:p>
          <a:p>
            <a:pPr>
              <a:spcAft>
                <a:spcPts val="800"/>
              </a:spcAft>
              <a:defRPr sz="1700"/>
            </a:pPr>
            <a:r>
              <a:t>Key indicator of real predictive 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3.7.3 Hoeffding’s Inequality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Hoeffding’s inequality provides a probabilistic upper bound on the deviation between in-sample and out-of-sample errors.</a:t>
            </a:r>
          </a:p>
          <a:p>
            <a:pPr>
              <a:spcAft>
                <a:spcPts val="800"/>
              </a:spcAft>
              <a:defRPr sz="2000"/>
            </a:pPr>
            <a:r>
              <a:t>It is presented for a finite hypothesis set.</a:t>
            </a:r>
          </a:p>
          <a:p>
            <a:pPr>
              <a:spcAft>
                <a:spcPts val="800"/>
              </a:spcAft>
              <a:defRPr sz="2000"/>
            </a:pPr>
            <a:r>
              <a:t>The deviation is bounded by a term that decreases exponentially as the sample size increases.</a:t>
            </a:r>
          </a:p>
          <a:p>
            <a:pPr>
              <a:spcAft>
                <a:spcPts val="800"/>
              </a:spcAft>
              <a:defRPr sz="2000"/>
            </a:pPr>
            <a:r>
              <a:t>Therefore, larger training samples make the observed error a more reliable indicator of generalization error.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P(|E_in − E_out| &gt; ε) ≤ 2e^(−2ε²n)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ε &gt; 0; n = sample size; the bound decreases rapidly as n increases.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Interpreting Hoeffding’s Bound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If n increases, the probability of a large difference between empirical and true error decreases.</a:t>
            </a:r>
          </a:p>
          <a:p>
            <a:pPr>
              <a:spcAft>
                <a:spcPts val="800"/>
              </a:spcAft>
              <a:defRPr sz="2000"/>
            </a:pPr>
            <a:r>
              <a:t>If ε is made smaller, the desired error gap is tighter, making the guarantee more demanding.</a:t>
            </a:r>
          </a:p>
          <a:p>
            <a:pPr>
              <a:spcAft>
                <a:spcPts val="800"/>
              </a:spcAft>
              <a:defRPr sz="2000"/>
            </a:pPr>
            <a:r>
              <a:t>The inequality is a theoretical guarantee rather than a new training algorithm.</a:t>
            </a:r>
          </a:p>
          <a:p>
            <a:pPr>
              <a:spcAft>
                <a:spcPts val="800"/>
              </a:spcAft>
              <a:defRPr sz="2000"/>
            </a:pPr>
            <a:r>
              <a:t>It provides a mathematical reason for why more representative training data improves confidence in generalization.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3.7.4 Vapnik–Chervonenkis (VC) Dimension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VC dimension is used to characterize the complexity of a hypothesis/classifier, especially for an infinite hypothesis set.</a:t>
            </a:r>
          </a:p>
          <a:p>
            <a:pPr>
              <a:spcAft>
                <a:spcPts val="800"/>
              </a:spcAft>
              <a:defRPr sz="2000"/>
            </a:pPr>
            <a:r>
              <a:t>VC dimension is the maximum number of data points that can be shattered by the hypothesis class.</a:t>
            </a:r>
          </a:p>
          <a:p>
            <a:pPr>
              <a:spcAft>
                <a:spcPts val="800"/>
              </a:spcAft>
              <a:defRPr sz="2000"/>
            </a:pPr>
            <a:r>
              <a:t>Shattering means correctly realizing all possible binary labelings of those points.</a:t>
            </a:r>
          </a:p>
          <a:p>
            <a:pPr>
              <a:spcAft>
                <a:spcPts val="800"/>
              </a:spcAft>
              <a:defRPr sz="2000"/>
            </a:pPr>
            <a:r>
              <a:t>For n points, there are 2ⁿ possible positive/negative labelings.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VC(H) = maximum n such that H can shatter 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Shattering n points means all 2ⁿ binary labelings can be realized.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Shattering – 2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For two points, a linear classifier can realize all 2² = 4 binary labelings under suitable point placement.</a:t>
            </a:r>
          </a:p>
          <a:p>
            <a:pPr>
              <a:spcAft>
                <a:spcPts val="800"/>
              </a:spcAft>
              <a:defRPr sz="2000"/>
            </a:pPr>
            <a:r>
              <a:t>The concept is not simply separating one particular labeling; the classifier class must realize every possible labeling of the chosen points.</a:t>
            </a:r>
          </a:p>
          <a:p>
            <a:pPr>
              <a:spcAft>
                <a:spcPts val="800"/>
              </a:spcAft>
              <a:defRPr sz="2000"/>
            </a:pPr>
            <a:r>
              <a:t>This illustrates the basic idea behind VC dimension.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Shattering – 3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For three suitable points, a linear classifier can realize all 2³ = 8 binary labelings in the example discussed by the book.</a:t>
            </a:r>
          </a:p>
          <a:p>
            <a:pPr>
              <a:spcAft>
                <a:spcPts val="800"/>
              </a:spcAft>
              <a:defRPr sz="2000"/>
            </a:pPr>
            <a:r>
              <a:t>The ability to shatter more points indicates a more expressive hypothesis class.</a:t>
            </a:r>
          </a:p>
          <a:p>
            <a:pPr>
              <a:spcAft>
                <a:spcPts val="800"/>
              </a:spcAft>
              <a:defRPr sz="2000"/>
            </a:pPr>
            <a:r>
              <a:t>Other representations such as planes, hyperplanes, squares, rectangles and circles can shatter larger sets under suitable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VC Dimension and Model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More expressive/complex hypothesis classes generally have higher VC dimension.</a:t>
            </a:r>
          </a:p>
          <a:p>
            <a:pPr>
              <a:spcAft>
                <a:spcPts val="800"/>
              </a:spcAft>
              <a:defRPr sz="2000"/>
            </a:pPr>
            <a:r>
              <a:t>The book mentions perceptrons and SVMs as examples of complex learners capable of classifying more data configurations.</a:t>
            </a:r>
          </a:p>
          <a:p>
            <a:pPr>
              <a:spcAft>
                <a:spcPts val="800"/>
              </a:spcAft>
              <a:defRPr sz="2000"/>
            </a:pPr>
            <a:r>
              <a:t>VC dimension is used to derive generalization bounds for infinite hypothesis spaces.</a:t>
            </a:r>
          </a:p>
          <a:p>
            <a:pPr>
              <a:spcAft>
                <a:spcPts val="800"/>
              </a:spcAft>
              <a:defRPr sz="2000"/>
            </a:pPr>
            <a:r>
              <a:t>Model complexity therefore affects how much training data is needed for reliable generalization.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Learning Frameworks – Integrated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PAC learning asks whether a learner can find a hypothesis that is probably approximately correct.</a:t>
            </a:r>
          </a:p>
          <a:p>
            <a:pPr>
              <a:spcAft>
                <a:spcPts val="800"/>
              </a:spcAft>
              <a:defRPr sz="2000"/>
            </a:pPr>
            <a:r>
              <a:t>Sample complexity asks how many examples are needed.</a:t>
            </a:r>
          </a:p>
          <a:p>
            <a:pPr>
              <a:spcAft>
                <a:spcPts val="800"/>
              </a:spcAft>
              <a:defRPr sz="2000"/>
            </a:pPr>
            <a:r>
              <a:t>Computational complexity asks how much computation is needed.</a:t>
            </a:r>
          </a:p>
          <a:p>
            <a:pPr>
              <a:spcAft>
                <a:spcPts val="800"/>
              </a:spcAft>
              <a:defRPr sz="2000"/>
            </a:pPr>
            <a:r>
              <a:t>Hoeffding’s inequality links empirical error and generalization error probabilistically.</a:t>
            </a:r>
          </a:p>
          <a:p>
            <a:pPr>
              <a:spcAft>
                <a:spcPts val="800"/>
              </a:spcAft>
              <a:defRPr sz="2000"/>
            </a:pPr>
            <a:r>
              <a:t>VC dimension characterizes the expressive power of a hypothesis class for infinite hypothesis spaces.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Hypothesis class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05456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34056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Samples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99432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28032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Learn 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93408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22008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Error estimate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87384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15984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Generalization 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Exam-oriented Summary – Section 3.7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Define PAC learning and explain ε and δ.</a:t>
            </a:r>
          </a:p>
          <a:p>
            <a:pPr>
              <a:spcAft>
                <a:spcPts val="800"/>
              </a:spcAft>
              <a:defRPr sz="2000"/>
            </a:pPr>
            <a:r>
              <a:t>Derive/interpret sample-complexity dependence on |H|, ε and δ.</a:t>
            </a:r>
          </a:p>
          <a:p>
            <a:pPr>
              <a:spcAft>
                <a:spcPts val="800"/>
              </a:spcAft>
              <a:defRPr sz="2000"/>
            </a:pPr>
            <a:r>
              <a:t>Differentiate PAC and mistake-bound models.</a:t>
            </a:r>
          </a:p>
          <a:p>
            <a:pPr>
              <a:spcAft>
                <a:spcPts val="800"/>
              </a:spcAft>
              <a:defRPr sz="2000"/>
            </a:pPr>
            <a:r>
              <a:t>Differentiate finite and infinite hypothesis spaces.</a:t>
            </a:r>
          </a:p>
          <a:p>
            <a:pPr>
              <a:spcAft>
                <a:spcPts val="800"/>
              </a:spcAft>
              <a:defRPr sz="2000"/>
            </a:pPr>
            <a:r>
              <a:t>Define sample error and true error.</a:t>
            </a:r>
          </a:p>
          <a:p>
            <a:pPr>
              <a:spcAft>
                <a:spcPts val="800"/>
              </a:spcAft>
              <a:defRPr sz="2000"/>
            </a:pPr>
            <a:r>
              <a:t>Explain Hoeffding’s inequality and the role of n.</a:t>
            </a:r>
          </a:p>
          <a:p>
            <a:pPr>
              <a:spcAft>
                <a:spcPts val="800"/>
              </a:spcAft>
              <a:defRPr sz="2000"/>
            </a:pPr>
            <a:r>
              <a:t>Define VC dimension and explain shattering using 2-point/3-point examples.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 3.7, pp. 104–108  |  Slide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