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Chapter 5 – Regression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Detailed PPT for Sections 5.1, 5.2 and 5.3</a:t>
            </a:r>
          </a:p>
          <a:p>
            <a:pPr>
              <a:spcAft>
                <a:spcPts val="700"/>
              </a:spcAft>
              <a:defRPr sz="2000"/>
            </a:pPr>
            <a:r>
              <a:t>Introduction to Regression • Correlation, Regression &amp; Causation • Introduction to Linear Regression</a:t>
            </a:r>
          </a:p>
          <a:p>
            <a:pPr>
              <a:spcAft>
                <a:spcPts val="700"/>
              </a:spcAft>
              <a:defRPr sz="2000"/>
            </a:pPr>
            <a:r>
              <a:t>Includes concepts, equations, numerical problems, step-by-step solutions and exam-oriented questions</a:t>
            </a:r>
          </a:p>
          <a:p>
            <a:pPr>
              <a:spcAft>
                <a:spcPts val="700"/>
              </a:spcAft>
              <a:defRPr sz="2000"/>
            </a:pPr>
            <a:r>
              <a:t>Based on the uploaded S. Sridhar &amp; M. Vijayalakshmi textbook, Chapter 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Chapter 5 –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Understand regression as supervised learning for continuous/quantitative variables.</a:t>
            </a:r>
          </a:p>
          <a:p>
            <a:pPr>
              <a:spcAft>
                <a:spcPts val="700"/>
              </a:spcAft>
              <a:defRPr sz="2000"/>
            </a:pPr>
            <a:r>
              <a:t>Distinguish correlation, regression and causation.</a:t>
            </a:r>
          </a:p>
          <a:p>
            <a:pPr>
              <a:spcAft>
                <a:spcPts val="700"/>
              </a:spcAft>
              <a:defRPr sz="2000"/>
            </a:pPr>
            <a:r>
              <a:t>Identify linear and nonlinear relationships.</a:t>
            </a:r>
          </a:p>
          <a:p>
            <a:pPr>
              <a:spcAft>
                <a:spcPts val="700"/>
              </a:spcAft>
              <a:defRPr sz="2000"/>
            </a:pPr>
            <a:r>
              <a:t>Understand different regression methods.</a:t>
            </a:r>
          </a:p>
          <a:p>
            <a:pPr>
              <a:spcAft>
                <a:spcPts val="700"/>
              </a:spcAft>
              <a:defRPr sz="2000"/>
            </a:pPr>
            <a:r>
              <a:t>Explain limitations such as outliers, missing data and multicollinearity.</a:t>
            </a:r>
          </a:p>
          <a:p>
            <a:pPr>
              <a:spcAft>
                <a:spcPts val="700"/>
              </a:spcAft>
              <a:defRPr sz="2000"/>
            </a:pPr>
            <a:r>
              <a:t>Construct and interpret a simple linear regression model.</a:t>
            </a:r>
          </a:p>
          <a:p>
            <a:pPr>
              <a:spcAft>
                <a:spcPts val="700"/>
              </a:spcAft>
              <a:defRPr sz="2000"/>
            </a:pPr>
            <a:r>
              <a:t>Understand residuals and the OLS criterion.</a:t>
            </a:r>
          </a:p>
          <a:p>
            <a:pPr>
              <a:spcAft>
                <a:spcPts val="700"/>
              </a:spcAft>
              <a:defRPr sz="2000"/>
            </a:pPr>
            <a:r>
              <a:t>Calculate regression coefficients and make predictions.</a:t>
            </a:r>
          </a:p>
          <a:p>
            <a:pPr>
              <a:spcAft>
                <a:spcPts val="700"/>
              </a:spcAft>
              <a:defRPr sz="2000"/>
            </a:pPr>
            <a:r>
              <a:t>Represent linear regression using matrix notation.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5.1 Introduction to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Regression models the relationship between one or more independent/predictor variables and a dependent/response variable.</a:t>
            </a:r>
          </a:p>
          <a:p>
            <a:pPr>
              <a:spcAft>
                <a:spcPts val="700"/>
              </a:spcAft>
              <a:defRPr sz="2000"/>
            </a:pPr>
            <a:r>
              <a:t>Given training data D = {(xᵢ,yᵢ)}, regression learns a relationship that can be used for prediction.</a:t>
            </a:r>
          </a:p>
          <a:p>
            <a:pPr>
              <a:spcAft>
                <a:spcPts val="700"/>
              </a:spcAft>
              <a:defRPr sz="2000"/>
            </a:pPr>
            <a:r>
              <a:t>Independent variable: explanatory variable, predictor, covariate or input.</a:t>
            </a:r>
          </a:p>
          <a:p>
            <a:pPr>
              <a:spcAft>
                <a:spcPts val="700"/>
              </a:spcAft>
              <a:defRPr sz="2000"/>
            </a:pPr>
            <a:r>
              <a:t>Dependent variable: response, target or output.</a:t>
            </a:r>
          </a:p>
          <a:p>
            <a:pPr>
              <a:spcAft>
                <a:spcPts val="700"/>
              </a:spcAft>
              <a:defRPr sz="2000"/>
            </a:pPr>
            <a:r>
              <a:t>Regression is primarily used to predict continuous or quantitative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pp. 130–131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5.1 – Questions Addressed by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What is the relationship between variables?</a:t>
            </a:r>
          </a:p>
          <a:p>
            <a:pPr>
              <a:spcAft>
                <a:spcPts val="700"/>
              </a:spcAft>
              <a:defRPr sz="2000"/>
            </a:pPr>
            <a:r>
              <a:t>How strong is the relationship?</a:t>
            </a:r>
          </a:p>
          <a:p>
            <a:pPr>
              <a:spcAft>
                <a:spcPts val="700"/>
              </a:spcAft>
              <a:defRPr sz="2000"/>
            </a:pPr>
            <a:r>
              <a:t>Is the relationship linear or nonlinear?</a:t>
            </a:r>
          </a:p>
          <a:p>
            <a:pPr>
              <a:spcAft>
                <a:spcPts val="700"/>
              </a:spcAft>
              <a:defRPr sz="2000"/>
            </a:pPr>
            <a:r>
              <a:t>Which attributes are relevant?</a:t>
            </a:r>
          </a:p>
          <a:p>
            <a:pPr>
              <a:spcAft>
                <a:spcPts val="700"/>
              </a:spcAft>
              <a:defRPr sz="2000"/>
            </a:pPr>
            <a:r>
              <a:t>How much does each relevant attribute contribute?</a:t>
            </a:r>
          </a:p>
          <a:p>
            <a:pPr>
              <a:spcAft>
                <a:spcPts val="700"/>
              </a:spcAft>
              <a:defRPr sz="2000"/>
            </a:pPr>
            <a:r>
              <a:t>Can the learned relationship be used to predict a response for new input values?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pp. 130–131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5.1 – Regression Applications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92331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Response predicted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Sales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Sales/revenue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Bond 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Bond value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Premium/claim-related quantitative value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Agriculture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Crop yield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Real estate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Property price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General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Future quantitative measurement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1 – Identify Regression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Problem: A college wants to predict a student's final examination marks from attendance percentage.</a:t>
            </a:r>
          </a:p>
          <a:p>
            <a:pPr>
              <a:spcAft>
                <a:spcPts val="700"/>
              </a:spcAft>
              <a:defRPr sz="2000"/>
            </a:pPr>
            <a:r>
              <a:t>Identify the independent and dependent variables.</a:t>
            </a:r>
          </a:p>
          <a:p>
            <a:pPr>
              <a:spcAft>
                <a:spcPts val="700"/>
              </a:spcAft>
              <a:defRPr sz="2000"/>
            </a:pPr>
            <a:r>
              <a:t>State whether this is a regression problem.</a:t>
            </a:r>
          </a:p>
          <a:p>
            <a:pPr>
              <a:spcAft>
                <a:spcPts val="700"/>
              </a:spcAft>
              <a:defRPr sz="2000"/>
            </a:pPr>
            <a:r>
              <a:t>Suggest another possible predictor.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1 –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Independent/predictor variable x = attendance percentage.</a:t>
            </a:r>
          </a:p>
          <a:p>
            <a:pPr>
              <a:spcAft>
                <a:spcPts val="700"/>
              </a:spcAft>
              <a:defRPr sz="2000"/>
            </a:pPr>
            <a:r>
              <a:t>Dependent/response variable y = final examination marks.</a:t>
            </a:r>
          </a:p>
          <a:p>
            <a:pPr>
              <a:spcAft>
                <a:spcPts val="700"/>
              </a:spcAft>
              <a:defRPr sz="2000"/>
            </a:pPr>
            <a:r>
              <a:t>Yes. It is a regression problem because marks are quantitative/continuous.</a:t>
            </a:r>
          </a:p>
          <a:p>
            <a:pPr>
              <a:spcAft>
                <a:spcPts val="700"/>
              </a:spcAft>
              <a:defRPr sz="2000"/>
            </a:pPr>
            <a:r>
              <a:t>Another predictor could be internal assessment marks, study hours or assignment score.</a:t>
            </a:r>
          </a:p>
          <a:p>
            <a:pPr>
              <a:spcAft>
                <a:spcPts val="700"/>
              </a:spcAft>
              <a:defRPr sz="2000"/>
            </a:pPr>
            <a:r>
              <a:t>Example model: Marks = f(Attendance, Study Hours, Internal Marks).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2 – Regression or Classification?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Determine whether each task is regression or classification:</a:t>
            </a:r>
          </a:p>
          <a:p>
            <a:pPr lvl="1">
              <a:spcAft>
                <a:spcPts val="700"/>
              </a:spcAft>
              <a:defRPr sz="1800"/>
            </a:pPr>
            <a:r>
              <a:t>1. Predict house price from area and location.</a:t>
            </a:r>
          </a:p>
          <a:p>
            <a:pPr lvl="1">
              <a:spcAft>
                <a:spcPts val="700"/>
              </a:spcAft>
              <a:defRPr sz="1800"/>
            </a:pPr>
            <a:r>
              <a:t>2. Predict whether an email is spam or not spam.</a:t>
            </a:r>
          </a:p>
          <a:p>
            <a:pPr lvl="1">
              <a:spcAft>
                <a:spcPts val="700"/>
              </a:spcAft>
              <a:defRPr sz="1800"/>
            </a:pPr>
            <a:r>
              <a:t>3. Predict crop yield in tonnes/hectare.</a:t>
            </a:r>
          </a:p>
          <a:p>
            <a:pPr lvl="1">
              <a:spcAft>
                <a:spcPts val="700"/>
              </a:spcAft>
              <a:defRPr sz="1800"/>
            </a:pPr>
            <a:r>
              <a:t>4. Predict whether a customer will churn: Yes/No.</a:t>
            </a:r>
          </a:p>
          <a:p>
            <a:pPr lvl="1">
              <a:spcAft>
                <a:spcPts val="700"/>
              </a:spcAft>
              <a:defRPr sz="1800"/>
            </a:pPr>
            <a:r>
              <a:t>5. Predict monthly electricity consumption in kWh.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2 – Solution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8077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Reason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House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Continuous price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Spam/Not 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Categorical label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Crop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Quantitative value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Customer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Binary category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Electricity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Continuous quantity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5.1 – General Regression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Input/predictor variables X → Regression model → Response Y</a:t>
            </a:r>
          </a:p>
          <a:p>
            <a:pPr>
              <a:spcAft>
                <a:spcPts val="700"/>
              </a:spcAft>
              <a:defRPr sz="2000"/>
            </a:pPr>
            <a:r>
              <a:t>The model estimates a mathematical relationship between predictors and response.</a:t>
            </a:r>
          </a:p>
          <a:p>
            <a:pPr>
              <a:spcAft>
                <a:spcPts val="700"/>
              </a:spcAft>
              <a:defRPr sz="2000"/>
            </a:pPr>
            <a:r>
              <a:t>For a new predictor value, the learned relationship provides a predicted response.</a:t>
            </a:r>
          </a:p>
          <a:p>
            <a:pPr>
              <a:spcAft>
                <a:spcPts val="700"/>
              </a:spcAft>
              <a:defRPr sz="2000"/>
            </a:pPr>
            <a:r>
              <a:t>With one predictor: y = f(x).</a:t>
            </a:r>
          </a:p>
          <a:p>
            <a:pPr>
              <a:spcAft>
                <a:spcPts val="700"/>
              </a:spcAft>
              <a:defRPr sz="2000"/>
            </a:pPr>
            <a:r>
              <a:t>With several predictors: y = f(x₁,x₂,…,xₚ).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p. 130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5.2 Correlation, Regression and Causation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Correlation measures the strength and direction of association between variables.</a:t>
            </a:r>
          </a:p>
          <a:p>
            <a:pPr>
              <a:spcAft>
                <a:spcPts val="700"/>
              </a:spcAft>
              <a:defRPr sz="2000"/>
            </a:pPr>
            <a:r>
              <a:t>Regression models/predicts one variable using one or more variables.</a:t>
            </a:r>
          </a:p>
          <a:p>
            <a:pPr>
              <a:spcAft>
                <a:spcPts val="700"/>
              </a:spcAft>
              <a:defRPr sz="2000"/>
            </a:pPr>
            <a:r>
              <a:t>Causation asks whether a change in one variable actually produces a change in another.</a:t>
            </a:r>
          </a:p>
          <a:p>
            <a:pPr>
              <a:spcAft>
                <a:spcPts val="700"/>
              </a:spcAft>
              <a:defRPr sz="2000"/>
            </a:pPr>
            <a:r>
              <a:t>Correlation or regression alone does not establish causation.</a:t>
            </a:r>
          </a:p>
          <a:p>
            <a:pPr>
              <a:spcAft>
                <a:spcPts val="700"/>
              </a:spcAft>
              <a:defRPr sz="2000"/>
            </a:pPr>
            <a:r>
              <a:t>Scatter plots are useful for visually exploring relationships.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pp. 131–132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Correlation – Positive, Negative and Random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Positive relationship: as x increases, y tends to increase.</a:t>
            </a:r>
          </a:p>
          <a:p>
            <a:pPr>
              <a:spcAft>
                <a:spcPts val="700"/>
              </a:spcAft>
              <a:defRPr sz="2000"/>
            </a:pPr>
            <a:r>
              <a:t>Negative relationship: as x increases, y tends to decrease.</a:t>
            </a:r>
          </a:p>
          <a:p>
            <a:pPr>
              <a:spcAft>
                <a:spcPts val="700"/>
              </a:spcAft>
              <a:defRPr sz="2000"/>
            </a:pPr>
            <a:r>
              <a:t>Random/no clear relationship: points show no systematic trend.</a:t>
            </a:r>
          </a:p>
          <a:p>
            <a:pPr>
              <a:spcAft>
                <a:spcPts val="700"/>
              </a:spcAft>
              <a:defRPr sz="2000"/>
            </a:pPr>
            <a:r>
              <a:t>The Pearson correlation coefficient r is emphasized in the chapter.</a:t>
            </a:r>
          </a:p>
          <a:p>
            <a:pPr>
              <a:spcAft>
                <a:spcPts val="700"/>
              </a:spcAft>
              <a:defRPr sz="2000"/>
            </a:pPr>
            <a:r>
              <a:t>r indicates direction and strength of linear association.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pp. 131–132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Correlation Coefficient – Interpretation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92331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 value /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Perfect positive linear association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Close to 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Strong positive linear association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No linear association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Close to −1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Strong negative linear association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−1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Perfect negative linear association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Important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Correlation measures association; it does not prove causation.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3 – Calculate Pearson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Given x = [1,2,3,4,5]</a:t>
            </a:r>
          </a:p>
          <a:p>
            <a:pPr>
              <a:spcAft>
                <a:spcPts val="700"/>
              </a:spcAft>
              <a:defRPr sz="2000"/>
            </a:pPr>
            <a:r>
              <a:t>and y = [2,4,5,4,5].</a:t>
            </a:r>
          </a:p>
          <a:p>
            <a:pPr>
              <a:spcAft>
                <a:spcPts val="700"/>
              </a:spcAft>
              <a:defRPr sz="2000"/>
            </a:pPr>
            <a:r>
              <a:t>Use:</a:t>
            </a:r>
          </a:p>
          <a:p>
            <a:pPr lvl="1">
              <a:spcAft>
                <a:spcPts val="700"/>
              </a:spcAft>
              <a:defRPr sz="1800"/>
            </a:pPr>
            <a:r>
              <a:t>r = [nΣxy − ΣxΣy] / √[(nΣx²−(Σx)²)(nΣy²−(Σy)²)]</a:t>
            </a:r>
          </a:p>
          <a:p>
            <a:pPr>
              <a:spcAft>
                <a:spcPts val="700"/>
              </a:spcAft>
              <a:defRPr sz="2000"/>
            </a:pPr>
            <a:r>
              <a:t>Calculate r and interpret the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3 – Step 1: Calculate Required Sums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n = 5</a:t>
            </a:r>
          </a:p>
          <a:p>
            <a:pPr>
              <a:spcAft>
                <a:spcPts val="700"/>
              </a:spcAft>
              <a:defRPr sz="2000"/>
            </a:pPr>
            <a:r>
              <a:t>Σx = 15</a:t>
            </a:r>
          </a:p>
          <a:p>
            <a:pPr>
              <a:spcAft>
                <a:spcPts val="700"/>
              </a:spcAft>
              <a:defRPr sz="2000"/>
            </a:pPr>
            <a:r>
              <a:t>Σy = 20</a:t>
            </a:r>
          </a:p>
          <a:p>
            <a:pPr>
              <a:spcAft>
                <a:spcPts val="700"/>
              </a:spcAft>
              <a:defRPr sz="2000"/>
            </a:pPr>
            <a:r>
              <a:t>Σx² = 55</a:t>
            </a:r>
          </a:p>
          <a:p>
            <a:pPr>
              <a:spcAft>
                <a:spcPts val="700"/>
              </a:spcAft>
              <a:defRPr sz="2000"/>
            </a:pPr>
            <a:r>
              <a:t>Σy² = 4+16+25+16+25 = 86</a:t>
            </a:r>
          </a:p>
          <a:p>
            <a:pPr>
              <a:spcAft>
                <a:spcPts val="700"/>
              </a:spcAft>
              <a:defRPr sz="2000"/>
            </a:pPr>
            <a:r>
              <a:t>Σxy = 2+8+15+16+25 =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3 – Step 2: Calculate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Numerator = 5(66) − (15)(20) = 330 − 300 = 30.</a:t>
            </a:r>
          </a:p>
          <a:p>
            <a:pPr>
              <a:spcAft>
                <a:spcPts val="700"/>
              </a:spcAft>
              <a:defRPr sz="2000"/>
            </a:pPr>
            <a:r>
              <a:t>First denominator term = 5(55) − 15² = 275 − 225 = 50.</a:t>
            </a:r>
          </a:p>
          <a:p>
            <a:pPr>
              <a:spcAft>
                <a:spcPts val="700"/>
              </a:spcAft>
              <a:defRPr sz="2000"/>
            </a:pPr>
            <a:r>
              <a:t>Second denominator term = 5(86) − 20² = 430 − 400 = 30.</a:t>
            </a:r>
          </a:p>
          <a:p>
            <a:pPr>
              <a:spcAft>
                <a:spcPts val="700"/>
              </a:spcAft>
              <a:defRPr sz="2000"/>
            </a:pPr>
            <a:r>
              <a:t>Denominator = √(50×30) = √1500 ≈ 38.73.</a:t>
            </a:r>
          </a:p>
          <a:p>
            <a:pPr lvl="1">
              <a:spcAft>
                <a:spcPts val="700"/>
              </a:spcAft>
              <a:defRPr sz="1800"/>
            </a:pPr>
            <a:r>
              <a:t>r = 30/38.73 ≈ 0.775</a:t>
            </a:r>
          </a:p>
          <a:p>
            <a:pPr>
              <a:spcAft>
                <a:spcPts val="700"/>
              </a:spcAft>
              <a:defRPr sz="2000"/>
            </a:pPr>
            <a:r>
              <a:t>Interpretation: a moderately strong positive linear association exists.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Regression vs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Correlation is symmetric: correlation(x,y) = correlation(y,x).</a:t>
            </a:r>
          </a:p>
          <a:p>
            <a:pPr>
              <a:spcAft>
                <a:spcPts val="700"/>
              </a:spcAft>
              <a:defRPr sz="2000"/>
            </a:pPr>
            <a:r>
              <a:t>Regression is directional: one variable is modeled/predicted from another.</a:t>
            </a:r>
          </a:p>
          <a:p>
            <a:pPr>
              <a:spcAft>
                <a:spcPts val="700"/>
              </a:spcAft>
              <a:defRPr sz="2000"/>
            </a:pPr>
            <a:r>
              <a:t>Correlation summarizes association; regression provides an equation for prediction.</a:t>
            </a:r>
          </a:p>
          <a:p>
            <a:pPr>
              <a:spcAft>
                <a:spcPts val="700"/>
              </a:spcAft>
              <a:defRPr sz="2000"/>
            </a:pPr>
            <a:r>
              <a:t>High correlation can support a useful linear model, but it does not by itself prove causation.</a:t>
            </a:r>
          </a:p>
          <a:p>
            <a:pPr>
              <a:spcAft>
                <a:spcPts val="700"/>
              </a:spcAft>
              <a:defRPr sz="2000"/>
            </a:pPr>
            <a:r>
              <a:t>Regression coefficients depend on the chosen response and predictor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Regression vs Causation –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Suppose ice-cream sales and the number of people at a beach are positively correlated.</a:t>
            </a:r>
          </a:p>
          <a:p>
            <a:pPr>
              <a:spcAft>
                <a:spcPts val="700"/>
              </a:spcAft>
              <a:defRPr sz="2000"/>
            </a:pPr>
            <a:r>
              <a:t>One cannot conclude that ice-cream sales cause people to visit the beach.</a:t>
            </a:r>
          </a:p>
          <a:p>
            <a:pPr>
              <a:spcAft>
                <a:spcPts val="700"/>
              </a:spcAft>
              <a:defRPr sz="2000"/>
            </a:pPr>
            <a:r>
              <a:t>A third factor such as hot weather can influence both variables.</a:t>
            </a:r>
          </a:p>
          <a:p>
            <a:pPr>
              <a:spcAft>
                <a:spcPts val="700"/>
              </a:spcAft>
              <a:defRPr sz="2000"/>
            </a:pPr>
            <a:r>
              <a:t>Therefore, observed regression/correlation may reflect common or omitted factors.</a:t>
            </a:r>
          </a:p>
          <a:p>
            <a:pPr>
              <a:spcAft>
                <a:spcPts val="700"/>
              </a:spcAft>
              <a:defRPr sz="2000"/>
            </a:pPr>
            <a:r>
              <a:t>Domain knowledge and appropriate experimental/study design are required for causal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Linearity and Non-Linearity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Linear relationship: y = ax + b.</a:t>
            </a:r>
          </a:p>
          <a:p>
            <a:pPr>
              <a:spcAft>
                <a:spcPts val="700"/>
              </a:spcAft>
              <a:defRPr sz="2000"/>
            </a:pPr>
            <a:r>
              <a:t>Nonlinear relationships cannot always be represented adequately by a straight line.</a:t>
            </a:r>
          </a:p>
          <a:p>
            <a:pPr>
              <a:spcAft>
                <a:spcPts val="700"/>
              </a:spcAft>
              <a:defRPr sz="2000"/>
            </a:pPr>
            <a:r>
              <a:t>Examples given in the chapter include exponential relationships such as y = ae^(bx).</a:t>
            </a:r>
          </a:p>
          <a:p>
            <a:pPr>
              <a:spcAft>
                <a:spcPts val="700"/>
              </a:spcAft>
              <a:defRPr sz="2000"/>
            </a:pPr>
            <a:r>
              <a:t>Power relationships are another nonlinear form.</a:t>
            </a:r>
          </a:p>
          <a:p>
            <a:pPr>
              <a:spcAft>
                <a:spcPts val="700"/>
              </a:spcAft>
              <a:defRPr sz="2000"/>
            </a:pPr>
            <a:r>
              <a:t>The regression method should match the structure of the relationship.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pp. 132–133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4 – Identify the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For each model, identify whether the relationship is linear or nonlinear:</a:t>
            </a:r>
          </a:p>
          <a:p>
            <a:pPr lvl="1">
              <a:spcAft>
                <a:spcPts val="700"/>
              </a:spcAft>
              <a:defRPr sz="1800"/>
            </a:pPr>
            <a:r>
              <a:t>1. y = 4x + 7</a:t>
            </a:r>
          </a:p>
          <a:p>
            <a:pPr lvl="1">
              <a:spcAft>
                <a:spcPts val="700"/>
              </a:spcAft>
              <a:defRPr sz="1800"/>
            </a:pPr>
            <a:r>
              <a:t>2. y = 2e^(0.5x)</a:t>
            </a:r>
          </a:p>
          <a:p>
            <a:pPr lvl="1">
              <a:spcAft>
                <a:spcPts val="700"/>
              </a:spcAft>
              <a:defRPr sz="1800"/>
            </a:pPr>
            <a:r>
              <a:t>3. y = 3x² + 2x + 1</a:t>
            </a:r>
          </a:p>
          <a:p>
            <a:pPr lvl="1">
              <a:spcAft>
                <a:spcPts val="700"/>
              </a:spcAft>
              <a:defRPr sz="1800"/>
            </a:pPr>
            <a:r>
              <a:t>4. y = 5x + 2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4 – Solution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96926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Reason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y=4x+7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x has first-degree coefficient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y=2e^(0.5x)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Nonlinear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Exponential function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y=3x²+2x+1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Nonlinear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Contains x² term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y=5x+2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Straight-line form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Types of Regression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The chapter classifies regression methods into linear, nonlinear and logistic regression.</a:t>
            </a:r>
          </a:p>
          <a:p>
            <a:pPr>
              <a:spcAft>
                <a:spcPts val="700"/>
              </a:spcAft>
              <a:defRPr sz="2000"/>
            </a:pPr>
            <a:r>
              <a:t>Linear regression: one or more predictors with a linear relationship.</a:t>
            </a:r>
          </a:p>
          <a:p>
            <a:pPr>
              <a:spcAft>
                <a:spcPts val="700"/>
              </a:spcAft>
              <a:defRPr sz="2000"/>
            </a:pPr>
            <a:r>
              <a:t>Simple linear regression: one predictor.</a:t>
            </a:r>
          </a:p>
          <a:p>
            <a:pPr>
              <a:spcAft>
                <a:spcPts val="700"/>
              </a:spcAft>
              <a:defRPr sz="2000"/>
            </a:pPr>
            <a:r>
              <a:t>Multiple linear regression: two or more independent variables and one dependent variable.</a:t>
            </a:r>
          </a:p>
          <a:p>
            <a:pPr>
              <a:spcAft>
                <a:spcPts val="700"/>
              </a:spcAft>
              <a:defRPr sz="2000"/>
            </a:pPr>
            <a:r>
              <a:t>Polynomial regression: polynomial terms represent a curved relationship.</a:t>
            </a:r>
          </a:p>
          <a:p>
            <a:pPr>
              <a:spcAft>
                <a:spcPts val="700"/>
              </a:spcAft>
              <a:defRPr sz="2000"/>
            </a:pPr>
            <a:r>
              <a:t>Logistic regression: categorical/binary response; used as a regression-based classifier.</a:t>
            </a:r>
          </a:p>
          <a:p>
            <a:pPr>
              <a:spcAft>
                <a:spcPts val="700"/>
              </a:spcAft>
              <a:defRPr sz="2000"/>
            </a:pPr>
            <a:r>
              <a:t>Ridge and LASSO are regularized regression variants discussed later in the chapter.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p. 133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Regression Methods –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8077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Predictors /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Typical purpose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Simple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One predictor; y=a₀+a₁x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Continuous prediction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Multiple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Several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Continuous prediction using multiple factors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Polynomial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Polynomial 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Curved/nonlinear relationship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Logistic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Logit/sigmoid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Binary/categorical response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Ridge/LASSO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Penalized 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Regularized regression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5.2 – Limitations and Issues in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Outliers can strongly influence the fitted regression line.</a:t>
            </a:r>
          </a:p>
          <a:p>
            <a:pPr>
              <a:spcAft>
                <a:spcPts val="700"/>
              </a:spcAft>
              <a:defRPr sz="2000"/>
            </a:pPr>
            <a:r>
              <a:t>Missing data may make a model unsuitable for the sampled dataset.</a:t>
            </a:r>
          </a:p>
          <a:p>
            <a:pPr>
              <a:spcAft>
                <a:spcPts val="700"/>
              </a:spcAft>
              <a:defRPr sz="2000"/>
            </a:pPr>
            <a:r>
              <a:t>Multicollinearity occurs when explanatory variables are highly correlated with one another.</a:t>
            </a:r>
          </a:p>
          <a:p>
            <a:pPr>
              <a:spcAft>
                <a:spcPts val="700"/>
              </a:spcAft>
              <a:defRPr sz="2000"/>
            </a:pPr>
            <a:r>
              <a:t>Multicollinearity can bias/unstabilize regression coefficients.</a:t>
            </a:r>
          </a:p>
          <a:p>
            <a:pPr>
              <a:spcAft>
                <a:spcPts val="700"/>
              </a:spcAft>
              <a:defRPr sz="2000"/>
            </a:pPr>
            <a:r>
              <a:t>The chapter mentions removing problematic variables and using tolerance as part of addressing this issue.</a:t>
            </a:r>
          </a:p>
          <a:p>
            <a:pPr>
              <a:spcAft>
                <a:spcPts val="700"/>
              </a:spcAft>
              <a:defRPr sz="2000"/>
            </a:pPr>
            <a:r>
              <a:t>A rule of thumb stated in the text is at least about 20 cases per explanatory variable, with fewer only in extreme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p. 133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5 – Detect a Potential Outlier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Suppose a fitted model predicts salaries:</a:t>
            </a:r>
          </a:p>
          <a:p>
            <a:pPr lvl="1">
              <a:spcAft>
                <a:spcPts val="700"/>
              </a:spcAft>
              <a:defRPr sz="1800"/>
            </a:pPr>
            <a:r>
              <a:t>ŷ = 20 + 3x</a:t>
            </a:r>
          </a:p>
          <a:p>
            <a:pPr>
              <a:spcAft>
                <a:spcPts val="700"/>
              </a:spcAft>
              <a:defRPr sz="2000"/>
            </a:pPr>
            <a:r>
              <a:t>For x = 5, predicted salary = 35.</a:t>
            </a:r>
          </a:p>
          <a:p>
            <a:pPr>
              <a:spcAft>
                <a:spcPts val="700"/>
              </a:spcAft>
              <a:defRPr sz="2000"/>
            </a:pPr>
            <a:r>
              <a:t>Observed salary is 80.</a:t>
            </a:r>
          </a:p>
          <a:p>
            <a:pPr>
              <a:spcAft>
                <a:spcPts val="700"/>
              </a:spcAft>
              <a:defRPr sz="2000"/>
            </a:pPr>
            <a:r>
              <a:t>Find the residual and explain why the observation may need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5 –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Predicted salary: ŷ = 20 + 3(5) = 35.</a:t>
            </a:r>
          </a:p>
          <a:p>
            <a:pPr>
              <a:spcAft>
                <a:spcPts val="700"/>
              </a:spcAft>
              <a:defRPr sz="2000"/>
            </a:pPr>
            <a:r>
              <a:t>Residual = y − ŷ = 80 − 35 = +45.</a:t>
            </a:r>
          </a:p>
          <a:p>
            <a:pPr>
              <a:spcAft>
                <a:spcPts val="700"/>
              </a:spcAft>
              <a:defRPr sz="2000"/>
            </a:pPr>
            <a:r>
              <a:t>The residual is very large compared with the prediction.</a:t>
            </a:r>
          </a:p>
          <a:p>
            <a:pPr>
              <a:spcAft>
                <a:spcPts val="700"/>
              </a:spcAft>
              <a:defRPr sz="2000"/>
            </a:pPr>
            <a:r>
              <a:t>Such an observation may be an outlier or may indicate an omitted explanatory factor.</a:t>
            </a:r>
          </a:p>
          <a:p>
            <a:pPr>
              <a:spcAft>
                <a:spcPts val="700"/>
              </a:spcAft>
              <a:defRPr sz="2000"/>
            </a:pPr>
            <a:r>
              <a:t>Outliers should be investigated rather than automatically deleted.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5.3 Introduction to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Simple linear regression fits a straight line through scattered data points.</a:t>
            </a:r>
          </a:p>
          <a:p>
            <a:pPr>
              <a:spcAft>
                <a:spcPts val="700"/>
              </a:spcAft>
              <a:defRPr sz="2000"/>
            </a:pPr>
            <a:r>
              <a:t>Model: y = a₀ + a₁x + ε.</a:t>
            </a:r>
          </a:p>
          <a:p>
            <a:pPr>
              <a:spcAft>
                <a:spcPts val="700"/>
              </a:spcAft>
              <a:defRPr sz="2000"/>
            </a:pPr>
            <a:r>
              <a:t>a₀ = intercept; a₁ = slope; ε = prediction error.</a:t>
            </a:r>
          </a:p>
          <a:p>
            <a:pPr>
              <a:spcAft>
                <a:spcPts val="700"/>
              </a:spcAft>
              <a:defRPr sz="2000"/>
            </a:pPr>
            <a:r>
              <a:t>Predicted response: ŷ = a₀ + a₁x.</a:t>
            </a:r>
          </a:p>
          <a:p>
            <a:pPr>
              <a:spcAft>
                <a:spcPts val="700"/>
              </a:spcAft>
              <a:defRPr sz="2000"/>
            </a:pPr>
            <a:r>
              <a:t>The objective is to obtain coefficients giving the best fit under the selected criterion.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pp. 133–138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Components of the Linear Regression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92331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Input variable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Observed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Actual output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Predicted y at x=0, if meaningful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Change in predicted y for one-unit x increase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Random deviation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Predicted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Fitted model output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Assumptions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Observations are treated as random and mutually independent.</a:t>
            </a:r>
          </a:p>
          <a:p>
            <a:pPr>
              <a:spcAft>
                <a:spcPts val="700"/>
              </a:spcAft>
              <a:defRPr sz="2000"/>
            </a:pPr>
            <a:r>
              <a:t>The relationship between predictor and response is represented by a linear model.</a:t>
            </a:r>
          </a:p>
          <a:p>
            <a:pPr>
              <a:spcAft>
                <a:spcPts val="700"/>
              </a:spcAft>
              <a:defRPr sz="2000"/>
            </a:pPr>
            <a:r>
              <a:t>Errors are treated as mutually independent with a common distribution.</a:t>
            </a:r>
          </a:p>
          <a:p>
            <a:pPr>
              <a:spcAft>
                <a:spcPts val="700"/>
              </a:spcAft>
              <a:defRPr sz="2000"/>
            </a:pPr>
            <a:r>
              <a:t>The chapter discusses normal errors with zero mean and constant variance.</a:t>
            </a:r>
          </a:p>
          <a:p>
            <a:pPr>
              <a:spcAft>
                <a:spcPts val="700"/>
              </a:spcAft>
              <a:defRPr sz="2000"/>
            </a:pPr>
            <a:r>
              <a:t>Unknown regression parameters are treated as constants.</a:t>
            </a:r>
          </a:p>
          <a:p>
            <a:pPr>
              <a:spcAft>
                <a:spcPts val="700"/>
              </a:spcAft>
              <a:defRPr sz="2000"/>
            </a:pPr>
            <a:r>
              <a:t>These assumptions should be examined when applying the model to real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pp. 133–134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Residuals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Residual: eᵢ = yᵢ − ŷᵢ.</a:t>
            </a:r>
          </a:p>
          <a:p>
            <a:pPr>
              <a:spcAft>
                <a:spcPts val="700"/>
              </a:spcAft>
              <a:defRPr sz="2000"/>
            </a:pPr>
            <a:r>
              <a:t>Positive residual means the observed value is above the fitted line.</a:t>
            </a:r>
          </a:p>
          <a:p>
            <a:pPr>
              <a:spcAft>
                <a:spcPts val="700"/>
              </a:spcAft>
              <a:defRPr sz="2000"/>
            </a:pPr>
            <a:r>
              <a:t>Negative residual means the observed value is below the fitted line.</a:t>
            </a:r>
          </a:p>
          <a:p>
            <a:pPr>
              <a:spcAft>
                <a:spcPts val="700"/>
              </a:spcAft>
              <a:defRPr sz="2000"/>
            </a:pPr>
            <a:r>
              <a:t>Zero residual means the prediction exactly equals the observation.</a:t>
            </a:r>
          </a:p>
          <a:p>
            <a:pPr>
              <a:spcAft>
                <a:spcPts val="700"/>
              </a:spcAft>
              <a:defRPr sz="2000"/>
            </a:pPr>
            <a:r>
              <a:t>Residuals are the basis for evaluating the fit and constructing the OLS objective.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pp. 134–135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Why Squared Errors?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Raw errors can cancel: +4 − 3 + 2 − 3 = 0.</a:t>
            </a:r>
          </a:p>
          <a:p>
            <a:pPr>
              <a:spcAft>
                <a:spcPts val="700"/>
              </a:spcAft>
              <a:defRPr sz="2000"/>
            </a:pPr>
            <a:r>
              <a:t>A zero sum does not imply perfect prediction.</a:t>
            </a:r>
          </a:p>
          <a:p>
            <a:pPr>
              <a:spcAft>
                <a:spcPts val="700"/>
              </a:spcAft>
              <a:defRPr sz="2000"/>
            </a:pPr>
            <a:r>
              <a:t>Absolute errors avoid cancellation but do not penalize large errors as strongly.</a:t>
            </a:r>
          </a:p>
          <a:p>
            <a:pPr>
              <a:spcAft>
                <a:spcPts val="700"/>
              </a:spcAft>
              <a:defRPr sz="2000"/>
            </a:pPr>
            <a:r>
              <a:t>Squared errors are always non-negative and give greater weight to large deviations.</a:t>
            </a:r>
          </a:p>
          <a:p>
            <a:pPr>
              <a:spcAft>
                <a:spcPts val="700"/>
              </a:spcAft>
              <a:defRPr sz="2000"/>
            </a:pPr>
            <a:r>
              <a:t>OLS therefore minimizes the sum of squared residuals.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Ordinary Least Squares (OLS)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OLS chooses a₀ and a₁ to minimize:</a:t>
            </a:r>
          </a:p>
          <a:p>
            <a:pPr lvl="1">
              <a:spcAft>
                <a:spcPts val="700"/>
              </a:spcAft>
              <a:defRPr sz="1800"/>
            </a:pPr>
            <a:r>
              <a:t>J(a₀,a₁) = Σ[yᵢ − (a₀ + a₁xᵢ)]²</a:t>
            </a:r>
          </a:p>
          <a:p>
            <a:pPr>
              <a:spcAft>
                <a:spcPts val="700"/>
              </a:spcAft>
              <a:defRPr sz="2000"/>
            </a:pPr>
            <a:r>
              <a:t>The fitted line is called the line of best fit under the OLS criterion.</a:t>
            </a:r>
          </a:p>
          <a:p>
            <a:pPr>
              <a:spcAft>
                <a:spcPts val="700"/>
              </a:spcAft>
              <a:defRPr sz="2000"/>
            </a:pPr>
            <a:r>
              <a:t>Differentiate the objective with respect to a₀ and a₁.</a:t>
            </a:r>
          </a:p>
          <a:p>
            <a:pPr>
              <a:spcAft>
                <a:spcPts val="700"/>
              </a:spcAft>
              <a:defRPr sz="2000"/>
            </a:pPr>
            <a:r>
              <a:t>Set both derivatives to zero and solve the normal equations.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pp. 134–136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Simple Linear Regression – Formulae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Slope: a₁ = [Σxᵢyᵢ − n x̄ȳ] / [Σxᵢ² − n x̄²]</a:t>
            </a:r>
          </a:p>
          <a:p>
            <a:pPr>
              <a:spcAft>
                <a:spcPts val="700"/>
              </a:spcAft>
              <a:defRPr sz="2000"/>
            </a:pPr>
            <a:r>
              <a:t>Equivalent centered form: a₁ = Σ(xᵢ−x̄)(yᵢ−ȳ) / Σ(xᵢ−x̄)²</a:t>
            </a:r>
          </a:p>
          <a:p>
            <a:pPr>
              <a:spcAft>
                <a:spcPts val="700"/>
              </a:spcAft>
              <a:defRPr sz="2000"/>
            </a:pPr>
            <a:r>
              <a:t>Intercept: a₀ = ȳ − a₁x̄</a:t>
            </a:r>
          </a:p>
          <a:p>
            <a:pPr>
              <a:spcAft>
                <a:spcPts val="700"/>
              </a:spcAft>
              <a:defRPr sz="2000"/>
            </a:pPr>
            <a:r>
              <a:t>Prediction: ŷ = a₀ + a₁x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6 – Complete Textbook-Style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Given x = 1,2,3,4,5 and y = 1.2,1.8,2.6,3.2,3.8.</a:t>
            </a:r>
          </a:p>
          <a:p>
            <a:pPr>
              <a:spcAft>
                <a:spcPts val="700"/>
              </a:spcAft>
              <a:defRPr sz="2000"/>
            </a:pPr>
            <a:r>
              <a:t>Find the regression equation.</a:t>
            </a:r>
          </a:p>
          <a:p>
            <a:pPr>
              <a:spcAft>
                <a:spcPts val="700"/>
              </a:spcAft>
              <a:defRPr sz="2000"/>
            </a:pPr>
            <a:r>
              <a:t>Then predict y for x = 7 and x = 12.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worked example, pp. 135–136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6 – Calculation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692331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x²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xy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1.2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3.6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7.8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12.8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19.0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Σx=15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Σy=12.6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Σx²=55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Σxy=44.4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6 – Solution: Slope and Intercept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n = 5, x̄ = 15/5 = 3, ȳ = 12.6/5 = 2.52.</a:t>
            </a:r>
          </a:p>
          <a:p>
            <a:pPr>
              <a:spcAft>
                <a:spcPts val="700"/>
              </a:spcAft>
              <a:defRPr sz="2000"/>
            </a:pPr>
            <a:r>
              <a:t>a₁ = [44.4 − 5(3)(2.52)]/[55 − 5(3²)]</a:t>
            </a:r>
          </a:p>
          <a:p>
            <a:pPr lvl="1">
              <a:spcAft>
                <a:spcPts val="700"/>
              </a:spcAft>
              <a:defRPr sz="1800"/>
            </a:pPr>
            <a:r>
              <a:t>= 6.6/10 = 0.66</a:t>
            </a:r>
          </a:p>
          <a:p>
            <a:pPr>
              <a:spcAft>
                <a:spcPts val="700"/>
              </a:spcAft>
              <a:defRPr sz="2000"/>
            </a:pPr>
            <a:r>
              <a:t>a₀ = ȳ − a₁x̄ = 2.52 − (0.66)(3) = 0.54.</a:t>
            </a:r>
          </a:p>
          <a:p>
            <a:pPr lvl="1">
              <a:spcAft>
                <a:spcPts val="700"/>
              </a:spcAft>
              <a:defRPr sz="1800"/>
            </a:pPr>
            <a:r>
              <a:t>Regression equation: ŷ = 0.54 + 0.66x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6 –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For x = 7:</a:t>
            </a:r>
          </a:p>
          <a:p>
            <a:pPr lvl="1">
              <a:spcAft>
                <a:spcPts val="700"/>
              </a:spcAft>
              <a:defRPr sz="1800"/>
            </a:pPr>
            <a:r>
              <a:t>ŷ = 0.54 + 0.66(7) = 5.16</a:t>
            </a:r>
          </a:p>
          <a:p>
            <a:pPr>
              <a:spcAft>
                <a:spcPts val="700"/>
              </a:spcAft>
              <a:defRPr sz="2000"/>
            </a:pPr>
            <a:r>
              <a:t>For x = 12:</a:t>
            </a:r>
          </a:p>
          <a:p>
            <a:pPr lvl="1">
              <a:spcAft>
                <a:spcPts val="700"/>
              </a:spcAft>
              <a:defRPr sz="1800"/>
            </a:pPr>
            <a:r>
              <a:t>ŷ = 0.54 + 0.66(12) = 8.46</a:t>
            </a:r>
          </a:p>
          <a:p>
            <a:pPr>
              <a:spcAft>
                <a:spcPts val="700"/>
              </a:spcAft>
              <a:defRPr sz="2000"/>
            </a:pPr>
            <a:r>
              <a:t>Interpretation: slope 0.66 means predicted y increases by 0.66 for every one-unit increase in 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7 – Compare Two Candidate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Data: (1,3), (2,5), (3,7).</a:t>
            </a:r>
          </a:p>
          <a:p>
            <a:pPr lvl="1">
              <a:spcAft>
                <a:spcPts val="700"/>
              </a:spcAft>
              <a:defRPr sz="1800"/>
            </a:pPr>
            <a:r>
              <a:t>Line A: ŷ = 1 + 2x → predictions 3,5,7 → SSE = 0.</a:t>
            </a:r>
          </a:p>
          <a:p>
            <a:pPr lvl="1">
              <a:spcAft>
                <a:spcPts val="700"/>
              </a:spcAft>
              <a:defRPr sz="1800"/>
            </a:pPr>
            <a:r>
              <a:t>Line B: ŷ = 2 + 1.5x → predictions 3.5,5,6.5 → SSE = 0.50.</a:t>
            </a:r>
          </a:p>
          <a:p>
            <a:pPr>
              <a:spcAft>
                <a:spcPts val="700"/>
              </a:spcAft>
              <a:defRPr sz="2000"/>
            </a:pPr>
            <a:r>
              <a:t>Since SSE(A) &lt; SSE(B), Line A is better under 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8 – Residual, SSE, MSE and RMSE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Actual y = [10,12,15,18]</a:t>
            </a:r>
          </a:p>
          <a:p>
            <a:pPr>
              <a:spcAft>
                <a:spcPts val="700"/>
              </a:spcAft>
              <a:defRPr sz="2000"/>
            </a:pPr>
            <a:r>
              <a:t>Predicted ŷ = [11,11,14,20]</a:t>
            </a:r>
          </a:p>
          <a:p>
            <a:pPr lvl="1">
              <a:spcAft>
                <a:spcPts val="700"/>
              </a:spcAft>
              <a:defRPr sz="1800"/>
            </a:pPr>
            <a:r>
              <a:t>Residuals = [−1,+1,+1,−2]</a:t>
            </a:r>
          </a:p>
          <a:p>
            <a:pPr lvl="1">
              <a:spcAft>
                <a:spcPts val="700"/>
              </a:spcAft>
              <a:defRPr sz="1800"/>
            </a:pPr>
            <a:r>
              <a:t>SSE = 1+1+1+4 = 7</a:t>
            </a:r>
          </a:p>
          <a:p>
            <a:pPr lvl="1">
              <a:spcAft>
                <a:spcPts val="700"/>
              </a:spcAft>
              <a:defRPr sz="1800"/>
            </a:pPr>
            <a:r>
              <a:t>MSE = 7/4 = 1.75</a:t>
            </a:r>
          </a:p>
          <a:p>
            <a:pPr lvl="1">
              <a:spcAft>
                <a:spcPts val="700"/>
              </a:spcAft>
              <a:defRPr sz="1800"/>
            </a:pPr>
            <a:r>
              <a:t>RMSE = √1.75 ≈ 1.323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Linear Regression in Matrix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Y = Xα + ε</a:t>
            </a:r>
          </a:p>
          <a:p>
            <a:pPr>
              <a:spcAft>
                <a:spcPts val="700"/>
              </a:spcAft>
              <a:defRPr sz="2000"/>
            </a:pPr>
            <a:r>
              <a:t>Y = response vector.</a:t>
            </a:r>
          </a:p>
          <a:p>
            <a:pPr>
              <a:spcAft>
                <a:spcPts val="700"/>
              </a:spcAft>
              <a:defRPr sz="2000"/>
            </a:pPr>
            <a:r>
              <a:t>X = design matrix with a column of 1s for the intercept.</a:t>
            </a:r>
          </a:p>
          <a:p>
            <a:pPr>
              <a:spcAft>
                <a:spcPts val="700"/>
              </a:spcAft>
              <a:defRPr sz="2000"/>
            </a:pPr>
            <a:r>
              <a:t>α = coefficient vector [a₀,a₁]ᵀ.</a:t>
            </a:r>
          </a:p>
          <a:p>
            <a:pPr>
              <a:spcAft>
                <a:spcPts val="700"/>
              </a:spcAft>
              <a:defRPr sz="2000"/>
            </a:pPr>
            <a:r>
              <a:t>ε = error vector.</a:t>
            </a:r>
          </a:p>
          <a:p>
            <a:pPr>
              <a:spcAft>
                <a:spcPts val="700"/>
              </a:spcAft>
              <a:defRPr sz="2000"/>
            </a:pPr>
            <a:r>
              <a:t>OLS estimate: α̂ = (XᵀX)⁻¹XᵀY, when the inverse exists.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Textbook pp. 137–138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Problem 9 – Matrix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For x = 1,2,3 and y = 2,4,5:</a:t>
            </a:r>
          </a:p>
          <a:p>
            <a:pPr lvl="1">
              <a:spcAft>
                <a:spcPts val="700"/>
              </a:spcAft>
              <a:defRPr sz="1800"/>
            </a:pPr>
            <a:r>
              <a:t>X = [[1,1],[1,2],[1,3]]</a:t>
            </a:r>
          </a:p>
          <a:p>
            <a:pPr lvl="1">
              <a:spcAft>
                <a:spcPts val="700"/>
              </a:spcAft>
              <a:defRPr sz="1800"/>
            </a:pPr>
            <a:r>
              <a:t>Y = [[2],[4],[5]]</a:t>
            </a:r>
          </a:p>
          <a:p>
            <a:pPr lvl="1">
              <a:spcAft>
                <a:spcPts val="700"/>
              </a:spcAft>
              <a:defRPr sz="1800"/>
            </a:pPr>
            <a:r>
              <a:t>XᵀX = [[3,6],[6,14]]</a:t>
            </a:r>
          </a:p>
          <a:p>
            <a:pPr lvl="1">
              <a:spcAft>
                <a:spcPts val="700"/>
              </a:spcAft>
              <a:defRPr sz="1800"/>
            </a:pPr>
            <a:r>
              <a:t>XᵀY = [[11],[25]]</a:t>
            </a:r>
          </a:p>
          <a:p>
            <a:pPr lvl="1">
              <a:spcAft>
                <a:spcPts val="700"/>
              </a:spcAft>
              <a:defRPr sz="1800"/>
            </a:pPr>
            <a:r>
              <a:t>(XᵀX)⁻¹ = (1/6)[[14,−6],[−6,3]]</a:t>
            </a:r>
          </a:p>
          <a:p>
            <a:pPr lvl="1">
              <a:spcAft>
                <a:spcPts val="700"/>
              </a:spcAft>
              <a:defRPr sz="1800"/>
            </a:pPr>
            <a:r>
              <a:t>α̂ = [[0.6667],[1.5]]</a:t>
            </a:r>
          </a:p>
          <a:p>
            <a:pPr lvl="1">
              <a:spcAft>
                <a:spcPts val="700"/>
              </a:spcAft>
              <a:defRPr sz="1800"/>
            </a:pPr>
            <a:r>
              <a:t>Therefore ŷ ≈ 0.667 + 1.5x.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Integrated Problem – From Data to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Given x = [2,4,6,8] and y = [5,9,12,17].</a:t>
            </a:r>
          </a:p>
          <a:p>
            <a:pPr>
              <a:spcAft>
                <a:spcPts val="700"/>
              </a:spcAft>
              <a:defRPr sz="2000"/>
            </a:pPr>
            <a:r>
              <a:t>Given x̄=5, ȳ=10.75, Σ(x−x̄)(y−ȳ)=39 and Σ(x−x̄)²=20.</a:t>
            </a:r>
          </a:p>
          <a:p>
            <a:pPr lvl="1">
              <a:spcAft>
                <a:spcPts val="700"/>
              </a:spcAft>
              <a:defRPr sz="1800"/>
            </a:pPr>
            <a:r>
              <a:t>a₁ = 39/20 = 1.95</a:t>
            </a:r>
          </a:p>
          <a:p>
            <a:pPr lvl="1">
              <a:spcAft>
                <a:spcPts val="700"/>
              </a:spcAft>
              <a:defRPr sz="1800"/>
            </a:pPr>
            <a:r>
              <a:t>a₀ = 10.75 − 1.95(5) = 1.00</a:t>
            </a:r>
          </a:p>
          <a:p>
            <a:pPr lvl="1">
              <a:spcAft>
                <a:spcPts val="700"/>
              </a:spcAft>
              <a:defRPr sz="1800"/>
            </a:pPr>
            <a:r>
              <a:t>Regression equation: ŷ = 1 + 1.95x</a:t>
            </a:r>
          </a:p>
          <a:p>
            <a:pPr lvl="1">
              <a:spcAft>
                <a:spcPts val="700"/>
              </a:spcAft>
              <a:defRPr sz="1800"/>
            </a:pPr>
            <a:r>
              <a:t>For x=10, ŷ=20.5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5.1–5.3 Integrated 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Regression → predicts quantitative response.</a:t>
            </a:r>
          </a:p>
          <a:p>
            <a:pPr lvl="1">
              <a:spcAft>
                <a:spcPts val="700"/>
              </a:spcAft>
              <a:defRPr sz="1800"/>
            </a:pPr>
            <a:r>
              <a:t>5.1: What is regression? Applications, predictors and response.</a:t>
            </a:r>
          </a:p>
          <a:p>
            <a:pPr lvl="1">
              <a:spcAft>
                <a:spcPts val="700"/>
              </a:spcAft>
              <a:defRPr sz="1800"/>
            </a:pPr>
            <a:r>
              <a:t>5.2: How are correlation, regression and causation different?</a:t>
            </a:r>
          </a:p>
          <a:p>
            <a:pPr lvl="1">
              <a:spcAft>
                <a:spcPts val="700"/>
              </a:spcAft>
              <a:defRPr sz="1800"/>
            </a:pPr>
            <a:r>
              <a:t>5.2: Linear vs nonlinear relationships; types and limitations.</a:t>
            </a:r>
          </a:p>
          <a:p>
            <a:pPr lvl="1">
              <a:spcAft>
                <a:spcPts val="700"/>
              </a:spcAft>
              <a:defRPr sz="1800"/>
            </a:pPr>
            <a:r>
              <a:t>5.3: Simple linear regression, residuals, OLS, coefficients and prediction.</a:t>
            </a:r>
          </a:p>
          <a:p>
            <a:pPr lvl="1">
              <a:spcAft>
                <a:spcPts val="700"/>
              </a:spcAft>
              <a:defRPr sz="1800"/>
            </a:pPr>
            <a:r>
              <a:t>5.3: Matrix formulation provides a compact general representation.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Important Formula Sheet – 5.1 to 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Regression: y = f(x).</a:t>
            </a:r>
          </a:p>
          <a:p>
            <a:pPr>
              <a:spcAft>
                <a:spcPts val="700"/>
              </a:spcAft>
              <a:defRPr sz="2000"/>
            </a:pPr>
            <a:r>
              <a:t>Linear model: y = a₀ + a₁x + ε.</a:t>
            </a:r>
          </a:p>
          <a:p>
            <a:pPr>
              <a:spcAft>
                <a:spcPts val="700"/>
              </a:spcAft>
              <a:defRPr sz="2000"/>
            </a:pPr>
            <a:r>
              <a:t>Prediction: ŷ = a₀ + a₁x.</a:t>
            </a:r>
          </a:p>
          <a:p>
            <a:pPr>
              <a:spcAft>
                <a:spcPts val="700"/>
              </a:spcAft>
              <a:defRPr sz="2000"/>
            </a:pPr>
            <a:r>
              <a:t>Residual: eᵢ = yᵢ − ŷᵢ.</a:t>
            </a:r>
          </a:p>
          <a:p>
            <a:pPr>
              <a:spcAft>
                <a:spcPts val="700"/>
              </a:spcAft>
              <a:defRPr sz="2000"/>
            </a:pPr>
            <a:r>
              <a:t>OLS: J = Σ[yᵢ − (a₀+a₁xᵢ)]².</a:t>
            </a:r>
          </a:p>
          <a:p>
            <a:pPr>
              <a:spcAft>
                <a:spcPts val="700"/>
              </a:spcAft>
              <a:defRPr sz="2000"/>
            </a:pPr>
            <a:r>
              <a:t>Slope: a₁ = [Σxy − n x̄ȳ]/[Σx² − n x̄²].</a:t>
            </a:r>
          </a:p>
          <a:p>
            <a:pPr>
              <a:spcAft>
                <a:spcPts val="700"/>
              </a:spcAft>
              <a:defRPr sz="2000"/>
            </a:pPr>
            <a:r>
              <a:t>Intercept: a₀ = ȳ − a₁x̄.</a:t>
            </a:r>
          </a:p>
          <a:p>
            <a:pPr>
              <a:spcAft>
                <a:spcPts val="700"/>
              </a:spcAft>
              <a:defRPr sz="2000"/>
            </a:pPr>
            <a:r>
              <a:t>Pearson r = [nΣxy−ΣxΣy]/√[(nΣx²−(Σx)²)(nΣy²−(Σy)²)].</a:t>
            </a:r>
          </a:p>
          <a:p>
            <a:pPr>
              <a:spcAft>
                <a:spcPts val="700"/>
              </a:spcAft>
              <a:defRPr sz="2000"/>
            </a:pPr>
            <a:r>
              <a:t>Matrix OLS: α̂ = (XᵀX)⁻¹XᵀY.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Common Student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Calling every prediction problem regression even when the target is categorical.</a:t>
            </a:r>
          </a:p>
          <a:p>
            <a:pPr>
              <a:spcAft>
                <a:spcPts val="700"/>
              </a:spcAft>
              <a:defRPr sz="2000"/>
            </a:pPr>
            <a:r>
              <a:t>Confusing correlation with regression.</a:t>
            </a:r>
          </a:p>
          <a:p>
            <a:pPr>
              <a:spcAft>
                <a:spcPts val="700"/>
              </a:spcAft>
              <a:defRPr sz="2000"/>
            </a:pPr>
            <a:r>
              <a:t>Assuming correlation/regression proves causation.</a:t>
            </a:r>
          </a:p>
          <a:p>
            <a:pPr>
              <a:spcAft>
                <a:spcPts val="700"/>
              </a:spcAft>
              <a:defRPr sz="2000"/>
            </a:pPr>
            <a:r>
              <a:t>Using a linear model when the relationship is clearly nonlinear.</a:t>
            </a:r>
          </a:p>
          <a:p>
            <a:pPr>
              <a:spcAft>
                <a:spcPts val="700"/>
              </a:spcAft>
              <a:defRPr sz="2000"/>
            </a:pPr>
            <a:r>
              <a:t>Confusing observed y with predicted ŷ.</a:t>
            </a:r>
          </a:p>
          <a:p>
            <a:pPr>
              <a:spcAft>
                <a:spcPts val="700"/>
              </a:spcAft>
              <a:defRPr sz="2000"/>
            </a:pPr>
            <a:r>
              <a:t>Using raw error sum instead of squared error for OLS.</a:t>
            </a:r>
          </a:p>
          <a:p>
            <a:pPr>
              <a:spcAft>
                <a:spcPts val="700"/>
              </a:spcAft>
              <a:defRPr sz="2000"/>
            </a:pPr>
            <a:r>
              <a:t>Misinterpreting the intercept when x=0 has no practical meaning.</a:t>
            </a:r>
          </a:p>
          <a:p>
            <a:pPr>
              <a:spcAft>
                <a:spcPts val="700"/>
              </a:spcAft>
              <a:defRPr sz="2000"/>
            </a:pPr>
            <a:r>
              <a:t>Ignoring outliers, missing values or multicollinearity.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Exam-Oriented Questions – L2/L3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1. Define regression and distinguish predictor and response variables.</a:t>
            </a:r>
          </a:p>
          <a:p>
            <a:pPr>
              <a:spcAft>
                <a:spcPts val="700"/>
              </a:spcAft>
              <a:defRPr sz="2000"/>
            </a:pPr>
            <a:r>
              <a:t>2. Explain positive, negative and zero correlation with examples.</a:t>
            </a:r>
          </a:p>
          <a:p>
            <a:pPr>
              <a:spcAft>
                <a:spcPts val="700"/>
              </a:spcAft>
              <a:defRPr sz="2000"/>
            </a:pPr>
            <a:r>
              <a:t>3. Differentiate correlation, regression and causation.</a:t>
            </a:r>
          </a:p>
          <a:p>
            <a:pPr>
              <a:spcAft>
                <a:spcPts val="700"/>
              </a:spcAft>
              <a:defRPr sz="2000"/>
            </a:pPr>
            <a:r>
              <a:t>4. Explain simple and multiple linear regression.</a:t>
            </a:r>
          </a:p>
          <a:p>
            <a:pPr>
              <a:spcAft>
                <a:spcPts val="700"/>
              </a:spcAft>
              <a:defRPr sz="2000"/>
            </a:pPr>
            <a:r>
              <a:t>5. Explain residual and OLS.</a:t>
            </a:r>
          </a:p>
          <a:p>
            <a:pPr>
              <a:spcAft>
                <a:spcPts val="700"/>
              </a:spcAft>
              <a:defRPr sz="2000"/>
            </a:pPr>
            <a:r>
              <a:t>6. Calculate Pearson correlation for a small dataset.</a:t>
            </a:r>
          </a:p>
          <a:p>
            <a:pPr>
              <a:spcAft>
                <a:spcPts val="700"/>
              </a:spcAft>
              <a:defRPr sz="2000"/>
            </a:pPr>
            <a:r>
              <a:t>7. Calculate slope and intercept for a given dataset.</a:t>
            </a:r>
          </a:p>
          <a:p>
            <a:pPr>
              <a:spcAft>
                <a:spcPts val="700"/>
              </a:spcAft>
              <a:defRPr sz="2000"/>
            </a:pPr>
            <a:r>
              <a:t>8. Predict the response for a specified 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Exam-Oriented Questions – L4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1. A dataset contains study hours and marks. Construct a regression model and interpret the slope.</a:t>
            </a:r>
          </a:p>
          <a:p>
            <a:pPr>
              <a:spcAft>
                <a:spcPts val="700"/>
              </a:spcAft>
              <a:defRPr sz="2000"/>
            </a:pPr>
            <a:r>
              <a:t>2. Compare two candidate regression lines using SSE.</a:t>
            </a:r>
          </a:p>
          <a:p>
            <a:pPr>
              <a:spcAft>
                <a:spcPts val="700"/>
              </a:spcAft>
              <a:defRPr sz="2000"/>
            </a:pPr>
            <a:r>
              <a:t>3. Given actual and predicted values, calculate residuals, SSE, MSE and RMSE and comment on model fit.</a:t>
            </a:r>
          </a:p>
          <a:p>
            <a:pPr>
              <a:spcAft>
                <a:spcPts val="700"/>
              </a:spcAft>
              <a:defRPr sz="2000"/>
            </a:pPr>
            <a:r>
              <a:t>4. A dataset contains highly correlated predictors. Explain the problem and suggest an appropriate diagnostic/strategy.</a:t>
            </a:r>
          </a:p>
          <a:p>
            <a:pPr>
              <a:spcAft>
                <a:spcPts val="700"/>
              </a:spcAft>
              <a:defRPr sz="2000"/>
            </a:pPr>
            <a:r>
              <a:t>5. Given a nonlinear scatter pattern, justify whether linear regression is appropriate.</a:t>
            </a:r>
          </a:p>
          <a:p>
            <a:pPr>
              <a:spcAft>
                <a:spcPts val="700"/>
              </a:spcAft>
              <a:defRPr sz="2000"/>
            </a:pPr>
            <a:r>
              <a:t>6. Use matrix notation to derive/compute the OLS coefficient vector.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Final Revision – 5.1, 5.2 and 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5.1 → Regression predicts continuous/quantitative responses.</a:t>
            </a:r>
          </a:p>
          <a:p>
            <a:pPr>
              <a:spcAft>
                <a:spcPts val="700"/>
              </a:spcAft>
              <a:defRPr sz="2000"/>
            </a:pPr>
            <a:r>
              <a:t>5.2 → Correlation measures association; regression supports prediction; causation requires stronger evidence.</a:t>
            </a:r>
          </a:p>
          <a:p>
            <a:pPr>
              <a:spcAft>
                <a:spcPts val="700"/>
              </a:spcAft>
              <a:defRPr sz="2000"/>
            </a:pPr>
            <a:r>
              <a:t>5.2 → Choose linear/nonlinear methods according to the relationship.</a:t>
            </a:r>
          </a:p>
          <a:p>
            <a:pPr>
              <a:spcAft>
                <a:spcPts val="700"/>
              </a:spcAft>
              <a:defRPr sz="2000"/>
            </a:pPr>
            <a:r>
              <a:t>5.2 → Watch for outliers, missing data and multicollinearity.</a:t>
            </a:r>
          </a:p>
          <a:p>
            <a:pPr>
              <a:spcAft>
                <a:spcPts val="700"/>
              </a:spcAft>
              <a:defRPr sz="2000"/>
            </a:pPr>
            <a:r>
              <a:t>5.3 → Simple linear regression: y=a₀+a₁x+ε.</a:t>
            </a:r>
          </a:p>
          <a:p>
            <a:pPr>
              <a:spcAft>
                <a:spcPts val="700"/>
              </a:spcAft>
              <a:defRPr sz="2000"/>
            </a:pPr>
            <a:r>
              <a:t>5.3 → Residual = observed − predicted.</a:t>
            </a:r>
          </a:p>
          <a:p>
            <a:pPr>
              <a:spcAft>
                <a:spcPts val="700"/>
              </a:spcAft>
              <a:defRPr sz="2000"/>
            </a:pPr>
            <a:r>
              <a:t>5.3 → OLS minimizes squared residuals.</a:t>
            </a:r>
          </a:p>
          <a:p>
            <a:pPr>
              <a:spcAft>
                <a:spcPts val="700"/>
              </a:spcAft>
              <a:defRPr sz="2000"/>
            </a:pPr>
            <a:r>
              <a:t>5.3 → Calculate coefficients, predictions and errors systematically.</a:t>
            </a:r>
          </a:p>
          <a:p>
            <a:pPr>
              <a:spcAft>
                <a:spcPts val="700"/>
              </a:spcAft>
              <a:defRPr sz="2000"/>
            </a:pPr>
            <a:r>
              <a:t>5.3 → Matrix form generalizes the computation.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S. Sridhar &amp; M. Vijayalakshmi, Machine Learning — Chapter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