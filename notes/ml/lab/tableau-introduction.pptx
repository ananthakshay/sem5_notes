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hhEcUt8bg8Eaa/NwrfDLrypt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08F446-5CBB-424D-AE23-4AE6E39B7CE1}">
  <a:tblStyle styleId="{C608F446-5CBB-424D-AE23-4AE6E39B7CE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493709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8493709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d1e6e95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ad1e6e9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7e5f6e3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7e5f6e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527ac340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a527ac34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a339665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8a33966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527ac34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a527ac3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7e5f6e3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7e5f6e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527ac34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a527ac3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a339665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8a33966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ae66512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ae6651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ae66512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8ae6651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ae66512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8ae6651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ae66512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8ae66512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ae665120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8ae66512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b007c690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b007c69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007c690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b007c690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b007c690f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b007c690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b007c690f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b007c690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9bc08cb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9bc08c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bc08cbb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9bc08cb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a527ac34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a527ac3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863578" y="861106"/>
            <a:ext cx="2904308" cy="9938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6000"/>
              <a:buFont typeface="Calibri"/>
              <a:buNone/>
            </a:pPr>
            <a:r>
              <a:rPr b="1" lang="en-IN">
                <a:solidFill>
                  <a:srgbClr val="C55A11"/>
                </a:solidFill>
              </a:rPr>
              <a:t>Tableau</a:t>
            </a:r>
            <a:endParaRPr>
              <a:solidFill>
                <a:srgbClr val="C55A1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63577" y="2139042"/>
            <a:ext cx="2904309" cy="234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Tableau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, it is a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Business Intelligence (BI) and data visualization tool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used to convert raw data into interactive charts, dashboards, and reports.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2811" y="1263559"/>
            <a:ext cx="754312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838200" y="13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{C608F446-5CBB-424D-AE23-4AE6E39B7CE1}</a:tableStyleId>
              </a:tblPr>
              <a:tblGrid>
                <a:gridCol w="5257800"/>
                <a:gridCol w="52578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Visualization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Creates graphs, charts, maps, and plots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Dashboard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multiple visualizations into one interactive screen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Connection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Connects to Excel, CSV, SQL databases, cloud data, etc.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Drag and Drop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visualizations can be created without coding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Interactive Analysis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Filters, drill-downs, and interactive charts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Blending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data from different sources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Analysis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 work with live database connections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Sharing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Dashboards can be published and shared with others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6"/>
            <a:ext cx="10515600" cy="954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/>
              <a:buNone/>
            </a:pPr>
            <a:r>
              <a:rPr b="1" lang="en-IN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of Tableau</a:t>
            </a:r>
            <a:endParaRPr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49370909_0_0"/>
          <p:cNvSpPr txBox="1"/>
          <p:nvPr>
            <p:ph idx="1" type="body"/>
          </p:nvPr>
        </p:nvSpPr>
        <p:spPr>
          <a:xfrm>
            <a:off x="715100" y="471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Tableau Software is an American interactive data visualization software company focused on business intelligence. It was founded in 2003 in Mountain View, California and is headquartered in Seattle, Washington.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8" name="Google Shape;98;g3f84937090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4625" y="2275450"/>
            <a:ext cx="6682150" cy="36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671725" y="1223350"/>
            <a:ext cx="111135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Tableau products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Desktop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to create visualizations and dashboards.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Cloud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Cloud-based platform for publishing and sharing dashboards.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Server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Tableau platform deployed within an organization's infrastructure.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Public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Free platform for creating and publicly sharing visualizations.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Prep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for cleaning and preparing data.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668371" y="713375"/>
            <a:ext cx="106854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IN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-1</a:t>
            </a:r>
            <a:endParaRPr b="1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68375" y="1705725"/>
            <a:ext cx="106854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3000"/>
              <a:t>Exploring and Visualizing Sales Data. Import a sample sales dataset into Tableau. Create a dashboard that includes the following visualizations: </a:t>
            </a:r>
            <a:endParaRPr sz="3000"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LcParenR"/>
            </a:pPr>
            <a:r>
              <a:rPr lang="en-IN" sz="3000"/>
              <a:t>A bar chart showing total sales by product category. </a:t>
            </a:r>
            <a:endParaRPr sz="3000"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LcParenR"/>
            </a:pPr>
            <a:r>
              <a:rPr lang="en-IN" sz="3000"/>
              <a:t>A line chart showing monthly sales trends over the past year. </a:t>
            </a:r>
            <a:endParaRPr sz="3000"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LcParenR"/>
            </a:pPr>
            <a:r>
              <a:rPr lang="en-IN" sz="3000"/>
              <a:t>A geographic map showing sales distribution by region. </a:t>
            </a:r>
            <a:endParaRPr sz="3000"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LcParenR"/>
            </a:pPr>
            <a:r>
              <a:rPr lang="en-IN" sz="3000"/>
              <a:t>Use a dual-axis chart or side-by-side bar charts to compare sales and return rates across regions.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ad1e6e95c_0_5"/>
          <p:cNvSpPr txBox="1"/>
          <p:nvPr>
            <p:ph type="title"/>
          </p:nvPr>
        </p:nvSpPr>
        <p:spPr>
          <a:xfrm>
            <a:off x="435225" y="0"/>
            <a:ext cx="109185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4545"/>
              <a:buNone/>
            </a:pPr>
            <a:r>
              <a:rPr lang="en-IN" sz="3300"/>
              <a:t>Experiment-1 Solution: a)</a:t>
            </a:r>
            <a:r>
              <a:rPr b="1" lang="en-IN" sz="2667">
                <a:solidFill>
                  <a:srgbClr val="CC0000"/>
                </a:solidFill>
              </a:rPr>
              <a:t>A bar chart showing total sales by product category. </a:t>
            </a:r>
            <a:endParaRPr sz="3300"/>
          </a:p>
        </p:txBody>
      </p:sp>
      <p:sp>
        <p:nvSpPr>
          <p:cNvPr id="115" name="Google Shape;115;g3fad1e6e95c_0_5"/>
          <p:cNvSpPr txBox="1"/>
          <p:nvPr>
            <p:ph idx="1" type="body"/>
          </p:nvPr>
        </p:nvSpPr>
        <p:spPr>
          <a:xfrm>
            <a:off x="435225" y="714600"/>
            <a:ext cx="11611800" cy="59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4648">
                <a:latin typeface="Arial"/>
                <a:ea typeface="Arial"/>
                <a:cs typeface="Arial"/>
                <a:sym typeface="Arial"/>
              </a:rPr>
              <a:t>Step 1: Open Tableau</a:t>
            </a:r>
            <a:endParaRPr b="1"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Open Tableau Desktop or Tableau Public.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Click Connect to Data.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Select Microsoft Excel if your sales dataset is in Excel.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Browse and select your sales dataset.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Drag the required sheet/table into the data area.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4648">
                <a:latin typeface="Arial"/>
                <a:ea typeface="Arial"/>
                <a:cs typeface="Arial"/>
                <a:sym typeface="Arial"/>
              </a:rPr>
              <a:t>Step 2: Open a worksheet</a:t>
            </a:r>
            <a:endParaRPr b="1"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Click Sheet 1 at the bottom.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You will see the Data pane on the left.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Identify: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464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n-IN" sz="4648">
                <a:latin typeface="Arial"/>
                <a:ea typeface="Arial"/>
                <a:cs typeface="Arial"/>
                <a:sym typeface="Arial"/>
              </a:rPr>
              <a:t> → Dimension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464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Sales</a:t>
            </a:r>
            <a:r>
              <a:rPr lang="en-IN" sz="4648">
                <a:latin typeface="Arial"/>
                <a:ea typeface="Arial"/>
                <a:cs typeface="Arial"/>
                <a:sym typeface="Arial"/>
              </a:rPr>
              <a:t> → Measure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4648">
                <a:latin typeface="Arial"/>
                <a:ea typeface="Arial"/>
                <a:cs typeface="Arial"/>
                <a:sym typeface="Arial"/>
              </a:rPr>
              <a:t>Step 3: Place Category on Columns</a:t>
            </a:r>
            <a:endParaRPr b="1"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Drag Category from the Data pane.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Drop it onto the Columns shelf.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4648">
                <a:latin typeface="Arial"/>
                <a:ea typeface="Arial"/>
                <a:cs typeface="Arial"/>
                <a:sym typeface="Arial"/>
              </a:rPr>
              <a:t>Step 4: Place Sales on Rows</a:t>
            </a:r>
            <a:endParaRPr b="1"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Drag Sales from the Data pane.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Drop it onto the Rows shelf.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-3245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IN" sz="4648">
                <a:latin typeface="Arial"/>
                <a:ea typeface="Arial"/>
                <a:cs typeface="Arial"/>
                <a:sym typeface="Arial"/>
              </a:rPr>
              <a:t>Tableau automatically calculates SUM(Sales).</a:t>
            </a:r>
            <a:endParaRPr sz="464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7308">
                <a:solidFill>
                  <a:srgbClr val="CC0000"/>
                </a:solidFill>
              </a:rPr>
              <a:t>The resulting visualization will be a bar chart showing total sales for each category. </a:t>
            </a:r>
            <a:endParaRPr b="1" sz="7308">
              <a:solidFill>
                <a:srgbClr val="CC0000"/>
              </a:solidFill>
            </a:endParaRPr>
          </a:p>
        </p:txBody>
      </p:sp>
      <p:pic>
        <p:nvPicPr>
          <p:cNvPr id="116" name="Google Shape;116;g3fad1e6e95c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700" y="1952625"/>
            <a:ext cx="46211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7e5f6e38_0_6"/>
          <p:cNvSpPr txBox="1"/>
          <p:nvPr>
            <p:ph idx="1" type="body"/>
          </p:nvPr>
        </p:nvSpPr>
        <p:spPr>
          <a:xfrm>
            <a:off x="211750" y="6003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Verify the fields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In the Data pane on the left: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Date</a:t>
            </a: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 should have a calendar/date icon.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</a:t>
            </a: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 should be a numeric measure.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Tableau normally identifies </a:t>
            </a:r>
            <a:r>
              <a:rPr lang="en-I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</a:t>
            </a: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 as SUM(Sales) automatically.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I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Date</a:t>
            </a: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 is not recognized as a date: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Right-click Order Date → Change Data Type → Date.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2.   </a:t>
            </a: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Create the monthly sales trend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Drag: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Order Date → Columns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Sales → Rows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Initially, Tableau may display sales by year, quarter, or another date level.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3.  </a:t>
            </a: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Change Order Date to Month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Click the drop-down arrow on the </a:t>
            </a:r>
            <a:r>
              <a:rPr lang="en-I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Date</a:t>
            </a: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 pill on the Columns shelf.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Select: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Month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Prefer the continuous Month option if you want a continuous time-series line.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The view should now contain: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Jan → Feb → Mar → ... → Dec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with total sales plotted for each month.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g3f87e5f6e38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350" y="1053850"/>
            <a:ext cx="5068649" cy="3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87e5f6e38_0_6"/>
          <p:cNvSpPr txBox="1"/>
          <p:nvPr/>
        </p:nvSpPr>
        <p:spPr>
          <a:xfrm>
            <a:off x="211750" y="0"/>
            <a:ext cx="10515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en-IN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line chart showing monthly sales trends over the past year.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4" name="Google Shape;124;g3f87e5f6e38_0_6"/>
          <p:cNvSpPr txBox="1"/>
          <p:nvPr/>
        </p:nvSpPr>
        <p:spPr>
          <a:xfrm>
            <a:off x="7409100" y="5043250"/>
            <a:ext cx="4674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chart type to Line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Marks card: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the chart-type drop-down.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Line.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527ac340_0_22"/>
          <p:cNvSpPr txBox="1"/>
          <p:nvPr>
            <p:ph type="title"/>
          </p:nvPr>
        </p:nvSpPr>
        <p:spPr>
          <a:xfrm>
            <a:off x="160800" y="150825"/>
            <a:ext cx="7822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geographic map showing sales distribution by region. </a:t>
            </a:r>
            <a:endParaRPr sz="2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g3fa527ac340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25" y="660825"/>
            <a:ext cx="11519301" cy="603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fa527ac340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74"/>
            <a:ext cx="12192001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a339665d_0_6"/>
          <p:cNvSpPr txBox="1"/>
          <p:nvPr>
            <p:ph type="title"/>
          </p:nvPr>
        </p:nvSpPr>
        <p:spPr>
          <a:xfrm>
            <a:off x="509600" y="106775"/>
            <a:ext cx="10987200" cy="93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/>
              <a:t>d) </a:t>
            </a:r>
            <a:r>
              <a:rPr lang="en-IN" sz="3000"/>
              <a:t>Use a dual-axis chart or side-by-side bar charts to compare sales and return rates across regions.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g3f8a339665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00" y="1045475"/>
            <a:ext cx="11134724" cy="55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a527ac34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9450"/>
            <a:ext cx="11655825" cy="53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a527ac340_0_0"/>
          <p:cNvSpPr txBox="1"/>
          <p:nvPr>
            <p:ph type="title"/>
          </p:nvPr>
        </p:nvSpPr>
        <p:spPr>
          <a:xfrm>
            <a:off x="284550" y="464350"/>
            <a:ext cx="11523600" cy="976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/>
              <a:t>Right click on the graph and select dual axis option</a:t>
            </a:r>
            <a:r>
              <a:rPr lang="en-IN" sz="3000"/>
              <a:t>. Both the graph can be visualized in dual axis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87e5f6e38_0_20"/>
          <p:cNvSpPr txBox="1"/>
          <p:nvPr>
            <p:ph idx="1" type="body"/>
          </p:nvPr>
        </p:nvSpPr>
        <p:spPr>
          <a:xfrm>
            <a:off x="164650" y="172350"/>
            <a:ext cx="6121800" cy="656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5. To show only the past 12 months: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Drag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 Date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 to the Filters shelf.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Select Relative Date.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Choose Months.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Select Last → 12 → Months.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Click Apply → OK.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6.Add data labels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To display the sales value for each month: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Click Label on the Marks card.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Check Show mark labels.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The sales amount will appear near each point on the line.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7.F</a:t>
            </a: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ormat the sales values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F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If the values are large: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Right-click the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Sales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 axis.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Select Format.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Under Numbers, select an appropriate number format.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You can use currency formatting if your sales data represents monetary values.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For example: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₹185,000 → ₹185K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9" name="Google Shape;149;g3f87e5f6e38_0_20"/>
          <p:cNvSpPr txBox="1"/>
          <p:nvPr/>
        </p:nvSpPr>
        <p:spPr>
          <a:xfrm>
            <a:off x="6551850" y="285750"/>
            <a:ext cx="5449800" cy="59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chemeClr val="dk1"/>
                </a:solidFill>
              </a:rPr>
              <a:t>8. </a:t>
            </a:r>
            <a:r>
              <a:rPr b="1" lang="en-IN" sz="1700">
                <a:solidFill>
                  <a:schemeClr val="dk1"/>
                </a:solidFill>
              </a:rPr>
              <a:t>Add a meaningful title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Double-click the chart title and change it to: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Monthly Sales Trends – Past 12 Months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A good chart should clearly communicate: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X-axis: Month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Y-axis: Total Sales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Line: Monthly sales movement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chemeClr val="dk1"/>
                </a:solidFill>
              </a:rPr>
              <a:t>9. </a:t>
            </a:r>
            <a:r>
              <a:rPr b="1" lang="en-IN" sz="1700">
                <a:solidFill>
                  <a:schemeClr val="dk1"/>
                </a:solidFill>
              </a:rPr>
              <a:t>Tooltip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Click Tooltip on the Marks card and include: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Month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Total Sales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Category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Region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For example:</a:t>
            </a:r>
            <a:endParaRPr sz="17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Month: June 2026</a:t>
            </a:r>
            <a:br>
              <a:rPr lang="en-IN" sz="1700">
                <a:solidFill>
                  <a:schemeClr val="dk1"/>
                </a:solidFill>
              </a:rPr>
            </a:br>
            <a:r>
              <a:rPr lang="en-IN" sz="1700">
                <a:solidFill>
                  <a:schemeClr val="dk1"/>
                </a:solidFill>
              </a:rPr>
              <a:t> Total Sales: ₹255,000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You can also add a trend line: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Analytics → Trend Line → Linear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This helps identify whether sales are generally increasing or decreasing.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527ac340_0_16"/>
          <p:cNvSpPr txBox="1"/>
          <p:nvPr>
            <p:ph type="title"/>
          </p:nvPr>
        </p:nvSpPr>
        <p:spPr>
          <a:xfrm>
            <a:off x="141675" y="214300"/>
            <a:ext cx="2608800" cy="51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Dashboard</a:t>
            </a:r>
            <a:endParaRPr/>
          </a:p>
        </p:txBody>
      </p:sp>
      <p:pic>
        <p:nvPicPr>
          <p:cNvPr id="155" name="Google Shape;155;g3fa527ac340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828500"/>
            <a:ext cx="10938474" cy="590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a339665d_0_1"/>
          <p:cNvSpPr txBox="1"/>
          <p:nvPr>
            <p:ph type="title"/>
          </p:nvPr>
        </p:nvSpPr>
        <p:spPr>
          <a:xfrm>
            <a:off x="355850" y="274975"/>
            <a:ext cx="11694300" cy="54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-2</a:t>
            </a:r>
            <a:endParaRPr/>
          </a:p>
        </p:txBody>
      </p:sp>
      <p:sp>
        <p:nvSpPr>
          <p:cNvPr id="161" name="Google Shape;161;g3f8a339665d_0_1"/>
          <p:cNvSpPr txBox="1"/>
          <p:nvPr/>
        </p:nvSpPr>
        <p:spPr>
          <a:xfrm>
            <a:off x="839000" y="1276750"/>
            <a:ext cx="10414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Using a dataset on customer purchases, create a dashboard with the following advanced visualizations: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arenR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A scatter plot showing the relationship between customer age and total spending.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arenR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 A heat map illustrating product sales intensity by store location.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arenR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A dual-axis chart comparing sales and profit margins over time.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arenR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bar chart or treemap showing total sales revenue by product and region.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ae665120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19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arenR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A scatter plot showing the relationship between customer age and total spending. </a:t>
            </a:r>
            <a:endParaRPr/>
          </a:p>
        </p:txBody>
      </p:sp>
      <p:sp>
        <p:nvSpPr>
          <p:cNvPr id="167" name="Google Shape;167;g3f8ae665120_0_10"/>
          <p:cNvSpPr txBox="1"/>
          <p:nvPr/>
        </p:nvSpPr>
        <p:spPr>
          <a:xfrm>
            <a:off x="140700" y="2250825"/>
            <a:ext cx="3467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Customer Age vs Total Spending — Scatter Plot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Columns: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Customer_Age</a:t>
            </a:r>
            <a:b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Rows: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b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Marks:</a:t>
            </a:r>
            <a:r>
              <a:rPr lang="en-IN" sz="2000">
                <a:solidFill>
                  <a:schemeClr val="dk1"/>
                </a:solidFill>
              </a:rPr>
              <a:t> Circle</a:t>
            </a:r>
            <a:br>
              <a:rPr lang="en-IN" sz="2000">
                <a:solidFill>
                  <a:schemeClr val="dk1"/>
                </a:solidFill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Details: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Customer_ID</a:t>
            </a:r>
            <a:b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rgbClr val="FF0000"/>
                </a:solidFill>
              </a:rPr>
              <a:t>Color:</a:t>
            </a:r>
            <a:r>
              <a:rPr lang="en-IN" sz="2000">
                <a:solidFill>
                  <a:srgbClr val="FF0000"/>
                </a:solidFill>
              </a:rPr>
              <a:t> </a:t>
            </a:r>
            <a:r>
              <a:rPr lang="en-IN" sz="20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Gender</a:t>
            </a:r>
            <a:endParaRPr sz="20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8" name="Google Shape;168;g3f8ae66512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050" y="1690825"/>
            <a:ext cx="8231951" cy="50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ae665120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A heat map illustrating product sales intensity by store location.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8ae665120_0_5"/>
          <p:cNvSpPr txBox="1"/>
          <p:nvPr/>
        </p:nvSpPr>
        <p:spPr>
          <a:xfrm>
            <a:off x="175850" y="1690825"/>
            <a:ext cx="3626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Product Sales Intensity by Store Location — Heat Map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 Rows: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Store_Location</a:t>
            </a:r>
            <a:b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Columns: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Product</a:t>
            </a:r>
            <a:b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Color: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SUM(Total_Sales)</a:t>
            </a:r>
            <a:b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Label:</a:t>
            </a:r>
            <a:r>
              <a:rPr lang="en-IN" sz="2000">
                <a:solidFill>
                  <a:schemeClr val="dk1"/>
                </a:solidFill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SUM(Total_Sales)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Marks</a:t>
            </a:r>
            <a:r>
              <a:rPr lang="en-IN" sz="2000">
                <a:solidFill>
                  <a:schemeClr val="dk1"/>
                </a:solidFill>
              </a:rPr>
              <a:t>: </a:t>
            </a:r>
            <a:r>
              <a:rPr lang="en-IN" sz="2000">
                <a:solidFill>
                  <a:schemeClr val="dk1"/>
                </a:solidFill>
              </a:rPr>
              <a:t>Square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75" name="Google Shape;175;g3f8ae66512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175" y="1188030"/>
            <a:ext cx="8085252" cy="54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ae665120_0_0"/>
          <p:cNvSpPr txBox="1"/>
          <p:nvPr>
            <p:ph type="title"/>
          </p:nvPr>
        </p:nvSpPr>
        <p:spPr>
          <a:xfrm>
            <a:off x="73850" y="365125"/>
            <a:ext cx="11280000" cy="89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A dual-axis chart comparing sales and profit margins over time.</a:t>
            </a:r>
            <a:endParaRPr/>
          </a:p>
        </p:txBody>
      </p:sp>
      <p:pic>
        <p:nvPicPr>
          <p:cNvPr id="181" name="Google Shape;181;g3f8ae66512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074" y="1419250"/>
            <a:ext cx="8156273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8ae665120_0_0"/>
          <p:cNvSpPr txBox="1"/>
          <p:nvPr/>
        </p:nvSpPr>
        <p:spPr>
          <a:xfrm>
            <a:off x="355200" y="1419250"/>
            <a:ext cx="35169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vs Profit Margin Over Time — Dual-Axis Chart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Columns: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MONTH(Date)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measure: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Rows: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SUM(Total_Sales)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measure: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 AVG(Profit_Margin) onto the same axis and select: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Click</a:t>
            </a: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bottom graph select dual axis. It will merge both the graphs</a:t>
            </a:r>
            <a:endParaRPr b="1"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ae665120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bar chart or treemap showing total sales revenue by product and region.</a:t>
            </a:r>
            <a:endParaRPr/>
          </a:p>
        </p:txBody>
      </p:sp>
      <p:sp>
        <p:nvSpPr>
          <p:cNvPr id="188" name="Google Shape;188;g3f8ae665120_0_28"/>
          <p:cNvSpPr txBox="1"/>
          <p:nvPr/>
        </p:nvSpPr>
        <p:spPr>
          <a:xfrm>
            <a:off x="263775" y="1811225"/>
            <a:ext cx="42237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Marks → Treemap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</a:t>
            </a:r>
            <a:r>
              <a:rPr lang="en-IN" sz="2000">
                <a:solidFill>
                  <a:schemeClr val="dk1"/>
                </a:solidFill>
              </a:rPr>
              <a:t> → Label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</a:t>
            </a:r>
            <a:r>
              <a:rPr lang="en-IN" sz="2000">
                <a:solidFill>
                  <a:schemeClr val="dk1"/>
                </a:solidFill>
              </a:rPr>
              <a:t> → Detail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SUM(Total_Sales)</a:t>
            </a:r>
            <a:r>
              <a:rPr lang="en-IN" sz="2000">
                <a:solidFill>
                  <a:schemeClr val="dk1"/>
                </a:solidFill>
              </a:rPr>
              <a:t> → Size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SUM(Total_Sales)</a:t>
            </a:r>
            <a:r>
              <a:rPr lang="en-IN" sz="2000">
                <a:solidFill>
                  <a:schemeClr val="dk1"/>
                </a:solidFill>
              </a:rPr>
              <a:t> → Color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Alternatively, create a horizontal bar chart using: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Rows:</a:t>
            </a:r>
            <a:r>
              <a:rPr lang="en-IN" sz="2000">
                <a:solidFill>
                  <a:schemeClr val="dk1"/>
                </a:solidFill>
              </a:rPr>
              <a:t> Product</a:t>
            </a:r>
            <a:br>
              <a:rPr lang="en-IN" sz="2000">
                <a:solidFill>
                  <a:schemeClr val="dk1"/>
                </a:solidFill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Columns:</a:t>
            </a:r>
            <a:r>
              <a:rPr lang="en-IN" sz="2000">
                <a:solidFill>
                  <a:schemeClr val="dk1"/>
                </a:solidFill>
              </a:rPr>
              <a:t> SUM(Total_Sales)</a:t>
            </a:r>
            <a:br>
              <a:rPr lang="en-IN" sz="2000">
                <a:solidFill>
                  <a:schemeClr val="dk1"/>
                </a:solidFill>
              </a:rPr>
            </a:br>
            <a:r>
              <a:rPr lang="en-IN" sz="2000">
                <a:solidFill>
                  <a:schemeClr val="dk1"/>
                </a:solidFill>
              </a:rPr>
              <a:t> </a:t>
            </a:r>
            <a:r>
              <a:rPr b="1" lang="en-IN" sz="2000">
                <a:solidFill>
                  <a:schemeClr val="dk1"/>
                </a:solidFill>
              </a:rPr>
              <a:t>Color:</a:t>
            </a:r>
            <a:r>
              <a:rPr lang="en-IN" sz="2000">
                <a:solidFill>
                  <a:schemeClr val="dk1"/>
                </a:solidFill>
              </a:rPr>
              <a:t> Region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89" name="Google Shape;189;g3f8ae665120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050" y="1843225"/>
            <a:ext cx="7147551" cy="388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ae665120_0_33"/>
          <p:cNvSpPr txBox="1"/>
          <p:nvPr>
            <p:ph type="title"/>
          </p:nvPr>
        </p:nvSpPr>
        <p:spPr>
          <a:xfrm>
            <a:off x="838200" y="365125"/>
            <a:ext cx="10515600" cy="51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d) T</a:t>
            </a: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reemap</a:t>
            </a:r>
            <a:endParaRPr b="1" sz="4260"/>
          </a:p>
        </p:txBody>
      </p:sp>
      <p:sp>
        <p:nvSpPr>
          <p:cNvPr id="195" name="Google Shape;195;g3f8ae665120_0_33"/>
          <p:cNvSpPr txBox="1"/>
          <p:nvPr/>
        </p:nvSpPr>
        <p:spPr>
          <a:xfrm>
            <a:off x="673550" y="1530800"/>
            <a:ext cx="60837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IN" sz="2500">
                <a:solidFill>
                  <a:srgbClr val="980000"/>
                </a:solidFill>
              </a:rPr>
              <a:t>Drag Category to the Label or Marks card.</a:t>
            </a:r>
            <a:endParaRPr sz="2500">
              <a:solidFill>
                <a:srgbClr val="98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IN" sz="2500">
                <a:solidFill>
                  <a:srgbClr val="980000"/>
                </a:solidFill>
              </a:rPr>
              <a:t>Drag Sub-Category to Label.</a:t>
            </a:r>
            <a:endParaRPr sz="2500">
              <a:solidFill>
                <a:srgbClr val="98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IN" sz="2500">
                <a:solidFill>
                  <a:srgbClr val="980000"/>
                </a:solidFill>
              </a:rPr>
              <a:t>Drag Sales to Size.</a:t>
            </a:r>
            <a:endParaRPr sz="2500">
              <a:solidFill>
                <a:srgbClr val="98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IN" sz="2500">
                <a:solidFill>
                  <a:srgbClr val="980000"/>
                </a:solidFill>
              </a:rPr>
              <a:t>Drag Profit to Color.</a:t>
            </a:r>
            <a:endParaRPr sz="2500">
              <a:solidFill>
                <a:srgbClr val="98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IN" sz="2500">
                <a:solidFill>
                  <a:srgbClr val="980000"/>
                </a:solidFill>
              </a:rPr>
              <a:t>Select the required fields.</a:t>
            </a:r>
            <a:endParaRPr sz="2500">
              <a:solidFill>
                <a:srgbClr val="98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IN" sz="2500">
                <a:solidFill>
                  <a:srgbClr val="980000"/>
                </a:solidFill>
              </a:rPr>
              <a:t>Click Show Me → Treemap.</a:t>
            </a:r>
            <a:endParaRPr sz="2500">
              <a:solidFill>
                <a:srgbClr val="980000"/>
              </a:solidFill>
            </a:endParaRPr>
          </a:p>
        </p:txBody>
      </p:sp>
      <p:sp>
        <p:nvSpPr>
          <p:cNvPr id="196" name="Google Shape;196;g3f8ae665120_0_33"/>
          <p:cNvSpPr txBox="1"/>
          <p:nvPr/>
        </p:nvSpPr>
        <p:spPr>
          <a:xfrm>
            <a:off x="7082525" y="1530800"/>
            <a:ext cx="46332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00"/>
              <a:buChar char="●"/>
            </a:pPr>
            <a:r>
              <a:rPr b="1" lang="en-IN" sz="2500">
                <a:solidFill>
                  <a:srgbClr val="0000FF"/>
                </a:solidFill>
              </a:rPr>
              <a:t>Drag Category to Detail.</a:t>
            </a:r>
            <a:endParaRPr b="1" sz="2500">
              <a:solidFill>
                <a:srgbClr val="0000FF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00"/>
              <a:buChar char="●"/>
            </a:pPr>
            <a:r>
              <a:rPr b="1" lang="en-IN" sz="2500">
                <a:solidFill>
                  <a:srgbClr val="0000FF"/>
                </a:solidFill>
              </a:rPr>
              <a:t>Drag Sub-Category to Label.</a:t>
            </a:r>
            <a:endParaRPr b="1" sz="2500">
              <a:solidFill>
                <a:srgbClr val="0000FF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00"/>
              <a:buChar char="●"/>
            </a:pPr>
            <a:r>
              <a:rPr b="1" lang="en-IN" sz="2500">
                <a:solidFill>
                  <a:srgbClr val="0000FF"/>
                </a:solidFill>
              </a:rPr>
              <a:t>Drag Sales to Size.</a:t>
            </a:r>
            <a:endParaRPr b="1" sz="2500">
              <a:solidFill>
                <a:srgbClr val="0000FF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00"/>
              <a:buChar char="●"/>
            </a:pPr>
            <a:r>
              <a:rPr b="1" lang="en-IN" sz="2500">
                <a:solidFill>
                  <a:srgbClr val="0000FF"/>
                </a:solidFill>
              </a:rPr>
              <a:t>Drag Profit to Color.</a:t>
            </a:r>
            <a:endParaRPr b="1" sz="2500">
              <a:solidFill>
                <a:srgbClr val="0000FF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00"/>
              <a:buChar char="●"/>
            </a:pPr>
            <a:r>
              <a:rPr b="1" lang="en-IN" sz="2500">
                <a:solidFill>
                  <a:srgbClr val="0000FF"/>
                </a:solidFill>
              </a:rPr>
              <a:t>Change the Marks type to Treemap.</a:t>
            </a:r>
            <a:endParaRPr b="1" sz="2500">
              <a:solidFill>
                <a:srgbClr val="0000FF"/>
              </a:solidFill>
            </a:endParaRPr>
          </a:p>
        </p:txBody>
      </p:sp>
      <p:sp>
        <p:nvSpPr>
          <p:cNvPr id="197" name="Google Shape;197;g3f8ae665120_0_33"/>
          <p:cNvSpPr txBox="1"/>
          <p:nvPr>
            <p:ph type="title"/>
          </p:nvPr>
        </p:nvSpPr>
        <p:spPr>
          <a:xfrm>
            <a:off x="6021175" y="2796200"/>
            <a:ext cx="939000" cy="69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IN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b="1" sz="426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fb007c690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178725"/>
            <a:ext cx="11887200" cy="54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b007c690f_0_6"/>
          <p:cNvSpPr txBox="1"/>
          <p:nvPr/>
        </p:nvSpPr>
        <p:spPr>
          <a:xfrm>
            <a:off x="4596000" y="303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Treemap</a:t>
            </a:r>
            <a:endParaRPr b="1" sz="42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b007c690f_0_24"/>
          <p:cNvSpPr txBox="1"/>
          <p:nvPr>
            <p:ph type="title"/>
          </p:nvPr>
        </p:nvSpPr>
        <p:spPr>
          <a:xfrm>
            <a:off x="449025" y="365125"/>
            <a:ext cx="10905000" cy="65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-3</a:t>
            </a:r>
            <a:endParaRPr/>
          </a:p>
        </p:txBody>
      </p:sp>
      <p:sp>
        <p:nvSpPr>
          <p:cNvPr id="209" name="Google Shape;209;g3fb007c690f_0_24"/>
          <p:cNvSpPr txBox="1"/>
          <p:nvPr>
            <p:ph idx="1" type="body"/>
          </p:nvPr>
        </p:nvSpPr>
        <p:spPr>
          <a:xfrm>
            <a:off x="632725" y="1253400"/>
            <a:ext cx="1120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3.Analysing Sales Performance: Create various visualizations to analyze the sales performance.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1000"/>
              </a:spcBef>
              <a:spcAft>
                <a:spcPts val="0"/>
              </a:spcAft>
              <a:buSzPts val="3000"/>
              <a:buFont typeface="Times New Roman"/>
              <a:buAutoNum type="alphaLcPeriod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line chart to show sales trends over time.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eriod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bar chart to compare sales across different regions.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eriod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Use a pie chart to display the distribution of sales among different product categories.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lphaLcPeriod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dashboard combining these visualizations to provide an overall view of sales performance.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b007c690f_0_19"/>
          <p:cNvSpPr txBox="1"/>
          <p:nvPr>
            <p:ph type="title"/>
          </p:nvPr>
        </p:nvSpPr>
        <p:spPr>
          <a:xfrm>
            <a:off x="838200" y="365125"/>
            <a:ext cx="10515600" cy="68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19100" lvl="0" marL="457200" rtl="0" algn="just">
              <a:spcBef>
                <a:spcPts val="1000"/>
              </a:spcBef>
              <a:spcAft>
                <a:spcPts val="0"/>
              </a:spcAft>
              <a:buSzPts val="3000"/>
              <a:buFont typeface="Times New Roman"/>
              <a:buAutoNum type="alphaLcPeriod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line chart to show sales trends over time. </a:t>
            </a:r>
            <a:endParaRPr/>
          </a:p>
        </p:txBody>
      </p:sp>
      <p:pic>
        <p:nvPicPr>
          <p:cNvPr id="215" name="Google Shape;215;g3fb007c690f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500" y="1223875"/>
            <a:ext cx="9781796" cy="54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007c690f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bar chart to compare sales across different regions.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g3fb007c690f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75" y="1128850"/>
            <a:ext cx="10876375" cy="53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9bc08cbb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C. 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Use a pie chart to display the distribution of sales among different product categories. </a:t>
            </a:r>
            <a:endParaRPr/>
          </a:p>
        </p:txBody>
      </p:sp>
      <p:pic>
        <p:nvPicPr>
          <p:cNvPr id="227" name="Google Shape;227;g3f9bc08cbb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500" y="1557475"/>
            <a:ext cx="8648443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9bc08cbb7_0_5"/>
          <p:cNvSpPr txBox="1"/>
          <p:nvPr>
            <p:ph type="title"/>
          </p:nvPr>
        </p:nvSpPr>
        <p:spPr>
          <a:xfrm>
            <a:off x="464400" y="365125"/>
            <a:ext cx="10889400" cy="73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D. 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Create a dashboard combining these visualizations to provide an overall view of sales performance.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g3f9bc08cbb7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00" y="1102175"/>
            <a:ext cx="11263227" cy="555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527ac340_0_10"/>
          <p:cNvSpPr txBox="1"/>
          <p:nvPr>
            <p:ph type="title"/>
          </p:nvPr>
        </p:nvSpPr>
        <p:spPr>
          <a:xfrm>
            <a:off x="4285075" y="1646975"/>
            <a:ext cx="3037200" cy="288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6000">
                <a:solidFill>
                  <a:srgbClr val="C55A11"/>
                </a:solidFill>
              </a:rPr>
              <a:t>END</a:t>
            </a:r>
            <a:endParaRPr b="1" sz="6000">
              <a:solidFill>
                <a:srgbClr val="C55A1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2026-08-24T10:39:58Z</dcterms:created>
  <dc:creator>Admin</dc:creator>
</cp:coreProperties>
</file>