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703" r:id="rId2"/>
    <p:sldId id="630" r:id="rId3"/>
    <p:sldId id="725" r:id="rId4"/>
    <p:sldId id="726" r:id="rId5"/>
    <p:sldId id="681" r:id="rId6"/>
    <p:sldId id="629" r:id="rId7"/>
    <p:sldId id="727" r:id="rId8"/>
    <p:sldId id="704" r:id="rId9"/>
    <p:sldId id="736" r:id="rId10"/>
    <p:sldId id="705" r:id="rId11"/>
    <p:sldId id="709" r:id="rId12"/>
    <p:sldId id="706" r:id="rId13"/>
    <p:sldId id="707" r:id="rId14"/>
    <p:sldId id="708" r:id="rId15"/>
    <p:sldId id="673" r:id="rId16"/>
    <p:sldId id="674" r:id="rId17"/>
    <p:sldId id="714" r:id="rId18"/>
    <p:sldId id="710" r:id="rId19"/>
    <p:sldId id="711" r:id="rId20"/>
    <p:sldId id="712" r:id="rId21"/>
    <p:sldId id="718" r:id="rId22"/>
    <p:sldId id="717" r:id="rId23"/>
    <p:sldId id="737" r:id="rId24"/>
    <p:sldId id="713" r:id="rId25"/>
    <p:sldId id="715" r:id="rId26"/>
    <p:sldId id="716" r:id="rId27"/>
    <p:sldId id="719" r:id="rId28"/>
    <p:sldId id="720" r:id="rId29"/>
    <p:sldId id="721" r:id="rId30"/>
    <p:sldId id="728" r:id="rId31"/>
    <p:sldId id="729" r:id="rId32"/>
    <p:sldId id="684" r:id="rId33"/>
    <p:sldId id="731" r:id="rId34"/>
    <p:sldId id="732" r:id="rId35"/>
    <p:sldId id="730" r:id="rId36"/>
    <p:sldId id="594" r:id="rId37"/>
    <p:sldId id="685" r:id="rId38"/>
    <p:sldId id="257" r:id="rId39"/>
    <p:sldId id="686" r:id="rId40"/>
    <p:sldId id="687" r:id="rId41"/>
    <p:sldId id="688" r:id="rId42"/>
    <p:sldId id="733" r:id="rId43"/>
    <p:sldId id="734" r:id="rId44"/>
    <p:sldId id="735" r:id="rId45"/>
    <p:sldId id="689" r:id="rId46"/>
    <p:sldId id="690" r:id="rId47"/>
    <p:sldId id="692" r:id="rId48"/>
    <p:sldId id="691" r:id="rId49"/>
    <p:sldId id="693" r:id="rId50"/>
    <p:sldId id="694" r:id="rId51"/>
    <p:sldId id="722" r:id="rId52"/>
    <p:sldId id="723" r:id="rId53"/>
    <p:sldId id="724" r:id="rId54"/>
    <p:sldId id="695" r:id="rId55"/>
    <p:sldId id="697" r:id="rId56"/>
    <p:sldId id="696" r:id="rId57"/>
    <p:sldId id="698" r:id="rId58"/>
    <p:sldId id="699" r:id="rId59"/>
    <p:sldId id="701" r:id="rId60"/>
    <p:sldId id="702" r:id="rId61"/>
    <p:sldId id="679" r:id="rId62"/>
    <p:sldId id="680" r:id="rId63"/>
    <p:sldId id="682" r:id="rId6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0" d="100"/>
          <a:sy n="70" d="100"/>
        </p:scale>
        <p:origin x="512"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microsoft.com/office/2016/11/relationships/changesInfo" Target="changesInfos/changesInfo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itha p" userId="3e48045bb329320d" providerId="LiveId" clId="{EC29715A-5399-4B37-A962-695366749B51}"/>
    <pc:docChg chg="undo custSel addSld modSld">
      <pc:chgData name="Anitha p" userId="3e48045bb329320d" providerId="LiveId" clId="{EC29715A-5399-4B37-A962-695366749B51}" dt="2026-09-07T06:35:46.938" v="99" actId="14100"/>
      <pc:docMkLst>
        <pc:docMk/>
      </pc:docMkLst>
      <pc:sldChg chg="modSp mod">
        <pc:chgData name="Anitha p" userId="3e48045bb329320d" providerId="LiveId" clId="{EC29715A-5399-4B37-A962-695366749B51}" dt="2026-09-07T06:35:46.938" v="99" actId="14100"/>
        <pc:sldMkLst>
          <pc:docMk/>
          <pc:sldMk cId="2764833964" sldId="727"/>
        </pc:sldMkLst>
        <pc:spChg chg="mod">
          <ac:chgData name="Anitha p" userId="3e48045bb329320d" providerId="LiveId" clId="{EC29715A-5399-4B37-A962-695366749B51}" dt="2026-09-07T06:35:46.938" v="99" actId="14100"/>
          <ac:spMkLst>
            <pc:docMk/>
            <pc:sldMk cId="2764833964" sldId="727"/>
            <ac:spMk id="2"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6CAC5A-2117-82A5-7DFD-E9D9C4CFC07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294E477F-03CE-A457-DE8E-1DC21E8FE6B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935519E2-DF1B-3D72-E710-9752EAD07499}"/>
              </a:ext>
            </a:extLst>
          </p:cNvPr>
          <p:cNvSpPr>
            <a:spLocks noGrp="1"/>
          </p:cNvSpPr>
          <p:nvPr>
            <p:ph type="dt" sz="half" idx="10"/>
          </p:nvPr>
        </p:nvSpPr>
        <p:spPr/>
        <p:txBody>
          <a:bodyPr/>
          <a:lstStyle/>
          <a:p>
            <a:fld id="{8653E860-4974-4EC7-A3DF-4CC3C4149955}" type="datetimeFigureOut">
              <a:rPr lang="en-IN" smtClean="0"/>
              <a:t>07-09-2026</a:t>
            </a:fld>
            <a:endParaRPr lang="en-IN"/>
          </a:p>
        </p:txBody>
      </p:sp>
      <p:sp>
        <p:nvSpPr>
          <p:cNvPr id="5" name="Footer Placeholder 4">
            <a:extLst>
              <a:ext uri="{FF2B5EF4-FFF2-40B4-BE49-F238E27FC236}">
                <a16:creationId xmlns:a16="http://schemas.microsoft.com/office/drawing/2014/main" id="{B67AC7B7-9040-A6E2-A5B8-23D865981A0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68D5DD0-E311-A996-45C7-606A39450372}"/>
              </a:ext>
            </a:extLst>
          </p:cNvPr>
          <p:cNvSpPr>
            <a:spLocks noGrp="1"/>
          </p:cNvSpPr>
          <p:nvPr>
            <p:ph type="sldNum" sz="quarter" idx="12"/>
          </p:nvPr>
        </p:nvSpPr>
        <p:spPr/>
        <p:txBody>
          <a:bodyPr/>
          <a:lstStyle/>
          <a:p>
            <a:fld id="{6F7141CA-DC26-4821-9DF5-350E875964CB}" type="slidenum">
              <a:rPr lang="en-IN" smtClean="0"/>
              <a:t>‹#›</a:t>
            </a:fld>
            <a:endParaRPr lang="en-IN"/>
          </a:p>
        </p:txBody>
      </p:sp>
    </p:spTree>
    <p:extLst>
      <p:ext uri="{BB962C8B-B14F-4D97-AF65-F5344CB8AC3E}">
        <p14:creationId xmlns:p14="http://schemas.microsoft.com/office/powerpoint/2010/main" val="12012374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B463C5-AB5D-0206-5564-EC72BA7D1CD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D4FE39A-83E3-6A07-E444-484F97FD436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CEE4456-1D02-E932-B380-C905CAFD9D5B}"/>
              </a:ext>
            </a:extLst>
          </p:cNvPr>
          <p:cNvSpPr>
            <a:spLocks noGrp="1"/>
          </p:cNvSpPr>
          <p:nvPr>
            <p:ph type="dt" sz="half" idx="10"/>
          </p:nvPr>
        </p:nvSpPr>
        <p:spPr/>
        <p:txBody>
          <a:bodyPr/>
          <a:lstStyle/>
          <a:p>
            <a:fld id="{8653E860-4974-4EC7-A3DF-4CC3C4149955}" type="datetimeFigureOut">
              <a:rPr lang="en-IN" smtClean="0"/>
              <a:t>07-09-2026</a:t>
            </a:fld>
            <a:endParaRPr lang="en-IN"/>
          </a:p>
        </p:txBody>
      </p:sp>
      <p:sp>
        <p:nvSpPr>
          <p:cNvPr id="5" name="Footer Placeholder 4">
            <a:extLst>
              <a:ext uri="{FF2B5EF4-FFF2-40B4-BE49-F238E27FC236}">
                <a16:creationId xmlns:a16="http://schemas.microsoft.com/office/drawing/2014/main" id="{EAFCDBA5-B463-58E4-2B3B-3BD335D041A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E4795A0-6A13-0338-3CF7-F7ED24029F2B}"/>
              </a:ext>
            </a:extLst>
          </p:cNvPr>
          <p:cNvSpPr>
            <a:spLocks noGrp="1"/>
          </p:cNvSpPr>
          <p:nvPr>
            <p:ph type="sldNum" sz="quarter" idx="12"/>
          </p:nvPr>
        </p:nvSpPr>
        <p:spPr/>
        <p:txBody>
          <a:bodyPr/>
          <a:lstStyle/>
          <a:p>
            <a:fld id="{6F7141CA-DC26-4821-9DF5-350E875964CB}" type="slidenum">
              <a:rPr lang="en-IN" smtClean="0"/>
              <a:t>‹#›</a:t>
            </a:fld>
            <a:endParaRPr lang="en-IN"/>
          </a:p>
        </p:txBody>
      </p:sp>
    </p:spTree>
    <p:extLst>
      <p:ext uri="{BB962C8B-B14F-4D97-AF65-F5344CB8AC3E}">
        <p14:creationId xmlns:p14="http://schemas.microsoft.com/office/powerpoint/2010/main" val="23882635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5C442A-1F2B-3AFC-F390-DE8CCFE4FA5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0FDAEF8D-5661-12EB-0D66-B6312B69EB3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1B92FCC-98C5-8E1D-D694-DA2492114104}"/>
              </a:ext>
            </a:extLst>
          </p:cNvPr>
          <p:cNvSpPr>
            <a:spLocks noGrp="1"/>
          </p:cNvSpPr>
          <p:nvPr>
            <p:ph type="dt" sz="half" idx="10"/>
          </p:nvPr>
        </p:nvSpPr>
        <p:spPr/>
        <p:txBody>
          <a:bodyPr/>
          <a:lstStyle/>
          <a:p>
            <a:fld id="{8653E860-4974-4EC7-A3DF-4CC3C4149955}" type="datetimeFigureOut">
              <a:rPr lang="en-IN" smtClean="0"/>
              <a:t>07-09-2026</a:t>
            </a:fld>
            <a:endParaRPr lang="en-IN"/>
          </a:p>
        </p:txBody>
      </p:sp>
      <p:sp>
        <p:nvSpPr>
          <p:cNvPr id="5" name="Footer Placeholder 4">
            <a:extLst>
              <a:ext uri="{FF2B5EF4-FFF2-40B4-BE49-F238E27FC236}">
                <a16:creationId xmlns:a16="http://schemas.microsoft.com/office/drawing/2014/main" id="{BCA64F6D-768A-9084-A4E9-E483A08038F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8F86002-5FD4-6C08-B3E1-49278A49F946}"/>
              </a:ext>
            </a:extLst>
          </p:cNvPr>
          <p:cNvSpPr>
            <a:spLocks noGrp="1"/>
          </p:cNvSpPr>
          <p:nvPr>
            <p:ph type="sldNum" sz="quarter" idx="12"/>
          </p:nvPr>
        </p:nvSpPr>
        <p:spPr/>
        <p:txBody>
          <a:bodyPr/>
          <a:lstStyle/>
          <a:p>
            <a:fld id="{6F7141CA-DC26-4821-9DF5-350E875964CB}" type="slidenum">
              <a:rPr lang="en-IN" smtClean="0"/>
              <a:t>‹#›</a:t>
            </a:fld>
            <a:endParaRPr lang="en-IN"/>
          </a:p>
        </p:txBody>
      </p:sp>
    </p:spTree>
    <p:extLst>
      <p:ext uri="{BB962C8B-B14F-4D97-AF65-F5344CB8AC3E}">
        <p14:creationId xmlns:p14="http://schemas.microsoft.com/office/powerpoint/2010/main" val="24973100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0B33A9-414D-95FB-1FA2-44167503B15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D993C07-A768-CC23-D338-56BD602B3FB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9B60112C-76C0-EF2F-0D7B-DBE4A485ABD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E9C83214-9B9E-BEDD-8235-6D36E062C633}"/>
              </a:ext>
            </a:extLst>
          </p:cNvPr>
          <p:cNvSpPr>
            <a:spLocks noGrp="1"/>
          </p:cNvSpPr>
          <p:nvPr>
            <p:ph type="dt" sz="half" idx="10"/>
          </p:nvPr>
        </p:nvSpPr>
        <p:spPr/>
        <p:txBody>
          <a:bodyPr/>
          <a:lstStyle/>
          <a:p>
            <a:fld id="{8653E860-4974-4EC7-A3DF-4CC3C4149955}" type="datetimeFigureOut">
              <a:rPr lang="en-IN" smtClean="0"/>
              <a:t>07-09-2026</a:t>
            </a:fld>
            <a:endParaRPr lang="en-IN"/>
          </a:p>
        </p:txBody>
      </p:sp>
      <p:sp>
        <p:nvSpPr>
          <p:cNvPr id="6" name="Footer Placeholder 5">
            <a:extLst>
              <a:ext uri="{FF2B5EF4-FFF2-40B4-BE49-F238E27FC236}">
                <a16:creationId xmlns:a16="http://schemas.microsoft.com/office/drawing/2014/main" id="{AA847D37-E4D3-0227-80AE-452633E55EC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4A3FEFC-F7FE-B5D6-D2BA-96D74F7FEC0B}"/>
              </a:ext>
            </a:extLst>
          </p:cNvPr>
          <p:cNvSpPr>
            <a:spLocks noGrp="1"/>
          </p:cNvSpPr>
          <p:nvPr>
            <p:ph type="sldNum" sz="quarter" idx="12"/>
          </p:nvPr>
        </p:nvSpPr>
        <p:spPr/>
        <p:txBody>
          <a:bodyPr/>
          <a:lstStyle/>
          <a:p>
            <a:fld id="{6F7141CA-DC26-4821-9DF5-350E875964CB}" type="slidenum">
              <a:rPr lang="en-IN" smtClean="0"/>
              <a:t>‹#›</a:t>
            </a:fld>
            <a:endParaRPr lang="en-IN"/>
          </a:p>
        </p:txBody>
      </p:sp>
    </p:spTree>
    <p:extLst>
      <p:ext uri="{BB962C8B-B14F-4D97-AF65-F5344CB8AC3E}">
        <p14:creationId xmlns:p14="http://schemas.microsoft.com/office/powerpoint/2010/main" val="13321121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A7B80A-3F7F-D570-B984-D5D0AF9CD93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9010DB5-AD80-686D-DC9E-0F6D1776BAE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2B3E08C-2746-5E28-78E0-CFE697C6AC2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91808538-6402-E3CD-F85F-551AB660713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003235C-0B54-79E9-BE7F-CAC4A9B10B8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6A9A8E59-78C8-6D35-F997-9843A6F84C5B}"/>
              </a:ext>
            </a:extLst>
          </p:cNvPr>
          <p:cNvSpPr>
            <a:spLocks noGrp="1"/>
          </p:cNvSpPr>
          <p:nvPr>
            <p:ph type="dt" sz="half" idx="10"/>
          </p:nvPr>
        </p:nvSpPr>
        <p:spPr/>
        <p:txBody>
          <a:bodyPr/>
          <a:lstStyle/>
          <a:p>
            <a:fld id="{8653E860-4974-4EC7-A3DF-4CC3C4149955}" type="datetimeFigureOut">
              <a:rPr lang="en-IN" smtClean="0"/>
              <a:t>07-09-2026</a:t>
            </a:fld>
            <a:endParaRPr lang="en-IN"/>
          </a:p>
        </p:txBody>
      </p:sp>
      <p:sp>
        <p:nvSpPr>
          <p:cNvPr id="8" name="Footer Placeholder 7">
            <a:extLst>
              <a:ext uri="{FF2B5EF4-FFF2-40B4-BE49-F238E27FC236}">
                <a16:creationId xmlns:a16="http://schemas.microsoft.com/office/drawing/2014/main" id="{0CDB4438-066E-22BC-C1D3-3D1E59C79EA0}"/>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B4771104-9C6B-2A27-0A1A-C3C657BE0ABC}"/>
              </a:ext>
            </a:extLst>
          </p:cNvPr>
          <p:cNvSpPr>
            <a:spLocks noGrp="1"/>
          </p:cNvSpPr>
          <p:nvPr>
            <p:ph type="sldNum" sz="quarter" idx="12"/>
          </p:nvPr>
        </p:nvSpPr>
        <p:spPr/>
        <p:txBody>
          <a:bodyPr/>
          <a:lstStyle/>
          <a:p>
            <a:fld id="{6F7141CA-DC26-4821-9DF5-350E875964CB}" type="slidenum">
              <a:rPr lang="en-IN" smtClean="0"/>
              <a:t>‹#›</a:t>
            </a:fld>
            <a:endParaRPr lang="en-IN"/>
          </a:p>
        </p:txBody>
      </p:sp>
    </p:spTree>
    <p:extLst>
      <p:ext uri="{BB962C8B-B14F-4D97-AF65-F5344CB8AC3E}">
        <p14:creationId xmlns:p14="http://schemas.microsoft.com/office/powerpoint/2010/main" val="38418546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55C4F3-9D90-BC49-CFFF-336677F3DAF1}"/>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775C992E-C7D6-B701-6A59-98758E70AD9C}"/>
              </a:ext>
            </a:extLst>
          </p:cNvPr>
          <p:cNvSpPr>
            <a:spLocks noGrp="1"/>
          </p:cNvSpPr>
          <p:nvPr>
            <p:ph type="dt" sz="half" idx="10"/>
          </p:nvPr>
        </p:nvSpPr>
        <p:spPr/>
        <p:txBody>
          <a:bodyPr/>
          <a:lstStyle/>
          <a:p>
            <a:fld id="{8653E860-4974-4EC7-A3DF-4CC3C4149955}" type="datetimeFigureOut">
              <a:rPr lang="en-IN" smtClean="0"/>
              <a:t>07-09-2026</a:t>
            </a:fld>
            <a:endParaRPr lang="en-IN"/>
          </a:p>
        </p:txBody>
      </p:sp>
      <p:sp>
        <p:nvSpPr>
          <p:cNvPr id="4" name="Footer Placeholder 3">
            <a:extLst>
              <a:ext uri="{FF2B5EF4-FFF2-40B4-BE49-F238E27FC236}">
                <a16:creationId xmlns:a16="http://schemas.microsoft.com/office/drawing/2014/main" id="{6EBFE974-B906-68B3-BA52-CF9C57E5FB37}"/>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22BE2B57-E3B1-CB40-0054-DC532703259E}"/>
              </a:ext>
            </a:extLst>
          </p:cNvPr>
          <p:cNvSpPr>
            <a:spLocks noGrp="1"/>
          </p:cNvSpPr>
          <p:nvPr>
            <p:ph type="sldNum" sz="quarter" idx="12"/>
          </p:nvPr>
        </p:nvSpPr>
        <p:spPr/>
        <p:txBody>
          <a:bodyPr/>
          <a:lstStyle/>
          <a:p>
            <a:fld id="{6F7141CA-DC26-4821-9DF5-350E875964CB}" type="slidenum">
              <a:rPr lang="en-IN" smtClean="0"/>
              <a:t>‹#›</a:t>
            </a:fld>
            <a:endParaRPr lang="en-IN"/>
          </a:p>
        </p:txBody>
      </p:sp>
    </p:spTree>
    <p:extLst>
      <p:ext uri="{BB962C8B-B14F-4D97-AF65-F5344CB8AC3E}">
        <p14:creationId xmlns:p14="http://schemas.microsoft.com/office/powerpoint/2010/main" val="19173996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807C2D7-B241-E72A-0006-067714395E50}"/>
              </a:ext>
            </a:extLst>
          </p:cNvPr>
          <p:cNvSpPr>
            <a:spLocks noGrp="1"/>
          </p:cNvSpPr>
          <p:nvPr>
            <p:ph type="dt" sz="half" idx="10"/>
          </p:nvPr>
        </p:nvSpPr>
        <p:spPr/>
        <p:txBody>
          <a:bodyPr/>
          <a:lstStyle/>
          <a:p>
            <a:fld id="{8653E860-4974-4EC7-A3DF-4CC3C4149955}" type="datetimeFigureOut">
              <a:rPr lang="en-IN" smtClean="0"/>
              <a:t>07-09-2026</a:t>
            </a:fld>
            <a:endParaRPr lang="en-IN"/>
          </a:p>
        </p:txBody>
      </p:sp>
      <p:sp>
        <p:nvSpPr>
          <p:cNvPr id="3" name="Footer Placeholder 2">
            <a:extLst>
              <a:ext uri="{FF2B5EF4-FFF2-40B4-BE49-F238E27FC236}">
                <a16:creationId xmlns:a16="http://schemas.microsoft.com/office/drawing/2014/main" id="{D2328EA8-7531-11C0-DADD-D3B2EFAB7397}"/>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925C3A21-AA53-23B1-3AA6-CAC866A4E95E}"/>
              </a:ext>
            </a:extLst>
          </p:cNvPr>
          <p:cNvSpPr>
            <a:spLocks noGrp="1"/>
          </p:cNvSpPr>
          <p:nvPr>
            <p:ph type="sldNum" sz="quarter" idx="12"/>
          </p:nvPr>
        </p:nvSpPr>
        <p:spPr/>
        <p:txBody>
          <a:bodyPr/>
          <a:lstStyle/>
          <a:p>
            <a:fld id="{6F7141CA-DC26-4821-9DF5-350E875964CB}" type="slidenum">
              <a:rPr lang="en-IN" smtClean="0"/>
              <a:t>‹#›</a:t>
            </a:fld>
            <a:endParaRPr lang="en-IN"/>
          </a:p>
        </p:txBody>
      </p:sp>
    </p:spTree>
    <p:extLst>
      <p:ext uri="{BB962C8B-B14F-4D97-AF65-F5344CB8AC3E}">
        <p14:creationId xmlns:p14="http://schemas.microsoft.com/office/powerpoint/2010/main" val="19945478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494BA9-22D5-CFEA-4190-51FE3327871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7D3084B2-E450-7748-965D-9C77848BE51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A476BE72-2AD2-EE81-EAC5-A8E02465B1F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4147D38-213D-E745-6ED3-870BEA146523}"/>
              </a:ext>
            </a:extLst>
          </p:cNvPr>
          <p:cNvSpPr>
            <a:spLocks noGrp="1"/>
          </p:cNvSpPr>
          <p:nvPr>
            <p:ph type="dt" sz="half" idx="10"/>
          </p:nvPr>
        </p:nvSpPr>
        <p:spPr/>
        <p:txBody>
          <a:bodyPr/>
          <a:lstStyle/>
          <a:p>
            <a:fld id="{8653E860-4974-4EC7-A3DF-4CC3C4149955}" type="datetimeFigureOut">
              <a:rPr lang="en-IN" smtClean="0"/>
              <a:t>07-09-2026</a:t>
            </a:fld>
            <a:endParaRPr lang="en-IN"/>
          </a:p>
        </p:txBody>
      </p:sp>
      <p:sp>
        <p:nvSpPr>
          <p:cNvPr id="6" name="Footer Placeholder 5">
            <a:extLst>
              <a:ext uri="{FF2B5EF4-FFF2-40B4-BE49-F238E27FC236}">
                <a16:creationId xmlns:a16="http://schemas.microsoft.com/office/drawing/2014/main" id="{9CA07535-5ED5-5AB6-D126-E7388A5BF27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AEEEB88-724A-9A17-65F7-A5D8047B769E}"/>
              </a:ext>
            </a:extLst>
          </p:cNvPr>
          <p:cNvSpPr>
            <a:spLocks noGrp="1"/>
          </p:cNvSpPr>
          <p:nvPr>
            <p:ph type="sldNum" sz="quarter" idx="12"/>
          </p:nvPr>
        </p:nvSpPr>
        <p:spPr/>
        <p:txBody>
          <a:bodyPr/>
          <a:lstStyle/>
          <a:p>
            <a:fld id="{6F7141CA-DC26-4821-9DF5-350E875964CB}" type="slidenum">
              <a:rPr lang="en-IN" smtClean="0"/>
              <a:t>‹#›</a:t>
            </a:fld>
            <a:endParaRPr lang="en-IN"/>
          </a:p>
        </p:txBody>
      </p:sp>
    </p:spTree>
    <p:extLst>
      <p:ext uri="{BB962C8B-B14F-4D97-AF65-F5344CB8AC3E}">
        <p14:creationId xmlns:p14="http://schemas.microsoft.com/office/powerpoint/2010/main" val="42092262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331AD1-A64C-FA3A-DE66-E3D703BACB3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6A78FC65-BC04-4792-91F8-C7D9127651E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3EE23B07-54D9-1A21-61C3-C13DDBB4DF0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E4F8CE1-C2B7-9185-34FD-A5A337931B5F}"/>
              </a:ext>
            </a:extLst>
          </p:cNvPr>
          <p:cNvSpPr>
            <a:spLocks noGrp="1"/>
          </p:cNvSpPr>
          <p:nvPr>
            <p:ph type="dt" sz="half" idx="10"/>
          </p:nvPr>
        </p:nvSpPr>
        <p:spPr/>
        <p:txBody>
          <a:bodyPr/>
          <a:lstStyle/>
          <a:p>
            <a:fld id="{8653E860-4974-4EC7-A3DF-4CC3C4149955}" type="datetimeFigureOut">
              <a:rPr lang="en-IN" smtClean="0"/>
              <a:t>07-09-2026</a:t>
            </a:fld>
            <a:endParaRPr lang="en-IN"/>
          </a:p>
        </p:txBody>
      </p:sp>
      <p:sp>
        <p:nvSpPr>
          <p:cNvPr id="6" name="Footer Placeholder 5">
            <a:extLst>
              <a:ext uri="{FF2B5EF4-FFF2-40B4-BE49-F238E27FC236}">
                <a16:creationId xmlns:a16="http://schemas.microsoft.com/office/drawing/2014/main" id="{AFC5F550-944F-2E10-D268-DF9DB13E97A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29452F7-F3BC-BC6A-9F12-1B38A3D9A0DF}"/>
              </a:ext>
            </a:extLst>
          </p:cNvPr>
          <p:cNvSpPr>
            <a:spLocks noGrp="1"/>
          </p:cNvSpPr>
          <p:nvPr>
            <p:ph type="sldNum" sz="quarter" idx="12"/>
          </p:nvPr>
        </p:nvSpPr>
        <p:spPr/>
        <p:txBody>
          <a:bodyPr/>
          <a:lstStyle/>
          <a:p>
            <a:fld id="{6F7141CA-DC26-4821-9DF5-350E875964CB}" type="slidenum">
              <a:rPr lang="en-IN" smtClean="0"/>
              <a:t>‹#›</a:t>
            </a:fld>
            <a:endParaRPr lang="en-IN"/>
          </a:p>
        </p:txBody>
      </p:sp>
    </p:spTree>
    <p:extLst>
      <p:ext uri="{BB962C8B-B14F-4D97-AF65-F5344CB8AC3E}">
        <p14:creationId xmlns:p14="http://schemas.microsoft.com/office/powerpoint/2010/main" val="2568700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5C85F0-7272-08BE-67CC-41D9D4E18FD2}"/>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6ABB42B-8D06-5A9C-4695-494987B4D50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A0520E5-B908-5CD5-B9AB-9E58278B7CC9}"/>
              </a:ext>
            </a:extLst>
          </p:cNvPr>
          <p:cNvSpPr>
            <a:spLocks noGrp="1"/>
          </p:cNvSpPr>
          <p:nvPr>
            <p:ph type="dt" sz="half" idx="10"/>
          </p:nvPr>
        </p:nvSpPr>
        <p:spPr/>
        <p:txBody>
          <a:bodyPr/>
          <a:lstStyle/>
          <a:p>
            <a:fld id="{8653E860-4974-4EC7-A3DF-4CC3C4149955}" type="datetimeFigureOut">
              <a:rPr lang="en-IN" smtClean="0"/>
              <a:t>07-09-2026</a:t>
            </a:fld>
            <a:endParaRPr lang="en-IN"/>
          </a:p>
        </p:txBody>
      </p:sp>
      <p:sp>
        <p:nvSpPr>
          <p:cNvPr id="5" name="Footer Placeholder 4">
            <a:extLst>
              <a:ext uri="{FF2B5EF4-FFF2-40B4-BE49-F238E27FC236}">
                <a16:creationId xmlns:a16="http://schemas.microsoft.com/office/drawing/2014/main" id="{EF6A7ACE-E674-B46B-BA44-93A4ADF6758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CA7F697-3F2F-7416-B7E9-E831CED6932C}"/>
              </a:ext>
            </a:extLst>
          </p:cNvPr>
          <p:cNvSpPr>
            <a:spLocks noGrp="1"/>
          </p:cNvSpPr>
          <p:nvPr>
            <p:ph type="sldNum" sz="quarter" idx="12"/>
          </p:nvPr>
        </p:nvSpPr>
        <p:spPr/>
        <p:txBody>
          <a:bodyPr/>
          <a:lstStyle/>
          <a:p>
            <a:fld id="{6F7141CA-DC26-4821-9DF5-350E875964CB}" type="slidenum">
              <a:rPr lang="en-IN" smtClean="0"/>
              <a:t>‹#›</a:t>
            </a:fld>
            <a:endParaRPr lang="en-IN"/>
          </a:p>
        </p:txBody>
      </p:sp>
    </p:spTree>
    <p:extLst>
      <p:ext uri="{BB962C8B-B14F-4D97-AF65-F5344CB8AC3E}">
        <p14:creationId xmlns:p14="http://schemas.microsoft.com/office/powerpoint/2010/main" val="40757624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D3256D6-27FC-C5E5-54D9-0F4E5CF25B0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75A9042-6997-7940-86B3-6A531D18834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FDBEE60-736E-A3DF-9C01-9F36CBD3FD44}"/>
              </a:ext>
            </a:extLst>
          </p:cNvPr>
          <p:cNvSpPr>
            <a:spLocks noGrp="1"/>
          </p:cNvSpPr>
          <p:nvPr>
            <p:ph type="dt" sz="half" idx="10"/>
          </p:nvPr>
        </p:nvSpPr>
        <p:spPr/>
        <p:txBody>
          <a:bodyPr/>
          <a:lstStyle/>
          <a:p>
            <a:fld id="{8653E860-4974-4EC7-A3DF-4CC3C4149955}" type="datetimeFigureOut">
              <a:rPr lang="en-IN" smtClean="0"/>
              <a:t>07-09-2026</a:t>
            </a:fld>
            <a:endParaRPr lang="en-IN"/>
          </a:p>
        </p:txBody>
      </p:sp>
      <p:sp>
        <p:nvSpPr>
          <p:cNvPr id="5" name="Footer Placeholder 4">
            <a:extLst>
              <a:ext uri="{FF2B5EF4-FFF2-40B4-BE49-F238E27FC236}">
                <a16:creationId xmlns:a16="http://schemas.microsoft.com/office/drawing/2014/main" id="{BB879388-CE8D-4BF9-81ED-7FBEA7BC2D2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6A3A246-65D7-3FC7-E278-C194986A6769}"/>
              </a:ext>
            </a:extLst>
          </p:cNvPr>
          <p:cNvSpPr>
            <a:spLocks noGrp="1"/>
          </p:cNvSpPr>
          <p:nvPr>
            <p:ph type="sldNum" sz="quarter" idx="12"/>
          </p:nvPr>
        </p:nvSpPr>
        <p:spPr/>
        <p:txBody>
          <a:bodyPr/>
          <a:lstStyle/>
          <a:p>
            <a:fld id="{6F7141CA-DC26-4821-9DF5-350E875964CB}" type="slidenum">
              <a:rPr lang="en-IN" smtClean="0"/>
              <a:t>‹#›</a:t>
            </a:fld>
            <a:endParaRPr lang="en-IN"/>
          </a:p>
        </p:txBody>
      </p:sp>
    </p:spTree>
    <p:extLst>
      <p:ext uri="{BB962C8B-B14F-4D97-AF65-F5344CB8AC3E}">
        <p14:creationId xmlns:p14="http://schemas.microsoft.com/office/powerpoint/2010/main" val="8251093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6C4BD21-358B-268F-3339-562CE90C30D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B2AD693-8130-4F3E-73D5-B735DADCBAC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9550B6A-068B-B20C-CDA1-6432082D60B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653E860-4974-4EC7-A3DF-4CC3C4149955}" type="datetimeFigureOut">
              <a:rPr lang="en-IN" smtClean="0"/>
              <a:t>07-09-2026</a:t>
            </a:fld>
            <a:endParaRPr lang="en-IN"/>
          </a:p>
        </p:txBody>
      </p:sp>
      <p:sp>
        <p:nvSpPr>
          <p:cNvPr id="5" name="Footer Placeholder 4">
            <a:extLst>
              <a:ext uri="{FF2B5EF4-FFF2-40B4-BE49-F238E27FC236}">
                <a16:creationId xmlns:a16="http://schemas.microsoft.com/office/drawing/2014/main" id="{5861880B-3C14-7C54-8C8C-4281849528E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90A5CB2E-9F21-C34C-0854-88FDC604E1D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F7141CA-DC26-4821-9DF5-350E875964CB}" type="slidenum">
              <a:rPr lang="en-IN" smtClean="0"/>
              <a:t>‹#›</a:t>
            </a:fld>
            <a:endParaRPr lang="en-IN"/>
          </a:p>
        </p:txBody>
      </p:sp>
    </p:spTree>
    <p:extLst>
      <p:ext uri="{BB962C8B-B14F-4D97-AF65-F5344CB8AC3E}">
        <p14:creationId xmlns:p14="http://schemas.microsoft.com/office/powerpoint/2010/main" val="17965433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6.xml"/></Relationships>
</file>

<file path=ppt/slides/_rels/slide6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6.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A6F984-0589-4C2B-8A4E-C279BA93927D}"/>
              </a:ext>
            </a:extLst>
          </p:cNvPr>
          <p:cNvSpPr>
            <a:spLocks noGrp="1"/>
          </p:cNvSpPr>
          <p:nvPr>
            <p:ph type="ctrTitle"/>
          </p:nvPr>
        </p:nvSpPr>
        <p:spPr>
          <a:xfrm>
            <a:off x="1523999" y="1122363"/>
            <a:ext cx="9409471" cy="3193998"/>
          </a:xfrm>
        </p:spPr>
        <p:txBody>
          <a:bodyPr/>
          <a:lstStyle/>
          <a:p>
            <a:r>
              <a:rPr lang="en-US" b="1" dirty="0">
                <a:latin typeface="+mn-lt"/>
              </a:rPr>
              <a:t>Unit II</a:t>
            </a:r>
            <a:br>
              <a:rPr lang="en-US" b="1" dirty="0">
                <a:latin typeface="+mn-lt"/>
              </a:rPr>
            </a:br>
            <a:r>
              <a:rPr lang="en-US" b="1" dirty="0">
                <a:latin typeface="+mn-lt"/>
              </a:rPr>
              <a:t>Research Design</a:t>
            </a:r>
            <a:endParaRPr lang="en-IN" b="1" dirty="0">
              <a:latin typeface="+mn-lt"/>
            </a:endParaRPr>
          </a:p>
        </p:txBody>
      </p:sp>
    </p:spTree>
    <p:extLst>
      <p:ext uri="{BB962C8B-B14F-4D97-AF65-F5344CB8AC3E}">
        <p14:creationId xmlns:p14="http://schemas.microsoft.com/office/powerpoint/2010/main" val="11909380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F946E55-EF23-4163-B22D-82AE055DDE63}"/>
              </a:ext>
            </a:extLst>
          </p:cNvPr>
          <p:cNvSpPr>
            <a:spLocks noGrp="1"/>
          </p:cNvSpPr>
          <p:nvPr>
            <p:ph type="title"/>
          </p:nvPr>
        </p:nvSpPr>
        <p:spPr>
          <a:xfrm>
            <a:off x="838200" y="479927"/>
            <a:ext cx="10515600" cy="342798"/>
          </a:xfrm>
        </p:spPr>
        <p:txBody>
          <a:bodyPr>
            <a:normAutofit fontScale="90000"/>
          </a:bodyPr>
          <a:lstStyle/>
          <a:p>
            <a:pPr algn="ctr"/>
            <a:r>
              <a:rPr lang="en-US" b="1" dirty="0">
                <a:solidFill>
                  <a:srgbClr val="FF0000"/>
                </a:solidFill>
                <a:latin typeface="+mn-lt"/>
              </a:rPr>
              <a:t>Research Design</a:t>
            </a:r>
            <a:endParaRPr lang="en-IN" b="1" dirty="0">
              <a:solidFill>
                <a:srgbClr val="FF0000"/>
              </a:solidFill>
              <a:latin typeface="+mn-lt"/>
            </a:endParaRPr>
          </a:p>
        </p:txBody>
      </p:sp>
      <p:pic>
        <p:nvPicPr>
          <p:cNvPr id="5" name="Picture 4">
            <a:extLst>
              <a:ext uri="{FF2B5EF4-FFF2-40B4-BE49-F238E27FC236}">
                <a16:creationId xmlns:a16="http://schemas.microsoft.com/office/drawing/2014/main" id="{6CC3656F-5D47-12B5-DE99-CCB8FDA159AF}"/>
              </a:ext>
            </a:extLst>
          </p:cNvPr>
          <p:cNvPicPr>
            <a:picLocks noChangeAspect="1"/>
          </p:cNvPicPr>
          <p:nvPr/>
        </p:nvPicPr>
        <p:blipFill>
          <a:blip r:embed="rId2"/>
          <a:stretch>
            <a:fillRect/>
          </a:stretch>
        </p:blipFill>
        <p:spPr>
          <a:xfrm>
            <a:off x="838200" y="993403"/>
            <a:ext cx="10016613" cy="5359883"/>
          </a:xfrm>
          <a:prstGeom prst="rect">
            <a:avLst/>
          </a:prstGeom>
        </p:spPr>
      </p:pic>
    </p:spTree>
    <p:extLst>
      <p:ext uri="{BB962C8B-B14F-4D97-AF65-F5344CB8AC3E}">
        <p14:creationId xmlns:p14="http://schemas.microsoft.com/office/powerpoint/2010/main" val="35784969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F946E55-EF23-4163-B22D-82AE055DDE63}"/>
              </a:ext>
            </a:extLst>
          </p:cNvPr>
          <p:cNvSpPr>
            <a:spLocks noGrp="1"/>
          </p:cNvSpPr>
          <p:nvPr>
            <p:ph type="title"/>
          </p:nvPr>
        </p:nvSpPr>
        <p:spPr/>
        <p:txBody>
          <a:bodyPr>
            <a:normAutofit/>
          </a:bodyPr>
          <a:lstStyle/>
          <a:p>
            <a:pPr algn="ctr"/>
            <a:r>
              <a:rPr lang="en-US" b="1" dirty="0">
                <a:solidFill>
                  <a:srgbClr val="FF0000"/>
                </a:solidFill>
                <a:latin typeface="+mn-lt"/>
              </a:rPr>
              <a:t>Research Design</a:t>
            </a:r>
            <a:endParaRPr lang="en-IN" b="1" dirty="0">
              <a:solidFill>
                <a:srgbClr val="FF0000"/>
              </a:solidFill>
              <a:latin typeface="+mn-lt"/>
            </a:endParaRPr>
          </a:p>
        </p:txBody>
      </p:sp>
      <p:sp>
        <p:nvSpPr>
          <p:cNvPr id="2" name="Content Placeholder 1"/>
          <p:cNvSpPr>
            <a:spLocks noGrp="1"/>
          </p:cNvSpPr>
          <p:nvPr>
            <p:ph idx="1"/>
          </p:nvPr>
        </p:nvSpPr>
        <p:spPr/>
        <p:txBody>
          <a:bodyPr>
            <a:normAutofit fontScale="92500" lnSpcReduction="20000"/>
          </a:bodyPr>
          <a:lstStyle/>
          <a:p>
            <a:r>
              <a:rPr lang="en-US" dirty="0"/>
              <a:t>What is the study about?</a:t>
            </a:r>
          </a:p>
          <a:p>
            <a:r>
              <a:rPr lang="en-US" dirty="0"/>
              <a:t>Why is the study being made?</a:t>
            </a:r>
          </a:p>
          <a:p>
            <a:r>
              <a:rPr lang="en-US" dirty="0"/>
              <a:t>Where will the study be carried out?</a:t>
            </a:r>
          </a:p>
          <a:p>
            <a:r>
              <a:rPr lang="en-US" dirty="0"/>
              <a:t>What type of data is required?</a:t>
            </a:r>
          </a:p>
          <a:p>
            <a:r>
              <a:rPr lang="en-US" dirty="0"/>
              <a:t>Where can the required data be found?</a:t>
            </a:r>
          </a:p>
          <a:p>
            <a:r>
              <a:rPr lang="en-US" dirty="0"/>
              <a:t>What periods of time will the study include?</a:t>
            </a:r>
          </a:p>
          <a:p>
            <a:r>
              <a:rPr lang="en-US" dirty="0"/>
              <a:t>What will be the sample design?</a:t>
            </a:r>
          </a:p>
          <a:p>
            <a:r>
              <a:rPr lang="en-US" dirty="0"/>
              <a:t>What techniques of data collection will be used?</a:t>
            </a:r>
          </a:p>
          <a:p>
            <a:r>
              <a:rPr lang="en-US" dirty="0"/>
              <a:t>How will the data be analyzed?</a:t>
            </a:r>
          </a:p>
          <a:p>
            <a:r>
              <a:rPr lang="en-US" dirty="0"/>
              <a:t>In what style will the report be prepared?</a:t>
            </a:r>
          </a:p>
          <a:p>
            <a:endParaRPr lang="en-IN" dirty="0"/>
          </a:p>
        </p:txBody>
      </p:sp>
    </p:spTree>
    <p:extLst>
      <p:ext uri="{BB962C8B-B14F-4D97-AF65-F5344CB8AC3E}">
        <p14:creationId xmlns:p14="http://schemas.microsoft.com/office/powerpoint/2010/main" val="4838874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F946E55-EF23-4163-B22D-82AE055DDE63}"/>
              </a:ext>
            </a:extLst>
          </p:cNvPr>
          <p:cNvSpPr>
            <a:spLocks noGrp="1"/>
          </p:cNvSpPr>
          <p:nvPr>
            <p:ph type="title"/>
          </p:nvPr>
        </p:nvSpPr>
        <p:spPr/>
        <p:txBody>
          <a:bodyPr>
            <a:normAutofit/>
          </a:bodyPr>
          <a:lstStyle/>
          <a:p>
            <a:pPr algn="ctr"/>
            <a:r>
              <a:rPr lang="en-US" b="1" dirty="0">
                <a:solidFill>
                  <a:srgbClr val="FF0000"/>
                </a:solidFill>
                <a:latin typeface="+mn-lt"/>
              </a:rPr>
              <a:t>Research Design</a:t>
            </a:r>
            <a:endParaRPr lang="en-IN" b="1" dirty="0">
              <a:solidFill>
                <a:srgbClr val="FF0000"/>
              </a:solidFill>
              <a:latin typeface="+mn-lt"/>
            </a:endParaRPr>
          </a:p>
        </p:txBody>
      </p:sp>
      <p:sp>
        <p:nvSpPr>
          <p:cNvPr id="2" name="Content Placeholder 1"/>
          <p:cNvSpPr>
            <a:spLocks noGrp="1"/>
          </p:cNvSpPr>
          <p:nvPr>
            <p:ph idx="1"/>
          </p:nvPr>
        </p:nvSpPr>
        <p:spPr/>
        <p:txBody>
          <a:bodyPr>
            <a:normAutofit/>
          </a:bodyPr>
          <a:lstStyle/>
          <a:p>
            <a:r>
              <a:rPr lang="en-US" dirty="0"/>
              <a:t>Sampling Design: Method of selecting items to be observed for the given study</a:t>
            </a:r>
          </a:p>
          <a:p>
            <a:r>
              <a:rPr lang="en-US" dirty="0"/>
              <a:t>Observational Design: Conditions under which observation must be made</a:t>
            </a:r>
          </a:p>
          <a:p>
            <a:r>
              <a:rPr lang="en-US" dirty="0"/>
              <a:t>Statistical Design: How many data items to be observed? How information / data gathered has to be </a:t>
            </a:r>
            <a:r>
              <a:rPr lang="en-US" dirty="0" err="1"/>
              <a:t>analysed</a:t>
            </a:r>
            <a:r>
              <a:rPr lang="en-US" dirty="0"/>
              <a:t>?</a:t>
            </a:r>
          </a:p>
          <a:p>
            <a:r>
              <a:rPr lang="en-US" dirty="0"/>
              <a:t>Operational Design: Techniques by which  procedures specified in sampling, statistical and observational designs can be carried out.</a:t>
            </a:r>
          </a:p>
          <a:p>
            <a:endParaRPr lang="en-IN" dirty="0"/>
          </a:p>
        </p:txBody>
      </p:sp>
    </p:spTree>
    <p:extLst>
      <p:ext uri="{BB962C8B-B14F-4D97-AF65-F5344CB8AC3E}">
        <p14:creationId xmlns:p14="http://schemas.microsoft.com/office/powerpoint/2010/main" val="23671474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AAF21A-B257-BE05-776A-8E6B9C40F033}"/>
              </a:ext>
            </a:extLst>
          </p:cNvPr>
          <p:cNvSpPr>
            <a:spLocks noGrp="1"/>
          </p:cNvSpPr>
          <p:nvPr>
            <p:ph type="title"/>
          </p:nvPr>
        </p:nvSpPr>
        <p:spPr>
          <a:xfrm>
            <a:off x="838200" y="365126"/>
            <a:ext cx="10515600" cy="519778"/>
          </a:xfrm>
        </p:spPr>
        <p:txBody>
          <a:bodyPr>
            <a:normAutofit fontScale="90000"/>
          </a:bodyPr>
          <a:lstStyle/>
          <a:p>
            <a:pPr algn="ctr"/>
            <a:r>
              <a:rPr lang="en-US" b="1" dirty="0">
                <a:solidFill>
                  <a:srgbClr val="FF0000"/>
                </a:solidFill>
                <a:latin typeface="+mn-lt"/>
              </a:rPr>
              <a:t>Need of research design</a:t>
            </a:r>
            <a:endParaRPr lang="en-IN" b="1" dirty="0">
              <a:solidFill>
                <a:srgbClr val="FF0000"/>
              </a:solidFill>
              <a:latin typeface="+mn-lt"/>
            </a:endParaRPr>
          </a:p>
        </p:txBody>
      </p:sp>
      <p:pic>
        <p:nvPicPr>
          <p:cNvPr id="4" name="Picture 3">
            <a:extLst>
              <a:ext uri="{FF2B5EF4-FFF2-40B4-BE49-F238E27FC236}">
                <a16:creationId xmlns:a16="http://schemas.microsoft.com/office/drawing/2014/main" id="{D43335BA-79C9-DCBF-8C7D-21B9718ACF87}"/>
              </a:ext>
            </a:extLst>
          </p:cNvPr>
          <p:cNvPicPr>
            <a:picLocks noChangeAspect="1"/>
          </p:cNvPicPr>
          <p:nvPr/>
        </p:nvPicPr>
        <p:blipFill rotWithShape="1">
          <a:blip r:embed="rId2"/>
          <a:srcRect l="2273" t="24885" r="5905" b="6129"/>
          <a:stretch/>
        </p:blipFill>
        <p:spPr>
          <a:xfrm>
            <a:off x="530942" y="992461"/>
            <a:ext cx="10929460" cy="5220929"/>
          </a:xfrm>
          <a:prstGeom prst="rect">
            <a:avLst/>
          </a:prstGeom>
        </p:spPr>
      </p:pic>
    </p:spTree>
    <p:extLst>
      <p:ext uri="{BB962C8B-B14F-4D97-AF65-F5344CB8AC3E}">
        <p14:creationId xmlns:p14="http://schemas.microsoft.com/office/powerpoint/2010/main" val="18891737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0959CCA-7B5A-455D-93F3-5FD0011DEA74}"/>
              </a:ext>
            </a:extLst>
          </p:cNvPr>
          <p:cNvSpPr>
            <a:spLocks noGrp="1"/>
          </p:cNvSpPr>
          <p:nvPr>
            <p:ph type="title"/>
          </p:nvPr>
        </p:nvSpPr>
        <p:spPr>
          <a:xfrm>
            <a:off x="863958" y="257246"/>
            <a:ext cx="10515600" cy="549275"/>
          </a:xfrm>
        </p:spPr>
        <p:txBody>
          <a:bodyPr>
            <a:normAutofit fontScale="90000"/>
          </a:bodyPr>
          <a:lstStyle/>
          <a:p>
            <a:pPr algn="ctr"/>
            <a:r>
              <a:rPr lang="en-US" b="1" dirty="0">
                <a:solidFill>
                  <a:srgbClr val="FF0000"/>
                </a:solidFill>
                <a:latin typeface="+mn-lt"/>
              </a:rPr>
              <a:t>Features of a Good Design</a:t>
            </a:r>
            <a:endParaRPr lang="en-IN" b="1" dirty="0">
              <a:solidFill>
                <a:srgbClr val="FF0000"/>
              </a:solidFill>
              <a:latin typeface="+mn-lt"/>
            </a:endParaRPr>
          </a:p>
        </p:txBody>
      </p:sp>
      <p:pic>
        <p:nvPicPr>
          <p:cNvPr id="5" name="Picture 4">
            <a:extLst>
              <a:ext uri="{FF2B5EF4-FFF2-40B4-BE49-F238E27FC236}">
                <a16:creationId xmlns:a16="http://schemas.microsoft.com/office/drawing/2014/main" id="{C838F2F8-5FC3-3ACC-294D-33C90AB0AF52}"/>
              </a:ext>
            </a:extLst>
          </p:cNvPr>
          <p:cNvPicPr>
            <a:picLocks noChangeAspect="1"/>
          </p:cNvPicPr>
          <p:nvPr/>
        </p:nvPicPr>
        <p:blipFill rotWithShape="1">
          <a:blip r:embed="rId2"/>
          <a:srcRect l="6083" t="22784" r="4823" b="4072"/>
          <a:stretch/>
        </p:blipFill>
        <p:spPr>
          <a:xfrm>
            <a:off x="648929" y="900880"/>
            <a:ext cx="10950850" cy="5699874"/>
          </a:xfrm>
          <a:prstGeom prst="rect">
            <a:avLst/>
          </a:prstGeom>
        </p:spPr>
      </p:pic>
    </p:spTree>
    <p:extLst>
      <p:ext uri="{BB962C8B-B14F-4D97-AF65-F5344CB8AC3E}">
        <p14:creationId xmlns:p14="http://schemas.microsoft.com/office/powerpoint/2010/main" val="28779147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0959CCA-7B5A-455D-93F3-5FD0011DEA74}"/>
              </a:ext>
            </a:extLst>
          </p:cNvPr>
          <p:cNvSpPr>
            <a:spLocks noGrp="1"/>
          </p:cNvSpPr>
          <p:nvPr>
            <p:ph type="title"/>
          </p:nvPr>
        </p:nvSpPr>
        <p:spPr/>
        <p:txBody>
          <a:bodyPr>
            <a:normAutofit/>
          </a:bodyPr>
          <a:lstStyle/>
          <a:p>
            <a:pPr algn="ctr"/>
            <a:r>
              <a:rPr lang="en-US" b="1" dirty="0">
                <a:solidFill>
                  <a:srgbClr val="FF0000"/>
                </a:solidFill>
                <a:latin typeface="+mn-lt"/>
              </a:rPr>
              <a:t>Features of a Good Design</a:t>
            </a:r>
            <a:endParaRPr lang="en-IN" b="1" dirty="0">
              <a:solidFill>
                <a:srgbClr val="FF0000"/>
              </a:solidFill>
              <a:latin typeface="+mn-lt"/>
            </a:endParaRPr>
          </a:p>
        </p:txBody>
      </p:sp>
      <p:sp>
        <p:nvSpPr>
          <p:cNvPr id="2" name="Content Placeholder 1"/>
          <p:cNvSpPr>
            <a:spLocks noGrp="1"/>
          </p:cNvSpPr>
          <p:nvPr>
            <p:ph idx="1"/>
          </p:nvPr>
        </p:nvSpPr>
        <p:spPr>
          <a:xfrm>
            <a:off x="100584" y="1390522"/>
            <a:ext cx="11439144" cy="4900549"/>
          </a:xfrm>
        </p:spPr>
        <p:txBody>
          <a:bodyPr>
            <a:normAutofit/>
          </a:bodyPr>
          <a:lstStyle/>
          <a:p>
            <a:r>
              <a:rPr lang="en-US" dirty="0"/>
              <a:t>Research design  involves consideration of following factors:</a:t>
            </a:r>
          </a:p>
          <a:p>
            <a:pPr>
              <a:buFont typeface="Courier New" panose="02070309020205020404" pitchFamily="49" charset="0"/>
              <a:buChar char="o"/>
            </a:pPr>
            <a:r>
              <a:rPr lang="en-US" dirty="0"/>
              <a:t>Means of obtaining information</a:t>
            </a:r>
          </a:p>
          <a:p>
            <a:pPr>
              <a:buFont typeface="Courier New" panose="02070309020205020404" pitchFamily="49" charset="0"/>
              <a:buChar char="o"/>
            </a:pPr>
            <a:r>
              <a:rPr lang="en-US" dirty="0"/>
              <a:t>Availability and skills of researcher and his staff</a:t>
            </a:r>
          </a:p>
          <a:p>
            <a:pPr>
              <a:buFont typeface="Courier New" panose="02070309020205020404" pitchFamily="49" charset="0"/>
              <a:buChar char="o"/>
            </a:pPr>
            <a:r>
              <a:rPr lang="en-US" dirty="0"/>
              <a:t>Objective of the problem to be studied</a:t>
            </a:r>
          </a:p>
          <a:p>
            <a:pPr>
              <a:buFont typeface="Courier New" panose="02070309020205020404" pitchFamily="49" charset="0"/>
              <a:buChar char="o"/>
            </a:pPr>
            <a:r>
              <a:rPr lang="en-US" dirty="0"/>
              <a:t>Nature of the problem to be studied</a:t>
            </a:r>
          </a:p>
          <a:p>
            <a:pPr>
              <a:buFont typeface="Courier New" panose="02070309020205020404" pitchFamily="49" charset="0"/>
              <a:buChar char="o"/>
            </a:pPr>
            <a:r>
              <a:rPr lang="en-US" dirty="0"/>
              <a:t>Availability of time and money</a:t>
            </a:r>
          </a:p>
          <a:p>
            <a:r>
              <a:rPr lang="en-US" dirty="0"/>
              <a:t>Exploratory / </a:t>
            </a:r>
            <a:r>
              <a:rPr lang="en-US" dirty="0" err="1"/>
              <a:t>Formulative</a:t>
            </a:r>
            <a:r>
              <a:rPr lang="en-US" dirty="0"/>
              <a:t> -&gt; Research design must be flexible to permit consideration of many aspects of the phenomenon</a:t>
            </a:r>
          </a:p>
          <a:p>
            <a:r>
              <a:rPr lang="en-US" dirty="0"/>
              <a:t>Hypothesis &gt; Minimization of bias and maximization of reliability</a:t>
            </a:r>
            <a:r>
              <a:rPr lang="en-IN" dirty="0"/>
              <a:t>.</a:t>
            </a:r>
            <a:endParaRPr lang="en-US" dirty="0"/>
          </a:p>
        </p:txBody>
      </p:sp>
    </p:spTree>
    <p:extLst>
      <p:ext uri="{BB962C8B-B14F-4D97-AF65-F5344CB8AC3E}">
        <p14:creationId xmlns:p14="http://schemas.microsoft.com/office/powerpoint/2010/main" val="27648339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B9C919B-296C-9A7B-605A-C21FB7D98756}"/>
              </a:ext>
            </a:extLst>
          </p:cNvPr>
          <p:cNvSpPr>
            <a:spLocks noGrp="1"/>
          </p:cNvSpPr>
          <p:nvPr>
            <p:ph type="title"/>
          </p:nvPr>
        </p:nvSpPr>
        <p:spPr>
          <a:xfrm>
            <a:off x="838200" y="365125"/>
            <a:ext cx="10515600" cy="608269"/>
          </a:xfrm>
        </p:spPr>
        <p:txBody>
          <a:bodyPr>
            <a:normAutofit/>
          </a:bodyPr>
          <a:lstStyle/>
          <a:p>
            <a:pPr algn="ctr"/>
            <a:r>
              <a:rPr lang="en-US" sz="3600" b="1" dirty="0">
                <a:solidFill>
                  <a:srgbClr val="FF0000"/>
                </a:solidFill>
                <a:latin typeface="+mn-lt"/>
              </a:rPr>
              <a:t>Concepts relating to research design</a:t>
            </a:r>
            <a:endParaRPr lang="en-IN" sz="3600" dirty="0"/>
          </a:p>
        </p:txBody>
      </p:sp>
      <p:sp>
        <p:nvSpPr>
          <p:cNvPr id="4" name="Content Placeholder 3">
            <a:extLst>
              <a:ext uri="{FF2B5EF4-FFF2-40B4-BE49-F238E27FC236}">
                <a16:creationId xmlns:a16="http://schemas.microsoft.com/office/drawing/2014/main" id="{8CDAE8C9-C780-1B9A-5239-67B64014BAFA}"/>
              </a:ext>
            </a:extLst>
          </p:cNvPr>
          <p:cNvSpPr>
            <a:spLocks noGrp="1"/>
          </p:cNvSpPr>
          <p:nvPr>
            <p:ph idx="1"/>
          </p:nvPr>
        </p:nvSpPr>
        <p:spPr>
          <a:xfrm>
            <a:off x="425245" y="1117701"/>
            <a:ext cx="11442290" cy="5375173"/>
          </a:xfrm>
        </p:spPr>
        <p:txBody>
          <a:bodyPr>
            <a:normAutofit lnSpcReduction="10000"/>
          </a:bodyPr>
          <a:lstStyle/>
          <a:p>
            <a:endParaRPr lang="en-US" b="1" dirty="0"/>
          </a:p>
          <a:p>
            <a:pPr>
              <a:buFont typeface="Wingdings" panose="05000000000000000000" pitchFamily="2" charset="2"/>
              <a:buChar char="q"/>
            </a:pPr>
            <a:r>
              <a:rPr lang="en-US" b="1" dirty="0">
                <a:solidFill>
                  <a:srgbClr val="00B050"/>
                </a:solidFill>
              </a:rPr>
              <a:t>Variables</a:t>
            </a:r>
          </a:p>
          <a:p>
            <a:r>
              <a:rPr lang="en-US" b="1" dirty="0"/>
              <a:t>Dependent variables and independent variables</a:t>
            </a:r>
          </a:p>
          <a:p>
            <a:r>
              <a:rPr lang="en-US" b="1" dirty="0"/>
              <a:t>Extraneous variables and confounded variables</a:t>
            </a:r>
          </a:p>
          <a:p>
            <a:pPr>
              <a:buFont typeface="Wingdings" panose="05000000000000000000" pitchFamily="2" charset="2"/>
              <a:buChar char="q"/>
            </a:pPr>
            <a:endParaRPr lang="en-US" b="1" dirty="0"/>
          </a:p>
          <a:p>
            <a:pPr>
              <a:buFont typeface="Wingdings" panose="05000000000000000000" pitchFamily="2" charset="2"/>
              <a:buChar char="q"/>
            </a:pPr>
            <a:r>
              <a:rPr lang="en-US" b="1" dirty="0">
                <a:solidFill>
                  <a:srgbClr val="00B050"/>
                </a:solidFill>
              </a:rPr>
              <a:t>Research Hypothesis</a:t>
            </a:r>
          </a:p>
          <a:p>
            <a:r>
              <a:rPr lang="en-US" b="1" dirty="0"/>
              <a:t>Null and Alternate hypothesis</a:t>
            </a:r>
          </a:p>
          <a:p>
            <a:r>
              <a:rPr lang="en-US" b="1" dirty="0"/>
              <a:t>Directional and Non directional hypothesis</a:t>
            </a:r>
          </a:p>
          <a:p>
            <a:pPr>
              <a:buFont typeface="Wingdings" panose="05000000000000000000" pitchFamily="2" charset="2"/>
              <a:buChar char="q"/>
            </a:pPr>
            <a:endParaRPr lang="en-US" b="1" dirty="0"/>
          </a:p>
          <a:p>
            <a:pPr>
              <a:buFont typeface="Wingdings" panose="05000000000000000000" pitchFamily="2" charset="2"/>
              <a:buChar char="q"/>
            </a:pPr>
            <a:r>
              <a:rPr lang="en-US" b="1" dirty="0">
                <a:solidFill>
                  <a:srgbClr val="00B050"/>
                </a:solidFill>
              </a:rPr>
              <a:t>Experimental and Control groups</a:t>
            </a:r>
          </a:p>
          <a:p>
            <a:pPr>
              <a:buFont typeface="Wingdings" panose="05000000000000000000" pitchFamily="2" charset="2"/>
              <a:buChar char="q"/>
            </a:pPr>
            <a:r>
              <a:rPr lang="en-US" b="1" dirty="0">
                <a:solidFill>
                  <a:srgbClr val="00B050"/>
                </a:solidFill>
              </a:rPr>
              <a:t>Treatments</a:t>
            </a:r>
            <a:endParaRPr lang="en-IN" b="1" dirty="0">
              <a:solidFill>
                <a:srgbClr val="00B050"/>
              </a:solidFill>
            </a:endParaRPr>
          </a:p>
        </p:txBody>
      </p:sp>
    </p:spTree>
    <p:extLst>
      <p:ext uri="{BB962C8B-B14F-4D97-AF65-F5344CB8AC3E}">
        <p14:creationId xmlns:p14="http://schemas.microsoft.com/office/powerpoint/2010/main" val="3693791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1ADD2710-D4BC-FB3E-3F35-EC63F2F34941}"/>
              </a:ext>
            </a:extLst>
          </p:cNvPr>
          <p:cNvGraphicFramePr>
            <a:graphicFrameLocks noGrp="1"/>
          </p:cNvGraphicFramePr>
          <p:nvPr>
            <p:ph idx="1"/>
            <p:extLst>
              <p:ext uri="{D42A27DB-BD31-4B8C-83A1-F6EECF244321}">
                <p14:modId xmlns:p14="http://schemas.microsoft.com/office/powerpoint/2010/main" val="2358110811"/>
              </p:ext>
            </p:extLst>
          </p:nvPr>
        </p:nvGraphicFramePr>
        <p:xfrm>
          <a:off x="886968" y="1399032"/>
          <a:ext cx="10469880" cy="4288535"/>
        </p:xfrm>
        <a:graphic>
          <a:graphicData uri="http://schemas.openxmlformats.org/drawingml/2006/table">
            <a:tbl>
              <a:tblPr/>
              <a:tblGrid>
                <a:gridCol w="3489960">
                  <a:extLst>
                    <a:ext uri="{9D8B030D-6E8A-4147-A177-3AD203B41FA5}">
                      <a16:colId xmlns:a16="http://schemas.microsoft.com/office/drawing/2014/main" val="515047296"/>
                    </a:ext>
                  </a:extLst>
                </a:gridCol>
                <a:gridCol w="3489960">
                  <a:extLst>
                    <a:ext uri="{9D8B030D-6E8A-4147-A177-3AD203B41FA5}">
                      <a16:colId xmlns:a16="http://schemas.microsoft.com/office/drawing/2014/main" val="3718254560"/>
                    </a:ext>
                  </a:extLst>
                </a:gridCol>
                <a:gridCol w="3489960">
                  <a:extLst>
                    <a:ext uri="{9D8B030D-6E8A-4147-A177-3AD203B41FA5}">
                      <a16:colId xmlns:a16="http://schemas.microsoft.com/office/drawing/2014/main" val="1391692975"/>
                    </a:ext>
                  </a:extLst>
                </a:gridCol>
              </a:tblGrid>
              <a:tr h="745832">
                <a:tc>
                  <a:txBody>
                    <a:bodyPr/>
                    <a:lstStyle/>
                    <a:p>
                      <a:pPr>
                        <a:buNone/>
                      </a:pPr>
                      <a:r>
                        <a:rPr lang="en-IN" b="1" dirty="0"/>
                        <a:t>Term</a:t>
                      </a:r>
                    </a:p>
                  </a:txBody>
                  <a:tcPr anchor="ctr">
                    <a:lnL>
                      <a:noFill/>
                    </a:lnL>
                    <a:lnR>
                      <a:noFill/>
                    </a:lnR>
                    <a:lnT>
                      <a:noFill/>
                    </a:lnT>
                    <a:lnB>
                      <a:noFill/>
                    </a:lnB>
                    <a:noFill/>
                  </a:tcPr>
                </a:tc>
                <a:tc>
                  <a:txBody>
                    <a:bodyPr/>
                    <a:lstStyle/>
                    <a:p>
                      <a:pPr>
                        <a:buNone/>
                      </a:pPr>
                      <a:r>
                        <a:rPr lang="en-IN" b="1"/>
                        <a:t>Role</a:t>
                      </a:r>
                      <a:endParaRPr lang="en-IN" b="1" dirty="0"/>
                    </a:p>
                  </a:txBody>
                  <a:tcPr anchor="ctr">
                    <a:lnL>
                      <a:noFill/>
                    </a:lnL>
                    <a:lnR>
                      <a:noFill/>
                    </a:lnR>
                    <a:lnT>
                      <a:noFill/>
                    </a:lnT>
                    <a:lnB>
                      <a:noFill/>
                    </a:lnB>
                    <a:noFill/>
                  </a:tcPr>
                </a:tc>
                <a:tc>
                  <a:txBody>
                    <a:bodyPr/>
                    <a:lstStyle/>
                    <a:p>
                      <a:pPr>
                        <a:buNone/>
                      </a:pPr>
                      <a:r>
                        <a:rPr lang="en-IN" b="1" dirty="0"/>
                        <a:t>Example</a:t>
                      </a:r>
                    </a:p>
                  </a:txBody>
                  <a:tcPr anchor="ctr">
                    <a:lnL>
                      <a:noFill/>
                    </a:lnL>
                    <a:lnR>
                      <a:noFill/>
                    </a:lnR>
                    <a:lnT>
                      <a:noFill/>
                    </a:lnT>
                    <a:lnB>
                      <a:noFill/>
                    </a:lnB>
                    <a:noFill/>
                  </a:tcPr>
                </a:tc>
                <a:extLst>
                  <a:ext uri="{0D108BD9-81ED-4DB2-BD59-A6C34878D82A}">
                    <a16:rowId xmlns:a16="http://schemas.microsoft.com/office/drawing/2014/main" val="2257573171"/>
                  </a:ext>
                </a:extLst>
              </a:tr>
              <a:tr h="745832">
                <a:tc>
                  <a:txBody>
                    <a:bodyPr/>
                    <a:lstStyle/>
                    <a:p>
                      <a:pPr>
                        <a:buNone/>
                      </a:pPr>
                      <a:r>
                        <a:rPr lang="en-IN"/>
                        <a:t>Dependent Variable (DV)</a:t>
                      </a:r>
                    </a:p>
                  </a:txBody>
                  <a:tcPr anchor="ctr">
                    <a:lnL>
                      <a:noFill/>
                    </a:lnL>
                    <a:lnR>
                      <a:noFill/>
                    </a:lnR>
                    <a:lnT>
                      <a:noFill/>
                    </a:lnT>
                    <a:lnB>
                      <a:noFill/>
                    </a:lnB>
                    <a:noFill/>
                  </a:tcPr>
                </a:tc>
                <a:tc>
                  <a:txBody>
                    <a:bodyPr/>
                    <a:lstStyle/>
                    <a:p>
                      <a:pPr>
                        <a:buNone/>
                      </a:pPr>
                      <a:r>
                        <a:rPr lang="en-IN"/>
                        <a:t>Measured outcome</a:t>
                      </a:r>
                    </a:p>
                  </a:txBody>
                  <a:tcPr anchor="ctr">
                    <a:lnL>
                      <a:noFill/>
                    </a:lnL>
                    <a:lnR>
                      <a:noFill/>
                    </a:lnR>
                    <a:lnT>
                      <a:noFill/>
                    </a:lnT>
                    <a:lnB>
                      <a:noFill/>
                    </a:lnB>
                    <a:noFill/>
                  </a:tcPr>
                </a:tc>
                <a:tc>
                  <a:txBody>
                    <a:bodyPr/>
                    <a:lstStyle/>
                    <a:p>
                      <a:pPr>
                        <a:buNone/>
                      </a:pPr>
                      <a:r>
                        <a:rPr lang="en-IN"/>
                        <a:t>Model accuracy (%)</a:t>
                      </a:r>
                    </a:p>
                  </a:txBody>
                  <a:tcPr anchor="ctr">
                    <a:lnL>
                      <a:noFill/>
                    </a:lnL>
                    <a:lnR>
                      <a:noFill/>
                    </a:lnR>
                    <a:lnT>
                      <a:noFill/>
                    </a:lnT>
                    <a:lnB>
                      <a:noFill/>
                    </a:lnB>
                    <a:noFill/>
                  </a:tcPr>
                </a:tc>
                <a:extLst>
                  <a:ext uri="{0D108BD9-81ED-4DB2-BD59-A6C34878D82A}">
                    <a16:rowId xmlns:a16="http://schemas.microsoft.com/office/drawing/2014/main" val="1877101716"/>
                  </a:ext>
                </a:extLst>
              </a:tr>
              <a:tr h="745832">
                <a:tc>
                  <a:txBody>
                    <a:bodyPr/>
                    <a:lstStyle/>
                    <a:p>
                      <a:pPr>
                        <a:buNone/>
                      </a:pPr>
                      <a:r>
                        <a:rPr lang="en-IN"/>
                        <a:t>Independent Variable (IV)</a:t>
                      </a:r>
                    </a:p>
                  </a:txBody>
                  <a:tcPr anchor="ctr">
                    <a:lnL>
                      <a:noFill/>
                    </a:lnL>
                    <a:lnR>
                      <a:noFill/>
                    </a:lnR>
                    <a:lnT>
                      <a:noFill/>
                    </a:lnT>
                    <a:lnB>
                      <a:noFill/>
                    </a:lnB>
                    <a:noFill/>
                  </a:tcPr>
                </a:tc>
                <a:tc>
                  <a:txBody>
                    <a:bodyPr/>
                    <a:lstStyle/>
                    <a:p>
                      <a:pPr>
                        <a:buNone/>
                      </a:pPr>
                      <a:r>
                        <a:rPr lang="en-IN"/>
                        <a:t>Factor manipulated</a:t>
                      </a:r>
                    </a:p>
                  </a:txBody>
                  <a:tcPr anchor="ctr">
                    <a:lnL>
                      <a:noFill/>
                    </a:lnL>
                    <a:lnR>
                      <a:noFill/>
                    </a:lnR>
                    <a:lnT>
                      <a:noFill/>
                    </a:lnT>
                    <a:lnB>
                      <a:noFill/>
                    </a:lnB>
                    <a:noFill/>
                  </a:tcPr>
                </a:tc>
                <a:tc>
                  <a:txBody>
                    <a:bodyPr/>
                    <a:lstStyle/>
                    <a:p>
                      <a:pPr>
                        <a:buNone/>
                      </a:pPr>
                      <a:r>
                        <a:rPr lang="en-IN"/>
                        <a:t>Training dataset size</a:t>
                      </a:r>
                    </a:p>
                  </a:txBody>
                  <a:tcPr anchor="ctr">
                    <a:lnL>
                      <a:noFill/>
                    </a:lnL>
                    <a:lnR>
                      <a:noFill/>
                    </a:lnR>
                    <a:lnT>
                      <a:noFill/>
                    </a:lnT>
                    <a:lnB>
                      <a:noFill/>
                    </a:lnB>
                    <a:noFill/>
                  </a:tcPr>
                </a:tc>
                <a:extLst>
                  <a:ext uri="{0D108BD9-81ED-4DB2-BD59-A6C34878D82A}">
                    <a16:rowId xmlns:a16="http://schemas.microsoft.com/office/drawing/2014/main" val="3335444918"/>
                  </a:ext>
                </a:extLst>
              </a:tr>
              <a:tr h="745832">
                <a:tc>
                  <a:txBody>
                    <a:bodyPr/>
                    <a:lstStyle/>
                    <a:p>
                      <a:pPr>
                        <a:buNone/>
                      </a:pPr>
                      <a:r>
                        <a:rPr lang="en-IN"/>
                        <a:t>Extraneous Variable</a:t>
                      </a:r>
                    </a:p>
                  </a:txBody>
                  <a:tcPr anchor="ctr">
                    <a:lnL>
                      <a:noFill/>
                    </a:lnL>
                    <a:lnR>
                      <a:noFill/>
                    </a:lnR>
                    <a:lnT>
                      <a:noFill/>
                    </a:lnT>
                    <a:lnB>
                      <a:noFill/>
                    </a:lnB>
                    <a:noFill/>
                  </a:tcPr>
                </a:tc>
                <a:tc>
                  <a:txBody>
                    <a:bodyPr/>
                    <a:lstStyle/>
                    <a:p>
                      <a:pPr>
                        <a:buNone/>
                      </a:pPr>
                      <a:r>
                        <a:rPr lang="en-US"/>
                        <a:t>Uncontrolled factor, may affect DV</a:t>
                      </a:r>
                    </a:p>
                  </a:txBody>
                  <a:tcPr anchor="ctr">
                    <a:lnL>
                      <a:noFill/>
                    </a:lnL>
                    <a:lnR>
                      <a:noFill/>
                    </a:lnR>
                    <a:lnT>
                      <a:noFill/>
                    </a:lnT>
                    <a:lnB>
                      <a:noFill/>
                    </a:lnB>
                    <a:noFill/>
                  </a:tcPr>
                </a:tc>
                <a:tc>
                  <a:txBody>
                    <a:bodyPr/>
                    <a:lstStyle/>
                    <a:p>
                      <a:pPr>
                        <a:buNone/>
                      </a:pPr>
                      <a:r>
                        <a:rPr lang="en-IN"/>
                        <a:t>Learning rate, data quality</a:t>
                      </a:r>
                    </a:p>
                  </a:txBody>
                  <a:tcPr anchor="ctr">
                    <a:lnL>
                      <a:noFill/>
                    </a:lnL>
                    <a:lnR>
                      <a:noFill/>
                    </a:lnR>
                    <a:lnT>
                      <a:noFill/>
                    </a:lnT>
                    <a:lnB>
                      <a:noFill/>
                    </a:lnB>
                    <a:noFill/>
                  </a:tcPr>
                </a:tc>
                <a:extLst>
                  <a:ext uri="{0D108BD9-81ED-4DB2-BD59-A6C34878D82A}">
                    <a16:rowId xmlns:a16="http://schemas.microsoft.com/office/drawing/2014/main" val="1679282039"/>
                  </a:ext>
                </a:extLst>
              </a:tr>
              <a:tr h="1305207">
                <a:tc>
                  <a:txBody>
                    <a:bodyPr/>
                    <a:lstStyle/>
                    <a:p>
                      <a:pPr>
                        <a:buNone/>
                      </a:pPr>
                      <a:r>
                        <a:rPr lang="en-IN"/>
                        <a:t>Confounded Variable</a:t>
                      </a:r>
                    </a:p>
                  </a:txBody>
                  <a:tcPr anchor="ctr">
                    <a:lnL>
                      <a:noFill/>
                    </a:lnL>
                    <a:lnR>
                      <a:noFill/>
                    </a:lnR>
                    <a:lnT>
                      <a:noFill/>
                    </a:lnT>
                    <a:lnB>
                      <a:noFill/>
                    </a:lnB>
                    <a:noFill/>
                  </a:tcPr>
                </a:tc>
                <a:tc>
                  <a:txBody>
                    <a:bodyPr/>
                    <a:lstStyle/>
                    <a:p>
                      <a:pPr>
                        <a:buNone/>
                      </a:pPr>
                      <a:r>
                        <a:rPr lang="en-US"/>
                        <a:t>Extraneous variable linked to IV</a:t>
                      </a:r>
                    </a:p>
                  </a:txBody>
                  <a:tcPr anchor="ctr">
                    <a:lnL>
                      <a:noFill/>
                    </a:lnL>
                    <a:lnR>
                      <a:noFill/>
                    </a:lnR>
                    <a:lnT>
                      <a:noFill/>
                    </a:lnT>
                    <a:lnB>
                      <a:noFill/>
                    </a:lnB>
                    <a:noFill/>
                  </a:tcPr>
                </a:tc>
                <a:tc>
                  <a:txBody>
                    <a:bodyPr/>
                    <a:lstStyle/>
                    <a:p>
                      <a:pPr>
                        <a:buNone/>
                      </a:pPr>
                      <a:r>
                        <a:rPr lang="en-US" dirty="0"/>
                        <a:t>Using advanced model for larger dataset</a:t>
                      </a:r>
                    </a:p>
                  </a:txBody>
                  <a:tcPr anchor="ctr">
                    <a:lnL>
                      <a:noFill/>
                    </a:lnL>
                    <a:lnR>
                      <a:noFill/>
                    </a:lnR>
                    <a:lnT>
                      <a:noFill/>
                    </a:lnT>
                    <a:lnB>
                      <a:noFill/>
                    </a:lnB>
                    <a:noFill/>
                  </a:tcPr>
                </a:tc>
                <a:extLst>
                  <a:ext uri="{0D108BD9-81ED-4DB2-BD59-A6C34878D82A}">
                    <a16:rowId xmlns:a16="http://schemas.microsoft.com/office/drawing/2014/main" val="3805070281"/>
                  </a:ext>
                </a:extLst>
              </a:tr>
            </a:tbl>
          </a:graphicData>
        </a:graphic>
      </p:graphicFrame>
    </p:spTree>
    <p:extLst>
      <p:ext uri="{BB962C8B-B14F-4D97-AF65-F5344CB8AC3E}">
        <p14:creationId xmlns:p14="http://schemas.microsoft.com/office/powerpoint/2010/main" val="40222345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1B1232A-AEC5-F0EE-EEAE-FFF95B2EDAF4}"/>
              </a:ext>
            </a:extLst>
          </p:cNvPr>
          <p:cNvSpPr>
            <a:spLocks noGrp="1"/>
          </p:cNvSpPr>
          <p:nvPr>
            <p:ph type="title"/>
          </p:nvPr>
        </p:nvSpPr>
        <p:spPr>
          <a:xfrm>
            <a:off x="838200" y="365126"/>
            <a:ext cx="10515600" cy="745920"/>
          </a:xfrm>
        </p:spPr>
        <p:txBody>
          <a:bodyPr/>
          <a:lstStyle/>
          <a:p>
            <a:pPr algn="ctr"/>
            <a:r>
              <a:rPr lang="en-US" b="1" dirty="0">
                <a:solidFill>
                  <a:srgbClr val="FF0000"/>
                </a:solidFill>
                <a:latin typeface="+mn-lt"/>
              </a:rPr>
              <a:t>Variables</a:t>
            </a:r>
            <a:endParaRPr lang="en-IN" b="1" dirty="0">
              <a:solidFill>
                <a:srgbClr val="FF0000"/>
              </a:solidFill>
              <a:latin typeface="+mn-lt"/>
            </a:endParaRPr>
          </a:p>
        </p:txBody>
      </p:sp>
      <p:sp>
        <p:nvSpPr>
          <p:cNvPr id="4" name="Content Placeholder 3">
            <a:extLst>
              <a:ext uri="{FF2B5EF4-FFF2-40B4-BE49-F238E27FC236}">
                <a16:creationId xmlns:a16="http://schemas.microsoft.com/office/drawing/2014/main" id="{F0BF266D-A9CA-8FD0-B8B4-FEBE3682E6D0}"/>
              </a:ext>
            </a:extLst>
          </p:cNvPr>
          <p:cNvSpPr>
            <a:spLocks noGrp="1"/>
          </p:cNvSpPr>
          <p:nvPr>
            <p:ph idx="1"/>
          </p:nvPr>
        </p:nvSpPr>
        <p:spPr>
          <a:xfrm>
            <a:off x="458429" y="1037022"/>
            <a:ext cx="11458268" cy="5465378"/>
          </a:xfrm>
        </p:spPr>
        <p:txBody>
          <a:bodyPr>
            <a:normAutofit fontScale="92500" lnSpcReduction="10000"/>
          </a:bodyPr>
          <a:lstStyle/>
          <a:p>
            <a:pPr marL="0" indent="0" algn="just">
              <a:buNone/>
            </a:pPr>
            <a:endParaRPr lang="en-US" b="0" i="0" dirty="0">
              <a:effectLst/>
            </a:endParaRPr>
          </a:p>
          <a:p>
            <a:pPr marL="0" indent="0" algn="just">
              <a:buNone/>
            </a:pPr>
            <a:r>
              <a:rPr lang="en-US" sz="3400" b="0" i="0" dirty="0">
                <a:effectLst/>
              </a:rPr>
              <a:t>Any characteristics which is subject to change and can have more than one value. They play a crucial role in formulating hypotheses, designing experiments, and interpreting results. </a:t>
            </a:r>
          </a:p>
          <a:p>
            <a:pPr marL="0" indent="0" algn="just">
              <a:buNone/>
            </a:pPr>
            <a:endParaRPr lang="en-US" sz="3400" b="1" i="0" dirty="0">
              <a:effectLst/>
            </a:endParaRPr>
          </a:p>
          <a:p>
            <a:pPr marL="0" indent="0" algn="just">
              <a:buNone/>
            </a:pPr>
            <a:r>
              <a:rPr lang="en-US" sz="3400" b="1" i="0" dirty="0">
                <a:effectLst/>
              </a:rPr>
              <a:t>Example:</a:t>
            </a:r>
            <a:r>
              <a:rPr lang="en-US" sz="3400" b="0" i="0" dirty="0">
                <a:effectLst/>
              </a:rPr>
              <a:t> intelligence, motivation, age, gender</a:t>
            </a:r>
          </a:p>
          <a:p>
            <a:pPr marL="0" indent="0" algn="just">
              <a:buNone/>
            </a:pPr>
            <a:endParaRPr lang="en-US" sz="3400" dirty="0"/>
          </a:p>
          <a:p>
            <a:pPr marL="0" indent="0" algn="just">
              <a:buNone/>
            </a:pPr>
            <a:r>
              <a:rPr lang="en-US" sz="3400" dirty="0"/>
              <a:t>Quantitative phenomena characterized by presence / absence of attributes</a:t>
            </a:r>
          </a:p>
          <a:p>
            <a:pPr marL="0" indent="0" algn="just">
              <a:buNone/>
            </a:pPr>
            <a:endParaRPr lang="en-US" sz="3400" dirty="0"/>
          </a:p>
          <a:p>
            <a:pPr marL="0" indent="0" algn="just">
              <a:buNone/>
            </a:pPr>
            <a:r>
              <a:rPr lang="en-US" sz="3400" b="0" i="0" dirty="0">
                <a:effectLst/>
              </a:rPr>
              <a:t>Continuous and discrete variables</a:t>
            </a:r>
          </a:p>
          <a:p>
            <a:pPr marL="0" indent="0" algn="just">
              <a:buNone/>
            </a:pPr>
            <a:endParaRPr lang="en-US" b="1" dirty="0">
              <a:solidFill>
                <a:srgbClr val="00B050"/>
              </a:solidFill>
            </a:endParaRPr>
          </a:p>
          <a:p>
            <a:pPr marL="0" indent="0" algn="just">
              <a:buNone/>
            </a:pPr>
            <a:endParaRPr lang="en-IN" dirty="0"/>
          </a:p>
        </p:txBody>
      </p:sp>
    </p:spTree>
    <p:extLst>
      <p:ext uri="{BB962C8B-B14F-4D97-AF65-F5344CB8AC3E}">
        <p14:creationId xmlns:p14="http://schemas.microsoft.com/office/powerpoint/2010/main" val="37581541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C51B073-B93C-E74C-56EF-FB91C4F46156}"/>
              </a:ext>
            </a:extLst>
          </p:cNvPr>
          <p:cNvPicPr>
            <a:picLocks noChangeAspect="1"/>
          </p:cNvPicPr>
          <p:nvPr/>
        </p:nvPicPr>
        <p:blipFill>
          <a:blip r:embed="rId2"/>
          <a:stretch>
            <a:fillRect/>
          </a:stretch>
        </p:blipFill>
        <p:spPr>
          <a:xfrm>
            <a:off x="1362540" y="328844"/>
            <a:ext cx="9466919" cy="6200311"/>
          </a:xfrm>
          <a:prstGeom prst="rect">
            <a:avLst/>
          </a:prstGeom>
        </p:spPr>
      </p:pic>
    </p:spTree>
    <p:extLst>
      <p:ext uri="{BB962C8B-B14F-4D97-AF65-F5344CB8AC3E}">
        <p14:creationId xmlns:p14="http://schemas.microsoft.com/office/powerpoint/2010/main" val="35469835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97A2AA-4BEE-4A95-C642-C7AFEB0FB1ED}"/>
              </a:ext>
            </a:extLst>
          </p:cNvPr>
          <p:cNvSpPr>
            <a:spLocks noGrp="1"/>
          </p:cNvSpPr>
          <p:nvPr>
            <p:ph type="title"/>
          </p:nvPr>
        </p:nvSpPr>
        <p:spPr>
          <a:xfrm>
            <a:off x="838200" y="129151"/>
            <a:ext cx="10515600" cy="627933"/>
          </a:xfrm>
        </p:spPr>
        <p:txBody>
          <a:bodyPr>
            <a:normAutofit/>
          </a:bodyPr>
          <a:lstStyle/>
          <a:p>
            <a:pPr algn="ctr"/>
            <a:r>
              <a:rPr lang="en-US" sz="3600" b="1" dirty="0">
                <a:solidFill>
                  <a:srgbClr val="FF0000"/>
                </a:solidFill>
                <a:latin typeface="+mn-lt"/>
              </a:rPr>
              <a:t>Types of Variables</a:t>
            </a:r>
            <a:endParaRPr lang="en-IN" sz="3600" b="1" dirty="0">
              <a:solidFill>
                <a:srgbClr val="FF0000"/>
              </a:solidFill>
              <a:latin typeface="+mn-lt"/>
            </a:endParaRPr>
          </a:p>
        </p:txBody>
      </p:sp>
      <p:sp>
        <p:nvSpPr>
          <p:cNvPr id="3" name="Content Placeholder 2">
            <a:extLst>
              <a:ext uri="{FF2B5EF4-FFF2-40B4-BE49-F238E27FC236}">
                <a16:creationId xmlns:a16="http://schemas.microsoft.com/office/drawing/2014/main" id="{83BDB16B-57F3-BA9D-C9FD-A6F5107BE3EA}"/>
              </a:ext>
            </a:extLst>
          </p:cNvPr>
          <p:cNvSpPr>
            <a:spLocks noGrp="1"/>
          </p:cNvSpPr>
          <p:nvPr>
            <p:ph idx="1"/>
          </p:nvPr>
        </p:nvSpPr>
        <p:spPr>
          <a:xfrm>
            <a:off x="324464" y="648929"/>
            <a:ext cx="11641394" cy="6079919"/>
          </a:xfrm>
        </p:spPr>
        <p:txBody>
          <a:bodyPr>
            <a:normAutofit fontScale="77500" lnSpcReduction="20000"/>
          </a:bodyPr>
          <a:lstStyle/>
          <a:p>
            <a:pPr marL="0" indent="0">
              <a:buNone/>
            </a:pPr>
            <a:r>
              <a:rPr lang="en-US" b="1" i="0" dirty="0">
                <a:solidFill>
                  <a:srgbClr val="00B050"/>
                </a:solidFill>
                <a:effectLst/>
              </a:rPr>
              <a:t>Independent Variables</a:t>
            </a:r>
            <a:br>
              <a:rPr lang="en-US" b="0" i="0" dirty="0">
                <a:effectLst/>
              </a:rPr>
            </a:br>
            <a:endParaRPr lang="en-US" b="0" i="0" dirty="0">
              <a:effectLst/>
            </a:endParaRPr>
          </a:p>
          <a:p>
            <a:pPr marL="0" indent="0" algn="just">
              <a:buNone/>
            </a:pPr>
            <a:r>
              <a:rPr lang="en-US" b="0" i="0" dirty="0">
                <a:effectLst/>
              </a:rPr>
              <a:t>Independent variables are the factors that researchers manipulate or control in an experiment to observe their effect on the dependent variable. They are considered the "cause" in a cause-and-effect relationship.</a:t>
            </a:r>
          </a:p>
          <a:p>
            <a:pPr marL="0" indent="0" algn="just">
              <a:buNone/>
            </a:pPr>
            <a:r>
              <a:rPr lang="en-US" b="1" i="0" dirty="0">
                <a:effectLst/>
              </a:rPr>
              <a:t>Types:</a:t>
            </a:r>
          </a:p>
          <a:p>
            <a:pPr marL="0" indent="0" algn="just">
              <a:buNone/>
            </a:pPr>
            <a:r>
              <a:rPr lang="en-US" dirty="0"/>
              <a:t>1.</a:t>
            </a:r>
            <a:r>
              <a:rPr lang="en-US" b="0" i="0" dirty="0">
                <a:effectLst/>
              </a:rPr>
              <a:t>Experimental Independent Variables: These are directly manipulated by the researcher (e.g., dosage of a drug).</a:t>
            </a:r>
          </a:p>
          <a:p>
            <a:pPr marL="0" indent="0" algn="just">
              <a:buNone/>
            </a:pPr>
            <a:r>
              <a:rPr lang="en-US" b="0" i="0" dirty="0">
                <a:effectLst/>
              </a:rPr>
              <a:t>2.Subject Variables: These are characteristics of the subjects that cannot be manipulated but can categorize participants (e.g., age, gender)</a:t>
            </a:r>
          </a:p>
          <a:p>
            <a:pPr marL="0" indent="0" algn="just">
              <a:buNone/>
            </a:pPr>
            <a:endParaRPr lang="en-US" b="1" i="0" dirty="0">
              <a:solidFill>
                <a:srgbClr val="00B050"/>
              </a:solidFill>
              <a:effectLst/>
            </a:endParaRPr>
          </a:p>
          <a:p>
            <a:pPr marL="0" indent="0" algn="just">
              <a:buNone/>
            </a:pPr>
            <a:r>
              <a:rPr lang="en-US" b="1" i="0" dirty="0">
                <a:solidFill>
                  <a:srgbClr val="00B050"/>
                </a:solidFill>
                <a:effectLst/>
              </a:rPr>
              <a:t>Dependent Variables</a:t>
            </a:r>
          </a:p>
          <a:p>
            <a:pPr marL="0" indent="0" algn="just">
              <a:buNone/>
            </a:pPr>
            <a:br>
              <a:rPr lang="en-US" b="0" i="0" dirty="0">
                <a:effectLst/>
              </a:rPr>
            </a:br>
            <a:r>
              <a:rPr lang="en-US" b="0" i="0" dirty="0">
                <a:effectLst/>
              </a:rPr>
              <a:t>Dependent variables are the outcomes or effects that researchers measure in response to changes in the independent variable. They are considered the "effect" in a cause-and-effect relationship. </a:t>
            </a:r>
          </a:p>
          <a:p>
            <a:pPr marL="0" indent="0" algn="just">
              <a:buNone/>
            </a:pPr>
            <a:r>
              <a:rPr lang="en-US" b="0" i="0" dirty="0">
                <a:effectLst/>
              </a:rPr>
              <a:t>Characteristics: The values of dependent variables depend on the variations of independent variables.</a:t>
            </a:r>
          </a:p>
          <a:p>
            <a:pPr algn="just">
              <a:buFont typeface="Arial" panose="020B0604020202020204" pitchFamily="34" charset="0"/>
              <a:buChar char="•"/>
            </a:pPr>
            <a:r>
              <a:rPr lang="en-US" b="1" i="0" dirty="0">
                <a:effectLst/>
              </a:rPr>
              <a:t>Examples</a:t>
            </a:r>
            <a:r>
              <a:rPr lang="en-US" b="0" i="0" dirty="0">
                <a:effectLst/>
              </a:rPr>
              <a:t> include test scores, growth measurements, or behavioral responses</a:t>
            </a:r>
          </a:p>
        </p:txBody>
      </p:sp>
    </p:spTree>
    <p:extLst>
      <p:ext uri="{BB962C8B-B14F-4D97-AF65-F5344CB8AC3E}">
        <p14:creationId xmlns:p14="http://schemas.microsoft.com/office/powerpoint/2010/main" val="39027907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24C32BD-73E1-ADD0-68B8-1FA6082041F8}"/>
              </a:ext>
            </a:extLst>
          </p:cNvPr>
          <p:cNvSpPr>
            <a:spLocks noGrp="1"/>
          </p:cNvSpPr>
          <p:nvPr>
            <p:ph idx="1"/>
          </p:nvPr>
        </p:nvSpPr>
        <p:spPr>
          <a:xfrm>
            <a:off x="267929" y="291792"/>
            <a:ext cx="11638936" cy="6344981"/>
          </a:xfrm>
        </p:spPr>
        <p:txBody>
          <a:bodyPr>
            <a:normAutofit fontScale="77500" lnSpcReduction="20000"/>
          </a:bodyPr>
          <a:lstStyle/>
          <a:p>
            <a:pPr marL="0" indent="0" algn="just">
              <a:buNone/>
            </a:pPr>
            <a:r>
              <a:rPr lang="en-US" b="1" i="0" dirty="0">
                <a:solidFill>
                  <a:srgbClr val="00B050"/>
                </a:solidFill>
                <a:effectLst/>
              </a:rPr>
              <a:t>Extraneous Variables</a:t>
            </a:r>
          </a:p>
          <a:p>
            <a:pPr marL="0" indent="0" algn="just">
              <a:buNone/>
            </a:pPr>
            <a:r>
              <a:rPr lang="en-US" b="0" i="0" dirty="0">
                <a:effectLst/>
              </a:rPr>
              <a:t>Extraneous variables are any variables other than the independent variable that could influence the dependent variable. These can introduce noise into the experiment and potentially confound results if not controlled.</a:t>
            </a:r>
          </a:p>
          <a:p>
            <a:pPr marL="0" indent="0" algn="just">
              <a:buNone/>
            </a:pPr>
            <a:r>
              <a:rPr lang="en-US" b="1" i="0" dirty="0">
                <a:effectLst/>
              </a:rPr>
              <a:t>Examples:</a:t>
            </a:r>
            <a:r>
              <a:rPr lang="en-US" b="0" i="0" dirty="0">
                <a:effectLst/>
              </a:rPr>
              <a:t> Environmental factors (temperature, lighting)</a:t>
            </a:r>
          </a:p>
          <a:p>
            <a:pPr algn="just">
              <a:buFont typeface="Arial" panose="020B0604020202020204" pitchFamily="34" charset="0"/>
              <a:buChar char="•"/>
            </a:pPr>
            <a:r>
              <a:rPr lang="en-US" b="0" i="0" dirty="0">
                <a:effectLst/>
              </a:rPr>
              <a:t>Participant characteristics (mood, fatigue)</a:t>
            </a:r>
          </a:p>
          <a:p>
            <a:pPr algn="just">
              <a:buFont typeface="Arial" panose="020B0604020202020204" pitchFamily="34" charset="0"/>
              <a:buChar char="•"/>
            </a:pPr>
            <a:r>
              <a:rPr lang="en-US" b="0" i="0" dirty="0">
                <a:effectLst/>
              </a:rPr>
              <a:t>Experimental conditions (time of day when measurements are taken)</a:t>
            </a:r>
          </a:p>
          <a:p>
            <a:pPr marL="0" indent="0" algn="just">
              <a:buNone/>
            </a:pPr>
            <a:r>
              <a:rPr lang="en-US" dirty="0"/>
              <a:t>Whatever effect is noticed on dependent variable as a result of extraneous variable(s) is technically described as an ‘experimental error’. A study must always be so designed that the effect upon the dependent variable is attributed entirely to the independent variable(s), and not to some extraneous variable or variables</a:t>
            </a:r>
            <a:endParaRPr lang="en-US" b="0" i="0" dirty="0">
              <a:effectLst/>
            </a:endParaRPr>
          </a:p>
          <a:p>
            <a:pPr marL="0" indent="0" algn="just">
              <a:buNone/>
            </a:pPr>
            <a:r>
              <a:rPr lang="en-US" b="1" i="0" dirty="0">
                <a:solidFill>
                  <a:srgbClr val="00B050"/>
                </a:solidFill>
                <a:effectLst/>
              </a:rPr>
              <a:t>Confounded Variables</a:t>
            </a:r>
          </a:p>
          <a:p>
            <a:pPr marL="0" indent="0" algn="just">
              <a:buNone/>
            </a:pPr>
            <a:br>
              <a:rPr lang="en-US" b="0" i="0" dirty="0">
                <a:effectLst/>
              </a:rPr>
            </a:br>
            <a:r>
              <a:rPr lang="en-US" b="0" i="0" dirty="0">
                <a:effectLst/>
              </a:rPr>
              <a:t>Confounded variables occur when two or more variables are intertwined in such a way that their individual effects on the dependent variable cannot be separated. This can lead to misleading conclusions about relationships between variables.</a:t>
            </a:r>
          </a:p>
          <a:p>
            <a:pPr marL="0" indent="0" algn="just">
              <a:buNone/>
            </a:pPr>
            <a:r>
              <a:rPr lang="en-US" b="0" i="0" dirty="0">
                <a:effectLst/>
              </a:rPr>
              <a:t>Characteristics: Confounding occurs when an extraneous variable correlates with both the independent and dependent variables.</a:t>
            </a:r>
          </a:p>
          <a:p>
            <a:pPr marL="0" indent="0" algn="just">
              <a:buNone/>
            </a:pPr>
            <a:r>
              <a:rPr lang="en-US" b="1" i="0" dirty="0">
                <a:effectLst/>
              </a:rPr>
              <a:t>Example </a:t>
            </a:r>
            <a:r>
              <a:rPr lang="en-US" i="0" dirty="0">
                <a:effectLst/>
              </a:rPr>
              <a:t>include</a:t>
            </a:r>
            <a:r>
              <a:rPr lang="en-US" b="1" i="0" dirty="0">
                <a:effectLst/>
              </a:rPr>
              <a:t> </a:t>
            </a:r>
            <a:r>
              <a:rPr lang="en-US" b="0" i="0" dirty="0">
                <a:effectLst/>
              </a:rPr>
              <a:t>a study examines the effect of a new teaching method on student performance but does not control for prior knowledge, then prior knowledge becomes a confounding variable.</a:t>
            </a:r>
          </a:p>
          <a:p>
            <a:pPr marL="0" indent="0">
              <a:buNone/>
            </a:pPr>
            <a:endParaRPr lang="en-IN" dirty="0"/>
          </a:p>
        </p:txBody>
      </p:sp>
    </p:spTree>
    <p:extLst>
      <p:ext uri="{BB962C8B-B14F-4D97-AF65-F5344CB8AC3E}">
        <p14:creationId xmlns:p14="http://schemas.microsoft.com/office/powerpoint/2010/main" val="42084750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44C31F6-C0D8-E058-0F2B-F9ADB45B632B}"/>
              </a:ext>
            </a:extLst>
          </p:cNvPr>
          <p:cNvSpPr>
            <a:spLocks noGrp="1"/>
          </p:cNvSpPr>
          <p:nvPr>
            <p:ph idx="1"/>
          </p:nvPr>
        </p:nvSpPr>
        <p:spPr>
          <a:xfrm>
            <a:off x="376084" y="203303"/>
            <a:ext cx="11442290" cy="6325316"/>
          </a:xfrm>
        </p:spPr>
        <p:txBody>
          <a:bodyPr/>
          <a:lstStyle/>
          <a:p>
            <a:pPr marL="0" indent="0" algn="just">
              <a:buNone/>
            </a:pPr>
            <a:r>
              <a:rPr lang="en-US" b="1" dirty="0">
                <a:solidFill>
                  <a:srgbClr val="00B050"/>
                </a:solidFill>
              </a:rPr>
              <a:t>I</a:t>
            </a:r>
            <a:r>
              <a:rPr lang="en-US" b="1" i="0" dirty="0">
                <a:solidFill>
                  <a:srgbClr val="00B050"/>
                </a:solidFill>
                <a:effectLst/>
              </a:rPr>
              <a:t>mportance of Variables in Research</a:t>
            </a:r>
          </a:p>
          <a:p>
            <a:pPr marL="0" indent="0" algn="just">
              <a:buNone/>
            </a:pPr>
            <a:r>
              <a:rPr lang="en-US" b="0" i="0" dirty="0">
                <a:effectLst/>
              </a:rPr>
              <a:t>Understanding variables is essential for several reasons:</a:t>
            </a:r>
          </a:p>
          <a:p>
            <a:pPr algn="just">
              <a:buFont typeface="Arial" panose="020B0604020202020204" pitchFamily="34" charset="0"/>
              <a:buChar char="•"/>
            </a:pPr>
            <a:r>
              <a:rPr lang="en-US" b="1" i="0" dirty="0">
                <a:effectLst/>
              </a:rPr>
              <a:t>Hypothesis Development:</a:t>
            </a:r>
            <a:r>
              <a:rPr lang="en-US" b="0" i="0" dirty="0">
                <a:effectLst/>
              </a:rPr>
              <a:t> Clearly defined variables help in formulating testable hypotheses.</a:t>
            </a:r>
          </a:p>
          <a:p>
            <a:pPr algn="just">
              <a:buFont typeface="Arial" panose="020B0604020202020204" pitchFamily="34" charset="0"/>
              <a:buChar char="•"/>
            </a:pPr>
            <a:r>
              <a:rPr lang="en-US" b="1" i="0" dirty="0">
                <a:effectLst/>
              </a:rPr>
              <a:t>Experimental Design: </a:t>
            </a:r>
            <a:r>
              <a:rPr lang="en-US" b="0" i="0" dirty="0">
                <a:effectLst/>
              </a:rPr>
              <a:t>Knowledge of how to manipulate and measure variables is crucial for designing effective experiments.</a:t>
            </a:r>
          </a:p>
          <a:p>
            <a:pPr algn="just">
              <a:buFont typeface="Arial" panose="020B0604020202020204" pitchFamily="34" charset="0"/>
              <a:buChar char="•"/>
            </a:pPr>
            <a:r>
              <a:rPr lang="en-US" b="1" i="0" dirty="0">
                <a:effectLst/>
              </a:rPr>
              <a:t>Data Analysis: </a:t>
            </a:r>
            <a:r>
              <a:rPr lang="en-US" b="0" i="0" dirty="0">
                <a:effectLst/>
              </a:rPr>
              <a:t>Identifying variable types informs appropriate statistical analyses and interpretation of results.</a:t>
            </a:r>
          </a:p>
          <a:p>
            <a:pPr marL="0" indent="0">
              <a:buNone/>
            </a:pPr>
            <a:endParaRPr lang="en-IN" dirty="0"/>
          </a:p>
        </p:txBody>
      </p:sp>
    </p:spTree>
    <p:extLst>
      <p:ext uri="{BB962C8B-B14F-4D97-AF65-F5344CB8AC3E}">
        <p14:creationId xmlns:p14="http://schemas.microsoft.com/office/powerpoint/2010/main" val="30616114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B7BC8B0-EBB6-9128-9FEB-A95F98DFDDF2}"/>
              </a:ext>
            </a:extLst>
          </p:cNvPr>
          <p:cNvPicPr>
            <a:picLocks noChangeAspect="1"/>
          </p:cNvPicPr>
          <p:nvPr/>
        </p:nvPicPr>
        <p:blipFill>
          <a:blip r:embed="rId2"/>
          <a:srcRect l="2299" t="17891" r="3090" b="6130"/>
          <a:stretch/>
        </p:blipFill>
        <p:spPr>
          <a:xfrm>
            <a:off x="1052051" y="1366685"/>
            <a:ext cx="9714272" cy="5211120"/>
          </a:xfrm>
          <a:prstGeom prst="rect">
            <a:avLst/>
          </a:prstGeom>
        </p:spPr>
      </p:pic>
      <p:sp>
        <p:nvSpPr>
          <p:cNvPr id="2" name="Title 1">
            <a:extLst>
              <a:ext uri="{FF2B5EF4-FFF2-40B4-BE49-F238E27FC236}">
                <a16:creationId xmlns:a16="http://schemas.microsoft.com/office/drawing/2014/main" id="{00BFF6FE-B176-FD87-C5FD-9736E092383B}"/>
              </a:ext>
            </a:extLst>
          </p:cNvPr>
          <p:cNvSpPr>
            <a:spLocks noGrp="1"/>
          </p:cNvSpPr>
          <p:nvPr>
            <p:ph type="title"/>
          </p:nvPr>
        </p:nvSpPr>
        <p:spPr>
          <a:xfrm>
            <a:off x="838200" y="365125"/>
            <a:ext cx="10515600" cy="716423"/>
          </a:xfrm>
        </p:spPr>
        <p:txBody>
          <a:bodyPr/>
          <a:lstStyle/>
          <a:p>
            <a:pPr algn="ctr"/>
            <a:r>
              <a:rPr lang="en-US" b="1" dirty="0">
                <a:solidFill>
                  <a:srgbClr val="FF0000"/>
                </a:solidFill>
                <a:latin typeface="+mn-lt"/>
              </a:rPr>
              <a:t>Research Hypothesis</a:t>
            </a:r>
            <a:endParaRPr lang="en-IN" b="1" dirty="0">
              <a:solidFill>
                <a:srgbClr val="FF0000"/>
              </a:solidFill>
              <a:latin typeface="+mn-lt"/>
            </a:endParaRPr>
          </a:p>
        </p:txBody>
      </p:sp>
    </p:spTree>
    <p:extLst>
      <p:ext uri="{BB962C8B-B14F-4D97-AF65-F5344CB8AC3E}">
        <p14:creationId xmlns:p14="http://schemas.microsoft.com/office/powerpoint/2010/main" val="289390805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06F69DA-81D2-F0FD-EE82-E31FB62C8F76}"/>
              </a:ext>
            </a:extLst>
          </p:cNvPr>
          <p:cNvPicPr>
            <a:picLocks noChangeAspect="1"/>
          </p:cNvPicPr>
          <p:nvPr/>
        </p:nvPicPr>
        <p:blipFill>
          <a:blip r:embed="rId2"/>
          <a:srcRect t="17431" r="5133" b="4883"/>
          <a:stretch/>
        </p:blipFill>
        <p:spPr>
          <a:xfrm>
            <a:off x="384172" y="1061884"/>
            <a:ext cx="11188396" cy="5254052"/>
          </a:xfrm>
          <a:prstGeom prst="rect">
            <a:avLst/>
          </a:prstGeom>
        </p:spPr>
      </p:pic>
      <p:sp>
        <p:nvSpPr>
          <p:cNvPr id="2" name="Title 1">
            <a:extLst>
              <a:ext uri="{FF2B5EF4-FFF2-40B4-BE49-F238E27FC236}">
                <a16:creationId xmlns:a16="http://schemas.microsoft.com/office/drawing/2014/main" id="{2514A98F-FC50-216E-D849-6C37F9D48163}"/>
              </a:ext>
            </a:extLst>
          </p:cNvPr>
          <p:cNvSpPr>
            <a:spLocks noGrp="1"/>
          </p:cNvSpPr>
          <p:nvPr>
            <p:ph type="title"/>
          </p:nvPr>
        </p:nvSpPr>
        <p:spPr>
          <a:xfrm>
            <a:off x="838200" y="365125"/>
            <a:ext cx="10515600" cy="696759"/>
          </a:xfrm>
        </p:spPr>
        <p:txBody>
          <a:bodyPr/>
          <a:lstStyle/>
          <a:p>
            <a:pPr algn="ctr"/>
            <a:r>
              <a:rPr lang="en-US" b="1" dirty="0">
                <a:solidFill>
                  <a:srgbClr val="FF0000"/>
                </a:solidFill>
                <a:latin typeface="+mn-lt"/>
              </a:rPr>
              <a:t>Purpose of hypothesis</a:t>
            </a:r>
            <a:endParaRPr lang="en-IN" b="1" dirty="0">
              <a:solidFill>
                <a:srgbClr val="FF0000"/>
              </a:solidFill>
              <a:latin typeface="+mn-lt"/>
            </a:endParaRPr>
          </a:p>
        </p:txBody>
      </p:sp>
    </p:spTree>
    <p:extLst>
      <p:ext uri="{BB962C8B-B14F-4D97-AF65-F5344CB8AC3E}">
        <p14:creationId xmlns:p14="http://schemas.microsoft.com/office/powerpoint/2010/main" val="21946630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7C1AB96-EA67-5EAE-D801-55DFFCB3C1CC}"/>
              </a:ext>
            </a:extLst>
          </p:cNvPr>
          <p:cNvSpPr>
            <a:spLocks noGrp="1"/>
          </p:cNvSpPr>
          <p:nvPr>
            <p:ph type="title"/>
          </p:nvPr>
        </p:nvSpPr>
        <p:spPr>
          <a:xfrm>
            <a:off x="838200" y="365125"/>
            <a:ext cx="10515600" cy="637765"/>
          </a:xfrm>
        </p:spPr>
        <p:txBody>
          <a:bodyPr>
            <a:normAutofit fontScale="90000"/>
          </a:bodyPr>
          <a:lstStyle/>
          <a:p>
            <a:pPr algn="ctr"/>
            <a:r>
              <a:rPr lang="en-US" b="1" dirty="0">
                <a:solidFill>
                  <a:srgbClr val="FF0000"/>
                </a:solidFill>
                <a:latin typeface="+mn-lt"/>
              </a:rPr>
              <a:t>Types of hypothesis</a:t>
            </a:r>
            <a:endParaRPr lang="en-IN" dirty="0"/>
          </a:p>
        </p:txBody>
      </p:sp>
      <p:sp>
        <p:nvSpPr>
          <p:cNvPr id="4" name="Content Placeholder 3">
            <a:extLst>
              <a:ext uri="{FF2B5EF4-FFF2-40B4-BE49-F238E27FC236}">
                <a16:creationId xmlns:a16="http://schemas.microsoft.com/office/drawing/2014/main" id="{285742D1-03BA-063C-2A01-5F9E231E343E}"/>
              </a:ext>
            </a:extLst>
          </p:cNvPr>
          <p:cNvSpPr>
            <a:spLocks noGrp="1"/>
          </p:cNvSpPr>
          <p:nvPr>
            <p:ph idx="1"/>
          </p:nvPr>
        </p:nvSpPr>
        <p:spPr>
          <a:xfrm>
            <a:off x="838200" y="1461832"/>
            <a:ext cx="10515600" cy="4351338"/>
          </a:xfrm>
        </p:spPr>
        <p:txBody>
          <a:bodyPr/>
          <a:lstStyle/>
          <a:p>
            <a:endParaRPr lang="en-US" b="1" dirty="0"/>
          </a:p>
          <a:p>
            <a:r>
              <a:rPr lang="en-US" b="1" dirty="0"/>
              <a:t>Based on formulation: </a:t>
            </a:r>
            <a:r>
              <a:rPr lang="en-US" dirty="0"/>
              <a:t>Null and Alternate hypothesis</a:t>
            </a:r>
          </a:p>
          <a:p>
            <a:r>
              <a:rPr lang="en-US" b="1" dirty="0"/>
              <a:t>Based on direction: </a:t>
            </a:r>
            <a:r>
              <a:rPr lang="en-US" dirty="0"/>
              <a:t>Directional and non directional hypothesis</a:t>
            </a:r>
            <a:endParaRPr lang="en-IN" dirty="0"/>
          </a:p>
        </p:txBody>
      </p:sp>
    </p:spTree>
    <p:extLst>
      <p:ext uri="{BB962C8B-B14F-4D97-AF65-F5344CB8AC3E}">
        <p14:creationId xmlns:p14="http://schemas.microsoft.com/office/powerpoint/2010/main" val="246594517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66B74A44-AC5F-0EA8-18B1-FFBD043A584B}"/>
              </a:ext>
            </a:extLst>
          </p:cNvPr>
          <p:cNvSpPr>
            <a:spLocks noGrp="1"/>
          </p:cNvSpPr>
          <p:nvPr>
            <p:ph idx="1"/>
          </p:nvPr>
        </p:nvSpPr>
        <p:spPr>
          <a:xfrm>
            <a:off x="291281" y="288118"/>
            <a:ext cx="11595920" cy="6427314"/>
          </a:xfrm>
        </p:spPr>
        <p:txBody>
          <a:bodyPr>
            <a:normAutofit/>
          </a:bodyPr>
          <a:lstStyle/>
          <a:p>
            <a:pPr marL="0" indent="0" algn="just">
              <a:buNone/>
            </a:pPr>
            <a:r>
              <a:rPr lang="en-US" b="1" i="0" dirty="0">
                <a:solidFill>
                  <a:srgbClr val="00B050"/>
                </a:solidFill>
                <a:effectLst/>
              </a:rPr>
              <a:t>Null and Alternative Hypotheses</a:t>
            </a:r>
          </a:p>
          <a:p>
            <a:pPr algn="just">
              <a:buFont typeface="Arial" panose="020B0604020202020204" pitchFamily="34" charset="0"/>
              <a:buChar char="•"/>
            </a:pPr>
            <a:r>
              <a:rPr lang="en-US" b="1" i="0" dirty="0">
                <a:effectLst/>
              </a:rPr>
              <a:t>Null Hypothesis (H₀):</a:t>
            </a:r>
            <a:r>
              <a:rPr lang="en-US" b="0" i="0" dirty="0">
                <a:effectLst/>
              </a:rPr>
              <a:t>The null hypothesis is a statement asserting that there is no effect, no difference, or no relationship between variables in a population. It serves as a default position that researchers aim to test against.</a:t>
            </a:r>
          </a:p>
          <a:p>
            <a:pPr algn="just">
              <a:buFont typeface="Arial" panose="020B0604020202020204" pitchFamily="34" charset="0"/>
              <a:buChar char="•"/>
            </a:pPr>
            <a:r>
              <a:rPr lang="en-US" b="1" i="0" dirty="0">
                <a:effectLst/>
              </a:rPr>
              <a:t>Example: </a:t>
            </a:r>
            <a:r>
              <a:rPr lang="en-US" b="0" i="0" dirty="0">
                <a:effectLst/>
              </a:rPr>
              <a:t>In a study examining the effect of a new drug on blood pressure, the null hypothesis might state that the mean blood pressure of patients taking the drug is equal to that of those not taking it (H₀: μ₁ = μ₂).</a:t>
            </a:r>
          </a:p>
          <a:p>
            <a:pPr algn="just">
              <a:buFont typeface="Arial" panose="020B0604020202020204" pitchFamily="34" charset="0"/>
              <a:buChar char="•"/>
            </a:pPr>
            <a:r>
              <a:rPr lang="en-US" b="1" i="0" dirty="0">
                <a:effectLst/>
              </a:rPr>
              <a:t>Alternative Hypothesis (H₁ or Hₐ):</a:t>
            </a:r>
            <a:r>
              <a:rPr lang="en-US" b="0" i="0" dirty="0">
                <a:effectLst/>
              </a:rPr>
              <a:t>The alternative hypothesis is a statement that contradicts the null hypothesis, suggesting that there is an effect, a difference, or a relationship present. It represents what the researcher aims to support through evidence.</a:t>
            </a:r>
          </a:p>
          <a:p>
            <a:pPr algn="just">
              <a:buFont typeface="Arial" panose="020B0604020202020204" pitchFamily="34" charset="0"/>
              <a:buChar char="•"/>
            </a:pPr>
            <a:r>
              <a:rPr lang="en-US" b="1" i="0" dirty="0">
                <a:effectLst/>
              </a:rPr>
              <a:t>Example:</a:t>
            </a:r>
            <a:r>
              <a:rPr lang="en-US" b="0" i="0" dirty="0">
                <a:effectLst/>
              </a:rPr>
              <a:t> Continuing with the drug study, the alternative hypothesis could state that the mean blood pressure of patients taking the drug is different from that of those not taking it (H₁: μ₁ ≠ μ₂).</a:t>
            </a:r>
          </a:p>
          <a:p>
            <a:pPr marL="0" indent="0">
              <a:buNone/>
            </a:pPr>
            <a:endParaRPr lang="en-IN" dirty="0"/>
          </a:p>
        </p:txBody>
      </p:sp>
    </p:spTree>
    <p:extLst>
      <p:ext uri="{BB962C8B-B14F-4D97-AF65-F5344CB8AC3E}">
        <p14:creationId xmlns:p14="http://schemas.microsoft.com/office/powerpoint/2010/main" val="205079282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F430FB4-4593-F76C-8092-0EDCEB965A98}"/>
              </a:ext>
            </a:extLst>
          </p:cNvPr>
          <p:cNvSpPr>
            <a:spLocks noGrp="1"/>
          </p:cNvSpPr>
          <p:nvPr>
            <p:ph idx="1"/>
          </p:nvPr>
        </p:nvSpPr>
        <p:spPr>
          <a:xfrm>
            <a:off x="336755" y="340953"/>
            <a:ext cx="11579942" cy="6246659"/>
          </a:xfrm>
        </p:spPr>
        <p:txBody>
          <a:bodyPr/>
          <a:lstStyle/>
          <a:p>
            <a:pPr marL="0" indent="0" algn="just">
              <a:buNone/>
            </a:pPr>
            <a:r>
              <a:rPr lang="en-US" b="1" i="0" dirty="0">
                <a:solidFill>
                  <a:srgbClr val="00B050"/>
                </a:solidFill>
                <a:effectLst/>
              </a:rPr>
              <a:t>Directional and Non-Directional Hypotheses</a:t>
            </a:r>
          </a:p>
          <a:p>
            <a:pPr algn="just">
              <a:buFont typeface="Arial" panose="020B0604020202020204" pitchFamily="34" charset="0"/>
              <a:buChar char="•"/>
            </a:pPr>
            <a:r>
              <a:rPr lang="en-US" b="1" i="0" dirty="0">
                <a:effectLst/>
              </a:rPr>
              <a:t>Directional Hypothesis: </a:t>
            </a:r>
            <a:r>
              <a:rPr lang="en-US" b="0" i="0" dirty="0">
                <a:effectLst/>
              </a:rPr>
              <a:t>A directional hypothesis specifies the expected direction of the relationship or effect between variables. It indicates whether one variable is expected to be greater than or less than another.</a:t>
            </a:r>
          </a:p>
          <a:p>
            <a:pPr algn="just">
              <a:buFont typeface="Arial" panose="020B0604020202020204" pitchFamily="34" charset="0"/>
              <a:buChar char="•"/>
            </a:pPr>
            <a:r>
              <a:rPr lang="en-US" b="1" i="0" dirty="0">
                <a:effectLst/>
              </a:rPr>
              <a:t>Example:</a:t>
            </a:r>
            <a:r>
              <a:rPr lang="en-US" b="0" i="0" dirty="0">
                <a:effectLst/>
              </a:rPr>
              <a:t> In the context of the drug study, a directional hypothesis might state that patients taking the new drug will have lower blood pressure than those not taking it (H₁: μ₁ &lt; μ₂).</a:t>
            </a:r>
          </a:p>
          <a:p>
            <a:pPr algn="just">
              <a:buFont typeface="Arial" panose="020B0604020202020204" pitchFamily="34" charset="0"/>
              <a:buChar char="•"/>
            </a:pPr>
            <a:endParaRPr lang="en-US" b="1" i="0" dirty="0">
              <a:effectLst/>
            </a:endParaRPr>
          </a:p>
          <a:p>
            <a:pPr algn="just">
              <a:buFont typeface="Arial" panose="020B0604020202020204" pitchFamily="34" charset="0"/>
              <a:buChar char="•"/>
            </a:pPr>
            <a:r>
              <a:rPr lang="en-US" b="1" i="0" dirty="0">
                <a:effectLst/>
              </a:rPr>
              <a:t>Non-Directional Hypothesis:</a:t>
            </a:r>
            <a:r>
              <a:rPr lang="en-US" b="0" i="0" dirty="0">
                <a:effectLst/>
              </a:rPr>
              <a:t> A non-directional hypothesis does not specify a direction; it simply states that there is a difference or effect without indicating whether it is positive or negative.</a:t>
            </a:r>
          </a:p>
          <a:p>
            <a:pPr algn="just">
              <a:buFont typeface="Arial" panose="020B0604020202020204" pitchFamily="34" charset="0"/>
              <a:buChar char="•"/>
            </a:pPr>
            <a:r>
              <a:rPr lang="en-US" b="1" i="0" dirty="0">
                <a:effectLst/>
              </a:rPr>
              <a:t>Example:</a:t>
            </a:r>
            <a:r>
              <a:rPr lang="en-US" b="0" i="0" dirty="0">
                <a:effectLst/>
              </a:rPr>
              <a:t> Using the same drug study, a non-directional hypothesis would assert that there is a difference in mean blood pressure between patients taking the drug and those not taking it (H₁: μ₁ ≠ μ₂).</a:t>
            </a:r>
          </a:p>
          <a:p>
            <a:pPr marL="0" indent="0">
              <a:buNone/>
            </a:pPr>
            <a:endParaRPr lang="en-IN" dirty="0"/>
          </a:p>
        </p:txBody>
      </p:sp>
    </p:spTree>
    <p:extLst>
      <p:ext uri="{BB962C8B-B14F-4D97-AF65-F5344CB8AC3E}">
        <p14:creationId xmlns:p14="http://schemas.microsoft.com/office/powerpoint/2010/main" val="315527099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DDE99DE-67BE-0CD2-6DFE-08486EB088F1}"/>
              </a:ext>
            </a:extLst>
          </p:cNvPr>
          <p:cNvSpPr>
            <a:spLocks noGrp="1"/>
          </p:cNvSpPr>
          <p:nvPr>
            <p:ph idx="1"/>
          </p:nvPr>
        </p:nvSpPr>
        <p:spPr>
          <a:xfrm>
            <a:off x="376084" y="301624"/>
            <a:ext cx="11452122" cy="6266323"/>
          </a:xfrm>
        </p:spPr>
        <p:txBody>
          <a:bodyPr/>
          <a:lstStyle/>
          <a:p>
            <a:pPr marL="0" indent="0" algn="just">
              <a:buNone/>
            </a:pPr>
            <a:r>
              <a:rPr lang="en-US" b="1" dirty="0">
                <a:solidFill>
                  <a:srgbClr val="00B050"/>
                </a:solidFill>
              </a:rPr>
              <a:t>I</a:t>
            </a:r>
            <a:r>
              <a:rPr lang="en-US" b="1" i="0" dirty="0">
                <a:solidFill>
                  <a:srgbClr val="00B050"/>
                </a:solidFill>
                <a:effectLst/>
              </a:rPr>
              <a:t>mportance of hypothesis in Research</a:t>
            </a:r>
          </a:p>
          <a:p>
            <a:pPr marL="0" indent="0" algn="just">
              <a:buNone/>
            </a:pPr>
            <a:r>
              <a:rPr lang="en-US" b="0" i="0" dirty="0">
                <a:effectLst/>
              </a:rPr>
              <a:t>Understanding these hypotheses is crucial for conducting statistical tests and interpreting research findings effectively.</a:t>
            </a:r>
            <a:endParaRPr lang="en-IN" dirty="0"/>
          </a:p>
          <a:p>
            <a:pPr marL="0" indent="0" algn="just">
              <a:buNone/>
            </a:pPr>
            <a:endParaRPr lang="en-US" dirty="0"/>
          </a:p>
          <a:p>
            <a:pPr algn="just">
              <a:buFont typeface="Arial" panose="020B0604020202020204" pitchFamily="34" charset="0"/>
              <a:buChar char="•"/>
            </a:pPr>
            <a:r>
              <a:rPr lang="en-US" b="1" i="0" dirty="0">
                <a:effectLst/>
              </a:rPr>
              <a:t>Null Hypothesis (H₀): </a:t>
            </a:r>
            <a:r>
              <a:rPr lang="en-US" b="0" i="0" dirty="0">
                <a:effectLst/>
              </a:rPr>
              <a:t>Assumes no effect or relationship exists.</a:t>
            </a:r>
          </a:p>
          <a:p>
            <a:pPr algn="just">
              <a:buFont typeface="Arial" panose="020B0604020202020204" pitchFamily="34" charset="0"/>
              <a:buChar char="•"/>
            </a:pPr>
            <a:r>
              <a:rPr lang="en-US" b="1" i="0" dirty="0">
                <a:effectLst/>
              </a:rPr>
              <a:t>Alternative Hypothesis (H₁): </a:t>
            </a:r>
            <a:r>
              <a:rPr lang="en-US" b="0" i="0" dirty="0">
                <a:effectLst/>
              </a:rPr>
              <a:t>Suggests an effect or relationship exists.</a:t>
            </a:r>
          </a:p>
          <a:p>
            <a:pPr algn="just">
              <a:buFont typeface="Arial" panose="020B0604020202020204" pitchFamily="34" charset="0"/>
              <a:buChar char="•"/>
            </a:pPr>
            <a:r>
              <a:rPr lang="en-US" b="1" i="0" dirty="0">
                <a:effectLst/>
              </a:rPr>
              <a:t>Directional Hypothesis: </a:t>
            </a:r>
            <a:r>
              <a:rPr lang="en-US" b="0" i="0" dirty="0">
                <a:effectLst/>
              </a:rPr>
              <a:t>Predicts the direction of the effect (greater than or less than).</a:t>
            </a:r>
          </a:p>
          <a:p>
            <a:pPr algn="just">
              <a:buFont typeface="Arial" panose="020B0604020202020204" pitchFamily="34" charset="0"/>
              <a:buChar char="•"/>
            </a:pPr>
            <a:r>
              <a:rPr lang="en-US" b="1" i="0" dirty="0">
                <a:effectLst/>
              </a:rPr>
              <a:t>Non-Directional Hypothesis: </a:t>
            </a:r>
            <a:r>
              <a:rPr lang="en-US" b="0" i="0" dirty="0">
                <a:effectLst/>
              </a:rPr>
              <a:t>Indicates there is a difference but does not specify direction.</a:t>
            </a:r>
          </a:p>
        </p:txBody>
      </p:sp>
    </p:spTree>
    <p:extLst>
      <p:ext uri="{BB962C8B-B14F-4D97-AF65-F5344CB8AC3E}">
        <p14:creationId xmlns:p14="http://schemas.microsoft.com/office/powerpoint/2010/main" val="37252190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218CE0-89A7-FC07-F228-9CF93028E30E}"/>
              </a:ext>
            </a:extLst>
          </p:cNvPr>
          <p:cNvSpPr>
            <a:spLocks noGrp="1"/>
          </p:cNvSpPr>
          <p:nvPr>
            <p:ph type="title"/>
          </p:nvPr>
        </p:nvSpPr>
        <p:spPr>
          <a:xfrm>
            <a:off x="838200" y="365126"/>
            <a:ext cx="10515600" cy="667262"/>
          </a:xfrm>
        </p:spPr>
        <p:txBody>
          <a:bodyPr>
            <a:normAutofit fontScale="90000"/>
          </a:bodyPr>
          <a:lstStyle/>
          <a:p>
            <a:pPr algn="ctr"/>
            <a:r>
              <a:rPr lang="en-US" b="1" dirty="0">
                <a:solidFill>
                  <a:srgbClr val="FF0000"/>
                </a:solidFill>
                <a:latin typeface="+mn-lt"/>
              </a:rPr>
              <a:t>Treatment</a:t>
            </a:r>
            <a:endParaRPr lang="en-IN" b="1" dirty="0">
              <a:solidFill>
                <a:srgbClr val="FF0000"/>
              </a:solidFill>
              <a:latin typeface="+mn-lt"/>
            </a:endParaRPr>
          </a:p>
        </p:txBody>
      </p:sp>
      <p:sp>
        <p:nvSpPr>
          <p:cNvPr id="3" name="Content Placeholder 2">
            <a:extLst>
              <a:ext uri="{FF2B5EF4-FFF2-40B4-BE49-F238E27FC236}">
                <a16:creationId xmlns:a16="http://schemas.microsoft.com/office/drawing/2014/main" id="{378734F5-6E82-9FAC-3C9F-5DC04C552E40}"/>
              </a:ext>
            </a:extLst>
          </p:cNvPr>
          <p:cNvSpPr>
            <a:spLocks noGrp="1"/>
          </p:cNvSpPr>
          <p:nvPr>
            <p:ph idx="1"/>
          </p:nvPr>
        </p:nvSpPr>
        <p:spPr>
          <a:xfrm>
            <a:off x="484238" y="1032387"/>
            <a:ext cx="11412794" cy="5319251"/>
          </a:xfrm>
        </p:spPr>
        <p:txBody>
          <a:bodyPr/>
          <a:lstStyle/>
          <a:p>
            <a:pPr marL="0" indent="0" algn="just">
              <a:buNone/>
            </a:pPr>
            <a:endParaRPr lang="en-US" b="0" i="0" dirty="0">
              <a:effectLst/>
            </a:endParaRPr>
          </a:p>
          <a:p>
            <a:pPr marL="0" indent="0" algn="just">
              <a:buNone/>
            </a:pPr>
            <a:endParaRPr lang="en-US" dirty="0"/>
          </a:p>
          <a:p>
            <a:pPr marL="0" indent="0" algn="just">
              <a:buNone/>
            </a:pPr>
            <a:r>
              <a:rPr lang="en-US" b="0" i="0" dirty="0">
                <a:effectLst/>
              </a:rPr>
              <a:t>Treatment is what is administered to participants or experimental units in an experiment. It can take various forms, such as a drug, therapy, educational program, or any other intervention that is hypothesized to have an effect.</a:t>
            </a:r>
          </a:p>
          <a:p>
            <a:pPr marL="0" indent="0" algn="just">
              <a:buNone/>
            </a:pPr>
            <a:endParaRPr lang="en-US" dirty="0"/>
          </a:p>
          <a:p>
            <a:pPr marL="0" indent="0" algn="just">
              <a:buNone/>
            </a:pPr>
            <a:r>
              <a:rPr lang="en-US" dirty="0"/>
              <a:t>The different conditions under which experimental and control groups are put are usually referred to as ‘treatments’</a:t>
            </a:r>
            <a:endParaRPr lang="en-US" b="0" i="0" dirty="0">
              <a:effectLst/>
            </a:endParaRPr>
          </a:p>
          <a:p>
            <a:pPr marL="0" indent="0" algn="just">
              <a:buNone/>
            </a:pPr>
            <a:endParaRPr lang="en-IN" dirty="0"/>
          </a:p>
        </p:txBody>
      </p:sp>
    </p:spTree>
    <p:extLst>
      <p:ext uri="{BB962C8B-B14F-4D97-AF65-F5344CB8AC3E}">
        <p14:creationId xmlns:p14="http://schemas.microsoft.com/office/powerpoint/2010/main" val="511654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BA23AE-C358-A0C8-C723-2C95F4CA9100}"/>
              </a:ext>
            </a:extLst>
          </p:cNvPr>
          <p:cNvSpPr>
            <a:spLocks noGrp="1"/>
          </p:cNvSpPr>
          <p:nvPr>
            <p:ph type="title"/>
          </p:nvPr>
        </p:nvSpPr>
        <p:spPr>
          <a:xfrm>
            <a:off x="838200" y="365125"/>
            <a:ext cx="10515600" cy="795081"/>
          </a:xfrm>
        </p:spPr>
        <p:txBody>
          <a:bodyPr/>
          <a:lstStyle/>
          <a:p>
            <a:pPr algn="ctr"/>
            <a:r>
              <a:rPr lang="en-IN" b="1" i="0" dirty="0">
                <a:solidFill>
                  <a:srgbClr val="FF0000"/>
                </a:solidFill>
                <a:effectLst/>
                <a:latin typeface="+mn-lt"/>
              </a:rPr>
              <a:t>Experimental and Control Groups</a:t>
            </a:r>
            <a:endParaRPr lang="en-IN" dirty="0"/>
          </a:p>
        </p:txBody>
      </p:sp>
      <p:sp>
        <p:nvSpPr>
          <p:cNvPr id="3" name="Content Placeholder 2">
            <a:extLst>
              <a:ext uri="{FF2B5EF4-FFF2-40B4-BE49-F238E27FC236}">
                <a16:creationId xmlns:a16="http://schemas.microsoft.com/office/drawing/2014/main" id="{37C5C4EC-C04B-FA32-278E-8CA9C3B769BC}"/>
              </a:ext>
            </a:extLst>
          </p:cNvPr>
          <p:cNvSpPr>
            <a:spLocks noGrp="1"/>
          </p:cNvSpPr>
          <p:nvPr>
            <p:ph idx="1"/>
          </p:nvPr>
        </p:nvSpPr>
        <p:spPr>
          <a:xfrm>
            <a:off x="631723" y="1422501"/>
            <a:ext cx="11225980" cy="4938969"/>
          </a:xfrm>
        </p:spPr>
        <p:txBody>
          <a:bodyPr>
            <a:normAutofit lnSpcReduction="10000"/>
          </a:bodyPr>
          <a:lstStyle/>
          <a:p>
            <a:pPr marL="0" indent="0" algn="just">
              <a:buNone/>
            </a:pPr>
            <a:r>
              <a:rPr lang="en-US" b="0" i="0" dirty="0">
                <a:effectLst/>
              </a:rPr>
              <a:t>Experimental and control groups are foundational elements in research design. The experimental group allows researchers to test hypotheses by applying treatments, while the control group provides a reference point for evaluating those effects. </a:t>
            </a:r>
          </a:p>
          <a:p>
            <a:pPr marL="0" indent="0" algn="just">
              <a:buNone/>
            </a:pPr>
            <a:r>
              <a:rPr lang="en-US" b="0" i="0" dirty="0">
                <a:effectLst/>
              </a:rPr>
              <a:t>Together, they enable rigorous testing of theories and contribute to reliable scientific conclusions.</a:t>
            </a:r>
          </a:p>
          <a:p>
            <a:pPr marL="0" indent="0" algn="just">
              <a:buNone/>
            </a:pPr>
            <a:r>
              <a:rPr lang="en-US" dirty="0"/>
              <a:t>In an experimental hypothesis-testing research when a group is exposed to usual conditions, it is termed a ‘control group’, but when the group is exposed to some novel or special condition, it is termed an ‘experimental group’. In the above illustration, the Group A can be called a control group and the Group B an experimental group. If both groups A and B are exposed to special studies </a:t>
            </a:r>
            <a:r>
              <a:rPr lang="en-US" dirty="0" err="1"/>
              <a:t>programmes</a:t>
            </a:r>
            <a:r>
              <a:rPr lang="en-US" dirty="0"/>
              <a:t>, then both groups would be termed ‘experimental groups.’</a:t>
            </a:r>
            <a:endParaRPr lang="en-IN" dirty="0"/>
          </a:p>
        </p:txBody>
      </p:sp>
    </p:spTree>
    <p:extLst>
      <p:ext uri="{BB962C8B-B14F-4D97-AF65-F5344CB8AC3E}">
        <p14:creationId xmlns:p14="http://schemas.microsoft.com/office/powerpoint/2010/main" val="181532992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998ACAF-EBC8-18DA-0FA8-1C4C8B0D711B}"/>
              </a:ext>
            </a:extLst>
          </p:cNvPr>
          <p:cNvSpPr>
            <a:spLocks noGrp="1"/>
          </p:cNvSpPr>
          <p:nvPr>
            <p:ph idx="1"/>
          </p:nvPr>
        </p:nvSpPr>
        <p:spPr>
          <a:xfrm>
            <a:off x="478536" y="472312"/>
            <a:ext cx="10832592" cy="5507864"/>
          </a:xfrm>
        </p:spPr>
        <p:txBody>
          <a:bodyPr>
            <a:normAutofit/>
          </a:bodyPr>
          <a:lstStyle/>
          <a:p>
            <a:pPr marL="0" indent="0">
              <a:buNone/>
            </a:pPr>
            <a:r>
              <a:rPr lang="en-IN" dirty="0"/>
              <a:t>Does a new drug reduce blood pressure?</a:t>
            </a:r>
          </a:p>
          <a:p>
            <a:r>
              <a:rPr lang="en-IN" b="1" dirty="0"/>
              <a:t>Experimental Variable (IV):</a:t>
            </a:r>
            <a:r>
              <a:rPr lang="en-IN" dirty="0"/>
              <a:t> Type of drug given (new drug vs placebo).</a:t>
            </a:r>
          </a:p>
          <a:p>
            <a:r>
              <a:rPr lang="en-IN" b="1" dirty="0"/>
              <a:t>Dependent Variable (DV):</a:t>
            </a:r>
            <a:r>
              <a:rPr lang="en-IN" dirty="0"/>
              <a:t> Patient’s blood pressure.</a:t>
            </a:r>
          </a:p>
          <a:p>
            <a:r>
              <a:rPr lang="en-IN" b="1" dirty="0"/>
              <a:t>Control Variables:</a:t>
            </a:r>
            <a:r>
              <a:rPr lang="en-IN" dirty="0"/>
              <a:t> Patient’s diet, exercise routine, room temperature during testing, measurement method.</a:t>
            </a:r>
          </a:p>
          <a:p>
            <a:pPr marL="0" indent="0">
              <a:buNone/>
            </a:pPr>
            <a:r>
              <a:rPr lang="en-IN" dirty="0"/>
              <a:t>Does dataset size improve AI model accuracy?</a:t>
            </a:r>
          </a:p>
          <a:p>
            <a:r>
              <a:rPr lang="en-IN" b="1" dirty="0"/>
              <a:t>Experimental Variable (IV):</a:t>
            </a:r>
            <a:r>
              <a:rPr lang="en-IN" dirty="0"/>
              <a:t> Dataset size (10k, 50k, 100k images).</a:t>
            </a:r>
          </a:p>
          <a:p>
            <a:r>
              <a:rPr lang="en-IN" b="1" dirty="0"/>
              <a:t>Dependent Variable (DV):</a:t>
            </a:r>
            <a:r>
              <a:rPr lang="en-IN" dirty="0"/>
              <a:t> Model accuracy.</a:t>
            </a:r>
          </a:p>
          <a:p>
            <a:r>
              <a:rPr lang="en-IN" b="1" dirty="0"/>
              <a:t>Control Variables:</a:t>
            </a:r>
            <a:r>
              <a:rPr lang="en-IN" dirty="0"/>
              <a:t> Same model architecture, same optimizer, same learning rate, same evaluation dataset</a:t>
            </a:r>
          </a:p>
          <a:p>
            <a:endParaRPr lang="en-IN" dirty="0"/>
          </a:p>
          <a:p>
            <a:endParaRPr lang="en-IN" dirty="0"/>
          </a:p>
        </p:txBody>
      </p:sp>
    </p:spTree>
    <p:extLst>
      <p:ext uri="{BB962C8B-B14F-4D97-AF65-F5344CB8AC3E}">
        <p14:creationId xmlns:p14="http://schemas.microsoft.com/office/powerpoint/2010/main" val="368052332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37AB6F4-E729-8E2E-766B-3CA1AA102880}"/>
              </a:ext>
            </a:extLst>
          </p:cNvPr>
          <p:cNvSpPr>
            <a:spLocks noGrp="1"/>
          </p:cNvSpPr>
          <p:nvPr>
            <p:ph idx="1"/>
          </p:nvPr>
        </p:nvSpPr>
        <p:spPr>
          <a:xfrm>
            <a:off x="238432" y="363795"/>
            <a:ext cx="11658600" cy="6145160"/>
          </a:xfrm>
        </p:spPr>
        <p:txBody>
          <a:bodyPr>
            <a:normAutofit/>
          </a:bodyPr>
          <a:lstStyle/>
          <a:p>
            <a:pPr marL="0" indent="0" algn="just">
              <a:buNone/>
            </a:pPr>
            <a:r>
              <a:rPr lang="en-US" b="1" i="0" dirty="0">
                <a:solidFill>
                  <a:srgbClr val="00B050"/>
                </a:solidFill>
                <a:effectLst/>
              </a:rPr>
              <a:t>Experimental Group</a:t>
            </a:r>
          </a:p>
          <a:p>
            <a:pPr marL="0" indent="0" algn="just">
              <a:buNone/>
            </a:pPr>
            <a:br>
              <a:rPr lang="en-US" b="0" i="0" dirty="0">
                <a:effectLst/>
              </a:rPr>
            </a:br>
            <a:r>
              <a:rPr lang="en-US" b="0" i="0" dirty="0">
                <a:effectLst/>
              </a:rPr>
              <a:t>The experimental group is the group of subjects that receives the treatment or intervention being tested. This group is exposed to the independent variable to observe its effects on the dependent variable.</a:t>
            </a:r>
          </a:p>
          <a:p>
            <a:pPr marL="0" indent="0" algn="just">
              <a:buNone/>
            </a:pPr>
            <a:r>
              <a:rPr lang="en-US" b="1" i="0" dirty="0">
                <a:effectLst/>
              </a:rPr>
              <a:t>Characteristics: </a:t>
            </a:r>
          </a:p>
          <a:p>
            <a:pPr algn="just"/>
            <a:r>
              <a:rPr lang="en-US" b="1" i="0" dirty="0">
                <a:effectLst/>
              </a:rPr>
              <a:t>Treatment Application: </a:t>
            </a:r>
            <a:r>
              <a:rPr lang="en-US" b="0" i="0" dirty="0">
                <a:effectLst/>
              </a:rPr>
              <a:t>Members of the experimental group experience changes or interventions that are hypothesized to affect outcomes.</a:t>
            </a:r>
          </a:p>
          <a:p>
            <a:pPr algn="just">
              <a:buFont typeface="Arial" panose="020B0604020202020204" pitchFamily="34" charset="0"/>
              <a:buChar char="•"/>
            </a:pPr>
            <a:r>
              <a:rPr lang="en-US" b="1" i="0" dirty="0">
                <a:effectLst/>
              </a:rPr>
              <a:t>Comparison Basis: </a:t>
            </a:r>
            <a:r>
              <a:rPr lang="en-US" b="0" i="0" dirty="0">
                <a:effectLst/>
              </a:rPr>
              <a:t>The results from this group are compared against those from the control group to determine the effectiveness of the treatment.</a:t>
            </a:r>
          </a:p>
          <a:p>
            <a:pPr marL="0" indent="0" algn="just">
              <a:buNone/>
            </a:pPr>
            <a:br>
              <a:rPr lang="en-US" b="0" i="0" dirty="0">
                <a:effectLst/>
              </a:rPr>
            </a:br>
            <a:r>
              <a:rPr lang="en-US" b="1" i="0" dirty="0">
                <a:effectLst/>
              </a:rPr>
              <a:t>Example:</a:t>
            </a:r>
            <a:r>
              <a:rPr lang="en-US" b="0" i="0" dirty="0">
                <a:effectLst/>
              </a:rPr>
              <a:t> In a clinical trial testing a new medication, the experimental group would receive the actual drug being studied.</a:t>
            </a:r>
            <a:endParaRPr lang="en-IN" dirty="0"/>
          </a:p>
        </p:txBody>
      </p:sp>
    </p:spTree>
    <p:extLst>
      <p:ext uri="{BB962C8B-B14F-4D97-AF65-F5344CB8AC3E}">
        <p14:creationId xmlns:p14="http://schemas.microsoft.com/office/powerpoint/2010/main" val="37814975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2090BAC-86DC-53F8-6B24-97F469B642EC}"/>
              </a:ext>
            </a:extLst>
          </p:cNvPr>
          <p:cNvSpPr>
            <a:spLocks noGrp="1"/>
          </p:cNvSpPr>
          <p:nvPr>
            <p:ph idx="1"/>
          </p:nvPr>
        </p:nvSpPr>
        <p:spPr>
          <a:xfrm>
            <a:off x="444909" y="488437"/>
            <a:ext cx="11461956" cy="5863201"/>
          </a:xfrm>
        </p:spPr>
        <p:txBody>
          <a:bodyPr>
            <a:normAutofit fontScale="92500" lnSpcReduction="10000"/>
          </a:bodyPr>
          <a:lstStyle/>
          <a:p>
            <a:pPr marL="0" indent="0" algn="just">
              <a:buNone/>
            </a:pPr>
            <a:r>
              <a:rPr lang="en-US" b="1" i="0" dirty="0">
                <a:solidFill>
                  <a:srgbClr val="00B050"/>
                </a:solidFill>
                <a:effectLst/>
              </a:rPr>
              <a:t>Control Group</a:t>
            </a:r>
          </a:p>
          <a:p>
            <a:pPr marL="0" indent="0" algn="just">
              <a:buNone/>
            </a:pPr>
            <a:br>
              <a:rPr lang="en-US" b="0" i="0" dirty="0">
                <a:effectLst/>
              </a:rPr>
            </a:br>
            <a:r>
              <a:rPr lang="en-US" b="0" i="0" dirty="0">
                <a:effectLst/>
              </a:rPr>
              <a:t>The control group is a separate group that does not receive the treatment or intervention. Instead, it serves as a baseline to compare against the experimental group.</a:t>
            </a:r>
          </a:p>
          <a:p>
            <a:pPr marL="0" indent="0" algn="just">
              <a:buNone/>
            </a:pPr>
            <a:r>
              <a:rPr lang="en-US" b="1" i="0" dirty="0">
                <a:effectLst/>
              </a:rPr>
              <a:t>Characteristics:</a:t>
            </a:r>
          </a:p>
          <a:p>
            <a:pPr algn="just"/>
            <a:r>
              <a:rPr lang="en-US" b="1" i="0" dirty="0">
                <a:effectLst/>
              </a:rPr>
              <a:t>No Treatment or Placebo: </a:t>
            </a:r>
            <a:r>
              <a:rPr lang="en-US" b="0" i="0" dirty="0">
                <a:effectLst/>
              </a:rPr>
              <a:t>Members of the control group may receive a placebo or standard treatment, allowing researchers to isolate the effects of the independent variable.</a:t>
            </a:r>
          </a:p>
          <a:p>
            <a:pPr algn="just">
              <a:buFont typeface="Arial" panose="020B0604020202020204" pitchFamily="34" charset="0"/>
              <a:buChar char="•"/>
            </a:pPr>
            <a:r>
              <a:rPr lang="en-US" b="1" i="0" dirty="0">
                <a:effectLst/>
              </a:rPr>
              <a:t>Similarity to Experimental Group:</a:t>
            </a:r>
            <a:r>
              <a:rPr lang="en-US" b="0" i="0" dirty="0">
                <a:effectLst/>
              </a:rPr>
              <a:t> Ideally, control and experimental groups should be identical in every way except for the treatment being tested. This ensures that any differences in outcomes can be attributed to the treatment.</a:t>
            </a:r>
          </a:p>
          <a:p>
            <a:pPr marL="0" indent="0" algn="just">
              <a:buNone/>
            </a:pPr>
            <a:br>
              <a:rPr lang="en-US" b="0" i="0" dirty="0">
                <a:effectLst/>
              </a:rPr>
            </a:br>
            <a:r>
              <a:rPr lang="en-US" b="1" i="0" dirty="0">
                <a:effectLst/>
              </a:rPr>
              <a:t>Example:</a:t>
            </a:r>
            <a:r>
              <a:rPr lang="en-US" b="0" i="0" dirty="0">
                <a:effectLst/>
              </a:rPr>
              <a:t> In clinical trial, the control group might receive a placebo pill that has no therapeutic effect.</a:t>
            </a:r>
            <a:endParaRPr lang="en-IN" dirty="0"/>
          </a:p>
        </p:txBody>
      </p:sp>
    </p:spTree>
    <p:extLst>
      <p:ext uri="{BB962C8B-B14F-4D97-AF65-F5344CB8AC3E}">
        <p14:creationId xmlns:p14="http://schemas.microsoft.com/office/powerpoint/2010/main" val="115485070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40B672D-B786-88FC-338F-634E18118682}"/>
              </a:ext>
            </a:extLst>
          </p:cNvPr>
          <p:cNvSpPr>
            <a:spLocks noGrp="1"/>
          </p:cNvSpPr>
          <p:nvPr>
            <p:ph idx="1"/>
          </p:nvPr>
        </p:nvSpPr>
        <p:spPr>
          <a:xfrm>
            <a:off x="385915" y="350787"/>
            <a:ext cx="11452123" cy="6226994"/>
          </a:xfrm>
        </p:spPr>
        <p:txBody>
          <a:bodyPr/>
          <a:lstStyle/>
          <a:p>
            <a:pPr marL="0" indent="0">
              <a:buNone/>
            </a:pPr>
            <a:r>
              <a:rPr lang="en-US" sz="2800" b="1" dirty="0">
                <a:solidFill>
                  <a:srgbClr val="00B050"/>
                </a:solidFill>
                <a:latin typeface="+mn-lt"/>
              </a:rPr>
              <a:t>Importance of Experimental and Control Groups</a:t>
            </a:r>
          </a:p>
          <a:p>
            <a:pPr algn="just">
              <a:buFont typeface="Arial" panose="020B0604020202020204" pitchFamily="34" charset="0"/>
              <a:buChar char="•"/>
            </a:pPr>
            <a:endParaRPr lang="en-US" b="0" i="0" dirty="0">
              <a:effectLst/>
            </a:endParaRPr>
          </a:p>
          <a:p>
            <a:pPr algn="just">
              <a:buFont typeface="Arial" panose="020B0604020202020204" pitchFamily="34" charset="0"/>
              <a:buChar char="•"/>
            </a:pPr>
            <a:r>
              <a:rPr lang="en-US" b="0" i="0" dirty="0">
                <a:effectLst/>
              </a:rPr>
              <a:t>Establishing Causality: By comparing outcomes between groups, researchers can determine whether changes in the dependent variable are due to the independent variable.</a:t>
            </a:r>
          </a:p>
          <a:p>
            <a:pPr algn="just">
              <a:buFont typeface="Arial" panose="020B0604020202020204" pitchFamily="34" charset="0"/>
              <a:buChar char="•"/>
            </a:pPr>
            <a:r>
              <a:rPr lang="en-US" b="0" i="0" dirty="0">
                <a:effectLst/>
              </a:rPr>
              <a:t>Reducing Bias and Variability: Control groups help mitigate confounding variables and biases, enhancing the validity of findings.</a:t>
            </a:r>
          </a:p>
          <a:p>
            <a:pPr algn="just">
              <a:buFont typeface="Arial" panose="020B0604020202020204" pitchFamily="34" charset="0"/>
              <a:buChar char="•"/>
            </a:pPr>
            <a:r>
              <a:rPr lang="en-US" b="0" i="0" dirty="0">
                <a:effectLst/>
              </a:rPr>
              <a:t>Benchmarking Results: The control group provides a standard against which researchers can measure changes observed in the experimental group.</a:t>
            </a:r>
          </a:p>
          <a:p>
            <a:pPr marL="0" indent="0">
              <a:buNone/>
            </a:pPr>
            <a:endParaRPr lang="en-IN" dirty="0"/>
          </a:p>
        </p:txBody>
      </p:sp>
    </p:spTree>
    <p:extLst>
      <p:ext uri="{BB962C8B-B14F-4D97-AF65-F5344CB8AC3E}">
        <p14:creationId xmlns:p14="http://schemas.microsoft.com/office/powerpoint/2010/main" val="312424920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FA3CEEC-4A03-525E-F6E2-796DF59C193F}"/>
              </a:ext>
            </a:extLst>
          </p:cNvPr>
          <p:cNvSpPr>
            <a:spLocks noGrp="1"/>
          </p:cNvSpPr>
          <p:nvPr>
            <p:ph idx="1"/>
          </p:nvPr>
        </p:nvSpPr>
        <p:spPr>
          <a:xfrm>
            <a:off x="346587" y="458941"/>
            <a:ext cx="11442290" cy="6040182"/>
          </a:xfrm>
        </p:spPr>
        <p:txBody>
          <a:bodyPr/>
          <a:lstStyle/>
          <a:p>
            <a:pPr marL="0" indent="0">
              <a:buNone/>
            </a:pPr>
            <a:r>
              <a:rPr lang="en-IN" b="1" i="0" dirty="0">
                <a:solidFill>
                  <a:srgbClr val="00B050"/>
                </a:solidFill>
                <a:effectLst/>
                <a:latin typeface="+mn-lt"/>
              </a:rPr>
              <a:t>Types of Treatments</a:t>
            </a:r>
          </a:p>
          <a:p>
            <a:pPr algn="l">
              <a:buFont typeface="Arial" panose="020B0604020202020204" pitchFamily="34" charset="0"/>
              <a:buChar char="•"/>
            </a:pPr>
            <a:endParaRPr lang="en-US" b="0" i="0" dirty="0">
              <a:effectLst/>
              <a:latin typeface="__fkGroteskNeue_598ab8"/>
            </a:endParaRPr>
          </a:p>
          <a:p>
            <a:pPr algn="just">
              <a:buFont typeface="Arial" panose="020B0604020202020204" pitchFamily="34" charset="0"/>
              <a:buChar char="•"/>
            </a:pPr>
            <a:r>
              <a:rPr lang="en-US" b="1" i="0" dirty="0">
                <a:effectLst/>
              </a:rPr>
              <a:t>Experimental Treatments: </a:t>
            </a:r>
            <a:r>
              <a:rPr lang="en-US" b="0" i="0" dirty="0">
                <a:effectLst/>
              </a:rPr>
              <a:t>These are the new or modified interventions being tested (e.g., a new medication).</a:t>
            </a:r>
          </a:p>
          <a:p>
            <a:pPr algn="just">
              <a:buFont typeface="Arial" panose="020B0604020202020204" pitchFamily="34" charset="0"/>
              <a:buChar char="•"/>
            </a:pPr>
            <a:r>
              <a:rPr lang="en-US" b="1" i="0" dirty="0">
                <a:effectLst/>
              </a:rPr>
              <a:t>Control Treatments: </a:t>
            </a:r>
            <a:r>
              <a:rPr lang="en-US" b="0" i="0" dirty="0">
                <a:effectLst/>
              </a:rPr>
              <a:t>These may include standard treatments, placebos, or no treatment at all, used for comparison against the experimental treatments.</a:t>
            </a:r>
          </a:p>
          <a:p>
            <a:pPr marL="0" indent="0" algn="just">
              <a:buNone/>
            </a:pPr>
            <a:r>
              <a:rPr lang="en-IN" b="1" i="0" dirty="0">
                <a:solidFill>
                  <a:srgbClr val="00B050"/>
                </a:solidFill>
                <a:effectLst/>
              </a:rPr>
              <a:t>Purpose</a:t>
            </a:r>
            <a:endParaRPr lang="en-US" b="1" i="0" dirty="0">
              <a:solidFill>
                <a:srgbClr val="00B050"/>
              </a:solidFill>
              <a:effectLst/>
            </a:endParaRPr>
          </a:p>
          <a:p>
            <a:pPr marL="0" indent="0" algn="just">
              <a:buNone/>
            </a:pPr>
            <a:r>
              <a:rPr lang="en-US" b="0" i="0" dirty="0">
                <a:effectLst/>
              </a:rPr>
              <a:t>The primary goal of applying treatments is to determine their effect on the outcome of interest (the dependent variable). By comparing the results from treatment groups to control groups, researchers can assess whether the treatment has a significant impact.</a:t>
            </a:r>
          </a:p>
          <a:p>
            <a:pPr marL="0" indent="0">
              <a:buNone/>
            </a:pPr>
            <a:endParaRPr lang="en-IN" dirty="0"/>
          </a:p>
        </p:txBody>
      </p:sp>
    </p:spTree>
    <p:extLst>
      <p:ext uri="{BB962C8B-B14F-4D97-AF65-F5344CB8AC3E}">
        <p14:creationId xmlns:p14="http://schemas.microsoft.com/office/powerpoint/2010/main" val="42515510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B5187AD-3764-2F5C-E6AA-B0766427F64C}"/>
              </a:ext>
            </a:extLst>
          </p:cNvPr>
          <p:cNvSpPr>
            <a:spLocks noGrp="1"/>
          </p:cNvSpPr>
          <p:nvPr>
            <p:ph idx="1"/>
          </p:nvPr>
        </p:nvSpPr>
        <p:spPr>
          <a:xfrm>
            <a:off x="356419" y="370450"/>
            <a:ext cx="11491451" cy="6118839"/>
          </a:xfrm>
        </p:spPr>
        <p:txBody>
          <a:bodyPr/>
          <a:lstStyle/>
          <a:p>
            <a:pPr marL="0" indent="0" algn="just">
              <a:buNone/>
            </a:pPr>
            <a:r>
              <a:rPr lang="en-US" b="1" i="0" dirty="0">
                <a:solidFill>
                  <a:srgbClr val="00B050"/>
                </a:solidFill>
                <a:effectLst/>
              </a:rPr>
              <a:t>Design Considerations:</a:t>
            </a:r>
          </a:p>
          <a:p>
            <a:pPr algn="just"/>
            <a:r>
              <a:rPr lang="en-US" b="0" i="0" dirty="0">
                <a:effectLst/>
              </a:rPr>
              <a:t>Researchers must carefully design the treatment conditions, including dosage, duration, and delivery method, to ensure valid and reliable results.</a:t>
            </a:r>
          </a:p>
          <a:p>
            <a:pPr algn="just"/>
            <a:r>
              <a:rPr lang="en-US" b="0" i="0" dirty="0">
                <a:effectLst/>
              </a:rPr>
              <a:t>Random assignment of treatments helps minimize bias and confounding variables, enhancing the internal validity of the study.</a:t>
            </a:r>
          </a:p>
          <a:p>
            <a:pPr marL="0" indent="0" algn="just">
              <a:buNone/>
            </a:pPr>
            <a:r>
              <a:rPr lang="en-US" b="1" i="0" dirty="0">
                <a:solidFill>
                  <a:srgbClr val="00B050"/>
                </a:solidFill>
                <a:effectLst/>
              </a:rPr>
              <a:t>Measurement:</a:t>
            </a:r>
          </a:p>
          <a:p>
            <a:pPr algn="just"/>
            <a:r>
              <a:rPr lang="en-US" b="0" i="0" dirty="0">
                <a:effectLst/>
              </a:rPr>
              <a:t>Outcomes are typically measured before and after treatment application (pretest and posttest) to evaluate changes attributable to the treatment.</a:t>
            </a:r>
          </a:p>
          <a:p>
            <a:pPr marL="0" indent="0">
              <a:buNone/>
            </a:pPr>
            <a:endParaRPr lang="en-IN" dirty="0"/>
          </a:p>
        </p:txBody>
      </p:sp>
    </p:spTree>
    <p:extLst>
      <p:ext uri="{BB962C8B-B14F-4D97-AF65-F5344CB8AC3E}">
        <p14:creationId xmlns:p14="http://schemas.microsoft.com/office/powerpoint/2010/main" val="340476893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1F391B5-2612-B38E-27EA-B70C9A7EB88B}"/>
              </a:ext>
            </a:extLst>
          </p:cNvPr>
          <p:cNvSpPr>
            <a:spLocks noGrp="1"/>
          </p:cNvSpPr>
          <p:nvPr>
            <p:ph idx="1"/>
          </p:nvPr>
        </p:nvSpPr>
        <p:spPr>
          <a:xfrm>
            <a:off x="523568" y="488437"/>
            <a:ext cx="11353800" cy="6040181"/>
          </a:xfrm>
        </p:spPr>
        <p:txBody>
          <a:bodyPr/>
          <a:lstStyle/>
          <a:p>
            <a:pPr marL="0" indent="0" algn="just">
              <a:buNone/>
            </a:pPr>
            <a:r>
              <a:rPr lang="en-US" b="1" i="0" dirty="0">
                <a:solidFill>
                  <a:srgbClr val="00B050"/>
                </a:solidFill>
                <a:effectLst/>
              </a:rPr>
              <a:t>Example of Treatment in Research</a:t>
            </a:r>
          </a:p>
          <a:p>
            <a:pPr marL="0" indent="0" algn="just">
              <a:buNone/>
            </a:pPr>
            <a:endParaRPr lang="en-US" b="0" i="0" dirty="0">
              <a:effectLst/>
            </a:endParaRPr>
          </a:p>
          <a:p>
            <a:pPr marL="0" indent="0" algn="just">
              <a:buNone/>
            </a:pPr>
            <a:r>
              <a:rPr lang="en-US" b="0" i="0" dirty="0">
                <a:effectLst/>
              </a:rPr>
              <a:t>In a clinical trial evaluating the effectiveness of a new drug for hypertension: </a:t>
            </a:r>
          </a:p>
          <a:p>
            <a:pPr algn="just">
              <a:buFont typeface="Arial" panose="020B0604020202020204" pitchFamily="34" charset="0"/>
              <a:buChar char="•"/>
            </a:pPr>
            <a:r>
              <a:rPr lang="en-US" b="1" i="0" dirty="0">
                <a:effectLst/>
              </a:rPr>
              <a:t>Treatment Group: </a:t>
            </a:r>
            <a:r>
              <a:rPr lang="en-US" b="0" i="0" dirty="0">
                <a:effectLst/>
              </a:rPr>
              <a:t>Participants receive the new drug.</a:t>
            </a:r>
          </a:p>
          <a:p>
            <a:pPr algn="just">
              <a:buFont typeface="Arial" panose="020B0604020202020204" pitchFamily="34" charset="0"/>
              <a:buChar char="•"/>
            </a:pPr>
            <a:r>
              <a:rPr lang="en-US" b="1" i="0" dirty="0">
                <a:effectLst/>
              </a:rPr>
              <a:t>Control Group: </a:t>
            </a:r>
            <a:r>
              <a:rPr lang="en-US" b="0" i="0" dirty="0">
                <a:effectLst/>
              </a:rPr>
              <a:t>Participants receive a placebo.</a:t>
            </a:r>
          </a:p>
          <a:p>
            <a:pPr marL="0" indent="0" algn="just">
              <a:buNone/>
            </a:pPr>
            <a:r>
              <a:rPr lang="en-US" b="0" i="0" dirty="0">
                <a:effectLst/>
              </a:rPr>
              <a:t>Researchers compare blood pressure readings before and after treatment in both groups to determine if the new drug is effective.</a:t>
            </a:r>
          </a:p>
          <a:p>
            <a:pPr marL="0" indent="0">
              <a:buNone/>
            </a:pPr>
            <a:endParaRPr lang="en-IN" dirty="0"/>
          </a:p>
        </p:txBody>
      </p:sp>
    </p:spTree>
    <p:extLst>
      <p:ext uri="{BB962C8B-B14F-4D97-AF65-F5344CB8AC3E}">
        <p14:creationId xmlns:p14="http://schemas.microsoft.com/office/powerpoint/2010/main" val="350346780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FF0000"/>
                </a:solidFill>
              </a:rPr>
              <a:t>Experiment</a:t>
            </a:r>
            <a:endParaRPr lang="en-IN" b="1" dirty="0">
              <a:solidFill>
                <a:srgbClr val="FF0000"/>
              </a:solidFill>
            </a:endParaRPr>
          </a:p>
        </p:txBody>
      </p:sp>
      <p:sp>
        <p:nvSpPr>
          <p:cNvPr id="3" name="Content Placeholder 2"/>
          <p:cNvSpPr>
            <a:spLocks noGrp="1"/>
          </p:cNvSpPr>
          <p:nvPr>
            <p:ph idx="1"/>
          </p:nvPr>
        </p:nvSpPr>
        <p:spPr/>
        <p:txBody>
          <a:bodyPr/>
          <a:lstStyle/>
          <a:p>
            <a:pPr algn="just"/>
            <a:r>
              <a:rPr lang="en-US" dirty="0"/>
              <a:t>The process of examining the truth of a statistical hypothesis, relating to some research problem, is known as an experiment. </a:t>
            </a:r>
          </a:p>
          <a:p>
            <a:pPr algn="just"/>
            <a:r>
              <a:rPr lang="en-US" dirty="0"/>
              <a:t>Experiments can be of two types viz., absolute experiment and comparative experiment. </a:t>
            </a:r>
          </a:p>
          <a:p>
            <a:pPr algn="just"/>
            <a:r>
              <a:rPr lang="en-US" dirty="0"/>
              <a:t>If we want to determine the impact of a fertilizer on the yield of a crop, it is a case of absolute experiment; but if we want to determine the impact of one fertilizer as compared to the impact of some other fertilizer, our experiment then will be termed as a comparative experiment. Often, we undertake comparative experiments when we talk of designs of experiments.</a:t>
            </a:r>
            <a:endParaRPr lang="en-IN" dirty="0"/>
          </a:p>
        </p:txBody>
      </p:sp>
    </p:spTree>
    <p:extLst>
      <p:ext uri="{BB962C8B-B14F-4D97-AF65-F5344CB8AC3E}">
        <p14:creationId xmlns:p14="http://schemas.microsoft.com/office/powerpoint/2010/main" val="13645837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FF0000"/>
                </a:solidFill>
              </a:rPr>
              <a:t>Experiment Units</a:t>
            </a:r>
            <a:endParaRPr lang="en-IN" dirty="0"/>
          </a:p>
        </p:txBody>
      </p:sp>
      <p:sp>
        <p:nvSpPr>
          <p:cNvPr id="3" name="Content Placeholder 2"/>
          <p:cNvSpPr>
            <a:spLocks noGrp="1"/>
          </p:cNvSpPr>
          <p:nvPr>
            <p:ph idx="1"/>
          </p:nvPr>
        </p:nvSpPr>
        <p:spPr/>
        <p:txBody>
          <a:bodyPr/>
          <a:lstStyle/>
          <a:p>
            <a:r>
              <a:rPr lang="en-US" dirty="0"/>
              <a:t>The pre-determined plots or the blocks, where different treatments are used, are known as experimental units. </a:t>
            </a:r>
            <a:r>
              <a:rPr lang="en-US"/>
              <a:t>Such experimental units must be selected (defined) very carefully.</a:t>
            </a:r>
            <a:endParaRPr lang="en-IN" dirty="0"/>
          </a:p>
        </p:txBody>
      </p:sp>
    </p:spTree>
    <p:extLst>
      <p:ext uri="{BB962C8B-B14F-4D97-AF65-F5344CB8AC3E}">
        <p14:creationId xmlns:p14="http://schemas.microsoft.com/office/powerpoint/2010/main" val="377321035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solidFill>
                  <a:srgbClr val="FF0000"/>
                </a:solidFill>
                <a:latin typeface="+mn-lt"/>
              </a:rPr>
              <a:t>Experimental Design</a:t>
            </a:r>
            <a:endParaRPr lang="en-IN" b="1" dirty="0">
              <a:solidFill>
                <a:srgbClr val="FF0000"/>
              </a:solidFill>
              <a:latin typeface="+mn-lt"/>
            </a:endParaRPr>
          </a:p>
        </p:txBody>
      </p:sp>
      <p:sp>
        <p:nvSpPr>
          <p:cNvPr id="3" name="Content Placeholder 2"/>
          <p:cNvSpPr>
            <a:spLocks noGrp="1"/>
          </p:cNvSpPr>
          <p:nvPr>
            <p:ph idx="1"/>
          </p:nvPr>
        </p:nvSpPr>
        <p:spPr/>
        <p:txBody>
          <a:bodyPr/>
          <a:lstStyle/>
          <a:p>
            <a:pPr marL="0" indent="0" algn="just">
              <a:buNone/>
            </a:pPr>
            <a:r>
              <a:rPr lang="en-US" dirty="0"/>
              <a:t>Experimental design methods allow the experimenter to understand better and evaluate the factors that influence a particular system by means of statistical approaches. </a:t>
            </a:r>
          </a:p>
          <a:p>
            <a:pPr marL="0" indent="0" algn="just">
              <a:buNone/>
            </a:pPr>
            <a:r>
              <a:rPr lang="en-US" dirty="0"/>
              <a:t>Such approaches combine theoretical knowledge of experimental designs and a working knowledge of the particular factors to be studied.</a:t>
            </a:r>
            <a:endParaRPr lang="en-IN" dirty="0"/>
          </a:p>
        </p:txBody>
      </p:sp>
    </p:spTree>
    <p:extLst>
      <p:ext uri="{BB962C8B-B14F-4D97-AF65-F5344CB8AC3E}">
        <p14:creationId xmlns:p14="http://schemas.microsoft.com/office/powerpoint/2010/main" val="280563479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solidFill>
                  <a:srgbClr val="FF0000"/>
                </a:solidFill>
              </a:rPr>
              <a:t>Principle of Randomization</a:t>
            </a:r>
            <a:endParaRPr lang="en-IN" b="1" dirty="0">
              <a:solidFill>
                <a:srgbClr val="FF0000"/>
              </a:solidFill>
            </a:endParaRPr>
          </a:p>
        </p:txBody>
      </p:sp>
      <p:sp>
        <p:nvSpPr>
          <p:cNvPr id="3" name="Content Placeholder 2"/>
          <p:cNvSpPr>
            <a:spLocks noGrp="1"/>
          </p:cNvSpPr>
          <p:nvPr>
            <p:ph idx="1"/>
          </p:nvPr>
        </p:nvSpPr>
        <p:spPr/>
        <p:txBody>
          <a:bodyPr>
            <a:normAutofit lnSpcReduction="10000"/>
          </a:bodyPr>
          <a:lstStyle/>
          <a:p>
            <a:r>
              <a:rPr lang="en-US" dirty="0"/>
              <a:t>Design an experiment in such a way that all variations caused by extraneous factors are combined under general heading of “chance”.</a:t>
            </a:r>
          </a:p>
          <a:p>
            <a:r>
              <a:rPr lang="en-US" dirty="0"/>
              <a:t>Assign variety of rice to be grown in different parts of field on basis of random sampling. This gives better estimate of experimental error.</a:t>
            </a:r>
          </a:p>
          <a:p>
            <a:pPr marL="0" indent="0">
              <a:buNone/>
            </a:pPr>
            <a:r>
              <a:rPr lang="en-US" dirty="0"/>
              <a:t>Ex: Suppose a researcher wants to study the effect of three fertilizers (A, B, C) on crop yield. The field has different soil fertility levels — so we treat each fertility level as a block.</a:t>
            </a:r>
          </a:p>
          <a:p>
            <a:pPr marL="0" indent="0">
              <a:buNone/>
            </a:pPr>
            <a:r>
              <a:rPr lang="en-US" dirty="0"/>
              <a:t>In each block:</a:t>
            </a:r>
          </a:p>
          <a:p>
            <a:r>
              <a:rPr lang="en-US" dirty="0"/>
              <a:t>Fertilizers (treatments) are assigned randomly to plots.</a:t>
            </a:r>
          </a:p>
          <a:p>
            <a:r>
              <a:rPr lang="en-US" dirty="0"/>
              <a:t>This controls the soil variation effect.</a:t>
            </a:r>
          </a:p>
          <a:p>
            <a:endParaRPr lang="en-IN" dirty="0"/>
          </a:p>
        </p:txBody>
      </p:sp>
    </p:spTree>
    <p:extLst>
      <p:ext uri="{BB962C8B-B14F-4D97-AF65-F5344CB8AC3E}">
        <p14:creationId xmlns:p14="http://schemas.microsoft.com/office/powerpoint/2010/main" val="404260909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solidFill>
                  <a:srgbClr val="FF0000"/>
                </a:solidFill>
              </a:rPr>
              <a:t>Principle of Replication</a:t>
            </a:r>
            <a:endParaRPr lang="en-IN" b="1" dirty="0">
              <a:solidFill>
                <a:srgbClr val="FF0000"/>
              </a:solidFill>
            </a:endParaRPr>
          </a:p>
        </p:txBody>
      </p:sp>
      <p:sp>
        <p:nvSpPr>
          <p:cNvPr id="3" name="Content Placeholder 2"/>
          <p:cNvSpPr>
            <a:spLocks noGrp="1"/>
          </p:cNvSpPr>
          <p:nvPr>
            <p:ph idx="1"/>
          </p:nvPr>
        </p:nvSpPr>
        <p:spPr/>
        <p:txBody>
          <a:bodyPr/>
          <a:lstStyle/>
          <a:p>
            <a:r>
              <a:rPr lang="en-US" dirty="0"/>
              <a:t>Experiment should be repeated more than once.</a:t>
            </a:r>
          </a:p>
          <a:p>
            <a:r>
              <a:rPr lang="en-US" dirty="0"/>
              <a:t>Each treatment is applied in many experimental units instead of one. Hence, statistical accuracy is increased.</a:t>
            </a:r>
          </a:p>
          <a:p>
            <a:endParaRPr lang="en-US" dirty="0"/>
          </a:p>
          <a:p>
            <a:r>
              <a:rPr lang="en-US" dirty="0" err="1"/>
              <a:t>Eg</a:t>
            </a:r>
            <a:r>
              <a:rPr lang="en-US" dirty="0"/>
              <a:t>: Divide the field into several parts, grow one variety in one half of these parts and another variety in another half of the parts. Collect the data of yield of the two varieties and draw conclusion by comparing the same. The result is more reliable than that without replication.</a:t>
            </a:r>
          </a:p>
          <a:p>
            <a:endParaRPr lang="en-IN" dirty="0"/>
          </a:p>
        </p:txBody>
      </p:sp>
    </p:spTree>
    <p:extLst>
      <p:ext uri="{BB962C8B-B14F-4D97-AF65-F5344CB8AC3E}">
        <p14:creationId xmlns:p14="http://schemas.microsoft.com/office/powerpoint/2010/main" val="106774304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solidFill>
                  <a:srgbClr val="FF0000"/>
                </a:solidFill>
              </a:rPr>
              <a:t>Principle of Local Control</a:t>
            </a:r>
            <a:endParaRPr lang="en-IN" b="1" dirty="0">
              <a:solidFill>
                <a:srgbClr val="FF0000"/>
              </a:solidFill>
            </a:endParaRPr>
          </a:p>
        </p:txBody>
      </p:sp>
      <p:sp>
        <p:nvSpPr>
          <p:cNvPr id="3" name="Content Placeholder 2"/>
          <p:cNvSpPr>
            <a:spLocks noGrp="1"/>
          </p:cNvSpPr>
          <p:nvPr>
            <p:ph idx="1"/>
          </p:nvPr>
        </p:nvSpPr>
        <p:spPr/>
        <p:txBody>
          <a:bodyPr/>
          <a:lstStyle/>
          <a:p>
            <a:r>
              <a:rPr lang="en-US" dirty="0"/>
              <a:t>Divide the field into several homogenous parts called block and divide block into several parts (equal to number of treatments).</a:t>
            </a:r>
          </a:p>
          <a:p>
            <a:r>
              <a:rPr lang="en-US" dirty="0"/>
              <a:t>Blocks are the levels at which we hold extraneous factor fixed so that we can measure its contribution to total variability of data by two-way ANOVA.</a:t>
            </a:r>
          </a:p>
          <a:p>
            <a:r>
              <a:rPr lang="en-US" dirty="0"/>
              <a:t>It eliminates variability due to extraneous factor from experimental error.</a:t>
            </a:r>
          </a:p>
          <a:p>
            <a:r>
              <a:rPr lang="en-US" dirty="0" err="1"/>
              <a:t>Eg</a:t>
            </a:r>
            <a:r>
              <a:rPr lang="en-US" dirty="0"/>
              <a:t>: Treatment (Different rice varieties); Extraneous factor (soil fertility)</a:t>
            </a:r>
          </a:p>
          <a:p>
            <a:endParaRPr lang="en-IN" dirty="0"/>
          </a:p>
        </p:txBody>
      </p:sp>
    </p:spTree>
    <p:extLst>
      <p:ext uri="{BB962C8B-B14F-4D97-AF65-F5344CB8AC3E}">
        <p14:creationId xmlns:p14="http://schemas.microsoft.com/office/powerpoint/2010/main" val="141112621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C0D11C34-CE75-494E-9CA4-FA78084AE33A}"/>
              </a:ext>
            </a:extLst>
          </p:cNvPr>
          <p:cNvPicPr>
            <a:picLocks noChangeAspect="1"/>
          </p:cNvPicPr>
          <p:nvPr/>
        </p:nvPicPr>
        <p:blipFill rotWithShape="1">
          <a:blip r:embed="rId2"/>
          <a:srcRect l="1129" t="5249" r="1174" b="3080"/>
          <a:stretch/>
        </p:blipFill>
        <p:spPr>
          <a:xfrm>
            <a:off x="774289" y="29496"/>
            <a:ext cx="10444318" cy="4961760"/>
          </a:xfrm>
          <a:prstGeom prst="rect">
            <a:avLst/>
          </a:prstGeom>
        </p:spPr>
      </p:pic>
      <p:sp>
        <p:nvSpPr>
          <p:cNvPr id="3" name="Right Brace 2">
            <a:extLst>
              <a:ext uri="{FF2B5EF4-FFF2-40B4-BE49-F238E27FC236}">
                <a16:creationId xmlns:a16="http://schemas.microsoft.com/office/drawing/2014/main" id="{AC7ACB10-CBD2-47B0-92B2-EFBF420B8611}"/>
              </a:ext>
            </a:extLst>
          </p:cNvPr>
          <p:cNvSpPr/>
          <p:nvPr/>
        </p:nvSpPr>
        <p:spPr>
          <a:xfrm rot="5400000">
            <a:off x="4067344" y="2022235"/>
            <a:ext cx="495574" cy="7081686"/>
          </a:xfrm>
          <a:prstGeom prst="rightBrace">
            <a:avLst/>
          </a:prstGeom>
          <a:ln w="571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dirty="0"/>
          </a:p>
        </p:txBody>
      </p:sp>
      <p:sp>
        <p:nvSpPr>
          <p:cNvPr id="2" name="TextBox 1">
            <a:extLst>
              <a:ext uri="{FF2B5EF4-FFF2-40B4-BE49-F238E27FC236}">
                <a16:creationId xmlns:a16="http://schemas.microsoft.com/office/drawing/2014/main" id="{F93AF97F-E904-4EBB-A875-11AFE05C90CF}"/>
              </a:ext>
            </a:extLst>
          </p:cNvPr>
          <p:cNvSpPr txBox="1"/>
          <p:nvPr/>
        </p:nvSpPr>
        <p:spPr>
          <a:xfrm>
            <a:off x="2684205" y="5957500"/>
            <a:ext cx="3028336" cy="646331"/>
          </a:xfrm>
          <a:prstGeom prst="rect">
            <a:avLst/>
          </a:prstGeom>
          <a:noFill/>
        </p:spPr>
        <p:txBody>
          <a:bodyPr wrap="square" rtlCol="0">
            <a:spAutoFit/>
          </a:bodyPr>
          <a:lstStyle/>
          <a:p>
            <a:pPr algn="ctr"/>
            <a:r>
              <a:rPr lang="en-US" b="1" dirty="0"/>
              <a:t>Single factor/Single independent variable</a:t>
            </a:r>
            <a:endParaRPr lang="en-IN" b="1" dirty="0"/>
          </a:p>
        </p:txBody>
      </p:sp>
      <p:sp>
        <p:nvSpPr>
          <p:cNvPr id="5" name="Right Brace 4">
            <a:extLst>
              <a:ext uri="{FF2B5EF4-FFF2-40B4-BE49-F238E27FC236}">
                <a16:creationId xmlns:a16="http://schemas.microsoft.com/office/drawing/2014/main" id="{C0755F08-2BB7-46B0-B871-DE8BDDB36F9C}"/>
              </a:ext>
            </a:extLst>
          </p:cNvPr>
          <p:cNvSpPr/>
          <p:nvPr/>
        </p:nvSpPr>
        <p:spPr>
          <a:xfrm rot="5400000">
            <a:off x="9403801" y="4240510"/>
            <a:ext cx="495575" cy="2721080"/>
          </a:xfrm>
          <a:prstGeom prst="rightBrace">
            <a:avLst/>
          </a:prstGeom>
          <a:ln w="571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dirty="0"/>
          </a:p>
        </p:txBody>
      </p:sp>
      <p:sp>
        <p:nvSpPr>
          <p:cNvPr id="6" name="TextBox 5">
            <a:extLst>
              <a:ext uri="{FF2B5EF4-FFF2-40B4-BE49-F238E27FC236}">
                <a16:creationId xmlns:a16="http://schemas.microsoft.com/office/drawing/2014/main" id="{F5F4C598-C76F-4BA5-9498-CE4A9D5D297E}"/>
              </a:ext>
            </a:extLst>
          </p:cNvPr>
          <p:cNvSpPr txBox="1"/>
          <p:nvPr/>
        </p:nvSpPr>
        <p:spPr>
          <a:xfrm>
            <a:off x="8068594" y="5848838"/>
            <a:ext cx="3028336" cy="646331"/>
          </a:xfrm>
          <a:prstGeom prst="rect">
            <a:avLst/>
          </a:prstGeom>
          <a:noFill/>
        </p:spPr>
        <p:txBody>
          <a:bodyPr wrap="square" rtlCol="0">
            <a:spAutoFit/>
          </a:bodyPr>
          <a:lstStyle/>
          <a:p>
            <a:pPr algn="ctr"/>
            <a:r>
              <a:rPr lang="en-US" b="1" dirty="0"/>
              <a:t>Multi factors/Multiple independent variables</a:t>
            </a:r>
            <a:endParaRPr lang="en-IN" b="1" dirty="0"/>
          </a:p>
        </p:txBody>
      </p:sp>
    </p:spTree>
    <p:extLst>
      <p:ext uri="{BB962C8B-B14F-4D97-AF65-F5344CB8AC3E}">
        <p14:creationId xmlns:p14="http://schemas.microsoft.com/office/powerpoint/2010/main" val="31824722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630CF7-29AB-C685-6172-F9B88D0D0F56}"/>
              </a:ext>
            </a:extLst>
          </p:cNvPr>
          <p:cNvSpPr>
            <a:spLocks noGrp="1"/>
          </p:cNvSpPr>
          <p:nvPr>
            <p:ph type="title"/>
          </p:nvPr>
        </p:nvSpPr>
        <p:spPr>
          <a:xfrm>
            <a:off x="324462" y="264088"/>
            <a:ext cx="11366091" cy="1139210"/>
          </a:xfrm>
        </p:spPr>
        <p:txBody>
          <a:bodyPr>
            <a:normAutofit fontScale="90000"/>
          </a:bodyPr>
          <a:lstStyle/>
          <a:p>
            <a:pPr algn="ctr"/>
            <a:r>
              <a:rPr lang="en-US" sz="4400" b="1" dirty="0">
                <a:solidFill>
                  <a:srgbClr val="FF0000"/>
                </a:solidFill>
                <a:latin typeface="+mn-lt"/>
              </a:rPr>
              <a:t>Completely </a:t>
            </a:r>
            <a:r>
              <a:rPr lang="en-US" sz="4400" b="1" dirty="0" err="1">
                <a:solidFill>
                  <a:srgbClr val="FF0000"/>
                </a:solidFill>
                <a:latin typeface="+mn-lt"/>
              </a:rPr>
              <a:t>Randomised</a:t>
            </a:r>
            <a:r>
              <a:rPr lang="en-US" sz="4400" b="1" dirty="0">
                <a:solidFill>
                  <a:srgbClr val="FF0000"/>
                </a:solidFill>
                <a:latin typeface="+mn-lt"/>
              </a:rPr>
              <a:t> Design</a:t>
            </a:r>
            <a:br>
              <a:rPr lang="en-US" sz="4400" b="1" dirty="0">
                <a:latin typeface="+mn-lt"/>
              </a:rPr>
            </a:br>
            <a:br>
              <a:rPr lang="en-IN" sz="4400" b="1" dirty="0">
                <a:latin typeface="+mn-lt"/>
              </a:rPr>
            </a:br>
            <a:endParaRPr lang="en-IN" dirty="0"/>
          </a:p>
        </p:txBody>
      </p:sp>
      <p:sp>
        <p:nvSpPr>
          <p:cNvPr id="3" name="Content Placeholder 2">
            <a:extLst>
              <a:ext uri="{FF2B5EF4-FFF2-40B4-BE49-F238E27FC236}">
                <a16:creationId xmlns:a16="http://schemas.microsoft.com/office/drawing/2014/main" id="{6184B3FD-A289-2DC8-938F-78BCFAAE3434}"/>
              </a:ext>
            </a:extLst>
          </p:cNvPr>
          <p:cNvSpPr>
            <a:spLocks noGrp="1"/>
          </p:cNvSpPr>
          <p:nvPr>
            <p:ph idx="1"/>
          </p:nvPr>
        </p:nvSpPr>
        <p:spPr>
          <a:xfrm>
            <a:off x="255639" y="529047"/>
            <a:ext cx="11680722" cy="2745095"/>
          </a:xfrm>
        </p:spPr>
        <p:txBody>
          <a:bodyPr>
            <a:normAutofit fontScale="92500" lnSpcReduction="20000"/>
          </a:bodyPr>
          <a:lstStyle/>
          <a:p>
            <a:pPr marL="0" indent="0" algn="just">
              <a:buNone/>
            </a:pPr>
            <a:r>
              <a:rPr lang="en-US" b="0" i="0" dirty="0">
                <a:effectLst/>
              </a:rPr>
              <a:t>Completely Randomized Design (CRD) is a basic experimental design in which treatments are assigned to experimental units completely at random. This means that each unit has an equal chance of receiving any treatment, ensuring that the effects of the treatments can be assessed without bias.</a:t>
            </a:r>
          </a:p>
          <a:p>
            <a:pPr marL="0" indent="0" algn="just">
              <a:buNone/>
            </a:pPr>
            <a:r>
              <a:rPr lang="en-US" dirty="0"/>
              <a:t>Applies principles of replication and randomization</a:t>
            </a:r>
            <a:endParaRPr lang="en-US" b="0" i="0" dirty="0">
              <a:effectLst/>
            </a:endParaRPr>
          </a:p>
          <a:p>
            <a:pPr algn="l" fontAlgn="base">
              <a:buFont typeface="Wingdings" panose="05000000000000000000" pitchFamily="2" charset="2"/>
              <a:buChar char="q"/>
            </a:pPr>
            <a:r>
              <a:rPr lang="en-US" b="1" i="0" dirty="0">
                <a:solidFill>
                  <a:srgbClr val="00B050"/>
                </a:solidFill>
                <a:effectLst/>
              </a:rPr>
              <a:t>Example</a:t>
            </a:r>
          </a:p>
          <a:p>
            <a:pPr algn="l" fontAlgn="base"/>
            <a:r>
              <a:rPr lang="en-US" b="0" i="0" dirty="0">
                <a:solidFill>
                  <a:srgbClr val="273239"/>
                </a:solidFill>
                <a:effectLst/>
              </a:rPr>
              <a:t>Adding more baking powder to cakes increases the heights of the cake</a:t>
            </a:r>
            <a:br>
              <a:rPr lang="en-US" dirty="0"/>
            </a:br>
            <a:endParaRPr lang="en-IN" dirty="0"/>
          </a:p>
        </p:txBody>
      </p:sp>
      <p:pic>
        <p:nvPicPr>
          <p:cNvPr id="1028" name="Picture 4" descr="CRDexample">
            <a:extLst>
              <a:ext uri="{FF2B5EF4-FFF2-40B4-BE49-F238E27FC236}">
                <a16:creationId xmlns:a16="http://schemas.microsoft.com/office/drawing/2014/main" id="{2EE0059C-9885-B29F-4F79-091D2D9040A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39523" y="2909478"/>
            <a:ext cx="6340511" cy="38256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0624590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FA779E2-68DF-B64C-0712-82DA6314FDDE}"/>
              </a:ext>
            </a:extLst>
          </p:cNvPr>
          <p:cNvSpPr>
            <a:spLocks noGrp="1"/>
          </p:cNvSpPr>
          <p:nvPr>
            <p:ph idx="1"/>
          </p:nvPr>
        </p:nvSpPr>
        <p:spPr>
          <a:xfrm>
            <a:off x="425245" y="340953"/>
            <a:ext cx="11560278" cy="6315485"/>
          </a:xfrm>
        </p:spPr>
        <p:txBody>
          <a:bodyPr/>
          <a:lstStyle/>
          <a:p>
            <a:pPr algn="just"/>
            <a:r>
              <a:rPr lang="en-US" b="1" i="0" dirty="0">
                <a:solidFill>
                  <a:srgbClr val="00B050"/>
                </a:solidFill>
                <a:effectLst/>
              </a:rPr>
              <a:t>Key Characteristics</a:t>
            </a:r>
          </a:p>
          <a:p>
            <a:pPr algn="just">
              <a:buFont typeface="+mj-lt"/>
              <a:buAutoNum type="arabicPeriod"/>
            </a:pPr>
            <a:endParaRPr lang="en-US" b="1" i="0" dirty="0">
              <a:effectLst/>
            </a:endParaRPr>
          </a:p>
          <a:p>
            <a:pPr algn="just">
              <a:buFont typeface="+mj-lt"/>
              <a:buAutoNum type="arabicPeriod"/>
            </a:pPr>
            <a:r>
              <a:rPr lang="en-US" b="1" i="0" dirty="0">
                <a:effectLst/>
              </a:rPr>
              <a:t>Random Assignment: </a:t>
            </a:r>
            <a:r>
              <a:rPr lang="en-US" b="0" i="0" dirty="0">
                <a:effectLst/>
              </a:rPr>
              <a:t>Treatments are allocated randomly to experimental units, which minimizes the influence of uncontrolled variables and helps in achieving homogeneity among groups.</a:t>
            </a:r>
          </a:p>
          <a:p>
            <a:pPr algn="just">
              <a:buFont typeface="+mj-lt"/>
              <a:buAutoNum type="arabicPeriod"/>
            </a:pPr>
            <a:r>
              <a:rPr lang="en-US" b="1" i="0" dirty="0">
                <a:effectLst/>
              </a:rPr>
              <a:t>Single Factor Focus:</a:t>
            </a:r>
            <a:r>
              <a:rPr lang="en-US" b="0" i="0" dirty="0">
                <a:effectLst/>
              </a:rPr>
              <a:t> CRD is typically used when studying the effects of one primary factor (treatment) on a response variable.</a:t>
            </a:r>
          </a:p>
          <a:p>
            <a:pPr algn="just">
              <a:buFont typeface="+mj-lt"/>
              <a:buAutoNum type="arabicPeriod"/>
            </a:pPr>
            <a:r>
              <a:rPr lang="en-US" b="1" i="0" dirty="0">
                <a:effectLst/>
              </a:rPr>
              <a:t>Homogeneity Requirement: </a:t>
            </a:r>
            <a:r>
              <a:rPr lang="en-US" b="0" i="0" dirty="0">
                <a:effectLst/>
              </a:rPr>
              <a:t>It is most effective when the experimental units are homogeneous, meaning they are similar in all respects except for the treatment being tested.</a:t>
            </a:r>
          </a:p>
          <a:p>
            <a:pPr algn="just">
              <a:buFont typeface="+mj-lt"/>
              <a:buAutoNum type="arabicPeriod"/>
            </a:pPr>
            <a:r>
              <a:rPr lang="en-US" b="1" i="0" dirty="0">
                <a:effectLst/>
              </a:rPr>
              <a:t>Flexibility: </a:t>
            </a:r>
            <a:r>
              <a:rPr lang="en-US" b="0" i="0" dirty="0">
                <a:effectLst/>
              </a:rPr>
              <a:t>The design allows for any number of treatments and replications, making it adaptable to various experimental conditions.</a:t>
            </a:r>
          </a:p>
          <a:p>
            <a:pPr marL="0" indent="0">
              <a:buNone/>
            </a:pPr>
            <a:endParaRPr lang="en-IN" dirty="0"/>
          </a:p>
        </p:txBody>
      </p:sp>
    </p:spTree>
    <p:extLst>
      <p:ext uri="{BB962C8B-B14F-4D97-AF65-F5344CB8AC3E}">
        <p14:creationId xmlns:p14="http://schemas.microsoft.com/office/powerpoint/2010/main" val="233187213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A2BE752-1050-3570-835D-54F85FE4820C}"/>
              </a:ext>
            </a:extLst>
          </p:cNvPr>
          <p:cNvPicPr>
            <a:picLocks noChangeAspect="1"/>
          </p:cNvPicPr>
          <p:nvPr/>
        </p:nvPicPr>
        <p:blipFill>
          <a:blip r:embed="rId2"/>
          <a:stretch>
            <a:fillRect/>
          </a:stretch>
        </p:blipFill>
        <p:spPr>
          <a:xfrm>
            <a:off x="740054" y="1155689"/>
            <a:ext cx="9261634" cy="4546621"/>
          </a:xfrm>
          <a:prstGeom prst="rect">
            <a:avLst/>
          </a:prstGeom>
        </p:spPr>
      </p:pic>
    </p:spTree>
    <p:extLst>
      <p:ext uri="{BB962C8B-B14F-4D97-AF65-F5344CB8AC3E}">
        <p14:creationId xmlns:p14="http://schemas.microsoft.com/office/powerpoint/2010/main" val="322266581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34E4B9C-DBD0-F9E5-C3C0-0C6110B6DF50}"/>
              </a:ext>
            </a:extLst>
          </p:cNvPr>
          <p:cNvSpPr>
            <a:spLocks noGrp="1"/>
          </p:cNvSpPr>
          <p:nvPr>
            <p:ph idx="1"/>
          </p:nvPr>
        </p:nvSpPr>
        <p:spPr>
          <a:xfrm>
            <a:off x="415413" y="213134"/>
            <a:ext cx="11491452" cy="6433471"/>
          </a:xfrm>
        </p:spPr>
        <p:txBody>
          <a:bodyPr>
            <a:normAutofit fontScale="92500"/>
          </a:bodyPr>
          <a:lstStyle/>
          <a:p>
            <a:pPr algn="just"/>
            <a:r>
              <a:rPr lang="en-US" b="1" i="0" dirty="0">
                <a:solidFill>
                  <a:srgbClr val="00B050"/>
                </a:solidFill>
                <a:effectLst/>
              </a:rPr>
              <a:t>Advantages</a:t>
            </a:r>
          </a:p>
          <a:p>
            <a:pPr algn="just">
              <a:buFont typeface="Arial" panose="020B0604020202020204" pitchFamily="34" charset="0"/>
              <a:buChar char="•"/>
            </a:pPr>
            <a:r>
              <a:rPr lang="en-US" b="0" i="0" dirty="0">
                <a:effectLst/>
              </a:rPr>
              <a:t>Simplicity: The layout and analysis of CRD are straightforward, making it easy to implement.</a:t>
            </a:r>
          </a:p>
          <a:p>
            <a:pPr algn="just">
              <a:buFont typeface="Arial" panose="020B0604020202020204" pitchFamily="34" charset="0"/>
              <a:buChar char="•"/>
            </a:pPr>
            <a:r>
              <a:rPr lang="en-US" b="0" i="0" dirty="0">
                <a:effectLst/>
              </a:rPr>
              <a:t>Statistical Efficiency: It provides maximum degrees of freedom for error, which enhances the sensitivity of statistical tests.</a:t>
            </a:r>
          </a:p>
          <a:p>
            <a:pPr algn="just">
              <a:buFont typeface="Arial" panose="020B0604020202020204" pitchFamily="34" charset="0"/>
              <a:buChar char="•"/>
            </a:pPr>
            <a:r>
              <a:rPr lang="en-US" b="0" i="0" dirty="0">
                <a:effectLst/>
              </a:rPr>
              <a:t>Flexibility in Design: Researchers can easily modify treatment levels and replications as needed.</a:t>
            </a:r>
          </a:p>
          <a:p>
            <a:pPr algn="just"/>
            <a:r>
              <a:rPr lang="en-US" b="1" i="0" dirty="0">
                <a:solidFill>
                  <a:srgbClr val="00B050"/>
                </a:solidFill>
                <a:effectLst/>
              </a:rPr>
              <a:t>Limitations</a:t>
            </a:r>
          </a:p>
          <a:p>
            <a:pPr algn="just">
              <a:buFont typeface="Arial" panose="020B0604020202020204" pitchFamily="34" charset="0"/>
              <a:buChar char="•"/>
            </a:pPr>
            <a:r>
              <a:rPr lang="en-US" b="0" i="0" dirty="0">
                <a:effectLst/>
              </a:rPr>
              <a:t>Homogeneity Requirement: CRD is less effective if the experimental units are not homogeneous, as this can lead to increased variability and reduced precision.</a:t>
            </a:r>
          </a:p>
          <a:p>
            <a:pPr algn="just">
              <a:buFont typeface="Arial" panose="020B0604020202020204" pitchFamily="34" charset="0"/>
              <a:buChar char="•"/>
            </a:pPr>
            <a:r>
              <a:rPr lang="en-US" b="0" i="0" dirty="0">
                <a:effectLst/>
              </a:rPr>
              <a:t>Less Accurate in Field Experiments: Due to environmental variations, CRD may not be suitable for field experiments where conditions are not controlled.</a:t>
            </a:r>
          </a:p>
          <a:p>
            <a:pPr algn="just">
              <a:buFont typeface="Arial" panose="020B0604020202020204" pitchFamily="34" charset="0"/>
              <a:buChar char="•"/>
            </a:pPr>
            <a:r>
              <a:rPr lang="en-US" b="0" i="0" dirty="0">
                <a:effectLst/>
              </a:rPr>
              <a:t>Inability to Detect Interactions: It does not account for interactions between factors, which may limit its applicability in more complex experiments.</a:t>
            </a:r>
          </a:p>
          <a:p>
            <a:pPr marL="0" indent="0">
              <a:buNone/>
            </a:pPr>
            <a:endParaRPr lang="en-IN" dirty="0"/>
          </a:p>
        </p:txBody>
      </p:sp>
    </p:spTree>
    <p:extLst>
      <p:ext uri="{BB962C8B-B14F-4D97-AF65-F5344CB8AC3E}">
        <p14:creationId xmlns:p14="http://schemas.microsoft.com/office/powerpoint/2010/main" val="359622758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889E457-8C7D-14F8-768D-B7F0CA639B44}"/>
              </a:ext>
            </a:extLst>
          </p:cNvPr>
          <p:cNvSpPr>
            <a:spLocks noGrp="1"/>
          </p:cNvSpPr>
          <p:nvPr>
            <p:ph idx="1"/>
          </p:nvPr>
        </p:nvSpPr>
        <p:spPr>
          <a:xfrm>
            <a:off x="366251" y="399947"/>
            <a:ext cx="11550446" cy="6109008"/>
          </a:xfrm>
        </p:spPr>
        <p:txBody>
          <a:bodyPr/>
          <a:lstStyle/>
          <a:p>
            <a:pPr algn="just">
              <a:buFont typeface="Wingdings" panose="05000000000000000000" pitchFamily="2" charset="2"/>
              <a:buChar char="q"/>
            </a:pPr>
            <a:r>
              <a:rPr lang="en-US" b="1" i="0" dirty="0">
                <a:solidFill>
                  <a:srgbClr val="00B050"/>
                </a:solidFill>
                <a:effectLst/>
              </a:rPr>
              <a:t>Applications</a:t>
            </a:r>
          </a:p>
          <a:p>
            <a:pPr algn="just">
              <a:buFont typeface="Arial" panose="020B0604020202020204" pitchFamily="34" charset="0"/>
              <a:buChar char="•"/>
            </a:pPr>
            <a:r>
              <a:rPr lang="en-US" b="0" i="0" dirty="0">
                <a:effectLst/>
              </a:rPr>
              <a:t>CRD is widely used in laboratory experiments where conditions can be tightly controlled, such as: Agricultural research to test different treatments on crops.</a:t>
            </a:r>
          </a:p>
          <a:p>
            <a:pPr algn="just">
              <a:buFont typeface="Arial" panose="020B0604020202020204" pitchFamily="34" charset="0"/>
              <a:buChar char="•"/>
            </a:pPr>
            <a:r>
              <a:rPr lang="en-US" b="0" i="0" dirty="0">
                <a:effectLst/>
              </a:rPr>
              <a:t>Clinical trials to assess the effectiveness of new drugs.</a:t>
            </a:r>
          </a:p>
          <a:p>
            <a:pPr algn="just">
              <a:buFont typeface="Arial" panose="020B0604020202020204" pitchFamily="34" charset="0"/>
              <a:buChar char="•"/>
            </a:pPr>
            <a:r>
              <a:rPr lang="en-US" b="0" i="0" dirty="0">
                <a:effectLst/>
              </a:rPr>
              <a:t>Basic research in biology and chemistry where randomization is crucial for unbiased results.</a:t>
            </a:r>
          </a:p>
          <a:p>
            <a:pPr marL="0" indent="0">
              <a:buNone/>
            </a:pPr>
            <a:endParaRPr lang="en-IN" dirty="0"/>
          </a:p>
        </p:txBody>
      </p:sp>
    </p:spTree>
    <p:extLst>
      <p:ext uri="{BB962C8B-B14F-4D97-AF65-F5344CB8AC3E}">
        <p14:creationId xmlns:p14="http://schemas.microsoft.com/office/powerpoint/2010/main" val="21658201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solidFill>
                  <a:srgbClr val="FF0000"/>
                </a:solidFill>
              </a:rPr>
              <a:t>Types</a:t>
            </a:r>
            <a:endParaRPr lang="en-IN" b="1" dirty="0">
              <a:solidFill>
                <a:srgbClr val="FF0000"/>
              </a:solidFill>
            </a:endParaRPr>
          </a:p>
        </p:txBody>
      </p:sp>
      <p:sp>
        <p:nvSpPr>
          <p:cNvPr id="3" name="Content Placeholder 2"/>
          <p:cNvSpPr>
            <a:spLocks noGrp="1"/>
          </p:cNvSpPr>
          <p:nvPr>
            <p:ph idx="1"/>
          </p:nvPr>
        </p:nvSpPr>
        <p:spPr/>
        <p:txBody>
          <a:bodyPr/>
          <a:lstStyle/>
          <a:p>
            <a:pPr algn="just"/>
            <a:r>
              <a:rPr lang="en-US" b="1" dirty="0"/>
              <a:t>Two group simple randomized experimental design</a:t>
            </a:r>
            <a:r>
              <a:rPr lang="en-US" dirty="0"/>
              <a:t>: Population is defined and samples are selected. It is randomly assigned to experimental and control groups. The two groups are given different treatment of independent variable. Suitable behavioral science research. </a:t>
            </a:r>
            <a:r>
              <a:rPr lang="en-US" dirty="0" err="1"/>
              <a:t>Eg</a:t>
            </a:r>
            <a:r>
              <a:rPr lang="en-US" dirty="0"/>
              <a:t>: Normal vs specialized training on students.</a:t>
            </a:r>
          </a:p>
          <a:p>
            <a:pPr algn="just"/>
            <a:r>
              <a:rPr lang="en-US" b="1" dirty="0"/>
              <a:t>Random replications design</a:t>
            </a:r>
            <a:r>
              <a:rPr lang="en-US" dirty="0"/>
              <a:t>: Repetition for each treatment. It provides controls for differential effects of extraneous independent variables and secondly, it randomizes individual differences among those conducting the experiments.</a:t>
            </a:r>
            <a:endParaRPr lang="en-IN" dirty="0"/>
          </a:p>
        </p:txBody>
      </p:sp>
    </p:spTree>
    <p:extLst>
      <p:ext uri="{BB962C8B-B14F-4D97-AF65-F5344CB8AC3E}">
        <p14:creationId xmlns:p14="http://schemas.microsoft.com/office/powerpoint/2010/main" val="330040507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solidFill>
                  <a:srgbClr val="FF0000"/>
                </a:solidFill>
              </a:rPr>
              <a:t>Two group simple randomized experimental design</a:t>
            </a:r>
            <a:endParaRPr lang="en-IN" b="1" dirty="0">
              <a:solidFill>
                <a:srgbClr val="FF0000"/>
              </a:solidFill>
            </a:endParaRPr>
          </a:p>
        </p:txBody>
      </p:sp>
      <p:pic>
        <p:nvPicPr>
          <p:cNvPr id="4" name="Content Placeholder 3"/>
          <p:cNvPicPr>
            <a:picLocks noGrp="1" noChangeAspect="1"/>
          </p:cNvPicPr>
          <p:nvPr>
            <p:ph idx="1"/>
          </p:nvPr>
        </p:nvPicPr>
        <p:blipFill>
          <a:blip r:embed="rId2"/>
          <a:stretch>
            <a:fillRect/>
          </a:stretch>
        </p:blipFill>
        <p:spPr>
          <a:xfrm>
            <a:off x="1704975" y="2305844"/>
            <a:ext cx="8782050" cy="3390900"/>
          </a:xfrm>
          <a:prstGeom prst="rect">
            <a:avLst/>
          </a:prstGeom>
        </p:spPr>
      </p:pic>
    </p:spTree>
    <p:extLst>
      <p:ext uri="{BB962C8B-B14F-4D97-AF65-F5344CB8AC3E}">
        <p14:creationId xmlns:p14="http://schemas.microsoft.com/office/powerpoint/2010/main" val="139808527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solidFill>
                  <a:srgbClr val="FF0000"/>
                </a:solidFill>
              </a:rPr>
              <a:t>Random replications design</a:t>
            </a:r>
            <a:endParaRPr lang="en-IN" b="1" dirty="0">
              <a:solidFill>
                <a:srgbClr val="FF0000"/>
              </a:solidFill>
            </a:endParaRPr>
          </a:p>
        </p:txBody>
      </p:sp>
      <p:pic>
        <p:nvPicPr>
          <p:cNvPr id="4" name="Content Placeholder 3"/>
          <p:cNvPicPr>
            <a:picLocks noGrp="1" noChangeAspect="1"/>
          </p:cNvPicPr>
          <p:nvPr>
            <p:ph idx="1"/>
          </p:nvPr>
        </p:nvPicPr>
        <p:blipFill>
          <a:blip r:embed="rId2"/>
          <a:stretch>
            <a:fillRect/>
          </a:stretch>
        </p:blipFill>
        <p:spPr>
          <a:xfrm>
            <a:off x="3167969" y="1353573"/>
            <a:ext cx="6327013" cy="5399629"/>
          </a:xfrm>
          <a:prstGeom prst="rect">
            <a:avLst/>
          </a:prstGeom>
        </p:spPr>
      </p:pic>
    </p:spTree>
    <p:extLst>
      <p:ext uri="{BB962C8B-B14F-4D97-AF65-F5344CB8AC3E}">
        <p14:creationId xmlns:p14="http://schemas.microsoft.com/office/powerpoint/2010/main" val="109147210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D57D3C-D164-E471-72F8-0CCF84EF20D4}"/>
              </a:ext>
            </a:extLst>
          </p:cNvPr>
          <p:cNvSpPr>
            <a:spLocks noGrp="1"/>
          </p:cNvSpPr>
          <p:nvPr>
            <p:ph type="title"/>
          </p:nvPr>
        </p:nvSpPr>
        <p:spPr>
          <a:xfrm>
            <a:off x="710381" y="140915"/>
            <a:ext cx="10515600" cy="561848"/>
          </a:xfrm>
        </p:spPr>
        <p:txBody>
          <a:bodyPr>
            <a:normAutofit fontScale="90000"/>
          </a:bodyPr>
          <a:lstStyle/>
          <a:p>
            <a:pPr algn="ctr"/>
            <a:r>
              <a:rPr lang="en-IN" b="1" i="0" dirty="0">
                <a:solidFill>
                  <a:srgbClr val="FF0000"/>
                </a:solidFill>
                <a:effectLst/>
                <a:latin typeface="+mn-lt"/>
              </a:rPr>
              <a:t>Randomized Block Design</a:t>
            </a:r>
            <a:endParaRPr lang="en-IN" b="1" dirty="0">
              <a:solidFill>
                <a:srgbClr val="FF0000"/>
              </a:solidFill>
              <a:latin typeface="+mn-lt"/>
            </a:endParaRPr>
          </a:p>
        </p:txBody>
      </p:sp>
      <p:sp>
        <p:nvSpPr>
          <p:cNvPr id="3" name="Content Placeholder 2">
            <a:extLst>
              <a:ext uri="{FF2B5EF4-FFF2-40B4-BE49-F238E27FC236}">
                <a16:creationId xmlns:a16="http://schemas.microsoft.com/office/drawing/2014/main" id="{149F7365-23E9-DE50-9A0F-6BA93CD61A66}"/>
              </a:ext>
            </a:extLst>
          </p:cNvPr>
          <p:cNvSpPr>
            <a:spLocks noGrp="1"/>
          </p:cNvSpPr>
          <p:nvPr>
            <p:ph idx="1"/>
          </p:nvPr>
        </p:nvSpPr>
        <p:spPr>
          <a:xfrm>
            <a:off x="320777" y="776749"/>
            <a:ext cx="11635249" cy="2652251"/>
          </a:xfrm>
        </p:spPr>
        <p:txBody>
          <a:bodyPr>
            <a:normAutofit fontScale="92500" lnSpcReduction="20000"/>
          </a:bodyPr>
          <a:lstStyle/>
          <a:p>
            <a:pPr marL="0" indent="0" algn="just">
              <a:buNone/>
            </a:pPr>
            <a:r>
              <a:rPr lang="en-US" b="0" i="0" dirty="0">
                <a:effectLst/>
              </a:rPr>
              <a:t>Randomized Block Design (RBD) is an experimental design that involves grouping experimental units into blocks based on certain characteristics or factors that are expected to affect the outcome of the experiment. Within each block, treatments are assigned randomly to minimize the impact of variability between blocks.</a:t>
            </a:r>
          </a:p>
          <a:p>
            <a:pPr algn="just">
              <a:buFont typeface="Wingdings" panose="05000000000000000000" pitchFamily="2" charset="2"/>
              <a:buChar char="q"/>
            </a:pPr>
            <a:r>
              <a:rPr lang="en-US" b="1" dirty="0">
                <a:solidFill>
                  <a:srgbClr val="00B050"/>
                </a:solidFill>
              </a:rPr>
              <a:t>Example</a:t>
            </a:r>
          </a:p>
          <a:p>
            <a:pPr algn="just"/>
            <a:r>
              <a:rPr lang="en-US" b="0" i="0" dirty="0">
                <a:solidFill>
                  <a:srgbClr val="273239"/>
                </a:solidFill>
                <a:effectLst/>
              </a:rPr>
              <a:t>Testing new fertilizers in different types of crops. Crops are divided into 3 different types(blocks).These blocks are again divided into 3 fertilizers that are used on those crops</a:t>
            </a:r>
          </a:p>
          <a:p>
            <a:pPr marL="0" indent="0" algn="just">
              <a:buNone/>
            </a:pPr>
            <a:endParaRPr lang="en-IN" b="1" dirty="0">
              <a:solidFill>
                <a:srgbClr val="00B050"/>
              </a:solidFill>
            </a:endParaRPr>
          </a:p>
        </p:txBody>
      </p:sp>
      <p:pic>
        <p:nvPicPr>
          <p:cNvPr id="7" name="Picture 6">
            <a:extLst>
              <a:ext uri="{FF2B5EF4-FFF2-40B4-BE49-F238E27FC236}">
                <a16:creationId xmlns:a16="http://schemas.microsoft.com/office/drawing/2014/main" id="{FF03FF44-A99B-21D2-39C4-1F51BCF09E85}"/>
              </a:ext>
            </a:extLst>
          </p:cNvPr>
          <p:cNvPicPr>
            <a:picLocks noChangeAspect="1"/>
          </p:cNvPicPr>
          <p:nvPr/>
        </p:nvPicPr>
        <p:blipFill>
          <a:blip r:embed="rId2"/>
          <a:stretch>
            <a:fillRect/>
          </a:stretch>
        </p:blipFill>
        <p:spPr>
          <a:xfrm>
            <a:off x="3155080" y="3076268"/>
            <a:ext cx="5647140" cy="3640817"/>
          </a:xfrm>
          <a:prstGeom prst="rect">
            <a:avLst/>
          </a:prstGeom>
        </p:spPr>
      </p:pic>
    </p:spTree>
    <p:extLst>
      <p:ext uri="{BB962C8B-B14F-4D97-AF65-F5344CB8AC3E}">
        <p14:creationId xmlns:p14="http://schemas.microsoft.com/office/powerpoint/2010/main" val="49024039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A57F4F3-FE8C-15AB-0135-57647DB926B7}"/>
              </a:ext>
            </a:extLst>
          </p:cNvPr>
          <p:cNvSpPr>
            <a:spLocks noGrp="1"/>
          </p:cNvSpPr>
          <p:nvPr>
            <p:ph idx="1"/>
          </p:nvPr>
        </p:nvSpPr>
        <p:spPr>
          <a:xfrm>
            <a:off x="376083" y="517935"/>
            <a:ext cx="11461955" cy="6138504"/>
          </a:xfrm>
        </p:spPr>
        <p:txBody>
          <a:bodyPr/>
          <a:lstStyle/>
          <a:p>
            <a:pPr algn="just"/>
            <a:r>
              <a:rPr lang="en-US" b="1" i="0" dirty="0">
                <a:solidFill>
                  <a:srgbClr val="00B050"/>
                </a:solidFill>
                <a:effectLst/>
              </a:rPr>
              <a:t>Key Features</a:t>
            </a:r>
          </a:p>
          <a:p>
            <a:pPr algn="just">
              <a:buFont typeface="+mj-lt"/>
              <a:buAutoNum type="arabicPeriod"/>
            </a:pPr>
            <a:endParaRPr lang="en-US" b="0" i="0" dirty="0">
              <a:effectLst/>
            </a:endParaRPr>
          </a:p>
          <a:p>
            <a:pPr algn="just">
              <a:buFont typeface="+mj-lt"/>
              <a:buAutoNum type="arabicPeriod"/>
            </a:pPr>
            <a:r>
              <a:rPr lang="en-US" b="1" i="0" dirty="0">
                <a:effectLst/>
              </a:rPr>
              <a:t>Blocking:</a:t>
            </a:r>
            <a:r>
              <a:rPr lang="en-US" b="0" i="0" dirty="0">
                <a:effectLst/>
              </a:rPr>
              <a:t> Experimental units are grouped into blocks that share similar characteristics (e.g., age, gender, location). This helps control for variability and reduces the experimental error associated with those nuisance factors.</a:t>
            </a:r>
          </a:p>
          <a:p>
            <a:pPr algn="just">
              <a:buFont typeface="+mj-lt"/>
              <a:buAutoNum type="arabicPeriod"/>
            </a:pPr>
            <a:r>
              <a:rPr lang="en-US" b="1" i="0" dirty="0">
                <a:effectLst/>
              </a:rPr>
              <a:t>Random Assignment: </a:t>
            </a:r>
            <a:r>
              <a:rPr lang="en-US" b="0" i="0" dirty="0">
                <a:effectLst/>
              </a:rPr>
              <a:t>Treatments are randomly assigned within each block, ensuring that each treatment has an equal chance of being applied to any experimental unit in the block.</a:t>
            </a:r>
          </a:p>
          <a:p>
            <a:pPr algn="just">
              <a:buFont typeface="+mj-lt"/>
              <a:buAutoNum type="arabicPeriod"/>
            </a:pPr>
            <a:r>
              <a:rPr lang="en-US" b="1" i="0" dirty="0">
                <a:effectLst/>
              </a:rPr>
              <a:t>Complete Treatment Application: </a:t>
            </a:r>
            <a:r>
              <a:rPr lang="en-US" b="0" i="0" dirty="0">
                <a:effectLst/>
              </a:rPr>
              <a:t>Each treatment is applied to all blocks, allowing for a comprehensive comparison across different conditions.</a:t>
            </a:r>
          </a:p>
          <a:p>
            <a:pPr marL="0" indent="0">
              <a:buNone/>
            </a:pPr>
            <a:endParaRPr lang="en-IN" dirty="0"/>
          </a:p>
        </p:txBody>
      </p:sp>
    </p:spTree>
    <p:extLst>
      <p:ext uri="{BB962C8B-B14F-4D97-AF65-F5344CB8AC3E}">
        <p14:creationId xmlns:p14="http://schemas.microsoft.com/office/powerpoint/2010/main" val="191092670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C1D7EBB-F63E-CEC9-D9A2-B4C94ABC4687}"/>
              </a:ext>
            </a:extLst>
          </p:cNvPr>
          <p:cNvPicPr>
            <a:picLocks noChangeAspect="1"/>
          </p:cNvPicPr>
          <p:nvPr/>
        </p:nvPicPr>
        <p:blipFill>
          <a:blip r:embed="rId2"/>
          <a:stretch>
            <a:fillRect/>
          </a:stretch>
        </p:blipFill>
        <p:spPr>
          <a:xfrm>
            <a:off x="1377621" y="900018"/>
            <a:ext cx="8580778" cy="4910846"/>
          </a:xfrm>
          <a:prstGeom prst="rect">
            <a:avLst/>
          </a:prstGeom>
        </p:spPr>
      </p:pic>
    </p:spTree>
    <p:extLst>
      <p:ext uri="{BB962C8B-B14F-4D97-AF65-F5344CB8AC3E}">
        <p14:creationId xmlns:p14="http://schemas.microsoft.com/office/powerpoint/2010/main" val="143562292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0389DB7-2C88-D363-0513-7B9F800BAFA5}"/>
              </a:ext>
            </a:extLst>
          </p:cNvPr>
          <p:cNvSpPr>
            <a:spLocks noGrp="1"/>
          </p:cNvSpPr>
          <p:nvPr>
            <p:ph idx="1"/>
          </p:nvPr>
        </p:nvSpPr>
        <p:spPr>
          <a:xfrm>
            <a:off x="405580" y="331121"/>
            <a:ext cx="11471788" cy="6168001"/>
          </a:xfrm>
        </p:spPr>
        <p:txBody>
          <a:bodyPr>
            <a:normAutofit fontScale="92500" lnSpcReduction="20000"/>
          </a:bodyPr>
          <a:lstStyle/>
          <a:p>
            <a:pPr algn="just"/>
            <a:r>
              <a:rPr lang="en-US" b="1" i="0" dirty="0">
                <a:solidFill>
                  <a:srgbClr val="00B050"/>
                </a:solidFill>
                <a:effectLst/>
              </a:rPr>
              <a:t>Advantages</a:t>
            </a:r>
          </a:p>
          <a:p>
            <a:pPr algn="just">
              <a:buFont typeface="+mj-lt"/>
              <a:buAutoNum type="arabicPeriod"/>
            </a:pPr>
            <a:r>
              <a:rPr lang="en-US" b="0" i="0" dirty="0">
                <a:effectLst/>
              </a:rPr>
              <a:t>Reduction of Variability: By accounting for known sources of variability, RBD increases the precision of the experiment and enhances the reliability of results.</a:t>
            </a:r>
          </a:p>
          <a:p>
            <a:pPr algn="just">
              <a:buFont typeface="+mj-lt"/>
              <a:buAutoNum type="arabicPeriod"/>
            </a:pPr>
            <a:r>
              <a:rPr lang="en-US" b="0" i="0" dirty="0">
                <a:effectLst/>
              </a:rPr>
              <a:t>Increased Statistical Power: The design allows for more accurate estimates of treatment effects by reducing the error variance, leading to more powerful statistical tests.</a:t>
            </a:r>
          </a:p>
          <a:p>
            <a:pPr algn="just">
              <a:buFont typeface="+mj-lt"/>
              <a:buAutoNum type="arabicPeriod"/>
            </a:pPr>
            <a:r>
              <a:rPr lang="en-US" b="0" i="0" dirty="0">
                <a:effectLst/>
              </a:rPr>
              <a:t>Flexibility: RBD can accommodate various types of experimental conditions and is adaptable to many fields, including agriculture, medicine, and social sciences.</a:t>
            </a:r>
          </a:p>
          <a:p>
            <a:pPr algn="just"/>
            <a:endParaRPr lang="en-US" b="1" i="0" dirty="0">
              <a:solidFill>
                <a:srgbClr val="00B050"/>
              </a:solidFill>
              <a:effectLst/>
            </a:endParaRPr>
          </a:p>
          <a:p>
            <a:pPr algn="just"/>
            <a:r>
              <a:rPr lang="en-US" b="1" i="0" dirty="0">
                <a:solidFill>
                  <a:srgbClr val="00B050"/>
                </a:solidFill>
                <a:effectLst/>
              </a:rPr>
              <a:t>Limitations</a:t>
            </a:r>
          </a:p>
          <a:p>
            <a:pPr algn="just">
              <a:buFont typeface="+mj-lt"/>
              <a:buAutoNum type="arabicPeriod"/>
            </a:pPr>
            <a:r>
              <a:rPr lang="en-US" b="0" i="0" dirty="0">
                <a:effectLst/>
              </a:rPr>
              <a:t>Complexity in Design: Designing an experiment with appropriate blocking factors can be complex and requires prior knowledge about potential sources of variability.</a:t>
            </a:r>
          </a:p>
          <a:p>
            <a:pPr algn="just">
              <a:buFont typeface="+mj-lt"/>
              <a:buAutoNum type="arabicPeriod"/>
            </a:pPr>
            <a:r>
              <a:rPr lang="en-US" b="0" i="0" dirty="0">
                <a:effectLst/>
              </a:rPr>
              <a:t>Assumption of Homogeneity: The effectiveness of blocking relies on the assumption that variability within blocks is less than between blocks. If this assumption is violated, it may lead to misleading results.</a:t>
            </a:r>
          </a:p>
          <a:p>
            <a:pPr algn="just">
              <a:buFont typeface="+mj-lt"/>
              <a:buAutoNum type="arabicPeriod"/>
            </a:pPr>
            <a:r>
              <a:rPr lang="en-US" b="0" i="0" dirty="0">
                <a:effectLst/>
              </a:rPr>
              <a:t>Limited to Known Factors: RBD only accounts for known nuisance factors; unknown sources of variability may still affect the results.</a:t>
            </a:r>
          </a:p>
          <a:p>
            <a:pPr marL="0" indent="0">
              <a:buNone/>
            </a:pPr>
            <a:endParaRPr lang="en-IN" dirty="0"/>
          </a:p>
        </p:txBody>
      </p:sp>
    </p:spTree>
    <p:extLst>
      <p:ext uri="{BB962C8B-B14F-4D97-AF65-F5344CB8AC3E}">
        <p14:creationId xmlns:p14="http://schemas.microsoft.com/office/powerpoint/2010/main" val="271596861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C3BA0D6-34DB-9CF7-D40A-77CA4B77F5DB}"/>
              </a:ext>
            </a:extLst>
          </p:cNvPr>
          <p:cNvSpPr>
            <a:spLocks noGrp="1"/>
          </p:cNvSpPr>
          <p:nvPr>
            <p:ph idx="1"/>
          </p:nvPr>
        </p:nvSpPr>
        <p:spPr>
          <a:xfrm>
            <a:off x="513736" y="557264"/>
            <a:ext cx="11383296" cy="5922194"/>
          </a:xfrm>
        </p:spPr>
        <p:txBody>
          <a:bodyPr/>
          <a:lstStyle/>
          <a:p>
            <a:pPr algn="just">
              <a:buFont typeface="Wingdings" panose="05000000000000000000" pitchFamily="2" charset="2"/>
              <a:buChar char="q"/>
            </a:pPr>
            <a:r>
              <a:rPr lang="en-US" b="1" i="0" dirty="0">
                <a:solidFill>
                  <a:srgbClr val="00B050"/>
                </a:solidFill>
                <a:effectLst/>
              </a:rPr>
              <a:t>Applications</a:t>
            </a:r>
          </a:p>
          <a:p>
            <a:pPr algn="just">
              <a:buFont typeface="Arial" panose="020B0604020202020204" pitchFamily="34" charset="0"/>
              <a:buChar char="•"/>
            </a:pPr>
            <a:r>
              <a:rPr lang="en-US" b="0" i="0" dirty="0">
                <a:effectLst/>
              </a:rPr>
              <a:t>Agricultural Experiments: Used to test different fertilizers or treatments across fields with varying soil types or environmental conditions.</a:t>
            </a:r>
          </a:p>
          <a:p>
            <a:pPr algn="just">
              <a:buFont typeface="Arial" panose="020B0604020202020204" pitchFamily="34" charset="0"/>
              <a:buChar char="•"/>
            </a:pPr>
            <a:r>
              <a:rPr lang="en-US" b="0" i="0" dirty="0">
                <a:effectLst/>
              </a:rPr>
              <a:t>Clinical Trials: Employed to assess treatment effects while controlling for patient demographics or baseline characteristics.</a:t>
            </a:r>
          </a:p>
          <a:p>
            <a:pPr algn="just">
              <a:buFont typeface="Arial" panose="020B0604020202020204" pitchFamily="34" charset="0"/>
              <a:buChar char="•"/>
            </a:pPr>
            <a:r>
              <a:rPr lang="en-US" b="0" i="0" dirty="0">
                <a:effectLst/>
              </a:rPr>
              <a:t>Industrial Testing: Applied in quality control processes where variations in production conditions need to be accounted for.</a:t>
            </a:r>
          </a:p>
          <a:p>
            <a:pPr marL="0" indent="0">
              <a:buNone/>
            </a:pPr>
            <a:endParaRPr lang="en-IN" dirty="0"/>
          </a:p>
        </p:txBody>
      </p:sp>
    </p:spTree>
    <p:extLst>
      <p:ext uri="{BB962C8B-B14F-4D97-AF65-F5344CB8AC3E}">
        <p14:creationId xmlns:p14="http://schemas.microsoft.com/office/powerpoint/2010/main" val="15632868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A954B0-9C24-8329-4E6E-405ED704DDDA}"/>
              </a:ext>
            </a:extLst>
          </p:cNvPr>
          <p:cNvSpPr>
            <a:spLocks noGrp="1"/>
          </p:cNvSpPr>
          <p:nvPr>
            <p:ph type="title"/>
          </p:nvPr>
        </p:nvSpPr>
        <p:spPr>
          <a:xfrm>
            <a:off x="838200" y="365125"/>
            <a:ext cx="10515600" cy="549275"/>
          </a:xfrm>
        </p:spPr>
        <p:txBody>
          <a:bodyPr>
            <a:normAutofit fontScale="90000"/>
          </a:bodyPr>
          <a:lstStyle/>
          <a:p>
            <a:pPr algn="ctr"/>
            <a:r>
              <a:rPr lang="en-IN" b="1" i="0" dirty="0">
                <a:solidFill>
                  <a:srgbClr val="FF0000"/>
                </a:solidFill>
                <a:effectLst/>
                <a:latin typeface="+mn-lt"/>
              </a:rPr>
              <a:t>Latin Square Design</a:t>
            </a:r>
            <a:br>
              <a:rPr lang="en-IN" b="0" i="0" dirty="0">
                <a:effectLst/>
                <a:latin typeface="var(--font-fk-grotesk)"/>
              </a:rPr>
            </a:br>
            <a:endParaRPr lang="en-IN" dirty="0"/>
          </a:p>
        </p:txBody>
      </p:sp>
      <p:sp>
        <p:nvSpPr>
          <p:cNvPr id="3" name="Content Placeholder 2">
            <a:extLst>
              <a:ext uri="{FF2B5EF4-FFF2-40B4-BE49-F238E27FC236}">
                <a16:creationId xmlns:a16="http://schemas.microsoft.com/office/drawing/2014/main" id="{343D9038-23CD-E809-2688-CD6232930BC1}"/>
              </a:ext>
            </a:extLst>
          </p:cNvPr>
          <p:cNvSpPr>
            <a:spLocks noGrp="1"/>
          </p:cNvSpPr>
          <p:nvPr>
            <p:ph idx="1"/>
          </p:nvPr>
        </p:nvSpPr>
        <p:spPr>
          <a:xfrm>
            <a:off x="242119" y="1835457"/>
            <a:ext cx="11707761" cy="2225266"/>
          </a:xfrm>
        </p:spPr>
        <p:txBody>
          <a:bodyPr/>
          <a:lstStyle/>
          <a:p>
            <a:pPr marL="0" indent="0" algn="just">
              <a:buNone/>
            </a:pPr>
            <a:r>
              <a:rPr lang="en-US" b="0" i="0" dirty="0">
                <a:effectLst/>
              </a:rPr>
              <a:t>Latin Square Design (LSD) is an experimental design used to control for two blocking factors while studying the effects of one treatment factor. It is structured as an </a:t>
            </a:r>
            <a:r>
              <a:rPr lang="en-US" b="0" i="0" dirty="0" err="1">
                <a:effectLst/>
              </a:rPr>
              <a:t>n×n</a:t>
            </a:r>
            <a:r>
              <a:rPr lang="en-US" b="0" i="0" dirty="0">
                <a:effectLst/>
              </a:rPr>
              <a:t> grid where each treatment appears exactly once in each row and once in each column, effectively controlling for variability due to the two blocking factors.</a:t>
            </a:r>
            <a:endParaRPr lang="en-IN" dirty="0"/>
          </a:p>
        </p:txBody>
      </p:sp>
    </p:spTree>
    <p:extLst>
      <p:ext uri="{BB962C8B-B14F-4D97-AF65-F5344CB8AC3E}">
        <p14:creationId xmlns:p14="http://schemas.microsoft.com/office/powerpoint/2010/main" val="344877867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55751FF8-2E46-6E0C-BEE4-0B26B731C019}"/>
              </a:ext>
            </a:extLst>
          </p:cNvPr>
          <p:cNvPicPr>
            <a:picLocks noChangeAspect="1"/>
          </p:cNvPicPr>
          <p:nvPr/>
        </p:nvPicPr>
        <p:blipFill>
          <a:blip r:embed="rId2"/>
          <a:stretch>
            <a:fillRect/>
          </a:stretch>
        </p:blipFill>
        <p:spPr>
          <a:xfrm>
            <a:off x="1710913" y="372474"/>
            <a:ext cx="9006249" cy="6113051"/>
          </a:xfrm>
          <a:prstGeom prst="rect">
            <a:avLst/>
          </a:prstGeom>
        </p:spPr>
      </p:pic>
    </p:spTree>
    <p:extLst>
      <p:ext uri="{BB962C8B-B14F-4D97-AF65-F5344CB8AC3E}">
        <p14:creationId xmlns:p14="http://schemas.microsoft.com/office/powerpoint/2010/main" val="420721406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1F47A84-A554-DEFA-F4EC-0BC82B0C51B0}"/>
              </a:ext>
            </a:extLst>
          </p:cNvPr>
          <p:cNvPicPr>
            <a:picLocks noChangeAspect="1"/>
          </p:cNvPicPr>
          <p:nvPr/>
        </p:nvPicPr>
        <p:blipFill>
          <a:blip r:embed="rId2"/>
          <a:stretch>
            <a:fillRect/>
          </a:stretch>
        </p:blipFill>
        <p:spPr>
          <a:xfrm>
            <a:off x="2145109" y="417533"/>
            <a:ext cx="8983329" cy="6077798"/>
          </a:xfrm>
          <a:prstGeom prst="rect">
            <a:avLst/>
          </a:prstGeom>
        </p:spPr>
      </p:pic>
      <p:sp>
        <p:nvSpPr>
          <p:cNvPr id="4" name="TextBox 3">
            <a:extLst>
              <a:ext uri="{FF2B5EF4-FFF2-40B4-BE49-F238E27FC236}">
                <a16:creationId xmlns:a16="http://schemas.microsoft.com/office/drawing/2014/main" id="{F59D4899-E715-A215-49B2-7E1B5E68CF07}"/>
              </a:ext>
            </a:extLst>
          </p:cNvPr>
          <p:cNvSpPr txBox="1"/>
          <p:nvPr/>
        </p:nvSpPr>
        <p:spPr>
          <a:xfrm>
            <a:off x="452284" y="363794"/>
            <a:ext cx="2222090" cy="523220"/>
          </a:xfrm>
          <a:prstGeom prst="rect">
            <a:avLst/>
          </a:prstGeom>
          <a:noFill/>
        </p:spPr>
        <p:txBody>
          <a:bodyPr wrap="square" rtlCol="0">
            <a:spAutoFit/>
          </a:bodyPr>
          <a:lstStyle/>
          <a:p>
            <a:r>
              <a:rPr lang="en-US" sz="2800" b="1" dirty="0">
                <a:solidFill>
                  <a:srgbClr val="00B050"/>
                </a:solidFill>
              </a:rPr>
              <a:t>Example:</a:t>
            </a:r>
            <a:endParaRPr lang="en-IN" sz="2800" b="1" dirty="0">
              <a:solidFill>
                <a:srgbClr val="00B050"/>
              </a:solidFill>
            </a:endParaRPr>
          </a:p>
        </p:txBody>
      </p:sp>
    </p:spTree>
    <p:extLst>
      <p:ext uri="{BB962C8B-B14F-4D97-AF65-F5344CB8AC3E}">
        <p14:creationId xmlns:p14="http://schemas.microsoft.com/office/powerpoint/2010/main" val="359465241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B917331-8F89-8905-0324-3E6CC314384B}"/>
              </a:ext>
            </a:extLst>
          </p:cNvPr>
          <p:cNvPicPr>
            <a:picLocks noChangeAspect="1"/>
          </p:cNvPicPr>
          <p:nvPr/>
        </p:nvPicPr>
        <p:blipFill>
          <a:blip r:embed="rId2"/>
          <a:stretch>
            <a:fillRect/>
          </a:stretch>
        </p:blipFill>
        <p:spPr>
          <a:xfrm>
            <a:off x="1528125" y="142416"/>
            <a:ext cx="9135750" cy="6573167"/>
          </a:xfrm>
          <a:prstGeom prst="rect">
            <a:avLst/>
          </a:prstGeom>
        </p:spPr>
      </p:pic>
    </p:spTree>
    <p:extLst>
      <p:ext uri="{BB962C8B-B14F-4D97-AF65-F5344CB8AC3E}">
        <p14:creationId xmlns:p14="http://schemas.microsoft.com/office/powerpoint/2010/main" val="97437308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65516BD-84C9-3C3B-717D-C9C3DC8B6F22}"/>
              </a:ext>
            </a:extLst>
          </p:cNvPr>
          <p:cNvSpPr>
            <a:spLocks noGrp="1"/>
          </p:cNvSpPr>
          <p:nvPr>
            <p:ph idx="1"/>
          </p:nvPr>
        </p:nvSpPr>
        <p:spPr>
          <a:xfrm>
            <a:off x="454741" y="537599"/>
            <a:ext cx="11471787" cy="6069678"/>
          </a:xfrm>
        </p:spPr>
        <p:txBody>
          <a:bodyPr/>
          <a:lstStyle/>
          <a:p>
            <a:pPr algn="just"/>
            <a:r>
              <a:rPr lang="en-US" b="1" i="0" dirty="0">
                <a:solidFill>
                  <a:srgbClr val="00B050"/>
                </a:solidFill>
                <a:effectLst/>
              </a:rPr>
              <a:t>Key Features</a:t>
            </a:r>
          </a:p>
          <a:p>
            <a:pPr algn="just">
              <a:buFont typeface="+mj-lt"/>
              <a:buAutoNum type="arabicPeriod"/>
            </a:pPr>
            <a:r>
              <a:rPr lang="en-US" b="1" i="0" dirty="0">
                <a:effectLst/>
              </a:rPr>
              <a:t>Structure:</a:t>
            </a:r>
            <a:r>
              <a:rPr lang="en-US" b="0" i="0" dirty="0">
                <a:effectLst/>
              </a:rPr>
              <a:t> The design consists of a square matrix where both rows and columns represent different blocking factors. Each cell in the matrix contains a treatment, ensuring that every treatment is tested under every combination of the blocking factors.</a:t>
            </a:r>
          </a:p>
          <a:p>
            <a:pPr algn="just">
              <a:buFont typeface="+mj-lt"/>
              <a:buAutoNum type="arabicPeriod"/>
            </a:pPr>
            <a:r>
              <a:rPr lang="en-US" b="1" i="0" dirty="0">
                <a:effectLst/>
              </a:rPr>
              <a:t>Blocking Factors:</a:t>
            </a:r>
            <a:r>
              <a:rPr lang="en-US" b="0" i="0" dirty="0">
                <a:effectLst/>
              </a:rPr>
              <a:t> The two blocking factors are usually known nuisance variables that could affect the outcome of the experiment. By arranging treatments in this way, researchers can isolate the effects of the treatment from those of the blocking factors.</a:t>
            </a:r>
          </a:p>
          <a:p>
            <a:pPr algn="just">
              <a:buFont typeface="+mj-lt"/>
              <a:buAutoNum type="arabicPeriod"/>
            </a:pPr>
            <a:r>
              <a:rPr lang="en-US" b="1" i="0" dirty="0">
                <a:effectLst/>
              </a:rPr>
              <a:t>Equal Treatment Replication:</a:t>
            </a:r>
            <a:r>
              <a:rPr lang="en-US" b="0" i="0" dirty="0">
                <a:effectLst/>
              </a:rPr>
              <a:t> Each treatment appears once in each row and column, allowing for balanced comparisons across all conditions.</a:t>
            </a:r>
          </a:p>
          <a:p>
            <a:pPr marL="0" indent="0">
              <a:buNone/>
            </a:pPr>
            <a:endParaRPr lang="en-IN" dirty="0"/>
          </a:p>
        </p:txBody>
      </p:sp>
    </p:spTree>
    <p:extLst>
      <p:ext uri="{BB962C8B-B14F-4D97-AF65-F5344CB8AC3E}">
        <p14:creationId xmlns:p14="http://schemas.microsoft.com/office/powerpoint/2010/main" val="310232614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06F84C3-4B70-0E67-0819-5C9AE3B7261A}"/>
              </a:ext>
            </a:extLst>
          </p:cNvPr>
          <p:cNvPicPr>
            <a:picLocks noChangeAspect="1"/>
          </p:cNvPicPr>
          <p:nvPr/>
        </p:nvPicPr>
        <p:blipFill>
          <a:blip r:embed="rId2"/>
          <a:stretch>
            <a:fillRect/>
          </a:stretch>
        </p:blipFill>
        <p:spPr>
          <a:xfrm>
            <a:off x="1286380" y="884768"/>
            <a:ext cx="9165309" cy="4630781"/>
          </a:xfrm>
          <a:prstGeom prst="rect">
            <a:avLst/>
          </a:prstGeom>
        </p:spPr>
      </p:pic>
    </p:spTree>
    <p:extLst>
      <p:ext uri="{BB962C8B-B14F-4D97-AF65-F5344CB8AC3E}">
        <p14:creationId xmlns:p14="http://schemas.microsoft.com/office/powerpoint/2010/main" val="200526226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B1208D0-FC51-B991-F963-38C73DEAC4D9}"/>
              </a:ext>
            </a:extLst>
          </p:cNvPr>
          <p:cNvSpPr>
            <a:spLocks noGrp="1"/>
          </p:cNvSpPr>
          <p:nvPr>
            <p:ph idx="1"/>
          </p:nvPr>
        </p:nvSpPr>
        <p:spPr>
          <a:xfrm>
            <a:off x="464574" y="468773"/>
            <a:ext cx="11029336" cy="5833704"/>
          </a:xfrm>
        </p:spPr>
        <p:txBody>
          <a:bodyPr>
            <a:normAutofit fontScale="85000" lnSpcReduction="20000"/>
          </a:bodyPr>
          <a:lstStyle/>
          <a:p>
            <a:pPr algn="just"/>
            <a:r>
              <a:rPr lang="en-US" b="1" i="0" dirty="0">
                <a:solidFill>
                  <a:srgbClr val="00B050"/>
                </a:solidFill>
                <a:effectLst/>
              </a:rPr>
              <a:t>Advantages</a:t>
            </a:r>
          </a:p>
          <a:p>
            <a:pPr algn="just">
              <a:buFont typeface="+mj-lt"/>
              <a:buAutoNum type="arabicPeriod"/>
            </a:pPr>
            <a:r>
              <a:rPr lang="en-US" b="0" i="0" dirty="0">
                <a:effectLst/>
              </a:rPr>
              <a:t>Control of Variability: By accounting for two sources of variability (rows and columns), LSD reduces experimental error and increases the precision of results.</a:t>
            </a:r>
          </a:p>
          <a:p>
            <a:pPr algn="just">
              <a:buFont typeface="+mj-lt"/>
              <a:buAutoNum type="arabicPeriod"/>
            </a:pPr>
            <a:r>
              <a:rPr lang="en-US" b="0" i="0" dirty="0">
                <a:effectLst/>
              </a:rPr>
              <a:t>Efficient Use of Resources: The design requires fewer experimental units compared to running separate experiments for each blocking factor.</a:t>
            </a:r>
          </a:p>
          <a:p>
            <a:pPr algn="just">
              <a:buFont typeface="+mj-lt"/>
              <a:buAutoNum type="arabicPeriod"/>
            </a:pPr>
            <a:r>
              <a:rPr lang="en-US" b="0" i="0" dirty="0">
                <a:effectLst/>
              </a:rPr>
              <a:t>Flexibility: It can accommodate various types of treatments and is applicable in multiple fields, including agriculture, psychology, and clinical studies.</a:t>
            </a:r>
          </a:p>
          <a:p>
            <a:pPr algn="just"/>
            <a:endParaRPr lang="en-US" b="1" i="0" dirty="0">
              <a:solidFill>
                <a:srgbClr val="00B050"/>
              </a:solidFill>
              <a:effectLst/>
            </a:endParaRPr>
          </a:p>
          <a:p>
            <a:pPr algn="just"/>
            <a:r>
              <a:rPr lang="en-US" b="1" i="0" dirty="0">
                <a:solidFill>
                  <a:srgbClr val="00B050"/>
                </a:solidFill>
                <a:effectLst/>
              </a:rPr>
              <a:t>Limitations</a:t>
            </a:r>
          </a:p>
          <a:p>
            <a:pPr algn="just">
              <a:buFont typeface="+mj-lt"/>
              <a:buAutoNum type="arabicPeriod"/>
            </a:pPr>
            <a:r>
              <a:rPr lang="en-US" b="0" i="0" dirty="0">
                <a:effectLst/>
              </a:rPr>
              <a:t>Limited Number of Treatments: The number of treatments must equal the number of rows and columns, which can limit its applicability if there are too many treatments.</a:t>
            </a:r>
          </a:p>
          <a:p>
            <a:pPr algn="just">
              <a:buFont typeface="+mj-lt"/>
              <a:buAutoNum type="arabicPeriod"/>
            </a:pPr>
            <a:r>
              <a:rPr lang="en-US" b="0" i="0" dirty="0">
                <a:effectLst/>
              </a:rPr>
              <a:t>Complexity in Design: Designing a Latin square can be more complex than simpler designs, requiring careful planning to ensure that all treatments are adequately represented.</a:t>
            </a:r>
          </a:p>
          <a:p>
            <a:pPr algn="just">
              <a:buFont typeface="+mj-lt"/>
              <a:buAutoNum type="arabicPeriod"/>
            </a:pPr>
            <a:r>
              <a:rPr lang="en-US" b="0" i="0" dirty="0">
                <a:effectLst/>
              </a:rPr>
              <a:t>Assumption of Homogeneity: The effectiveness relies on the assumption that variations within rows and columns are minimal; significant differences may lead to biased results.</a:t>
            </a:r>
          </a:p>
          <a:p>
            <a:pPr marL="0" indent="0">
              <a:buNone/>
            </a:pPr>
            <a:endParaRPr lang="en-IN" dirty="0"/>
          </a:p>
        </p:txBody>
      </p:sp>
    </p:spTree>
    <p:extLst>
      <p:ext uri="{BB962C8B-B14F-4D97-AF65-F5344CB8AC3E}">
        <p14:creationId xmlns:p14="http://schemas.microsoft.com/office/powerpoint/2010/main" val="97257230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4CD5CD6-B26D-76E0-0C82-D872D6B0DCE6}"/>
              </a:ext>
            </a:extLst>
          </p:cNvPr>
          <p:cNvSpPr>
            <a:spLocks noGrp="1"/>
          </p:cNvSpPr>
          <p:nvPr>
            <p:ph idx="1"/>
          </p:nvPr>
        </p:nvSpPr>
        <p:spPr>
          <a:xfrm>
            <a:off x="346588" y="340953"/>
            <a:ext cx="11599606" cy="6256491"/>
          </a:xfrm>
        </p:spPr>
        <p:txBody>
          <a:bodyPr/>
          <a:lstStyle/>
          <a:p>
            <a:pPr algn="just">
              <a:buFont typeface="Wingdings" panose="05000000000000000000" pitchFamily="2" charset="2"/>
              <a:buChar char="q"/>
            </a:pPr>
            <a:r>
              <a:rPr lang="en-US" b="1" i="0" dirty="0">
                <a:solidFill>
                  <a:srgbClr val="00B050"/>
                </a:solidFill>
                <a:effectLst/>
              </a:rPr>
              <a:t>Applications</a:t>
            </a:r>
          </a:p>
          <a:p>
            <a:pPr algn="just">
              <a:buFont typeface="Arial" panose="020B0604020202020204" pitchFamily="34" charset="0"/>
              <a:buChar char="•"/>
            </a:pPr>
            <a:r>
              <a:rPr lang="en-US" b="0" i="0" dirty="0">
                <a:effectLst/>
              </a:rPr>
              <a:t>Agricultural Experiments: Used to evaluate different fertilizers or crop treatments while controlling for soil type (rows) and environmental conditions (columns).</a:t>
            </a:r>
          </a:p>
          <a:p>
            <a:pPr algn="just">
              <a:buFont typeface="Arial" panose="020B0604020202020204" pitchFamily="34" charset="0"/>
              <a:buChar char="•"/>
            </a:pPr>
            <a:r>
              <a:rPr lang="en-US" b="0" i="0" dirty="0">
                <a:effectLst/>
              </a:rPr>
              <a:t>Clinical Trials: Employed to study drug effects while accounting for patient demographics (rows) and treatment regimens (columns).</a:t>
            </a:r>
          </a:p>
          <a:p>
            <a:pPr algn="just">
              <a:buFont typeface="Arial" panose="020B0604020202020204" pitchFamily="34" charset="0"/>
              <a:buChar char="•"/>
            </a:pPr>
            <a:r>
              <a:rPr lang="en-US" b="0" i="0" dirty="0">
                <a:effectLst/>
              </a:rPr>
              <a:t>Psychological Studies: Applied in experiments where subjects may differ based on characteristics like age or gender, ensuring balanced representation across treatments.</a:t>
            </a:r>
          </a:p>
          <a:p>
            <a:pPr marL="0" indent="0">
              <a:buNone/>
            </a:pPr>
            <a:endParaRPr lang="en-IN" dirty="0"/>
          </a:p>
        </p:txBody>
      </p:sp>
    </p:spTree>
    <p:extLst>
      <p:ext uri="{BB962C8B-B14F-4D97-AF65-F5344CB8AC3E}">
        <p14:creationId xmlns:p14="http://schemas.microsoft.com/office/powerpoint/2010/main" val="418783150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B1BCE5-6ED1-1710-FD28-A088E61D693A}"/>
              </a:ext>
            </a:extLst>
          </p:cNvPr>
          <p:cNvSpPr>
            <a:spLocks noGrp="1"/>
          </p:cNvSpPr>
          <p:nvPr>
            <p:ph type="title"/>
          </p:nvPr>
        </p:nvSpPr>
        <p:spPr>
          <a:xfrm>
            <a:off x="206476" y="227474"/>
            <a:ext cx="11385755" cy="578771"/>
          </a:xfrm>
        </p:spPr>
        <p:txBody>
          <a:bodyPr>
            <a:normAutofit fontScale="90000"/>
          </a:bodyPr>
          <a:lstStyle/>
          <a:p>
            <a:pPr algn="ctr"/>
            <a:r>
              <a:rPr lang="en-IN" sz="3600" b="1" i="0" dirty="0">
                <a:solidFill>
                  <a:srgbClr val="FF0000"/>
                </a:solidFill>
                <a:effectLst/>
                <a:latin typeface="+mn-lt"/>
              </a:rPr>
              <a:t>Factorial Design</a:t>
            </a:r>
            <a:br>
              <a:rPr lang="en-IN" b="0" i="0" dirty="0">
                <a:effectLst/>
                <a:latin typeface="var(--font-fk-grotesk)"/>
              </a:rPr>
            </a:br>
            <a:endParaRPr lang="en-IN" dirty="0"/>
          </a:p>
        </p:txBody>
      </p:sp>
      <p:sp>
        <p:nvSpPr>
          <p:cNvPr id="3" name="Content Placeholder 2">
            <a:extLst>
              <a:ext uri="{FF2B5EF4-FFF2-40B4-BE49-F238E27FC236}">
                <a16:creationId xmlns:a16="http://schemas.microsoft.com/office/drawing/2014/main" id="{E7B706D0-0DB1-2A2B-2C27-D7A3C0F039C6}"/>
              </a:ext>
            </a:extLst>
          </p:cNvPr>
          <p:cNvSpPr>
            <a:spLocks noGrp="1"/>
          </p:cNvSpPr>
          <p:nvPr>
            <p:ph idx="1"/>
          </p:nvPr>
        </p:nvSpPr>
        <p:spPr>
          <a:xfrm>
            <a:off x="324465" y="560439"/>
            <a:ext cx="11661058" cy="5997677"/>
          </a:xfrm>
        </p:spPr>
        <p:txBody>
          <a:bodyPr>
            <a:normAutofit lnSpcReduction="10000"/>
          </a:bodyPr>
          <a:lstStyle/>
          <a:p>
            <a:pPr marL="0" indent="0" algn="just">
              <a:buNone/>
            </a:pPr>
            <a:r>
              <a:rPr lang="en-US" sz="2400" b="0" i="0" dirty="0">
                <a:effectLst/>
              </a:rPr>
              <a:t>Factorial design is a statistical experimental methodology used to evaluate the effects of two or more independent variables (factors) on a dependent variable. This design allows researchers to assess not only the main effects of each factor but also the interaction effects between factors, providing a comprehensive understanding of how these variables influence outcomes.</a:t>
            </a:r>
          </a:p>
          <a:p>
            <a:pPr algn="l"/>
            <a:r>
              <a:rPr lang="en-US" sz="2400" b="1" i="0" dirty="0">
                <a:solidFill>
                  <a:srgbClr val="00B050"/>
                </a:solidFill>
                <a:effectLst/>
              </a:rPr>
              <a:t>Key Features</a:t>
            </a:r>
          </a:p>
          <a:p>
            <a:pPr algn="just">
              <a:buFont typeface="+mj-lt"/>
              <a:buAutoNum type="arabicPeriod"/>
            </a:pPr>
            <a:r>
              <a:rPr lang="en-US" sz="2400" b="1" i="0" dirty="0">
                <a:effectLst/>
              </a:rPr>
              <a:t>Multiple Factors: </a:t>
            </a:r>
            <a:r>
              <a:rPr lang="en-US" sz="2400" b="0" i="0" dirty="0">
                <a:effectLst/>
              </a:rPr>
              <a:t>Factorial designs involve at least two independent variables, each with multiple levels. For example, a 2x2 factorial design includes two factors, each at two levels, resulting in four treatment combinations.</a:t>
            </a:r>
          </a:p>
          <a:p>
            <a:pPr algn="just">
              <a:buFont typeface="+mj-lt"/>
              <a:buAutoNum type="arabicPeriod"/>
            </a:pPr>
            <a:r>
              <a:rPr lang="en-US" sz="2400" b="1" i="0" dirty="0">
                <a:effectLst/>
              </a:rPr>
              <a:t>Main and Interaction Effects: </a:t>
            </a:r>
          </a:p>
          <a:p>
            <a:pPr marL="0" indent="0" algn="just">
              <a:buNone/>
            </a:pPr>
            <a:r>
              <a:rPr lang="en-US" sz="2400" b="1" i="0" dirty="0">
                <a:effectLst/>
              </a:rPr>
              <a:t>Main Effects: </a:t>
            </a:r>
            <a:r>
              <a:rPr lang="en-US" sz="2400" b="0" i="0" dirty="0">
                <a:effectLst/>
              </a:rPr>
              <a:t>The individual impact of each factor on the dependent variable.</a:t>
            </a:r>
          </a:p>
          <a:p>
            <a:pPr marL="0" indent="0" algn="just">
              <a:buNone/>
            </a:pPr>
            <a:r>
              <a:rPr lang="en-US" sz="2400" b="1" i="0" dirty="0">
                <a:effectLst/>
              </a:rPr>
              <a:t>Interaction Effects: </a:t>
            </a:r>
            <a:r>
              <a:rPr lang="en-US" sz="2400" b="0" i="0" dirty="0">
                <a:effectLst/>
              </a:rPr>
              <a:t>How the effect of one factor changes depending on the level of another factor.</a:t>
            </a:r>
          </a:p>
          <a:p>
            <a:pPr marL="0" indent="0" algn="just">
              <a:buNone/>
            </a:pPr>
            <a:r>
              <a:rPr lang="en-US" sz="2400" b="1" i="0" dirty="0">
                <a:effectLst/>
              </a:rPr>
              <a:t>3.Comprehensive Analysis: </a:t>
            </a:r>
            <a:r>
              <a:rPr lang="en-US" sz="2400" b="0" i="0" dirty="0">
                <a:effectLst/>
              </a:rPr>
              <a:t>By manipulating multiple factors simultaneously, factorial designs allow for a nuanced analysis that can reveal complex relationships that might not be evident when studying factors in isolation.</a:t>
            </a:r>
          </a:p>
          <a:p>
            <a:pPr marL="0" indent="0" algn="just">
              <a:buNone/>
            </a:pPr>
            <a:endParaRPr lang="en-IN" sz="2400" dirty="0"/>
          </a:p>
        </p:txBody>
      </p:sp>
    </p:spTree>
    <p:extLst>
      <p:ext uri="{BB962C8B-B14F-4D97-AF65-F5344CB8AC3E}">
        <p14:creationId xmlns:p14="http://schemas.microsoft.com/office/powerpoint/2010/main" val="256864694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4E3BE6-B523-45B1-984C-D15C6354C2F8}"/>
              </a:ext>
            </a:extLst>
          </p:cNvPr>
          <p:cNvSpPr>
            <a:spLocks noGrp="1"/>
          </p:cNvSpPr>
          <p:nvPr>
            <p:ph type="title"/>
          </p:nvPr>
        </p:nvSpPr>
        <p:spPr>
          <a:xfrm>
            <a:off x="838200" y="365125"/>
            <a:ext cx="10515600" cy="618101"/>
          </a:xfrm>
        </p:spPr>
        <p:txBody>
          <a:bodyPr>
            <a:normAutofit fontScale="90000"/>
          </a:bodyPr>
          <a:lstStyle/>
          <a:p>
            <a:pPr algn="ctr"/>
            <a:r>
              <a:rPr lang="en-IN" b="1" i="0" dirty="0">
                <a:solidFill>
                  <a:srgbClr val="FF0000"/>
                </a:solidFill>
                <a:effectLst/>
                <a:latin typeface="+mn-lt"/>
              </a:rPr>
              <a:t>Simple Factorial Design</a:t>
            </a:r>
            <a:br>
              <a:rPr lang="en-IN" b="0" i="0" dirty="0">
                <a:effectLst/>
                <a:latin typeface="var(--font-fk-grotesk)"/>
              </a:rPr>
            </a:br>
            <a:endParaRPr lang="en-IN" dirty="0"/>
          </a:p>
        </p:txBody>
      </p:sp>
      <p:sp>
        <p:nvSpPr>
          <p:cNvPr id="3" name="Content Placeholder 2">
            <a:extLst>
              <a:ext uri="{FF2B5EF4-FFF2-40B4-BE49-F238E27FC236}">
                <a16:creationId xmlns:a16="http://schemas.microsoft.com/office/drawing/2014/main" id="{84052880-B6BC-1FAD-0233-51FC0DF55245}"/>
              </a:ext>
            </a:extLst>
          </p:cNvPr>
          <p:cNvSpPr>
            <a:spLocks noGrp="1"/>
          </p:cNvSpPr>
          <p:nvPr>
            <p:ph idx="1"/>
          </p:nvPr>
        </p:nvSpPr>
        <p:spPr>
          <a:xfrm>
            <a:off x="346586" y="862064"/>
            <a:ext cx="11481619" cy="5764878"/>
          </a:xfrm>
        </p:spPr>
        <p:txBody>
          <a:bodyPr/>
          <a:lstStyle/>
          <a:p>
            <a:pPr marL="0" indent="0" algn="just">
              <a:buNone/>
            </a:pPr>
            <a:r>
              <a:rPr lang="en-US" b="0" i="0" dirty="0">
                <a:effectLst/>
              </a:rPr>
              <a:t>A simple factorial design typically involves two or more factors, each with two levels. It is often represented in a format like 2x2, where the first number indicates the number of levels for the first factor and the second number indicates the levels for the second factor.</a:t>
            </a:r>
          </a:p>
          <a:p>
            <a:pPr marL="0" indent="0" algn="just">
              <a:buNone/>
            </a:pPr>
            <a:br>
              <a:rPr lang="en-US" b="0" i="0" dirty="0">
                <a:effectLst/>
              </a:rPr>
            </a:br>
            <a:r>
              <a:rPr lang="en-US" b="1" i="0" dirty="0">
                <a:solidFill>
                  <a:srgbClr val="00B050"/>
                </a:solidFill>
                <a:effectLst/>
              </a:rPr>
              <a:t>Example:</a:t>
            </a:r>
            <a:r>
              <a:rPr lang="en-US" b="0" i="0" dirty="0">
                <a:effectLst/>
              </a:rPr>
              <a:t> In a 2x2 factorial design examining the effects of drug dosage (low vs. high) and treatment duration (short vs. long), there would be four treatment combinations:</a:t>
            </a:r>
          </a:p>
          <a:p>
            <a:pPr algn="just">
              <a:buFont typeface="Arial" panose="020B0604020202020204" pitchFamily="34" charset="0"/>
              <a:buChar char="•"/>
            </a:pPr>
            <a:r>
              <a:rPr lang="en-US" b="0" i="0" dirty="0">
                <a:effectLst/>
              </a:rPr>
              <a:t>Low dosage, short duration</a:t>
            </a:r>
          </a:p>
          <a:p>
            <a:pPr algn="just">
              <a:buFont typeface="Arial" panose="020B0604020202020204" pitchFamily="34" charset="0"/>
              <a:buChar char="•"/>
            </a:pPr>
            <a:r>
              <a:rPr lang="en-US" b="0" i="0" dirty="0">
                <a:effectLst/>
              </a:rPr>
              <a:t>Low dosage, long duration</a:t>
            </a:r>
          </a:p>
          <a:p>
            <a:pPr algn="just">
              <a:buFont typeface="Arial" panose="020B0604020202020204" pitchFamily="34" charset="0"/>
              <a:buChar char="•"/>
            </a:pPr>
            <a:r>
              <a:rPr lang="en-US" b="0" i="0" dirty="0">
                <a:effectLst/>
              </a:rPr>
              <a:t>High dosage, short duration</a:t>
            </a:r>
          </a:p>
          <a:p>
            <a:pPr algn="just">
              <a:buFont typeface="Arial" panose="020B0604020202020204" pitchFamily="34" charset="0"/>
              <a:buChar char="•"/>
            </a:pPr>
            <a:r>
              <a:rPr lang="en-US" b="0" i="0" dirty="0">
                <a:effectLst/>
              </a:rPr>
              <a:t>High dosage, long duration</a:t>
            </a:r>
          </a:p>
          <a:p>
            <a:pPr marL="0" indent="0">
              <a:buNone/>
            </a:pPr>
            <a:endParaRPr lang="en-IN" dirty="0"/>
          </a:p>
        </p:txBody>
      </p:sp>
    </p:spTree>
    <p:extLst>
      <p:ext uri="{BB962C8B-B14F-4D97-AF65-F5344CB8AC3E}">
        <p14:creationId xmlns:p14="http://schemas.microsoft.com/office/powerpoint/2010/main" val="325698733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7BECC9-FFE2-911D-07E4-1C81358ECDD7}"/>
              </a:ext>
            </a:extLst>
          </p:cNvPr>
          <p:cNvSpPr>
            <a:spLocks noGrp="1"/>
          </p:cNvSpPr>
          <p:nvPr>
            <p:ph type="title"/>
          </p:nvPr>
        </p:nvSpPr>
        <p:spPr>
          <a:xfrm>
            <a:off x="412956" y="365126"/>
            <a:ext cx="11493908" cy="352629"/>
          </a:xfrm>
        </p:spPr>
        <p:txBody>
          <a:bodyPr>
            <a:normAutofit fontScale="90000"/>
          </a:bodyPr>
          <a:lstStyle/>
          <a:p>
            <a:pPr algn="ctr"/>
            <a:r>
              <a:rPr lang="en-IN" sz="3600" b="1" i="0" dirty="0">
                <a:solidFill>
                  <a:srgbClr val="FF0000"/>
                </a:solidFill>
                <a:effectLst/>
                <a:latin typeface="+mn-lt"/>
              </a:rPr>
              <a:t>Complex Factorial Design</a:t>
            </a:r>
            <a:br>
              <a:rPr lang="en-IN" b="1" i="0" dirty="0">
                <a:solidFill>
                  <a:srgbClr val="FF0000"/>
                </a:solidFill>
                <a:effectLst/>
                <a:latin typeface="+mn-lt"/>
              </a:rPr>
            </a:br>
            <a:endParaRPr lang="en-IN" b="1" dirty="0">
              <a:solidFill>
                <a:srgbClr val="FF0000"/>
              </a:solidFill>
              <a:latin typeface="+mn-lt"/>
            </a:endParaRPr>
          </a:p>
        </p:txBody>
      </p:sp>
      <p:sp>
        <p:nvSpPr>
          <p:cNvPr id="3" name="Content Placeholder 2">
            <a:extLst>
              <a:ext uri="{FF2B5EF4-FFF2-40B4-BE49-F238E27FC236}">
                <a16:creationId xmlns:a16="http://schemas.microsoft.com/office/drawing/2014/main" id="{B0A0E1CD-61DA-521C-58EA-124B79F71325}"/>
              </a:ext>
            </a:extLst>
          </p:cNvPr>
          <p:cNvSpPr>
            <a:spLocks noGrp="1"/>
          </p:cNvSpPr>
          <p:nvPr>
            <p:ph idx="1"/>
          </p:nvPr>
        </p:nvSpPr>
        <p:spPr>
          <a:xfrm>
            <a:off x="285135" y="862064"/>
            <a:ext cx="11493909" cy="5843536"/>
          </a:xfrm>
        </p:spPr>
        <p:txBody>
          <a:bodyPr>
            <a:normAutofit fontScale="70000" lnSpcReduction="20000"/>
          </a:bodyPr>
          <a:lstStyle/>
          <a:p>
            <a:pPr marL="0" indent="0" algn="just">
              <a:buNone/>
            </a:pPr>
            <a:r>
              <a:rPr lang="en-US" b="0" i="0" dirty="0">
                <a:effectLst/>
              </a:rPr>
              <a:t>Complex factorial designs involve more than two factors or factors with more than two levels. They can be represented as 2x3 or 3x2x2, indicating multiple factors and their respective levels.</a:t>
            </a:r>
          </a:p>
          <a:p>
            <a:pPr marL="0" indent="0" algn="just">
              <a:buNone/>
            </a:pPr>
            <a:br>
              <a:rPr lang="en-US" b="1" i="0" dirty="0">
                <a:solidFill>
                  <a:srgbClr val="00B050"/>
                </a:solidFill>
                <a:effectLst/>
              </a:rPr>
            </a:br>
            <a:r>
              <a:rPr lang="en-US" b="1" i="0" dirty="0">
                <a:solidFill>
                  <a:srgbClr val="00B050"/>
                </a:solidFill>
                <a:effectLst/>
              </a:rPr>
              <a:t>Example:</a:t>
            </a:r>
            <a:r>
              <a:rPr lang="en-US" b="0" i="0" dirty="0">
                <a:effectLst/>
              </a:rPr>
              <a:t> In a 3x2x2 factorial design examining the effects of three factors—type of therapy (Cognitive Behavioral Therapy, Psychodynamic Therapy, and Humanistic Therapy), duration (short vs. long), and therapist gender (male vs. female)—there would be 12 treatment combinations:</a:t>
            </a:r>
          </a:p>
          <a:p>
            <a:pPr algn="just"/>
            <a:r>
              <a:rPr lang="en-US" b="0" i="0" dirty="0">
                <a:effectLst/>
              </a:rPr>
              <a:t>CBT, short duration, male</a:t>
            </a:r>
          </a:p>
          <a:p>
            <a:pPr algn="just">
              <a:buFont typeface="Arial" panose="020B0604020202020204" pitchFamily="34" charset="0"/>
              <a:buChar char="•"/>
            </a:pPr>
            <a:r>
              <a:rPr lang="en-US" b="0" i="0" dirty="0">
                <a:effectLst/>
              </a:rPr>
              <a:t>CBT, short duration, female</a:t>
            </a:r>
          </a:p>
          <a:p>
            <a:pPr algn="just">
              <a:buFont typeface="Arial" panose="020B0604020202020204" pitchFamily="34" charset="0"/>
              <a:buChar char="•"/>
            </a:pPr>
            <a:r>
              <a:rPr lang="en-US" b="0" i="0" dirty="0">
                <a:effectLst/>
              </a:rPr>
              <a:t>CBT, long duration, male</a:t>
            </a:r>
          </a:p>
          <a:p>
            <a:pPr algn="just">
              <a:buFont typeface="Arial" panose="020B0604020202020204" pitchFamily="34" charset="0"/>
              <a:buChar char="•"/>
            </a:pPr>
            <a:r>
              <a:rPr lang="en-US" b="0" i="0" dirty="0">
                <a:effectLst/>
              </a:rPr>
              <a:t>CBT, long duration, female</a:t>
            </a:r>
          </a:p>
          <a:p>
            <a:pPr algn="just">
              <a:buFont typeface="Arial" panose="020B0604020202020204" pitchFamily="34" charset="0"/>
              <a:buChar char="•"/>
            </a:pPr>
            <a:r>
              <a:rPr lang="en-US" b="0" i="0" dirty="0">
                <a:effectLst/>
              </a:rPr>
              <a:t>Psychodynamic, short duration, male</a:t>
            </a:r>
          </a:p>
          <a:p>
            <a:pPr algn="just">
              <a:buFont typeface="Arial" panose="020B0604020202020204" pitchFamily="34" charset="0"/>
              <a:buChar char="•"/>
            </a:pPr>
            <a:r>
              <a:rPr lang="en-US" b="0" i="0" dirty="0">
                <a:effectLst/>
              </a:rPr>
              <a:t>Psychodynamic, short duration, female</a:t>
            </a:r>
          </a:p>
          <a:p>
            <a:pPr algn="just">
              <a:buFont typeface="Arial" panose="020B0604020202020204" pitchFamily="34" charset="0"/>
              <a:buChar char="•"/>
            </a:pPr>
            <a:r>
              <a:rPr lang="en-US" b="0" i="0" dirty="0">
                <a:effectLst/>
              </a:rPr>
              <a:t>Psychodynamic, long duration, male</a:t>
            </a:r>
          </a:p>
          <a:p>
            <a:pPr algn="just">
              <a:buFont typeface="Arial" panose="020B0604020202020204" pitchFamily="34" charset="0"/>
              <a:buChar char="•"/>
            </a:pPr>
            <a:r>
              <a:rPr lang="en-US" b="0" i="0" dirty="0">
                <a:effectLst/>
              </a:rPr>
              <a:t>Psychodynamic, long duration, female</a:t>
            </a:r>
          </a:p>
          <a:p>
            <a:pPr algn="just">
              <a:buFont typeface="Arial" panose="020B0604020202020204" pitchFamily="34" charset="0"/>
              <a:buChar char="•"/>
            </a:pPr>
            <a:r>
              <a:rPr lang="en-US" b="0" i="0" dirty="0">
                <a:effectLst/>
              </a:rPr>
              <a:t>Humanistic, short duration, male</a:t>
            </a:r>
          </a:p>
          <a:p>
            <a:pPr algn="just">
              <a:buFont typeface="Arial" panose="020B0604020202020204" pitchFamily="34" charset="0"/>
              <a:buChar char="•"/>
            </a:pPr>
            <a:r>
              <a:rPr lang="en-US" b="0" i="0" dirty="0">
                <a:effectLst/>
              </a:rPr>
              <a:t>Humanistic, short duration, female</a:t>
            </a:r>
          </a:p>
          <a:p>
            <a:pPr algn="just">
              <a:buFont typeface="Arial" panose="020B0604020202020204" pitchFamily="34" charset="0"/>
              <a:buChar char="•"/>
            </a:pPr>
            <a:r>
              <a:rPr lang="en-US" b="0" i="0" dirty="0">
                <a:effectLst/>
              </a:rPr>
              <a:t>Humanistic, long duration, male</a:t>
            </a:r>
          </a:p>
          <a:p>
            <a:pPr algn="just">
              <a:buFont typeface="Arial" panose="020B0604020202020204" pitchFamily="34" charset="0"/>
              <a:buChar char="•"/>
            </a:pPr>
            <a:r>
              <a:rPr lang="en-US" b="0" i="0" dirty="0">
                <a:effectLst/>
              </a:rPr>
              <a:t>Humanistic, long duration, female</a:t>
            </a:r>
          </a:p>
          <a:p>
            <a:pPr marL="0" indent="0">
              <a:buNone/>
            </a:pPr>
            <a:endParaRPr lang="en-IN" dirty="0"/>
          </a:p>
        </p:txBody>
      </p:sp>
    </p:spTree>
    <p:extLst>
      <p:ext uri="{BB962C8B-B14F-4D97-AF65-F5344CB8AC3E}">
        <p14:creationId xmlns:p14="http://schemas.microsoft.com/office/powerpoint/2010/main" val="73178396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DF3CA6B-5727-34D2-2A29-51EF617C6A99}"/>
              </a:ext>
            </a:extLst>
          </p:cNvPr>
          <p:cNvSpPr>
            <a:spLocks noGrp="1"/>
          </p:cNvSpPr>
          <p:nvPr>
            <p:ph type="title"/>
          </p:nvPr>
        </p:nvSpPr>
        <p:spPr>
          <a:xfrm>
            <a:off x="482750" y="365125"/>
            <a:ext cx="10871050" cy="785249"/>
          </a:xfrm>
        </p:spPr>
        <p:txBody>
          <a:bodyPr>
            <a:normAutofit/>
          </a:bodyPr>
          <a:lstStyle/>
          <a:p>
            <a:pPr algn="ctr"/>
            <a:r>
              <a:rPr lang="en-US" b="1" dirty="0">
                <a:solidFill>
                  <a:srgbClr val="FF0000"/>
                </a:solidFill>
                <a:latin typeface="+mn-lt"/>
              </a:rPr>
              <a:t>Advantages of factorial design</a:t>
            </a:r>
            <a:endParaRPr lang="en-IN" b="1" dirty="0">
              <a:solidFill>
                <a:srgbClr val="FF0000"/>
              </a:solidFill>
              <a:latin typeface="+mn-lt"/>
            </a:endParaRPr>
          </a:p>
        </p:txBody>
      </p:sp>
      <p:pic>
        <p:nvPicPr>
          <p:cNvPr id="6" name="Picture 5">
            <a:extLst>
              <a:ext uri="{FF2B5EF4-FFF2-40B4-BE49-F238E27FC236}">
                <a16:creationId xmlns:a16="http://schemas.microsoft.com/office/drawing/2014/main" id="{9FFB4C21-E741-CC95-B210-0413BFFCD704}"/>
              </a:ext>
            </a:extLst>
          </p:cNvPr>
          <p:cNvPicPr>
            <a:picLocks noChangeAspect="1"/>
          </p:cNvPicPr>
          <p:nvPr/>
        </p:nvPicPr>
        <p:blipFill>
          <a:blip r:embed="rId2"/>
          <a:stretch>
            <a:fillRect/>
          </a:stretch>
        </p:blipFill>
        <p:spPr>
          <a:xfrm>
            <a:off x="711350" y="1150373"/>
            <a:ext cx="10871050" cy="5109293"/>
          </a:xfrm>
          <a:prstGeom prst="rect">
            <a:avLst/>
          </a:prstGeom>
        </p:spPr>
      </p:pic>
    </p:spTree>
    <p:extLst>
      <p:ext uri="{BB962C8B-B14F-4D97-AF65-F5344CB8AC3E}">
        <p14:creationId xmlns:p14="http://schemas.microsoft.com/office/powerpoint/2010/main" val="306721773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481DA1E-8C7E-CA19-295F-3E46798CE71B}"/>
              </a:ext>
            </a:extLst>
          </p:cNvPr>
          <p:cNvPicPr>
            <a:picLocks noChangeAspect="1"/>
          </p:cNvPicPr>
          <p:nvPr/>
        </p:nvPicPr>
        <p:blipFill rotWithShape="1">
          <a:blip r:embed="rId2"/>
          <a:srcRect t="13229"/>
          <a:stretch/>
        </p:blipFill>
        <p:spPr>
          <a:xfrm>
            <a:off x="558310" y="1884077"/>
            <a:ext cx="11440000" cy="3500284"/>
          </a:xfrm>
          <a:prstGeom prst="rect">
            <a:avLst/>
          </a:prstGeom>
        </p:spPr>
      </p:pic>
      <p:sp>
        <p:nvSpPr>
          <p:cNvPr id="5" name="Title 4">
            <a:extLst>
              <a:ext uri="{FF2B5EF4-FFF2-40B4-BE49-F238E27FC236}">
                <a16:creationId xmlns:a16="http://schemas.microsoft.com/office/drawing/2014/main" id="{E3CC4809-0C81-F0DA-E02F-EE86E67AEE15}"/>
              </a:ext>
            </a:extLst>
          </p:cNvPr>
          <p:cNvSpPr>
            <a:spLocks noGrp="1"/>
          </p:cNvSpPr>
          <p:nvPr>
            <p:ph type="title"/>
          </p:nvPr>
        </p:nvSpPr>
        <p:spPr/>
        <p:txBody>
          <a:bodyPr/>
          <a:lstStyle/>
          <a:p>
            <a:pPr algn="ctr"/>
            <a:r>
              <a:rPr lang="en-US" b="1" dirty="0">
                <a:solidFill>
                  <a:srgbClr val="FF0000"/>
                </a:solidFill>
                <a:latin typeface="+mn-lt"/>
              </a:rPr>
              <a:t>Disadvantages of factorial design</a:t>
            </a:r>
            <a:endParaRPr lang="en-IN" dirty="0"/>
          </a:p>
        </p:txBody>
      </p:sp>
    </p:spTree>
    <p:extLst>
      <p:ext uri="{BB962C8B-B14F-4D97-AF65-F5344CB8AC3E}">
        <p14:creationId xmlns:p14="http://schemas.microsoft.com/office/powerpoint/2010/main" val="116091294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28892" y="1926296"/>
            <a:ext cx="3109332" cy="1742455"/>
          </a:xfrm>
        </p:spPr>
        <p:txBody>
          <a:bodyPr>
            <a:normAutofit/>
          </a:bodyPr>
          <a:lstStyle/>
          <a:p>
            <a:pPr algn="ctr"/>
            <a:r>
              <a:rPr lang="en-US" sz="4800" b="1" dirty="0">
                <a:latin typeface="+mn-lt"/>
              </a:rPr>
              <a:t>Thank You</a:t>
            </a:r>
            <a:endParaRPr lang="en-IN" sz="4800" b="1" dirty="0">
              <a:latin typeface="+mn-lt"/>
            </a:endParaRPr>
          </a:p>
        </p:txBody>
      </p:sp>
    </p:spTree>
    <p:extLst>
      <p:ext uri="{BB962C8B-B14F-4D97-AF65-F5344CB8AC3E}">
        <p14:creationId xmlns:p14="http://schemas.microsoft.com/office/powerpoint/2010/main" val="256657835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4180</TotalTime>
  <Words>4238</Words>
  <Application>Microsoft Office PowerPoint</Application>
  <PresentationFormat>Widescreen</PresentationFormat>
  <Paragraphs>298</Paragraphs>
  <Slides>63</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63</vt:i4>
      </vt:variant>
    </vt:vector>
  </HeadingPairs>
  <TitlesOfParts>
    <vt:vector size="71" baseType="lpstr">
      <vt:lpstr>__fkGroteskNeue_598ab8</vt:lpstr>
      <vt:lpstr>Arial</vt:lpstr>
      <vt:lpstr>Calibri</vt:lpstr>
      <vt:lpstr>Calibri Light</vt:lpstr>
      <vt:lpstr>Courier New</vt:lpstr>
      <vt:lpstr>var(--font-fk-grotesk)</vt:lpstr>
      <vt:lpstr>Wingdings</vt:lpstr>
      <vt:lpstr>Office Theme</vt:lpstr>
      <vt:lpstr>Unit II Research Design</vt:lpstr>
      <vt:lpstr>Research Design</vt:lpstr>
      <vt:lpstr>Research Design</vt:lpstr>
      <vt:lpstr>Research Design</vt:lpstr>
      <vt:lpstr>Need of research design</vt:lpstr>
      <vt:lpstr>Features of a Good Design</vt:lpstr>
      <vt:lpstr>Features of a Good Design</vt:lpstr>
      <vt:lpstr>Concepts relating to research design</vt:lpstr>
      <vt:lpstr>PowerPoint Presentation</vt:lpstr>
      <vt:lpstr>Variables</vt:lpstr>
      <vt:lpstr>PowerPoint Presentation</vt:lpstr>
      <vt:lpstr>Types of Variables</vt:lpstr>
      <vt:lpstr>PowerPoint Presentation</vt:lpstr>
      <vt:lpstr>PowerPoint Presentation</vt:lpstr>
      <vt:lpstr>Research Hypothesis</vt:lpstr>
      <vt:lpstr>Purpose of hypothesis</vt:lpstr>
      <vt:lpstr>Types of hypothesis</vt:lpstr>
      <vt:lpstr>PowerPoint Presentation</vt:lpstr>
      <vt:lpstr>PowerPoint Presentation</vt:lpstr>
      <vt:lpstr>PowerPoint Presentation</vt:lpstr>
      <vt:lpstr>Treatment</vt:lpstr>
      <vt:lpstr>Experimental and Control Groups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Experiment</vt:lpstr>
      <vt:lpstr>Experiment Units</vt:lpstr>
      <vt:lpstr>Experimental Design</vt:lpstr>
      <vt:lpstr>Principle of Randomization</vt:lpstr>
      <vt:lpstr>Principle of Replication</vt:lpstr>
      <vt:lpstr>Principle of Local Control</vt:lpstr>
      <vt:lpstr>PowerPoint Presentation</vt:lpstr>
      <vt:lpstr>Completely Randomised Design  </vt:lpstr>
      <vt:lpstr>PowerPoint Presentation</vt:lpstr>
      <vt:lpstr>PowerPoint Presentation</vt:lpstr>
      <vt:lpstr>PowerPoint Presentation</vt:lpstr>
      <vt:lpstr>PowerPoint Presentation</vt:lpstr>
      <vt:lpstr>Types</vt:lpstr>
      <vt:lpstr>Two group simple randomized experimental design</vt:lpstr>
      <vt:lpstr>Random replications design</vt:lpstr>
      <vt:lpstr>Randomized Block Design</vt:lpstr>
      <vt:lpstr>PowerPoint Presentation</vt:lpstr>
      <vt:lpstr>PowerPoint Presentation</vt:lpstr>
      <vt:lpstr>PowerPoint Presentation</vt:lpstr>
      <vt:lpstr>PowerPoint Presentation</vt:lpstr>
      <vt:lpstr>Latin Square Design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Factorial Design </vt:lpstr>
      <vt:lpstr>Simple Factorial Design </vt:lpstr>
      <vt:lpstr>Complex Factorial Design </vt:lpstr>
      <vt:lpstr>Advantages of factorial design</vt:lpstr>
      <vt:lpstr>Disadvantages of factorial design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II Research Design</dc:title>
  <dc:creator>Priyadarshini Dey</dc:creator>
  <cp:lastModifiedBy>Anitha p</cp:lastModifiedBy>
  <cp:revision>28</cp:revision>
  <dcterms:created xsi:type="dcterms:W3CDTF">2024-10-05T05:14:53Z</dcterms:created>
  <dcterms:modified xsi:type="dcterms:W3CDTF">2026-09-07T06:35:56Z</dcterms:modified>
</cp:coreProperties>
</file>