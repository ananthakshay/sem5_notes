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2.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305"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266" r:id="rId4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0" roundtripDataSignature="AMtx7mixZRS7yo9nm1zFKLSxolw15Isk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644" y="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customschemas.google.com/relationships/presentationmetadata" Target="meta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tha p" userId="3e48045bb329320d" providerId="LiveId" clId="{EC29715A-5399-4B37-A962-695366749B51}"/>
    <pc:docChg chg="custSel modSld">
      <pc:chgData name="Anitha p" userId="3e48045bb329320d" providerId="LiveId" clId="{EC29715A-5399-4B37-A962-695366749B51}" dt="2026-08-25T05:33:35.102" v="14" actId="255"/>
      <pc:docMkLst>
        <pc:docMk/>
      </pc:docMkLst>
      <pc:sldChg chg="modSp mod">
        <pc:chgData name="Anitha p" userId="3e48045bb329320d" providerId="LiveId" clId="{EC29715A-5399-4B37-A962-695366749B51}" dt="2026-08-25T05:24:34.799" v="13" actId="12"/>
        <pc:sldMkLst>
          <pc:docMk/>
          <pc:sldMk cId="213980599" sldId="277"/>
        </pc:sldMkLst>
        <pc:spChg chg="mod">
          <ac:chgData name="Anitha p" userId="3e48045bb329320d" providerId="LiveId" clId="{EC29715A-5399-4B37-A962-695366749B51}" dt="2026-08-25T05:24:34.799" v="13" actId="12"/>
          <ac:spMkLst>
            <pc:docMk/>
            <pc:sldMk cId="213980599" sldId="277"/>
            <ac:spMk id="3" creationId="{00000000-0000-0000-0000-000000000000}"/>
          </ac:spMkLst>
        </pc:spChg>
      </pc:sldChg>
      <pc:sldChg chg="modSp mod">
        <pc:chgData name="Anitha p" userId="3e48045bb329320d" providerId="LiveId" clId="{EC29715A-5399-4B37-A962-695366749B51}" dt="2026-08-25T05:33:35.102" v="14" actId="255"/>
        <pc:sldMkLst>
          <pc:docMk/>
          <pc:sldMk cId="569309138" sldId="278"/>
        </pc:sldMkLst>
        <pc:spChg chg="mod">
          <ac:chgData name="Anitha p" userId="3e48045bb329320d" providerId="LiveId" clId="{EC29715A-5399-4B37-A962-695366749B51}" dt="2026-08-25T05:33:35.102" v="14" actId="255"/>
          <ac:spMkLst>
            <pc:docMk/>
            <pc:sldMk cId="569309138" sldId="278"/>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48602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
        <p:cNvGrpSpPr/>
        <p:nvPr/>
      </p:nvGrpSpPr>
      <p:grpSpPr>
        <a:xfrm>
          <a:off x="0" y="0"/>
          <a:ext cx="0" cy="0"/>
          <a:chOff x="0" y="0"/>
          <a:chExt cx="0" cy="0"/>
        </a:xfrm>
      </p:grpSpPr>
      <p:sp>
        <p:nvSpPr>
          <p:cNvPr id="11" name="Google Shape;11;p1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Calibri"/>
                <a:ea typeface="Calibri"/>
                <a:cs typeface="Calibri"/>
                <a:sym typeface="Calibri"/>
              </a:defRPr>
            </a:lvl1pPr>
            <a:lvl2pPr marL="0" marR="0" lvl="1" indent="0" algn="l" rtl="0">
              <a:spcBef>
                <a:spcPts val="0"/>
              </a:spcBef>
              <a:buNone/>
              <a:defRPr sz="1800" b="0" i="0" u="none" strike="noStrike" cap="none">
                <a:solidFill>
                  <a:schemeClr val="dk1"/>
                </a:solidFill>
                <a:latin typeface="Calibri"/>
                <a:ea typeface="Calibri"/>
                <a:cs typeface="Calibri"/>
                <a:sym typeface="Calibri"/>
              </a:defRPr>
            </a:lvl2pPr>
            <a:lvl3pPr marL="0" marR="0" lvl="2" indent="0" algn="l" rtl="0">
              <a:spcBef>
                <a:spcPts val="0"/>
              </a:spcBef>
              <a:buNone/>
              <a:defRPr sz="1800" b="0" i="0" u="none" strike="noStrike" cap="none">
                <a:solidFill>
                  <a:schemeClr val="dk1"/>
                </a:solidFill>
                <a:latin typeface="Calibri"/>
                <a:ea typeface="Calibri"/>
                <a:cs typeface="Calibri"/>
                <a:sym typeface="Calibri"/>
              </a:defRPr>
            </a:lvl3pPr>
            <a:lvl4pPr marL="0" marR="0" lvl="3" indent="0" algn="l" rtl="0">
              <a:spcBef>
                <a:spcPts val="0"/>
              </a:spcBef>
              <a:buNone/>
              <a:defRPr sz="1800" b="0" i="0" u="none" strike="noStrike" cap="none">
                <a:solidFill>
                  <a:schemeClr val="dk1"/>
                </a:solidFill>
                <a:latin typeface="Calibri"/>
                <a:ea typeface="Calibri"/>
                <a:cs typeface="Calibri"/>
                <a:sym typeface="Calibri"/>
              </a:defRPr>
            </a:lvl4pPr>
            <a:lvl5pPr marL="0" marR="0" lvl="4" indent="0" algn="l" rtl="0">
              <a:spcBef>
                <a:spcPts val="0"/>
              </a:spcBef>
              <a:buNone/>
              <a:defRPr sz="1800" b="0" i="0" u="none" strike="noStrike" cap="none">
                <a:solidFill>
                  <a:schemeClr val="dk1"/>
                </a:solidFill>
                <a:latin typeface="Calibri"/>
                <a:ea typeface="Calibri"/>
                <a:cs typeface="Calibri"/>
                <a:sym typeface="Calibri"/>
              </a:defRPr>
            </a:lvl5pPr>
            <a:lvl6pPr marL="0" marR="0" lvl="5" indent="0" algn="l" rtl="0">
              <a:spcBef>
                <a:spcPts val="0"/>
              </a:spcBef>
              <a:buNone/>
              <a:defRPr sz="1800" b="0" i="0" u="none" strike="noStrike" cap="none">
                <a:solidFill>
                  <a:schemeClr val="dk1"/>
                </a:solidFill>
                <a:latin typeface="Calibri"/>
                <a:ea typeface="Calibri"/>
                <a:cs typeface="Calibri"/>
                <a:sym typeface="Calibri"/>
              </a:defRPr>
            </a:lvl6pPr>
            <a:lvl7pPr marL="0" marR="0" lvl="6" indent="0" algn="l" rtl="0">
              <a:spcBef>
                <a:spcPts val="0"/>
              </a:spcBef>
              <a:buNone/>
              <a:defRPr sz="1800" b="0" i="0" u="none" strike="noStrike" cap="none">
                <a:solidFill>
                  <a:schemeClr val="dk1"/>
                </a:solidFill>
                <a:latin typeface="Calibri"/>
                <a:ea typeface="Calibri"/>
                <a:cs typeface="Calibri"/>
                <a:sym typeface="Calibri"/>
              </a:defRPr>
            </a:lvl7pPr>
            <a:lvl8pPr marL="0" marR="0" lvl="7" indent="0" algn="l" rtl="0">
              <a:spcBef>
                <a:spcPts val="0"/>
              </a:spcBef>
              <a:buNone/>
              <a:defRPr sz="1800" b="0" i="0" u="none" strike="noStrike" cap="none">
                <a:solidFill>
                  <a:schemeClr val="dk1"/>
                </a:solidFill>
                <a:latin typeface="Calibri"/>
                <a:ea typeface="Calibri"/>
                <a:cs typeface="Calibri"/>
                <a:sym typeface="Calibri"/>
              </a:defRPr>
            </a:lvl8pPr>
            <a:lvl9pPr marL="0" marR="0" lvl="8" indent="0" algn="l" rtl="0">
              <a:spcBef>
                <a:spcPts val="0"/>
              </a:spcBef>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16" name="Google Shape;16;p13"/>
          <p:cNvSpPr txBox="1"/>
          <p:nvPr/>
        </p:nvSpPr>
        <p:spPr>
          <a:xfrm>
            <a:off x="7518400" y="152400"/>
            <a:ext cx="4368800" cy="38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B01A0"/>
                </a:solidFill>
                <a:latin typeface="Calibri"/>
                <a:ea typeface="Calibri"/>
                <a:cs typeface="Calibri"/>
                <a:sym typeface="Calibri"/>
              </a:rPr>
              <a:t>DEVOTION TO ENLIGHTENMENT</a:t>
            </a:r>
            <a:endParaRPr/>
          </a:p>
        </p:txBody>
      </p:sp>
      <p:sp>
        <p:nvSpPr>
          <p:cNvPr id="17" name="Google Shape;17;p13"/>
          <p:cNvSpPr/>
          <p:nvPr/>
        </p:nvSpPr>
        <p:spPr>
          <a:xfrm>
            <a:off x="0" y="0"/>
            <a:ext cx="12192000" cy="6858000"/>
          </a:xfrm>
          <a:prstGeom prst="rect">
            <a:avLst/>
          </a:prstGeom>
          <a:solidFill>
            <a:srgbClr val="D8D8D8"/>
          </a:solidFill>
          <a:ln w="25400" cap="flat" cmpd="sng">
            <a:solidFill>
              <a:srgbClr val="DCE6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 name="Google Shape;18;p13"/>
          <p:cNvSpPr/>
          <p:nvPr/>
        </p:nvSpPr>
        <p:spPr>
          <a:xfrm>
            <a:off x="179400" y="180000"/>
            <a:ext cx="11833200" cy="6498000"/>
          </a:xfrm>
          <a:prstGeom prst="rect">
            <a:avLst/>
          </a:prstGeom>
          <a:solidFill>
            <a:srgbClr val="0B01A0"/>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 name="Google Shape;19;p13"/>
          <p:cNvSpPr/>
          <p:nvPr/>
        </p:nvSpPr>
        <p:spPr>
          <a:xfrm>
            <a:off x="331800" y="332400"/>
            <a:ext cx="11473200" cy="6138000"/>
          </a:xfrm>
          <a:prstGeom prst="rect">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 name="Google Shape;20;p13"/>
          <p:cNvSpPr/>
          <p:nvPr/>
        </p:nvSpPr>
        <p:spPr>
          <a:xfrm rot="5400000">
            <a:off x="1311236" y="-923964"/>
            <a:ext cx="1339928" cy="3556000"/>
          </a:xfrm>
          <a:prstGeom prst="rtTriangle">
            <a:avLst/>
          </a:prstGeom>
          <a:solidFill>
            <a:srgbClr val="0B01A0"/>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Calibri"/>
              <a:ea typeface="Calibri"/>
              <a:cs typeface="Calibri"/>
              <a:sym typeface="Calibri"/>
            </a:endParaRPr>
          </a:p>
        </p:txBody>
      </p:sp>
      <p:pic>
        <p:nvPicPr>
          <p:cNvPr id="21" name="Google Shape;21;p13" descr="https://lh4.googleusercontent.com/yau4ts-TFwHbU9bCswtdBRU_u-8vTdmpH0ITQVWq-87BTUPabKWMBRd3OSvNIeAP2jLfrPpkT49vOGL6vgLKcAr8zwWdDz1-Ck-K7hnkA2oajD3atevMO7l4GE7NH9TbO9JFuQC_Qw"/>
          <p:cNvPicPr preferRelativeResize="0"/>
          <p:nvPr/>
        </p:nvPicPr>
        <p:blipFill rotWithShape="1">
          <a:blip r:embed="rId2">
            <a:alphaModFix/>
          </a:blip>
          <a:srcRect l="1950" t="1970" r="70721" b="84501"/>
          <a:stretch/>
        </p:blipFill>
        <p:spPr>
          <a:xfrm>
            <a:off x="203200" y="217420"/>
            <a:ext cx="1801800" cy="625475"/>
          </a:xfrm>
          <a:prstGeom prst="rect">
            <a:avLst/>
          </a:prstGeom>
          <a:noFill/>
          <a:ln>
            <a:noFill/>
          </a:ln>
        </p:spPr>
      </p:pic>
      <p:sp>
        <p:nvSpPr>
          <p:cNvPr id="22" name="Google Shape;22;p13"/>
          <p:cNvSpPr txBox="1"/>
          <p:nvPr/>
        </p:nvSpPr>
        <p:spPr>
          <a:xfrm>
            <a:off x="9261300" y="316468"/>
            <a:ext cx="29718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1">
                <a:solidFill>
                  <a:srgbClr val="0B01A0"/>
                </a:solidFill>
                <a:latin typeface="Angsana New"/>
                <a:ea typeface="Angsana New"/>
                <a:cs typeface="Angsana New"/>
                <a:sym typeface="Angsana New"/>
              </a:rPr>
              <a:t>DEVOTION TO ENLIGHTENMENT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4" name="Google Shape;44;p16"/>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 name="Google Shape;45;p16"/>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17"/>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2" name="Google Shape;52;p17"/>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53" name="Google Shape;53;p17"/>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4" name="Google Shape;54;p17"/>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55" name="Google Shape;55;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sp>
        <p:nvSpPr>
          <p:cNvPr id="64" name="Google Shape;64;p1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20"/>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9" name="Google Shape;69;p20"/>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0" name="Google Shape;70;p20"/>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71" name="Google Shape;71;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6" name="Google Shape;76;p21"/>
          <p:cNvSpPr>
            <a:spLocks noGrp="1"/>
          </p:cNvSpPr>
          <p:nvPr>
            <p:ph type="pic" idx="2"/>
          </p:nvPr>
        </p:nvSpPr>
        <p:spPr>
          <a:xfrm>
            <a:off x="2389717" y="612775"/>
            <a:ext cx="7315200" cy="4114800"/>
          </a:xfrm>
          <a:prstGeom prst="rect">
            <a:avLst/>
          </a:prstGeom>
          <a:noFill/>
          <a:ln>
            <a:noFill/>
          </a:ln>
        </p:spPr>
      </p:sp>
      <p:sp>
        <p:nvSpPr>
          <p:cNvPr id="77" name="Google Shape;77;p21"/>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78" name="Google Shape;78;p2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2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0" name="Google Shape;80;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3" name="Google Shape;83;p22"/>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4" name="Google Shape;84;p2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p2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6" name="Google Shape;86;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23"/>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9" name="Google Shape;89;p23"/>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0" name="Google Shape;90;p2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 name="Google Shape;91;p2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 name="Google Shape;92;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5"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doi.org/10.1007/978-981-13-2947-0"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
          <p:cNvSpPr txBox="1">
            <a:spLocks noGrp="1"/>
          </p:cNvSpPr>
          <p:nvPr>
            <p:ph type="title"/>
          </p:nvPr>
        </p:nvSpPr>
        <p:spPr>
          <a:xfrm>
            <a:off x="609600" y="990599"/>
            <a:ext cx="10972800" cy="3407229"/>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6600FF"/>
              </a:buClr>
              <a:buSzPts val="4400"/>
              <a:buFont typeface="Calibri"/>
              <a:buNone/>
            </a:pPr>
            <a:r>
              <a:rPr lang="en-US" dirty="0">
                <a:solidFill>
                  <a:srgbClr val="6600FF"/>
                </a:solidFill>
                <a:latin typeface="Calibri"/>
                <a:ea typeface="Calibri"/>
                <a:cs typeface="Calibri"/>
                <a:sym typeface="Calibri"/>
              </a:rPr>
              <a:t>RESEARCH METHODOLOGY </a:t>
            </a:r>
            <a:br>
              <a:rPr lang="en-US" dirty="0">
                <a:solidFill>
                  <a:srgbClr val="6600FF"/>
                </a:solidFill>
                <a:latin typeface="Calibri"/>
                <a:ea typeface="Calibri"/>
                <a:cs typeface="Calibri"/>
                <a:sym typeface="Calibri"/>
              </a:rPr>
            </a:br>
            <a:r>
              <a:rPr lang="en-US" dirty="0">
                <a:solidFill>
                  <a:srgbClr val="6600FF"/>
                </a:solidFill>
                <a:latin typeface="Calibri"/>
                <a:ea typeface="Calibri"/>
                <a:cs typeface="Calibri"/>
                <a:sym typeface="Calibri"/>
              </a:rPr>
              <a:t>AND </a:t>
            </a:r>
            <a:br>
              <a:rPr lang="en-US" dirty="0">
                <a:solidFill>
                  <a:srgbClr val="6600FF"/>
                </a:solidFill>
                <a:latin typeface="Calibri"/>
                <a:ea typeface="Calibri"/>
                <a:cs typeface="Calibri"/>
                <a:sym typeface="Calibri"/>
              </a:rPr>
            </a:br>
            <a:r>
              <a:rPr lang="en-US" dirty="0">
                <a:solidFill>
                  <a:srgbClr val="6600FF"/>
                </a:solidFill>
                <a:latin typeface="Calibri"/>
                <a:ea typeface="Calibri"/>
                <a:cs typeface="Calibri"/>
                <a:sym typeface="Calibri"/>
              </a:rPr>
              <a:t>INTELLECTUAL PROPERTY RIGHTS</a:t>
            </a:r>
            <a:br>
              <a:rPr lang="en-US" sz="2800" b="1" dirty="0">
                <a:solidFill>
                  <a:srgbClr val="6600FF"/>
                </a:solidFill>
                <a:latin typeface="Calibri"/>
                <a:ea typeface="Calibri"/>
                <a:cs typeface="Calibri"/>
                <a:sym typeface="Calibri"/>
              </a:rPr>
            </a:br>
            <a:r>
              <a:rPr lang="en-US" dirty="0">
                <a:solidFill>
                  <a:srgbClr val="6600FF"/>
                </a:solidFill>
                <a:latin typeface="Calibri"/>
                <a:ea typeface="Calibri"/>
                <a:cs typeface="Calibri"/>
                <a:sym typeface="Calibri"/>
              </a:rPr>
              <a:t>Course Code: AL58</a:t>
            </a:r>
            <a:br>
              <a:rPr lang="en-US" sz="6600" dirty="0">
                <a:solidFill>
                  <a:srgbClr val="FF0000"/>
                </a:solidFill>
              </a:rPr>
            </a:b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r>
              <a:rPr lang="en-US" b="1" dirty="0">
                <a:solidFill>
                  <a:srgbClr val="7030A0"/>
                </a:solidFill>
                <a:latin typeface="Bernard MT Condensed" panose="02050806060905020404" pitchFamily="18" charset="0"/>
              </a:rPr>
              <a:t>Course Outline</a:t>
            </a:r>
            <a:endParaRPr b="1" dirty="0">
              <a:solidFill>
                <a:srgbClr val="7030A0"/>
              </a:solidFill>
              <a:latin typeface="Bernard MT Condensed" panose="02050806060905020404" pitchFamily="18" charset="0"/>
            </a:endParaRPr>
          </a:p>
        </p:txBody>
      </p:sp>
      <p:sp>
        <p:nvSpPr>
          <p:cNvPr id="104" name="Google Shape;104;p2"/>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Clr>
                <a:schemeClr val="dk1"/>
              </a:buClr>
              <a:buSzPts val="1800"/>
              <a:buNone/>
            </a:pPr>
            <a:r>
              <a:rPr lang="en-US" sz="1800" b="1" dirty="0">
                <a:solidFill>
                  <a:schemeClr val="accent5">
                    <a:lumMod val="75000"/>
                  </a:schemeClr>
                </a:solidFill>
                <a:latin typeface="Sitka Text Semibold" pitchFamily="2" charset="0"/>
                <a:ea typeface="Times New Roman"/>
                <a:cs typeface="Times New Roman"/>
                <a:sym typeface="Times New Roman"/>
              </a:rPr>
              <a:t>Unit I</a:t>
            </a:r>
            <a:endParaRPr sz="1800" b="1" dirty="0">
              <a:solidFill>
                <a:schemeClr val="accent5">
                  <a:lumMod val="75000"/>
                </a:schemeClr>
              </a:solidFill>
              <a:latin typeface="Sitka Text Semibold" pitchFamily="2" charset="0"/>
              <a:ea typeface="Times New Roman"/>
              <a:cs typeface="Times New Roman"/>
              <a:sym typeface="Times New Roman"/>
            </a:endParaRPr>
          </a:p>
          <a:p>
            <a:pPr marL="0" lvl="0" indent="0" algn="ctr" rtl="0">
              <a:lnSpc>
                <a:spcPct val="115000"/>
              </a:lnSpc>
              <a:spcBef>
                <a:spcPts val="360"/>
              </a:spcBef>
              <a:spcAft>
                <a:spcPts val="0"/>
              </a:spcAft>
              <a:buClr>
                <a:schemeClr val="dk1"/>
              </a:buClr>
              <a:buSzPts val="1800"/>
              <a:buNone/>
            </a:pPr>
            <a:r>
              <a:rPr lang="en-US" sz="1800" b="1" dirty="0">
                <a:solidFill>
                  <a:srgbClr val="FF0000"/>
                </a:solidFill>
                <a:latin typeface="Times New Roman"/>
                <a:ea typeface="Times New Roman"/>
                <a:cs typeface="Times New Roman"/>
                <a:sym typeface="Times New Roman"/>
              </a:rPr>
              <a:t>Research Methodology</a:t>
            </a:r>
            <a:endParaRPr sz="1800" b="1" dirty="0">
              <a:solidFill>
                <a:srgbClr val="FF0000"/>
              </a:solidFill>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Introduction:</a:t>
            </a:r>
            <a:r>
              <a:rPr lang="en-US" sz="1800" dirty="0">
                <a:solidFill>
                  <a:srgbClr val="FF00FF"/>
                </a:solidFill>
                <a:latin typeface="Baskerville Old Face" panose="02020602080505020303" pitchFamily="18" charset="0"/>
                <a:ea typeface="Times New Roman"/>
                <a:cs typeface="Times New Roman"/>
                <a:sym typeface="Times New Roman"/>
              </a:rPr>
              <a:t> </a:t>
            </a:r>
            <a:r>
              <a:rPr lang="en-US" sz="1800" dirty="0">
                <a:latin typeface="Times New Roman"/>
                <a:ea typeface="Times New Roman"/>
                <a:cs typeface="Times New Roman"/>
                <a:sym typeface="Times New Roman"/>
              </a:rPr>
              <a:t>Meaning of Research, Objectives of Research, Types of Research, Ethics in Research, Types of Research Misconduct.</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Literature Review and Technical Reading:</a:t>
            </a:r>
            <a:r>
              <a:rPr lang="en-US" sz="1800" dirty="0">
                <a:latin typeface="Times New Roman"/>
                <a:ea typeface="Times New Roman"/>
                <a:cs typeface="Times New Roman"/>
                <a:sym typeface="Times New Roman"/>
              </a:rPr>
              <a:t> New and Existing Knowledge, Analysis and Synthesis of Prior Art, Bibliographic Databases, Conceptualizing Research, Critical and Creative Reading.</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Citations: </a:t>
            </a:r>
            <a:r>
              <a:rPr lang="en-US" sz="1800" dirty="0">
                <a:latin typeface="Times New Roman"/>
                <a:ea typeface="Times New Roman"/>
                <a:cs typeface="Times New Roman"/>
                <a:sym typeface="Times New Roman"/>
              </a:rPr>
              <a:t>Functions and Attributes, Impact of Title and Keywords on Citations, Knowledge flow through Citations, Acknowledgments, and Attributions.</a:t>
            </a:r>
            <a:endParaRPr sz="1800" dirty="0">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endParaRPr/>
          </a:p>
        </p:txBody>
      </p:sp>
      <p:sp>
        <p:nvSpPr>
          <p:cNvPr id="110" name="Google Shape;110;p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indent="0" algn="ctr">
              <a:lnSpc>
                <a:spcPct val="150000"/>
              </a:lnSpc>
              <a:spcBef>
                <a:spcPts val="0"/>
              </a:spcBef>
              <a:buSzPts val="1800"/>
              <a:buNone/>
            </a:pPr>
            <a:r>
              <a:rPr lang="en-US" sz="1800" b="1" dirty="0">
                <a:solidFill>
                  <a:schemeClr val="accent5">
                    <a:lumMod val="75000"/>
                  </a:schemeClr>
                </a:solidFill>
                <a:latin typeface="Sitka Text Semibold" pitchFamily="2" charset="0"/>
                <a:ea typeface="Times New Roman"/>
                <a:cs typeface="Times New Roman"/>
                <a:sym typeface="Times New Roman"/>
              </a:rPr>
              <a:t>Unit II</a:t>
            </a:r>
            <a:endParaRPr sz="1800" b="1" dirty="0">
              <a:solidFill>
                <a:schemeClr val="accent5">
                  <a:lumMod val="75000"/>
                </a:schemeClr>
              </a:solidFill>
              <a:latin typeface="Sitka Text Semibold" pitchFamily="2" charset="0"/>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Research Design: </a:t>
            </a:r>
            <a:r>
              <a:rPr lang="en-US" sz="1800" dirty="0">
                <a:latin typeface="Times New Roman"/>
                <a:ea typeface="Times New Roman"/>
                <a:cs typeface="Times New Roman"/>
                <a:sym typeface="Times New Roman"/>
              </a:rPr>
              <a:t>Need for Research Design, Important Concepts Related to Research Design: Dependent and Independent Variables, Extraneous Variable, Variable, Common Control, Confounded Relationship, Research Hypothesis, Experimental and Control Groups, Treatments.</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Experimental Designs: </a:t>
            </a:r>
            <a:r>
              <a:rPr lang="en-US" sz="1800" dirty="0">
                <a:latin typeface="Times New Roman"/>
                <a:ea typeface="Times New Roman"/>
                <a:cs typeface="Times New Roman"/>
                <a:sym typeface="Times New Roman"/>
              </a:rPr>
              <a:t>Introduction to Randomised Block Design, Complete Randomised Design, Latin Square Design, and Factorial Design.</a:t>
            </a:r>
            <a:endParaRPr sz="1800" dirty="0">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endParaRPr/>
          </a:p>
        </p:txBody>
      </p:sp>
      <p:sp>
        <p:nvSpPr>
          <p:cNvPr id="116" name="Google Shape;116;p4"/>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ctr">
              <a:lnSpc>
                <a:spcPct val="150000"/>
              </a:lnSpc>
              <a:spcBef>
                <a:spcPts val="0"/>
              </a:spcBef>
              <a:buSzPts val="1800"/>
              <a:buNone/>
            </a:pPr>
            <a:r>
              <a:rPr lang="en-US" sz="1800" b="1" dirty="0">
                <a:solidFill>
                  <a:schemeClr val="accent5">
                    <a:lumMod val="75000"/>
                  </a:schemeClr>
                </a:solidFill>
                <a:latin typeface="Sitka Text Semibold" pitchFamily="2" charset="0"/>
                <a:ea typeface="Times New Roman"/>
                <a:cs typeface="Times New Roman"/>
                <a:sym typeface="Times New Roman"/>
              </a:rPr>
              <a:t>Unit III</a:t>
            </a:r>
            <a:endParaRPr sz="1800" b="1" dirty="0">
              <a:solidFill>
                <a:schemeClr val="accent5">
                  <a:lumMod val="75000"/>
                </a:schemeClr>
              </a:solidFill>
              <a:latin typeface="Sitka Text Semibold" pitchFamily="2" charset="0"/>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Method of Data Collection:  </a:t>
            </a:r>
            <a:r>
              <a:rPr lang="en-US" sz="1800" dirty="0">
                <a:latin typeface="Times New Roman"/>
                <a:ea typeface="Times New Roman"/>
                <a:cs typeface="Times New Roman"/>
                <a:sym typeface="Times New Roman"/>
              </a:rPr>
              <a:t>Primary and Secondary Data Collection. </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Sampling Design: </a:t>
            </a:r>
            <a:r>
              <a:rPr lang="en-US" sz="1800" dirty="0">
                <a:latin typeface="Times New Roman"/>
                <a:ea typeface="Times New Roman"/>
                <a:cs typeface="Times New Roman"/>
                <a:sym typeface="Times New Roman"/>
              </a:rPr>
              <a:t>Sampling fundamentals, Measurement, and Scaling Techniques, Criteria of Selecting a Sampling Procedure, Characteristics of a Good Sample Design, and Types of Sample Design. </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Data Analysis: </a:t>
            </a:r>
            <a:r>
              <a:rPr lang="en-US" sz="1800" dirty="0">
                <a:latin typeface="Times New Roman"/>
                <a:ea typeface="Times New Roman"/>
                <a:cs typeface="Times New Roman"/>
                <a:sym typeface="Times New Roman"/>
              </a:rPr>
              <a:t>Testing of Hypotheses: Null Hypothesis, Alternative Hypothesis, Type I and Type II Errors, Level of Significance. Procedure for Hypothesis Testing: Mean, Variance, Proportions. Chi-square Test, Analysis of Variance (One Way ANOVA), and Covariance (ANOCOVA)</a:t>
            </a:r>
            <a:endParaRPr sz="1800" dirty="0">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endParaRPr/>
          </a:p>
        </p:txBody>
      </p:sp>
      <p:sp>
        <p:nvSpPr>
          <p:cNvPr id="122" name="Google Shape;122;p5"/>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lgn="ctr">
              <a:lnSpc>
                <a:spcPct val="150000"/>
              </a:lnSpc>
              <a:spcBef>
                <a:spcPts val="0"/>
              </a:spcBef>
              <a:buSzPts val="1800"/>
              <a:buNone/>
            </a:pPr>
            <a:r>
              <a:rPr lang="en-US" sz="1800" b="1" dirty="0">
                <a:solidFill>
                  <a:schemeClr val="accent5">
                    <a:lumMod val="75000"/>
                  </a:schemeClr>
                </a:solidFill>
                <a:latin typeface="Sitka Text Semibold" pitchFamily="2" charset="0"/>
                <a:ea typeface="Times New Roman"/>
                <a:cs typeface="Times New Roman"/>
                <a:sym typeface="Times New Roman"/>
              </a:rPr>
              <a:t>Unit IV</a:t>
            </a:r>
            <a:endParaRPr sz="1800" b="1" dirty="0">
              <a:solidFill>
                <a:schemeClr val="accent5">
                  <a:lumMod val="75000"/>
                </a:schemeClr>
              </a:solidFill>
              <a:latin typeface="Sitka Text Semibold" pitchFamily="2" charset="0"/>
              <a:ea typeface="Times New Roman"/>
              <a:cs typeface="Times New Roman"/>
              <a:sym typeface="Times New Roman"/>
            </a:endParaRPr>
          </a:p>
          <a:p>
            <a:pPr marL="0" indent="0" algn="ctr">
              <a:lnSpc>
                <a:spcPct val="115000"/>
              </a:lnSpc>
              <a:spcBef>
                <a:spcPts val="360"/>
              </a:spcBef>
              <a:buSzPts val="1800"/>
              <a:buNone/>
            </a:pPr>
            <a:r>
              <a:rPr lang="en-US" sz="1800" b="1" dirty="0">
                <a:solidFill>
                  <a:srgbClr val="FF0000"/>
                </a:solidFill>
                <a:latin typeface="Times New Roman"/>
                <a:ea typeface="Times New Roman"/>
                <a:cs typeface="Times New Roman"/>
                <a:sym typeface="Times New Roman"/>
              </a:rPr>
              <a:t>Intellectual Property Rights</a:t>
            </a:r>
            <a:endParaRPr sz="1800" b="1" dirty="0">
              <a:solidFill>
                <a:srgbClr val="FF0000"/>
              </a:solidFill>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Introduction to IPR: </a:t>
            </a:r>
            <a:r>
              <a:rPr lang="en-US" sz="1800" dirty="0">
                <a:latin typeface="Times New Roman"/>
                <a:ea typeface="Times New Roman"/>
                <a:cs typeface="Times New Roman"/>
                <a:sym typeface="Times New Roman"/>
              </a:rPr>
              <a:t>Different forms of IPR, Role of IPR in Research and Development. TRIPS Agreement, Patent Cooperation Treaty (PCT).</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Patents:</a:t>
            </a:r>
            <a:r>
              <a:rPr lang="en-US" sz="1800" dirty="0">
                <a:latin typeface="Times New Roman"/>
                <a:ea typeface="Times New Roman"/>
                <a:cs typeface="Times New Roman"/>
                <a:sym typeface="Times New Roman"/>
              </a:rPr>
              <a:t> Brief history of Patents-Indian and Global Scenario, Principles Underlying Patent Law, Types of Patent Applications in India, Procedure for Obtaining a Patent. Non Patentable Inventions. Rights Conferred to a Patentee, Basmati Rice Patent Case.</a:t>
            </a:r>
            <a:endParaRPr sz="1800" dirty="0">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endParaRPr dirty="0"/>
          </a:p>
        </p:txBody>
      </p:sp>
    </p:spTree>
  </p:cSld>
  <p:clrMapOvr>
    <a:overrideClrMapping bg1="lt1" tx1="dk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endParaRPr/>
          </a:p>
        </p:txBody>
      </p:sp>
      <p:sp>
        <p:nvSpPr>
          <p:cNvPr id="128" name="Google Shape;128;p6"/>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ctr">
              <a:lnSpc>
                <a:spcPct val="150000"/>
              </a:lnSpc>
              <a:spcBef>
                <a:spcPts val="0"/>
              </a:spcBef>
              <a:buSzPts val="1800"/>
              <a:buNone/>
            </a:pPr>
            <a:r>
              <a:rPr lang="en-US" sz="1800" b="1" dirty="0">
                <a:solidFill>
                  <a:schemeClr val="accent5">
                    <a:lumMod val="75000"/>
                  </a:schemeClr>
                </a:solidFill>
                <a:latin typeface="Sitka Text Semibold" pitchFamily="2" charset="0"/>
                <a:ea typeface="Times New Roman"/>
                <a:cs typeface="Times New Roman"/>
                <a:sym typeface="Times New Roman"/>
              </a:rPr>
              <a:t>Unit V</a:t>
            </a:r>
            <a:endParaRPr sz="1800" b="1" dirty="0">
              <a:solidFill>
                <a:schemeClr val="accent5">
                  <a:lumMod val="75000"/>
                </a:schemeClr>
              </a:solidFill>
              <a:latin typeface="Sitka Text Semibold" pitchFamily="2" charset="0"/>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Design: </a:t>
            </a:r>
            <a:r>
              <a:rPr lang="en-US" sz="1800" dirty="0">
                <a:latin typeface="Times New Roman"/>
                <a:ea typeface="Times New Roman"/>
                <a:cs typeface="Times New Roman"/>
                <a:sym typeface="Times New Roman"/>
              </a:rPr>
              <a:t>What is a Design? Essential Requirements for a Registrable Design, Procedure of Registration of a Design, </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Trademarks:</a:t>
            </a:r>
            <a:r>
              <a:rPr lang="en-US" sz="1800" dirty="0">
                <a:latin typeface="Times New Roman"/>
                <a:ea typeface="Times New Roman"/>
                <a:cs typeface="Times New Roman"/>
                <a:sym typeface="Times New Roman"/>
              </a:rPr>
              <a:t> Essentials of a Trademark, Registration, and Protection of Trademarks, Rights Conferred by Registration of Trademarks, Infringements, Types of Reliefs, Case Studies.</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Copyrights:</a:t>
            </a:r>
            <a:r>
              <a:rPr lang="en-US" sz="1800" dirty="0">
                <a:latin typeface="Times New Roman"/>
                <a:ea typeface="Times New Roman"/>
                <a:cs typeface="Times New Roman"/>
                <a:sym typeface="Times New Roman"/>
              </a:rPr>
              <a:t> Characteristics of Copyrights, Rights Conferred by Registration of Copyrights, Registration of Copyrights, Infringements, Remedies against Infringement of Copyrights, Case studies</a:t>
            </a:r>
            <a:endParaRPr sz="1800" dirty="0">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r>
              <a:rPr lang="en-US" b="1" dirty="0">
                <a:solidFill>
                  <a:srgbClr val="7030A0"/>
                </a:solidFill>
                <a:latin typeface="Bernard MT Condensed" panose="02050806060905020404" pitchFamily="18" charset="0"/>
                <a:sym typeface="Times New Roman"/>
              </a:rPr>
              <a:t>Textbooks </a:t>
            </a:r>
            <a:br>
              <a:rPr lang="en-US" b="1" dirty="0">
                <a:solidFill>
                  <a:srgbClr val="7030A0"/>
                </a:solidFill>
                <a:latin typeface="Bernard MT Condensed" panose="02050806060905020404" pitchFamily="18" charset="0"/>
                <a:sym typeface="Times New Roman"/>
              </a:rPr>
            </a:br>
            <a:endParaRPr b="1" dirty="0">
              <a:solidFill>
                <a:srgbClr val="7030A0"/>
              </a:solidFill>
              <a:latin typeface="Bernard MT Condensed" panose="02050806060905020404" pitchFamily="18" charset="0"/>
            </a:endParaRPr>
          </a:p>
        </p:txBody>
      </p:sp>
      <p:sp>
        <p:nvSpPr>
          <p:cNvPr id="134" name="Google Shape;134;p7"/>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342900" lvl="0" indent="-342900" algn="just" rtl="0">
              <a:lnSpc>
                <a:spcPct val="115000"/>
              </a:lnSpc>
              <a:spcBef>
                <a:spcPts val="0"/>
              </a:spcBef>
              <a:spcAft>
                <a:spcPts val="0"/>
              </a:spcAft>
              <a:buClr>
                <a:schemeClr val="dk1"/>
              </a:buClr>
              <a:buSzPts val="1800"/>
              <a:buFont typeface="Calibri"/>
              <a:buAutoNum type="arabicPeriod"/>
            </a:pPr>
            <a:r>
              <a:rPr lang="en-US" sz="1800">
                <a:latin typeface="Times New Roman"/>
                <a:ea typeface="Times New Roman"/>
                <a:cs typeface="Times New Roman"/>
                <a:sym typeface="Times New Roman"/>
              </a:rPr>
              <a:t>C. R Kothari, Gourav Garg, Research Methodology – Methods and Techniques. New Age International Publishers.</a:t>
            </a:r>
            <a:endParaRPr sz="1800">
              <a:latin typeface="Times New Roman"/>
              <a:ea typeface="Times New Roman"/>
              <a:cs typeface="Times New Roman"/>
              <a:sym typeface="Times New Roman"/>
            </a:endParaRPr>
          </a:p>
          <a:p>
            <a:pPr marL="342900" lvl="0" indent="-342900" algn="l" rtl="0">
              <a:lnSpc>
                <a:spcPct val="115000"/>
              </a:lnSpc>
              <a:spcBef>
                <a:spcPts val="1160"/>
              </a:spcBef>
              <a:spcAft>
                <a:spcPts val="0"/>
              </a:spcAft>
              <a:buClr>
                <a:schemeClr val="dk1"/>
              </a:buClr>
              <a:buSzPts val="1800"/>
              <a:buFont typeface="Calibri"/>
              <a:buAutoNum type="arabicPeriod"/>
            </a:pPr>
            <a:r>
              <a:rPr lang="en-US" sz="1800">
                <a:latin typeface="Times New Roman"/>
                <a:ea typeface="Times New Roman"/>
                <a:cs typeface="Times New Roman"/>
                <a:sym typeface="Times New Roman"/>
              </a:rPr>
              <a:t>Dr. B L Wadehra – Law relating to Intellectual property. Universal Law Publishing Co.</a:t>
            </a:r>
            <a:endParaRPr sz="1800">
              <a:latin typeface="Times New Roman"/>
              <a:ea typeface="Times New Roman"/>
              <a:cs typeface="Times New Roman"/>
              <a:sym typeface="Times New Roman"/>
            </a:endParaRPr>
          </a:p>
          <a:p>
            <a:pPr marL="342900" lvl="0" indent="-34290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Dipankar Deb, Rajeeb Dey, Valentina E. Balas “Engineering Research Methodology”, ISSN 1868-4394 ISSN 1868-4408 (electronic), Intelligent Systems Reference Library, ISBN 978-981-13-2946-3 ISBN 978-981-13-2947-0 (eBook), </a:t>
            </a:r>
            <a:r>
              <a:rPr lang="en-US" sz="1800" u="sng">
                <a:solidFill>
                  <a:srgbClr val="0000FF"/>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https://doi.org/10.1007/978-981-13-2947-0</a:t>
            </a:r>
            <a:r>
              <a:rPr lang="en-US" sz="1800">
                <a:latin typeface="Times New Roman"/>
                <a:ea typeface="Times New Roman"/>
                <a:cs typeface="Times New Roman"/>
                <a:sym typeface="Times New Roman"/>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r>
              <a:rPr lang="en-US" b="1" dirty="0">
                <a:solidFill>
                  <a:srgbClr val="7030A0"/>
                </a:solidFill>
                <a:latin typeface="Bernard MT Condensed" panose="02050806060905020404" pitchFamily="18" charset="0"/>
                <a:sym typeface="Times New Roman"/>
              </a:rPr>
              <a:t>Reference Books</a:t>
            </a:r>
            <a:endParaRPr b="1" dirty="0">
              <a:solidFill>
                <a:srgbClr val="7030A0"/>
              </a:solidFill>
              <a:latin typeface="Bernard MT Condensed" panose="02050806060905020404" pitchFamily="18" charset="0"/>
            </a:endParaRPr>
          </a:p>
        </p:txBody>
      </p:sp>
      <p:sp>
        <p:nvSpPr>
          <p:cNvPr id="140" name="Google Shape;140;p8"/>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235584" lvl="0" indent="0" algn="just" rtl="0">
              <a:lnSpc>
                <a:spcPct val="115000"/>
              </a:lnSpc>
              <a:spcBef>
                <a:spcPts val="0"/>
              </a:spcBef>
              <a:spcAft>
                <a:spcPts val="0"/>
              </a:spcAft>
              <a:buClr>
                <a:schemeClr val="dk1"/>
              </a:buClr>
              <a:buSzPts val="1800"/>
              <a:buNone/>
            </a:pPr>
            <a:r>
              <a:rPr lang="en-US" sz="1800" b="1">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marL="342900" lvl="0" indent="-342900" algn="just" rtl="0">
              <a:lnSpc>
                <a:spcPct val="115000"/>
              </a:lnSpc>
              <a:spcBef>
                <a:spcPts val="360"/>
              </a:spcBef>
              <a:spcAft>
                <a:spcPts val="0"/>
              </a:spcAft>
              <a:buClr>
                <a:schemeClr val="dk1"/>
              </a:buClr>
              <a:buSzPts val="1800"/>
              <a:buFont typeface="Calibri"/>
              <a:buAutoNum type="arabicPeriod"/>
            </a:pPr>
            <a:r>
              <a:rPr lang="en-US" sz="1800">
                <a:latin typeface="Times New Roman"/>
                <a:ea typeface="Times New Roman"/>
                <a:cs typeface="Times New Roman"/>
                <a:sym typeface="Times New Roman"/>
              </a:rPr>
              <a:t>David V. Thiel “Research Methods for Engineers” Cambridge University Press, 978-1-107-03488-4 </a:t>
            </a:r>
            <a:endParaRPr sz="1800">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Times New Roman"/>
              <a:buNone/>
            </a:pPr>
            <a:r>
              <a:rPr lang="en-US" b="1" dirty="0">
                <a:solidFill>
                  <a:srgbClr val="7030A0"/>
                </a:solidFill>
                <a:latin typeface="Bernard MT Condensed" panose="02050806060905020404" pitchFamily="18" charset="0"/>
                <a:sym typeface="Times New Roman"/>
              </a:rPr>
              <a:t>Course Outcomes</a:t>
            </a:r>
            <a:br>
              <a:rPr lang="en-US" sz="4400" dirty="0">
                <a:latin typeface="Times New Roman"/>
                <a:ea typeface="Times New Roman"/>
                <a:cs typeface="Times New Roman"/>
                <a:sym typeface="Times New Roman"/>
              </a:rPr>
            </a:br>
            <a:endParaRPr dirty="0"/>
          </a:p>
        </p:txBody>
      </p:sp>
      <p:sp>
        <p:nvSpPr>
          <p:cNvPr id="146" name="Google Shape;146;p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0"/>
              </a:spcBef>
              <a:spcAft>
                <a:spcPts val="0"/>
              </a:spcAft>
              <a:buClr>
                <a:schemeClr val="dk1"/>
              </a:buClr>
              <a:buSzPts val="1800"/>
              <a:buNone/>
            </a:pPr>
            <a:r>
              <a:rPr lang="en-US" sz="1800" dirty="0">
                <a:latin typeface="Times New Roman"/>
                <a:ea typeface="Times New Roman"/>
                <a:cs typeface="Times New Roman"/>
                <a:sym typeface="Times New Roman"/>
              </a:rPr>
              <a:t>At the end of the course, the student will be able to: </a:t>
            </a:r>
            <a:endParaRPr sz="1800" dirty="0">
              <a:latin typeface="Times New Roman"/>
              <a:ea typeface="Times New Roman"/>
              <a:cs typeface="Times New Roman"/>
              <a:sym typeface="Times New Roman"/>
            </a:endParaRPr>
          </a:p>
          <a:p>
            <a:pPr marL="342900" lvl="0" indent="-342900" algn="just" rtl="0">
              <a:lnSpc>
                <a:spcPct val="115000"/>
              </a:lnSpc>
              <a:spcBef>
                <a:spcPts val="360"/>
              </a:spcBef>
              <a:spcAft>
                <a:spcPts val="0"/>
              </a:spcAft>
              <a:buClr>
                <a:schemeClr val="dk1"/>
              </a:buClr>
              <a:buSzPts val="1800"/>
              <a:buFont typeface="Calibri"/>
              <a:buAutoNum type="arabicPeriod"/>
            </a:pPr>
            <a:r>
              <a:rPr lang="en-US" sz="1800" b="1" dirty="0">
                <a:solidFill>
                  <a:schemeClr val="accent2">
                    <a:lumMod val="75000"/>
                  </a:schemeClr>
                </a:solidFill>
                <a:latin typeface="Times New Roman"/>
                <a:ea typeface="Times New Roman"/>
                <a:cs typeface="Times New Roman"/>
                <a:sym typeface="Times New Roman"/>
              </a:rPr>
              <a:t>Possess </a:t>
            </a:r>
            <a:r>
              <a:rPr lang="en-US" sz="1800" dirty="0">
                <a:latin typeface="Times New Roman"/>
                <a:ea typeface="Times New Roman"/>
                <a:cs typeface="Times New Roman"/>
                <a:sym typeface="Times New Roman"/>
              </a:rPr>
              <a:t>the knowledge of research and conduct a literature review</a:t>
            </a:r>
            <a:r>
              <a:rPr lang="en-US" sz="1800" b="1" dirty="0">
                <a:latin typeface="Times New Roman"/>
                <a:ea typeface="Times New Roman"/>
                <a:cs typeface="Times New Roman"/>
                <a:sym typeface="Times New Roman"/>
              </a:rPr>
              <a:t>.</a:t>
            </a:r>
            <a:r>
              <a:rPr lang="en-US" sz="1800" dirty="0">
                <a:latin typeface="Times New Roman"/>
                <a:ea typeface="Times New Roman"/>
                <a:cs typeface="Times New Roman"/>
                <a:sym typeface="Times New Roman"/>
              </a:rPr>
              <a:t>  </a:t>
            </a:r>
            <a:endParaRPr sz="1800" dirty="0">
              <a:latin typeface="Times New Roman"/>
              <a:ea typeface="Times New Roman"/>
              <a:cs typeface="Times New Roman"/>
              <a:sym typeface="Times New Roman"/>
            </a:endParaRPr>
          </a:p>
          <a:p>
            <a:pPr marL="342900" lvl="0" indent="-342900" algn="just" rtl="0">
              <a:lnSpc>
                <a:spcPct val="115000"/>
              </a:lnSpc>
              <a:spcBef>
                <a:spcPts val="360"/>
              </a:spcBef>
              <a:spcAft>
                <a:spcPts val="0"/>
              </a:spcAft>
              <a:buClr>
                <a:schemeClr val="dk1"/>
              </a:buClr>
              <a:buSzPts val="1800"/>
              <a:buFont typeface="Calibri"/>
              <a:buAutoNum type="arabicPeriod"/>
            </a:pPr>
            <a:r>
              <a:rPr lang="en-US" sz="1800" b="1" dirty="0">
                <a:solidFill>
                  <a:schemeClr val="accent2">
                    <a:lumMod val="75000"/>
                  </a:schemeClr>
                </a:solidFill>
                <a:latin typeface="Times New Roman"/>
                <a:ea typeface="Times New Roman"/>
                <a:cs typeface="Times New Roman"/>
                <a:sym typeface="Times New Roman"/>
              </a:rPr>
              <a:t>Apply </a:t>
            </a:r>
            <a:r>
              <a:rPr lang="en-US" sz="1800" dirty="0">
                <a:latin typeface="Times New Roman"/>
                <a:ea typeface="Times New Roman"/>
                <a:cs typeface="Times New Roman"/>
                <a:sym typeface="Times New Roman"/>
              </a:rPr>
              <a:t>the knowledge of research design and design of experiments. </a:t>
            </a:r>
            <a:endParaRPr sz="1800" dirty="0">
              <a:latin typeface="Times New Roman"/>
              <a:ea typeface="Times New Roman"/>
              <a:cs typeface="Times New Roman"/>
              <a:sym typeface="Times New Roman"/>
            </a:endParaRPr>
          </a:p>
          <a:p>
            <a:pPr marL="342900" lvl="0" indent="-342900" algn="just" rtl="0">
              <a:lnSpc>
                <a:spcPct val="115000"/>
              </a:lnSpc>
              <a:spcBef>
                <a:spcPts val="360"/>
              </a:spcBef>
              <a:spcAft>
                <a:spcPts val="0"/>
              </a:spcAft>
              <a:buClr>
                <a:schemeClr val="dk1"/>
              </a:buClr>
              <a:buSzPts val="1800"/>
              <a:buFont typeface="Calibri"/>
              <a:buAutoNum type="arabicPeriod"/>
            </a:pPr>
            <a:r>
              <a:rPr lang="en-US" sz="1800" b="1" dirty="0">
                <a:solidFill>
                  <a:schemeClr val="accent2">
                    <a:lumMod val="75000"/>
                  </a:schemeClr>
                </a:solidFill>
                <a:latin typeface="Times New Roman"/>
                <a:ea typeface="Times New Roman"/>
                <a:cs typeface="Times New Roman"/>
                <a:sym typeface="Times New Roman"/>
              </a:rPr>
              <a:t>Analyze </a:t>
            </a:r>
            <a:r>
              <a:rPr lang="en-US" sz="1800" dirty="0">
                <a:latin typeface="Times New Roman"/>
                <a:ea typeface="Times New Roman"/>
                <a:cs typeface="Times New Roman"/>
                <a:sym typeface="Times New Roman"/>
              </a:rPr>
              <a:t>data collection methods, analysis, and sampling design. </a:t>
            </a:r>
            <a:endParaRPr sz="1800" dirty="0">
              <a:latin typeface="Times New Roman"/>
              <a:ea typeface="Times New Roman"/>
              <a:cs typeface="Times New Roman"/>
              <a:sym typeface="Times New Roman"/>
            </a:endParaRPr>
          </a:p>
          <a:p>
            <a:pPr marL="342900" lvl="0" indent="-342900" algn="just" rtl="0">
              <a:lnSpc>
                <a:spcPct val="115000"/>
              </a:lnSpc>
              <a:spcBef>
                <a:spcPts val="360"/>
              </a:spcBef>
              <a:spcAft>
                <a:spcPts val="0"/>
              </a:spcAft>
              <a:buClr>
                <a:schemeClr val="dk1"/>
              </a:buClr>
              <a:buSzPts val="1800"/>
              <a:buFont typeface="Calibri"/>
              <a:buAutoNum type="arabicPeriod"/>
            </a:pPr>
            <a:r>
              <a:rPr lang="en-US" sz="1800" b="1" dirty="0">
                <a:solidFill>
                  <a:schemeClr val="accent2">
                    <a:lumMod val="75000"/>
                  </a:schemeClr>
                </a:solidFill>
                <a:latin typeface="Times New Roman"/>
                <a:ea typeface="Times New Roman"/>
                <a:cs typeface="Times New Roman"/>
                <a:sym typeface="Times New Roman"/>
              </a:rPr>
              <a:t>Understand </a:t>
            </a:r>
            <a:r>
              <a:rPr lang="en-US" sz="1800" dirty="0">
                <a:latin typeface="Times New Roman"/>
                <a:ea typeface="Times New Roman"/>
                <a:cs typeface="Times New Roman"/>
                <a:sym typeface="Times New Roman"/>
              </a:rPr>
              <a:t>the global and Indian scenarios of patents and patent applications. </a:t>
            </a:r>
            <a:endParaRPr sz="1800" dirty="0">
              <a:latin typeface="Times New Roman"/>
              <a:ea typeface="Times New Roman"/>
              <a:cs typeface="Times New Roman"/>
              <a:sym typeface="Times New Roman"/>
            </a:endParaRPr>
          </a:p>
          <a:p>
            <a:pPr marL="342900" lvl="0" indent="-342900" algn="just" rtl="0">
              <a:lnSpc>
                <a:spcPct val="115000"/>
              </a:lnSpc>
              <a:spcBef>
                <a:spcPts val="360"/>
              </a:spcBef>
              <a:spcAft>
                <a:spcPts val="0"/>
              </a:spcAft>
              <a:buClr>
                <a:schemeClr val="dk1"/>
              </a:buClr>
              <a:buSzPts val="1800"/>
              <a:buFont typeface="Calibri"/>
              <a:buAutoNum type="arabicPeriod"/>
            </a:pPr>
            <a:r>
              <a:rPr lang="en-US" sz="1800" b="1" dirty="0">
                <a:solidFill>
                  <a:schemeClr val="accent2">
                    <a:lumMod val="75000"/>
                  </a:schemeClr>
                </a:solidFill>
                <a:latin typeface="Times New Roman"/>
                <a:ea typeface="Times New Roman"/>
                <a:cs typeface="Times New Roman"/>
                <a:sym typeface="Times New Roman"/>
              </a:rPr>
              <a:t>Acquire</a:t>
            </a:r>
            <a:r>
              <a:rPr lang="en-US" sz="1800" dirty="0">
                <a:latin typeface="Times New Roman"/>
                <a:ea typeface="Times New Roman"/>
                <a:cs typeface="Times New Roman"/>
                <a:sym typeface="Times New Roman"/>
              </a:rPr>
              <a:t> the requirements of registration and infringements related to trademarks, copyrights, and designs. </a:t>
            </a:r>
            <a:endParaRPr sz="1800" dirty="0">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endParaRPr dirty="0"/>
          </a:p>
        </p:txBody>
      </p:sp>
    </p:spTree>
  </p:cSld>
  <p:clrMapOvr>
    <a:overrideClrMapping bg1="lt1" tx1="dk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r>
              <a:rPr lang="en-US" b="1" dirty="0">
                <a:solidFill>
                  <a:srgbClr val="7030A0"/>
                </a:solidFill>
                <a:latin typeface="Bernard MT Condensed" panose="02050806060905020404" pitchFamily="18" charset="0"/>
              </a:rPr>
              <a:t>Course Assessment</a:t>
            </a:r>
            <a:endParaRPr b="1" dirty="0">
              <a:solidFill>
                <a:srgbClr val="7030A0"/>
              </a:solidFill>
              <a:latin typeface="Bernard MT Condensed" panose="02050806060905020404" pitchFamily="18" charset="0"/>
            </a:endParaRPr>
          </a:p>
        </p:txBody>
      </p:sp>
      <p:sp>
        <p:nvSpPr>
          <p:cNvPr id="152" name="Google Shape;152;p10"/>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Char char="•"/>
            </a:pPr>
            <a:r>
              <a:rPr lang="en-US" dirty="0"/>
              <a:t>CIE- 30 Marks</a:t>
            </a:r>
            <a:endParaRPr dirty="0"/>
          </a:p>
          <a:p>
            <a:pPr marL="342900" lvl="0" indent="-342900" algn="l" rtl="0">
              <a:spcBef>
                <a:spcPts val="640"/>
              </a:spcBef>
              <a:spcAft>
                <a:spcPts val="0"/>
              </a:spcAft>
              <a:buClr>
                <a:schemeClr val="dk1"/>
              </a:buClr>
              <a:buSzPts val="3200"/>
              <a:buChar char="•"/>
            </a:pPr>
            <a:r>
              <a:rPr lang="en-US" dirty="0"/>
              <a:t>Quiz– 10 Marks</a:t>
            </a:r>
          </a:p>
          <a:p>
            <a:pPr marL="342900" lvl="0" indent="-342900" algn="l" rtl="0">
              <a:spcBef>
                <a:spcPts val="640"/>
              </a:spcBef>
              <a:spcAft>
                <a:spcPts val="0"/>
              </a:spcAft>
              <a:buClr>
                <a:schemeClr val="dk1"/>
              </a:buClr>
              <a:buSzPts val="3200"/>
              <a:buChar char="•"/>
            </a:pPr>
            <a:r>
              <a:rPr lang="en-US" dirty="0"/>
              <a:t>Numerical Test-10 Marks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000099"/>
              </a:buClr>
              <a:buSzPts val="3200"/>
              <a:buNone/>
            </a:pPr>
            <a:r>
              <a:rPr lang="en-US" sz="3200" b="1">
                <a:solidFill>
                  <a:srgbClr val="000099"/>
                </a:solidFill>
                <a:latin typeface="Arial"/>
                <a:ea typeface="Arial"/>
                <a:cs typeface="Arial"/>
                <a:sym typeface="Arial"/>
              </a:rPr>
              <a:t>“Science is not belief, but the will to find out.”</a:t>
            </a:r>
            <a:endParaRPr/>
          </a:p>
          <a:p>
            <a:pPr marL="0" lvl="0" indent="0" algn="ctr" rtl="0">
              <a:spcBef>
                <a:spcPts val="640"/>
              </a:spcBef>
              <a:spcAft>
                <a:spcPts val="0"/>
              </a:spcAft>
              <a:buClr>
                <a:schemeClr val="dk1"/>
              </a:buClr>
              <a:buSzPts val="3200"/>
              <a:buNone/>
            </a:pPr>
            <a:endParaRPr b="1">
              <a:solidFill>
                <a:srgbClr val="000099"/>
              </a:solidFill>
              <a:latin typeface="Arial"/>
              <a:ea typeface="Arial"/>
              <a:cs typeface="Arial"/>
              <a:sym typeface="Arial"/>
            </a:endParaRPr>
          </a:p>
          <a:p>
            <a:pPr marL="0" lvl="0" indent="0" algn="ctr" rtl="0">
              <a:spcBef>
                <a:spcPts val="640"/>
              </a:spcBef>
              <a:spcAft>
                <a:spcPts val="0"/>
              </a:spcAft>
              <a:buClr>
                <a:srgbClr val="000099"/>
              </a:buClr>
              <a:buSzPts val="3200"/>
              <a:buNone/>
            </a:pPr>
            <a:r>
              <a:rPr lang="en-US" sz="3200" b="1">
                <a:solidFill>
                  <a:srgbClr val="000099"/>
                </a:solidFill>
                <a:latin typeface="Arial"/>
                <a:ea typeface="Arial"/>
                <a:cs typeface="Arial"/>
                <a:sym typeface="Arial"/>
              </a:rPr>
              <a:t> </a:t>
            </a:r>
            <a:endParaRPr/>
          </a:p>
          <a:p>
            <a:pPr marL="0" lvl="0" indent="0" algn="l" rtl="0">
              <a:spcBef>
                <a:spcPts val="640"/>
              </a:spcBef>
              <a:spcAft>
                <a:spcPts val="0"/>
              </a:spcAft>
              <a:buClr>
                <a:schemeClr val="dk1"/>
              </a:buClr>
              <a:buSzPts val="3200"/>
              <a:buNone/>
            </a:pPr>
            <a:endParaRPr/>
          </a:p>
        </p:txBody>
      </p:sp>
      <p:pic>
        <p:nvPicPr>
          <p:cNvPr id="158" name="Google Shape;158;p11" descr="Thank You Images – Browse 245,201 Stock Photos, Vectors, and ..."/>
          <p:cNvPicPr preferRelativeResize="0"/>
          <p:nvPr/>
        </p:nvPicPr>
        <p:blipFill rotWithShape="1">
          <a:blip r:embed="rId3">
            <a:alphaModFix/>
          </a:blip>
          <a:srcRect/>
          <a:stretch/>
        </p:blipFill>
        <p:spPr>
          <a:xfrm>
            <a:off x="4267200" y="2895599"/>
            <a:ext cx="3581400" cy="2856053"/>
          </a:xfrm>
          <a:prstGeom prst="rect">
            <a:avLst/>
          </a:prstGeom>
          <a:noFill/>
          <a:ln>
            <a:noFill/>
          </a:ln>
        </p:spPr>
      </p:pic>
    </p:spTree>
    <p:extLst>
      <p:ext uri="{BB962C8B-B14F-4D97-AF65-F5344CB8AC3E}">
        <p14:creationId xmlns:p14="http://schemas.microsoft.com/office/powerpoint/2010/main" val="174372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4294967295"/>
          </p:nvPr>
        </p:nvSpPr>
        <p:spPr>
          <a:xfrm>
            <a:off x="913774" y="914400"/>
            <a:ext cx="10363826" cy="3917659"/>
          </a:xfrm>
        </p:spPr>
        <p:txBody>
          <a:bodyPr>
            <a:normAutofit/>
          </a:bodyPr>
          <a:lstStyle/>
          <a:p>
            <a:pPr marL="0" indent="0" algn="ctr">
              <a:buNone/>
            </a:pPr>
            <a:r>
              <a:rPr lang="en-US" sz="6000" dirty="0"/>
              <a:t>Research Methodology </a:t>
            </a:r>
          </a:p>
          <a:p>
            <a:pPr marL="0" indent="0" algn="ctr">
              <a:buNone/>
            </a:pPr>
            <a:r>
              <a:rPr lang="en-US" sz="6000" dirty="0"/>
              <a:t>AND </a:t>
            </a:r>
          </a:p>
          <a:p>
            <a:pPr marL="0" indent="0" algn="ctr">
              <a:buNone/>
            </a:pPr>
            <a:r>
              <a:rPr lang="en-US" sz="6000" dirty="0"/>
              <a:t>Intellectual property rights</a:t>
            </a:r>
            <a:endParaRPr lang="en-IN" sz="6000" dirty="0"/>
          </a:p>
        </p:txBody>
      </p:sp>
    </p:spTree>
    <p:extLst>
      <p:ext uri="{BB962C8B-B14F-4D97-AF65-F5344CB8AC3E}">
        <p14:creationId xmlns:p14="http://schemas.microsoft.com/office/powerpoint/2010/main" val="2804791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7030A0"/>
                </a:solidFill>
                <a:latin typeface="Bernard MT Condensed" panose="02050806060905020404" pitchFamily="18" charset="0"/>
              </a:rPr>
              <a:t>Research Methodology</a:t>
            </a:r>
            <a:endParaRPr lang="en-IN" b="1" dirty="0">
              <a:solidFill>
                <a:srgbClr val="7030A0"/>
              </a:solidFill>
              <a:latin typeface="Bernard MT Condensed" panose="02050806060905020404" pitchFamily="18" charset="0"/>
            </a:endParaRPr>
          </a:p>
        </p:txBody>
      </p:sp>
      <p:sp>
        <p:nvSpPr>
          <p:cNvPr id="3" name="Content Placeholder 2"/>
          <p:cNvSpPr>
            <a:spLocks noGrp="1"/>
          </p:cNvSpPr>
          <p:nvPr>
            <p:ph type="body" idx="1"/>
          </p:nvPr>
        </p:nvSpPr>
        <p:spPr/>
        <p:txBody>
          <a:bodyPr>
            <a:normAutofit/>
          </a:bodyPr>
          <a:lstStyle/>
          <a:p>
            <a:pPr algn="just"/>
            <a:r>
              <a:rPr lang="en-US" cap="none" dirty="0">
                <a:latin typeface="Bell MT" panose="02020503060305020303" pitchFamily="18" charset="0"/>
                <a:ea typeface="Verdana" panose="020B0604030504040204" pitchFamily="34" charset="0"/>
              </a:rPr>
              <a:t>Composed of two syllables “Re” and “Search”.</a:t>
            </a:r>
          </a:p>
          <a:p>
            <a:pPr algn="just"/>
            <a:r>
              <a:rPr lang="en-US" cap="none" dirty="0">
                <a:latin typeface="Bell MT" panose="02020503060305020303" pitchFamily="18" charset="0"/>
                <a:ea typeface="Verdana" panose="020B0604030504040204" pitchFamily="34" charset="0"/>
              </a:rPr>
              <a:t>“Re”=‘Again or over again or a new’ and </a:t>
            </a:r>
          </a:p>
          <a:p>
            <a:pPr algn="just"/>
            <a:r>
              <a:rPr lang="en-US" cap="none" dirty="0">
                <a:latin typeface="Bell MT" panose="02020503060305020303" pitchFamily="18" charset="0"/>
                <a:ea typeface="Verdana" panose="020B0604030504040204" pitchFamily="34" charset="0"/>
              </a:rPr>
              <a:t>“Search”=is the latter meaning ‘to examine closely and carefully’ or ‘to test and try’ </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2376079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104" y="977004"/>
            <a:ext cx="10972800" cy="1143000"/>
          </a:xfrm>
        </p:spPr>
        <p:txBody>
          <a:bodyPr/>
          <a:lstStyle/>
          <a:p>
            <a:r>
              <a:rPr lang="en-US" b="1" dirty="0">
                <a:solidFill>
                  <a:srgbClr val="6600FF"/>
                </a:solidFill>
              </a:rPr>
              <a:t>Meaning of Research</a:t>
            </a:r>
            <a:endParaRPr lang="en-IN" b="1" dirty="0">
              <a:solidFill>
                <a:srgbClr val="6600FF"/>
              </a:solidFill>
            </a:endParaRPr>
          </a:p>
        </p:txBody>
      </p:sp>
      <p:sp>
        <p:nvSpPr>
          <p:cNvPr id="3" name="Content Placeholder 2"/>
          <p:cNvSpPr>
            <a:spLocks noGrp="1"/>
          </p:cNvSpPr>
          <p:nvPr>
            <p:ph sz="quarter" idx="4294967295"/>
          </p:nvPr>
        </p:nvSpPr>
        <p:spPr/>
        <p:txBody>
          <a:bodyPr/>
          <a:lstStyle/>
          <a:p>
            <a:pPr algn="just"/>
            <a:endParaRPr lang="en-IN" cap="none" dirty="0">
              <a:latin typeface="Bell MT" panose="02020503060305020303" pitchFamily="18" charset="0"/>
              <a:ea typeface="Verdana" panose="020B0604030504040204" pitchFamily="34" charset="0"/>
            </a:endParaRPr>
          </a:p>
        </p:txBody>
      </p:sp>
      <p:pic>
        <p:nvPicPr>
          <p:cNvPr id="5" name="Picture 4"/>
          <p:cNvPicPr>
            <a:picLocks noChangeAspect="1"/>
          </p:cNvPicPr>
          <p:nvPr/>
        </p:nvPicPr>
        <p:blipFill>
          <a:blip r:embed="rId2"/>
          <a:stretch>
            <a:fillRect/>
          </a:stretch>
        </p:blipFill>
        <p:spPr>
          <a:xfrm>
            <a:off x="8901139" y="3406601"/>
            <a:ext cx="2124371" cy="2067213"/>
          </a:xfrm>
          <a:prstGeom prst="rect">
            <a:avLst/>
          </a:prstGeom>
        </p:spPr>
      </p:pic>
      <p:sp>
        <p:nvSpPr>
          <p:cNvPr id="4" name="Rectangle 3"/>
          <p:cNvSpPr/>
          <p:nvPr/>
        </p:nvSpPr>
        <p:spPr>
          <a:xfrm>
            <a:off x="393242" y="2263530"/>
            <a:ext cx="11321680" cy="2677656"/>
          </a:xfrm>
          <a:prstGeom prst="rect">
            <a:avLst/>
          </a:prstGeom>
        </p:spPr>
        <p:txBody>
          <a:bodyPr wrap="square">
            <a:spAutoFit/>
          </a:bodyPr>
          <a:lstStyle/>
          <a:p>
            <a:pPr algn="just"/>
            <a:r>
              <a:rPr lang="en-US" sz="2800" dirty="0">
                <a:latin typeface="Bell MT" panose="02020503060305020303" pitchFamily="18" charset="0"/>
                <a:ea typeface="Verdana" panose="020B0604030504040204" pitchFamily="34" charset="0"/>
              </a:rPr>
              <a:t>Search for knowledge</a:t>
            </a:r>
          </a:p>
          <a:p>
            <a:pPr algn="just"/>
            <a:r>
              <a:rPr lang="en-US" sz="2800" dirty="0">
                <a:latin typeface="Bell MT" panose="02020503060305020303" pitchFamily="18" charset="0"/>
                <a:ea typeface="Verdana" panose="020B0604030504040204" pitchFamily="34" charset="0"/>
              </a:rPr>
              <a:t>Scientific and systematic search for pertinent information on a specific topic</a:t>
            </a:r>
          </a:p>
          <a:p>
            <a:pPr algn="just"/>
            <a:r>
              <a:rPr lang="en-US" sz="2800" dirty="0">
                <a:latin typeface="Bell MT" panose="02020503060305020303" pitchFamily="18" charset="0"/>
                <a:ea typeface="Verdana" panose="020B0604030504040204" pitchFamily="34" charset="0"/>
              </a:rPr>
              <a:t>An art of scientific investigation</a:t>
            </a:r>
          </a:p>
          <a:p>
            <a:pPr algn="just"/>
            <a:r>
              <a:rPr lang="en-US" sz="2800" dirty="0">
                <a:latin typeface="Bell MT" panose="02020503060305020303" pitchFamily="18" charset="0"/>
                <a:ea typeface="Verdana" panose="020B0604030504040204" pitchFamily="34" charset="0"/>
              </a:rPr>
              <a:t>Systematized effort to gain new knowledge</a:t>
            </a:r>
          </a:p>
          <a:p>
            <a:pPr algn="just"/>
            <a:r>
              <a:rPr lang="en-US" sz="2800" dirty="0">
                <a:latin typeface="Bell MT" panose="02020503060305020303" pitchFamily="18" charset="0"/>
                <a:ea typeface="Verdana" panose="020B0604030504040204" pitchFamily="34" charset="0"/>
              </a:rPr>
              <a:t>A movement from the known to the unknown. </a:t>
            </a:r>
          </a:p>
          <a:p>
            <a:pPr algn="just"/>
            <a:r>
              <a:rPr lang="en-US" sz="2800" dirty="0">
                <a:latin typeface="Bell MT" panose="02020503060305020303" pitchFamily="18" charset="0"/>
                <a:ea typeface="Verdana" panose="020B0604030504040204" pitchFamily="34" charset="0"/>
              </a:rPr>
              <a:t>It is actually a voyage of discovery</a:t>
            </a:r>
            <a:endParaRPr lang="en-IN" sz="2800"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1948368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rgbClr val="6600FF"/>
                </a:solidFill>
              </a:rPr>
              <a:t>research comprises</a:t>
            </a:r>
          </a:p>
        </p:txBody>
      </p:sp>
      <p:sp>
        <p:nvSpPr>
          <p:cNvPr id="3" name="Content Placeholder 2"/>
          <p:cNvSpPr>
            <a:spLocks noGrp="1"/>
          </p:cNvSpPr>
          <p:nvPr>
            <p:ph type="body" idx="1"/>
          </p:nvPr>
        </p:nvSpPr>
        <p:spPr/>
        <p:txBody>
          <a:bodyPr>
            <a:normAutofit/>
          </a:bodyPr>
          <a:lstStyle/>
          <a:p>
            <a:pPr algn="just"/>
            <a:r>
              <a:rPr lang="en-US" cap="none" dirty="0">
                <a:latin typeface="Bell MT" panose="02020503060305020303" pitchFamily="18" charset="0"/>
                <a:ea typeface="Verdana" panose="020B0604030504040204" pitchFamily="34" charset="0"/>
              </a:rPr>
              <a:t>defining and redefining problems,</a:t>
            </a:r>
          </a:p>
          <a:p>
            <a:pPr algn="just"/>
            <a:r>
              <a:rPr lang="en-US" cap="none" dirty="0">
                <a:latin typeface="Bell MT" panose="02020503060305020303" pitchFamily="18" charset="0"/>
                <a:ea typeface="Verdana" panose="020B0604030504040204" pitchFamily="34" charset="0"/>
              </a:rPr>
              <a:t>formulating hypothesis or suggested solutions; </a:t>
            </a:r>
          </a:p>
          <a:p>
            <a:pPr algn="just"/>
            <a:r>
              <a:rPr lang="en-US" cap="none" dirty="0">
                <a:latin typeface="Bell MT" panose="02020503060305020303" pitchFamily="18" charset="0"/>
                <a:ea typeface="Verdana" panose="020B0604030504040204" pitchFamily="34" charset="0"/>
              </a:rPr>
              <a:t>collecting, organizing and evaluating data;</a:t>
            </a:r>
          </a:p>
          <a:p>
            <a:pPr algn="just"/>
            <a:r>
              <a:rPr lang="en-US" cap="none" dirty="0">
                <a:latin typeface="Bell MT" panose="02020503060305020303" pitchFamily="18" charset="0"/>
                <a:ea typeface="Verdana" panose="020B0604030504040204" pitchFamily="34" charset="0"/>
              </a:rPr>
              <a:t> making deductions and reaching conclusions;</a:t>
            </a:r>
          </a:p>
          <a:p>
            <a:pPr algn="just"/>
            <a:r>
              <a:rPr lang="en-US" cap="none" dirty="0">
                <a:latin typeface="Bell MT" panose="02020503060305020303" pitchFamily="18" charset="0"/>
                <a:ea typeface="Verdana" panose="020B0604030504040204" pitchFamily="34" charset="0"/>
              </a:rPr>
              <a:t> and at last carefully testing the conclusions to determine whether they fit the formulating hypothesis.</a:t>
            </a:r>
          </a:p>
          <a:p>
            <a:pPr algn="just"/>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3975186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6600FF"/>
                </a:solidFill>
              </a:rPr>
              <a:t>‘research’ refers</a:t>
            </a:r>
            <a:endParaRPr lang="en-IN" b="1" dirty="0">
              <a:solidFill>
                <a:srgbClr val="6600FF"/>
              </a:solidFill>
            </a:endParaRPr>
          </a:p>
        </p:txBody>
      </p:sp>
      <p:sp>
        <p:nvSpPr>
          <p:cNvPr id="3" name="Content Placeholder 2"/>
          <p:cNvSpPr>
            <a:spLocks noGrp="1"/>
          </p:cNvSpPr>
          <p:nvPr>
            <p:ph type="body" idx="1"/>
          </p:nvPr>
        </p:nvSpPr>
        <p:spPr/>
        <p:txBody>
          <a:bodyPr>
            <a:normAutofit/>
          </a:bodyPr>
          <a:lstStyle/>
          <a:p>
            <a:pPr algn="just"/>
            <a:r>
              <a:rPr lang="en-US" cap="none" dirty="0">
                <a:latin typeface="Bell MT" panose="02020503060305020303" pitchFamily="18" charset="0"/>
                <a:ea typeface="Verdana" panose="020B0604030504040204" pitchFamily="34" charset="0"/>
              </a:rPr>
              <a:t>The systematic method consisting of enunciating the problem, formulating a hypothesis, collecting the facts or data, analyzing the facts and reaching certain conclusions either in the form of solutions(s) towards the concerned problem or in certain generalizations for some theoretical formulation.</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3451727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21635"/>
            <a:ext cx="10972800" cy="950845"/>
          </a:xfrm>
        </p:spPr>
        <p:txBody>
          <a:bodyPr>
            <a:normAutofit/>
          </a:bodyPr>
          <a:lstStyle/>
          <a:p>
            <a:r>
              <a:rPr lang="en-IN" b="1" dirty="0">
                <a:solidFill>
                  <a:srgbClr val="6600FF"/>
                </a:solidFill>
              </a:rPr>
              <a:t>OBJECTIVES OF RESEARCH</a:t>
            </a:r>
          </a:p>
        </p:txBody>
      </p:sp>
      <p:sp>
        <p:nvSpPr>
          <p:cNvPr id="3" name="Content Placeholder 2"/>
          <p:cNvSpPr>
            <a:spLocks noGrp="1"/>
          </p:cNvSpPr>
          <p:nvPr>
            <p:ph type="body" idx="1"/>
          </p:nvPr>
        </p:nvSpPr>
        <p:spPr/>
        <p:txBody>
          <a:bodyPr>
            <a:normAutofit/>
          </a:bodyPr>
          <a:lstStyle/>
          <a:p>
            <a:pPr algn="just"/>
            <a:r>
              <a:rPr lang="en-US" cap="none" dirty="0">
                <a:latin typeface="Bell MT" panose="02020503060305020303" pitchFamily="18" charset="0"/>
                <a:ea typeface="Verdana" panose="020B0604030504040204" pitchFamily="34" charset="0"/>
              </a:rPr>
              <a:t>To gain familiarity with a phenomenon or to achieve new insights into it.</a:t>
            </a:r>
          </a:p>
          <a:p>
            <a:pPr algn="just"/>
            <a:r>
              <a:rPr lang="en-US" cap="none" dirty="0">
                <a:latin typeface="Bell MT" panose="02020503060305020303" pitchFamily="18" charset="0"/>
                <a:ea typeface="Verdana" panose="020B0604030504040204" pitchFamily="34" charset="0"/>
              </a:rPr>
              <a:t>To portray accurately the characteristics of a particular individual, situation or a group.</a:t>
            </a:r>
          </a:p>
          <a:p>
            <a:pPr algn="just"/>
            <a:r>
              <a:rPr lang="en-US" cap="none" dirty="0">
                <a:latin typeface="Bell MT" panose="02020503060305020303" pitchFamily="18" charset="0"/>
                <a:ea typeface="Verdana" panose="020B0604030504040204" pitchFamily="34" charset="0"/>
              </a:rPr>
              <a:t>To determine the frequency with which something occurs or with which it is associated with something else.</a:t>
            </a:r>
          </a:p>
          <a:p>
            <a:pPr algn="just"/>
            <a:r>
              <a:rPr lang="en-US" cap="none" dirty="0">
                <a:latin typeface="Bell MT" panose="02020503060305020303" pitchFamily="18" charset="0"/>
                <a:ea typeface="Verdana" panose="020B0604030504040204" pitchFamily="34" charset="0"/>
              </a:rPr>
              <a:t>To test a hypothesis of a causal relationship between variables</a:t>
            </a:r>
          </a:p>
          <a:p>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1434201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914400"/>
            <a:ext cx="10349948" cy="685801"/>
          </a:xfrm>
        </p:spPr>
        <p:txBody>
          <a:bodyPr>
            <a:noAutofit/>
          </a:bodyPr>
          <a:lstStyle/>
          <a:p>
            <a:r>
              <a:rPr lang="en-IN" b="1" dirty="0">
                <a:solidFill>
                  <a:srgbClr val="6600FF"/>
                </a:solidFill>
              </a:rPr>
              <a:t>MOTIVATION IN RESEARCH</a:t>
            </a:r>
          </a:p>
        </p:txBody>
      </p:sp>
      <p:sp>
        <p:nvSpPr>
          <p:cNvPr id="3" name="Content Placeholder 2"/>
          <p:cNvSpPr>
            <a:spLocks noGrp="1"/>
          </p:cNvSpPr>
          <p:nvPr>
            <p:ph type="body" idx="1"/>
          </p:nvPr>
        </p:nvSpPr>
        <p:spPr/>
        <p:txBody>
          <a:bodyPr>
            <a:normAutofit/>
          </a:bodyPr>
          <a:lstStyle/>
          <a:p>
            <a:pPr algn="just"/>
            <a:r>
              <a:rPr lang="en-US" cap="none" dirty="0">
                <a:latin typeface="Bell MT" panose="02020503060305020303" pitchFamily="18" charset="0"/>
                <a:ea typeface="Verdana" panose="020B0604030504040204" pitchFamily="34" charset="0"/>
              </a:rPr>
              <a:t>Desire to get a research degree along with its consequential benefits;</a:t>
            </a:r>
          </a:p>
          <a:p>
            <a:pPr algn="just"/>
            <a:r>
              <a:rPr lang="en-US" cap="none" dirty="0">
                <a:latin typeface="Bell MT" panose="02020503060305020303" pitchFamily="18" charset="0"/>
                <a:ea typeface="Verdana" panose="020B0604030504040204" pitchFamily="34" charset="0"/>
              </a:rPr>
              <a:t>Desire to face the challenge in solving the unsolved problems, i.e., concern over practical problems initiates research;</a:t>
            </a:r>
          </a:p>
          <a:p>
            <a:pPr algn="just"/>
            <a:r>
              <a:rPr lang="en-US" cap="none" dirty="0">
                <a:latin typeface="Bell MT" panose="02020503060305020303" pitchFamily="18" charset="0"/>
                <a:ea typeface="Verdana" panose="020B0604030504040204" pitchFamily="34" charset="0"/>
              </a:rPr>
              <a:t>Desire to get intellectual joy of doing some creative work;</a:t>
            </a:r>
          </a:p>
          <a:p>
            <a:pPr algn="just"/>
            <a:r>
              <a:rPr lang="en-US" cap="none" dirty="0">
                <a:latin typeface="Bell MT" panose="02020503060305020303" pitchFamily="18" charset="0"/>
                <a:ea typeface="Verdana" panose="020B0604030504040204" pitchFamily="34" charset="0"/>
              </a:rPr>
              <a:t>Desire to be of service to society; </a:t>
            </a:r>
          </a:p>
          <a:p>
            <a:pPr algn="just"/>
            <a:r>
              <a:rPr lang="en-US" cap="none" dirty="0">
                <a:latin typeface="Bell MT" panose="02020503060305020303" pitchFamily="18" charset="0"/>
                <a:ea typeface="Verdana" panose="020B0604030504040204" pitchFamily="34" charset="0"/>
              </a:rPr>
              <a:t>Desire to get respectability.</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3705951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8626"/>
            <a:ext cx="10972800" cy="649012"/>
          </a:xfrm>
        </p:spPr>
        <p:txBody>
          <a:bodyPr>
            <a:normAutofit fontScale="90000"/>
          </a:bodyPr>
          <a:lstStyle/>
          <a:p>
            <a:r>
              <a:rPr lang="en-IN" b="1" dirty="0">
                <a:solidFill>
                  <a:srgbClr val="6600FF"/>
                </a:solidFill>
              </a:rPr>
              <a:t>TYPES OF RESEARCH</a:t>
            </a:r>
          </a:p>
        </p:txBody>
      </p:sp>
      <p:sp>
        <p:nvSpPr>
          <p:cNvPr id="3" name="Content Placeholder 2"/>
          <p:cNvSpPr>
            <a:spLocks noGrp="1"/>
          </p:cNvSpPr>
          <p:nvPr>
            <p:ph type="body" idx="1"/>
          </p:nvPr>
        </p:nvSpPr>
        <p:spPr>
          <a:xfrm>
            <a:off x="500514" y="1280161"/>
            <a:ext cx="11081886" cy="5053262"/>
          </a:xfrm>
        </p:spPr>
        <p:txBody>
          <a:bodyPr>
            <a:normAutofit/>
          </a:bodyPr>
          <a:lstStyle/>
          <a:p>
            <a:pPr algn="just"/>
            <a:r>
              <a:rPr lang="en-US" cap="none" dirty="0">
                <a:latin typeface="Bell MT" panose="02020503060305020303" pitchFamily="18" charset="0"/>
                <a:ea typeface="Verdana" panose="020B0604030504040204" pitchFamily="34" charset="0"/>
              </a:rPr>
              <a:t>Descriptive vs. Analytical</a:t>
            </a:r>
          </a:p>
          <a:p>
            <a:pPr lvl="1" algn="just"/>
            <a:r>
              <a:rPr lang="en-US" sz="2400" cap="none" dirty="0">
                <a:latin typeface="Bell MT" panose="02020503060305020303" pitchFamily="18" charset="0"/>
                <a:ea typeface="Verdana" panose="020B0604030504040204" pitchFamily="34" charset="0"/>
              </a:rPr>
              <a:t> Descriptive research includes surveys and fact- finding enquiries of different kinds</a:t>
            </a:r>
            <a:r>
              <a:rPr lang="en-US" sz="2400" dirty="0">
                <a:latin typeface="Bell MT" panose="02020503060305020303" pitchFamily="18" charset="0"/>
              </a:rPr>
              <a:t>.</a:t>
            </a:r>
          </a:p>
          <a:p>
            <a:pPr marL="685800" lvl="2" algn="just">
              <a:spcBef>
                <a:spcPts val="1000"/>
              </a:spcBef>
            </a:pPr>
            <a:r>
              <a:rPr lang="en-US" cap="none" dirty="0">
                <a:latin typeface="Bell MT" panose="02020503060305020303" pitchFamily="18" charset="0"/>
                <a:ea typeface="Verdana" panose="020B0604030504040204" pitchFamily="34" charset="0"/>
              </a:rPr>
              <a:t>In analytical research, the researcher has to use facts or information already available, and analyze these to make a critical evaluation of the material.</a:t>
            </a:r>
          </a:p>
          <a:p>
            <a:pPr marL="457200" lvl="1" indent="-457200" algn="just">
              <a:spcBef>
                <a:spcPts val="1000"/>
              </a:spcBef>
              <a:buFont typeface="Arial" panose="020B0604020202020204" pitchFamily="34" charset="0"/>
              <a:buChar char="•"/>
            </a:pPr>
            <a:r>
              <a:rPr lang="en-US" sz="3000" cap="none" dirty="0">
                <a:latin typeface="Bell MT" panose="02020503060305020303" pitchFamily="18" charset="0"/>
                <a:ea typeface="Verdana" panose="020B0604030504040204" pitchFamily="34" charset="0"/>
              </a:rPr>
              <a:t>Applied vs. Fundamental</a:t>
            </a:r>
          </a:p>
          <a:p>
            <a:pPr lvl="1" algn="just"/>
            <a:r>
              <a:rPr lang="en-US" sz="2400" cap="none" dirty="0">
                <a:latin typeface="Bell MT" panose="02020503060305020303" pitchFamily="18" charset="0"/>
                <a:ea typeface="Verdana" panose="020B0604030504040204" pitchFamily="34" charset="0"/>
              </a:rPr>
              <a:t>Applied (or action) research: aims at finding a solution for an immediate problem facing a society or an industrial/business organization,</a:t>
            </a:r>
          </a:p>
          <a:p>
            <a:pPr lvl="1" algn="just"/>
            <a:r>
              <a:rPr lang="en-US" sz="2400" cap="none" dirty="0">
                <a:latin typeface="Bell MT" panose="02020503060305020303" pitchFamily="18" charset="0"/>
                <a:ea typeface="Verdana" panose="020B0604030504040204" pitchFamily="34" charset="0"/>
              </a:rPr>
              <a:t>Fundamental(to basic or pure) research : mainly concerned with generalizations and with the formulation of a theory.</a:t>
            </a:r>
            <a:endParaRPr lang="en-IN" sz="24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213980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69842"/>
            <a:ext cx="10972800" cy="847795"/>
          </a:xfrm>
          <a:noFill/>
          <a:ln>
            <a:noFill/>
          </a:ln>
        </p:spPr>
        <p:txBody>
          <a:bodyPr spcFirstLastPara="1" wrap="square" lIns="91425" tIns="45700" rIns="91425" bIns="45700" anchor="t" anchorCtr="0">
            <a:normAutofit/>
          </a:bodyPr>
          <a:lstStyle/>
          <a:p>
            <a:r>
              <a:rPr lang="en-IN" b="1" dirty="0">
                <a:solidFill>
                  <a:srgbClr val="6600FF"/>
                </a:solidFill>
              </a:rPr>
              <a:t>TYPES OF RESEARCH</a:t>
            </a:r>
          </a:p>
        </p:txBody>
      </p:sp>
      <p:sp>
        <p:nvSpPr>
          <p:cNvPr id="3" name="Content Placeholder 2"/>
          <p:cNvSpPr>
            <a:spLocks noGrp="1"/>
          </p:cNvSpPr>
          <p:nvPr>
            <p:ph type="body" idx="1"/>
          </p:nvPr>
        </p:nvSpPr>
        <p:spPr/>
        <p:txBody>
          <a:bodyPr>
            <a:normAutofit/>
          </a:bodyPr>
          <a:lstStyle/>
          <a:p>
            <a:pPr algn="just">
              <a:lnSpc>
                <a:spcPct val="110000"/>
              </a:lnSpc>
            </a:pPr>
            <a:r>
              <a:rPr lang="en-IN" sz="2400" cap="none" dirty="0">
                <a:latin typeface="Bell MT" panose="02020503060305020303" pitchFamily="18" charset="0"/>
                <a:ea typeface="Verdana" panose="020B0604030504040204" pitchFamily="34" charset="0"/>
              </a:rPr>
              <a:t>Quantitative vs. Qualitative: </a:t>
            </a:r>
          </a:p>
          <a:p>
            <a:pPr lvl="1" algn="just">
              <a:lnSpc>
                <a:spcPct val="110000"/>
              </a:lnSpc>
            </a:pPr>
            <a:r>
              <a:rPr lang="en-IN" sz="2400" cap="none" dirty="0">
                <a:latin typeface="Bell MT" panose="02020503060305020303" pitchFamily="18" charset="0"/>
                <a:ea typeface="Verdana" panose="020B0604030504040204" pitchFamily="34" charset="0"/>
              </a:rPr>
              <a:t>Quantitative research is based on the measurement of quantity or amount.</a:t>
            </a:r>
          </a:p>
          <a:p>
            <a:pPr lvl="1" algn="just">
              <a:lnSpc>
                <a:spcPct val="110000"/>
              </a:lnSpc>
            </a:pPr>
            <a:r>
              <a:rPr lang="en-IN" sz="2400" cap="none" dirty="0">
                <a:latin typeface="Bell MT" panose="02020503060305020303" pitchFamily="18" charset="0"/>
                <a:ea typeface="Verdana" panose="020B0604030504040204" pitchFamily="34" charset="0"/>
              </a:rPr>
              <a:t>Qualitative research, is concerned with qualitative phenomenon, i.e., phenomena relating to or involving quality or kind.</a:t>
            </a:r>
          </a:p>
          <a:p>
            <a:pPr algn="just">
              <a:lnSpc>
                <a:spcPct val="110000"/>
              </a:lnSpc>
            </a:pPr>
            <a:r>
              <a:rPr lang="en-US" sz="2400" cap="none" dirty="0">
                <a:latin typeface="Bell MT" panose="02020503060305020303" pitchFamily="18" charset="0"/>
                <a:ea typeface="Verdana" panose="020B0604030504040204" pitchFamily="34" charset="0"/>
              </a:rPr>
              <a:t>Conceptual vs. Empirical:</a:t>
            </a:r>
          </a:p>
          <a:p>
            <a:pPr lvl="1" algn="just">
              <a:lnSpc>
                <a:spcPct val="110000"/>
              </a:lnSpc>
            </a:pPr>
            <a:r>
              <a:rPr lang="en-US" sz="2400" cap="none" dirty="0">
                <a:latin typeface="Bell MT" panose="02020503060305020303" pitchFamily="18" charset="0"/>
                <a:ea typeface="Verdana" panose="020B0604030504040204" pitchFamily="34" charset="0"/>
              </a:rPr>
              <a:t>Conceptual research : related to some abstract idea(s) or theory. </a:t>
            </a:r>
          </a:p>
          <a:p>
            <a:pPr lvl="1" algn="just">
              <a:lnSpc>
                <a:spcPct val="110000"/>
              </a:lnSpc>
            </a:pPr>
            <a:r>
              <a:rPr lang="en-US" sz="2400" cap="none" dirty="0">
                <a:latin typeface="Bell MT" panose="02020503060305020303" pitchFamily="18" charset="0"/>
                <a:ea typeface="Verdana" panose="020B0604030504040204" pitchFamily="34" charset="0"/>
              </a:rPr>
              <a:t>Empirical research : It is data-based research, coming up with conclusions which are capable of being verified by observation or experiment. We can also call it as experimental type of research.</a:t>
            </a:r>
            <a:endParaRPr lang="en-IN" sz="24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569309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0086"/>
            <a:ext cx="10972800" cy="887551"/>
          </a:xfrm>
          <a:noFill/>
          <a:ln>
            <a:noFill/>
          </a:ln>
        </p:spPr>
        <p:txBody>
          <a:bodyPr spcFirstLastPara="1" wrap="square" lIns="91425" tIns="45700" rIns="91425" bIns="45700" anchor="t" anchorCtr="0">
            <a:normAutofit/>
          </a:bodyPr>
          <a:lstStyle/>
          <a:p>
            <a:r>
              <a:rPr lang="en-IN" b="1" dirty="0">
                <a:solidFill>
                  <a:srgbClr val="6600FF"/>
                </a:solidFill>
              </a:rPr>
              <a:t>TYPES OF RESEARCH</a:t>
            </a:r>
          </a:p>
        </p:txBody>
      </p:sp>
      <p:sp>
        <p:nvSpPr>
          <p:cNvPr id="3" name="Content Placeholder 2"/>
          <p:cNvSpPr>
            <a:spLocks noGrp="1"/>
          </p:cNvSpPr>
          <p:nvPr>
            <p:ph type="body" idx="1"/>
          </p:nvPr>
        </p:nvSpPr>
        <p:spPr/>
        <p:txBody>
          <a:bodyPr>
            <a:normAutofit/>
          </a:bodyPr>
          <a:lstStyle/>
          <a:p>
            <a:pPr algn="just">
              <a:lnSpc>
                <a:spcPct val="110000"/>
              </a:lnSpc>
            </a:pPr>
            <a:r>
              <a:rPr lang="en-US" sz="1900" cap="none" dirty="0">
                <a:latin typeface="Bell MT" panose="02020503060305020303" pitchFamily="18" charset="0"/>
                <a:ea typeface="Verdana" panose="020B0604030504040204" pitchFamily="34" charset="0"/>
              </a:rPr>
              <a:t>Some Other Types of Research: </a:t>
            </a:r>
          </a:p>
          <a:p>
            <a:pPr lvl="1" algn="just">
              <a:lnSpc>
                <a:spcPct val="110000"/>
              </a:lnSpc>
            </a:pPr>
            <a:r>
              <a:rPr lang="en-US" sz="1700" cap="none" dirty="0">
                <a:latin typeface="Bell MT" panose="02020503060305020303" pitchFamily="18" charset="0"/>
                <a:ea typeface="Verdana" panose="020B0604030504040204" pitchFamily="34" charset="0"/>
              </a:rPr>
              <a:t> One-time research or longitudinal research. In the former case the research is confined to a single time-period, whereas in the latter case the research is carried on over several time-periods. </a:t>
            </a:r>
          </a:p>
          <a:p>
            <a:pPr lvl="1" algn="just">
              <a:lnSpc>
                <a:spcPct val="110000"/>
              </a:lnSpc>
            </a:pPr>
            <a:r>
              <a:rPr lang="en-US" sz="1700" cap="none" dirty="0">
                <a:latin typeface="Bell MT" panose="02020503060305020303" pitchFamily="18" charset="0"/>
                <a:ea typeface="Verdana" panose="020B0604030504040204" pitchFamily="34" charset="0"/>
              </a:rPr>
              <a:t>Field-setting research or laboratory research or simulation research, depending upon the environment in which it is to be carried out. </a:t>
            </a:r>
          </a:p>
          <a:p>
            <a:pPr lvl="1" algn="just">
              <a:lnSpc>
                <a:spcPct val="110000"/>
              </a:lnSpc>
            </a:pPr>
            <a:r>
              <a:rPr lang="en-US" sz="1700" cap="none" dirty="0">
                <a:latin typeface="Bell MT" panose="02020503060305020303" pitchFamily="18" charset="0"/>
                <a:ea typeface="Verdana" panose="020B0604030504040204" pitchFamily="34" charset="0"/>
              </a:rPr>
              <a:t>Clinical or diagnostic research. Such research follow case-study methods or in-depth approaches to reach the basic causal relations. </a:t>
            </a:r>
          </a:p>
          <a:p>
            <a:pPr lvl="1" algn="just">
              <a:lnSpc>
                <a:spcPct val="110000"/>
              </a:lnSpc>
            </a:pPr>
            <a:r>
              <a:rPr lang="en-US" sz="1700" cap="none" dirty="0">
                <a:latin typeface="Bell MT" panose="02020503060305020303" pitchFamily="18" charset="0"/>
                <a:ea typeface="Verdana" panose="020B0604030504040204" pitchFamily="34" charset="0"/>
              </a:rPr>
              <a:t>Conclusion-oriented and decision-oriented. While doing conclusion-oriented research, a researcher is free to pick up a problem, redesign the enquiry as he proceeds and is prepared to conceptualize as he wishes.</a:t>
            </a:r>
            <a:endParaRPr lang="en-IN" sz="17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2931084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62608"/>
            <a:ext cx="10972800" cy="755029"/>
          </a:xfrm>
        </p:spPr>
        <p:txBody>
          <a:bodyPr>
            <a:normAutofit fontScale="90000"/>
          </a:bodyPr>
          <a:lstStyle/>
          <a:p>
            <a:r>
              <a:rPr lang="en-US" b="1" dirty="0">
                <a:solidFill>
                  <a:srgbClr val="6600FF"/>
                </a:solidFill>
              </a:rPr>
              <a:t>Ethics in Research</a:t>
            </a:r>
            <a:endParaRPr lang="en-IN" b="1" dirty="0">
              <a:solidFill>
                <a:srgbClr val="6600FF"/>
              </a:solidFill>
            </a:endParaRPr>
          </a:p>
        </p:txBody>
      </p:sp>
      <p:sp>
        <p:nvSpPr>
          <p:cNvPr id="3" name="Content Placeholder 2"/>
          <p:cNvSpPr>
            <a:spLocks noGrp="1"/>
          </p:cNvSpPr>
          <p:nvPr>
            <p:ph type="body" idx="1"/>
          </p:nvPr>
        </p:nvSpPr>
        <p:spPr/>
        <p:txBody>
          <a:bodyPr/>
          <a:lstStyle/>
          <a:p>
            <a:pPr lvl="1" algn="just">
              <a:lnSpc>
                <a:spcPct val="110000"/>
              </a:lnSpc>
            </a:pPr>
            <a:r>
              <a:rPr lang="en-US" sz="1700" cap="none" dirty="0">
                <a:latin typeface="Bell MT" panose="02020503060305020303" pitchFamily="18" charset="0"/>
                <a:ea typeface="Verdana" panose="020B0604030504040204" pitchFamily="34" charset="0"/>
              </a:rPr>
              <a:t>Provides guidelines for the responsible conduct of research.</a:t>
            </a:r>
          </a:p>
          <a:p>
            <a:pPr lvl="1" algn="just">
              <a:lnSpc>
                <a:spcPct val="110000"/>
              </a:lnSpc>
            </a:pPr>
            <a:r>
              <a:rPr lang="en-IN" sz="1700" cap="none" dirty="0">
                <a:latin typeface="Bell MT" panose="02020503060305020303" pitchFamily="18" charset="0"/>
                <a:ea typeface="Verdana" panose="020B0604030504040204" pitchFamily="34" charset="0"/>
              </a:rPr>
              <a:t>Some ethical principles are </a:t>
            </a:r>
          </a:p>
          <a:p>
            <a:pPr lvl="2" algn="just">
              <a:lnSpc>
                <a:spcPct val="110000"/>
              </a:lnSpc>
            </a:pPr>
            <a:r>
              <a:rPr lang="en-IN" sz="1500" cap="none" dirty="0">
                <a:latin typeface="Bell MT" panose="02020503060305020303" pitchFamily="18" charset="0"/>
                <a:ea typeface="Verdana" panose="020B0604030504040204" pitchFamily="34" charset="0"/>
              </a:rPr>
              <a:t>Honesty</a:t>
            </a:r>
          </a:p>
          <a:p>
            <a:pPr lvl="2" algn="just">
              <a:lnSpc>
                <a:spcPct val="110000"/>
              </a:lnSpc>
            </a:pPr>
            <a:r>
              <a:rPr lang="en-IN" sz="1500" cap="none" dirty="0">
                <a:latin typeface="Bell MT" panose="02020503060305020303" pitchFamily="18" charset="0"/>
                <a:ea typeface="Verdana" panose="020B0604030504040204" pitchFamily="34" charset="0"/>
              </a:rPr>
              <a:t>Objectivity</a:t>
            </a:r>
          </a:p>
          <a:p>
            <a:pPr lvl="2" algn="just">
              <a:lnSpc>
                <a:spcPct val="110000"/>
              </a:lnSpc>
            </a:pPr>
            <a:r>
              <a:rPr lang="en-IN" sz="1500" cap="none" dirty="0">
                <a:latin typeface="Bell MT" panose="02020503060305020303" pitchFamily="18" charset="0"/>
                <a:ea typeface="Verdana" panose="020B0604030504040204" pitchFamily="34" charset="0"/>
              </a:rPr>
              <a:t>Integrity</a:t>
            </a:r>
          </a:p>
          <a:p>
            <a:pPr lvl="2" algn="just">
              <a:lnSpc>
                <a:spcPct val="110000"/>
              </a:lnSpc>
            </a:pPr>
            <a:r>
              <a:rPr lang="en-IN" sz="1500" cap="none" dirty="0">
                <a:latin typeface="Bell MT" panose="02020503060305020303" pitchFamily="18" charset="0"/>
                <a:ea typeface="Verdana" panose="020B0604030504040204" pitchFamily="34" charset="0"/>
              </a:rPr>
              <a:t>Carefulness</a:t>
            </a:r>
          </a:p>
          <a:p>
            <a:pPr lvl="2" algn="just">
              <a:lnSpc>
                <a:spcPct val="110000"/>
              </a:lnSpc>
            </a:pPr>
            <a:r>
              <a:rPr lang="en-IN" sz="1500" cap="none" dirty="0">
                <a:latin typeface="Bell MT" panose="02020503060305020303" pitchFamily="18" charset="0"/>
                <a:ea typeface="Verdana" panose="020B0604030504040204" pitchFamily="34" charset="0"/>
              </a:rPr>
              <a:t>Openness</a:t>
            </a:r>
          </a:p>
          <a:p>
            <a:pPr lvl="2" algn="just">
              <a:lnSpc>
                <a:spcPct val="110000"/>
              </a:lnSpc>
            </a:pPr>
            <a:r>
              <a:rPr lang="en-IN" sz="1500" cap="none" dirty="0">
                <a:latin typeface="Bell MT" panose="02020503060305020303" pitchFamily="18" charset="0"/>
                <a:ea typeface="Verdana" panose="020B0604030504040204" pitchFamily="34" charset="0"/>
              </a:rPr>
              <a:t>Respect for Intellectual Property</a:t>
            </a:r>
          </a:p>
          <a:p>
            <a:pPr lvl="2" algn="just">
              <a:lnSpc>
                <a:spcPct val="110000"/>
              </a:lnSpc>
            </a:pPr>
            <a:r>
              <a:rPr lang="en-IN" sz="1500" cap="none" dirty="0">
                <a:latin typeface="Bell MT" panose="02020503060305020303" pitchFamily="18" charset="0"/>
                <a:ea typeface="Verdana" panose="020B0604030504040204" pitchFamily="34" charset="0"/>
              </a:rPr>
              <a:t>Confidentiality</a:t>
            </a:r>
          </a:p>
          <a:p>
            <a:pPr marL="3657600" lvl="8" indent="0">
              <a:buNone/>
            </a:pPr>
            <a:r>
              <a:rPr lang="en-US" dirty="0"/>
              <a:t>		</a:t>
            </a:r>
            <a:endParaRPr lang="en-IN" dirty="0"/>
          </a:p>
        </p:txBody>
      </p:sp>
    </p:spTree>
    <p:extLst>
      <p:ext uri="{BB962C8B-B14F-4D97-AF65-F5344CB8AC3E}">
        <p14:creationId xmlns:p14="http://schemas.microsoft.com/office/powerpoint/2010/main" val="27170632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389" y="777543"/>
            <a:ext cx="9250642" cy="1294173"/>
          </a:xfrm>
        </p:spPr>
        <p:txBody>
          <a:bodyPr/>
          <a:lstStyle/>
          <a:p>
            <a:r>
              <a:rPr lang="en-IN" sz="4000" b="1" dirty="0">
                <a:solidFill>
                  <a:srgbClr val="6600FF"/>
                </a:solidFill>
              </a:rPr>
              <a:t>What are research misconducts?</a:t>
            </a:r>
            <a:br>
              <a:rPr lang="en-IN" b="1" dirty="0">
                <a:latin typeface="Bell MT" panose="02020503060305020303" pitchFamily="18" charset="0"/>
              </a:rPr>
            </a:br>
            <a:endParaRPr lang="en-IN" dirty="0"/>
          </a:p>
        </p:txBody>
      </p:sp>
      <p:sp>
        <p:nvSpPr>
          <p:cNvPr id="3" name="Content Placeholder 2"/>
          <p:cNvSpPr>
            <a:spLocks noGrp="1"/>
          </p:cNvSpPr>
          <p:nvPr>
            <p:ph sz="quarter" idx="4294967295"/>
          </p:nvPr>
        </p:nvSpPr>
        <p:spPr>
          <a:xfrm>
            <a:off x="494950" y="1686187"/>
            <a:ext cx="8103766" cy="4689446"/>
          </a:xfrm>
        </p:spPr>
        <p:txBody>
          <a:bodyPr>
            <a:normAutofit/>
          </a:bodyPr>
          <a:lstStyle/>
          <a:p>
            <a:pPr algn="just">
              <a:lnSpc>
                <a:spcPct val="110000"/>
              </a:lnSpc>
            </a:pPr>
            <a:r>
              <a:rPr lang="en-IN" sz="2800" cap="none" dirty="0">
                <a:latin typeface="Bell MT" panose="02020503060305020303" pitchFamily="18" charset="0"/>
                <a:ea typeface="Verdana" panose="020B0604030504040204" pitchFamily="34" charset="0"/>
              </a:rPr>
              <a:t>Research Misconduct can be characterised as actions or questionable research practices that fall short of the standards of ethics, research and scholarship required to ensure that the integrity of research is upheld. It can cause harm to people and the environment, wastes resources, undermines the research record and damages the credibility of research</a:t>
            </a:r>
            <a:r>
              <a:rPr lang="en-IN" dirty="0"/>
              <a:t>.</a:t>
            </a:r>
          </a:p>
          <a:p>
            <a:pPr algn="just">
              <a:lnSpc>
                <a:spcPct val="110000"/>
              </a:lnSpc>
            </a:pPr>
            <a:endParaRPr lang="en-IN" sz="2400" cap="none" dirty="0">
              <a:latin typeface="Bell MT" panose="02020503060305020303" pitchFamily="18" charset="0"/>
              <a:ea typeface="Verdana" panose="020B0604030504040204" pitchFamily="34" charset="0"/>
            </a:endParaRPr>
          </a:p>
        </p:txBody>
      </p:sp>
      <p:pic>
        <p:nvPicPr>
          <p:cNvPr id="1026" name="Picture 2" descr="http://lgimages.s3.amazonaws.com/data/imagemanager/78051/plagiariz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89538" y="2516450"/>
            <a:ext cx="2972986" cy="1627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5296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81878"/>
            <a:ext cx="10972800" cy="635760"/>
          </a:xfrm>
        </p:spPr>
        <p:txBody>
          <a:bodyPr/>
          <a:lstStyle/>
          <a:p>
            <a:r>
              <a:rPr lang="en-IN" sz="4000" b="1" dirty="0">
                <a:solidFill>
                  <a:srgbClr val="6600FF"/>
                </a:solidFill>
              </a:rPr>
              <a:t>TYPES OF RESEARCH Misconduct</a:t>
            </a:r>
          </a:p>
        </p:txBody>
      </p:sp>
      <p:sp>
        <p:nvSpPr>
          <p:cNvPr id="3" name="Content Placeholder 2"/>
          <p:cNvSpPr>
            <a:spLocks noGrp="1"/>
          </p:cNvSpPr>
          <p:nvPr>
            <p:ph type="body" idx="1"/>
          </p:nvPr>
        </p:nvSpPr>
        <p:spPr>
          <a:xfrm>
            <a:off x="609600" y="1311965"/>
            <a:ext cx="10972800" cy="4814199"/>
          </a:xfrm>
        </p:spPr>
        <p:txBody>
          <a:bodyPr/>
          <a:lstStyle/>
          <a:p>
            <a:pPr algn="just">
              <a:lnSpc>
                <a:spcPct val="110000"/>
              </a:lnSpc>
            </a:pPr>
            <a:r>
              <a:rPr lang="en-IN" sz="2800" b="1" cap="none" dirty="0">
                <a:solidFill>
                  <a:srgbClr val="C00000"/>
                </a:solidFill>
                <a:latin typeface="Bell MT" panose="02020503060305020303" pitchFamily="18" charset="0"/>
                <a:ea typeface="Verdana" panose="020B0604030504040204" pitchFamily="34" charset="0"/>
              </a:rPr>
              <a:t>Fabrication</a:t>
            </a:r>
            <a:r>
              <a:rPr lang="en-IN" sz="2800" cap="none" dirty="0">
                <a:latin typeface="Bell MT" panose="02020503060305020303" pitchFamily="18" charset="0"/>
                <a:ea typeface="Verdana" panose="020B0604030504040204" pitchFamily="34" charset="0"/>
              </a:rPr>
              <a:t> - making up data or results and recording or reporting them.</a:t>
            </a:r>
          </a:p>
          <a:p>
            <a:pPr algn="just">
              <a:lnSpc>
                <a:spcPct val="110000"/>
              </a:lnSpc>
            </a:pPr>
            <a:r>
              <a:rPr lang="en-IN" sz="2800" b="1" dirty="0">
                <a:solidFill>
                  <a:srgbClr val="C00000"/>
                </a:solidFill>
                <a:latin typeface="Bell MT" panose="02020503060305020303" pitchFamily="18" charset="0"/>
                <a:ea typeface="Verdana" panose="020B0604030504040204" pitchFamily="34" charset="0"/>
              </a:rPr>
              <a:t>Falsification</a:t>
            </a:r>
            <a:r>
              <a:rPr lang="en-IN" sz="2800" cap="none" dirty="0">
                <a:latin typeface="Bell MT" panose="02020503060305020303" pitchFamily="18" charset="0"/>
                <a:ea typeface="Verdana" panose="020B0604030504040204" pitchFamily="34" charset="0"/>
              </a:rPr>
              <a:t> - manipulating research materials, or changing or omitting data or results such that the research is not accurately represented in the research record.</a:t>
            </a:r>
          </a:p>
          <a:p>
            <a:pPr algn="just">
              <a:lnSpc>
                <a:spcPct val="110000"/>
              </a:lnSpc>
            </a:pPr>
            <a:r>
              <a:rPr lang="en-IN" sz="2800" b="1" dirty="0">
                <a:solidFill>
                  <a:srgbClr val="C00000"/>
                </a:solidFill>
                <a:latin typeface="Bell MT" panose="02020503060305020303" pitchFamily="18" charset="0"/>
                <a:ea typeface="Verdana" panose="020B0604030504040204" pitchFamily="34" charset="0"/>
              </a:rPr>
              <a:t>Plagiarism</a:t>
            </a:r>
            <a:r>
              <a:rPr lang="en-IN" sz="2800" cap="none" dirty="0">
                <a:latin typeface="Bell MT" panose="02020503060305020303" pitchFamily="18" charset="0"/>
                <a:ea typeface="Verdana" panose="020B0604030504040204" pitchFamily="34" charset="0"/>
              </a:rPr>
              <a:t> - the appropriation of another person's ideas, processes, results, or words without giving appropriate credit.</a:t>
            </a:r>
          </a:p>
          <a:p>
            <a:pPr algn="just">
              <a:lnSpc>
                <a:spcPct val="110000"/>
              </a:lnSpc>
            </a:pPr>
            <a:r>
              <a:rPr lang="en-IN" sz="2800" cap="none" dirty="0">
                <a:latin typeface="Bell MT" panose="02020503060305020303" pitchFamily="18" charset="0"/>
                <a:ea typeface="Verdana" panose="020B0604030504040204" pitchFamily="34" charset="0"/>
              </a:rPr>
              <a:t>Research misconduct does not include honest error or differences of opinion.</a:t>
            </a:r>
            <a:endParaRPr lang="en-IN" sz="2800" dirty="0"/>
          </a:p>
          <a:p>
            <a:endParaRPr lang="en-IN" dirty="0"/>
          </a:p>
        </p:txBody>
      </p:sp>
    </p:spTree>
    <p:extLst>
      <p:ext uri="{BB962C8B-B14F-4D97-AF65-F5344CB8AC3E}">
        <p14:creationId xmlns:p14="http://schemas.microsoft.com/office/powerpoint/2010/main" val="3824627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solidFill>
                  <a:srgbClr val="6600FF"/>
                </a:solidFill>
              </a:rPr>
              <a:t>Types of Plagiarism</a:t>
            </a:r>
            <a:endParaRPr lang="en-IN" b="1" dirty="0">
              <a:solidFill>
                <a:srgbClr val="6600FF"/>
              </a:solidFill>
            </a:endParaRPr>
          </a:p>
        </p:txBody>
      </p:sp>
      <p:pic>
        <p:nvPicPr>
          <p:cNvPr id="7" name="Picture 2" descr="The Common Types of Plagiarism | CustomEssayMeister.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3562" y="1712685"/>
            <a:ext cx="8133924" cy="4320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4021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1322" y="1325217"/>
            <a:ext cx="8229601" cy="1656521"/>
          </a:xfrm>
        </p:spPr>
        <p:txBody>
          <a:bodyPr>
            <a:normAutofit/>
          </a:bodyPr>
          <a:lstStyle/>
          <a:p>
            <a:r>
              <a:rPr lang="en-US" b="1" dirty="0">
                <a:solidFill>
                  <a:srgbClr val="7030A0"/>
                </a:solidFill>
                <a:latin typeface="Bernard MT Condensed" panose="02050806060905020404" pitchFamily="18" charset="0"/>
              </a:rPr>
              <a:t>Literature Review and Technical Reading</a:t>
            </a:r>
            <a:endParaRPr lang="en-IN" b="1" dirty="0">
              <a:solidFill>
                <a:srgbClr val="7030A0"/>
              </a:solidFill>
              <a:latin typeface="Bernard MT Condensed" panose="02050806060905020404" pitchFamily="18" charset="0"/>
            </a:endParaRPr>
          </a:p>
        </p:txBody>
      </p:sp>
    </p:spTree>
    <p:extLst>
      <p:ext uri="{BB962C8B-B14F-4D97-AF65-F5344CB8AC3E}">
        <p14:creationId xmlns:p14="http://schemas.microsoft.com/office/powerpoint/2010/main" val="10615191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34887"/>
            <a:ext cx="10972800" cy="914399"/>
          </a:xfrm>
        </p:spPr>
        <p:txBody>
          <a:bodyPr>
            <a:normAutofit/>
          </a:bodyPr>
          <a:lstStyle/>
          <a:p>
            <a:r>
              <a:rPr lang="en-IN" sz="4000" b="1" dirty="0">
                <a:solidFill>
                  <a:srgbClr val="6600FF"/>
                </a:solidFill>
              </a:rPr>
              <a:t>New and Existing Knowledge</a:t>
            </a:r>
          </a:p>
        </p:txBody>
      </p:sp>
      <p:sp>
        <p:nvSpPr>
          <p:cNvPr id="3" name="Content Placeholder 2"/>
          <p:cNvSpPr>
            <a:spLocks noGrp="1"/>
          </p:cNvSpPr>
          <p:nvPr>
            <p:ph type="body" idx="1"/>
          </p:nvPr>
        </p:nvSpPr>
        <p:spPr/>
        <p:txBody>
          <a:bodyPr>
            <a:normAutofit fontScale="92500" lnSpcReduction="20000"/>
          </a:bodyPr>
          <a:lstStyle/>
          <a:p>
            <a:pPr algn="just"/>
            <a:r>
              <a:rPr lang="en-US" cap="none" dirty="0">
                <a:latin typeface="Bell MT" panose="02020503060305020303" pitchFamily="18" charset="0"/>
                <a:ea typeface="Verdana" panose="020B0604030504040204" pitchFamily="34" charset="0"/>
              </a:rPr>
              <a:t>New knowledge in research can only be interpreted within the context of what is already known, and cannot exist without the foundation of existing knowledge.</a:t>
            </a:r>
          </a:p>
          <a:p>
            <a:pPr algn="just"/>
            <a:r>
              <a:rPr lang="en-US" cap="none" dirty="0">
                <a:latin typeface="Bell MT" panose="02020503060305020303" pitchFamily="18" charset="0"/>
                <a:ea typeface="Verdana" panose="020B0604030504040204" pitchFamily="34" charset="0"/>
              </a:rPr>
              <a:t>One can infer that the knowledge that is sought to be produced does not yet exist by describing what other knowledge already exists and by pointing out that this part is missing so that what we have is original. To do this, one again needs the existing knowledge: </a:t>
            </a:r>
          </a:p>
          <a:p>
            <a:pPr lvl="3" algn="just"/>
            <a:r>
              <a:rPr lang="en-US" cap="none" dirty="0">
                <a:latin typeface="Bell MT" panose="02020503060305020303" pitchFamily="18" charset="0"/>
                <a:ea typeface="Verdana" panose="020B0604030504040204" pitchFamily="34" charset="0"/>
              </a:rPr>
              <a:t>the context</a:t>
            </a:r>
          </a:p>
          <a:p>
            <a:pPr lvl="3" algn="just"/>
            <a:r>
              <a:rPr lang="en-US" cap="none" dirty="0">
                <a:latin typeface="Bell MT" panose="02020503060305020303" pitchFamily="18" charset="0"/>
                <a:ea typeface="Verdana" panose="020B0604030504040204" pitchFamily="34" charset="0"/>
              </a:rPr>
              <a:t> the significance</a:t>
            </a:r>
          </a:p>
          <a:p>
            <a:pPr lvl="3" algn="just"/>
            <a:r>
              <a:rPr lang="en-US" cap="none" dirty="0">
                <a:latin typeface="Bell MT" panose="02020503060305020303" pitchFamily="18" charset="0"/>
                <a:ea typeface="Verdana" panose="020B0604030504040204" pitchFamily="34" charset="0"/>
              </a:rPr>
              <a:t>the originality</a:t>
            </a:r>
          </a:p>
          <a:p>
            <a:pPr lvl="3" algn="just"/>
            <a:r>
              <a:rPr lang="en-US" cap="none" dirty="0">
                <a:latin typeface="Bell MT" panose="02020503060305020303" pitchFamily="18" charset="0"/>
                <a:ea typeface="Verdana" panose="020B0604030504040204" pitchFamily="34" charset="0"/>
              </a:rPr>
              <a:t> the tools.</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41603865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0086"/>
            <a:ext cx="10972800" cy="887551"/>
          </a:xfrm>
        </p:spPr>
        <p:txBody>
          <a:bodyPr/>
          <a:lstStyle/>
          <a:p>
            <a:r>
              <a:rPr lang="en-IN" sz="4000" b="1" dirty="0">
                <a:solidFill>
                  <a:srgbClr val="6600FF"/>
                </a:solidFill>
              </a:rPr>
              <a:t>A literature review</a:t>
            </a:r>
          </a:p>
        </p:txBody>
      </p:sp>
      <p:sp>
        <p:nvSpPr>
          <p:cNvPr id="3" name="Content Placeholder 2"/>
          <p:cNvSpPr>
            <a:spLocks noGrp="1"/>
          </p:cNvSpPr>
          <p:nvPr>
            <p:ph sz="quarter" idx="4294967295"/>
          </p:nvPr>
        </p:nvSpPr>
        <p:spPr>
          <a:xfrm>
            <a:off x="913774" y="1524000"/>
            <a:ext cx="10363826" cy="4267200"/>
          </a:xfrm>
        </p:spPr>
        <p:txBody>
          <a:bodyPr>
            <a:noAutofit/>
          </a:bodyPr>
          <a:lstStyle/>
          <a:p>
            <a:pPr algn="just"/>
            <a:r>
              <a:rPr lang="en-US" sz="2400" cap="none" dirty="0">
                <a:latin typeface="Bell MT" panose="02020503060305020303" pitchFamily="18" charset="0"/>
                <a:ea typeface="Verdana" panose="020B0604030504040204" pitchFamily="34" charset="0"/>
              </a:rPr>
              <a:t>A literature review should be able to summarize as to what is already known from the state of the art, detail the key concepts and the main factors or parameters and the underlying relationships between those, describe any complementary existing approaches, enumerate the inconsistencies or shortcomings in the published work, identify the reported results that are inconclusive or contradictory, and provide a compulsive reason to do further work in the field.</a:t>
            </a:r>
          </a:p>
          <a:p>
            <a:pPr algn="just"/>
            <a:r>
              <a:rPr lang="en-US" sz="2400" cap="none" dirty="0">
                <a:latin typeface="Bell MT" panose="02020503060305020303" pitchFamily="18" charset="0"/>
                <a:ea typeface="Verdana" panose="020B0604030504040204" pitchFamily="34" charset="0"/>
              </a:rPr>
              <a:t>A good literature survey is typically a two-step process as enumerated below:</a:t>
            </a:r>
          </a:p>
          <a:p>
            <a:pPr marL="800100" lvl="1" indent="-342900" algn="just">
              <a:buFont typeface="+mj-lt"/>
              <a:buAutoNum type="arabicPeriod"/>
            </a:pPr>
            <a:r>
              <a:rPr lang="en-US" sz="2400" cap="none" dirty="0">
                <a:latin typeface="Bell MT" panose="02020503060305020303" pitchFamily="18" charset="0"/>
                <a:ea typeface="Verdana" panose="020B0604030504040204" pitchFamily="34" charset="0"/>
              </a:rPr>
              <a:t> Identify the major topics or subtopics or concepts relevant to the subject under consideration.</a:t>
            </a:r>
          </a:p>
          <a:p>
            <a:pPr marL="800100" lvl="1" indent="-342900" algn="just">
              <a:buFont typeface="+mj-lt"/>
              <a:buAutoNum type="arabicPeriod"/>
            </a:pPr>
            <a:r>
              <a:rPr lang="en-US" sz="2400" cap="none" dirty="0">
                <a:latin typeface="Bell MT" panose="02020503060305020303" pitchFamily="18" charset="0"/>
                <a:ea typeface="Verdana" panose="020B0604030504040204" pitchFamily="34" charset="0"/>
              </a:rPr>
              <a:t>Place the citation of the relevant source (article/patent/website/data, etc.) in the correct category of the concept/topic/subtopic (with the help of a √, for example).</a:t>
            </a:r>
            <a:endParaRPr lang="en-IN" sz="24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3386015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678" y="622852"/>
            <a:ext cx="9356036" cy="794786"/>
          </a:xfrm>
        </p:spPr>
        <p:txBody>
          <a:bodyPr>
            <a:noAutofit/>
          </a:bodyPr>
          <a:lstStyle/>
          <a:p>
            <a:r>
              <a:rPr lang="en-US" sz="4000" b="1" dirty="0">
                <a:solidFill>
                  <a:srgbClr val="6600FF"/>
                </a:solidFill>
              </a:rPr>
              <a:t>Analysis and Synthesis of Prior Art</a:t>
            </a:r>
            <a:endParaRPr lang="en-IN" sz="4000" b="1" dirty="0">
              <a:solidFill>
                <a:srgbClr val="6600FF"/>
              </a:solidFill>
            </a:endParaRPr>
          </a:p>
        </p:txBody>
      </p:sp>
      <p:sp>
        <p:nvSpPr>
          <p:cNvPr id="3" name="Content Placeholder 2"/>
          <p:cNvSpPr>
            <a:spLocks noGrp="1"/>
          </p:cNvSpPr>
          <p:nvPr>
            <p:ph type="body" idx="1"/>
          </p:nvPr>
        </p:nvSpPr>
        <p:spPr/>
        <p:txBody>
          <a:bodyPr>
            <a:normAutofit/>
          </a:bodyPr>
          <a:lstStyle/>
          <a:p>
            <a:pPr algn="just"/>
            <a:r>
              <a:rPr lang="en-US" cap="none" dirty="0">
                <a:latin typeface="Bell MT" panose="02020503060305020303" pitchFamily="18" charset="0"/>
                <a:ea typeface="Verdana" panose="020B0604030504040204" pitchFamily="34" charset="0"/>
              </a:rPr>
              <a:t>A researcher should analyze the following steps:</a:t>
            </a:r>
          </a:p>
          <a:p>
            <a:pPr marL="800100" lvl="1" indent="-342900" algn="just">
              <a:buFont typeface="+mj-lt"/>
              <a:buAutoNum type="arabicPeriod"/>
            </a:pPr>
            <a:r>
              <a:rPr lang="en-US" cap="none" dirty="0">
                <a:latin typeface="Bell MT" panose="02020503060305020303" pitchFamily="18" charset="0"/>
                <a:ea typeface="Verdana" panose="020B0604030504040204" pitchFamily="34" charset="0"/>
              </a:rPr>
              <a:t>Understanding the hypothesis,</a:t>
            </a:r>
          </a:p>
          <a:p>
            <a:pPr marL="800100" lvl="1" indent="-342900" algn="just">
              <a:buFont typeface="+mj-lt"/>
              <a:buAutoNum type="arabicPeriod"/>
            </a:pPr>
            <a:r>
              <a:rPr lang="en-US" cap="none" dirty="0">
                <a:latin typeface="Bell MT" panose="02020503060305020303" pitchFamily="18" charset="0"/>
                <a:ea typeface="Verdana" panose="020B0604030504040204" pitchFamily="34" charset="0"/>
              </a:rPr>
              <a:t>Understanding the models and the experimental conditions used,</a:t>
            </a:r>
          </a:p>
          <a:p>
            <a:pPr marL="800100" lvl="1" indent="-342900" algn="just">
              <a:buFont typeface="+mj-lt"/>
              <a:buAutoNum type="arabicPeriod"/>
            </a:pPr>
            <a:r>
              <a:rPr lang="en-US" cap="none" dirty="0">
                <a:latin typeface="Bell MT" panose="02020503060305020303" pitchFamily="18" charset="0"/>
                <a:ea typeface="Verdana" panose="020B0604030504040204" pitchFamily="34" charset="0"/>
              </a:rPr>
              <a:t>Making connections,</a:t>
            </a:r>
          </a:p>
          <a:p>
            <a:pPr marL="800100" lvl="1" indent="-342900" algn="just">
              <a:buFont typeface="+mj-lt"/>
              <a:buAutoNum type="arabicPeriod"/>
            </a:pPr>
            <a:r>
              <a:rPr lang="en-US" cap="none" dirty="0">
                <a:latin typeface="Bell MT" panose="02020503060305020303" pitchFamily="18" charset="0"/>
                <a:ea typeface="Verdana" panose="020B0604030504040204" pitchFamily="34" charset="0"/>
              </a:rPr>
              <a:t>Comparing and contrasting the various information, and</a:t>
            </a:r>
          </a:p>
          <a:p>
            <a:pPr marL="800100" lvl="1" indent="-342900" algn="just">
              <a:buFont typeface="+mj-lt"/>
              <a:buAutoNum type="arabicPeriod"/>
            </a:pPr>
            <a:r>
              <a:rPr lang="en-US" cap="none" dirty="0">
                <a:latin typeface="Bell MT" panose="02020503060305020303" pitchFamily="18" charset="0"/>
                <a:ea typeface="Verdana" panose="020B0604030504040204" pitchFamily="34" charset="0"/>
              </a:rPr>
              <a:t>Finding out the strong points and the loopholes.</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1033460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000" b="1" dirty="0">
                <a:solidFill>
                  <a:srgbClr val="6600FF"/>
                </a:solidFill>
              </a:rPr>
              <a:t>Bibliographic Databases</a:t>
            </a:r>
          </a:p>
        </p:txBody>
      </p:sp>
      <p:sp>
        <p:nvSpPr>
          <p:cNvPr id="3" name="Content Placeholder 2"/>
          <p:cNvSpPr>
            <a:spLocks noGrp="1"/>
          </p:cNvSpPr>
          <p:nvPr>
            <p:ph type="body" idx="1"/>
          </p:nvPr>
        </p:nvSpPr>
        <p:spPr/>
        <p:txBody>
          <a:bodyPr/>
          <a:lstStyle/>
          <a:p>
            <a:pPr algn="just"/>
            <a:r>
              <a:rPr lang="en-US" dirty="0">
                <a:latin typeface="Bell MT" panose="02020503060305020303" pitchFamily="18" charset="0"/>
              </a:rPr>
              <a:t>“</a:t>
            </a:r>
            <a:r>
              <a:rPr lang="en-US" cap="none" dirty="0">
                <a:latin typeface="Bell MT" panose="02020503060305020303" pitchFamily="18" charset="0"/>
                <a:ea typeface="Verdana" panose="020B0604030504040204" pitchFamily="34" charset="0"/>
              </a:rPr>
              <a:t>Bibliographic databases” refer to “abstracting and indexing services” useful for collecting citation-related information and possibly abstracts of research articles from scholarly literature and making them available through search.</a:t>
            </a:r>
          </a:p>
          <a:p>
            <a:pPr lvl="1" algn="just"/>
            <a:r>
              <a:rPr lang="en-IN" cap="none" dirty="0">
                <a:latin typeface="Bell MT" panose="02020503060305020303" pitchFamily="18" charset="0"/>
                <a:ea typeface="Verdana" panose="020B0604030504040204" pitchFamily="34" charset="0"/>
              </a:rPr>
              <a:t>Web of Science</a:t>
            </a:r>
          </a:p>
          <a:p>
            <a:pPr lvl="1" algn="just"/>
            <a:r>
              <a:rPr lang="en-IN" cap="none" dirty="0">
                <a:latin typeface="Bell MT" panose="02020503060305020303" pitchFamily="18" charset="0"/>
                <a:ea typeface="Verdana" panose="020B0604030504040204" pitchFamily="34" charset="0"/>
              </a:rPr>
              <a:t>Google and Google Scholar</a:t>
            </a:r>
          </a:p>
        </p:txBody>
      </p:sp>
    </p:spTree>
    <p:extLst>
      <p:ext uri="{BB962C8B-B14F-4D97-AF65-F5344CB8AC3E}">
        <p14:creationId xmlns:p14="http://schemas.microsoft.com/office/powerpoint/2010/main" val="31633366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63826"/>
            <a:ext cx="10972800" cy="953812"/>
          </a:xfrm>
        </p:spPr>
        <p:txBody>
          <a:bodyPr>
            <a:normAutofit/>
          </a:bodyPr>
          <a:lstStyle/>
          <a:p>
            <a:r>
              <a:rPr lang="en-IN" sz="4000" b="1" dirty="0">
                <a:solidFill>
                  <a:srgbClr val="6600FF"/>
                </a:solidFill>
              </a:rPr>
              <a:t>Conceptualizing Research</a:t>
            </a:r>
          </a:p>
        </p:txBody>
      </p:sp>
      <p:sp>
        <p:nvSpPr>
          <p:cNvPr id="3" name="Content Placeholder 2"/>
          <p:cNvSpPr>
            <a:spLocks noGrp="1"/>
          </p:cNvSpPr>
          <p:nvPr>
            <p:ph type="body" idx="1"/>
          </p:nvPr>
        </p:nvSpPr>
        <p:spPr/>
        <p:txBody>
          <a:bodyPr>
            <a:normAutofit/>
          </a:bodyPr>
          <a:lstStyle/>
          <a:p>
            <a:r>
              <a:rPr lang="en-US" cap="none" dirty="0">
                <a:latin typeface="Bell MT" panose="02020503060305020303" pitchFamily="18" charset="0"/>
                <a:ea typeface="Verdana" panose="020B0604030504040204" pitchFamily="34" charset="0"/>
              </a:rPr>
              <a:t>Significant problem,</a:t>
            </a:r>
          </a:p>
          <a:p>
            <a:r>
              <a:rPr lang="en-US" cap="none" dirty="0">
                <a:latin typeface="Bell MT" panose="02020503060305020303" pitchFamily="18" charset="0"/>
                <a:ea typeface="Verdana" panose="020B0604030504040204" pitchFamily="34" charset="0"/>
              </a:rPr>
              <a:t> The knowledge that will address it, </a:t>
            </a:r>
          </a:p>
          <a:p>
            <a:r>
              <a:rPr lang="en-US" cap="none" dirty="0">
                <a:latin typeface="Bell MT" panose="02020503060305020303" pitchFamily="18" charset="0"/>
                <a:ea typeface="Verdana" panose="020B0604030504040204" pitchFamily="34" charset="0"/>
              </a:rPr>
              <a:t> A possible way to make that new knowledge. </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9169356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2364"/>
            <a:ext cx="10972800" cy="715273"/>
          </a:xfrm>
        </p:spPr>
        <p:txBody>
          <a:bodyPr>
            <a:normAutofit/>
          </a:bodyPr>
          <a:lstStyle/>
          <a:p>
            <a:r>
              <a:rPr lang="en-IN" sz="4000" b="1" dirty="0">
                <a:solidFill>
                  <a:srgbClr val="6600FF"/>
                </a:solidFill>
              </a:rPr>
              <a:t>Critical and Creative Reading</a:t>
            </a:r>
          </a:p>
        </p:txBody>
      </p:sp>
      <p:sp>
        <p:nvSpPr>
          <p:cNvPr id="3" name="Content Placeholder 2"/>
          <p:cNvSpPr>
            <a:spLocks noGrp="1"/>
          </p:cNvSpPr>
          <p:nvPr>
            <p:ph type="body" idx="1"/>
          </p:nvPr>
        </p:nvSpPr>
        <p:spPr/>
        <p:txBody>
          <a:bodyPr>
            <a:normAutofit lnSpcReduction="10000"/>
          </a:bodyPr>
          <a:lstStyle/>
          <a:p>
            <a:pPr algn="just"/>
            <a:r>
              <a:rPr lang="en-US" cap="none" dirty="0">
                <a:latin typeface="Bell MT" panose="02020503060305020303" pitchFamily="18" charset="0"/>
                <a:ea typeface="Verdana" panose="020B0604030504040204" pitchFamily="34" charset="0"/>
              </a:rPr>
              <a:t>Reading a research paper is a critical process.</a:t>
            </a:r>
          </a:p>
          <a:p>
            <a:pPr algn="just"/>
            <a:r>
              <a:rPr lang="en-US" cap="none" dirty="0">
                <a:latin typeface="Bell MT" panose="02020503060305020303" pitchFamily="18" charset="0"/>
                <a:ea typeface="Verdana" panose="020B0604030504040204" pitchFamily="34" charset="0"/>
              </a:rPr>
              <a:t>Critical reading is relatively easy.</a:t>
            </a:r>
          </a:p>
          <a:p>
            <a:pPr lvl="1" algn="just"/>
            <a:r>
              <a:rPr lang="en-US" cap="none" dirty="0">
                <a:latin typeface="Bell MT" panose="02020503060305020303" pitchFamily="18" charset="0"/>
                <a:ea typeface="Verdana" panose="020B0604030504040204" pitchFamily="34" charset="0"/>
              </a:rPr>
              <a:t> It is relatively easier to critically read to find the mistakes than to read it so as to find the good ideas in the paper.</a:t>
            </a:r>
          </a:p>
          <a:p>
            <a:pPr algn="just"/>
            <a:r>
              <a:rPr lang="en-US" cap="none" dirty="0">
                <a:latin typeface="Bell MT" panose="02020503060305020303" pitchFamily="18" charset="0"/>
                <a:ea typeface="Verdana" panose="020B0604030504040204" pitchFamily="34" charset="0"/>
              </a:rPr>
              <a:t>In creative reading, the idea is to actively look for other applications, interesting generalizations, or extended work which the authors might have missed? </a:t>
            </a:r>
          </a:p>
          <a:p>
            <a:pPr algn="just"/>
            <a:r>
              <a:rPr lang="en-US" cap="none" dirty="0">
                <a:latin typeface="Bell MT" panose="02020503060305020303" pitchFamily="18" charset="0"/>
                <a:ea typeface="Verdana" panose="020B0604030504040204" pitchFamily="34" charset="0"/>
              </a:rPr>
              <a:t>Are there plausible modifications that may throw up important practical challenges?</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4226445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91472"/>
            <a:ext cx="10972800" cy="1143000"/>
          </a:xfrm>
        </p:spPr>
        <p:txBody>
          <a:bodyPr>
            <a:normAutofit/>
          </a:bodyPr>
          <a:lstStyle/>
          <a:p>
            <a:r>
              <a:rPr lang="en-IN" sz="4000" b="1" dirty="0">
                <a:solidFill>
                  <a:srgbClr val="6600FF"/>
                </a:solidFill>
              </a:rPr>
              <a:t>Citations: Functions and Attributes</a:t>
            </a:r>
          </a:p>
        </p:txBody>
      </p:sp>
      <p:sp>
        <p:nvSpPr>
          <p:cNvPr id="3" name="Content Placeholder 2"/>
          <p:cNvSpPr>
            <a:spLocks noGrp="1"/>
          </p:cNvSpPr>
          <p:nvPr>
            <p:ph type="body" idx="1"/>
          </p:nvPr>
        </p:nvSpPr>
        <p:spPr/>
        <p:txBody>
          <a:bodyPr>
            <a:normAutofit/>
          </a:bodyPr>
          <a:lstStyle/>
          <a:p>
            <a:pPr algn="just"/>
            <a:r>
              <a:rPr lang="en-US" cap="none" dirty="0">
                <a:latin typeface="Bell MT" panose="02020503060305020303" pitchFamily="18" charset="0"/>
                <a:ea typeface="Verdana" panose="020B0604030504040204" pitchFamily="34" charset="0"/>
              </a:rPr>
              <a:t>Citations (references) credit others for their work, while allowing the readers to trace the source publication if needed.</a:t>
            </a:r>
          </a:p>
          <a:p>
            <a:pPr algn="just"/>
            <a:r>
              <a:rPr lang="en-US" cap="none" dirty="0">
                <a:latin typeface="Bell MT" panose="02020503060305020303" pitchFamily="18" charset="0"/>
                <a:ea typeface="Verdana" panose="020B0604030504040204" pitchFamily="34" charset="0"/>
              </a:rPr>
              <a:t>A researcher needs to cite each source twice: </a:t>
            </a:r>
          </a:p>
          <a:p>
            <a:pPr lvl="1" algn="just"/>
            <a:r>
              <a:rPr lang="en-US" cap="none" dirty="0">
                <a:latin typeface="Bell MT" panose="02020503060305020303" pitchFamily="18" charset="0"/>
                <a:ea typeface="Verdana" panose="020B0604030504040204" pitchFamily="34" charset="0"/>
              </a:rPr>
              <a:t>in-text citation, in the text of the article exactly where the source is quoted or paraphrased, </a:t>
            </a:r>
          </a:p>
          <a:p>
            <a:pPr lvl="1" algn="just"/>
            <a:r>
              <a:rPr lang="en-US" cap="none" dirty="0">
                <a:latin typeface="Bell MT" panose="02020503060305020303" pitchFamily="18" charset="0"/>
                <a:ea typeface="Verdana" panose="020B0604030504040204" pitchFamily="34" charset="0"/>
              </a:rPr>
              <a:t>a second time in the references, typically at the end of the chapter or a book or at the end of a research article.</a:t>
            </a:r>
          </a:p>
        </p:txBody>
      </p:sp>
    </p:spTree>
    <p:extLst>
      <p:ext uri="{BB962C8B-B14F-4D97-AF65-F5344CB8AC3E}">
        <p14:creationId xmlns:p14="http://schemas.microsoft.com/office/powerpoint/2010/main" val="176344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42122"/>
            <a:ext cx="10442713" cy="675516"/>
          </a:xfrm>
        </p:spPr>
        <p:txBody>
          <a:bodyPr>
            <a:normAutofit fontScale="90000"/>
          </a:bodyPr>
          <a:lstStyle/>
          <a:p>
            <a:r>
              <a:rPr lang="en-IN" sz="4000" b="1" dirty="0">
                <a:solidFill>
                  <a:srgbClr val="6600FF"/>
                </a:solidFill>
              </a:rPr>
              <a:t>Citations: Functions and Attributes</a:t>
            </a:r>
          </a:p>
        </p:txBody>
      </p:sp>
      <p:sp>
        <p:nvSpPr>
          <p:cNvPr id="3" name="Content Placeholder 2"/>
          <p:cNvSpPr>
            <a:spLocks noGrp="1"/>
          </p:cNvSpPr>
          <p:nvPr>
            <p:ph type="body" idx="1"/>
          </p:nvPr>
        </p:nvSpPr>
        <p:spPr/>
        <p:txBody>
          <a:bodyPr>
            <a:normAutofit fontScale="85000" lnSpcReduction="20000"/>
          </a:bodyPr>
          <a:lstStyle/>
          <a:p>
            <a:r>
              <a:rPr lang="en-US" cap="none" dirty="0">
                <a:latin typeface="Bell MT" panose="02020503060305020303" pitchFamily="18" charset="0"/>
                <a:ea typeface="Verdana" panose="020B0604030504040204" pitchFamily="34" charset="0"/>
              </a:rPr>
              <a:t>There are three main functions of citation:</a:t>
            </a:r>
          </a:p>
          <a:p>
            <a:pPr marL="800100" lvl="1" indent="-342900" algn="just">
              <a:buFont typeface="+mj-lt"/>
              <a:buAutoNum type="arabicPeriod"/>
            </a:pPr>
            <a:r>
              <a:rPr lang="en-US" cap="none" dirty="0">
                <a:latin typeface="Bell MT" panose="02020503060305020303" pitchFamily="18" charset="0"/>
                <a:ea typeface="Verdana" panose="020B0604030504040204" pitchFamily="34" charset="0"/>
              </a:rPr>
              <a:t>Verification function: Authors have a scope for finding intentional or unintentional distortion of research or misleading statements. Citation offers the readers a chance to ascertain if the original source is justified or not, and if that assertion is properly described in the present work.</a:t>
            </a:r>
          </a:p>
          <a:p>
            <a:pPr marL="800100" lvl="1" indent="-342900" algn="just">
              <a:buFont typeface="+mj-lt"/>
              <a:buAutoNum type="arabicPeriod"/>
            </a:pPr>
            <a:r>
              <a:rPr lang="en-US" cap="none" dirty="0">
                <a:latin typeface="Bell MT" panose="02020503060305020303" pitchFamily="18" charset="0"/>
                <a:ea typeface="Verdana" panose="020B0604030504040204" pitchFamily="34" charset="0"/>
              </a:rPr>
              <a:t>Acknowledgment function: Researchers primarily receive credit for their work through citations. Citations play crucial role in promotion of individual researchers and their continued employment. Many reputed organizations and institutes provide research funding based on the reputations of the researchers. Citations help all researchers to enhance their reputation and provide detailed background of the research work.</a:t>
            </a:r>
          </a:p>
          <a:p>
            <a:pPr marL="800100" lvl="1" indent="-342900" algn="just">
              <a:buFont typeface="+mj-lt"/>
              <a:buAutoNum type="arabicPeriod"/>
            </a:pPr>
            <a:r>
              <a:rPr lang="en-US" cap="none" dirty="0">
                <a:latin typeface="Bell MT" panose="02020503060305020303" pitchFamily="18" charset="0"/>
                <a:ea typeface="Verdana" panose="020B0604030504040204" pitchFamily="34" charset="0"/>
              </a:rPr>
              <a:t>Documentation function: Citations are also used to document scientific concepts and historical progress of any particular technology over the years.</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24568835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15616"/>
            <a:ext cx="10972800" cy="702021"/>
          </a:xfrm>
        </p:spPr>
        <p:txBody>
          <a:bodyPr/>
          <a:lstStyle/>
          <a:p>
            <a:r>
              <a:rPr lang="en-IN" sz="3600" b="1" dirty="0">
                <a:solidFill>
                  <a:srgbClr val="6600FF"/>
                </a:solidFill>
              </a:rPr>
              <a:t>Citations: Functions and Attributes</a:t>
            </a:r>
          </a:p>
        </p:txBody>
      </p:sp>
      <p:sp>
        <p:nvSpPr>
          <p:cNvPr id="3" name="Content Placeholder 2"/>
          <p:cNvSpPr>
            <a:spLocks noGrp="1"/>
          </p:cNvSpPr>
          <p:nvPr>
            <p:ph type="body" idx="1"/>
          </p:nvPr>
        </p:nvSpPr>
        <p:spPr/>
        <p:txBody>
          <a:bodyPr>
            <a:normAutofit/>
          </a:bodyPr>
          <a:lstStyle/>
          <a:p>
            <a:r>
              <a:rPr lang="en-US" sz="3600" cap="none" dirty="0">
                <a:latin typeface="Bell MT" panose="02020503060305020303" pitchFamily="18" charset="0"/>
                <a:ea typeface="Verdana" panose="020B0604030504040204" pitchFamily="34" charset="0"/>
              </a:rPr>
              <a:t>There are certain cases when references do not fulfill the actual goal of citations and acknowledgments, and thus do not benefit the reader.</a:t>
            </a:r>
          </a:p>
          <a:p>
            <a:pPr lvl="1"/>
            <a:r>
              <a:rPr lang="en-IN" sz="3200" cap="none" dirty="0">
                <a:latin typeface="Bell MT" panose="02020503060305020303" pitchFamily="18" charset="0"/>
                <a:ea typeface="Verdana" panose="020B0604030504040204" pitchFamily="34" charset="0"/>
              </a:rPr>
              <a:t>Spurious citations</a:t>
            </a:r>
          </a:p>
          <a:p>
            <a:pPr lvl="1"/>
            <a:r>
              <a:rPr lang="en-IN" sz="3200" cap="none" dirty="0">
                <a:latin typeface="Bell MT" panose="02020503060305020303" pitchFamily="18" charset="0"/>
                <a:ea typeface="Verdana" panose="020B0604030504040204" pitchFamily="34" charset="0"/>
              </a:rPr>
              <a:t>Biased citations</a:t>
            </a:r>
          </a:p>
          <a:p>
            <a:pPr lvl="1"/>
            <a:r>
              <a:rPr lang="en-IN" sz="3200" cap="none" dirty="0">
                <a:latin typeface="Bell MT" panose="02020503060305020303" pitchFamily="18" charset="0"/>
                <a:ea typeface="Verdana" panose="020B0604030504040204" pitchFamily="34" charset="0"/>
              </a:rPr>
              <a:t>Self-citations</a:t>
            </a:r>
          </a:p>
          <a:p>
            <a:pPr lvl="1"/>
            <a:r>
              <a:rPr lang="en-IN" sz="3200" cap="none" dirty="0">
                <a:latin typeface="Bell MT" panose="02020503060305020303" pitchFamily="18" charset="0"/>
                <a:ea typeface="Verdana" panose="020B0604030504040204" pitchFamily="34" charset="0"/>
              </a:rPr>
              <a:t>Coercive citations</a:t>
            </a:r>
          </a:p>
        </p:txBody>
      </p:sp>
    </p:spTree>
    <p:extLst>
      <p:ext uri="{BB962C8B-B14F-4D97-AF65-F5344CB8AC3E}">
        <p14:creationId xmlns:p14="http://schemas.microsoft.com/office/powerpoint/2010/main" val="16143539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940904"/>
            <a:ext cx="10972800" cy="476734"/>
          </a:xfrm>
        </p:spPr>
        <p:txBody>
          <a:bodyPr>
            <a:normAutofit fontScale="90000"/>
          </a:bodyPr>
          <a:lstStyle/>
          <a:p>
            <a:r>
              <a:rPr lang="en-US" sz="3600" b="1" dirty="0">
                <a:solidFill>
                  <a:srgbClr val="6600FF"/>
                </a:solidFill>
              </a:rPr>
              <a:t>Impact of Title and Keywords on Citations</a:t>
            </a:r>
            <a:endParaRPr lang="en-IN" sz="3600" b="1" dirty="0">
              <a:solidFill>
                <a:srgbClr val="6600FF"/>
              </a:solidFill>
            </a:endParaRPr>
          </a:p>
        </p:txBody>
      </p:sp>
      <p:sp>
        <p:nvSpPr>
          <p:cNvPr id="3" name="Content Placeholder 2"/>
          <p:cNvSpPr>
            <a:spLocks noGrp="1"/>
          </p:cNvSpPr>
          <p:nvPr>
            <p:ph type="body" idx="1"/>
          </p:nvPr>
        </p:nvSpPr>
        <p:spPr/>
        <p:txBody>
          <a:bodyPr>
            <a:normAutofit/>
          </a:bodyPr>
          <a:lstStyle/>
          <a:p>
            <a:pPr algn="just"/>
            <a:r>
              <a:rPr lang="en-US" cap="none" dirty="0">
                <a:latin typeface="Bell MT" panose="02020503060305020303" pitchFamily="18" charset="0"/>
                <a:ea typeface="Verdana" panose="020B0604030504040204" pitchFamily="34" charset="0"/>
              </a:rPr>
              <a:t>The citation rate of any research paper depends on various factors including significance and availability of the journal, publication types, research area, and importance of the published research work.</a:t>
            </a:r>
          </a:p>
          <a:p>
            <a:pPr algn="just"/>
            <a:r>
              <a:rPr lang="en-US" cap="none" dirty="0">
                <a:latin typeface="Bell MT" panose="02020503060305020303" pitchFamily="18" charset="0"/>
                <a:ea typeface="Verdana" panose="020B0604030504040204" pitchFamily="34" charset="0"/>
              </a:rPr>
              <a:t>Other factors like length of the title, type of the title, and selected keywords also impact the citation count</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28012099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15616"/>
            <a:ext cx="10972800" cy="702021"/>
          </a:xfrm>
        </p:spPr>
        <p:txBody>
          <a:bodyPr/>
          <a:lstStyle/>
          <a:p>
            <a:r>
              <a:rPr lang="en-US" sz="3200" b="1" dirty="0">
                <a:solidFill>
                  <a:srgbClr val="6600FF"/>
                </a:solidFill>
              </a:rPr>
              <a:t>Title</a:t>
            </a:r>
            <a:endParaRPr lang="en-IN" sz="3200" b="1" dirty="0">
              <a:solidFill>
                <a:srgbClr val="6600FF"/>
              </a:solidFill>
            </a:endParaRPr>
          </a:p>
        </p:txBody>
      </p:sp>
      <p:sp>
        <p:nvSpPr>
          <p:cNvPr id="3" name="Content Placeholder 2"/>
          <p:cNvSpPr>
            <a:spLocks noGrp="1"/>
          </p:cNvSpPr>
          <p:nvPr>
            <p:ph type="body" idx="1"/>
          </p:nvPr>
        </p:nvSpPr>
        <p:spPr/>
        <p:txBody>
          <a:bodyPr>
            <a:normAutofit/>
          </a:bodyPr>
          <a:lstStyle/>
          <a:p>
            <a:pPr algn="just"/>
            <a:r>
              <a:rPr lang="en-US" sz="2400" cap="none" dirty="0">
                <a:latin typeface="Bell MT" panose="02020503060305020303" pitchFamily="18" charset="0"/>
                <a:ea typeface="Verdana" panose="020B0604030504040204" pitchFamily="34" charset="0"/>
              </a:rPr>
              <a:t>Title is the most important attribute of any research paper.</a:t>
            </a:r>
          </a:p>
          <a:p>
            <a:pPr algn="just"/>
            <a:r>
              <a:rPr lang="en-US" sz="2400" cap="none" dirty="0">
                <a:latin typeface="Bell MT" panose="02020503060305020303" pitchFamily="18" charset="0"/>
                <a:ea typeface="Verdana" panose="020B0604030504040204" pitchFamily="34" charset="0"/>
              </a:rPr>
              <a:t>Title plays important role in marketing and makes research papers traceable.</a:t>
            </a:r>
          </a:p>
          <a:p>
            <a:pPr algn="just"/>
            <a:r>
              <a:rPr lang="en-US" sz="2400" cap="none" dirty="0">
                <a:latin typeface="Bell MT" panose="02020503060305020303" pitchFamily="18" charset="0"/>
                <a:ea typeface="Verdana" panose="020B0604030504040204" pitchFamily="34" charset="0"/>
              </a:rPr>
              <a:t> A good title is informative, represents a paper effectively to readers, and gains their attention.</a:t>
            </a:r>
          </a:p>
          <a:p>
            <a:pPr algn="just"/>
            <a:r>
              <a:rPr lang="en-US" sz="2400" cap="none" dirty="0">
                <a:latin typeface="Bell MT" panose="02020503060305020303" pitchFamily="18" charset="0"/>
                <a:ea typeface="Verdana" panose="020B0604030504040204" pitchFamily="34" charset="0"/>
              </a:rPr>
              <a:t>There are three different aspects which provide a particular behavior to the title:</a:t>
            </a:r>
          </a:p>
          <a:p>
            <a:pPr lvl="1" algn="just"/>
            <a:r>
              <a:rPr lang="en-US" sz="2000" cap="none" dirty="0">
                <a:latin typeface="Bell MT" panose="02020503060305020303" pitchFamily="18" charset="0"/>
                <a:ea typeface="Verdana" panose="020B0604030504040204" pitchFamily="34" charset="0"/>
              </a:rPr>
              <a:t>types of the title,</a:t>
            </a:r>
          </a:p>
          <a:p>
            <a:pPr lvl="1" algn="just"/>
            <a:r>
              <a:rPr lang="en-US" sz="2000" cap="none" dirty="0">
                <a:latin typeface="Bell MT" panose="02020503060305020303" pitchFamily="18" charset="0"/>
                <a:ea typeface="Verdana" panose="020B0604030504040204" pitchFamily="34" charset="0"/>
              </a:rPr>
              <a:t>length of the title, </a:t>
            </a:r>
          </a:p>
          <a:p>
            <a:pPr lvl="1" algn="just"/>
            <a:r>
              <a:rPr lang="en-US" sz="2000" cap="none" dirty="0">
                <a:latin typeface="Bell MT" panose="02020503060305020303" pitchFamily="18" charset="0"/>
                <a:ea typeface="Verdana" panose="020B0604030504040204" pitchFamily="34" charset="0"/>
              </a:rPr>
              <a:t>presence of specific markers</a:t>
            </a:r>
            <a:endParaRPr lang="en-IN" sz="20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30107422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92690"/>
            <a:ext cx="10972800" cy="1143000"/>
          </a:xfrm>
        </p:spPr>
        <p:txBody>
          <a:bodyPr/>
          <a:lstStyle/>
          <a:p>
            <a:r>
              <a:rPr lang="en-US" sz="4000" b="1" dirty="0">
                <a:solidFill>
                  <a:srgbClr val="6600FF"/>
                </a:solidFill>
              </a:rPr>
              <a:t>Keywords</a:t>
            </a:r>
            <a:endParaRPr lang="en-IN" sz="4000" b="1" dirty="0">
              <a:solidFill>
                <a:srgbClr val="6600FF"/>
              </a:solidFill>
            </a:endParaRPr>
          </a:p>
        </p:txBody>
      </p:sp>
      <p:sp>
        <p:nvSpPr>
          <p:cNvPr id="3" name="Content Placeholder 2"/>
          <p:cNvSpPr>
            <a:spLocks noGrp="1"/>
          </p:cNvSpPr>
          <p:nvPr>
            <p:ph type="body" idx="1"/>
          </p:nvPr>
        </p:nvSpPr>
        <p:spPr/>
        <p:txBody>
          <a:bodyPr>
            <a:normAutofit/>
          </a:bodyPr>
          <a:lstStyle/>
          <a:p>
            <a:pPr algn="just"/>
            <a:r>
              <a:rPr lang="en-US" sz="2800" cap="none" dirty="0">
                <a:latin typeface="Bell MT" panose="02020503060305020303" pitchFamily="18" charset="0"/>
                <a:ea typeface="Verdana" panose="020B0604030504040204" pitchFamily="34" charset="0"/>
              </a:rPr>
              <a:t>Keywords represent essential information as well as main content of the article, which are relevant to the area of research. </a:t>
            </a:r>
          </a:p>
          <a:p>
            <a:pPr algn="just"/>
            <a:r>
              <a:rPr lang="en-US" sz="2800" cap="none" dirty="0">
                <a:latin typeface="Bell MT" panose="02020503060305020303" pitchFamily="18" charset="0"/>
                <a:ea typeface="Verdana" panose="020B0604030504040204" pitchFamily="34" charset="0"/>
              </a:rPr>
              <a:t>Search engines, journal, digital libraries, and indexing services use keywords for categorization of the research topic and to direct the work to the relevant audience.</a:t>
            </a:r>
          </a:p>
          <a:p>
            <a:pPr algn="just"/>
            <a:r>
              <a:rPr lang="en-US" sz="2800" cap="none" dirty="0">
                <a:latin typeface="Bell MT" panose="02020503060305020303" pitchFamily="18" charset="0"/>
                <a:ea typeface="Verdana" panose="020B0604030504040204" pitchFamily="34" charset="0"/>
              </a:rPr>
              <a:t>Keywords are important to ensure that readers are aware about research articles and their content.</a:t>
            </a:r>
            <a:endParaRPr lang="en-IN" sz="28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24126703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15616"/>
            <a:ext cx="10972800" cy="702021"/>
          </a:xfrm>
        </p:spPr>
        <p:txBody>
          <a:bodyPr>
            <a:normAutofit/>
          </a:bodyPr>
          <a:lstStyle/>
          <a:p>
            <a:r>
              <a:rPr lang="en-IN" sz="3200" b="1" dirty="0">
                <a:solidFill>
                  <a:srgbClr val="6600FF"/>
                </a:solidFill>
              </a:rPr>
              <a:t>Knowledge Flow Through Citation</a:t>
            </a:r>
          </a:p>
        </p:txBody>
      </p:sp>
      <p:pic>
        <p:nvPicPr>
          <p:cNvPr id="4" name="Content Placeholder 3"/>
          <p:cNvPicPr>
            <a:picLocks noGrp="1" noChangeAspect="1"/>
          </p:cNvPicPr>
          <p:nvPr>
            <p:ph sz="quarter" idx="4294967295"/>
          </p:nvPr>
        </p:nvPicPr>
        <p:blipFill>
          <a:blip r:embed="rId2"/>
          <a:stretch>
            <a:fillRect/>
          </a:stretch>
        </p:blipFill>
        <p:spPr>
          <a:xfrm>
            <a:off x="7432646" y="2098516"/>
            <a:ext cx="4126422" cy="3424237"/>
          </a:xfrm>
          <a:prstGeom prst="rect">
            <a:avLst/>
          </a:prstGeom>
        </p:spPr>
      </p:pic>
      <p:sp>
        <p:nvSpPr>
          <p:cNvPr id="5" name="Rectangle 4"/>
          <p:cNvSpPr/>
          <p:nvPr/>
        </p:nvSpPr>
        <p:spPr>
          <a:xfrm>
            <a:off x="385895" y="1770076"/>
            <a:ext cx="6962861" cy="3893374"/>
          </a:xfrm>
          <a:prstGeom prst="rect">
            <a:avLst/>
          </a:prstGeom>
        </p:spPr>
        <p:txBody>
          <a:bodyPr wrap="square">
            <a:spAutoFit/>
          </a:bodyPr>
          <a:lstStyle/>
          <a:p>
            <a:pPr marL="342900" indent="-342900">
              <a:buFont typeface="Arial" panose="020B0604020202020204" pitchFamily="34" charset="0"/>
              <a:buChar char="•"/>
            </a:pPr>
            <a:r>
              <a:rPr lang="en-US" sz="1900" dirty="0">
                <a:latin typeface="Bell MT" panose="02020503060305020303" pitchFamily="18" charset="0"/>
                <a:ea typeface="Verdana" panose="020B0604030504040204" pitchFamily="34" charset="0"/>
              </a:rPr>
              <a:t>Knowledge flows through verbal communications, books, documents, video, audio, and images, which plays a powerful role in research community in promoting the formulation of new knowledge.</a:t>
            </a:r>
          </a:p>
          <a:p>
            <a:pPr marL="342900" indent="-342900">
              <a:buFont typeface="Arial" panose="020B0604020202020204" pitchFamily="34" charset="0"/>
              <a:buChar char="•"/>
            </a:pPr>
            <a:r>
              <a:rPr lang="en-US" sz="1900" dirty="0">
                <a:latin typeface="Bell MT" panose="02020503060305020303" pitchFamily="18" charset="0"/>
                <a:ea typeface="Verdana" panose="020B0604030504040204" pitchFamily="34" charset="0"/>
              </a:rPr>
              <a:t>In engineering research, knowledge flow is primarily in the form of books, thesis, articles, patents, and reports.</a:t>
            </a:r>
          </a:p>
          <a:p>
            <a:pPr marL="342900" indent="-342900">
              <a:buFont typeface="Arial" panose="020B0604020202020204" pitchFamily="34" charset="0"/>
              <a:buChar char="•"/>
            </a:pPr>
            <a:r>
              <a:rPr lang="en-US" sz="1900" dirty="0">
                <a:latin typeface="Bell MT" panose="02020503060305020303" pitchFamily="18" charset="0"/>
                <a:ea typeface="Verdana" panose="020B0604030504040204" pitchFamily="34" charset="0"/>
              </a:rPr>
              <a:t>Citing a source is important for transmission of knowledge from previous work to an innovation.</a:t>
            </a:r>
          </a:p>
          <a:p>
            <a:pPr marL="342900" indent="-342900">
              <a:buFont typeface="Arial" panose="020B0604020202020204" pitchFamily="34" charset="0"/>
              <a:buChar char="•"/>
            </a:pPr>
            <a:r>
              <a:rPr lang="en-US" sz="1900" dirty="0">
                <a:latin typeface="Bell MT" panose="02020503060305020303" pitchFamily="18" charset="0"/>
                <a:ea typeface="Verdana" panose="020B0604030504040204" pitchFamily="34" charset="0"/>
              </a:rPr>
              <a:t>Production of knowledge can be related to the citation network.</a:t>
            </a:r>
          </a:p>
          <a:p>
            <a:pPr marL="342900" indent="-342900">
              <a:buFont typeface="Arial" panose="020B0604020202020204" pitchFamily="34" charset="0"/>
              <a:buChar char="•"/>
            </a:pPr>
            <a:r>
              <a:rPr lang="en-US" sz="1900" dirty="0">
                <a:latin typeface="Bell MT" panose="02020503060305020303" pitchFamily="18" charset="0"/>
                <a:ea typeface="Verdana" panose="020B0604030504040204" pitchFamily="34" charset="0"/>
              </a:rPr>
              <a:t>Knowledge flow happens between co-authors during research collaboration, among other researchers through their paper citation network, and also between institutions, departments, research fields or topics, and elements of research.</a:t>
            </a:r>
            <a:endParaRPr lang="en-IN" sz="1900"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32822958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49356"/>
            <a:ext cx="10972800" cy="768281"/>
          </a:xfrm>
        </p:spPr>
        <p:txBody>
          <a:bodyPr>
            <a:normAutofit/>
          </a:bodyPr>
          <a:lstStyle/>
          <a:p>
            <a:r>
              <a:rPr lang="en-IN" sz="3200" b="1" dirty="0">
                <a:solidFill>
                  <a:srgbClr val="6600FF"/>
                </a:solidFill>
              </a:rPr>
              <a:t>Citing Datasets</a:t>
            </a:r>
          </a:p>
        </p:txBody>
      </p:sp>
      <p:pic>
        <p:nvPicPr>
          <p:cNvPr id="4" name="Content Placeholder 3"/>
          <p:cNvPicPr>
            <a:picLocks noGrp="1" noChangeAspect="1"/>
          </p:cNvPicPr>
          <p:nvPr>
            <p:ph sz="quarter" idx="4294967295"/>
          </p:nvPr>
        </p:nvPicPr>
        <p:blipFill>
          <a:blip r:embed="rId2"/>
          <a:stretch>
            <a:fillRect/>
          </a:stretch>
        </p:blipFill>
        <p:spPr>
          <a:xfrm>
            <a:off x="3691156" y="2366963"/>
            <a:ext cx="4572000" cy="3424237"/>
          </a:xfrm>
          <a:prstGeom prst="rect">
            <a:avLst/>
          </a:prstGeom>
        </p:spPr>
      </p:pic>
    </p:spTree>
    <p:extLst>
      <p:ext uri="{BB962C8B-B14F-4D97-AF65-F5344CB8AC3E}">
        <p14:creationId xmlns:p14="http://schemas.microsoft.com/office/powerpoint/2010/main" val="17354665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8382"/>
            <a:ext cx="10972800" cy="609255"/>
          </a:xfrm>
        </p:spPr>
        <p:txBody>
          <a:bodyPr>
            <a:noAutofit/>
          </a:bodyPr>
          <a:lstStyle/>
          <a:p>
            <a:r>
              <a:rPr lang="en-IN" sz="3600" b="1" dirty="0">
                <a:solidFill>
                  <a:srgbClr val="6600FF"/>
                </a:solidFill>
              </a:rPr>
              <a:t>Styles for Citations</a:t>
            </a:r>
          </a:p>
        </p:txBody>
      </p:sp>
      <p:sp>
        <p:nvSpPr>
          <p:cNvPr id="3" name="Content Placeholder 2"/>
          <p:cNvSpPr>
            <a:spLocks noGrp="1"/>
          </p:cNvSpPr>
          <p:nvPr>
            <p:ph type="body" idx="1"/>
          </p:nvPr>
        </p:nvSpPr>
        <p:spPr/>
        <p:txBody>
          <a:bodyPr>
            <a:normAutofit/>
          </a:bodyPr>
          <a:lstStyle/>
          <a:p>
            <a:pPr marL="457200" indent="-457200" defTabSz="457200">
              <a:buFont typeface="+mj-lt"/>
              <a:buAutoNum type="arabicPeriod"/>
            </a:pPr>
            <a:r>
              <a:rPr lang="en-US" sz="1900" dirty="0">
                <a:latin typeface="Bell MT" panose="02020503060305020303" pitchFamily="18" charset="0"/>
                <a:ea typeface="Verdana" panose="020B0604030504040204" pitchFamily="34" charset="0"/>
              </a:rPr>
              <a:t>ASCE style (American Society of Civil Engineers)</a:t>
            </a:r>
          </a:p>
          <a:p>
            <a:pPr marL="800100" lvl="1" indent="-342900" algn="just" defTabSz="457200"/>
            <a:r>
              <a:rPr lang="en-US" sz="1700" cap="none" dirty="0">
                <a:latin typeface="Bell MT" panose="02020503060305020303" pitchFamily="18" charset="0"/>
                <a:ea typeface="Verdana" panose="020B0604030504040204" pitchFamily="34" charset="0"/>
              </a:rPr>
              <a:t>Reference list: this part is to be placed in the bibliography or references at the end of the article or report. A template with example for the same is </a:t>
            </a:r>
            <a:r>
              <a:rPr lang="en-IN" sz="1700" cap="none" dirty="0">
                <a:latin typeface="Bell MT" panose="02020503060305020303" pitchFamily="18" charset="0"/>
                <a:ea typeface="Verdana" panose="020B0604030504040204" pitchFamily="34" charset="0"/>
              </a:rPr>
              <a:t>given below:</a:t>
            </a:r>
          </a:p>
          <a:p>
            <a:pPr marL="800100" lvl="1" indent="-342900" algn="just" defTabSz="457200"/>
            <a:endParaRPr lang="en-IN" sz="1700" cap="none" dirty="0">
              <a:latin typeface="Bell MT" panose="02020503060305020303" pitchFamily="18" charset="0"/>
              <a:ea typeface="Verdana" panose="020B0604030504040204" pitchFamily="34" charset="0"/>
            </a:endParaRPr>
          </a:p>
        </p:txBody>
      </p:sp>
      <p:pic>
        <p:nvPicPr>
          <p:cNvPr id="4" name="Picture 3"/>
          <p:cNvPicPr>
            <a:picLocks noChangeAspect="1"/>
          </p:cNvPicPr>
          <p:nvPr/>
        </p:nvPicPr>
        <p:blipFill>
          <a:blip r:embed="rId2"/>
          <a:stretch>
            <a:fillRect/>
          </a:stretch>
        </p:blipFill>
        <p:spPr>
          <a:xfrm>
            <a:off x="4088510" y="3321437"/>
            <a:ext cx="3389556" cy="3034257"/>
          </a:xfrm>
          <a:prstGeom prst="rect">
            <a:avLst/>
          </a:prstGeom>
        </p:spPr>
      </p:pic>
    </p:spTree>
    <p:extLst>
      <p:ext uri="{BB962C8B-B14F-4D97-AF65-F5344CB8AC3E}">
        <p14:creationId xmlns:p14="http://schemas.microsoft.com/office/powerpoint/2010/main" val="28666439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36104"/>
            <a:ext cx="10972800" cy="781534"/>
          </a:xfrm>
        </p:spPr>
        <p:txBody>
          <a:bodyPr/>
          <a:lstStyle/>
          <a:p>
            <a:r>
              <a:rPr lang="en-IN" sz="3600" b="1" dirty="0">
                <a:solidFill>
                  <a:srgbClr val="6600FF"/>
                </a:solidFill>
              </a:rPr>
              <a:t>Styles for Citations</a:t>
            </a:r>
          </a:p>
        </p:txBody>
      </p:sp>
      <p:sp>
        <p:nvSpPr>
          <p:cNvPr id="3" name="Content Placeholder 2"/>
          <p:cNvSpPr>
            <a:spLocks noGrp="1"/>
          </p:cNvSpPr>
          <p:nvPr>
            <p:ph type="body" idx="1"/>
          </p:nvPr>
        </p:nvSpPr>
        <p:spPr/>
        <p:txBody>
          <a:bodyPr>
            <a:normAutofit/>
          </a:bodyPr>
          <a:lstStyle/>
          <a:p>
            <a:r>
              <a:rPr lang="en-US" sz="1700" cap="none" dirty="0">
                <a:latin typeface="Bell MT" panose="02020503060305020303" pitchFamily="18" charset="0"/>
                <a:ea typeface="Verdana" panose="020B0604030504040204" pitchFamily="34" charset="0"/>
              </a:rPr>
              <a:t>In-text citation for journals or books: The following part is to be placed right after the reference to the source of the citation assignment:</a:t>
            </a:r>
          </a:p>
          <a:p>
            <a:endParaRPr lang="en-IN" sz="1700" cap="none" dirty="0">
              <a:latin typeface="Bell MT" panose="02020503060305020303" pitchFamily="18" charset="0"/>
              <a:ea typeface="Verdana" panose="020B0604030504040204" pitchFamily="34" charset="0"/>
            </a:endParaRPr>
          </a:p>
        </p:txBody>
      </p:sp>
      <p:pic>
        <p:nvPicPr>
          <p:cNvPr id="4" name="Picture 3"/>
          <p:cNvPicPr>
            <a:picLocks noChangeAspect="1"/>
          </p:cNvPicPr>
          <p:nvPr/>
        </p:nvPicPr>
        <p:blipFill>
          <a:blip r:embed="rId2"/>
          <a:stretch>
            <a:fillRect/>
          </a:stretch>
        </p:blipFill>
        <p:spPr>
          <a:xfrm>
            <a:off x="3526515" y="2906335"/>
            <a:ext cx="4467849" cy="1304938"/>
          </a:xfrm>
          <a:prstGeom prst="rect">
            <a:avLst/>
          </a:prstGeom>
        </p:spPr>
      </p:pic>
      <p:sp>
        <p:nvSpPr>
          <p:cNvPr id="5" name="Rectangle 4"/>
          <p:cNvSpPr/>
          <p:nvPr/>
        </p:nvSpPr>
        <p:spPr>
          <a:xfrm>
            <a:off x="1011958" y="4422604"/>
            <a:ext cx="10167457" cy="1677382"/>
          </a:xfrm>
          <a:prstGeom prst="rect">
            <a:avLst/>
          </a:prstGeom>
        </p:spPr>
        <p:txBody>
          <a:bodyPr wrap="square">
            <a:spAutoFit/>
          </a:bodyPr>
          <a:lstStyle/>
          <a:p>
            <a:pPr algn="just"/>
            <a:r>
              <a:rPr lang="en-US" sz="1700" dirty="0">
                <a:latin typeface="Bell MT" panose="02020503060305020303" pitchFamily="18" charset="0"/>
                <a:ea typeface="Verdana" panose="020B0604030504040204" pitchFamily="34" charset="0"/>
              </a:rPr>
              <a:t>2. IEEE</a:t>
            </a:r>
            <a:r>
              <a:rPr lang="en-US" dirty="0">
                <a:solidFill>
                  <a:srgbClr val="131413"/>
                </a:solidFill>
                <a:latin typeface="GxldymGnwyysFdgqfjTimes-Roman"/>
              </a:rPr>
              <a:t> </a:t>
            </a:r>
            <a:r>
              <a:rPr lang="en-US" sz="1700" dirty="0">
                <a:latin typeface="Bell MT" panose="02020503060305020303" pitchFamily="18" charset="0"/>
                <a:ea typeface="Verdana" panose="020B0604030504040204" pitchFamily="34" charset="0"/>
              </a:rPr>
              <a:t>style (Institute of Electrical and Electronics Engineers)3 IEEE style is</a:t>
            </a:r>
          </a:p>
          <a:p>
            <a:pPr algn="just"/>
            <a:r>
              <a:rPr lang="en-US" sz="1700" dirty="0">
                <a:latin typeface="Bell MT" panose="02020503060305020303" pitchFamily="18" charset="0"/>
                <a:ea typeface="Verdana" panose="020B0604030504040204" pitchFamily="34" charset="0"/>
              </a:rPr>
              <a:t>standard for all IEEE journals and magazines, and is frequently used for papers</a:t>
            </a:r>
          </a:p>
          <a:p>
            <a:pPr algn="just"/>
            <a:r>
              <a:rPr lang="en-US" sz="1700" dirty="0">
                <a:latin typeface="Bell MT" panose="02020503060305020303" pitchFamily="18" charset="0"/>
                <a:ea typeface="Verdana" panose="020B0604030504040204" pitchFamily="34" charset="0"/>
              </a:rPr>
              <a:t>and articles in the fields of electrical engineering and computer science.</a:t>
            </a:r>
          </a:p>
          <a:p>
            <a:pPr algn="just"/>
            <a:endParaRPr lang="en-US" sz="1700" dirty="0">
              <a:latin typeface="Bell MT" panose="02020503060305020303" pitchFamily="18" charset="0"/>
              <a:ea typeface="Verdana" panose="020B0604030504040204" pitchFamily="34" charset="0"/>
            </a:endParaRPr>
          </a:p>
          <a:p>
            <a:pPr algn="just"/>
            <a:endParaRPr lang="en-US" sz="1700" dirty="0">
              <a:latin typeface="Bell MT" panose="02020503060305020303" pitchFamily="18" charset="0"/>
              <a:ea typeface="Verdana" panose="020B0604030504040204" pitchFamily="34" charset="0"/>
            </a:endParaRPr>
          </a:p>
          <a:p>
            <a:pPr algn="just"/>
            <a:r>
              <a:rPr lang="en-US" sz="1700" dirty="0">
                <a:latin typeface="Bell MT" panose="02020503060305020303" pitchFamily="18" charset="0"/>
                <a:ea typeface="Verdana" panose="020B0604030504040204" pitchFamily="34" charset="0"/>
              </a:rPr>
              <a:t>3. ASME style (The Association of Mechanical Engineers)4</a:t>
            </a:r>
            <a:endParaRPr lang="en-IN" sz="1700" dirty="0">
              <a:latin typeface="Bell MT" panose="02020503060305020303" pitchFamily="18" charset="0"/>
              <a:ea typeface="Verdana" panose="020B0604030504040204" pitchFamily="34" charset="0"/>
            </a:endParaRPr>
          </a:p>
        </p:txBody>
      </p:sp>
      <p:pic>
        <p:nvPicPr>
          <p:cNvPr id="7" name="Picture 6"/>
          <p:cNvPicPr>
            <a:picLocks noChangeAspect="1"/>
          </p:cNvPicPr>
          <p:nvPr/>
        </p:nvPicPr>
        <p:blipFill>
          <a:blip r:embed="rId3"/>
          <a:stretch>
            <a:fillRect/>
          </a:stretch>
        </p:blipFill>
        <p:spPr>
          <a:xfrm>
            <a:off x="6437923" y="5233090"/>
            <a:ext cx="4601217" cy="866896"/>
          </a:xfrm>
          <a:prstGeom prst="rect">
            <a:avLst/>
          </a:prstGeom>
        </p:spPr>
      </p:pic>
    </p:spTree>
    <p:extLst>
      <p:ext uri="{BB962C8B-B14F-4D97-AF65-F5344CB8AC3E}">
        <p14:creationId xmlns:p14="http://schemas.microsoft.com/office/powerpoint/2010/main" val="34811770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061" y="804725"/>
            <a:ext cx="10972800" cy="1143000"/>
          </a:xfrm>
        </p:spPr>
        <p:txBody>
          <a:bodyPr>
            <a:normAutofit/>
          </a:bodyPr>
          <a:lstStyle/>
          <a:p>
            <a:r>
              <a:rPr lang="en-IN" sz="3600" b="1" dirty="0">
                <a:solidFill>
                  <a:srgbClr val="6600FF"/>
                </a:solidFill>
              </a:rPr>
              <a:t>Acknowledgments and Attributions</a:t>
            </a:r>
          </a:p>
        </p:txBody>
      </p:sp>
      <p:sp>
        <p:nvSpPr>
          <p:cNvPr id="3" name="Content Placeholder 2"/>
          <p:cNvSpPr>
            <a:spLocks noGrp="1"/>
          </p:cNvSpPr>
          <p:nvPr>
            <p:ph type="body" idx="1"/>
          </p:nvPr>
        </p:nvSpPr>
        <p:spPr/>
        <p:txBody>
          <a:bodyPr>
            <a:noAutofit/>
          </a:bodyPr>
          <a:lstStyle/>
          <a:p>
            <a:pPr algn="just"/>
            <a:r>
              <a:rPr lang="en-US" sz="2800" cap="none" dirty="0">
                <a:latin typeface="Bell MT" panose="02020503060305020303" pitchFamily="18" charset="0"/>
                <a:ea typeface="Verdana" panose="020B0604030504040204" pitchFamily="34" charset="0"/>
              </a:rPr>
              <a:t>Acknowledgment section is a place to provide a brief appreciation of the contribution of someone or an organization or funding body to the present work. </a:t>
            </a:r>
          </a:p>
          <a:p>
            <a:pPr algn="just"/>
            <a:r>
              <a:rPr lang="en-US" sz="2800" cap="none" dirty="0">
                <a:latin typeface="Bell MT" panose="02020503060305020303" pitchFamily="18" charset="0"/>
                <a:ea typeface="Verdana" panose="020B0604030504040204" pitchFamily="34" charset="0"/>
              </a:rPr>
              <a:t>If no particular guideline is available for the intended publication, then it can be introduced at the end of the text or as a footnote. </a:t>
            </a:r>
          </a:p>
          <a:p>
            <a:pPr algn="just"/>
            <a:r>
              <a:rPr lang="en-US" sz="2800" cap="none" dirty="0">
                <a:latin typeface="Bell MT" panose="02020503060305020303" pitchFamily="18" charset="0"/>
                <a:ea typeface="Verdana" panose="020B0604030504040204" pitchFamily="34" charset="0"/>
              </a:rPr>
              <a:t>Acknowledgment is a common practice to recognize persons or agencies for being responsible in some form or other for completion of a publishable research outcome.</a:t>
            </a:r>
          </a:p>
          <a:p>
            <a:pPr algn="just"/>
            <a:r>
              <a:rPr lang="en-US" sz="2800" cap="none" dirty="0">
                <a:latin typeface="Bell MT" panose="02020503060305020303" pitchFamily="18" charset="0"/>
                <a:ea typeface="Verdana" panose="020B0604030504040204" pitchFamily="34" charset="0"/>
              </a:rPr>
              <a:t>Acknowledgment displays a relationship among people, agencies, institutions, and research.</a:t>
            </a:r>
            <a:endParaRPr lang="en-IN" sz="28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33752214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36103"/>
            <a:ext cx="10972800" cy="834887"/>
          </a:xfrm>
        </p:spPr>
        <p:txBody>
          <a:bodyPr>
            <a:normAutofit/>
          </a:bodyPr>
          <a:lstStyle/>
          <a:p>
            <a:r>
              <a:rPr lang="en-IN" sz="3600" b="1" dirty="0">
                <a:solidFill>
                  <a:srgbClr val="6600FF"/>
                </a:solidFill>
              </a:rPr>
              <a:t>What Should Be Acknowledged?</a:t>
            </a:r>
          </a:p>
        </p:txBody>
      </p:sp>
      <p:sp>
        <p:nvSpPr>
          <p:cNvPr id="3" name="Content Placeholder 2"/>
          <p:cNvSpPr>
            <a:spLocks noGrp="1"/>
          </p:cNvSpPr>
          <p:nvPr>
            <p:ph type="body" idx="1"/>
          </p:nvPr>
        </p:nvSpPr>
        <p:spPr/>
        <p:txBody>
          <a:bodyPr>
            <a:normAutofit/>
          </a:bodyPr>
          <a:lstStyle/>
          <a:p>
            <a:pPr algn="just"/>
            <a:r>
              <a:rPr lang="en-US" sz="2400" cap="none" dirty="0">
                <a:latin typeface="Bell MT" panose="02020503060305020303" pitchFamily="18" charset="0"/>
                <a:ea typeface="Verdana" panose="020B0604030504040204" pitchFamily="34" charset="0"/>
              </a:rPr>
              <a:t>Every author should know that what should/should not be acknowledged. </a:t>
            </a:r>
          </a:p>
          <a:p>
            <a:pPr algn="just"/>
            <a:r>
              <a:rPr lang="en-US" sz="2400" cap="none" dirty="0">
                <a:latin typeface="Bell MT" panose="02020503060305020303" pitchFamily="18" charset="0"/>
                <a:ea typeface="Verdana" panose="020B0604030504040204" pitchFamily="34" charset="0"/>
              </a:rPr>
              <a:t>Author should acknowledge quotation, ideas, facts, paraphrasing, funding organization, oral discussion or support, laboratory, and computer work.</a:t>
            </a:r>
          </a:p>
          <a:p>
            <a:pPr marL="25400" indent="0">
              <a:buNone/>
            </a:pPr>
            <a:endParaRPr lang="en-IN" sz="1700" cap="none" dirty="0">
              <a:latin typeface="Bell MT" panose="02020503060305020303" pitchFamily="18" charset="0"/>
              <a:ea typeface="Verdana" panose="020B0604030504040204" pitchFamily="34" charset="0"/>
            </a:endParaRPr>
          </a:p>
        </p:txBody>
      </p:sp>
      <p:pic>
        <p:nvPicPr>
          <p:cNvPr id="4" name="Picture 3"/>
          <p:cNvPicPr>
            <a:picLocks noChangeAspect="1"/>
          </p:cNvPicPr>
          <p:nvPr/>
        </p:nvPicPr>
        <p:blipFill>
          <a:blip r:embed="rId2"/>
          <a:stretch>
            <a:fillRect/>
          </a:stretch>
        </p:blipFill>
        <p:spPr>
          <a:xfrm>
            <a:off x="3481586" y="3964906"/>
            <a:ext cx="4658375" cy="1000265"/>
          </a:xfrm>
          <a:prstGeom prst="rect">
            <a:avLst/>
          </a:prstGeom>
        </p:spPr>
      </p:pic>
    </p:spTree>
    <p:extLst>
      <p:ext uri="{BB962C8B-B14F-4D97-AF65-F5344CB8AC3E}">
        <p14:creationId xmlns:p14="http://schemas.microsoft.com/office/powerpoint/2010/main" val="17209934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914399"/>
            <a:ext cx="10972800" cy="685801"/>
          </a:xfrm>
        </p:spPr>
        <p:txBody>
          <a:bodyPr>
            <a:normAutofit/>
          </a:bodyPr>
          <a:lstStyle/>
          <a:p>
            <a:r>
              <a:rPr lang="en-IN" sz="3600" b="1" dirty="0">
                <a:solidFill>
                  <a:srgbClr val="6600FF"/>
                </a:solidFill>
              </a:rPr>
              <a:t>Acknowledgments in Books/Dissertations</a:t>
            </a:r>
          </a:p>
        </p:txBody>
      </p:sp>
      <p:sp>
        <p:nvSpPr>
          <p:cNvPr id="3" name="Content Placeholder 2"/>
          <p:cNvSpPr>
            <a:spLocks noGrp="1"/>
          </p:cNvSpPr>
          <p:nvPr>
            <p:ph type="body" idx="1"/>
          </p:nvPr>
        </p:nvSpPr>
        <p:spPr/>
        <p:txBody>
          <a:bodyPr>
            <a:normAutofit/>
          </a:bodyPr>
          <a:lstStyle/>
          <a:p>
            <a:pPr algn="just"/>
            <a:r>
              <a:rPr lang="en-US" sz="2400" cap="none" dirty="0">
                <a:latin typeface="Bell MT" panose="02020503060305020303" pitchFamily="18" charset="0"/>
                <a:ea typeface="Verdana" panose="020B0604030504040204" pitchFamily="34" charset="0"/>
              </a:rPr>
              <a:t>A page of acknowledgments is usually included at the beginning of a thesis/dissertation immediately following the table of contents.</a:t>
            </a:r>
          </a:p>
          <a:p>
            <a:pPr algn="just"/>
            <a:endParaRPr lang="en-IN" sz="2400" cap="none" dirty="0">
              <a:latin typeface="Bell MT" panose="02020503060305020303" pitchFamily="18" charset="0"/>
              <a:ea typeface="Verdana" panose="020B0604030504040204" pitchFamily="34" charset="0"/>
            </a:endParaRPr>
          </a:p>
        </p:txBody>
      </p:sp>
      <p:pic>
        <p:nvPicPr>
          <p:cNvPr id="4" name="Picture 3"/>
          <p:cNvPicPr>
            <a:picLocks noChangeAspect="1"/>
          </p:cNvPicPr>
          <p:nvPr/>
        </p:nvPicPr>
        <p:blipFill>
          <a:blip r:embed="rId2"/>
          <a:stretch>
            <a:fillRect/>
          </a:stretch>
        </p:blipFill>
        <p:spPr>
          <a:xfrm>
            <a:off x="3378857" y="3321380"/>
            <a:ext cx="4763165" cy="1943371"/>
          </a:xfrm>
          <a:prstGeom prst="rect">
            <a:avLst/>
          </a:prstGeom>
        </p:spPr>
      </p:pic>
    </p:spTree>
    <p:extLst>
      <p:ext uri="{BB962C8B-B14F-4D97-AF65-F5344CB8AC3E}">
        <p14:creationId xmlns:p14="http://schemas.microsoft.com/office/powerpoint/2010/main" val="990147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81878"/>
            <a:ext cx="10972800" cy="635760"/>
          </a:xfrm>
        </p:spPr>
        <p:txBody>
          <a:bodyPr/>
          <a:lstStyle/>
          <a:p>
            <a:r>
              <a:rPr lang="en-IN" sz="3600" b="1" dirty="0">
                <a:solidFill>
                  <a:srgbClr val="6600FF"/>
                </a:solidFill>
              </a:rPr>
              <a:t>Dedication or Acknowledgments?</a:t>
            </a:r>
          </a:p>
        </p:txBody>
      </p:sp>
      <p:sp>
        <p:nvSpPr>
          <p:cNvPr id="3" name="Content Placeholder 2"/>
          <p:cNvSpPr>
            <a:spLocks noGrp="1"/>
          </p:cNvSpPr>
          <p:nvPr>
            <p:ph type="body" idx="1"/>
          </p:nvPr>
        </p:nvSpPr>
        <p:spPr/>
        <p:txBody>
          <a:bodyPr>
            <a:normAutofit/>
          </a:bodyPr>
          <a:lstStyle/>
          <a:p>
            <a:pPr algn="just"/>
            <a:r>
              <a:rPr lang="en-US" sz="2800" cap="none" dirty="0">
                <a:latin typeface="Bell MT" panose="02020503060305020303" pitchFamily="18" charset="0"/>
                <a:ea typeface="Verdana" panose="020B0604030504040204" pitchFamily="34" charset="0"/>
              </a:rPr>
              <a:t>Dedication is almost never used in a journal paper, an article in a conference proceedings, or a patent, and it is used exclusively in larger documents like books, thesis, or dissertations. </a:t>
            </a:r>
          </a:p>
          <a:p>
            <a:pPr algn="just"/>
            <a:r>
              <a:rPr lang="en-US" sz="2800" cap="none" dirty="0">
                <a:latin typeface="Bell MT" panose="02020503060305020303" pitchFamily="18" charset="0"/>
                <a:ea typeface="Verdana" panose="020B0604030504040204" pitchFamily="34" charset="0"/>
              </a:rPr>
              <a:t>While acknowledgments are reserved for those who helped out with the book in some way or another (editing, moral support, etc.), a dedication is to whomever the author would like it to be dedicated to, whether it is the author’s parents, Spouse, Children, the best friend, the pet dog, or Almighty God.</a:t>
            </a:r>
            <a:endParaRPr lang="en-IN" sz="28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val="38634261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ctr">
              <a:spcBef>
                <a:spcPts val="0"/>
              </a:spcBef>
              <a:buClr>
                <a:srgbClr val="000099"/>
              </a:buClr>
              <a:buNone/>
            </a:pPr>
            <a:r>
              <a:rPr lang="en-US" b="1" dirty="0">
                <a:solidFill>
                  <a:srgbClr val="000099"/>
                </a:solidFill>
                <a:latin typeface="Arial"/>
                <a:ea typeface="Arial"/>
                <a:cs typeface="Arial"/>
                <a:sym typeface="Arial"/>
              </a:rPr>
              <a:t>"Research is creating new knowledge."</a:t>
            </a:r>
            <a:endParaRPr dirty="0"/>
          </a:p>
          <a:p>
            <a:pPr marL="0" lvl="0" indent="0" algn="ctr" rtl="0">
              <a:spcBef>
                <a:spcPts val="640"/>
              </a:spcBef>
              <a:spcAft>
                <a:spcPts val="0"/>
              </a:spcAft>
              <a:buClr>
                <a:schemeClr val="dk1"/>
              </a:buClr>
              <a:buSzPts val="3200"/>
              <a:buNone/>
            </a:pPr>
            <a:endParaRPr b="1" dirty="0">
              <a:solidFill>
                <a:srgbClr val="000099"/>
              </a:solidFill>
              <a:latin typeface="Arial"/>
              <a:ea typeface="Arial"/>
              <a:cs typeface="Arial"/>
              <a:sym typeface="Arial"/>
            </a:endParaRPr>
          </a:p>
          <a:p>
            <a:pPr marL="0" lvl="0" indent="0" algn="ctr" rtl="0">
              <a:spcBef>
                <a:spcPts val="640"/>
              </a:spcBef>
              <a:spcAft>
                <a:spcPts val="0"/>
              </a:spcAft>
              <a:buClr>
                <a:srgbClr val="000099"/>
              </a:buClr>
              <a:buSzPts val="3200"/>
              <a:buNone/>
            </a:pPr>
            <a:r>
              <a:rPr lang="en-US" sz="3200" b="1" dirty="0">
                <a:solidFill>
                  <a:srgbClr val="000099"/>
                </a:solidFill>
                <a:latin typeface="Arial"/>
                <a:ea typeface="Arial"/>
                <a:cs typeface="Arial"/>
                <a:sym typeface="Arial"/>
              </a:rPr>
              <a:t> </a:t>
            </a:r>
            <a:endParaRPr dirty="0"/>
          </a:p>
          <a:p>
            <a:pPr marL="0" lvl="0" indent="0" algn="l" rtl="0">
              <a:spcBef>
                <a:spcPts val="640"/>
              </a:spcBef>
              <a:spcAft>
                <a:spcPts val="0"/>
              </a:spcAft>
              <a:buClr>
                <a:schemeClr val="dk1"/>
              </a:buClr>
              <a:buSzPts val="3200"/>
              <a:buNone/>
            </a:pPr>
            <a:endParaRPr dirty="0"/>
          </a:p>
        </p:txBody>
      </p:sp>
      <p:pic>
        <p:nvPicPr>
          <p:cNvPr id="2" name="Picture 1"/>
          <p:cNvPicPr>
            <a:picLocks noChangeAspect="1"/>
          </p:cNvPicPr>
          <p:nvPr/>
        </p:nvPicPr>
        <p:blipFill>
          <a:blip r:embed="rId3"/>
          <a:stretch>
            <a:fillRect/>
          </a:stretch>
        </p:blipFill>
        <p:spPr>
          <a:xfrm>
            <a:off x="4359965" y="2696713"/>
            <a:ext cx="3223695" cy="32236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167</TotalTime>
  <Words>2843</Words>
  <Application>Microsoft Office PowerPoint</Application>
  <PresentationFormat>Widescreen</PresentationFormat>
  <Paragraphs>214</Paragraphs>
  <Slides>47</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47</vt:i4>
      </vt:variant>
    </vt:vector>
  </HeadingPairs>
  <TitlesOfParts>
    <vt:vector size="57" baseType="lpstr">
      <vt:lpstr>Angsana New</vt:lpstr>
      <vt:lpstr>Arial</vt:lpstr>
      <vt:lpstr>Baskerville Old Face</vt:lpstr>
      <vt:lpstr>Bell MT</vt:lpstr>
      <vt:lpstr>Bernard MT Condensed</vt:lpstr>
      <vt:lpstr>Calibri</vt:lpstr>
      <vt:lpstr>GxldymGnwyysFdgqfjTimes-Roman</vt:lpstr>
      <vt:lpstr>Sitka Text Semibold</vt:lpstr>
      <vt:lpstr>Times New Roman</vt:lpstr>
      <vt:lpstr>Office Theme</vt:lpstr>
      <vt:lpstr>RESEARCH METHODOLOGY  AND  INTELLECTUAL PROPERTY RIGHTS Course Code: AL58 </vt:lpstr>
      <vt:lpstr>Course Outline</vt:lpstr>
      <vt:lpstr>PowerPoint Presentation</vt:lpstr>
      <vt:lpstr>PowerPoint Presentation</vt:lpstr>
      <vt:lpstr>PowerPoint Presentation</vt:lpstr>
      <vt:lpstr>PowerPoint Presentation</vt:lpstr>
      <vt:lpstr>Textbooks  </vt:lpstr>
      <vt:lpstr>Reference Books</vt:lpstr>
      <vt:lpstr>Course Outcomes </vt:lpstr>
      <vt:lpstr>Course Assessment</vt:lpstr>
      <vt:lpstr>PowerPoint Presentation</vt:lpstr>
      <vt:lpstr>PowerPoint Presentation</vt:lpstr>
      <vt:lpstr>Research Methodology</vt:lpstr>
      <vt:lpstr>Meaning of Research</vt:lpstr>
      <vt:lpstr>research comprises</vt:lpstr>
      <vt:lpstr>‘research’ refers</vt:lpstr>
      <vt:lpstr>OBJECTIVES OF RESEARCH</vt:lpstr>
      <vt:lpstr>MOTIVATION IN RESEARCH</vt:lpstr>
      <vt:lpstr>TYPES OF RESEARCH</vt:lpstr>
      <vt:lpstr>TYPES OF RESEARCH</vt:lpstr>
      <vt:lpstr>TYPES OF RESEARCH</vt:lpstr>
      <vt:lpstr>Ethics in Research</vt:lpstr>
      <vt:lpstr>What are research misconducts? </vt:lpstr>
      <vt:lpstr>TYPES OF RESEARCH Misconduct</vt:lpstr>
      <vt:lpstr>Types of Plagiarism</vt:lpstr>
      <vt:lpstr>Literature Review and Technical Reading</vt:lpstr>
      <vt:lpstr>New and Existing Knowledge</vt:lpstr>
      <vt:lpstr>A literature review</vt:lpstr>
      <vt:lpstr>Analysis and Synthesis of Prior Art</vt:lpstr>
      <vt:lpstr>Bibliographic Databases</vt:lpstr>
      <vt:lpstr>Conceptualizing Research</vt:lpstr>
      <vt:lpstr>Critical and Creative Reading</vt:lpstr>
      <vt:lpstr>Citations: Functions and Attributes</vt:lpstr>
      <vt:lpstr>Citations: Functions and Attributes</vt:lpstr>
      <vt:lpstr>Citations: Functions and Attributes</vt:lpstr>
      <vt:lpstr>Impact of Title and Keywords on Citations</vt:lpstr>
      <vt:lpstr>Title</vt:lpstr>
      <vt:lpstr>Keywords</vt:lpstr>
      <vt:lpstr>Knowledge Flow Through Citation</vt:lpstr>
      <vt:lpstr>Citing Datasets</vt:lpstr>
      <vt:lpstr>Styles for Citations</vt:lpstr>
      <vt:lpstr>Styles for Citations</vt:lpstr>
      <vt:lpstr>Acknowledgments and Attributions</vt:lpstr>
      <vt:lpstr>What Should Be Acknowledged?</vt:lpstr>
      <vt:lpstr>Acknowledgments in Books/Dissertations</vt:lpstr>
      <vt:lpstr>Dedication or Acknowledgments?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METHODOLOGY  AND  INTELLECTUAL PROPERTY RIGHTS Course Code: AD58/AI58</dc:title>
  <dc:creator>admin</dc:creator>
  <cp:lastModifiedBy>Anitha p</cp:lastModifiedBy>
  <cp:revision>10</cp:revision>
  <dcterms:created xsi:type="dcterms:W3CDTF">2020-09-04T05:08:02Z</dcterms:created>
  <dcterms:modified xsi:type="dcterms:W3CDTF">2026-08-25T05:33:45Z</dcterms:modified>
</cp:coreProperties>
</file>